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6858000" cy="9902952"/>
  <p:notesSz cx="9902952"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ニュースレター" id="{61f1c3d1-26fc-46ab-85bb-d2fded1135cd}">
          <p14:sldIdLst>
            <p14:sldId id="256"/>
            <p14:sldId id="257"/>
            <p14:sldId id="258"/>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c:v>
                </c:pt>
              </c:strCache>
            </c:strRef>
          </c:tx>
          <c:spPr>
            <a:solidFill>
              <a:schemeClr val="accent1"/>
            </a:solidFill>
            <a:ln w="9525" cap="flat">
              <a:solidFill>
                <a:srgbClr val="F9F9F9"/>
              </a:solidFill>
              <a:prstDash val="solid"/>
              <a:round/>
            </a:ln>
            <a:effectLst/>
          </c:spPr>
          <c:dPt>
            <c:idx val="0"/>
            <c:bubble3D val="0"/>
            <c:spPr>
              <a:solidFill>
                <a:srgbClr val="C8102E"/>
              </a:solidFill>
              <a:ln w="19050" cap="flat">
                <a:solidFill>
                  <a:srgbClr val="FFFFFF"/>
                </a:solidFill>
                <a:prstDash val="solid"/>
                <a:round/>
              </a:ln>
              <a:effectLst/>
            </c:spPr>
          </c:dPt>
          <c:dPt>
            <c:idx val="1"/>
            <c:bubble3D val="0"/>
            <c:spPr>
              <a:solidFill>
                <a:srgbClr val="B7C6D6"/>
              </a:solidFill>
              <a:ln w="1905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HbA1c</c:v>
                </c:pt>
                <c:pt idx="1">
                  <c:v>血糖値</c:v>
                </c:pt>
              </c:strCache>
            </c:strRef>
          </c:cat>
          <c:val>
            <c:numRef>
              <c:f>Sheet1!$B$2:$B$3</c:f>
              <c:numCache>
                <c:ptCount val="2"/>
                <c:pt idx="0">
                  <c:v>87</c:v>
                </c:pt>
                <c:pt idx="1">
                  <c:v>13</c:v>
                </c:pt>
              </c:numCache>
            </c:numRef>
          </c:val>
        </c:ser>
        <c:firstSliceAng val="0"/>
        <c:holeSize val="66"/>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c:v>
                </c:pt>
              </c:strCache>
            </c:strRef>
          </c:tx>
          <c:spPr>
            <a:solidFill>
              <a:schemeClr val="accent1"/>
            </a:solidFill>
            <a:ln w="9525" cap="flat">
              <a:solidFill>
                <a:srgbClr val="F9F9F9"/>
              </a:solidFill>
              <a:prstDash val="solid"/>
              <a:round/>
            </a:ln>
            <a:effectLst/>
          </c:spPr>
          <c:dPt>
            <c:idx val="0"/>
            <c:bubble3D val="0"/>
            <c:spPr>
              <a:solidFill>
                <a:srgbClr val="F3C9D0"/>
              </a:solidFill>
              <a:ln w="19050" cap="flat">
                <a:solidFill>
                  <a:srgbClr val="FFFFFF"/>
                </a:solidFill>
                <a:prstDash val="solid"/>
                <a:round/>
              </a:ln>
              <a:effectLst/>
            </c:spPr>
          </c:dPt>
          <c:dPt>
            <c:idx val="1"/>
            <c:bubble3D val="0"/>
            <c:spPr>
              <a:solidFill>
                <a:srgbClr val="46688C"/>
              </a:solidFill>
              <a:ln w="1905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HbA1c</c:v>
                </c:pt>
                <c:pt idx="1">
                  <c:v>血糖値</c:v>
                </c:pt>
              </c:strCache>
            </c:strRef>
          </c:cat>
          <c:val>
            <c:numRef>
              <c:f>Sheet1!$B$2:$B$3</c:f>
              <c:numCache>
                <c:ptCount val="2"/>
                <c:pt idx="0">
                  <c:v>31.3</c:v>
                </c:pt>
                <c:pt idx="1">
                  <c:v>68.7</c:v>
                </c:pt>
              </c:numCache>
            </c:numRef>
          </c:val>
        </c:ser>
        <c:firstSliceAng val="0"/>
        <c:holeSize val="66"/>
      </c:doughnutChart>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36"/>
          <c:y val="0.02"/>
          <c:w val="0.6"/>
          <c:h val="0.96"/>
        </c:manualLayout>
      </c:layout>
      <c:barChart>
        <c:barDir val="bar"/>
        <c:grouping val="percentStacked"/>
        <c:varyColors val="0"/>
        <c:ser>
          <c:idx val="0"/>
          <c:order val="0"/>
          <c:tx>
            <c:strRef>
              <c:f>Sheet1!$B$1</c:f>
              <c:strCache>
                <c:ptCount val="1"/>
                <c:pt idx="0">
                  <c:v>非常に重要</c:v>
                </c:pt>
              </c:strCache>
            </c:strRef>
          </c:tx>
          <c:spPr>
            <a:solidFill>
              <a:srgbClr val="C8102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HDLコレステロール</c:v>
                  </c:pt>
                  <c:pt idx="1">
                    <c:v>γ-GTP</c:v>
                  </c:pt>
                  <c:pt idx="2">
                    <c:v>骨密度</c:v>
                  </c:pt>
                  <c:pt idx="3">
                    <c:v>尿酸</c:v>
                  </c:pt>
                  <c:pt idx="4">
                    <c:v>尿糖</c:v>
                  </c:pt>
                  <c:pt idx="5">
                    <c:v>中性脂肪</c:v>
                  </c:pt>
                  <c:pt idx="6">
                    <c:v>BMI</c:v>
                  </c:pt>
                  <c:pt idx="7">
                    <c:v>血糖値</c:v>
                  </c:pt>
                  <c:pt idx="8">
                    <c:v>クレアチニン</c:v>
                  </c:pt>
                  <c:pt idx="9">
                    <c:v>LDLコレステロール</c:v>
                  </c:pt>
                  <c:pt idx="10">
                    <c:v>HbA1c</c:v>
                  </c:pt>
                  <c:pt idx="11">
                    <c:v>血圧</c:v>
                  </c:pt>
                </c:lvl>
              </c:multiLvlStrCache>
            </c:multiLvlStrRef>
          </c:cat>
          <c:val>
            <c:numRef>
              <c:f>Sheet1!$B$2:$B$13</c:f>
              <c:numCache>
                <c:formatCode>General</c:formatCode>
                <c:ptCount val="12"/>
                <c:pt idx="0">
                  <c:v>23</c:v>
                </c:pt>
                <c:pt idx="1">
                  <c:v>25.4</c:v>
                </c:pt>
                <c:pt idx="2">
                  <c:v>27.5</c:v>
                </c:pt>
                <c:pt idx="3">
                  <c:v>31.1</c:v>
                </c:pt>
                <c:pt idx="4">
                  <c:v>31.4</c:v>
                </c:pt>
                <c:pt idx="5">
                  <c:v>36</c:v>
                </c:pt>
                <c:pt idx="6">
                  <c:v>49.5</c:v>
                </c:pt>
                <c:pt idx="7">
                  <c:v>64.4</c:v>
                </c:pt>
                <c:pt idx="8">
                  <c:v>66.2</c:v>
                </c:pt>
                <c:pt idx="9">
                  <c:v>72.8</c:v>
                </c:pt>
                <c:pt idx="10">
                  <c:v>78.2</c:v>
                </c:pt>
                <c:pt idx="11">
                  <c:v>80.4</c:v>
                </c:pt>
              </c:numCache>
            </c:numRef>
          </c:val>
        </c:ser>
        <c:ser>
          <c:idx val="1"/>
          <c:order val="1"/>
          <c:tx>
            <c:strRef>
              <c:f>Sheet1!$C$1</c:f>
              <c:strCache>
                <c:ptCount val="1"/>
                <c:pt idx="0">
                  <c:v>ある程度重要</c:v>
                </c:pt>
              </c:strCache>
            </c:strRef>
          </c:tx>
          <c:spPr>
            <a:solidFill>
              <a:srgbClr val="F3C9D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HDLコレステロール</c:v>
                  </c:pt>
                  <c:pt idx="1">
                    <c:v>γ-GTP</c:v>
                  </c:pt>
                  <c:pt idx="2">
                    <c:v>骨密度</c:v>
                  </c:pt>
                  <c:pt idx="3">
                    <c:v>尿酸</c:v>
                  </c:pt>
                  <c:pt idx="4">
                    <c:v>尿糖</c:v>
                  </c:pt>
                  <c:pt idx="5">
                    <c:v>中性脂肪</c:v>
                  </c:pt>
                  <c:pt idx="6">
                    <c:v>BMI</c:v>
                  </c:pt>
                  <c:pt idx="7">
                    <c:v>血糖値</c:v>
                  </c:pt>
                  <c:pt idx="8">
                    <c:v>クレアチニン</c:v>
                  </c:pt>
                  <c:pt idx="9">
                    <c:v>LDLコレステロール</c:v>
                  </c:pt>
                  <c:pt idx="10">
                    <c:v>HbA1c</c:v>
                  </c:pt>
                  <c:pt idx="11">
                    <c:v>血圧</c:v>
                  </c:pt>
                </c:lvl>
              </c:multiLvlStrCache>
            </c:multiLvlStrRef>
          </c:cat>
          <c:val>
            <c:numRef>
              <c:f>Sheet1!$C$2:$C$13</c:f>
              <c:numCache>
                <c:formatCode>General</c:formatCode>
                <c:ptCount val="12"/>
                <c:pt idx="0">
                  <c:v>64.7</c:v>
                </c:pt>
                <c:pt idx="1">
                  <c:v>60.7</c:v>
                </c:pt>
                <c:pt idx="2">
                  <c:v>62.8</c:v>
                </c:pt>
                <c:pt idx="3">
                  <c:v>58.9</c:v>
                </c:pt>
                <c:pt idx="4">
                  <c:v>44.4</c:v>
                </c:pt>
                <c:pt idx="5">
                  <c:v>51.7</c:v>
                </c:pt>
                <c:pt idx="6">
                  <c:v>44.7</c:v>
                </c:pt>
                <c:pt idx="7">
                  <c:v>32.9</c:v>
                </c:pt>
                <c:pt idx="8">
                  <c:v>31.4</c:v>
                </c:pt>
                <c:pt idx="9">
                  <c:v>26.3</c:v>
                </c:pt>
                <c:pt idx="10">
                  <c:v>20.5</c:v>
                </c:pt>
                <c:pt idx="11">
                  <c:v>19</c:v>
                </c:pt>
              </c:numCache>
            </c:numRef>
          </c:val>
        </c:ser>
        <c:ser>
          <c:idx val="2"/>
          <c:order val="2"/>
          <c:tx>
            <c:strRef>
              <c:f>Sheet1!$D$1</c:f>
              <c:strCache>
                <c:ptCount val="1"/>
                <c:pt idx="0">
                  <c:v>あまり重要でない</c:v>
                </c:pt>
              </c:strCache>
            </c:strRef>
          </c:tx>
          <c:spPr>
            <a:solidFill>
              <a:srgbClr val="D9D9D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HDLコレステロール</c:v>
                  </c:pt>
                  <c:pt idx="1">
                    <c:v>γ-GTP</c:v>
                  </c:pt>
                  <c:pt idx="2">
                    <c:v>骨密度</c:v>
                  </c:pt>
                  <c:pt idx="3">
                    <c:v>尿酸</c:v>
                  </c:pt>
                  <c:pt idx="4">
                    <c:v>尿糖</c:v>
                  </c:pt>
                  <c:pt idx="5">
                    <c:v>中性脂肪</c:v>
                  </c:pt>
                  <c:pt idx="6">
                    <c:v>BMI</c:v>
                  </c:pt>
                  <c:pt idx="7">
                    <c:v>血糖値</c:v>
                  </c:pt>
                  <c:pt idx="8">
                    <c:v>クレアチニン</c:v>
                  </c:pt>
                  <c:pt idx="9">
                    <c:v>LDLコレステロール</c:v>
                  </c:pt>
                  <c:pt idx="10">
                    <c:v>HbA1c</c:v>
                  </c:pt>
                  <c:pt idx="11">
                    <c:v>血圧</c:v>
                  </c:pt>
                </c:lvl>
              </c:multiLvlStrCache>
            </c:multiLvlStrRef>
          </c:cat>
          <c:val>
            <c:numRef>
              <c:f>Sheet1!$D$2:$D$13</c:f>
              <c:numCache>
                <c:formatCode>General</c:formatCode>
                <c:ptCount val="12"/>
                <c:pt idx="0">
                  <c:v>11.2</c:v>
                </c:pt>
                <c:pt idx="1">
                  <c:v>13</c:v>
                </c:pt>
                <c:pt idx="2">
                  <c:v>8.5</c:v>
                </c:pt>
                <c:pt idx="3">
                  <c:v>9.7</c:v>
                </c:pt>
                <c:pt idx="4">
                  <c:v>21.8</c:v>
                </c:pt>
                <c:pt idx="5">
                  <c:v>12.1</c:v>
                </c:pt>
                <c:pt idx="6">
                  <c:v>5.4</c:v>
                </c:pt>
                <c:pt idx="7">
                  <c:v>2.7</c:v>
                </c:pt>
                <c:pt idx="8">
                  <c:v>2.4</c:v>
                </c:pt>
                <c:pt idx="9">
                  <c:v>0.6</c:v>
                </c:pt>
                <c:pt idx="10">
                  <c:v>1.2</c:v>
                </c:pt>
                <c:pt idx="11">
                  <c:v>0.6</c:v>
                </c:pt>
              </c:numCache>
            </c:numRef>
          </c:val>
        </c:ser>
        <c:ser>
          <c:idx val="3"/>
          <c:order val="3"/>
          <c:tx>
            <c:strRef>
              <c:f>Sheet1!$E$1</c:f>
              <c:strCache>
                <c:ptCount val="1"/>
                <c:pt idx="0">
                  <c:v>全く重要でない</c:v>
                </c:pt>
              </c:strCache>
            </c:strRef>
          </c:tx>
          <c:spPr>
            <a:solidFill>
              <a:srgbClr val="A6A6A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HDLコレステロール</c:v>
                  </c:pt>
                  <c:pt idx="1">
                    <c:v>γ-GTP</c:v>
                  </c:pt>
                  <c:pt idx="2">
                    <c:v>骨密度</c:v>
                  </c:pt>
                  <c:pt idx="3">
                    <c:v>尿酸</c:v>
                  </c:pt>
                  <c:pt idx="4">
                    <c:v>尿糖</c:v>
                  </c:pt>
                  <c:pt idx="5">
                    <c:v>中性脂肪</c:v>
                  </c:pt>
                  <c:pt idx="6">
                    <c:v>BMI</c:v>
                  </c:pt>
                  <c:pt idx="7">
                    <c:v>血糖値</c:v>
                  </c:pt>
                  <c:pt idx="8">
                    <c:v>クレアチニン</c:v>
                  </c:pt>
                  <c:pt idx="9">
                    <c:v>LDLコレステロール</c:v>
                  </c:pt>
                  <c:pt idx="10">
                    <c:v>HbA1c</c:v>
                  </c:pt>
                  <c:pt idx="11">
                    <c:v>血圧</c:v>
                  </c:pt>
                </c:lvl>
              </c:multiLvlStrCache>
            </c:multiLvlStrRef>
          </c:cat>
          <c:val>
            <c:numRef>
              <c:f>Sheet1!$E$2:$E$13</c:f>
              <c:numCache>
                <c:formatCode>General</c:formatCode>
                <c:ptCount val="12"/>
                <c:pt idx="0">
                  <c:v>1.2</c:v>
                </c:pt>
                <c:pt idx="1">
                  <c:v>0.9</c:v>
                </c:pt>
                <c:pt idx="2">
                  <c:v>1.2</c:v>
                </c:pt>
                <c:pt idx="3">
                  <c:v>0.3</c:v>
                </c:pt>
                <c:pt idx="4">
                  <c:v>2.4</c:v>
                </c:pt>
                <c:pt idx="5">
                  <c:v>0.3</c:v>
                </c:pt>
                <c:pt idx="6">
                  <c:v>0.3</c:v>
                </c:pt>
                <c:pt idx="7">
                  <c:v>0</c:v>
                </c:pt>
                <c:pt idx="8">
                  <c:v>0</c:v>
                </c:pt>
                <c:pt idx="9">
                  <c:v>0.3</c:v>
                </c:pt>
                <c:pt idx="10">
                  <c:v>0</c:v>
                </c:pt>
                <c:pt idx="11">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650" b="0" i="0" u="none" strike="noStrike">
                <a:solidFill>
                  <a:srgbClr val="262626"/>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36"/>
          <c:y val="0.02"/>
          <c:w val="0.6"/>
          <c:h val="0.96"/>
        </c:manualLayout>
      </c:layout>
      <c:barChart>
        <c:barDir val="bar"/>
        <c:grouping val="percentStacked"/>
        <c:varyColors val="0"/>
        <c:ser>
          <c:idx val="0"/>
          <c:order val="0"/>
          <c:tx>
            <c:strRef>
              <c:f>Sheet1!$B$1</c:f>
              <c:strCache>
                <c:ptCount val="1"/>
                <c:pt idx="0">
                  <c:v>名前も意味も知っている</c:v>
                </c:pt>
              </c:strCache>
            </c:strRef>
          </c:tx>
          <c:spPr>
            <a:solidFill>
              <a:srgbClr val="46688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血圧</c:v>
                  </c:pt>
                  <c:pt idx="1">
                    <c:v>BMI</c:v>
                  </c:pt>
                  <c:pt idx="2">
                    <c:v>血糖値</c:v>
                  </c:pt>
                  <c:pt idx="3">
                    <c:v>中性脂肪</c:v>
                  </c:pt>
                  <c:pt idx="4">
                    <c:v>骨密度</c:v>
                  </c:pt>
                  <c:pt idx="5">
                    <c:v>尿酸</c:v>
                  </c:pt>
                  <c:pt idx="6">
                    <c:v>HDLコレステロール</c:v>
                  </c:pt>
                  <c:pt idx="7">
                    <c:v>LDLコレステロール</c:v>
                  </c:pt>
                  <c:pt idx="8">
                    <c:v>γ-GTP</c:v>
                  </c:pt>
                  <c:pt idx="9">
                    <c:v>尿糖</c:v>
                  </c:pt>
                  <c:pt idx="10">
                    <c:v>クレアチニン</c:v>
                  </c:pt>
                  <c:pt idx="11">
                    <c:v>HbA1c</c:v>
                  </c:pt>
                </c:lvl>
              </c:multiLvlStrCache>
            </c:multiLvlStrRef>
          </c:cat>
          <c:val>
            <c:numRef>
              <c:f>Sheet1!$B$2:$B$13</c:f>
              <c:numCache>
                <c:formatCode>General</c:formatCode>
                <c:ptCount val="12"/>
                <c:pt idx="0">
                  <c:v>85.2</c:v>
                </c:pt>
                <c:pt idx="1">
                  <c:v>70.3</c:v>
                </c:pt>
                <c:pt idx="2">
                  <c:v>65.2</c:v>
                </c:pt>
                <c:pt idx="3">
                  <c:v>54.5</c:v>
                </c:pt>
                <c:pt idx="4">
                  <c:v>60.6</c:v>
                </c:pt>
                <c:pt idx="5">
                  <c:v>37.7</c:v>
                </c:pt>
                <c:pt idx="6">
                  <c:v>37.4</c:v>
                </c:pt>
                <c:pt idx="7">
                  <c:v>42.3</c:v>
                </c:pt>
                <c:pt idx="8">
                  <c:v>26.1</c:v>
                </c:pt>
                <c:pt idx="9">
                  <c:v>30</c:v>
                </c:pt>
                <c:pt idx="10">
                  <c:v>14.2</c:v>
                </c:pt>
                <c:pt idx="11">
                  <c:v>23.2</c:v>
                </c:pt>
              </c:numCache>
            </c:numRef>
          </c:val>
        </c:ser>
        <c:ser>
          <c:idx val="1"/>
          <c:order val="1"/>
          <c:tx>
            <c:strRef>
              <c:f>Sheet1!$C$1</c:f>
              <c:strCache>
                <c:ptCount val="1"/>
                <c:pt idx="0">
                  <c:v>名前は見聞きした程度</c:v>
                </c:pt>
              </c:strCache>
            </c:strRef>
          </c:tx>
          <c:spPr>
            <a:solidFill>
              <a:srgbClr val="B7C6D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血圧</c:v>
                  </c:pt>
                  <c:pt idx="1">
                    <c:v>BMI</c:v>
                  </c:pt>
                  <c:pt idx="2">
                    <c:v>血糖値</c:v>
                  </c:pt>
                  <c:pt idx="3">
                    <c:v>中性脂肪</c:v>
                  </c:pt>
                  <c:pt idx="4">
                    <c:v>骨密度</c:v>
                  </c:pt>
                  <c:pt idx="5">
                    <c:v>尿酸</c:v>
                  </c:pt>
                  <c:pt idx="6">
                    <c:v>HDLコレステロール</c:v>
                  </c:pt>
                  <c:pt idx="7">
                    <c:v>LDLコレステロール</c:v>
                  </c:pt>
                  <c:pt idx="8">
                    <c:v>γ-GTP</c:v>
                  </c:pt>
                  <c:pt idx="9">
                    <c:v>尿糖</c:v>
                  </c:pt>
                  <c:pt idx="10">
                    <c:v>クレアチニン</c:v>
                  </c:pt>
                  <c:pt idx="11">
                    <c:v>HbA1c</c:v>
                  </c:pt>
                </c:lvl>
              </c:multiLvlStrCache>
            </c:multiLvlStrRef>
          </c:cat>
          <c:val>
            <c:numRef>
              <c:f>Sheet1!$C$2:$C$13</c:f>
              <c:numCache>
                <c:formatCode>General</c:formatCode>
                <c:ptCount val="12"/>
                <c:pt idx="0">
                  <c:v>13.9</c:v>
                </c:pt>
                <c:pt idx="1">
                  <c:v>28.1</c:v>
                </c:pt>
                <c:pt idx="2">
                  <c:v>32.6</c:v>
                </c:pt>
                <c:pt idx="3">
                  <c:v>42.3</c:v>
                </c:pt>
                <c:pt idx="4">
                  <c:v>35.2</c:v>
                </c:pt>
                <c:pt idx="5">
                  <c:v>55.5</c:v>
                </c:pt>
                <c:pt idx="6">
                  <c:v>51.6</c:v>
                </c:pt>
                <c:pt idx="7">
                  <c:v>45.8</c:v>
                </c:pt>
                <c:pt idx="8">
                  <c:v>51.6</c:v>
                </c:pt>
                <c:pt idx="9">
                  <c:v>41.9</c:v>
                </c:pt>
                <c:pt idx="10">
                  <c:v>46.8</c:v>
                </c:pt>
                <c:pt idx="11">
                  <c:v>36.5</c:v>
                </c:pt>
              </c:numCache>
            </c:numRef>
          </c:val>
        </c:ser>
        <c:ser>
          <c:idx val="2"/>
          <c:order val="2"/>
          <c:tx>
            <c:strRef>
              <c:f>Sheet1!$D$1</c:f>
              <c:strCache>
                <c:ptCount val="1"/>
                <c:pt idx="0">
                  <c:v>知らない</c:v>
                </c:pt>
              </c:strCache>
            </c:strRef>
          </c:tx>
          <c:spPr>
            <a:solidFill>
              <a:srgbClr val="C8102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血圧</c:v>
                  </c:pt>
                  <c:pt idx="1">
                    <c:v>BMI</c:v>
                  </c:pt>
                  <c:pt idx="2">
                    <c:v>血糖値</c:v>
                  </c:pt>
                  <c:pt idx="3">
                    <c:v>中性脂肪</c:v>
                  </c:pt>
                  <c:pt idx="4">
                    <c:v>骨密度</c:v>
                  </c:pt>
                  <c:pt idx="5">
                    <c:v>尿酸</c:v>
                  </c:pt>
                  <c:pt idx="6">
                    <c:v>HDLコレステロール</c:v>
                  </c:pt>
                  <c:pt idx="7">
                    <c:v>LDLコレステロール</c:v>
                  </c:pt>
                  <c:pt idx="8">
                    <c:v>γ-GTP</c:v>
                  </c:pt>
                  <c:pt idx="9">
                    <c:v>尿糖</c:v>
                  </c:pt>
                  <c:pt idx="10">
                    <c:v>クレアチニン</c:v>
                  </c:pt>
                  <c:pt idx="11">
                    <c:v>HbA1c</c:v>
                  </c:pt>
                </c:lvl>
              </c:multiLvlStrCache>
            </c:multiLvlStrRef>
          </c:cat>
          <c:val>
            <c:numRef>
              <c:f>Sheet1!$D$2:$D$13</c:f>
              <c:numCache>
                <c:formatCode>General</c:formatCode>
                <c:ptCount val="12"/>
                <c:pt idx="0">
                  <c:v>1</c:v>
                </c:pt>
                <c:pt idx="1">
                  <c:v>1.6</c:v>
                </c:pt>
                <c:pt idx="2">
                  <c:v>2.3</c:v>
                </c:pt>
                <c:pt idx="3">
                  <c:v>3.2</c:v>
                </c:pt>
                <c:pt idx="4">
                  <c:v>4.2</c:v>
                </c:pt>
                <c:pt idx="5">
                  <c:v>6.8</c:v>
                </c:pt>
                <c:pt idx="6">
                  <c:v>11</c:v>
                </c:pt>
                <c:pt idx="7">
                  <c:v>11.9</c:v>
                </c:pt>
                <c:pt idx="8">
                  <c:v>22.3</c:v>
                </c:pt>
                <c:pt idx="9">
                  <c:v>28.1</c:v>
                </c:pt>
                <c:pt idx="10">
                  <c:v>39</c:v>
                </c:pt>
                <c:pt idx="11">
                  <c:v>40.3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650" b="0" i="0" u="none" strike="noStrike">
                <a:solidFill>
                  <a:srgbClr val="262626"/>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c:v>
                </c:pt>
              </c:strCache>
            </c:strRef>
          </c:tx>
          <c:spPr>
            <a:solidFill>
              <a:schemeClr val="accent1"/>
            </a:solidFill>
            <a:ln w="9525" cap="flat">
              <a:solidFill>
                <a:srgbClr val="F9F9F9"/>
              </a:solidFill>
              <a:prstDash val="solid"/>
              <a:round/>
            </a:ln>
            <a:effectLst/>
          </c:spPr>
          <c:dPt>
            <c:idx val="0"/>
            <c:bubble3D val="0"/>
            <c:spPr>
              <a:solidFill>
                <a:srgbClr val="F3C9D0"/>
              </a:solidFill>
              <a:ln w="19050" cap="flat">
                <a:solidFill>
                  <a:srgbClr val="FFFFFF"/>
                </a:solidFill>
                <a:prstDash val="solid"/>
                <a:round/>
              </a:ln>
              <a:effectLst/>
            </c:spPr>
          </c:dPt>
          <c:dPt>
            <c:idx val="1"/>
            <c:bubble3D val="0"/>
            <c:spPr>
              <a:solidFill>
                <a:srgbClr val="B7C6D6"/>
              </a:solidFill>
              <a:ln w="1905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HbA1c</c:v>
                </c:pt>
                <c:pt idx="1">
                  <c:v>血糖値</c:v>
                </c:pt>
              </c:strCache>
            </c:strRef>
          </c:cat>
          <c:val>
            <c:numRef>
              <c:f>Sheet1!$B$2:$B$3</c:f>
              <c:numCache>
                <c:ptCount val="2"/>
                <c:pt idx="0">
                  <c:v>29.2</c:v>
                </c:pt>
                <c:pt idx="1">
                  <c:v>70.8</c:v>
                </c:pt>
              </c:numCache>
            </c:numRef>
          </c:val>
        </c:ser>
        <c:firstSliceAng val="0"/>
        <c:holeSize val="64"/>
      </c:doughnutChart>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c:v>
                </c:pt>
              </c:strCache>
            </c:strRef>
          </c:tx>
          <c:spPr>
            <a:solidFill>
              <a:schemeClr val="accent1"/>
            </a:solidFill>
            <a:ln w="9525" cap="flat">
              <a:solidFill>
                <a:srgbClr val="F9F9F9"/>
              </a:solidFill>
              <a:prstDash val="solid"/>
              <a:round/>
            </a:ln>
            <a:effectLst/>
          </c:spPr>
          <c:dPt>
            <c:idx val="0"/>
            <c:bubble3D val="0"/>
            <c:spPr>
              <a:solidFill>
                <a:srgbClr val="C8102E"/>
              </a:solidFill>
              <a:ln w="19050" cap="flat">
                <a:solidFill>
                  <a:srgbClr val="FFFFFF"/>
                </a:solidFill>
                <a:prstDash val="solid"/>
                <a:round/>
              </a:ln>
              <a:effectLst/>
            </c:spPr>
          </c:dPt>
          <c:dPt>
            <c:idx val="1"/>
            <c:bubble3D val="0"/>
            <c:spPr>
              <a:solidFill>
                <a:srgbClr val="B7C6D6"/>
              </a:solidFill>
              <a:ln w="1905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HbA1c</c:v>
                </c:pt>
                <c:pt idx="1">
                  <c:v>血糖値</c:v>
                </c:pt>
              </c:strCache>
            </c:strRef>
          </c:cat>
          <c:val>
            <c:numRef>
              <c:f>Sheet1!$B$2:$B$3</c:f>
              <c:numCache>
                <c:ptCount val="2"/>
                <c:pt idx="0">
                  <c:v>70.8</c:v>
                </c:pt>
                <c:pt idx="1">
                  <c:v>29.2</c:v>
                </c:pt>
              </c:numCache>
            </c:numRef>
          </c:val>
        </c:ser>
        <c:firstSliceAng val="0"/>
        <c:holeSize val="64"/>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9418320"/>
            <a:ext cx="5852160" cy="0"/>
          </a:xfrm>
          <a:prstGeom prst="line">
            <a:avLst/>
          </a:prstGeom>
          <a:noFill/>
          <a:ln w="6350">
            <a:solidFill>
              <a:srgbClr val="DDDDDD"/>
            </a:solidFill>
            <a:prstDash val="solid"/>
          </a:ln>
        </p:spPr>
      </p:sp>
      <p:sp>
        <p:nvSpPr>
          <p:cNvPr id="3" name="Text 1"/>
          <p:cNvSpPr/>
          <p:nvPr/>
        </p:nvSpPr>
        <p:spPr>
          <a:xfrm>
            <a:off x="502920" y="9491472"/>
            <a:ext cx="5120640" cy="182880"/>
          </a:xfrm>
          <a:prstGeom prst="rect">
            <a:avLst/>
          </a:prstGeom>
          <a:noFill/>
          <a:ln/>
        </p:spPr>
        <p:txBody>
          <a:bodyPr wrap="square" lIns="0" tIns="0" rIns="0" bIns="0" rtlCol="0" anchor="ctr"/>
          <a:lstStyle/>
          <a:p>
            <a:pPr indent="0" marL="0">
              <a:buNone/>
            </a:pPr>
            <a:r>
              <a:rPr lang="en-US" sz="600" dirty="0">
                <a:solidFill>
                  <a:srgbClr val="7A7A7A"/>
                </a:solidFill>
              </a:rPr>
              <a:t>日本生活習慣病予防協会　ニュースリリース　「血糖値・ヘモグロビンA1cに関する意識調査」（2026年9月）</a:t>
            </a:r>
            <a:endParaRPr lang="en-US" sz="600" dirty="0"/>
          </a:p>
        </p:txBody>
      </p:sp>
      <p:sp>
        <p:nvSpPr>
          <p:cNvPr id="25" name="Slide Number Placeholder 0"/>
          <p:cNvSpPr>
            <a:spLocks noGrp="1"/>
          </p:cNvSpPr>
          <p:nvPr>
            <p:ph type="sldNum" sz="quarter" idx="4294967295"/>
          </p:nvPr>
        </p:nvSpPr>
        <p:spPr>
          <a:xfrm>
            <a:off x="5897880" y="9491472"/>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7A7A7A"/>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897880" y="9491472"/>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7A7A7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hart" Target="/ppt/charts/chart1.xml"/><Relationship Id="rId5" Type="http://schemas.openxmlformats.org/officeDocument/2006/relationships/chart" Target="/ppt/charts/chart2.xml"/><Relationship Id="rId1" Type="http://schemas.openxmlformats.org/officeDocument/2006/relationships/image" Target="../media/image-1-1.png"/><Relationship Id="rId2" Type="http://schemas.openxmlformats.org/officeDocument/2006/relationships/image" Target="../media/image-1-2.png"/><Relationship Id="rId4"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slideLayout" Target="../slideLayouts/slideLayout2.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chart" Target="/ppt/charts/chart3.xml"/><Relationship Id="rId4" Type="http://schemas.openxmlformats.org/officeDocument/2006/relationships/chart" Target="/ppt/charts/chart4.xml"/><Relationship Id="rId5" Type="http://schemas.openxmlformats.org/officeDocument/2006/relationships/chart" Target="/ppt/charts/chart5.xml"/><Relationship Id="rId6" Type="http://schemas.openxmlformats.org/officeDocument/2006/relationships/chart" Target="/ppt/charts/chart6.xml"/><Relationship Id="rId1" Type="http://schemas.openxmlformats.org/officeDocument/2006/relationships/image" Target="../media/image-2-1.png"/><Relationship Id="rId3" Type="http://schemas.openxmlformats.org/officeDocument/2006/relationships/image" Target="../media/image-2-2.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hyperlink" Target="https://seikatsusyukanbyo.com/" TargetMode="External"/><Relationship Id="rId1"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02920" y="384048"/>
            <a:ext cx="2743200" cy="256032"/>
          </a:xfrm>
          <a:prstGeom prst="rect">
            <a:avLst/>
          </a:prstGeom>
          <a:noFill/>
          <a:ln/>
        </p:spPr>
        <p:txBody>
          <a:bodyPr wrap="square" lIns="0" tIns="0" rIns="0" bIns="0" rtlCol="0" anchor="ctr"/>
          <a:lstStyle/>
          <a:p>
            <a:pPr indent="0" marL="0">
              <a:buNone/>
            </a:pPr>
            <a:r>
              <a:rPr lang="en-US" sz="1400" b="1" spc="300" kern="0" dirty="0">
                <a:solidFill>
                  <a:srgbClr val="C8102E"/>
                </a:solidFill>
              </a:rPr>
              <a:t>NEWS RELEASE</a:t>
            </a:r>
            <a:endParaRPr lang="en-US" sz="1400" dirty="0"/>
          </a:p>
        </p:txBody>
      </p:sp>
      <p:sp>
        <p:nvSpPr>
          <p:cNvPr id="3" name="Text 1"/>
          <p:cNvSpPr txBox="1"/>
          <p:nvPr/>
        </p:nvSpPr>
        <p:spPr>
          <a:xfrm>
            <a:off x="502920" y="658368"/>
            <a:ext cx="3291840" cy="182880"/>
          </a:xfrm>
          <a:prstGeom prst="rect">
            <a:avLst/>
          </a:prstGeom>
          <a:noFill/>
          <a:ln/>
        </p:spPr>
        <p:txBody>
          <a:bodyPr wrap="square" lIns="0" tIns="0" rIns="0" bIns="0" rtlCol="0" anchor="ctr"/>
          <a:lstStyle/>
          <a:p>
            <a:pPr indent="0" marL="0">
              <a:buNone/>
            </a:pPr>
            <a:r>
              <a:rPr lang="en-US" sz="750" dirty="0">
                <a:solidFill>
                  <a:srgbClr val="7A7A7A"/>
                </a:solidFill>
              </a:rPr>
              <a:t>一般社団法人 日本生活習慣病予防協会　2026年9月</a:t>
            </a:r>
            <a:endParaRPr lang="en-US" sz="750" dirty="0"/>
          </a:p>
        </p:txBody>
      </p:sp>
      <p:pic>
        <p:nvPicPr>
          <p:cNvPr id="4" name="Image 0" descr="10月8日 糖をはかる日">    </p:cNvPr>
          <p:cNvPicPr>
            <a:picLocks noChangeAspect="1"/>
          </p:cNvPicPr>
          <p:nvPr/>
        </p:nvPicPr>
        <p:blipFill>
          <a:blip r:embed="rId1"/>
          <a:stretch>
            <a:fillRect/>
          </a:stretch>
        </p:blipFill>
        <p:spPr>
          <a:xfrm>
            <a:off x="5669280" y="274320"/>
            <a:ext cx="685800" cy="488290"/>
          </a:xfrm>
          <a:prstGeom prst="rect">
            <a:avLst/>
          </a:prstGeom>
        </p:spPr>
      </p:pic>
      <p:sp>
        <p:nvSpPr>
          <p:cNvPr id="5" name="Text 2"/>
          <p:cNvSpPr txBox="1"/>
          <p:nvPr/>
        </p:nvSpPr>
        <p:spPr>
          <a:xfrm>
            <a:off x="3749040" y="420624"/>
            <a:ext cx="1783080" cy="274320"/>
          </a:xfrm>
          <a:prstGeom prst="roundRect">
            <a:avLst>
              <a:gd name="adj" fmla="val 50000"/>
            </a:avLst>
          </a:prstGeom>
          <a:solidFill>
            <a:srgbClr val="FBECEE"/>
          </a:solidFill>
          <a:ln/>
        </p:spPr>
        <p:txBody>
          <a:bodyPr wrap="square" lIns="0" tIns="0" rIns="0" bIns="0" rtlCol="0" anchor="ctr"/>
          <a:lstStyle/>
          <a:p>
            <a:pPr algn="ctr" indent="0" marL="0">
              <a:buNone/>
            </a:pPr>
            <a:r>
              <a:rPr lang="en-US" sz="850" b="1" dirty="0">
                <a:solidFill>
                  <a:srgbClr val="C8102E"/>
                </a:solidFill>
              </a:rPr>
              <a:t>10月8日は「糖をはかる日」</a:t>
            </a:r>
            <a:endParaRPr lang="en-US" sz="850" dirty="0"/>
          </a:p>
        </p:txBody>
      </p:sp>
      <p:sp>
        <p:nvSpPr>
          <p:cNvPr id="6" name="Shape 3"/>
          <p:cNvSpPr/>
          <p:nvPr/>
        </p:nvSpPr>
        <p:spPr>
          <a:xfrm>
            <a:off x="502920" y="914400"/>
            <a:ext cx="5852160" cy="914"/>
          </a:xfrm>
          <a:prstGeom prst="line">
            <a:avLst/>
          </a:prstGeom>
          <a:noFill/>
          <a:ln w="9525">
            <a:solidFill>
              <a:srgbClr val="DDDDDD"/>
            </a:solidFill>
            <a:prstDash val="solid"/>
          </a:ln>
        </p:spPr>
      </p:sp>
      <p:sp>
        <p:nvSpPr>
          <p:cNvPr id="7" name="Text 4"/>
          <p:cNvSpPr txBox="1"/>
          <p:nvPr/>
        </p:nvSpPr>
        <p:spPr>
          <a:xfrm>
            <a:off x="502920" y="1024128"/>
            <a:ext cx="5852160" cy="237744"/>
          </a:xfrm>
          <a:prstGeom prst="rect">
            <a:avLst/>
          </a:prstGeom>
          <a:noFill/>
          <a:ln/>
        </p:spPr>
        <p:txBody>
          <a:bodyPr wrap="square" lIns="0" tIns="0" rIns="0" bIns="0" rtlCol="0" anchor="ctr"/>
          <a:lstStyle/>
          <a:p>
            <a:pPr indent="0" marL="0">
              <a:buNone/>
            </a:pPr>
            <a:r>
              <a:rPr lang="en-US" sz="950" b="1" dirty="0">
                <a:solidFill>
                  <a:srgbClr val="C8102E"/>
                </a:solidFill>
              </a:rPr>
              <a:t>血糖値の落とし穴！？　医師・生活者「血糖値・ヘモグロビンA1cに関する意識調査」</a:t>
            </a:r>
            <a:endParaRPr lang="en-US" sz="950" dirty="0"/>
          </a:p>
        </p:txBody>
      </p:sp>
      <p:sp>
        <p:nvSpPr>
          <p:cNvPr id="8" name="Text 5"/>
          <p:cNvSpPr txBox="1"/>
          <p:nvPr/>
        </p:nvSpPr>
        <p:spPr>
          <a:xfrm>
            <a:off x="502920" y="1298448"/>
            <a:ext cx="5852160" cy="896112"/>
          </a:xfrm>
          <a:prstGeom prst="rect">
            <a:avLst/>
          </a:prstGeom>
          <a:noFill/>
          <a:ln/>
        </p:spPr>
        <p:txBody>
          <a:bodyPr wrap="square" lIns="0" tIns="0" rIns="0" bIns="0" rtlCol="0" anchor="ctr"/>
          <a:lstStyle/>
          <a:p>
            <a:pPr indent="0" marL="0">
              <a:lnSpc>
                <a:spcPct val="105000"/>
              </a:lnSpc>
              <a:buNone/>
            </a:pPr>
            <a:r>
              <a:rPr lang="en-US" sz="2500" b="1" dirty="0">
                <a:solidFill>
                  <a:srgbClr val="262626"/>
                </a:solidFill>
              </a:rPr>
              <a:t>医師の</a:t>
            </a:r>
            <a:pPr indent="0" marL="0">
              <a:lnSpc>
                <a:spcPct val="105000"/>
              </a:lnSpc>
              <a:buNone/>
            </a:pPr>
            <a:r>
              <a:rPr lang="en-US" sz="2500" b="1" dirty="0">
                <a:solidFill>
                  <a:srgbClr val="C8102E"/>
                </a:solidFill>
              </a:rPr>
              <a:t>87%</a:t>
            </a:r>
            <a:pPr indent="0" marL="0">
              <a:lnSpc>
                <a:spcPct val="105000"/>
              </a:lnSpc>
              <a:buNone/>
            </a:pPr>
            <a:r>
              <a:rPr lang="en-US" sz="2500" b="1" dirty="0">
                <a:solidFill>
                  <a:srgbClr val="262626"/>
                </a:solidFill>
              </a:rPr>
              <a:t>はヘモグロビンA1c、</a:t>
            </a:r>
            <a:endParaRPr lang="en-US" sz="2500" dirty="0"/>
          </a:p>
          <a:p>
            <a:pPr indent="0" marL="0">
              <a:lnSpc>
                <a:spcPct val="105000"/>
              </a:lnSpc>
              <a:buNone/>
            </a:pPr>
            <a:r>
              <a:rPr lang="en-US" sz="2500" b="1" dirty="0">
                <a:solidFill>
                  <a:srgbClr val="262626"/>
                </a:solidFill>
              </a:rPr>
              <a:t>生活者の</a:t>
            </a:r>
            <a:pPr indent="0" marL="0">
              <a:lnSpc>
                <a:spcPct val="105000"/>
              </a:lnSpc>
              <a:buNone/>
            </a:pPr>
            <a:r>
              <a:rPr lang="en-US" sz="2500" b="1" dirty="0">
                <a:solidFill>
                  <a:srgbClr val="46688C"/>
                </a:solidFill>
              </a:rPr>
              <a:t>69%</a:t>
            </a:r>
            <a:pPr indent="0" marL="0">
              <a:lnSpc>
                <a:spcPct val="105000"/>
              </a:lnSpc>
              <a:buNone/>
            </a:pPr>
            <a:r>
              <a:rPr lang="en-US" sz="2500" b="1" dirty="0">
                <a:solidFill>
                  <a:srgbClr val="262626"/>
                </a:solidFill>
              </a:rPr>
              <a:t>は血糖値を重視</a:t>
            </a:r>
            <a:endParaRPr lang="en-US" sz="2500" dirty="0"/>
          </a:p>
        </p:txBody>
      </p:sp>
      <p:sp>
        <p:nvSpPr>
          <p:cNvPr id="9" name="Text 6"/>
          <p:cNvSpPr txBox="1"/>
          <p:nvPr/>
        </p:nvSpPr>
        <p:spPr>
          <a:xfrm>
            <a:off x="502920" y="2240280"/>
            <a:ext cx="5852160" cy="256032"/>
          </a:xfrm>
          <a:prstGeom prst="rect">
            <a:avLst/>
          </a:prstGeom>
          <a:noFill/>
          <a:ln/>
        </p:spPr>
        <p:txBody>
          <a:bodyPr wrap="square" lIns="0" tIns="0" rIns="0" bIns="0" rtlCol="0" anchor="ctr"/>
          <a:lstStyle/>
          <a:p>
            <a:pPr indent="0" marL="0">
              <a:buNone/>
            </a:pPr>
            <a:r>
              <a:rPr lang="en-US" sz="1100" b="1" dirty="0">
                <a:solidFill>
                  <a:srgbClr val="4A4A4A"/>
                </a:solidFill>
              </a:rPr>
              <a:t>知名度ワースト『ヘモグロビンA1c』とは ―― 医師と生活者の認識ギャップ</a:t>
            </a:r>
            <a:endParaRPr lang="en-US" sz="1100" dirty="0"/>
          </a:p>
        </p:txBody>
      </p:sp>
      <p:sp>
        <p:nvSpPr>
          <p:cNvPr id="10" name="Text 7"/>
          <p:cNvSpPr txBox="1"/>
          <p:nvPr/>
        </p:nvSpPr>
        <p:spPr>
          <a:xfrm>
            <a:off x="502920" y="2606040"/>
            <a:ext cx="5852160" cy="1097280"/>
          </a:xfrm>
          <a:prstGeom prst="rect">
            <a:avLst/>
          </a:prstGeom>
          <a:noFill/>
          <a:ln/>
        </p:spPr>
        <p:txBody>
          <a:bodyPr wrap="square" lIns="0" tIns="0" rIns="0" bIns="0" rtlCol="0" anchor="t"/>
          <a:lstStyle/>
          <a:p>
            <a:pPr indent="0" marL="0">
              <a:lnSpc>
                <a:spcPct val="125000"/>
              </a:lnSpc>
              <a:buNone/>
            </a:pPr>
            <a:r>
              <a:rPr lang="en-US" sz="800" dirty="0">
                <a:solidFill>
                  <a:srgbClr val="262626"/>
                </a:solidFill>
              </a:rPr>
              <a:t>　みなさん、正しく糖尿病対策を理解していますか？　日本生活習慣病予防協会は「血糖値・ヘモグロビンA1cに関する意識調査（2026年9月）」を医師331人、一般生活者310人に実施しました。『血糖値』が採血した瞬間の血糖の量を示す、1日の中でも変動する指標であるのに対し、『ヘモグロビンA1c（HbA1c）』は過去1〜2か月の血糖の状態を示す数値です。すぐには変動しないため“血糖の通信簿”とも呼ばれます。調査の結果、糖尿病のリスクを把握するうえで、医師と生活者の間に大きな認識のギャップがあることがわかりました。</a:t>
            </a:r>
            <a:endParaRPr lang="en-US" sz="800" dirty="0"/>
          </a:p>
        </p:txBody>
      </p:sp>
      <p:sp>
        <p:nvSpPr>
          <p:cNvPr id="11" name="Text 8"/>
          <p:cNvSpPr txBox="1"/>
          <p:nvPr/>
        </p:nvSpPr>
        <p:spPr>
          <a:xfrm>
            <a:off x="502920" y="3630168"/>
            <a:ext cx="777240" cy="219456"/>
          </a:xfrm>
          <a:prstGeom prst="roundRect">
            <a:avLst>
              <a:gd name="adj" fmla="val 50000"/>
            </a:avLst>
          </a:prstGeom>
          <a:solidFill>
            <a:srgbClr val="C8102E"/>
          </a:solidFill>
          <a:ln/>
        </p:spPr>
        <p:txBody>
          <a:bodyPr wrap="square" lIns="0" tIns="0" rIns="0" bIns="0" rtlCol="0" anchor="ctr"/>
          <a:lstStyle/>
          <a:p>
            <a:pPr algn="ctr" indent="0" marL="0">
              <a:buNone/>
            </a:pPr>
            <a:r>
              <a:rPr lang="en-US" sz="750" b="1" dirty="0">
                <a:solidFill>
                  <a:srgbClr val="FFFFFF"/>
                </a:solidFill>
              </a:rPr>
              <a:t>キーワード</a:t>
            </a:r>
            <a:endParaRPr lang="en-US" sz="750" dirty="0"/>
          </a:p>
        </p:txBody>
      </p:sp>
      <p:sp>
        <p:nvSpPr>
          <p:cNvPr id="12" name="Text 9"/>
          <p:cNvSpPr txBox="1"/>
          <p:nvPr/>
        </p:nvSpPr>
        <p:spPr>
          <a:xfrm>
            <a:off x="1389888" y="3630168"/>
            <a:ext cx="4937760" cy="219456"/>
          </a:xfrm>
          <a:prstGeom prst="rect">
            <a:avLst/>
          </a:prstGeom>
          <a:noFill/>
          <a:ln/>
        </p:spPr>
        <p:txBody>
          <a:bodyPr wrap="square" lIns="0" tIns="0" rIns="0" bIns="0" rtlCol="0" anchor="ctr"/>
          <a:lstStyle/>
          <a:p>
            <a:pPr indent="0" marL="0">
              <a:buNone/>
            </a:pPr>
            <a:r>
              <a:rPr lang="en-US" sz="900" b="1" dirty="0">
                <a:solidFill>
                  <a:srgbClr val="C8102E"/>
                </a:solidFill>
              </a:rPr>
              <a:t>血糖値の落とし穴</a:t>
            </a:r>
            <a:pPr indent="0" marL="0">
              <a:buNone/>
            </a:pPr>
            <a:r>
              <a:rPr lang="en-US" sz="900" dirty="0">
                <a:solidFill>
                  <a:srgbClr val="7A7A7A"/>
                </a:solidFill>
              </a:rPr>
              <a:t>　／　</a:t>
            </a:r>
            <a:pPr indent="0" marL="0">
              <a:buNone/>
            </a:pPr>
            <a:r>
              <a:rPr lang="en-US" sz="900" b="1" dirty="0">
                <a:solidFill>
                  <a:srgbClr val="C8102E"/>
                </a:solidFill>
              </a:rPr>
              <a:t>血糖の通信簿『ヘモグロビンA1c』</a:t>
            </a:r>
            <a:endParaRPr lang="en-US" sz="900" dirty="0"/>
          </a:p>
        </p:txBody>
      </p:sp>
      <p:sp>
        <p:nvSpPr>
          <p:cNvPr id="13" name="Text 10"/>
          <p:cNvSpPr txBox="1"/>
          <p:nvPr/>
        </p:nvSpPr>
        <p:spPr>
          <a:xfrm>
            <a:off x="502920" y="4023360"/>
            <a:ext cx="5852160" cy="219456"/>
          </a:xfrm>
          <a:prstGeom prst="rect">
            <a:avLst/>
          </a:prstGeom>
          <a:noFill/>
          <a:ln/>
        </p:spPr>
        <p:txBody>
          <a:bodyPr wrap="square" lIns="0" tIns="0" rIns="0" bIns="0" rtlCol="0" anchor="ctr"/>
          <a:lstStyle/>
          <a:p>
            <a:pPr indent="0" marL="0">
              <a:buNone/>
            </a:pPr>
            <a:r>
              <a:rPr lang="en-US" sz="850" b="1" dirty="0">
                <a:solidFill>
                  <a:srgbClr val="C8102E"/>
                </a:solidFill>
              </a:rPr>
              <a:t>図1</a:t>
            </a:r>
            <a:pPr indent="0" marL="0">
              <a:buNone/>
            </a:pPr>
            <a:r>
              <a:rPr lang="en-US" sz="850" b="1" dirty="0">
                <a:solidFill>
                  <a:srgbClr val="262626"/>
                </a:solidFill>
              </a:rPr>
              <a:t>　医師はHbA1c、生活者は血糖値 ――「より見てほしい／より重視する」指標</a:t>
            </a:r>
            <a:endParaRPr lang="en-US" sz="850" dirty="0"/>
          </a:p>
        </p:txBody>
      </p:sp>
      <p:sp>
        <p:nvSpPr>
          <p:cNvPr id="14" name="Shape 11"/>
          <p:cNvSpPr/>
          <p:nvPr/>
        </p:nvSpPr>
        <p:spPr>
          <a:xfrm>
            <a:off x="502920" y="4297680"/>
            <a:ext cx="5852160" cy="2880360"/>
          </a:xfrm>
          <a:prstGeom prst="roundRect">
            <a:avLst>
              <a:gd name="adj" fmla="val 2540"/>
            </a:avLst>
          </a:prstGeom>
          <a:solidFill>
            <a:srgbClr val="F6F6F6"/>
          </a:solidFill>
          <a:ln/>
        </p:spPr>
      </p:sp>
      <p:sp>
        <p:nvSpPr>
          <p:cNvPr id="15" name="Shape 12"/>
          <p:cNvSpPr/>
          <p:nvPr/>
        </p:nvSpPr>
        <p:spPr>
          <a:xfrm>
            <a:off x="640080" y="4434840"/>
            <a:ext cx="310896" cy="310896"/>
          </a:xfrm>
          <a:prstGeom prst="ellipse">
            <a:avLst/>
          </a:prstGeom>
          <a:solidFill>
            <a:srgbClr val="4A4A4A"/>
          </a:solidFill>
          <a:ln/>
        </p:spPr>
      </p:sp>
      <p:pic>
        <p:nvPicPr>
          <p:cNvPr id="16" name="Image 1" descr="preencoded.png">    </p:cNvPr>
          <p:cNvPicPr>
            <a:picLocks noChangeAspect="1"/>
          </p:cNvPicPr>
          <p:nvPr/>
        </p:nvPicPr>
        <p:blipFill>
          <a:blip r:embed="rId2"/>
          <a:stretch>
            <a:fillRect/>
          </a:stretch>
        </p:blipFill>
        <p:spPr>
          <a:xfrm>
            <a:off x="714695" y="4509455"/>
            <a:ext cx="161666" cy="161666"/>
          </a:xfrm>
          <a:prstGeom prst="rect">
            <a:avLst/>
          </a:prstGeom>
        </p:spPr>
      </p:pic>
      <p:sp>
        <p:nvSpPr>
          <p:cNvPr id="17" name="Text 13"/>
          <p:cNvSpPr txBox="1"/>
          <p:nvPr/>
        </p:nvSpPr>
        <p:spPr>
          <a:xfrm>
            <a:off x="1024128" y="4434840"/>
            <a:ext cx="914400" cy="310896"/>
          </a:xfrm>
          <a:prstGeom prst="rect">
            <a:avLst/>
          </a:prstGeom>
          <a:noFill/>
          <a:ln/>
        </p:spPr>
        <p:txBody>
          <a:bodyPr wrap="square" lIns="0" tIns="0" rIns="0" bIns="0" rtlCol="0" anchor="ctr"/>
          <a:lstStyle/>
          <a:p>
            <a:pPr indent="0" marL="0">
              <a:buNone/>
            </a:pPr>
            <a:r>
              <a:rPr lang="en-US" sz="1000" b="1" dirty="0">
                <a:solidFill>
                  <a:srgbClr val="262626"/>
                </a:solidFill>
              </a:rPr>
              <a:t>医師</a:t>
            </a:r>
            <a:endParaRPr lang="en-US" sz="850" dirty="0"/>
          </a:p>
        </p:txBody>
      </p:sp>
      <p:sp>
        <p:nvSpPr>
          <p:cNvPr id="18" name="Text 14"/>
          <p:cNvSpPr txBox="1"/>
          <p:nvPr/>
        </p:nvSpPr>
        <p:spPr>
          <a:xfrm>
            <a:off x="640080" y="4818888"/>
            <a:ext cx="2697480" cy="201168"/>
          </a:xfrm>
          <a:prstGeom prst="rect">
            <a:avLst/>
          </a:prstGeom>
          <a:noFill/>
          <a:ln/>
        </p:spPr>
        <p:txBody>
          <a:bodyPr wrap="square" lIns="0" tIns="0" rIns="0" bIns="0" rtlCol="0" anchor="ctr"/>
          <a:lstStyle/>
          <a:p>
            <a:pPr indent="0" marL="0">
              <a:buNone/>
            </a:pPr>
            <a:r>
              <a:rPr lang="en-US" sz="750" b="1" dirty="0">
                <a:solidFill>
                  <a:srgbClr val="4A4A4A"/>
                </a:solidFill>
              </a:rPr>
              <a:t>健康診断で、患者により見てほしいのは？</a:t>
            </a:r>
            <a:endParaRPr lang="en-US" sz="750" dirty="0"/>
          </a:p>
        </p:txBody>
      </p:sp>
      <p:graphicFrame>
        <p:nvGraphicFramePr>
          <p:cNvPr id="19" name="Chart 0" descr=""/>
          <p:cNvGraphicFramePr/>
          <p:nvPr/>
        </p:nvGraphicFramePr>
        <p:xfrm>
          <a:off x="1069848" y="5047488"/>
          <a:ext cx="1828800" cy="1828800"/>
        </p:xfrm>
        <a:graphic xmlns:a="http://schemas.openxmlformats.org/drawingml/2006/main">
          <a:graphicData uri="http://schemas.openxmlformats.org/drawingml/2006/chart">
            <c:chart xmlns:c="http://schemas.openxmlformats.org/drawingml/2006/chart" r:id="rId3"/>
          </a:graphicData>
        </a:graphic>
      </p:graphicFrame>
      <p:sp>
        <p:nvSpPr>
          <p:cNvPr id="20" name="Text 15"/>
          <p:cNvSpPr txBox="1"/>
          <p:nvPr/>
        </p:nvSpPr>
        <p:spPr>
          <a:xfrm>
            <a:off x="1435608" y="5678424"/>
            <a:ext cx="1097280" cy="566928"/>
          </a:xfrm>
          <a:prstGeom prst="rect">
            <a:avLst/>
          </a:prstGeom>
          <a:noFill/>
          <a:ln/>
        </p:spPr>
        <p:txBody>
          <a:bodyPr wrap="square" lIns="0" tIns="0" rIns="0" bIns="0" rtlCol="0" anchor="ctr"/>
          <a:lstStyle/>
          <a:p>
            <a:pPr algn="ctr" indent="0" marL="0">
              <a:buNone/>
            </a:pPr>
            <a:r>
              <a:rPr lang="en-US" sz="1700" b="1" dirty="0">
                <a:solidFill>
                  <a:srgbClr val="C8102E"/>
                </a:solidFill>
              </a:rPr>
              <a:t>87.0%</a:t>
            </a:r>
            <a:endParaRPr lang="en-US" sz="850" dirty="0"/>
          </a:p>
          <a:p>
            <a:pPr algn="ctr" indent="0" marL="0">
              <a:buNone/>
            </a:pPr>
            <a:r>
              <a:rPr lang="en-US" sz="800" b="1" dirty="0">
                <a:solidFill>
                  <a:srgbClr val="4A4A4A"/>
                </a:solidFill>
              </a:rPr>
              <a:t>HbA1c</a:t>
            </a:r>
            <a:endParaRPr lang="en-US" sz="850" dirty="0"/>
          </a:p>
        </p:txBody>
      </p:sp>
      <p:sp>
        <p:nvSpPr>
          <p:cNvPr id="21" name="Shape 16"/>
          <p:cNvSpPr/>
          <p:nvPr/>
        </p:nvSpPr>
        <p:spPr>
          <a:xfrm>
            <a:off x="1097280" y="6972300"/>
            <a:ext cx="91440" cy="91440"/>
          </a:xfrm>
          <a:prstGeom prst="ellipse">
            <a:avLst/>
          </a:prstGeom>
          <a:solidFill>
            <a:srgbClr val="C8102E"/>
          </a:solidFill>
          <a:ln/>
        </p:spPr>
      </p:sp>
      <p:sp>
        <p:nvSpPr>
          <p:cNvPr id="22" name="Text 17"/>
          <p:cNvSpPr txBox="1"/>
          <p:nvPr/>
        </p:nvSpPr>
        <p:spPr>
          <a:xfrm>
            <a:off x="1225296" y="6931152"/>
            <a:ext cx="731520" cy="173736"/>
          </a:xfrm>
          <a:prstGeom prst="rect">
            <a:avLst/>
          </a:prstGeom>
          <a:noFill/>
          <a:ln/>
        </p:spPr>
        <p:txBody>
          <a:bodyPr wrap="square" lIns="0" tIns="0" rIns="0" bIns="0" rtlCol="0" anchor="ctr"/>
          <a:lstStyle/>
          <a:p>
            <a:pPr indent="0" marL="0">
              <a:buNone/>
            </a:pPr>
            <a:r>
              <a:rPr lang="en-US" sz="650" dirty="0">
                <a:solidFill>
                  <a:srgbClr val="4A4A4A"/>
                </a:solidFill>
              </a:rPr>
              <a:t>HbA1c 87.0%</a:t>
            </a:r>
            <a:endParaRPr lang="en-US" sz="650" dirty="0"/>
          </a:p>
        </p:txBody>
      </p:sp>
      <p:sp>
        <p:nvSpPr>
          <p:cNvPr id="23" name="Shape 18"/>
          <p:cNvSpPr/>
          <p:nvPr/>
        </p:nvSpPr>
        <p:spPr>
          <a:xfrm>
            <a:off x="2066544" y="6972300"/>
            <a:ext cx="91440" cy="91440"/>
          </a:xfrm>
          <a:prstGeom prst="ellipse">
            <a:avLst/>
          </a:prstGeom>
          <a:solidFill>
            <a:srgbClr val="B7C6D6"/>
          </a:solidFill>
          <a:ln/>
        </p:spPr>
      </p:sp>
      <p:sp>
        <p:nvSpPr>
          <p:cNvPr id="24" name="Text 19"/>
          <p:cNvSpPr txBox="1"/>
          <p:nvPr/>
        </p:nvSpPr>
        <p:spPr>
          <a:xfrm>
            <a:off x="2194560" y="6931152"/>
            <a:ext cx="731520" cy="173736"/>
          </a:xfrm>
          <a:prstGeom prst="rect">
            <a:avLst/>
          </a:prstGeom>
          <a:noFill/>
          <a:ln/>
        </p:spPr>
        <p:txBody>
          <a:bodyPr wrap="square" lIns="0" tIns="0" rIns="0" bIns="0" rtlCol="0" anchor="ctr"/>
          <a:lstStyle/>
          <a:p>
            <a:pPr indent="0" marL="0">
              <a:buNone/>
            </a:pPr>
            <a:r>
              <a:rPr lang="en-US" sz="650" dirty="0">
                <a:solidFill>
                  <a:srgbClr val="4A4A4A"/>
                </a:solidFill>
              </a:rPr>
              <a:t>血糖値 13.0%</a:t>
            </a:r>
            <a:endParaRPr lang="en-US" sz="650" dirty="0"/>
          </a:p>
        </p:txBody>
      </p:sp>
      <p:sp>
        <p:nvSpPr>
          <p:cNvPr id="25" name="Shape 20"/>
          <p:cNvSpPr/>
          <p:nvPr/>
        </p:nvSpPr>
        <p:spPr>
          <a:xfrm>
            <a:off x="3520440" y="4434840"/>
            <a:ext cx="310896" cy="310896"/>
          </a:xfrm>
          <a:prstGeom prst="ellipse">
            <a:avLst/>
          </a:prstGeom>
          <a:solidFill>
            <a:srgbClr val="4A4A4A"/>
          </a:solidFill>
          <a:ln/>
        </p:spPr>
      </p:sp>
      <p:pic>
        <p:nvPicPr>
          <p:cNvPr id="26" name="Image 2" descr="preencoded.png">    </p:cNvPr>
          <p:cNvPicPr>
            <a:picLocks noChangeAspect="1"/>
          </p:cNvPicPr>
          <p:nvPr/>
        </p:nvPicPr>
        <p:blipFill>
          <a:blip r:embed="rId4"/>
          <a:stretch>
            <a:fillRect/>
          </a:stretch>
        </p:blipFill>
        <p:spPr>
          <a:xfrm>
            <a:off x="3595055" y="4509455"/>
            <a:ext cx="161666" cy="161666"/>
          </a:xfrm>
          <a:prstGeom prst="rect">
            <a:avLst/>
          </a:prstGeom>
        </p:spPr>
      </p:pic>
      <p:sp>
        <p:nvSpPr>
          <p:cNvPr id="27" name="Text 21"/>
          <p:cNvSpPr txBox="1"/>
          <p:nvPr/>
        </p:nvSpPr>
        <p:spPr>
          <a:xfrm>
            <a:off x="3904488" y="4434840"/>
            <a:ext cx="914400" cy="310896"/>
          </a:xfrm>
          <a:prstGeom prst="rect">
            <a:avLst/>
          </a:prstGeom>
          <a:noFill/>
          <a:ln/>
        </p:spPr>
        <p:txBody>
          <a:bodyPr wrap="square" lIns="0" tIns="0" rIns="0" bIns="0" rtlCol="0" anchor="ctr"/>
          <a:lstStyle/>
          <a:p>
            <a:pPr indent="0" marL="0">
              <a:buNone/>
            </a:pPr>
            <a:r>
              <a:rPr lang="en-US" sz="1000" b="1" dirty="0">
                <a:solidFill>
                  <a:srgbClr val="262626"/>
                </a:solidFill>
              </a:rPr>
              <a:t>生活者</a:t>
            </a:r>
            <a:endParaRPr lang="en-US" sz="850" dirty="0"/>
          </a:p>
        </p:txBody>
      </p:sp>
      <p:sp>
        <p:nvSpPr>
          <p:cNvPr id="28" name="Text 22"/>
          <p:cNvSpPr txBox="1"/>
          <p:nvPr/>
        </p:nvSpPr>
        <p:spPr>
          <a:xfrm>
            <a:off x="3520440" y="4818888"/>
            <a:ext cx="2697480" cy="201168"/>
          </a:xfrm>
          <a:prstGeom prst="rect">
            <a:avLst/>
          </a:prstGeom>
          <a:noFill/>
          <a:ln/>
        </p:spPr>
        <p:txBody>
          <a:bodyPr wrap="square" lIns="0" tIns="0" rIns="0" bIns="0" rtlCol="0" anchor="ctr"/>
          <a:lstStyle/>
          <a:p>
            <a:pPr indent="0" marL="0">
              <a:buNone/>
            </a:pPr>
            <a:r>
              <a:rPr lang="en-US" sz="750" b="1" dirty="0">
                <a:solidFill>
                  <a:srgbClr val="4A4A4A"/>
                </a:solidFill>
              </a:rPr>
              <a:t>糖尿病リスク把握で、より重視するのは？</a:t>
            </a:r>
            <a:endParaRPr lang="en-US" sz="750" dirty="0"/>
          </a:p>
        </p:txBody>
      </p:sp>
      <p:graphicFrame>
        <p:nvGraphicFramePr>
          <p:cNvPr id="29" name="Chart 1" descr=""/>
          <p:cNvGraphicFramePr/>
          <p:nvPr/>
        </p:nvGraphicFramePr>
        <p:xfrm>
          <a:off x="3950208" y="5047488"/>
          <a:ext cx="1828800" cy="1828800"/>
        </p:xfrm>
        <a:graphic xmlns:a="http://schemas.openxmlformats.org/drawingml/2006/main">
          <a:graphicData uri="http://schemas.openxmlformats.org/drawingml/2006/chart">
            <c:chart xmlns:c="http://schemas.openxmlformats.org/drawingml/2006/chart" r:id="rId5"/>
          </a:graphicData>
        </a:graphic>
      </p:graphicFrame>
      <p:sp>
        <p:nvSpPr>
          <p:cNvPr id="30" name="Text 23"/>
          <p:cNvSpPr txBox="1"/>
          <p:nvPr/>
        </p:nvSpPr>
        <p:spPr>
          <a:xfrm>
            <a:off x="4315968" y="5678424"/>
            <a:ext cx="1097280" cy="566928"/>
          </a:xfrm>
          <a:prstGeom prst="rect">
            <a:avLst/>
          </a:prstGeom>
          <a:noFill/>
          <a:ln/>
        </p:spPr>
        <p:txBody>
          <a:bodyPr wrap="square" lIns="0" tIns="0" rIns="0" bIns="0" rtlCol="0" anchor="ctr"/>
          <a:lstStyle/>
          <a:p>
            <a:pPr algn="ctr" indent="0" marL="0">
              <a:buNone/>
            </a:pPr>
            <a:r>
              <a:rPr lang="en-US" sz="1700" b="1" dirty="0">
                <a:solidFill>
                  <a:srgbClr val="46688C"/>
                </a:solidFill>
              </a:rPr>
              <a:t>68.7%</a:t>
            </a:r>
            <a:endParaRPr lang="en-US" sz="850" dirty="0"/>
          </a:p>
          <a:p>
            <a:pPr algn="ctr" indent="0" marL="0">
              <a:buNone/>
            </a:pPr>
            <a:r>
              <a:rPr lang="en-US" sz="800" b="1" dirty="0">
                <a:solidFill>
                  <a:srgbClr val="4A4A4A"/>
                </a:solidFill>
              </a:rPr>
              <a:t>血糖値</a:t>
            </a:r>
            <a:endParaRPr lang="en-US" sz="850" dirty="0"/>
          </a:p>
        </p:txBody>
      </p:sp>
      <p:sp>
        <p:nvSpPr>
          <p:cNvPr id="31" name="Shape 24"/>
          <p:cNvSpPr/>
          <p:nvPr/>
        </p:nvSpPr>
        <p:spPr>
          <a:xfrm>
            <a:off x="3977640" y="6972300"/>
            <a:ext cx="91440" cy="91440"/>
          </a:xfrm>
          <a:prstGeom prst="ellipse">
            <a:avLst/>
          </a:prstGeom>
          <a:solidFill>
            <a:srgbClr val="F3C9D0"/>
          </a:solidFill>
          <a:ln/>
        </p:spPr>
      </p:sp>
      <p:sp>
        <p:nvSpPr>
          <p:cNvPr id="32" name="Text 25"/>
          <p:cNvSpPr txBox="1"/>
          <p:nvPr/>
        </p:nvSpPr>
        <p:spPr>
          <a:xfrm>
            <a:off x="4105656" y="6931152"/>
            <a:ext cx="731520" cy="173736"/>
          </a:xfrm>
          <a:prstGeom prst="rect">
            <a:avLst/>
          </a:prstGeom>
          <a:noFill/>
          <a:ln/>
        </p:spPr>
        <p:txBody>
          <a:bodyPr wrap="square" lIns="0" tIns="0" rIns="0" bIns="0" rtlCol="0" anchor="ctr"/>
          <a:lstStyle/>
          <a:p>
            <a:pPr indent="0" marL="0">
              <a:buNone/>
            </a:pPr>
            <a:r>
              <a:rPr lang="en-US" sz="650" dirty="0">
                <a:solidFill>
                  <a:srgbClr val="4A4A4A"/>
                </a:solidFill>
              </a:rPr>
              <a:t>HbA1c 31.3%</a:t>
            </a:r>
            <a:endParaRPr lang="en-US" sz="650" dirty="0"/>
          </a:p>
        </p:txBody>
      </p:sp>
      <p:sp>
        <p:nvSpPr>
          <p:cNvPr id="33" name="Shape 26"/>
          <p:cNvSpPr/>
          <p:nvPr/>
        </p:nvSpPr>
        <p:spPr>
          <a:xfrm>
            <a:off x="4946904" y="6972300"/>
            <a:ext cx="91440" cy="91440"/>
          </a:xfrm>
          <a:prstGeom prst="ellipse">
            <a:avLst/>
          </a:prstGeom>
          <a:solidFill>
            <a:srgbClr val="46688C"/>
          </a:solidFill>
          <a:ln/>
        </p:spPr>
      </p:sp>
      <p:sp>
        <p:nvSpPr>
          <p:cNvPr id="34" name="Text 27"/>
          <p:cNvSpPr txBox="1"/>
          <p:nvPr/>
        </p:nvSpPr>
        <p:spPr>
          <a:xfrm>
            <a:off x="5074920" y="6931152"/>
            <a:ext cx="731520" cy="173736"/>
          </a:xfrm>
          <a:prstGeom prst="rect">
            <a:avLst/>
          </a:prstGeom>
          <a:noFill/>
          <a:ln/>
        </p:spPr>
        <p:txBody>
          <a:bodyPr wrap="square" lIns="0" tIns="0" rIns="0" bIns="0" rtlCol="0" anchor="ctr"/>
          <a:lstStyle/>
          <a:p>
            <a:pPr indent="0" marL="0">
              <a:buNone/>
            </a:pPr>
            <a:r>
              <a:rPr lang="en-US" sz="650" dirty="0">
                <a:solidFill>
                  <a:srgbClr val="4A4A4A"/>
                </a:solidFill>
              </a:rPr>
              <a:t>血糖値 68.7%</a:t>
            </a:r>
            <a:endParaRPr lang="en-US" sz="650" dirty="0"/>
          </a:p>
        </p:txBody>
      </p:sp>
      <p:sp>
        <p:nvSpPr>
          <p:cNvPr id="35" name="Text 28"/>
          <p:cNvSpPr txBox="1"/>
          <p:nvPr/>
        </p:nvSpPr>
        <p:spPr>
          <a:xfrm>
            <a:off x="3108960" y="5641848"/>
            <a:ext cx="640080" cy="640080"/>
          </a:xfrm>
          <a:prstGeom prst="ellipse">
            <a:avLst/>
          </a:prstGeom>
          <a:solidFill>
            <a:srgbClr val="FFFFFF"/>
          </a:solidFill>
          <a:ln w="15875">
            <a:solidFill>
              <a:srgbClr val="C8102E"/>
            </a:solidFill>
          </a:ln>
        </p:spPr>
        <p:txBody>
          <a:bodyPr wrap="square" lIns="0" tIns="0" rIns="0" bIns="0" rtlCol="0" anchor="ctr"/>
          <a:lstStyle/>
          <a:p>
            <a:pPr algn="ctr" indent="0" marL="0">
              <a:buNone/>
            </a:pPr>
            <a:r>
              <a:rPr lang="en-US" sz="750" b="1" dirty="0">
                <a:solidFill>
                  <a:srgbClr val="C8102E"/>
                </a:solidFill>
              </a:rPr>
              <a:t>認識の</a:t>
            </a:r>
            <a:endParaRPr lang="en-US" sz="750" dirty="0"/>
          </a:p>
          <a:p>
            <a:pPr algn="ctr" indent="0" marL="0">
              <a:buNone/>
            </a:pPr>
            <a:r>
              <a:rPr lang="en-US" sz="750" b="1" dirty="0">
                <a:solidFill>
                  <a:srgbClr val="C8102E"/>
                </a:solidFill>
              </a:rPr>
              <a:t>ギャップ</a:t>
            </a:r>
            <a:endParaRPr lang="en-US" sz="750" dirty="0"/>
          </a:p>
        </p:txBody>
      </p:sp>
      <p:sp>
        <p:nvSpPr>
          <p:cNvPr id="36" name="Text 29"/>
          <p:cNvSpPr txBox="1"/>
          <p:nvPr/>
        </p:nvSpPr>
        <p:spPr>
          <a:xfrm>
            <a:off x="502920" y="7205472"/>
            <a:ext cx="5852160" cy="146304"/>
          </a:xfrm>
          <a:prstGeom prst="rect">
            <a:avLst/>
          </a:prstGeom>
          <a:noFill/>
          <a:ln/>
        </p:spPr>
        <p:txBody>
          <a:bodyPr wrap="square" lIns="0" tIns="0" rIns="0" bIns="0" rtlCol="0" anchor="t"/>
          <a:lstStyle/>
          <a:p>
            <a:pPr algn="r" indent="0" marL="0">
              <a:buNone/>
            </a:pPr>
            <a:r>
              <a:rPr lang="en-US" sz="650" dirty="0">
                <a:solidFill>
                  <a:srgbClr val="7A7A7A"/>
                </a:solidFill>
              </a:rPr>
              <a:t>医師 n=331　生活者 n=310</a:t>
            </a:r>
            <a:endParaRPr lang="en-US" sz="650" dirty="0"/>
          </a:p>
        </p:txBody>
      </p:sp>
      <p:sp>
        <p:nvSpPr>
          <p:cNvPr id="37" name="Text 30"/>
          <p:cNvSpPr txBox="1"/>
          <p:nvPr/>
        </p:nvSpPr>
        <p:spPr>
          <a:xfrm>
            <a:off x="502920" y="7406640"/>
            <a:ext cx="5852160" cy="237744"/>
          </a:xfrm>
          <a:prstGeom prst="rect">
            <a:avLst/>
          </a:prstGeom>
          <a:noFill/>
          <a:ln/>
        </p:spPr>
        <p:txBody>
          <a:bodyPr wrap="square" lIns="0" tIns="0" rIns="0" bIns="0" rtlCol="0" anchor="ctr"/>
          <a:lstStyle/>
          <a:p>
            <a:pPr indent="0" marL="0">
              <a:buNone/>
            </a:pPr>
            <a:r>
              <a:rPr lang="en-US" sz="1100" b="1" dirty="0">
                <a:solidFill>
                  <a:srgbClr val="262626"/>
                </a:solidFill>
              </a:rPr>
              <a:t>調査結果のポイント</a:t>
            </a:r>
            <a:endParaRPr lang="en-US" sz="1100" dirty="0"/>
          </a:p>
        </p:txBody>
      </p:sp>
      <p:sp>
        <p:nvSpPr>
          <p:cNvPr id="38" name="Shape 31"/>
          <p:cNvSpPr/>
          <p:nvPr/>
        </p:nvSpPr>
        <p:spPr>
          <a:xfrm>
            <a:off x="502920" y="7699248"/>
            <a:ext cx="1883664" cy="1627632"/>
          </a:xfrm>
          <a:prstGeom prst="roundRect">
            <a:avLst>
              <a:gd name="adj" fmla="val 4494"/>
            </a:avLst>
          </a:prstGeom>
          <a:solidFill>
            <a:srgbClr val="FBECEE"/>
          </a:solidFill>
          <a:ln/>
        </p:spPr>
      </p:sp>
      <p:sp>
        <p:nvSpPr>
          <p:cNvPr id="39" name="Shape 32"/>
          <p:cNvSpPr/>
          <p:nvPr/>
        </p:nvSpPr>
        <p:spPr>
          <a:xfrm>
            <a:off x="612648" y="7818120"/>
            <a:ext cx="274320" cy="274320"/>
          </a:xfrm>
          <a:prstGeom prst="ellipse">
            <a:avLst/>
          </a:prstGeom>
          <a:solidFill>
            <a:srgbClr val="C8102E"/>
          </a:solidFill>
          <a:ln/>
        </p:spPr>
      </p:sp>
      <p:pic>
        <p:nvPicPr>
          <p:cNvPr id="40" name="Image 3" descr="preencoded.png">    </p:cNvPr>
          <p:cNvPicPr>
            <a:picLocks noChangeAspect="1"/>
          </p:cNvPicPr>
          <p:nvPr/>
        </p:nvPicPr>
        <p:blipFill>
          <a:blip r:embed="rId6"/>
          <a:stretch>
            <a:fillRect/>
          </a:stretch>
        </p:blipFill>
        <p:spPr>
          <a:xfrm>
            <a:off x="678485" y="7883957"/>
            <a:ext cx="142646" cy="142646"/>
          </a:xfrm>
          <a:prstGeom prst="rect">
            <a:avLst/>
          </a:prstGeom>
        </p:spPr>
      </p:pic>
      <p:sp>
        <p:nvSpPr>
          <p:cNvPr id="41" name="Text 33"/>
          <p:cNvSpPr txBox="1"/>
          <p:nvPr/>
        </p:nvSpPr>
        <p:spPr>
          <a:xfrm>
            <a:off x="960120" y="7772400"/>
            <a:ext cx="1371600" cy="365760"/>
          </a:xfrm>
          <a:prstGeom prst="rect">
            <a:avLst/>
          </a:prstGeom>
          <a:noFill/>
          <a:ln/>
        </p:spPr>
        <p:txBody>
          <a:bodyPr wrap="square" lIns="0" tIns="0" rIns="0" bIns="0" rtlCol="0" anchor="ctr"/>
          <a:lstStyle/>
          <a:p>
            <a:pPr indent="0" marL="0">
              <a:buNone/>
            </a:pPr>
            <a:r>
              <a:rPr lang="en-US" sz="2000" b="1" dirty="0">
                <a:solidFill>
                  <a:srgbClr val="C8102E"/>
                </a:solidFill>
              </a:rPr>
              <a:t>78.2%</a:t>
            </a:r>
            <a:endParaRPr lang="en-US" sz="2000" dirty="0"/>
          </a:p>
        </p:txBody>
      </p:sp>
      <p:sp>
        <p:nvSpPr>
          <p:cNvPr id="42" name="Text 34"/>
          <p:cNvSpPr txBox="1"/>
          <p:nvPr/>
        </p:nvSpPr>
        <p:spPr>
          <a:xfrm>
            <a:off x="612648" y="8183880"/>
            <a:ext cx="1682496" cy="347472"/>
          </a:xfrm>
          <a:prstGeom prst="rect">
            <a:avLst/>
          </a:prstGeom>
          <a:noFill/>
          <a:ln/>
        </p:spPr>
        <p:txBody>
          <a:bodyPr wrap="square" lIns="0" tIns="0" rIns="0" bIns="0" rtlCol="0" anchor="t"/>
          <a:lstStyle/>
          <a:p>
            <a:pPr indent="0" marL="0">
              <a:buNone/>
            </a:pPr>
            <a:r>
              <a:rPr lang="en-US" sz="750" b="1" dirty="0">
                <a:solidFill>
                  <a:srgbClr val="262626"/>
                </a:solidFill>
              </a:rPr>
              <a:t>医師がHbA1cを「非常に重要」と回答</a:t>
            </a:r>
            <a:endParaRPr lang="en-US" sz="750" dirty="0"/>
          </a:p>
        </p:txBody>
      </p:sp>
      <p:sp>
        <p:nvSpPr>
          <p:cNvPr id="43" name="Text 35"/>
          <p:cNvSpPr txBox="1"/>
          <p:nvPr/>
        </p:nvSpPr>
        <p:spPr>
          <a:xfrm>
            <a:off x="612648" y="8549640"/>
            <a:ext cx="1682496" cy="548640"/>
          </a:xfrm>
          <a:prstGeom prst="rect">
            <a:avLst/>
          </a:prstGeom>
          <a:noFill/>
          <a:ln/>
        </p:spPr>
        <p:txBody>
          <a:bodyPr wrap="square" lIns="0" tIns="0" rIns="0" bIns="0" rtlCol="0" anchor="t"/>
          <a:lstStyle/>
          <a:p>
            <a:pPr indent="0" marL="0">
              <a:lnSpc>
                <a:spcPct val="115000"/>
              </a:lnSpc>
              <a:buNone/>
            </a:pPr>
            <a:r>
              <a:rPr lang="en-US" sz="700" dirty="0">
                <a:solidFill>
                  <a:srgbClr val="4A4A4A"/>
                </a:solidFill>
              </a:rPr>
              <a:t>血圧に次いで2番目の高さ。一方、生活者の40.3%はHbA1cを「知らない」（全指標中ワースト）</a:t>
            </a:r>
            <a:endParaRPr lang="en-US" sz="700" dirty="0"/>
          </a:p>
        </p:txBody>
      </p:sp>
      <p:sp>
        <p:nvSpPr>
          <p:cNvPr id="44" name="Text 36"/>
          <p:cNvSpPr txBox="1"/>
          <p:nvPr/>
        </p:nvSpPr>
        <p:spPr>
          <a:xfrm>
            <a:off x="612648" y="9116568"/>
            <a:ext cx="1682496" cy="146304"/>
          </a:xfrm>
          <a:prstGeom prst="rect">
            <a:avLst/>
          </a:prstGeom>
          <a:noFill/>
          <a:ln/>
        </p:spPr>
        <p:txBody>
          <a:bodyPr wrap="square" lIns="0" tIns="0" rIns="0" bIns="0" rtlCol="0" anchor="t"/>
          <a:lstStyle/>
          <a:p>
            <a:pPr algn="r" indent="0" marL="0">
              <a:buNone/>
            </a:pPr>
            <a:r>
              <a:rPr lang="en-US" sz="650" b="1" dirty="0">
                <a:solidFill>
                  <a:srgbClr val="C8102E"/>
                </a:solidFill>
              </a:rPr>
              <a:t>→ 図2</a:t>
            </a:r>
            <a:endParaRPr lang="en-US" sz="650" dirty="0"/>
          </a:p>
        </p:txBody>
      </p:sp>
      <p:sp>
        <p:nvSpPr>
          <p:cNvPr id="45" name="Shape 37"/>
          <p:cNvSpPr/>
          <p:nvPr/>
        </p:nvSpPr>
        <p:spPr>
          <a:xfrm>
            <a:off x="2487168" y="7699248"/>
            <a:ext cx="1883664" cy="1627632"/>
          </a:xfrm>
          <a:prstGeom prst="roundRect">
            <a:avLst>
              <a:gd name="adj" fmla="val 4494"/>
            </a:avLst>
          </a:prstGeom>
          <a:solidFill>
            <a:srgbClr val="FBECEE"/>
          </a:solidFill>
          <a:ln/>
        </p:spPr>
      </p:sp>
      <p:sp>
        <p:nvSpPr>
          <p:cNvPr id="46" name="Shape 38"/>
          <p:cNvSpPr/>
          <p:nvPr/>
        </p:nvSpPr>
        <p:spPr>
          <a:xfrm>
            <a:off x="2596896" y="7818120"/>
            <a:ext cx="274320" cy="274320"/>
          </a:xfrm>
          <a:prstGeom prst="ellipse">
            <a:avLst/>
          </a:prstGeom>
          <a:solidFill>
            <a:srgbClr val="C8102E"/>
          </a:solidFill>
          <a:ln/>
        </p:spPr>
      </p:sp>
      <p:pic>
        <p:nvPicPr>
          <p:cNvPr id="47" name="Image 4" descr="preencoded.png">    </p:cNvPr>
          <p:cNvPicPr>
            <a:picLocks noChangeAspect="1"/>
          </p:cNvPicPr>
          <p:nvPr/>
        </p:nvPicPr>
        <p:blipFill>
          <a:blip r:embed="rId7"/>
          <a:stretch>
            <a:fillRect/>
          </a:stretch>
        </p:blipFill>
        <p:spPr>
          <a:xfrm>
            <a:off x="2662733" y="7883957"/>
            <a:ext cx="142646" cy="142646"/>
          </a:xfrm>
          <a:prstGeom prst="rect">
            <a:avLst/>
          </a:prstGeom>
        </p:spPr>
      </p:pic>
      <p:sp>
        <p:nvSpPr>
          <p:cNvPr id="48" name="Text 39"/>
          <p:cNvSpPr txBox="1"/>
          <p:nvPr/>
        </p:nvSpPr>
        <p:spPr>
          <a:xfrm>
            <a:off x="2944368" y="7772400"/>
            <a:ext cx="1371600" cy="365760"/>
          </a:xfrm>
          <a:prstGeom prst="rect">
            <a:avLst/>
          </a:prstGeom>
          <a:noFill/>
          <a:ln/>
        </p:spPr>
        <p:txBody>
          <a:bodyPr wrap="square" lIns="0" tIns="0" rIns="0" bIns="0" rtlCol="0" anchor="ctr"/>
          <a:lstStyle/>
          <a:p>
            <a:pPr indent="0" marL="0">
              <a:buNone/>
            </a:pPr>
            <a:r>
              <a:rPr lang="en-US" sz="2000" b="1" dirty="0">
                <a:solidFill>
                  <a:srgbClr val="C8102E"/>
                </a:solidFill>
              </a:rPr>
              <a:t>70.8%</a:t>
            </a:r>
            <a:endParaRPr lang="en-US" sz="2000" dirty="0"/>
          </a:p>
        </p:txBody>
      </p:sp>
      <p:sp>
        <p:nvSpPr>
          <p:cNvPr id="49" name="Text 40"/>
          <p:cNvSpPr txBox="1"/>
          <p:nvPr/>
        </p:nvSpPr>
        <p:spPr>
          <a:xfrm>
            <a:off x="2596896" y="8183880"/>
            <a:ext cx="1682496" cy="347472"/>
          </a:xfrm>
          <a:prstGeom prst="rect">
            <a:avLst/>
          </a:prstGeom>
          <a:noFill/>
          <a:ln/>
        </p:spPr>
        <p:txBody>
          <a:bodyPr wrap="square" lIns="0" tIns="0" rIns="0" bIns="0" rtlCol="0" anchor="t"/>
          <a:lstStyle/>
          <a:p>
            <a:pPr indent="0" marL="0">
              <a:buNone/>
            </a:pPr>
            <a:r>
              <a:rPr lang="en-US" sz="750" b="1" dirty="0">
                <a:solidFill>
                  <a:srgbClr val="262626"/>
                </a:solidFill>
              </a:rPr>
              <a:t>HbA1cを「内容まで知っている」生活者はHbA1cを重視</a:t>
            </a:r>
            <a:endParaRPr lang="en-US" sz="750" dirty="0"/>
          </a:p>
        </p:txBody>
      </p:sp>
      <p:sp>
        <p:nvSpPr>
          <p:cNvPr id="50" name="Text 41"/>
          <p:cNvSpPr txBox="1"/>
          <p:nvPr/>
        </p:nvSpPr>
        <p:spPr>
          <a:xfrm>
            <a:off x="2596896" y="8549640"/>
            <a:ext cx="1682496" cy="548640"/>
          </a:xfrm>
          <a:prstGeom prst="rect">
            <a:avLst/>
          </a:prstGeom>
          <a:noFill/>
          <a:ln/>
        </p:spPr>
        <p:txBody>
          <a:bodyPr wrap="square" lIns="0" tIns="0" rIns="0" bIns="0" rtlCol="0" anchor="t"/>
          <a:lstStyle/>
          <a:p>
            <a:pPr indent="0" marL="0">
              <a:lnSpc>
                <a:spcPct val="115000"/>
              </a:lnSpc>
              <a:buNone/>
            </a:pPr>
            <a:r>
              <a:rPr lang="en-US" sz="700" dirty="0">
                <a:solidFill>
                  <a:srgbClr val="4A4A4A"/>
                </a:solidFill>
              </a:rPr>
              <a:t>「見聞きした程度」の人では29.2%。名称だけでなく意味まで伝えることが鍵</a:t>
            </a:r>
            <a:endParaRPr lang="en-US" sz="700" dirty="0"/>
          </a:p>
        </p:txBody>
      </p:sp>
      <p:sp>
        <p:nvSpPr>
          <p:cNvPr id="51" name="Text 42"/>
          <p:cNvSpPr txBox="1"/>
          <p:nvPr/>
        </p:nvSpPr>
        <p:spPr>
          <a:xfrm>
            <a:off x="2596896" y="9116568"/>
            <a:ext cx="1682496" cy="146304"/>
          </a:xfrm>
          <a:prstGeom prst="rect">
            <a:avLst/>
          </a:prstGeom>
          <a:noFill/>
          <a:ln/>
        </p:spPr>
        <p:txBody>
          <a:bodyPr wrap="square" lIns="0" tIns="0" rIns="0" bIns="0" rtlCol="0" anchor="t"/>
          <a:lstStyle/>
          <a:p>
            <a:pPr algn="r" indent="0" marL="0">
              <a:buNone/>
            </a:pPr>
            <a:r>
              <a:rPr lang="en-US" sz="650" b="1" dirty="0">
                <a:solidFill>
                  <a:srgbClr val="C8102E"/>
                </a:solidFill>
              </a:rPr>
              <a:t>→ 図3</a:t>
            </a:r>
            <a:endParaRPr lang="en-US" sz="650" dirty="0"/>
          </a:p>
        </p:txBody>
      </p:sp>
      <p:sp>
        <p:nvSpPr>
          <p:cNvPr id="52" name="Shape 43"/>
          <p:cNvSpPr/>
          <p:nvPr/>
        </p:nvSpPr>
        <p:spPr>
          <a:xfrm>
            <a:off x="4471416" y="7699248"/>
            <a:ext cx="1883664" cy="1627632"/>
          </a:xfrm>
          <a:prstGeom prst="roundRect">
            <a:avLst>
              <a:gd name="adj" fmla="val 4494"/>
            </a:avLst>
          </a:prstGeom>
          <a:solidFill>
            <a:srgbClr val="EDF2F7"/>
          </a:solidFill>
          <a:ln/>
        </p:spPr>
      </p:sp>
      <p:sp>
        <p:nvSpPr>
          <p:cNvPr id="53" name="Shape 44"/>
          <p:cNvSpPr/>
          <p:nvPr/>
        </p:nvSpPr>
        <p:spPr>
          <a:xfrm>
            <a:off x="4581144" y="7818120"/>
            <a:ext cx="274320" cy="274320"/>
          </a:xfrm>
          <a:prstGeom prst="ellipse">
            <a:avLst/>
          </a:prstGeom>
          <a:solidFill>
            <a:srgbClr val="46688C"/>
          </a:solidFill>
          <a:ln/>
        </p:spPr>
      </p:sp>
      <p:pic>
        <p:nvPicPr>
          <p:cNvPr id="54" name="Image 5" descr="preencoded.png">    </p:cNvPr>
          <p:cNvPicPr>
            <a:picLocks noChangeAspect="1"/>
          </p:cNvPicPr>
          <p:nvPr/>
        </p:nvPicPr>
        <p:blipFill>
          <a:blip r:embed="rId8"/>
          <a:stretch>
            <a:fillRect/>
          </a:stretch>
        </p:blipFill>
        <p:spPr>
          <a:xfrm>
            <a:off x="4646981" y="7883957"/>
            <a:ext cx="142646" cy="142646"/>
          </a:xfrm>
          <a:prstGeom prst="rect">
            <a:avLst/>
          </a:prstGeom>
        </p:spPr>
      </p:pic>
      <p:sp>
        <p:nvSpPr>
          <p:cNvPr id="55" name="Text 45"/>
          <p:cNvSpPr txBox="1"/>
          <p:nvPr/>
        </p:nvSpPr>
        <p:spPr>
          <a:xfrm>
            <a:off x="4928616" y="7772400"/>
            <a:ext cx="1371600" cy="365760"/>
          </a:xfrm>
          <a:prstGeom prst="rect">
            <a:avLst/>
          </a:prstGeom>
          <a:noFill/>
          <a:ln/>
        </p:spPr>
        <p:txBody>
          <a:bodyPr wrap="square" lIns="0" tIns="0" rIns="0" bIns="0" rtlCol="0" anchor="ctr"/>
          <a:lstStyle/>
          <a:p>
            <a:pPr indent="0" marL="0">
              <a:buNone/>
            </a:pPr>
            <a:r>
              <a:rPr lang="en-US" sz="2000" b="1" dirty="0">
                <a:solidFill>
                  <a:srgbClr val="46688C"/>
                </a:solidFill>
              </a:rPr>
              <a:t>87.5%</a:t>
            </a:r>
            <a:endParaRPr lang="en-US" sz="2000" dirty="0"/>
          </a:p>
        </p:txBody>
      </p:sp>
      <p:sp>
        <p:nvSpPr>
          <p:cNvPr id="56" name="Text 46"/>
          <p:cNvSpPr txBox="1"/>
          <p:nvPr/>
        </p:nvSpPr>
        <p:spPr>
          <a:xfrm>
            <a:off x="4581144" y="8183880"/>
            <a:ext cx="1682496" cy="347472"/>
          </a:xfrm>
          <a:prstGeom prst="rect">
            <a:avLst/>
          </a:prstGeom>
          <a:noFill/>
          <a:ln/>
        </p:spPr>
        <p:txBody>
          <a:bodyPr wrap="square" lIns="0" tIns="0" rIns="0" bIns="0" rtlCol="0" anchor="t"/>
          <a:lstStyle/>
          <a:p>
            <a:pPr indent="0" marL="0">
              <a:buNone/>
            </a:pPr>
            <a:r>
              <a:rPr lang="en-US" sz="750" b="1" dirty="0">
                <a:solidFill>
                  <a:srgbClr val="262626"/>
                </a:solidFill>
              </a:rPr>
              <a:t>生活者は「血糖値でリスクを十分に把握できる」と回答</a:t>
            </a:r>
            <a:endParaRPr lang="en-US" sz="750" dirty="0"/>
          </a:p>
        </p:txBody>
      </p:sp>
      <p:sp>
        <p:nvSpPr>
          <p:cNvPr id="57" name="Text 47"/>
          <p:cNvSpPr txBox="1"/>
          <p:nvPr/>
        </p:nvSpPr>
        <p:spPr>
          <a:xfrm>
            <a:off x="4581144" y="8549640"/>
            <a:ext cx="1682496" cy="548640"/>
          </a:xfrm>
          <a:prstGeom prst="rect">
            <a:avLst/>
          </a:prstGeom>
          <a:noFill/>
          <a:ln/>
        </p:spPr>
        <p:txBody>
          <a:bodyPr wrap="square" lIns="0" tIns="0" rIns="0" bIns="0" rtlCol="0" anchor="t"/>
          <a:lstStyle/>
          <a:p>
            <a:pPr indent="0" marL="0">
              <a:lnSpc>
                <a:spcPct val="115000"/>
              </a:lnSpc>
              <a:buNone/>
            </a:pPr>
            <a:r>
              <a:rPr lang="en-US" sz="700" dirty="0">
                <a:solidFill>
                  <a:srgbClr val="4A4A4A"/>
                </a:solidFill>
              </a:rPr>
              <a:t>血糖値だけでは「予備群」を見逃す可能性も ――“血糖値の落とし穴”</a:t>
            </a:r>
            <a:endParaRPr lang="en-US" sz="700" dirty="0"/>
          </a:p>
        </p:txBody>
      </p:sp>
      <p:sp>
        <p:nvSpPr>
          <p:cNvPr id="58" name="Text 48"/>
          <p:cNvSpPr txBox="1"/>
          <p:nvPr/>
        </p:nvSpPr>
        <p:spPr>
          <a:xfrm>
            <a:off x="4581144" y="9116568"/>
            <a:ext cx="1682496" cy="146304"/>
          </a:xfrm>
          <a:prstGeom prst="rect">
            <a:avLst/>
          </a:prstGeom>
          <a:noFill/>
          <a:ln/>
        </p:spPr>
        <p:txBody>
          <a:bodyPr wrap="square" lIns="0" tIns="0" rIns="0" bIns="0" rtlCol="0" anchor="t"/>
          <a:lstStyle/>
          <a:p>
            <a:pPr algn="r" indent="0" marL="0">
              <a:buNone/>
            </a:pPr>
            <a:r>
              <a:rPr lang="en-US" sz="650" b="1" dirty="0">
                <a:solidFill>
                  <a:srgbClr val="46688C"/>
                </a:solidFill>
              </a:rPr>
              <a:t>→ 図5</a:t>
            </a:r>
            <a:endParaRPr lang="en-US" sz="650" dirty="0"/>
          </a:p>
        </p:txBody>
      </p:sp>
      <p:sp>
        <p:nvSpPr>
          <p:cNvPr id="25" name="Slide Number Placeholder 0"/>
          <p:cNvSpPr>
            <a:spLocks noGrp="1"/>
          </p:cNvSpPr>
          <p:nvPr>
            <p:ph type="sldNum" sz="quarter" idx="4294967295"/>
          </p:nvPr>
        </p:nvSpPr>
        <p:spPr>
          <a:xfrm>
            <a:off x="5897880" y="9491472"/>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7A7A7A"/>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411480"/>
            <a:ext cx="310896" cy="310896"/>
          </a:xfrm>
          <a:prstGeom prst="ellipse">
            <a:avLst/>
          </a:prstGeom>
          <a:solidFill>
            <a:srgbClr val="C8102E"/>
          </a:solid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3" name="Text 1"/>
          <p:cNvSpPr txBox="1"/>
          <p:nvPr/>
        </p:nvSpPr>
        <p:spPr>
          <a:xfrm>
            <a:off x="923544" y="411480"/>
            <a:ext cx="5431536" cy="310896"/>
          </a:xfrm>
          <a:prstGeom prst="rect">
            <a:avLst/>
          </a:prstGeom>
          <a:noFill/>
          <a:ln/>
        </p:spPr>
        <p:txBody>
          <a:bodyPr wrap="square" lIns="0" tIns="0" rIns="0" bIns="0" rtlCol="0" anchor="ctr"/>
          <a:lstStyle/>
          <a:p>
            <a:pPr indent="0" marL="0">
              <a:buNone/>
            </a:pPr>
            <a:r>
              <a:rPr lang="en-US" sz="1300" b="1" dirty="0">
                <a:solidFill>
                  <a:srgbClr val="262626"/>
                </a:solidFill>
              </a:rPr>
              <a:t>医師はHbA1c、生活者は血糖値 ―― 糖尿病リスク把握の認識ギャップ</a:t>
            </a:r>
            <a:endParaRPr lang="en-US" sz="1300" dirty="0"/>
          </a:p>
        </p:txBody>
      </p:sp>
      <p:sp>
        <p:nvSpPr>
          <p:cNvPr id="4" name="Text 2"/>
          <p:cNvSpPr txBox="1"/>
          <p:nvPr/>
        </p:nvSpPr>
        <p:spPr>
          <a:xfrm>
            <a:off x="502920" y="822960"/>
            <a:ext cx="5852160" cy="777240"/>
          </a:xfrm>
          <a:prstGeom prst="rect">
            <a:avLst/>
          </a:prstGeom>
          <a:noFill/>
          <a:ln/>
        </p:spPr>
        <p:txBody>
          <a:bodyPr wrap="square" lIns="0" tIns="0" rIns="0" bIns="0" rtlCol="0" anchor="t"/>
          <a:lstStyle/>
          <a:p>
            <a:pPr indent="0" marL="0">
              <a:lnSpc>
                <a:spcPct val="125000"/>
              </a:lnSpc>
              <a:buNone/>
            </a:pPr>
            <a:r>
              <a:rPr lang="en-US" sz="800" dirty="0">
                <a:solidFill>
                  <a:srgbClr val="262626"/>
                </a:solidFill>
              </a:rPr>
              <a:t>　まず浮かび上がったのは、糖尿病リスクを把握する上での、医師と生活者の認識ギャップです（図1）。医師に「健康診断で、患者により見てほしいのはどちらか」を尋ねたところ、87.0％がヘモグロビンA1cと答えました。一方、生活者に「糖尿病のリスクを把握する上で、より重視するのはどちらか」を尋ねると、68.7％が血糖値を重視すると答えました。</a:t>
            </a:r>
            <a:endParaRPr lang="en-US" sz="800" dirty="0"/>
          </a:p>
        </p:txBody>
      </p:sp>
      <p:sp>
        <p:nvSpPr>
          <p:cNvPr id="5" name="Text 3"/>
          <p:cNvSpPr txBox="1"/>
          <p:nvPr/>
        </p:nvSpPr>
        <p:spPr>
          <a:xfrm>
            <a:off x="502920" y="1691640"/>
            <a:ext cx="5852160" cy="219456"/>
          </a:xfrm>
          <a:prstGeom prst="rect">
            <a:avLst/>
          </a:prstGeom>
          <a:noFill/>
          <a:ln/>
        </p:spPr>
        <p:txBody>
          <a:bodyPr wrap="square" lIns="0" tIns="0" rIns="0" bIns="0" rtlCol="0" anchor="ctr"/>
          <a:lstStyle/>
          <a:p>
            <a:pPr indent="0" marL="0">
              <a:buNone/>
            </a:pPr>
            <a:r>
              <a:rPr lang="en-US" sz="850" b="1" dirty="0">
                <a:solidFill>
                  <a:srgbClr val="C8102E"/>
                </a:solidFill>
              </a:rPr>
              <a:t>図2</a:t>
            </a:r>
            <a:pPr indent="0" marL="0">
              <a:buNone/>
            </a:pPr>
            <a:r>
              <a:rPr lang="en-US" sz="850" b="1" dirty="0">
                <a:solidFill>
                  <a:srgbClr val="262626"/>
                </a:solidFill>
              </a:rPr>
              <a:t>　HbA1cは医師の78.2%が「非常に重要」なのに、生活者の知名度はワースト</a:t>
            </a:r>
            <a:endParaRPr lang="en-US" sz="850" dirty="0"/>
          </a:p>
        </p:txBody>
      </p:sp>
      <p:sp>
        <p:nvSpPr>
          <p:cNvPr id="6" name="Shape 4"/>
          <p:cNvSpPr/>
          <p:nvPr/>
        </p:nvSpPr>
        <p:spPr>
          <a:xfrm>
            <a:off x="502920" y="1956816"/>
            <a:ext cx="5852160" cy="2880360"/>
          </a:xfrm>
          <a:prstGeom prst="roundRect">
            <a:avLst>
              <a:gd name="adj" fmla="val 2540"/>
            </a:avLst>
          </a:prstGeom>
          <a:solidFill>
            <a:srgbClr val="F6F6F6"/>
          </a:solidFill>
          <a:ln/>
        </p:spPr>
      </p:sp>
      <p:sp>
        <p:nvSpPr>
          <p:cNvPr id="7" name="Shape 5"/>
          <p:cNvSpPr/>
          <p:nvPr/>
        </p:nvSpPr>
        <p:spPr>
          <a:xfrm>
            <a:off x="640080" y="2048256"/>
            <a:ext cx="256032" cy="256032"/>
          </a:xfrm>
          <a:prstGeom prst="ellipse">
            <a:avLst/>
          </a:prstGeom>
          <a:solidFill>
            <a:srgbClr val="4A4A4A"/>
          </a:solidFill>
          <a:ln/>
        </p:spPr>
      </p:sp>
      <p:pic>
        <p:nvPicPr>
          <p:cNvPr id="8" name="Image 0" descr="preencoded.png">    </p:cNvPr>
          <p:cNvPicPr>
            <a:picLocks noChangeAspect="1"/>
          </p:cNvPicPr>
          <p:nvPr/>
        </p:nvPicPr>
        <p:blipFill>
          <a:blip r:embed="rId1"/>
          <a:stretch>
            <a:fillRect/>
          </a:stretch>
        </p:blipFill>
        <p:spPr>
          <a:xfrm>
            <a:off x="701528" y="2109704"/>
            <a:ext cx="133137" cy="133137"/>
          </a:xfrm>
          <a:prstGeom prst="rect">
            <a:avLst/>
          </a:prstGeom>
        </p:spPr>
      </p:pic>
      <p:sp>
        <p:nvSpPr>
          <p:cNvPr id="9" name="Text 6"/>
          <p:cNvSpPr txBox="1"/>
          <p:nvPr/>
        </p:nvSpPr>
        <p:spPr>
          <a:xfrm>
            <a:off x="960120" y="2048256"/>
            <a:ext cx="2468880" cy="256032"/>
          </a:xfrm>
          <a:prstGeom prst="rect">
            <a:avLst/>
          </a:prstGeom>
          <a:noFill/>
          <a:ln/>
        </p:spPr>
        <p:txBody>
          <a:bodyPr wrap="square" lIns="0" tIns="0" rIns="0" bIns="0" rtlCol="0" anchor="ctr"/>
          <a:lstStyle/>
          <a:p>
            <a:pPr indent="0" marL="0">
              <a:buNone/>
            </a:pPr>
            <a:r>
              <a:rPr lang="en-US" sz="850" b="1" dirty="0">
                <a:solidFill>
                  <a:srgbClr val="262626"/>
                </a:solidFill>
              </a:rPr>
              <a:t>医師</a:t>
            </a:r>
            <a:pPr indent="0" marL="0">
              <a:buNone/>
            </a:pPr>
            <a:r>
              <a:rPr lang="en-US" sz="750" b="1" dirty="0">
                <a:solidFill>
                  <a:srgbClr val="4A4A4A"/>
                </a:solidFill>
              </a:rPr>
              <a:t>　健康管理の上でどの程度重要？</a:t>
            </a:r>
            <a:endParaRPr lang="en-US" sz="850" dirty="0"/>
          </a:p>
        </p:txBody>
      </p:sp>
      <p:graphicFrame>
        <p:nvGraphicFramePr>
          <p:cNvPr id="10" name="Chart 0" descr=""/>
          <p:cNvGraphicFramePr/>
          <p:nvPr/>
        </p:nvGraphicFramePr>
        <p:xfrm>
          <a:off x="576072" y="2395728"/>
          <a:ext cx="2834640" cy="2011680"/>
        </p:xfrm>
        <a:graphic xmlns:a="http://schemas.openxmlformats.org/drawingml/2006/main">
          <a:graphicData uri="http://schemas.openxmlformats.org/drawingml/2006/chart">
            <c:chart xmlns:c="http://schemas.openxmlformats.org/drawingml/2006/chart" r:id="rId2"/>
          </a:graphicData>
        </a:graphic>
      </p:graphicFrame>
      <p:sp>
        <p:nvSpPr>
          <p:cNvPr id="11" name="Shape 7"/>
          <p:cNvSpPr/>
          <p:nvPr/>
        </p:nvSpPr>
        <p:spPr>
          <a:xfrm>
            <a:off x="603504" y="2592324"/>
            <a:ext cx="2739542" cy="170078"/>
          </a:xfrm>
          <a:prstGeom prst="roundRect">
            <a:avLst>
              <a:gd name="adj" fmla="val 16129"/>
            </a:avLst>
          </a:prstGeom>
          <a:ln w="15875">
            <a:solidFill>
              <a:srgbClr val="C8102E"/>
            </a:solidFill>
            <a:prstDash val="solid"/>
          </a:ln>
        </p:spPr>
      </p:sp>
      <p:sp>
        <p:nvSpPr>
          <p:cNvPr id="12" name="Text 8"/>
          <p:cNvSpPr txBox="1"/>
          <p:nvPr/>
        </p:nvSpPr>
        <p:spPr>
          <a:xfrm>
            <a:off x="1623974" y="2435962"/>
            <a:ext cx="365760" cy="160934"/>
          </a:xfrm>
          <a:prstGeom prst="rect">
            <a:avLst/>
          </a:prstGeom>
          <a:noFill/>
          <a:ln/>
        </p:spPr>
        <p:txBody>
          <a:bodyPr wrap="square" lIns="0" tIns="0" rIns="0" bIns="0" rtlCol="0" anchor="ctr"/>
          <a:lstStyle/>
          <a:p>
            <a:pPr indent="0" marL="0">
              <a:buNone/>
            </a:pPr>
            <a:r>
              <a:rPr lang="en-US" sz="550" b="1" dirty="0">
                <a:solidFill>
                  <a:srgbClr val="FFFFFF"/>
                </a:solidFill>
              </a:rPr>
              <a:t>80.4</a:t>
            </a:r>
            <a:endParaRPr lang="en-US" sz="550" dirty="0"/>
          </a:p>
        </p:txBody>
      </p:sp>
      <p:sp>
        <p:nvSpPr>
          <p:cNvPr id="13" name="Text 9"/>
          <p:cNvSpPr txBox="1"/>
          <p:nvPr/>
        </p:nvSpPr>
        <p:spPr>
          <a:xfrm>
            <a:off x="1623974" y="2596896"/>
            <a:ext cx="365760" cy="160934"/>
          </a:xfrm>
          <a:prstGeom prst="rect">
            <a:avLst/>
          </a:prstGeom>
          <a:noFill/>
          <a:ln/>
        </p:spPr>
        <p:txBody>
          <a:bodyPr wrap="square" lIns="0" tIns="0" rIns="0" bIns="0" rtlCol="0" anchor="ctr"/>
          <a:lstStyle/>
          <a:p>
            <a:pPr indent="0" marL="0">
              <a:buNone/>
            </a:pPr>
            <a:r>
              <a:rPr lang="en-US" sz="550" b="1" dirty="0">
                <a:solidFill>
                  <a:srgbClr val="FFFFFF"/>
                </a:solidFill>
              </a:rPr>
              <a:t>78.2</a:t>
            </a:r>
            <a:endParaRPr lang="en-US" sz="550" dirty="0"/>
          </a:p>
        </p:txBody>
      </p:sp>
      <p:sp>
        <p:nvSpPr>
          <p:cNvPr id="14" name="Text 10"/>
          <p:cNvSpPr txBox="1"/>
          <p:nvPr/>
        </p:nvSpPr>
        <p:spPr>
          <a:xfrm>
            <a:off x="1623974" y="2757830"/>
            <a:ext cx="365760" cy="160934"/>
          </a:xfrm>
          <a:prstGeom prst="rect">
            <a:avLst/>
          </a:prstGeom>
          <a:noFill/>
          <a:ln/>
        </p:spPr>
        <p:txBody>
          <a:bodyPr wrap="square" lIns="0" tIns="0" rIns="0" bIns="0" rtlCol="0" anchor="ctr"/>
          <a:lstStyle/>
          <a:p>
            <a:pPr indent="0" marL="0">
              <a:buNone/>
            </a:pPr>
            <a:r>
              <a:rPr lang="en-US" sz="550" b="1" dirty="0">
                <a:solidFill>
                  <a:srgbClr val="FFFFFF"/>
                </a:solidFill>
              </a:rPr>
              <a:t>72.8</a:t>
            </a:r>
            <a:endParaRPr lang="en-US" sz="550" dirty="0"/>
          </a:p>
        </p:txBody>
      </p:sp>
      <p:sp>
        <p:nvSpPr>
          <p:cNvPr id="15" name="Text 11"/>
          <p:cNvSpPr txBox="1"/>
          <p:nvPr/>
        </p:nvSpPr>
        <p:spPr>
          <a:xfrm>
            <a:off x="1623974" y="2918765"/>
            <a:ext cx="365760" cy="160934"/>
          </a:xfrm>
          <a:prstGeom prst="rect">
            <a:avLst/>
          </a:prstGeom>
          <a:noFill/>
          <a:ln/>
        </p:spPr>
        <p:txBody>
          <a:bodyPr wrap="square" lIns="0" tIns="0" rIns="0" bIns="0" rtlCol="0" anchor="ctr"/>
          <a:lstStyle/>
          <a:p>
            <a:pPr indent="0" marL="0">
              <a:buNone/>
            </a:pPr>
            <a:r>
              <a:rPr lang="en-US" sz="550" b="1" dirty="0">
                <a:solidFill>
                  <a:srgbClr val="FFFFFF"/>
                </a:solidFill>
              </a:rPr>
              <a:t>66.2</a:t>
            </a:r>
            <a:endParaRPr lang="en-US" sz="550" dirty="0"/>
          </a:p>
        </p:txBody>
      </p:sp>
      <p:sp>
        <p:nvSpPr>
          <p:cNvPr id="16" name="Text 12"/>
          <p:cNvSpPr txBox="1"/>
          <p:nvPr/>
        </p:nvSpPr>
        <p:spPr>
          <a:xfrm>
            <a:off x="1623974" y="3079699"/>
            <a:ext cx="365760" cy="160934"/>
          </a:xfrm>
          <a:prstGeom prst="rect">
            <a:avLst/>
          </a:prstGeom>
          <a:noFill/>
          <a:ln/>
        </p:spPr>
        <p:txBody>
          <a:bodyPr wrap="square" lIns="0" tIns="0" rIns="0" bIns="0" rtlCol="0" anchor="ctr"/>
          <a:lstStyle/>
          <a:p>
            <a:pPr indent="0" marL="0">
              <a:buNone/>
            </a:pPr>
            <a:r>
              <a:rPr lang="en-US" sz="550" b="1" dirty="0">
                <a:solidFill>
                  <a:srgbClr val="FFFFFF"/>
                </a:solidFill>
              </a:rPr>
              <a:t>64.4</a:t>
            </a:r>
            <a:endParaRPr lang="en-US" sz="550" dirty="0"/>
          </a:p>
        </p:txBody>
      </p:sp>
      <p:sp>
        <p:nvSpPr>
          <p:cNvPr id="17" name="Text 13"/>
          <p:cNvSpPr txBox="1"/>
          <p:nvPr/>
        </p:nvSpPr>
        <p:spPr>
          <a:xfrm>
            <a:off x="1623974" y="3240634"/>
            <a:ext cx="365760" cy="160934"/>
          </a:xfrm>
          <a:prstGeom prst="rect">
            <a:avLst/>
          </a:prstGeom>
          <a:noFill/>
          <a:ln/>
        </p:spPr>
        <p:txBody>
          <a:bodyPr wrap="square" lIns="0" tIns="0" rIns="0" bIns="0" rtlCol="0" anchor="ctr"/>
          <a:lstStyle/>
          <a:p>
            <a:pPr indent="0" marL="0">
              <a:buNone/>
            </a:pPr>
            <a:r>
              <a:rPr lang="en-US" sz="550" b="1" dirty="0">
                <a:solidFill>
                  <a:srgbClr val="FFFFFF"/>
                </a:solidFill>
              </a:rPr>
              <a:t>49.5</a:t>
            </a:r>
            <a:endParaRPr lang="en-US" sz="550" dirty="0"/>
          </a:p>
        </p:txBody>
      </p:sp>
      <p:sp>
        <p:nvSpPr>
          <p:cNvPr id="18" name="Text 14"/>
          <p:cNvSpPr txBox="1"/>
          <p:nvPr/>
        </p:nvSpPr>
        <p:spPr>
          <a:xfrm>
            <a:off x="1623974" y="3401568"/>
            <a:ext cx="365760" cy="160934"/>
          </a:xfrm>
          <a:prstGeom prst="rect">
            <a:avLst/>
          </a:prstGeom>
          <a:noFill/>
          <a:ln/>
        </p:spPr>
        <p:txBody>
          <a:bodyPr wrap="square" lIns="0" tIns="0" rIns="0" bIns="0" rtlCol="0" anchor="ctr"/>
          <a:lstStyle/>
          <a:p>
            <a:pPr indent="0" marL="0">
              <a:buNone/>
            </a:pPr>
            <a:r>
              <a:rPr lang="en-US" sz="550" b="1" dirty="0">
                <a:solidFill>
                  <a:srgbClr val="FFFFFF"/>
                </a:solidFill>
              </a:rPr>
              <a:t>36.0</a:t>
            </a:r>
            <a:endParaRPr lang="en-US" sz="550" dirty="0"/>
          </a:p>
        </p:txBody>
      </p:sp>
      <p:sp>
        <p:nvSpPr>
          <p:cNvPr id="19" name="Text 15"/>
          <p:cNvSpPr txBox="1"/>
          <p:nvPr/>
        </p:nvSpPr>
        <p:spPr>
          <a:xfrm>
            <a:off x="1623974" y="3562502"/>
            <a:ext cx="365760" cy="160934"/>
          </a:xfrm>
          <a:prstGeom prst="rect">
            <a:avLst/>
          </a:prstGeom>
          <a:noFill/>
          <a:ln/>
        </p:spPr>
        <p:txBody>
          <a:bodyPr wrap="square" lIns="0" tIns="0" rIns="0" bIns="0" rtlCol="0" anchor="ctr"/>
          <a:lstStyle/>
          <a:p>
            <a:pPr indent="0" marL="0">
              <a:buNone/>
            </a:pPr>
            <a:r>
              <a:rPr lang="en-US" sz="550" b="1" dirty="0">
                <a:solidFill>
                  <a:srgbClr val="FFFFFF"/>
                </a:solidFill>
              </a:rPr>
              <a:t>31.4</a:t>
            </a:r>
            <a:endParaRPr lang="en-US" sz="550" dirty="0"/>
          </a:p>
        </p:txBody>
      </p:sp>
      <p:sp>
        <p:nvSpPr>
          <p:cNvPr id="20" name="Text 16"/>
          <p:cNvSpPr txBox="1"/>
          <p:nvPr/>
        </p:nvSpPr>
        <p:spPr>
          <a:xfrm>
            <a:off x="1623974" y="3723437"/>
            <a:ext cx="365760" cy="160934"/>
          </a:xfrm>
          <a:prstGeom prst="rect">
            <a:avLst/>
          </a:prstGeom>
          <a:noFill/>
          <a:ln/>
        </p:spPr>
        <p:txBody>
          <a:bodyPr wrap="square" lIns="0" tIns="0" rIns="0" bIns="0" rtlCol="0" anchor="ctr"/>
          <a:lstStyle/>
          <a:p>
            <a:pPr indent="0" marL="0">
              <a:buNone/>
            </a:pPr>
            <a:r>
              <a:rPr lang="en-US" sz="550" b="1" dirty="0">
                <a:solidFill>
                  <a:srgbClr val="FFFFFF"/>
                </a:solidFill>
              </a:rPr>
              <a:t>31.1</a:t>
            </a:r>
            <a:endParaRPr lang="en-US" sz="550" dirty="0"/>
          </a:p>
        </p:txBody>
      </p:sp>
      <p:sp>
        <p:nvSpPr>
          <p:cNvPr id="21" name="Text 17"/>
          <p:cNvSpPr txBox="1"/>
          <p:nvPr/>
        </p:nvSpPr>
        <p:spPr>
          <a:xfrm>
            <a:off x="1623974" y="3884371"/>
            <a:ext cx="365760" cy="160934"/>
          </a:xfrm>
          <a:prstGeom prst="rect">
            <a:avLst/>
          </a:prstGeom>
          <a:noFill/>
          <a:ln/>
        </p:spPr>
        <p:txBody>
          <a:bodyPr wrap="square" lIns="0" tIns="0" rIns="0" bIns="0" rtlCol="0" anchor="ctr"/>
          <a:lstStyle/>
          <a:p>
            <a:pPr indent="0" marL="0">
              <a:buNone/>
            </a:pPr>
            <a:r>
              <a:rPr lang="en-US" sz="550" b="1" dirty="0">
                <a:solidFill>
                  <a:srgbClr val="FFFFFF"/>
                </a:solidFill>
              </a:rPr>
              <a:t>27.5</a:t>
            </a:r>
            <a:endParaRPr lang="en-US" sz="550" dirty="0"/>
          </a:p>
        </p:txBody>
      </p:sp>
      <p:sp>
        <p:nvSpPr>
          <p:cNvPr id="22" name="Text 18"/>
          <p:cNvSpPr txBox="1"/>
          <p:nvPr/>
        </p:nvSpPr>
        <p:spPr>
          <a:xfrm>
            <a:off x="1623974" y="4045306"/>
            <a:ext cx="365760" cy="160934"/>
          </a:xfrm>
          <a:prstGeom prst="rect">
            <a:avLst/>
          </a:prstGeom>
          <a:noFill/>
          <a:ln/>
        </p:spPr>
        <p:txBody>
          <a:bodyPr wrap="square" lIns="0" tIns="0" rIns="0" bIns="0" rtlCol="0" anchor="ctr"/>
          <a:lstStyle/>
          <a:p>
            <a:pPr indent="0" marL="0">
              <a:buNone/>
            </a:pPr>
            <a:r>
              <a:rPr lang="en-US" sz="550" b="1" dirty="0">
                <a:solidFill>
                  <a:srgbClr val="FFFFFF"/>
                </a:solidFill>
              </a:rPr>
              <a:t>25.4</a:t>
            </a:r>
            <a:endParaRPr lang="en-US" sz="550" dirty="0"/>
          </a:p>
        </p:txBody>
      </p:sp>
      <p:sp>
        <p:nvSpPr>
          <p:cNvPr id="23" name="Text 19"/>
          <p:cNvSpPr txBox="1"/>
          <p:nvPr/>
        </p:nvSpPr>
        <p:spPr>
          <a:xfrm>
            <a:off x="1623974" y="4206240"/>
            <a:ext cx="365760" cy="160934"/>
          </a:xfrm>
          <a:prstGeom prst="rect">
            <a:avLst/>
          </a:prstGeom>
          <a:noFill/>
          <a:ln/>
        </p:spPr>
        <p:txBody>
          <a:bodyPr wrap="square" lIns="0" tIns="0" rIns="0" bIns="0" rtlCol="0" anchor="ctr"/>
          <a:lstStyle/>
          <a:p>
            <a:pPr indent="0" marL="0">
              <a:buNone/>
            </a:pPr>
            <a:r>
              <a:rPr lang="en-US" sz="550" b="1" dirty="0">
                <a:solidFill>
                  <a:srgbClr val="FFFFFF"/>
                </a:solidFill>
              </a:rPr>
              <a:t>23.0</a:t>
            </a:r>
            <a:endParaRPr lang="en-US" sz="550" dirty="0"/>
          </a:p>
        </p:txBody>
      </p:sp>
      <p:sp>
        <p:nvSpPr>
          <p:cNvPr id="24" name="Shape 20"/>
          <p:cNvSpPr/>
          <p:nvPr/>
        </p:nvSpPr>
        <p:spPr>
          <a:xfrm>
            <a:off x="3511296" y="2048256"/>
            <a:ext cx="256032" cy="256032"/>
          </a:xfrm>
          <a:prstGeom prst="ellipse">
            <a:avLst/>
          </a:prstGeom>
          <a:solidFill>
            <a:srgbClr val="4A4A4A"/>
          </a:solidFill>
          <a:ln/>
        </p:spPr>
      </p:sp>
      <p:pic>
        <p:nvPicPr>
          <p:cNvPr id="25" name="Image 1" descr="preencoded.png">    </p:cNvPr>
          <p:cNvPicPr>
            <a:picLocks noChangeAspect="1"/>
          </p:cNvPicPr>
          <p:nvPr/>
        </p:nvPicPr>
        <p:blipFill>
          <a:blip r:embed="rId3"/>
          <a:stretch>
            <a:fillRect/>
          </a:stretch>
        </p:blipFill>
        <p:spPr>
          <a:xfrm>
            <a:off x="3572744" y="2109704"/>
            <a:ext cx="133137" cy="133137"/>
          </a:xfrm>
          <a:prstGeom prst="rect">
            <a:avLst/>
          </a:prstGeom>
        </p:spPr>
      </p:pic>
      <p:sp>
        <p:nvSpPr>
          <p:cNvPr id="26" name="Text 21"/>
          <p:cNvSpPr txBox="1"/>
          <p:nvPr/>
        </p:nvSpPr>
        <p:spPr>
          <a:xfrm>
            <a:off x="3831336" y="2048256"/>
            <a:ext cx="2468880" cy="256032"/>
          </a:xfrm>
          <a:prstGeom prst="rect">
            <a:avLst/>
          </a:prstGeom>
          <a:noFill/>
          <a:ln/>
        </p:spPr>
        <p:txBody>
          <a:bodyPr wrap="square" lIns="0" tIns="0" rIns="0" bIns="0" rtlCol="0" anchor="ctr"/>
          <a:lstStyle/>
          <a:p>
            <a:pPr indent="0" marL="0">
              <a:buNone/>
            </a:pPr>
            <a:r>
              <a:rPr lang="en-US" sz="850" b="1" dirty="0">
                <a:solidFill>
                  <a:srgbClr val="262626"/>
                </a:solidFill>
              </a:rPr>
              <a:t>生活者</a:t>
            </a:r>
            <a:pPr indent="0" marL="0">
              <a:buNone/>
            </a:pPr>
            <a:r>
              <a:rPr lang="en-US" sz="750" b="1" dirty="0">
                <a:solidFill>
                  <a:srgbClr val="4A4A4A"/>
                </a:solidFill>
              </a:rPr>
              <a:t>　各指標をどの程度知っている？</a:t>
            </a:r>
            <a:endParaRPr lang="en-US" sz="850" dirty="0"/>
          </a:p>
        </p:txBody>
      </p:sp>
      <p:graphicFrame>
        <p:nvGraphicFramePr>
          <p:cNvPr id="27" name="Chart 1" descr=""/>
          <p:cNvGraphicFramePr/>
          <p:nvPr/>
        </p:nvGraphicFramePr>
        <p:xfrm>
          <a:off x="3447288" y="2395728"/>
          <a:ext cx="2834640" cy="2011680"/>
        </p:xfrm>
        <a:graphic xmlns:a="http://schemas.openxmlformats.org/drawingml/2006/main">
          <a:graphicData uri="http://schemas.openxmlformats.org/drawingml/2006/chart">
            <c:chart xmlns:c="http://schemas.openxmlformats.org/drawingml/2006/chart" r:id="rId4"/>
          </a:graphicData>
        </a:graphic>
      </p:graphicFrame>
      <p:sp>
        <p:nvSpPr>
          <p:cNvPr id="28" name="Shape 22"/>
          <p:cNvSpPr/>
          <p:nvPr/>
        </p:nvSpPr>
        <p:spPr>
          <a:xfrm>
            <a:off x="3474720" y="2431390"/>
            <a:ext cx="2739542" cy="170078"/>
          </a:xfrm>
          <a:prstGeom prst="roundRect">
            <a:avLst>
              <a:gd name="adj" fmla="val 16129"/>
            </a:avLst>
          </a:prstGeom>
          <a:ln w="15875">
            <a:solidFill>
              <a:srgbClr val="C8102E"/>
            </a:solidFill>
            <a:prstDash val="solid"/>
          </a:ln>
        </p:spPr>
      </p:sp>
      <p:sp>
        <p:nvSpPr>
          <p:cNvPr id="29" name="Text 23"/>
          <p:cNvSpPr txBox="1"/>
          <p:nvPr/>
        </p:nvSpPr>
        <p:spPr>
          <a:xfrm>
            <a:off x="5775350" y="2435962"/>
            <a:ext cx="365760" cy="160934"/>
          </a:xfrm>
          <a:prstGeom prst="rect">
            <a:avLst/>
          </a:prstGeom>
          <a:noFill/>
          <a:ln/>
        </p:spPr>
        <p:txBody>
          <a:bodyPr wrap="square" lIns="0" tIns="0" rIns="0" bIns="0" rtlCol="0" anchor="ctr"/>
          <a:lstStyle/>
          <a:p>
            <a:pPr algn="r" indent="0" marL="0">
              <a:buNone/>
            </a:pPr>
            <a:r>
              <a:rPr lang="en-US" sz="550" b="1" dirty="0">
                <a:solidFill>
                  <a:srgbClr val="FFFFFF"/>
                </a:solidFill>
              </a:rPr>
              <a:t>40.3</a:t>
            </a:r>
            <a:endParaRPr lang="en-US" sz="550" dirty="0"/>
          </a:p>
        </p:txBody>
      </p:sp>
      <p:sp>
        <p:nvSpPr>
          <p:cNvPr id="30" name="Text 24"/>
          <p:cNvSpPr txBox="1"/>
          <p:nvPr/>
        </p:nvSpPr>
        <p:spPr>
          <a:xfrm>
            <a:off x="5775350" y="2596896"/>
            <a:ext cx="365760" cy="160934"/>
          </a:xfrm>
          <a:prstGeom prst="rect">
            <a:avLst/>
          </a:prstGeom>
          <a:noFill/>
          <a:ln/>
        </p:spPr>
        <p:txBody>
          <a:bodyPr wrap="square" lIns="0" tIns="0" rIns="0" bIns="0" rtlCol="0" anchor="ctr"/>
          <a:lstStyle/>
          <a:p>
            <a:pPr algn="r" indent="0" marL="0">
              <a:buNone/>
            </a:pPr>
            <a:r>
              <a:rPr lang="en-US" sz="550" b="1" dirty="0">
                <a:solidFill>
                  <a:srgbClr val="FFFFFF"/>
                </a:solidFill>
              </a:rPr>
              <a:t>39.0</a:t>
            </a:r>
            <a:endParaRPr lang="en-US" sz="550" dirty="0"/>
          </a:p>
        </p:txBody>
      </p:sp>
      <p:sp>
        <p:nvSpPr>
          <p:cNvPr id="31" name="Text 25"/>
          <p:cNvSpPr txBox="1"/>
          <p:nvPr/>
        </p:nvSpPr>
        <p:spPr>
          <a:xfrm>
            <a:off x="5775350" y="2757830"/>
            <a:ext cx="365760" cy="160934"/>
          </a:xfrm>
          <a:prstGeom prst="rect">
            <a:avLst/>
          </a:prstGeom>
          <a:noFill/>
          <a:ln/>
        </p:spPr>
        <p:txBody>
          <a:bodyPr wrap="square" lIns="0" tIns="0" rIns="0" bIns="0" rtlCol="0" anchor="ctr"/>
          <a:lstStyle/>
          <a:p>
            <a:pPr algn="r" indent="0" marL="0">
              <a:buNone/>
            </a:pPr>
            <a:r>
              <a:rPr lang="en-US" sz="550" b="1" dirty="0">
                <a:solidFill>
                  <a:srgbClr val="FFFFFF"/>
                </a:solidFill>
              </a:rPr>
              <a:t>28.1</a:t>
            </a:r>
            <a:endParaRPr lang="en-US" sz="550" dirty="0"/>
          </a:p>
        </p:txBody>
      </p:sp>
      <p:sp>
        <p:nvSpPr>
          <p:cNvPr id="32" name="Text 26"/>
          <p:cNvSpPr txBox="1"/>
          <p:nvPr/>
        </p:nvSpPr>
        <p:spPr>
          <a:xfrm>
            <a:off x="5775350" y="2918765"/>
            <a:ext cx="365760" cy="160934"/>
          </a:xfrm>
          <a:prstGeom prst="rect">
            <a:avLst/>
          </a:prstGeom>
          <a:noFill/>
          <a:ln/>
        </p:spPr>
        <p:txBody>
          <a:bodyPr wrap="square" lIns="0" tIns="0" rIns="0" bIns="0" rtlCol="0" anchor="ctr"/>
          <a:lstStyle/>
          <a:p>
            <a:pPr algn="r" indent="0" marL="0">
              <a:buNone/>
            </a:pPr>
            <a:r>
              <a:rPr lang="en-US" sz="550" b="1" dirty="0">
                <a:solidFill>
                  <a:srgbClr val="FFFFFF"/>
                </a:solidFill>
              </a:rPr>
              <a:t>22.3</a:t>
            </a:r>
            <a:endParaRPr lang="en-US" sz="550" dirty="0"/>
          </a:p>
        </p:txBody>
      </p:sp>
      <p:sp>
        <p:nvSpPr>
          <p:cNvPr id="33" name="Text 27"/>
          <p:cNvSpPr txBox="1"/>
          <p:nvPr/>
        </p:nvSpPr>
        <p:spPr>
          <a:xfrm>
            <a:off x="5775350" y="3079699"/>
            <a:ext cx="365760" cy="160934"/>
          </a:xfrm>
          <a:prstGeom prst="rect">
            <a:avLst/>
          </a:prstGeom>
          <a:noFill/>
          <a:ln/>
        </p:spPr>
        <p:txBody>
          <a:bodyPr wrap="square" lIns="0" tIns="0" rIns="0" bIns="0" rtlCol="0" anchor="ctr"/>
          <a:lstStyle/>
          <a:p>
            <a:pPr algn="r" indent="0" marL="0">
              <a:buNone/>
            </a:pPr>
            <a:r>
              <a:rPr lang="en-US" sz="550" b="1" dirty="0">
                <a:solidFill>
                  <a:srgbClr val="FFFFFF"/>
                </a:solidFill>
              </a:rPr>
              <a:t>11.9</a:t>
            </a:r>
            <a:endParaRPr lang="en-US" sz="550" dirty="0"/>
          </a:p>
        </p:txBody>
      </p:sp>
      <p:sp>
        <p:nvSpPr>
          <p:cNvPr id="34" name="Text 28"/>
          <p:cNvSpPr txBox="1"/>
          <p:nvPr/>
        </p:nvSpPr>
        <p:spPr>
          <a:xfrm>
            <a:off x="5775350" y="3240634"/>
            <a:ext cx="365760" cy="160934"/>
          </a:xfrm>
          <a:prstGeom prst="rect">
            <a:avLst/>
          </a:prstGeom>
          <a:noFill/>
          <a:ln/>
        </p:spPr>
        <p:txBody>
          <a:bodyPr wrap="square" lIns="0" tIns="0" rIns="0" bIns="0" rtlCol="0" anchor="ctr"/>
          <a:lstStyle/>
          <a:p>
            <a:pPr algn="r" indent="0" marL="0">
              <a:buNone/>
            </a:pPr>
            <a:r>
              <a:rPr lang="en-US" sz="550" b="1" dirty="0">
                <a:solidFill>
                  <a:srgbClr val="FFFFFF"/>
                </a:solidFill>
              </a:rPr>
              <a:t>11.0</a:t>
            </a:r>
            <a:endParaRPr lang="en-US" sz="550" dirty="0"/>
          </a:p>
        </p:txBody>
      </p:sp>
      <p:sp>
        <p:nvSpPr>
          <p:cNvPr id="35" name="Text 29"/>
          <p:cNvSpPr txBox="1"/>
          <p:nvPr/>
        </p:nvSpPr>
        <p:spPr>
          <a:xfrm>
            <a:off x="5775350" y="3401568"/>
            <a:ext cx="365760" cy="160934"/>
          </a:xfrm>
          <a:prstGeom prst="rect">
            <a:avLst/>
          </a:prstGeom>
          <a:noFill/>
          <a:ln/>
        </p:spPr>
        <p:txBody>
          <a:bodyPr wrap="square" lIns="0" tIns="0" rIns="0" bIns="0" rtlCol="0" anchor="ctr"/>
          <a:lstStyle/>
          <a:p>
            <a:pPr algn="r" indent="0" marL="0">
              <a:buNone/>
            </a:pPr>
            <a:r>
              <a:rPr lang="en-US" sz="550" b="1" dirty="0">
                <a:solidFill>
                  <a:srgbClr val="FFFFFF"/>
                </a:solidFill>
              </a:rPr>
              <a:t>6.8</a:t>
            </a:r>
            <a:endParaRPr lang="en-US" sz="550" dirty="0"/>
          </a:p>
        </p:txBody>
      </p:sp>
      <p:sp>
        <p:nvSpPr>
          <p:cNvPr id="36" name="Shape 30"/>
          <p:cNvSpPr/>
          <p:nvPr/>
        </p:nvSpPr>
        <p:spPr>
          <a:xfrm>
            <a:off x="640080" y="4485132"/>
            <a:ext cx="91440" cy="91440"/>
          </a:xfrm>
          <a:prstGeom prst="ellipse">
            <a:avLst/>
          </a:prstGeom>
          <a:solidFill>
            <a:srgbClr val="C8102E"/>
          </a:solidFill>
          <a:ln/>
        </p:spPr>
      </p:sp>
      <p:sp>
        <p:nvSpPr>
          <p:cNvPr id="37" name="Text 31"/>
          <p:cNvSpPr txBox="1"/>
          <p:nvPr/>
        </p:nvSpPr>
        <p:spPr>
          <a:xfrm>
            <a:off x="768096" y="4443984"/>
            <a:ext cx="566928" cy="173736"/>
          </a:xfrm>
          <a:prstGeom prst="rect">
            <a:avLst/>
          </a:prstGeom>
          <a:noFill/>
          <a:ln/>
        </p:spPr>
        <p:txBody>
          <a:bodyPr wrap="square" lIns="0" tIns="0" rIns="0" bIns="0" rtlCol="0" anchor="ctr"/>
          <a:lstStyle/>
          <a:p>
            <a:pPr indent="0" marL="0">
              <a:buNone/>
            </a:pPr>
            <a:r>
              <a:rPr lang="en-US" sz="650" dirty="0">
                <a:solidFill>
                  <a:srgbClr val="4A4A4A"/>
                </a:solidFill>
              </a:rPr>
              <a:t>非常に重要</a:t>
            </a:r>
            <a:endParaRPr lang="en-US" sz="650" dirty="0"/>
          </a:p>
        </p:txBody>
      </p:sp>
      <p:sp>
        <p:nvSpPr>
          <p:cNvPr id="38" name="Shape 32"/>
          <p:cNvSpPr/>
          <p:nvPr/>
        </p:nvSpPr>
        <p:spPr>
          <a:xfrm>
            <a:off x="1408176" y="4485132"/>
            <a:ext cx="91440" cy="91440"/>
          </a:xfrm>
          <a:prstGeom prst="ellipse">
            <a:avLst/>
          </a:prstGeom>
          <a:solidFill>
            <a:srgbClr val="F3C9D0"/>
          </a:solidFill>
          <a:ln/>
        </p:spPr>
      </p:sp>
      <p:sp>
        <p:nvSpPr>
          <p:cNvPr id="39" name="Text 33"/>
          <p:cNvSpPr txBox="1"/>
          <p:nvPr/>
        </p:nvSpPr>
        <p:spPr>
          <a:xfrm>
            <a:off x="1536192" y="4443984"/>
            <a:ext cx="658368" cy="173736"/>
          </a:xfrm>
          <a:prstGeom prst="rect">
            <a:avLst/>
          </a:prstGeom>
          <a:noFill/>
          <a:ln/>
        </p:spPr>
        <p:txBody>
          <a:bodyPr wrap="square" lIns="0" tIns="0" rIns="0" bIns="0" rtlCol="0" anchor="ctr"/>
          <a:lstStyle/>
          <a:p>
            <a:pPr indent="0" marL="0">
              <a:buNone/>
            </a:pPr>
            <a:r>
              <a:rPr lang="en-US" sz="650" dirty="0">
                <a:solidFill>
                  <a:srgbClr val="4A4A4A"/>
                </a:solidFill>
              </a:rPr>
              <a:t>ある程度重要</a:t>
            </a:r>
            <a:endParaRPr lang="en-US" sz="650" dirty="0"/>
          </a:p>
        </p:txBody>
      </p:sp>
      <p:sp>
        <p:nvSpPr>
          <p:cNvPr id="40" name="Shape 34"/>
          <p:cNvSpPr/>
          <p:nvPr/>
        </p:nvSpPr>
        <p:spPr>
          <a:xfrm>
            <a:off x="640080" y="4649724"/>
            <a:ext cx="91440" cy="91440"/>
          </a:xfrm>
          <a:prstGeom prst="ellipse">
            <a:avLst/>
          </a:prstGeom>
          <a:solidFill>
            <a:srgbClr val="D9D9D9"/>
          </a:solidFill>
          <a:ln/>
        </p:spPr>
      </p:sp>
      <p:sp>
        <p:nvSpPr>
          <p:cNvPr id="41" name="Text 35"/>
          <p:cNvSpPr txBox="1"/>
          <p:nvPr/>
        </p:nvSpPr>
        <p:spPr>
          <a:xfrm>
            <a:off x="768096" y="4608576"/>
            <a:ext cx="822960" cy="173736"/>
          </a:xfrm>
          <a:prstGeom prst="rect">
            <a:avLst/>
          </a:prstGeom>
          <a:noFill/>
          <a:ln/>
        </p:spPr>
        <p:txBody>
          <a:bodyPr wrap="square" lIns="0" tIns="0" rIns="0" bIns="0" rtlCol="0" anchor="ctr"/>
          <a:lstStyle/>
          <a:p>
            <a:pPr indent="0" marL="0">
              <a:buNone/>
            </a:pPr>
            <a:r>
              <a:rPr lang="en-US" sz="650" dirty="0">
                <a:solidFill>
                  <a:srgbClr val="4A4A4A"/>
                </a:solidFill>
              </a:rPr>
              <a:t>あまり重要でない</a:t>
            </a:r>
            <a:endParaRPr lang="en-US" sz="650" dirty="0"/>
          </a:p>
        </p:txBody>
      </p:sp>
      <p:sp>
        <p:nvSpPr>
          <p:cNvPr id="42" name="Shape 36"/>
          <p:cNvSpPr/>
          <p:nvPr/>
        </p:nvSpPr>
        <p:spPr>
          <a:xfrm>
            <a:off x="1664208" y="4649724"/>
            <a:ext cx="91440" cy="91440"/>
          </a:xfrm>
          <a:prstGeom prst="ellipse">
            <a:avLst/>
          </a:prstGeom>
          <a:solidFill>
            <a:srgbClr val="A6A6A6"/>
          </a:solidFill>
          <a:ln/>
        </p:spPr>
      </p:sp>
      <p:sp>
        <p:nvSpPr>
          <p:cNvPr id="43" name="Text 37"/>
          <p:cNvSpPr txBox="1"/>
          <p:nvPr/>
        </p:nvSpPr>
        <p:spPr>
          <a:xfrm>
            <a:off x="1792224" y="4608576"/>
            <a:ext cx="731520" cy="173736"/>
          </a:xfrm>
          <a:prstGeom prst="rect">
            <a:avLst/>
          </a:prstGeom>
          <a:noFill/>
          <a:ln/>
        </p:spPr>
        <p:txBody>
          <a:bodyPr wrap="square" lIns="0" tIns="0" rIns="0" bIns="0" rtlCol="0" anchor="ctr"/>
          <a:lstStyle/>
          <a:p>
            <a:pPr indent="0" marL="0">
              <a:buNone/>
            </a:pPr>
            <a:r>
              <a:rPr lang="en-US" sz="650" dirty="0">
                <a:solidFill>
                  <a:srgbClr val="4A4A4A"/>
                </a:solidFill>
              </a:rPr>
              <a:t>全く重要でない</a:t>
            </a:r>
            <a:endParaRPr lang="en-US" sz="650" dirty="0"/>
          </a:p>
        </p:txBody>
      </p:sp>
      <p:sp>
        <p:nvSpPr>
          <p:cNvPr id="44" name="Shape 38"/>
          <p:cNvSpPr/>
          <p:nvPr/>
        </p:nvSpPr>
        <p:spPr>
          <a:xfrm>
            <a:off x="3511296" y="4485132"/>
            <a:ext cx="91440" cy="91440"/>
          </a:xfrm>
          <a:prstGeom prst="ellipse">
            <a:avLst/>
          </a:prstGeom>
          <a:solidFill>
            <a:srgbClr val="46688C"/>
          </a:solidFill>
          <a:ln/>
        </p:spPr>
      </p:sp>
      <p:sp>
        <p:nvSpPr>
          <p:cNvPr id="45" name="Text 39"/>
          <p:cNvSpPr txBox="1"/>
          <p:nvPr/>
        </p:nvSpPr>
        <p:spPr>
          <a:xfrm>
            <a:off x="3639312" y="4443984"/>
            <a:ext cx="1097280" cy="173736"/>
          </a:xfrm>
          <a:prstGeom prst="rect">
            <a:avLst/>
          </a:prstGeom>
          <a:noFill/>
          <a:ln/>
        </p:spPr>
        <p:txBody>
          <a:bodyPr wrap="square" lIns="0" tIns="0" rIns="0" bIns="0" rtlCol="0" anchor="ctr"/>
          <a:lstStyle/>
          <a:p>
            <a:pPr indent="0" marL="0">
              <a:buNone/>
            </a:pPr>
            <a:r>
              <a:rPr lang="en-US" sz="650" dirty="0">
                <a:solidFill>
                  <a:srgbClr val="4A4A4A"/>
                </a:solidFill>
              </a:rPr>
              <a:t>名前も意味も知っている</a:t>
            </a:r>
            <a:endParaRPr lang="en-US" sz="650" dirty="0"/>
          </a:p>
        </p:txBody>
      </p:sp>
      <p:sp>
        <p:nvSpPr>
          <p:cNvPr id="46" name="Shape 40"/>
          <p:cNvSpPr/>
          <p:nvPr/>
        </p:nvSpPr>
        <p:spPr>
          <a:xfrm>
            <a:off x="4809744" y="4485132"/>
            <a:ext cx="91440" cy="91440"/>
          </a:xfrm>
          <a:prstGeom prst="ellipse">
            <a:avLst/>
          </a:prstGeom>
          <a:solidFill>
            <a:srgbClr val="B7C6D6"/>
          </a:solidFill>
          <a:ln/>
        </p:spPr>
      </p:sp>
      <p:sp>
        <p:nvSpPr>
          <p:cNvPr id="47" name="Text 41"/>
          <p:cNvSpPr txBox="1"/>
          <p:nvPr/>
        </p:nvSpPr>
        <p:spPr>
          <a:xfrm>
            <a:off x="4937760" y="4443984"/>
            <a:ext cx="1005840" cy="173736"/>
          </a:xfrm>
          <a:prstGeom prst="rect">
            <a:avLst/>
          </a:prstGeom>
          <a:noFill/>
          <a:ln/>
        </p:spPr>
        <p:txBody>
          <a:bodyPr wrap="square" lIns="0" tIns="0" rIns="0" bIns="0" rtlCol="0" anchor="ctr"/>
          <a:lstStyle/>
          <a:p>
            <a:pPr indent="0" marL="0">
              <a:buNone/>
            </a:pPr>
            <a:r>
              <a:rPr lang="en-US" sz="650" dirty="0">
                <a:solidFill>
                  <a:srgbClr val="4A4A4A"/>
                </a:solidFill>
              </a:rPr>
              <a:t>名前は見聞きした程度</a:t>
            </a:r>
            <a:endParaRPr lang="en-US" sz="650" dirty="0"/>
          </a:p>
        </p:txBody>
      </p:sp>
      <p:sp>
        <p:nvSpPr>
          <p:cNvPr id="48" name="Shape 42"/>
          <p:cNvSpPr/>
          <p:nvPr/>
        </p:nvSpPr>
        <p:spPr>
          <a:xfrm>
            <a:off x="3511296" y="4649724"/>
            <a:ext cx="91440" cy="91440"/>
          </a:xfrm>
          <a:prstGeom prst="ellipse">
            <a:avLst/>
          </a:prstGeom>
          <a:solidFill>
            <a:srgbClr val="C8102E"/>
          </a:solidFill>
          <a:ln/>
        </p:spPr>
      </p:sp>
      <p:sp>
        <p:nvSpPr>
          <p:cNvPr id="49" name="Text 43"/>
          <p:cNvSpPr txBox="1"/>
          <p:nvPr/>
        </p:nvSpPr>
        <p:spPr>
          <a:xfrm>
            <a:off x="3639312" y="4608576"/>
            <a:ext cx="365760" cy="173736"/>
          </a:xfrm>
          <a:prstGeom prst="rect">
            <a:avLst/>
          </a:prstGeom>
          <a:noFill/>
          <a:ln/>
        </p:spPr>
        <p:txBody>
          <a:bodyPr wrap="square" lIns="0" tIns="0" rIns="0" bIns="0" rtlCol="0" anchor="ctr"/>
          <a:lstStyle/>
          <a:p>
            <a:pPr indent="0" marL="0">
              <a:buNone/>
            </a:pPr>
            <a:r>
              <a:rPr lang="en-US" sz="650" dirty="0">
                <a:solidFill>
                  <a:srgbClr val="4A4A4A"/>
                </a:solidFill>
              </a:rPr>
              <a:t>知らない</a:t>
            </a:r>
            <a:endParaRPr lang="en-US" sz="650" dirty="0"/>
          </a:p>
        </p:txBody>
      </p:sp>
      <p:sp>
        <p:nvSpPr>
          <p:cNvPr id="50" name="Text 44"/>
          <p:cNvSpPr txBox="1"/>
          <p:nvPr/>
        </p:nvSpPr>
        <p:spPr>
          <a:xfrm>
            <a:off x="502920" y="4645152"/>
            <a:ext cx="5760720" cy="146304"/>
          </a:xfrm>
          <a:prstGeom prst="rect">
            <a:avLst/>
          </a:prstGeom>
          <a:noFill/>
          <a:ln/>
        </p:spPr>
        <p:txBody>
          <a:bodyPr wrap="square" lIns="0" tIns="0" rIns="0" bIns="0" rtlCol="0" anchor="t"/>
          <a:lstStyle/>
          <a:p>
            <a:pPr algn="r" indent="0" marL="0">
              <a:buNone/>
            </a:pPr>
            <a:r>
              <a:rPr lang="en-US" sz="650" dirty="0">
                <a:solidFill>
                  <a:srgbClr val="7A7A7A"/>
                </a:solidFill>
              </a:rPr>
              <a:t>医師 n=331　生活者 n=310</a:t>
            </a:r>
            <a:endParaRPr lang="en-US" sz="650" dirty="0"/>
          </a:p>
        </p:txBody>
      </p:sp>
      <p:sp>
        <p:nvSpPr>
          <p:cNvPr id="51" name="Text 45"/>
          <p:cNvSpPr txBox="1"/>
          <p:nvPr/>
        </p:nvSpPr>
        <p:spPr>
          <a:xfrm>
            <a:off x="502920" y="4919472"/>
            <a:ext cx="5852160" cy="914400"/>
          </a:xfrm>
          <a:prstGeom prst="rect">
            <a:avLst/>
          </a:prstGeom>
          <a:noFill/>
          <a:ln/>
        </p:spPr>
        <p:txBody>
          <a:bodyPr wrap="square" lIns="0" tIns="0" rIns="0" bIns="0" rtlCol="0" anchor="t"/>
          <a:lstStyle/>
          <a:p>
            <a:pPr indent="0" marL="0">
              <a:lnSpc>
                <a:spcPct val="125000"/>
              </a:lnSpc>
              <a:buNone/>
            </a:pPr>
            <a:r>
              <a:rPr lang="en-US" sz="800" dirty="0">
                <a:solidFill>
                  <a:srgbClr val="262626"/>
                </a:solidFill>
              </a:rPr>
              <a:t>　健康診断などで測定される指標への質問からも、大きなズレが浮き彫りになりました（図2）。医師に「各指標が健康管理の観点でどのくらい重要か」を尋ねたところ、78.2％がヘモグロビンA1cを「非常に重要」と答えました。血圧に続いて2番目の高さです（血糖値は64.4％で5番目）。一方、生活者に「各指標をどの程度知っているか」を尋ねると、ヘモグロビンA1cを「知らない」と答えた人は40.3％で、全指標の中でワースト。血糖値を知らない人は2.3％で、その差は歴然です。</a:t>
            </a:r>
            <a:endParaRPr lang="en-US" sz="800" dirty="0"/>
          </a:p>
        </p:txBody>
      </p:sp>
      <p:sp>
        <p:nvSpPr>
          <p:cNvPr id="52" name="Text 46"/>
          <p:cNvSpPr txBox="1"/>
          <p:nvPr/>
        </p:nvSpPr>
        <p:spPr>
          <a:xfrm>
            <a:off x="502920" y="5943600"/>
            <a:ext cx="310896" cy="310896"/>
          </a:xfrm>
          <a:prstGeom prst="ellipse">
            <a:avLst/>
          </a:prstGeom>
          <a:solidFill>
            <a:srgbClr val="C8102E"/>
          </a:solid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53" name="Text 47"/>
          <p:cNvSpPr txBox="1"/>
          <p:nvPr/>
        </p:nvSpPr>
        <p:spPr>
          <a:xfrm>
            <a:off x="923544" y="5943600"/>
            <a:ext cx="5431536" cy="310896"/>
          </a:xfrm>
          <a:prstGeom prst="rect">
            <a:avLst/>
          </a:prstGeom>
          <a:noFill/>
          <a:ln/>
        </p:spPr>
        <p:txBody>
          <a:bodyPr wrap="square" lIns="0" tIns="0" rIns="0" bIns="0" rtlCol="0" anchor="ctr"/>
          <a:lstStyle/>
          <a:p>
            <a:pPr indent="0" marL="0">
              <a:buNone/>
            </a:pPr>
            <a:r>
              <a:rPr lang="en-US" sz="1300" b="1" dirty="0">
                <a:solidFill>
                  <a:srgbClr val="262626"/>
                </a:solidFill>
              </a:rPr>
              <a:t>HbA1cを「内容まで知っている」人の7割はHbA1cを重視</a:t>
            </a:r>
            <a:endParaRPr lang="en-US" sz="1300" dirty="0"/>
          </a:p>
        </p:txBody>
      </p:sp>
      <p:sp>
        <p:nvSpPr>
          <p:cNvPr id="54" name="Text 48"/>
          <p:cNvSpPr txBox="1"/>
          <p:nvPr/>
        </p:nvSpPr>
        <p:spPr>
          <a:xfrm>
            <a:off x="502920" y="6355080"/>
            <a:ext cx="5852160" cy="219456"/>
          </a:xfrm>
          <a:prstGeom prst="rect">
            <a:avLst/>
          </a:prstGeom>
          <a:noFill/>
          <a:ln/>
        </p:spPr>
        <p:txBody>
          <a:bodyPr wrap="square" lIns="0" tIns="0" rIns="0" bIns="0" rtlCol="0" anchor="ctr"/>
          <a:lstStyle/>
          <a:p>
            <a:pPr indent="0" marL="0">
              <a:buNone/>
            </a:pPr>
            <a:r>
              <a:rPr lang="en-US" sz="850" b="1" dirty="0">
                <a:solidFill>
                  <a:srgbClr val="C8102E"/>
                </a:solidFill>
              </a:rPr>
              <a:t>図3</a:t>
            </a:r>
            <a:pPr indent="0" marL="0">
              <a:buNone/>
            </a:pPr>
            <a:r>
              <a:rPr lang="en-US" sz="850" b="1" dirty="0">
                <a:solidFill>
                  <a:srgbClr val="262626"/>
                </a:solidFill>
              </a:rPr>
              <a:t>　【生活者】糖尿病リスク把握で、より重視するのは？（ヘモグロビンA1cの認識度別）</a:t>
            </a:r>
            <a:endParaRPr lang="en-US" sz="850" dirty="0"/>
          </a:p>
        </p:txBody>
      </p:sp>
      <p:sp>
        <p:nvSpPr>
          <p:cNvPr id="55" name="Shape 49"/>
          <p:cNvSpPr/>
          <p:nvPr/>
        </p:nvSpPr>
        <p:spPr>
          <a:xfrm>
            <a:off x="502920" y="6620256"/>
            <a:ext cx="5852160" cy="1755648"/>
          </a:xfrm>
          <a:prstGeom prst="roundRect">
            <a:avLst>
              <a:gd name="adj" fmla="val 4167"/>
            </a:avLst>
          </a:prstGeom>
          <a:solidFill>
            <a:srgbClr val="F6F6F6"/>
          </a:solidFill>
          <a:ln/>
        </p:spPr>
      </p:sp>
      <p:sp>
        <p:nvSpPr>
          <p:cNvPr id="56" name="Text 50"/>
          <p:cNvSpPr txBox="1"/>
          <p:nvPr/>
        </p:nvSpPr>
        <p:spPr>
          <a:xfrm>
            <a:off x="640080" y="6693408"/>
            <a:ext cx="2377440" cy="201168"/>
          </a:xfrm>
          <a:prstGeom prst="rect">
            <a:avLst/>
          </a:prstGeom>
          <a:noFill/>
          <a:ln/>
        </p:spPr>
        <p:txBody>
          <a:bodyPr wrap="square" lIns="0" tIns="0" rIns="0" bIns="0" rtlCol="0" anchor="ctr"/>
          <a:lstStyle/>
          <a:p>
            <a:pPr algn="ctr" indent="0" marL="0">
              <a:buNone/>
            </a:pPr>
            <a:r>
              <a:rPr lang="en-US" sz="750" b="1" dirty="0">
                <a:solidFill>
                  <a:srgbClr val="262626"/>
                </a:solidFill>
              </a:rPr>
              <a:t>見聞きした程度の人（n=113）</a:t>
            </a:r>
            <a:endParaRPr lang="en-US" sz="750" dirty="0"/>
          </a:p>
        </p:txBody>
      </p:sp>
      <p:graphicFrame>
        <p:nvGraphicFramePr>
          <p:cNvPr id="57" name="Chart 2" descr=""/>
          <p:cNvGraphicFramePr/>
          <p:nvPr/>
        </p:nvGraphicFramePr>
        <p:xfrm>
          <a:off x="1234440" y="6912864"/>
          <a:ext cx="1188720" cy="1188720"/>
        </p:xfrm>
        <a:graphic xmlns:a="http://schemas.openxmlformats.org/drawingml/2006/main">
          <a:graphicData uri="http://schemas.openxmlformats.org/drawingml/2006/chart">
            <c:chart xmlns:c="http://schemas.openxmlformats.org/drawingml/2006/chart" r:id="rId5"/>
          </a:graphicData>
        </a:graphic>
      </p:graphicFrame>
      <p:sp>
        <p:nvSpPr>
          <p:cNvPr id="58" name="Text 51"/>
          <p:cNvSpPr txBox="1"/>
          <p:nvPr/>
        </p:nvSpPr>
        <p:spPr>
          <a:xfrm>
            <a:off x="1417320" y="7296912"/>
            <a:ext cx="822960" cy="420624"/>
          </a:xfrm>
          <a:prstGeom prst="rect">
            <a:avLst/>
          </a:prstGeom>
          <a:noFill/>
          <a:ln/>
        </p:spPr>
        <p:txBody>
          <a:bodyPr wrap="square" lIns="0" tIns="0" rIns="0" bIns="0" rtlCol="0" anchor="ctr"/>
          <a:lstStyle/>
          <a:p>
            <a:pPr algn="ctr" indent="0" marL="0">
              <a:buNone/>
            </a:pPr>
            <a:r>
              <a:rPr lang="en-US" sz="1050" b="1" dirty="0">
                <a:solidFill>
                  <a:srgbClr val="4A4A4A"/>
                </a:solidFill>
              </a:rPr>
              <a:t>29.2%</a:t>
            </a:r>
            <a:endParaRPr lang="en-US" sz="850" dirty="0"/>
          </a:p>
          <a:p>
            <a:pPr algn="ctr" indent="0" marL="0">
              <a:buNone/>
            </a:pPr>
            <a:r>
              <a:rPr lang="en-US" sz="550" b="1" dirty="0">
                <a:solidFill>
                  <a:srgbClr val="4A4A4A"/>
                </a:solidFill>
              </a:rPr>
              <a:t>HbA1cを重視</a:t>
            </a:r>
            <a:endParaRPr lang="en-US" sz="850" dirty="0"/>
          </a:p>
        </p:txBody>
      </p:sp>
      <p:sp>
        <p:nvSpPr>
          <p:cNvPr id="59" name="Text 52"/>
          <p:cNvSpPr txBox="1"/>
          <p:nvPr/>
        </p:nvSpPr>
        <p:spPr>
          <a:xfrm>
            <a:off x="3840480" y="6693408"/>
            <a:ext cx="2377440" cy="201168"/>
          </a:xfrm>
          <a:prstGeom prst="rect">
            <a:avLst/>
          </a:prstGeom>
          <a:noFill/>
          <a:ln/>
        </p:spPr>
        <p:txBody>
          <a:bodyPr wrap="square" lIns="0" tIns="0" rIns="0" bIns="0" rtlCol="0" anchor="ctr"/>
          <a:lstStyle/>
          <a:p>
            <a:pPr algn="ctr" indent="0" marL="0">
              <a:buNone/>
            </a:pPr>
            <a:r>
              <a:rPr lang="en-US" sz="750" b="1" dirty="0">
                <a:solidFill>
                  <a:srgbClr val="262626"/>
                </a:solidFill>
              </a:rPr>
              <a:t>内容まで知っている人（n=72）</a:t>
            </a:r>
            <a:endParaRPr lang="en-US" sz="750" dirty="0"/>
          </a:p>
        </p:txBody>
      </p:sp>
      <p:graphicFrame>
        <p:nvGraphicFramePr>
          <p:cNvPr id="60" name="Chart 3" descr=""/>
          <p:cNvGraphicFramePr/>
          <p:nvPr/>
        </p:nvGraphicFramePr>
        <p:xfrm>
          <a:off x="4434840" y="6912864"/>
          <a:ext cx="1188720" cy="1188720"/>
        </p:xfrm>
        <a:graphic xmlns:a="http://schemas.openxmlformats.org/drawingml/2006/main">
          <a:graphicData uri="http://schemas.openxmlformats.org/drawingml/2006/chart">
            <c:chart xmlns:c="http://schemas.openxmlformats.org/drawingml/2006/chart" r:id="rId6"/>
          </a:graphicData>
        </a:graphic>
      </p:graphicFrame>
      <p:sp>
        <p:nvSpPr>
          <p:cNvPr id="61" name="Text 53"/>
          <p:cNvSpPr txBox="1"/>
          <p:nvPr/>
        </p:nvSpPr>
        <p:spPr>
          <a:xfrm>
            <a:off x="4617720" y="7296912"/>
            <a:ext cx="822960" cy="420624"/>
          </a:xfrm>
          <a:prstGeom prst="rect">
            <a:avLst/>
          </a:prstGeom>
          <a:noFill/>
          <a:ln/>
        </p:spPr>
        <p:txBody>
          <a:bodyPr wrap="square" lIns="0" tIns="0" rIns="0" bIns="0" rtlCol="0" anchor="ctr"/>
          <a:lstStyle/>
          <a:p>
            <a:pPr algn="ctr" indent="0" marL="0">
              <a:buNone/>
            </a:pPr>
            <a:r>
              <a:rPr lang="en-US" sz="1050" b="1" dirty="0">
                <a:solidFill>
                  <a:srgbClr val="C8102E"/>
                </a:solidFill>
              </a:rPr>
              <a:t>70.8%</a:t>
            </a:r>
            <a:endParaRPr lang="en-US" sz="850" dirty="0"/>
          </a:p>
          <a:p>
            <a:pPr algn="ctr" indent="0" marL="0">
              <a:buNone/>
            </a:pPr>
            <a:r>
              <a:rPr lang="en-US" sz="550" b="1" dirty="0">
                <a:solidFill>
                  <a:srgbClr val="4A4A4A"/>
                </a:solidFill>
              </a:rPr>
              <a:t>HbA1cを重視</a:t>
            </a:r>
            <a:endParaRPr lang="en-US" sz="850" dirty="0"/>
          </a:p>
        </p:txBody>
      </p:sp>
      <p:sp>
        <p:nvSpPr>
          <p:cNvPr id="62" name="Shape 54"/>
          <p:cNvSpPr/>
          <p:nvPr/>
        </p:nvSpPr>
        <p:spPr>
          <a:xfrm>
            <a:off x="2834640" y="7242048"/>
            <a:ext cx="1188720" cy="502920"/>
          </a:xfrm>
          <a:prstGeom prst="rightArrow">
            <a:avLst/>
          </a:prstGeom>
          <a:solidFill>
            <a:srgbClr val="F3C9D0"/>
          </a:solidFill>
          <a:ln/>
        </p:spPr>
      </p:sp>
      <p:sp>
        <p:nvSpPr>
          <p:cNvPr id="63" name="Text 55"/>
          <p:cNvSpPr txBox="1"/>
          <p:nvPr/>
        </p:nvSpPr>
        <p:spPr>
          <a:xfrm>
            <a:off x="2834640" y="7242048"/>
            <a:ext cx="1051560" cy="502920"/>
          </a:xfrm>
          <a:prstGeom prst="rect">
            <a:avLst/>
          </a:prstGeom>
          <a:noFill/>
          <a:ln/>
        </p:spPr>
        <p:txBody>
          <a:bodyPr wrap="square" lIns="0" tIns="0" rIns="0" bIns="0" rtlCol="0" anchor="ctr"/>
          <a:lstStyle/>
          <a:p>
            <a:pPr algn="ctr" indent="0" marL="0">
              <a:buNone/>
            </a:pPr>
            <a:r>
              <a:rPr lang="en-US" sz="650" b="1" dirty="0">
                <a:solidFill>
                  <a:srgbClr val="9E0D25"/>
                </a:solidFill>
              </a:rPr>
              <a:t>意味まで知ると</a:t>
            </a:r>
            <a:endParaRPr lang="en-US" sz="650" dirty="0"/>
          </a:p>
          <a:p>
            <a:pPr algn="ctr" indent="0" marL="0">
              <a:buNone/>
            </a:pPr>
            <a:r>
              <a:rPr lang="en-US" sz="650" b="1" dirty="0">
                <a:solidFill>
                  <a:srgbClr val="9E0D25"/>
                </a:solidFill>
              </a:rPr>
              <a:t>約2.4倍に</a:t>
            </a:r>
            <a:endParaRPr lang="en-US" sz="650" dirty="0"/>
          </a:p>
        </p:txBody>
      </p:sp>
      <p:sp>
        <p:nvSpPr>
          <p:cNvPr id="64" name="Shape 56"/>
          <p:cNvSpPr/>
          <p:nvPr/>
        </p:nvSpPr>
        <p:spPr>
          <a:xfrm>
            <a:off x="2834640" y="8197596"/>
            <a:ext cx="91440" cy="91440"/>
          </a:xfrm>
          <a:prstGeom prst="ellipse">
            <a:avLst/>
          </a:prstGeom>
          <a:solidFill>
            <a:srgbClr val="C8102E"/>
          </a:solidFill>
          <a:ln/>
        </p:spPr>
      </p:sp>
      <p:sp>
        <p:nvSpPr>
          <p:cNvPr id="65" name="Text 57"/>
          <p:cNvSpPr txBox="1"/>
          <p:nvPr/>
        </p:nvSpPr>
        <p:spPr>
          <a:xfrm>
            <a:off x="2962656" y="8156448"/>
            <a:ext cx="320040" cy="173736"/>
          </a:xfrm>
          <a:prstGeom prst="rect">
            <a:avLst/>
          </a:prstGeom>
          <a:noFill/>
          <a:ln/>
        </p:spPr>
        <p:txBody>
          <a:bodyPr wrap="square" lIns="0" tIns="0" rIns="0" bIns="0" rtlCol="0" anchor="ctr"/>
          <a:lstStyle/>
          <a:p>
            <a:pPr indent="0" marL="0">
              <a:buNone/>
            </a:pPr>
            <a:r>
              <a:rPr lang="en-US" sz="650" dirty="0">
                <a:solidFill>
                  <a:srgbClr val="4A4A4A"/>
                </a:solidFill>
              </a:rPr>
              <a:t>HbA1c</a:t>
            </a:r>
            <a:endParaRPr lang="en-US" sz="650" dirty="0"/>
          </a:p>
        </p:txBody>
      </p:sp>
      <p:sp>
        <p:nvSpPr>
          <p:cNvPr id="66" name="Shape 58"/>
          <p:cNvSpPr/>
          <p:nvPr/>
        </p:nvSpPr>
        <p:spPr>
          <a:xfrm>
            <a:off x="3392424" y="8197596"/>
            <a:ext cx="91440" cy="91440"/>
          </a:xfrm>
          <a:prstGeom prst="ellipse">
            <a:avLst/>
          </a:prstGeom>
          <a:solidFill>
            <a:srgbClr val="B7C6D6"/>
          </a:solidFill>
          <a:ln/>
        </p:spPr>
      </p:sp>
      <p:sp>
        <p:nvSpPr>
          <p:cNvPr id="67" name="Text 59"/>
          <p:cNvSpPr txBox="1"/>
          <p:nvPr/>
        </p:nvSpPr>
        <p:spPr>
          <a:xfrm>
            <a:off x="3520440" y="8156448"/>
            <a:ext cx="320040" cy="173736"/>
          </a:xfrm>
          <a:prstGeom prst="rect">
            <a:avLst/>
          </a:prstGeom>
          <a:noFill/>
          <a:ln/>
        </p:spPr>
        <p:txBody>
          <a:bodyPr wrap="square" lIns="0" tIns="0" rIns="0" bIns="0" rtlCol="0" anchor="ctr"/>
          <a:lstStyle/>
          <a:p>
            <a:pPr indent="0" marL="0">
              <a:buNone/>
            </a:pPr>
            <a:r>
              <a:rPr lang="en-US" sz="650" dirty="0">
                <a:solidFill>
                  <a:srgbClr val="4A4A4A"/>
                </a:solidFill>
              </a:rPr>
              <a:t>血糖値</a:t>
            </a:r>
            <a:endParaRPr lang="en-US" sz="650" dirty="0"/>
          </a:p>
        </p:txBody>
      </p:sp>
      <p:sp>
        <p:nvSpPr>
          <p:cNvPr id="68" name="Text 60"/>
          <p:cNvSpPr txBox="1"/>
          <p:nvPr/>
        </p:nvSpPr>
        <p:spPr>
          <a:xfrm>
            <a:off x="502920" y="8458200"/>
            <a:ext cx="5852160" cy="868680"/>
          </a:xfrm>
          <a:prstGeom prst="rect">
            <a:avLst/>
          </a:prstGeom>
          <a:noFill/>
          <a:ln/>
        </p:spPr>
        <p:txBody>
          <a:bodyPr wrap="square" lIns="0" tIns="0" rIns="0" bIns="0" rtlCol="0" anchor="t"/>
          <a:lstStyle/>
          <a:p>
            <a:pPr indent="0" marL="0">
              <a:lnSpc>
                <a:spcPct val="125000"/>
              </a:lnSpc>
              <a:buNone/>
            </a:pPr>
            <a:r>
              <a:rPr lang="en-US" sz="800" dirty="0">
                <a:solidFill>
                  <a:srgbClr val="262626"/>
                </a:solidFill>
              </a:rPr>
              <a:t>　さらに、図1で見た生活者の回答を、ヘモグロビンA1cの認知度別に分けて分析すると興味深い結果が出ました。「内容まで知っている人」の70.8％はヘモグロビンA1cを重視。一方、「見聞きしたことがある程度の人」でヘモグロビンA1cを重視と回答した人は29.2％でした（図3）。ヘモグロビンA1cの認知拡大には、名称だけでなく、血糖値との違いや指標としての意味まで伝えることが重要であることがうかがえます。</a:t>
            </a:r>
            <a:endParaRPr lang="en-US" sz="800" dirty="0"/>
          </a:p>
        </p:txBody>
      </p:sp>
      <p:sp>
        <p:nvSpPr>
          <p:cNvPr id="25" name="Slide Number Placeholder 0"/>
          <p:cNvSpPr>
            <a:spLocks noGrp="1"/>
          </p:cNvSpPr>
          <p:nvPr>
            <p:ph type="sldNum" sz="quarter" idx="4294967295"/>
          </p:nvPr>
        </p:nvSpPr>
        <p:spPr>
          <a:xfrm>
            <a:off x="5897880" y="9491472"/>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7A7A7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411480"/>
            <a:ext cx="310896" cy="310896"/>
          </a:xfrm>
          <a:prstGeom prst="ellipse">
            <a:avLst/>
          </a:prstGeom>
          <a:solidFill>
            <a:srgbClr val="C8102E"/>
          </a:solid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3" name="Text 1"/>
          <p:cNvSpPr txBox="1"/>
          <p:nvPr/>
        </p:nvSpPr>
        <p:spPr>
          <a:xfrm>
            <a:off x="923544" y="411480"/>
            <a:ext cx="5431536" cy="310896"/>
          </a:xfrm>
          <a:prstGeom prst="rect">
            <a:avLst/>
          </a:prstGeom>
          <a:noFill/>
          <a:ln/>
        </p:spPr>
        <p:txBody>
          <a:bodyPr wrap="square" lIns="0" tIns="0" rIns="0" bIns="0" rtlCol="0" anchor="ctr"/>
          <a:lstStyle/>
          <a:p>
            <a:pPr indent="0" marL="0">
              <a:buNone/>
            </a:pPr>
            <a:r>
              <a:rPr lang="en-US" sz="1300" b="1" dirty="0">
                <a:solidFill>
                  <a:srgbClr val="262626"/>
                </a:solidFill>
              </a:rPr>
              <a:t>なぜ医師はHbA1cを重視するのか</a:t>
            </a:r>
            <a:endParaRPr lang="en-US" sz="1300" dirty="0"/>
          </a:p>
        </p:txBody>
      </p:sp>
      <p:sp>
        <p:nvSpPr>
          <p:cNvPr id="4" name="Text 2"/>
          <p:cNvSpPr txBox="1"/>
          <p:nvPr/>
        </p:nvSpPr>
        <p:spPr>
          <a:xfrm>
            <a:off x="502920" y="822960"/>
            <a:ext cx="5852160" cy="219456"/>
          </a:xfrm>
          <a:prstGeom prst="rect">
            <a:avLst/>
          </a:prstGeom>
          <a:noFill/>
          <a:ln/>
        </p:spPr>
        <p:txBody>
          <a:bodyPr wrap="square" lIns="0" tIns="0" rIns="0" bIns="0" rtlCol="0" anchor="ctr"/>
          <a:lstStyle/>
          <a:p>
            <a:pPr indent="0" marL="0">
              <a:buNone/>
            </a:pPr>
            <a:r>
              <a:rPr lang="en-US" sz="850" b="1" dirty="0">
                <a:solidFill>
                  <a:srgbClr val="C8102E"/>
                </a:solidFill>
              </a:rPr>
              <a:t>図4</a:t>
            </a:r>
            <a:pPr indent="0" marL="0">
              <a:buNone/>
            </a:pPr>
            <a:r>
              <a:rPr lang="en-US" sz="850" b="1" dirty="0">
                <a:solidFill>
                  <a:srgbClr val="262626"/>
                </a:solidFill>
              </a:rPr>
              <a:t>　【医師】HbA1cが重要だと思う理由は？（複数回答）</a:t>
            </a:r>
            <a:endParaRPr lang="en-US" sz="850" dirty="0"/>
          </a:p>
        </p:txBody>
      </p:sp>
      <p:sp>
        <p:nvSpPr>
          <p:cNvPr id="5" name="Shape 3"/>
          <p:cNvSpPr/>
          <p:nvPr/>
        </p:nvSpPr>
        <p:spPr>
          <a:xfrm>
            <a:off x="502920" y="1078992"/>
            <a:ext cx="5852160" cy="1463040"/>
          </a:xfrm>
          <a:prstGeom prst="roundRect">
            <a:avLst>
              <a:gd name="adj" fmla="val 5000"/>
            </a:avLst>
          </a:prstGeom>
          <a:solidFill>
            <a:srgbClr val="F6F6F6"/>
          </a:solidFill>
          <a:ln/>
        </p:spPr>
      </p:sp>
      <p:sp>
        <p:nvSpPr>
          <p:cNvPr id="6" name="Text 4"/>
          <p:cNvSpPr txBox="1"/>
          <p:nvPr/>
        </p:nvSpPr>
        <p:spPr>
          <a:xfrm>
            <a:off x="612648" y="1188720"/>
            <a:ext cx="2331720" cy="173736"/>
          </a:xfrm>
          <a:prstGeom prst="rect">
            <a:avLst/>
          </a:prstGeom>
          <a:noFill/>
          <a:ln/>
        </p:spPr>
        <p:txBody>
          <a:bodyPr wrap="square" lIns="0" tIns="0" rIns="0" bIns="0" rtlCol="0" anchor="ctr"/>
          <a:lstStyle/>
          <a:p>
            <a:pPr algn="r" indent="0" marL="0">
              <a:buNone/>
            </a:pPr>
            <a:r>
              <a:rPr lang="en-US" sz="650" b="1" dirty="0">
                <a:solidFill>
                  <a:srgbClr val="262626"/>
                </a:solidFill>
              </a:rPr>
              <a:t>過去1〜2か月の血糖状態を反映するため</a:t>
            </a:r>
            <a:endParaRPr lang="en-US" sz="650" dirty="0"/>
          </a:p>
        </p:txBody>
      </p:sp>
      <p:sp>
        <p:nvSpPr>
          <p:cNvPr id="7" name="Shape 5"/>
          <p:cNvSpPr/>
          <p:nvPr/>
        </p:nvSpPr>
        <p:spPr>
          <a:xfrm>
            <a:off x="3017520" y="1211580"/>
            <a:ext cx="2834640" cy="128016"/>
          </a:xfrm>
          <a:prstGeom prst="rect">
            <a:avLst/>
          </a:prstGeom>
          <a:solidFill>
            <a:srgbClr val="E9E9E9"/>
          </a:solidFill>
          <a:ln/>
        </p:spPr>
      </p:sp>
      <p:sp>
        <p:nvSpPr>
          <p:cNvPr id="8" name="Shape 6"/>
          <p:cNvSpPr/>
          <p:nvPr/>
        </p:nvSpPr>
        <p:spPr>
          <a:xfrm>
            <a:off x="3017520" y="1211580"/>
            <a:ext cx="2327239" cy="128016"/>
          </a:xfrm>
          <a:prstGeom prst="rect">
            <a:avLst/>
          </a:prstGeom>
          <a:solidFill>
            <a:srgbClr val="C8102E"/>
          </a:solidFill>
          <a:ln/>
        </p:spPr>
      </p:sp>
      <p:sp>
        <p:nvSpPr>
          <p:cNvPr id="9" name="Text 7"/>
          <p:cNvSpPr txBox="1"/>
          <p:nvPr/>
        </p:nvSpPr>
        <p:spPr>
          <a:xfrm>
            <a:off x="5390479" y="1188720"/>
            <a:ext cx="457200" cy="173736"/>
          </a:xfrm>
          <a:prstGeom prst="rect">
            <a:avLst/>
          </a:prstGeom>
          <a:noFill/>
          <a:ln/>
        </p:spPr>
        <p:txBody>
          <a:bodyPr wrap="square" lIns="0" tIns="0" rIns="0" bIns="0" rtlCol="0" anchor="ctr"/>
          <a:lstStyle/>
          <a:p>
            <a:pPr indent="0" marL="0">
              <a:buNone/>
            </a:pPr>
            <a:r>
              <a:rPr lang="en-US" sz="700" b="1" dirty="0">
                <a:solidFill>
                  <a:srgbClr val="C8102E"/>
                </a:solidFill>
              </a:rPr>
              <a:t>82.1%</a:t>
            </a:r>
            <a:endParaRPr lang="en-US" sz="700" dirty="0"/>
          </a:p>
        </p:txBody>
      </p:sp>
      <p:sp>
        <p:nvSpPr>
          <p:cNvPr id="10" name="Text 8"/>
          <p:cNvSpPr txBox="1"/>
          <p:nvPr/>
        </p:nvSpPr>
        <p:spPr>
          <a:xfrm>
            <a:off x="612648" y="1403604"/>
            <a:ext cx="2331720" cy="173736"/>
          </a:xfrm>
          <a:prstGeom prst="rect">
            <a:avLst/>
          </a:prstGeom>
          <a:noFill/>
          <a:ln/>
        </p:spPr>
        <p:txBody>
          <a:bodyPr wrap="square" lIns="0" tIns="0" rIns="0" bIns="0" rtlCol="0" anchor="ctr"/>
          <a:lstStyle/>
          <a:p>
            <a:pPr algn="r" indent="0" marL="0">
              <a:buNone/>
            </a:pPr>
            <a:r>
              <a:rPr lang="en-US" sz="650" b="1" dirty="0">
                <a:solidFill>
                  <a:srgbClr val="262626"/>
                </a:solidFill>
              </a:rPr>
              <a:t>検査当日の食事の影響を受けにくいため</a:t>
            </a:r>
            <a:endParaRPr lang="en-US" sz="650" dirty="0"/>
          </a:p>
        </p:txBody>
      </p:sp>
      <p:sp>
        <p:nvSpPr>
          <p:cNvPr id="11" name="Shape 9"/>
          <p:cNvSpPr/>
          <p:nvPr/>
        </p:nvSpPr>
        <p:spPr>
          <a:xfrm>
            <a:off x="3017520" y="1426464"/>
            <a:ext cx="2834640" cy="128016"/>
          </a:xfrm>
          <a:prstGeom prst="rect">
            <a:avLst/>
          </a:prstGeom>
          <a:solidFill>
            <a:srgbClr val="E9E9E9"/>
          </a:solidFill>
          <a:ln/>
        </p:spPr>
      </p:sp>
      <p:sp>
        <p:nvSpPr>
          <p:cNvPr id="12" name="Shape 10"/>
          <p:cNvSpPr/>
          <p:nvPr/>
        </p:nvSpPr>
        <p:spPr>
          <a:xfrm>
            <a:off x="3017520" y="1426464"/>
            <a:ext cx="1760311" cy="128016"/>
          </a:xfrm>
          <a:prstGeom prst="rect">
            <a:avLst/>
          </a:prstGeom>
          <a:solidFill>
            <a:srgbClr val="C8102E"/>
          </a:solidFill>
          <a:ln/>
        </p:spPr>
      </p:sp>
      <p:sp>
        <p:nvSpPr>
          <p:cNvPr id="13" name="Text 11"/>
          <p:cNvSpPr txBox="1"/>
          <p:nvPr/>
        </p:nvSpPr>
        <p:spPr>
          <a:xfrm>
            <a:off x="4823551" y="1403604"/>
            <a:ext cx="457200" cy="173736"/>
          </a:xfrm>
          <a:prstGeom prst="rect">
            <a:avLst/>
          </a:prstGeom>
          <a:noFill/>
          <a:ln/>
        </p:spPr>
        <p:txBody>
          <a:bodyPr wrap="square" lIns="0" tIns="0" rIns="0" bIns="0" rtlCol="0" anchor="ctr"/>
          <a:lstStyle/>
          <a:p>
            <a:pPr indent="0" marL="0">
              <a:buNone/>
            </a:pPr>
            <a:r>
              <a:rPr lang="en-US" sz="700" b="1" dirty="0">
                <a:solidFill>
                  <a:srgbClr val="C8102E"/>
                </a:solidFill>
              </a:rPr>
              <a:t>62.1%</a:t>
            </a:r>
            <a:endParaRPr lang="en-US" sz="700" dirty="0"/>
          </a:p>
        </p:txBody>
      </p:sp>
      <p:sp>
        <p:nvSpPr>
          <p:cNvPr id="14" name="Text 12"/>
          <p:cNvSpPr txBox="1"/>
          <p:nvPr/>
        </p:nvSpPr>
        <p:spPr>
          <a:xfrm>
            <a:off x="612648" y="1618488"/>
            <a:ext cx="2331720" cy="173736"/>
          </a:xfrm>
          <a:prstGeom prst="rect">
            <a:avLst/>
          </a:prstGeom>
          <a:noFill/>
          <a:ln/>
        </p:spPr>
        <p:txBody>
          <a:bodyPr wrap="square" lIns="0" tIns="0" rIns="0" bIns="0" rtlCol="0" anchor="ctr"/>
          <a:lstStyle/>
          <a:p>
            <a:pPr algn="r" indent="0" marL="0">
              <a:buNone/>
            </a:pPr>
            <a:r>
              <a:rPr lang="en-US" sz="650" b="1" dirty="0">
                <a:solidFill>
                  <a:srgbClr val="262626"/>
                </a:solidFill>
              </a:rPr>
              <a:t>糖尿病の診断基準に用いられているため</a:t>
            </a:r>
            <a:endParaRPr lang="en-US" sz="650" dirty="0"/>
          </a:p>
        </p:txBody>
      </p:sp>
      <p:sp>
        <p:nvSpPr>
          <p:cNvPr id="15" name="Shape 13"/>
          <p:cNvSpPr/>
          <p:nvPr/>
        </p:nvSpPr>
        <p:spPr>
          <a:xfrm>
            <a:off x="3017520" y="1641348"/>
            <a:ext cx="2834640" cy="128016"/>
          </a:xfrm>
          <a:prstGeom prst="rect">
            <a:avLst/>
          </a:prstGeom>
          <a:solidFill>
            <a:srgbClr val="E9E9E9"/>
          </a:solidFill>
          <a:ln/>
        </p:spPr>
      </p:sp>
      <p:sp>
        <p:nvSpPr>
          <p:cNvPr id="16" name="Shape 14"/>
          <p:cNvSpPr/>
          <p:nvPr/>
        </p:nvSpPr>
        <p:spPr>
          <a:xfrm>
            <a:off x="3017520" y="1641348"/>
            <a:ext cx="1349289" cy="128016"/>
          </a:xfrm>
          <a:prstGeom prst="rect">
            <a:avLst/>
          </a:prstGeom>
          <a:solidFill>
            <a:srgbClr val="C8102E"/>
          </a:solidFill>
          <a:ln/>
        </p:spPr>
      </p:sp>
      <p:sp>
        <p:nvSpPr>
          <p:cNvPr id="17" name="Text 15"/>
          <p:cNvSpPr txBox="1"/>
          <p:nvPr/>
        </p:nvSpPr>
        <p:spPr>
          <a:xfrm>
            <a:off x="4412529" y="1618488"/>
            <a:ext cx="457200" cy="173736"/>
          </a:xfrm>
          <a:prstGeom prst="rect">
            <a:avLst/>
          </a:prstGeom>
          <a:noFill/>
          <a:ln/>
        </p:spPr>
        <p:txBody>
          <a:bodyPr wrap="square" lIns="0" tIns="0" rIns="0" bIns="0" rtlCol="0" anchor="ctr"/>
          <a:lstStyle/>
          <a:p>
            <a:pPr indent="0" marL="0">
              <a:buNone/>
            </a:pPr>
            <a:r>
              <a:rPr lang="en-US" sz="700" b="1" dirty="0">
                <a:solidFill>
                  <a:srgbClr val="C8102E"/>
                </a:solidFill>
              </a:rPr>
              <a:t>47.6%</a:t>
            </a:r>
            <a:endParaRPr lang="en-US" sz="700" dirty="0"/>
          </a:p>
        </p:txBody>
      </p:sp>
      <p:sp>
        <p:nvSpPr>
          <p:cNvPr id="18" name="Text 16"/>
          <p:cNvSpPr txBox="1"/>
          <p:nvPr/>
        </p:nvSpPr>
        <p:spPr>
          <a:xfrm>
            <a:off x="612648" y="1833372"/>
            <a:ext cx="2331720" cy="173736"/>
          </a:xfrm>
          <a:prstGeom prst="rect">
            <a:avLst/>
          </a:prstGeom>
          <a:noFill/>
          <a:ln/>
        </p:spPr>
        <p:txBody>
          <a:bodyPr wrap="square" lIns="0" tIns="0" rIns="0" bIns="0" rtlCol="0" anchor="ctr"/>
          <a:lstStyle/>
          <a:p>
            <a:pPr algn="r" indent="0" marL="0">
              <a:buNone/>
            </a:pPr>
            <a:r>
              <a:rPr lang="en-US" sz="650" dirty="0">
                <a:solidFill>
                  <a:srgbClr val="262626"/>
                </a:solidFill>
              </a:rPr>
              <a:t>血糖値では「予備群」を見落としてしまうため</a:t>
            </a:r>
            <a:endParaRPr lang="en-US" sz="650" dirty="0"/>
          </a:p>
        </p:txBody>
      </p:sp>
      <p:sp>
        <p:nvSpPr>
          <p:cNvPr id="19" name="Shape 17"/>
          <p:cNvSpPr/>
          <p:nvPr/>
        </p:nvSpPr>
        <p:spPr>
          <a:xfrm>
            <a:off x="3017520" y="1856232"/>
            <a:ext cx="2834640" cy="128016"/>
          </a:xfrm>
          <a:prstGeom prst="rect">
            <a:avLst/>
          </a:prstGeom>
          <a:solidFill>
            <a:srgbClr val="E9E9E9"/>
          </a:solidFill>
          <a:ln/>
        </p:spPr>
      </p:sp>
      <p:sp>
        <p:nvSpPr>
          <p:cNvPr id="20" name="Shape 18"/>
          <p:cNvSpPr/>
          <p:nvPr/>
        </p:nvSpPr>
        <p:spPr>
          <a:xfrm>
            <a:off x="3017520" y="1856232"/>
            <a:ext cx="1031809" cy="128016"/>
          </a:xfrm>
          <a:prstGeom prst="rect">
            <a:avLst/>
          </a:prstGeom>
          <a:solidFill>
            <a:srgbClr val="F3C9D0"/>
          </a:solidFill>
          <a:ln/>
        </p:spPr>
      </p:sp>
      <p:sp>
        <p:nvSpPr>
          <p:cNvPr id="21" name="Text 19"/>
          <p:cNvSpPr txBox="1"/>
          <p:nvPr/>
        </p:nvSpPr>
        <p:spPr>
          <a:xfrm>
            <a:off x="4095049" y="1833372"/>
            <a:ext cx="457200" cy="173736"/>
          </a:xfrm>
          <a:prstGeom prst="rect">
            <a:avLst/>
          </a:prstGeom>
          <a:noFill/>
          <a:ln/>
        </p:spPr>
        <p:txBody>
          <a:bodyPr wrap="square" lIns="0" tIns="0" rIns="0" bIns="0" rtlCol="0" anchor="ctr"/>
          <a:lstStyle/>
          <a:p>
            <a:pPr indent="0" marL="0">
              <a:buNone/>
            </a:pPr>
            <a:r>
              <a:rPr lang="en-US" sz="700" b="1" dirty="0">
                <a:solidFill>
                  <a:srgbClr val="4A4A4A"/>
                </a:solidFill>
              </a:rPr>
              <a:t>36.4%</a:t>
            </a:r>
            <a:endParaRPr lang="en-US" sz="700" dirty="0"/>
          </a:p>
        </p:txBody>
      </p:sp>
      <p:sp>
        <p:nvSpPr>
          <p:cNvPr id="22" name="Text 20"/>
          <p:cNvSpPr txBox="1"/>
          <p:nvPr/>
        </p:nvSpPr>
        <p:spPr>
          <a:xfrm>
            <a:off x="612648" y="2048256"/>
            <a:ext cx="2331720" cy="173736"/>
          </a:xfrm>
          <a:prstGeom prst="rect">
            <a:avLst/>
          </a:prstGeom>
          <a:noFill/>
          <a:ln/>
        </p:spPr>
        <p:txBody>
          <a:bodyPr wrap="square" lIns="0" tIns="0" rIns="0" bIns="0" rtlCol="0" anchor="ctr"/>
          <a:lstStyle/>
          <a:p>
            <a:pPr algn="r" indent="0" marL="0">
              <a:buNone/>
            </a:pPr>
            <a:r>
              <a:rPr lang="en-US" sz="650" dirty="0">
                <a:solidFill>
                  <a:srgbClr val="262626"/>
                </a:solidFill>
              </a:rPr>
              <a:t>糖尿病になる前からの生活習慣改善を促せるため</a:t>
            </a:r>
            <a:endParaRPr lang="en-US" sz="650" dirty="0"/>
          </a:p>
        </p:txBody>
      </p:sp>
      <p:sp>
        <p:nvSpPr>
          <p:cNvPr id="23" name="Shape 21"/>
          <p:cNvSpPr/>
          <p:nvPr/>
        </p:nvSpPr>
        <p:spPr>
          <a:xfrm>
            <a:off x="3017520" y="2071116"/>
            <a:ext cx="2834640" cy="128016"/>
          </a:xfrm>
          <a:prstGeom prst="rect">
            <a:avLst/>
          </a:prstGeom>
          <a:solidFill>
            <a:srgbClr val="E9E9E9"/>
          </a:solidFill>
          <a:ln/>
        </p:spPr>
      </p:sp>
      <p:sp>
        <p:nvSpPr>
          <p:cNvPr id="24" name="Shape 22"/>
          <p:cNvSpPr/>
          <p:nvPr/>
        </p:nvSpPr>
        <p:spPr>
          <a:xfrm>
            <a:off x="3017520" y="2071116"/>
            <a:ext cx="952439" cy="128016"/>
          </a:xfrm>
          <a:prstGeom prst="rect">
            <a:avLst/>
          </a:prstGeom>
          <a:solidFill>
            <a:srgbClr val="F3C9D0"/>
          </a:solidFill>
          <a:ln/>
        </p:spPr>
      </p:sp>
      <p:sp>
        <p:nvSpPr>
          <p:cNvPr id="25" name="Text 23"/>
          <p:cNvSpPr txBox="1"/>
          <p:nvPr/>
        </p:nvSpPr>
        <p:spPr>
          <a:xfrm>
            <a:off x="4015679" y="2048256"/>
            <a:ext cx="457200" cy="173736"/>
          </a:xfrm>
          <a:prstGeom prst="rect">
            <a:avLst/>
          </a:prstGeom>
          <a:noFill/>
          <a:ln/>
        </p:spPr>
        <p:txBody>
          <a:bodyPr wrap="square" lIns="0" tIns="0" rIns="0" bIns="0" rtlCol="0" anchor="ctr"/>
          <a:lstStyle/>
          <a:p>
            <a:pPr indent="0" marL="0">
              <a:buNone/>
            </a:pPr>
            <a:r>
              <a:rPr lang="en-US" sz="700" b="1" dirty="0">
                <a:solidFill>
                  <a:srgbClr val="4A4A4A"/>
                </a:solidFill>
              </a:rPr>
              <a:t>33.6%</a:t>
            </a:r>
            <a:endParaRPr lang="en-US" sz="700" dirty="0"/>
          </a:p>
        </p:txBody>
      </p:sp>
      <p:sp>
        <p:nvSpPr>
          <p:cNvPr id="26" name="Text 24"/>
          <p:cNvSpPr txBox="1"/>
          <p:nvPr/>
        </p:nvSpPr>
        <p:spPr>
          <a:xfrm>
            <a:off x="612648" y="2263140"/>
            <a:ext cx="2331720" cy="173736"/>
          </a:xfrm>
          <a:prstGeom prst="rect">
            <a:avLst/>
          </a:prstGeom>
          <a:noFill/>
          <a:ln/>
        </p:spPr>
        <p:txBody>
          <a:bodyPr wrap="square" lIns="0" tIns="0" rIns="0" bIns="0" rtlCol="0" anchor="ctr"/>
          <a:lstStyle/>
          <a:p>
            <a:pPr algn="r" indent="0" marL="0">
              <a:buNone/>
            </a:pPr>
            <a:r>
              <a:rPr lang="en-US" sz="650" dirty="0">
                <a:solidFill>
                  <a:srgbClr val="262626"/>
                </a:solidFill>
              </a:rPr>
              <a:t>手術後の経過に関係するため</a:t>
            </a:r>
            <a:endParaRPr lang="en-US" sz="650" dirty="0"/>
          </a:p>
        </p:txBody>
      </p:sp>
      <p:sp>
        <p:nvSpPr>
          <p:cNvPr id="27" name="Shape 25"/>
          <p:cNvSpPr/>
          <p:nvPr/>
        </p:nvSpPr>
        <p:spPr>
          <a:xfrm>
            <a:off x="3017520" y="2286000"/>
            <a:ext cx="2834640" cy="128016"/>
          </a:xfrm>
          <a:prstGeom prst="rect">
            <a:avLst/>
          </a:prstGeom>
          <a:solidFill>
            <a:srgbClr val="E9E9E9"/>
          </a:solidFill>
          <a:ln/>
        </p:spPr>
      </p:sp>
      <p:sp>
        <p:nvSpPr>
          <p:cNvPr id="28" name="Shape 26"/>
          <p:cNvSpPr/>
          <p:nvPr/>
        </p:nvSpPr>
        <p:spPr>
          <a:xfrm>
            <a:off x="3017520" y="2286000"/>
            <a:ext cx="317480" cy="128016"/>
          </a:xfrm>
          <a:prstGeom prst="rect">
            <a:avLst/>
          </a:prstGeom>
          <a:solidFill>
            <a:srgbClr val="F3C9D0"/>
          </a:solidFill>
          <a:ln/>
        </p:spPr>
      </p:sp>
      <p:sp>
        <p:nvSpPr>
          <p:cNvPr id="29" name="Text 27"/>
          <p:cNvSpPr txBox="1"/>
          <p:nvPr/>
        </p:nvSpPr>
        <p:spPr>
          <a:xfrm>
            <a:off x="3380720" y="2263140"/>
            <a:ext cx="457200" cy="173736"/>
          </a:xfrm>
          <a:prstGeom prst="rect">
            <a:avLst/>
          </a:prstGeom>
          <a:noFill/>
          <a:ln/>
        </p:spPr>
        <p:txBody>
          <a:bodyPr wrap="square" lIns="0" tIns="0" rIns="0" bIns="0" rtlCol="0" anchor="ctr"/>
          <a:lstStyle/>
          <a:p>
            <a:pPr indent="0" marL="0">
              <a:buNone/>
            </a:pPr>
            <a:r>
              <a:rPr lang="en-US" sz="700" b="1" dirty="0">
                <a:solidFill>
                  <a:srgbClr val="4A4A4A"/>
                </a:solidFill>
              </a:rPr>
              <a:t>11.2%</a:t>
            </a:r>
            <a:endParaRPr lang="en-US" sz="700" dirty="0"/>
          </a:p>
        </p:txBody>
      </p:sp>
      <p:sp>
        <p:nvSpPr>
          <p:cNvPr id="30" name="Text 28"/>
          <p:cNvSpPr txBox="1"/>
          <p:nvPr/>
        </p:nvSpPr>
        <p:spPr>
          <a:xfrm>
            <a:off x="502920" y="2560320"/>
            <a:ext cx="5852160" cy="146304"/>
          </a:xfrm>
          <a:prstGeom prst="rect">
            <a:avLst/>
          </a:prstGeom>
          <a:noFill/>
          <a:ln/>
        </p:spPr>
        <p:txBody>
          <a:bodyPr wrap="square" lIns="0" tIns="0" rIns="0" bIns="0" rtlCol="0" anchor="t"/>
          <a:lstStyle/>
          <a:p>
            <a:pPr algn="r" indent="0" marL="0">
              <a:buNone/>
            </a:pPr>
            <a:r>
              <a:rPr lang="en-US" sz="650" dirty="0">
                <a:solidFill>
                  <a:srgbClr val="7A7A7A"/>
                </a:solidFill>
              </a:rPr>
              <a:t>n=330（HbA1cを重要と回答した医師）</a:t>
            </a:r>
            <a:endParaRPr lang="en-US" sz="650" dirty="0"/>
          </a:p>
        </p:txBody>
      </p:sp>
      <p:sp>
        <p:nvSpPr>
          <p:cNvPr id="31" name="Text 29"/>
          <p:cNvSpPr txBox="1"/>
          <p:nvPr/>
        </p:nvSpPr>
        <p:spPr>
          <a:xfrm>
            <a:off x="502920" y="2743200"/>
            <a:ext cx="5852160" cy="548640"/>
          </a:xfrm>
          <a:prstGeom prst="rect">
            <a:avLst/>
          </a:prstGeom>
          <a:noFill/>
          <a:ln/>
        </p:spPr>
        <p:txBody>
          <a:bodyPr wrap="square" lIns="0" tIns="0" rIns="0" bIns="0" rtlCol="0" anchor="t"/>
          <a:lstStyle/>
          <a:p>
            <a:pPr indent="0" marL="0">
              <a:lnSpc>
                <a:spcPct val="125000"/>
              </a:lnSpc>
              <a:buNone/>
            </a:pPr>
            <a:r>
              <a:rPr lang="en-US" sz="800" dirty="0">
                <a:solidFill>
                  <a:srgbClr val="262626"/>
                </a:solidFill>
              </a:rPr>
              <a:t>　医師がヘモグロビンA1cを重視する理由を複数回答で選んでもらいました（図4）。最も多かったのは「過去1〜2か月の血糖状態を反映するため（82.1％）」、続いて「検査当日の食事の影響を受けにくいため（62.1％）」「糖尿病の診断基準に用いられているため（47.6％）」でした。</a:t>
            </a:r>
            <a:endParaRPr lang="en-US" sz="800" dirty="0"/>
          </a:p>
        </p:txBody>
      </p:sp>
      <p:sp>
        <p:nvSpPr>
          <p:cNvPr id="32" name="Text 30"/>
          <p:cNvSpPr txBox="1"/>
          <p:nvPr/>
        </p:nvSpPr>
        <p:spPr>
          <a:xfrm>
            <a:off x="502920" y="3383280"/>
            <a:ext cx="310896" cy="310896"/>
          </a:xfrm>
          <a:prstGeom prst="ellipse">
            <a:avLst/>
          </a:prstGeom>
          <a:solidFill>
            <a:srgbClr val="C8102E"/>
          </a:solid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33" name="Text 31"/>
          <p:cNvSpPr txBox="1"/>
          <p:nvPr/>
        </p:nvSpPr>
        <p:spPr>
          <a:xfrm>
            <a:off x="923544" y="3383280"/>
            <a:ext cx="5431536" cy="310896"/>
          </a:xfrm>
          <a:prstGeom prst="rect">
            <a:avLst/>
          </a:prstGeom>
          <a:noFill/>
          <a:ln/>
        </p:spPr>
        <p:txBody>
          <a:bodyPr wrap="square" lIns="0" tIns="0" rIns="0" bIns="0" rtlCol="0" anchor="ctr"/>
          <a:lstStyle/>
          <a:p>
            <a:pPr indent="0" marL="0">
              <a:buNone/>
            </a:pPr>
            <a:r>
              <a:rPr lang="en-US" sz="1300" b="1" dirty="0">
                <a:solidFill>
                  <a:srgbClr val="262626"/>
                </a:solidFill>
              </a:rPr>
              <a:t>「血糖値」と「ヘモグロビンA1c」は何が違う？</a:t>
            </a:r>
            <a:endParaRPr lang="en-US" sz="1300" dirty="0"/>
          </a:p>
        </p:txBody>
      </p:sp>
      <p:sp>
        <p:nvSpPr>
          <p:cNvPr id="34" name="Shape 32"/>
          <p:cNvSpPr/>
          <p:nvPr/>
        </p:nvSpPr>
        <p:spPr>
          <a:xfrm>
            <a:off x="502920" y="3785616"/>
            <a:ext cx="2852928" cy="3255264"/>
          </a:xfrm>
          <a:prstGeom prst="roundRect">
            <a:avLst>
              <a:gd name="adj" fmla="val 2564"/>
            </a:avLst>
          </a:prstGeom>
          <a:solidFill>
            <a:srgbClr val="EDF2F7"/>
          </a:solidFill>
          <a:ln/>
        </p:spPr>
      </p:sp>
      <p:sp>
        <p:nvSpPr>
          <p:cNvPr id="35" name="Text 33"/>
          <p:cNvSpPr txBox="1"/>
          <p:nvPr/>
        </p:nvSpPr>
        <p:spPr>
          <a:xfrm>
            <a:off x="667512" y="3895344"/>
            <a:ext cx="1828800" cy="274320"/>
          </a:xfrm>
          <a:prstGeom prst="rect">
            <a:avLst/>
          </a:prstGeom>
          <a:noFill/>
          <a:ln/>
        </p:spPr>
        <p:txBody>
          <a:bodyPr wrap="square" lIns="0" tIns="0" rIns="0" bIns="0" rtlCol="0" anchor="ctr"/>
          <a:lstStyle/>
          <a:p>
            <a:pPr indent="0" marL="0">
              <a:buNone/>
            </a:pPr>
            <a:r>
              <a:rPr lang="en-US" sz="1300" b="1" dirty="0">
                <a:solidFill>
                  <a:srgbClr val="46688C"/>
                </a:solidFill>
              </a:rPr>
              <a:t>血糖値</a:t>
            </a:r>
            <a:endParaRPr lang="en-US" sz="1300" dirty="0"/>
          </a:p>
        </p:txBody>
      </p:sp>
      <p:sp>
        <p:nvSpPr>
          <p:cNvPr id="36" name="Text 34"/>
          <p:cNvSpPr txBox="1"/>
          <p:nvPr/>
        </p:nvSpPr>
        <p:spPr>
          <a:xfrm>
            <a:off x="1965960" y="3922776"/>
            <a:ext cx="1234440" cy="219456"/>
          </a:xfrm>
          <a:prstGeom prst="roundRect">
            <a:avLst>
              <a:gd name="adj" fmla="val 50000"/>
            </a:avLst>
          </a:prstGeom>
          <a:solidFill>
            <a:srgbClr val="46688C"/>
          </a:solidFill>
          <a:ln/>
        </p:spPr>
        <p:txBody>
          <a:bodyPr wrap="square" lIns="0" tIns="0" rIns="0" bIns="0" rtlCol="0" anchor="ctr"/>
          <a:lstStyle/>
          <a:p>
            <a:pPr algn="ctr" indent="0" marL="0">
              <a:buNone/>
            </a:pPr>
            <a:r>
              <a:rPr lang="en-US" sz="700" b="1" dirty="0">
                <a:solidFill>
                  <a:srgbClr val="FFFFFF"/>
                </a:solidFill>
              </a:rPr>
              <a:t>1日の中でも変動する</a:t>
            </a:r>
            <a:endParaRPr lang="en-US" sz="700" dirty="0"/>
          </a:p>
        </p:txBody>
      </p:sp>
      <p:sp>
        <p:nvSpPr>
          <p:cNvPr id="37" name="Text 35"/>
          <p:cNvSpPr txBox="1"/>
          <p:nvPr/>
        </p:nvSpPr>
        <p:spPr>
          <a:xfrm>
            <a:off x="667512" y="4206240"/>
            <a:ext cx="2560320" cy="201168"/>
          </a:xfrm>
          <a:prstGeom prst="rect">
            <a:avLst/>
          </a:prstGeom>
          <a:noFill/>
          <a:ln/>
        </p:spPr>
        <p:txBody>
          <a:bodyPr wrap="square" lIns="0" tIns="0" rIns="0" bIns="0" rtlCol="0" anchor="ctr"/>
          <a:lstStyle/>
          <a:p>
            <a:pPr indent="0" marL="0">
              <a:buNone/>
            </a:pPr>
            <a:r>
              <a:rPr lang="en-US" sz="850" b="1" dirty="0">
                <a:solidFill>
                  <a:srgbClr val="262626"/>
                </a:solidFill>
              </a:rPr>
              <a:t>採血した“瞬間”の血糖の量</a:t>
            </a:r>
            <a:endParaRPr lang="en-US" sz="850" dirty="0"/>
          </a:p>
        </p:txBody>
      </p:sp>
      <p:sp>
        <p:nvSpPr>
          <p:cNvPr id="38" name="Shape 36"/>
          <p:cNvSpPr/>
          <p:nvPr/>
        </p:nvSpPr>
        <p:spPr>
          <a:xfrm>
            <a:off x="667512" y="4462272"/>
            <a:ext cx="2523744" cy="786384"/>
          </a:xfrm>
          <a:prstGeom prst="rect">
            <a:avLst/>
          </a:prstGeom>
          <a:solidFill>
            <a:srgbClr val="FFFFFF"/>
          </a:solidFill>
          <a:ln/>
        </p:spPr>
      </p:sp>
      <p:sp>
        <p:nvSpPr>
          <p:cNvPr id="39" name="Shape 37"/>
          <p:cNvSpPr/>
          <p:nvPr/>
        </p:nvSpPr>
        <p:spPr>
          <a:xfrm>
            <a:off x="667512" y="4462272"/>
            <a:ext cx="2523744" cy="786384"/>
          </a:xfrm>
          <a:custGeom>
            <a:avLst/>
            <a:gdLst/>
            <a:ahLst/>
            <a:cxnLst/>
            <a:rect l="l" t="t" r="r" b="b"/>
            <a:pathLst>
              <a:path w="2523744" h="786384">
                <a:moveTo>
                  <a:pt x="73152" y="566928"/>
                </a:moveTo>
                <a:cubicBezTo>
                  <a:pt x="106680" y="560832"/>
                  <a:pt x="202692" y="603504"/>
                  <a:pt x="274320" y="530352"/>
                </a:cubicBezTo>
                <a:cubicBezTo>
                  <a:pt x="345948" y="457200"/>
                  <a:pt x="426720" y="131064"/>
                  <a:pt x="502920" y="128016"/>
                </a:cubicBezTo>
                <a:cubicBezTo>
                  <a:pt x="579120" y="124968"/>
                  <a:pt x="655320" y="435864"/>
                  <a:pt x="731520" y="512064"/>
                </a:cubicBezTo>
                <a:cubicBezTo>
                  <a:pt x="807720" y="588264"/>
                  <a:pt x="871728" y="640080"/>
                  <a:pt x="960120" y="585216"/>
                </a:cubicBezTo>
                <a:cubicBezTo>
                  <a:pt x="1048512" y="530352"/>
                  <a:pt x="1170432" y="188976"/>
                  <a:pt x="1261872" y="182880"/>
                </a:cubicBezTo>
                <a:cubicBezTo>
                  <a:pt x="1353312" y="176784"/>
                  <a:pt x="1429512" y="478536"/>
                  <a:pt x="1508760" y="548640"/>
                </a:cubicBezTo>
                <a:cubicBezTo>
                  <a:pt x="1588008" y="618744"/>
                  <a:pt x="1652016" y="669036"/>
                  <a:pt x="1737360" y="603504"/>
                </a:cubicBezTo>
                <a:cubicBezTo>
                  <a:pt x="1822704" y="537972"/>
                  <a:pt x="1929384" y="164592"/>
                  <a:pt x="2020824" y="155448"/>
                </a:cubicBezTo>
                <a:cubicBezTo>
                  <a:pt x="2112264" y="146304"/>
                  <a:pt x="2214372" y="478536"/>
                  <a:pt x="2286000" y="548640"/>
                </a:cubicBezTo>
                <a:cubicBezTo>
                  <a:pt x="2357628" y="618744"/>
                  <a:pt x="2423160" y="571500"/>
                  <a:pt x="2450592" y="576072"/>
                </a:cubicBezTo>
              </a:path>
            </a:pathLst>
          </a:custGeom>
          <a:ln w="25400">
            <a:solidFill>
              <a:srgbClr val="46688C"/>
            </a:solidFill>
            <a:prstDash val="solid"/>
          </a:ln>
        </p:spPr>
      </p:sp>
      <p:sp>
        <p:nvSpPr>
          <p:cNvPr id="40" name="Text 38"/>
          <p:cNvSpPr txBox="1"/>
          <p:nvPr/>
        </p:nvSpPr>
        <p:spPr>
          <a:xfrm>
            <a:off x="941832" y="5084064"/>
            <a:ext cx="457200" cy="137160"/>
          </a:xfrm>
          <a:prstGeom prst="rect">
            <a:avLst/>
          </a:prstGeom>
          <a:noFill/>
          <a:ln/>
        </p:spPr>
        <p:txBody>
          <a:bodyPr wrap="square" lIns="0" tIns="0" rIns="0" bIns="0" rtlCol="0" anchor="ctr"/>
          <a:lstStyle/>
          <a:p>
            <a:pPr algn="ctr" indent="0" marL="0">
              <a:buNone/>
            </a:pPr>
            <a:r>
              <a:rPr lang="en-US" sz="600" dirty="0">
                <a:solidFill>
                  <a:srgbClr val="7A7A7A"/>
                </a:solidFill>
              </a:rPr>
              <a:t>朝食</a:t>
            </a:r>
            <a:endParaRPr lang="en-US" sz="600" dirty="0"/>
          </a:p>
        </p:txBody>
      </p:sp>
      <p:sp>
        <p:nvSpPr>
          <p:cNvPr id="41" name="Text 39"/>
          <p:cNvSpPr txBox="1"/>
          <p:nvPr/>
        </p:nvSpPr>
        <p:spPr>
          <a:xfrm>
            <a:off x="1700784" y="5084064"/>
            <a:ext cx="457200" cy="137160"/>
          </a:xfrm>
          <a:prstGeom prst="rect">
            <a:avLst/>
          </a:prstGeom>
          <a:noFill/>
          <a:ln/>
        </p:spPr>
        <p:txBody>
          <a:bodyPr wrap="square" lIns="0" tIns="0" rIns="0" bIns="0" rtlCol="0" anchor="ctr"/>
          <a:lstStyle/>
          <a:p>
            <a:pPr algn="ctr" indent="0" marL="0">
              <a:buNone/>
            </a:pPr>
            <a:r>
              <a:rPr lang="en-US" sz="600" dirty="0">
                <a:solidFill>
                  <a:srgbClr val="7A7A7A"/>
                </a:solidFill>
              </a:rPr>
              <a:t>昼食</a:t>
            </a:r>
            <a:endParaRPr lang="en-US" sz="600" dirty="0"/>
          </a:p>
        </p:txBody>
      </p:sp>
      <p:sp>
        <p:nvSpPr>
          <p:cNvPr id="42" name="Text 40"/>
          <p:cNvSpPr txBox="1"/>
          <p:nvPr/>
        </p:nvSpPr>
        <p:spPr>
          <a:xfrm>
            <a:off x="2459736" y="5084064"/>
            <a:ext cx="457200" cy="137160"/>
          </a:xfrm>
          <a:prstGeom prst="rect">
            <a:avLst/>
          </a:prstGeom>
          <a:noFill/>
          <a:ln/>
        </p:spPr>
        <p:txBody>
          <a:bodyPr wrap="square" lIns="0" tIns="0" rIns="0" bIns="0" rtlCol="0" anchor="ctr"/>
          <a:lstStyle/>
          <a:p>
            <a:pPr algn="ctr" indent="0" marL="0">
              <a:buNone/>
            </a:pPr>
            <a:r>
              <a:rPr lang="en-US" sz="600" dirty="0">
                <a:solidFill>
                  <a:srgbClr val="7A7A7A"/>
                </a:solidFill>
              </a:rPr>
              <a:t>夕食</a:t>
            </a:r>
            <a:endParaRPr lang="en-US" sz="600" dirty="0"/>
          </a:p>
        </p:txBody>
      </p:sp>
      <p:sp>
        <p:nvSpPr>
          <p:cNvPr id="43" name="Text 41"/>
          <p:cNvSpPr txBox="1"/>
          <p:nvPr/>
        </p:nvSpPr>
        <p:spPr>
          <a:xfrm>
            <a:off x="667512" y="5340096"/>
            <a:ext cx="2523744" cy="1600200"/>
          </a:xfrm>
          <a:prstGeom prst="rect">
            <a:avLst/>
          </a:prstGeom>
          <a:noFill/>
          <a:ln/>
        </p:spPr>
        <p:txBody>
          <a:bodyPr wrap="square" lIns="0" tIns="0" rIns="0" bIns="0" rtlCol="0" anchor="t"/>
          <a:lstStyle/>
          <a:p>
            <a:pPr indent="0" marL="0">
              <a:lnSpc>
                <a:spcPct val="120000"/>
              </a:lnSpc>
              <a:buNone/>
            </a:pPr>
            <a:r>
              <a:rPr lang="en-US" sz="700" dirty="0">
                <a:solidFill>
                  <a:srgbClr val="262626"/>
                </a:solidFill>
              </a:rPr>
              <a:t>　採血をした瞬間に血液の中にどれだけ血糖があるかを示す指標です。エネルギー源である血糖は、食事の直後に上がり、生活や運動で分解されて減り、また食事をすると上がる――この繰り返しのため、1日のうちでも数値は変動します。</a:t>
            </a:r>
            <a:endParaRPr lang="en-US" sz="700" dirty="0"/>
          </a:p>
          <a:p>
            <a:pPr indent="0" marL="0">
              <a:lnSpc>
                <a:spcPct val="120000"/>
              </a:lnSpc>
              <a:buNone/>
            </a:pPr>
            <a:r>
              <a:rPr lang="en-US" sz="700" dirty="0">
                <a:solidFill>
                  <a:srgbClr val="262626"/>
                </a:solidFill>
              </a:rPr>
              <a:t>　一時的に血糖が跳ね上がる「血糖値スパイク」のある“糖尿病リスクの高い”人でも、食後10時間以上あけた「空腹時血糖値」は低く測定されることがあり、血糖値だけでは糖尿病の「予備群」を見逃す可能性も指摘されています。まさに「血糖値の落とし穴」です。</a:t>
            </a:r>
            <a:endParaRPr lang="en-US" sz="700" dirty="0"/>
          </a:p>
        </p:txBody>
      </p:sp>
      <p:sp>
        <p:nvSpPr>
          <p:cNvPr id="44" name="Shape 42"/>
          <p:cNvSpPr/>
          <p:nvPr/>
        </p:nvSpPr>
        <p:spPr>
          <a:xfrm>
            <a:off x="3502152" y="3785616"/>
            <a:ext cx="2852928" cy="3255264"/>
          </a:xfrm>
          <a:prstGeom prst="roundRect">
            <a:avLst>
              <a:gd name="adj" fmla="val 2564"/>
            </a:avLst>
          </a:prstGeom>
          <a:solidFill>
            <a:srgbClr val="FBECEE"/>
          </a:solidFill>
          <a:ln/>
        </p:spPr>
      </p:sp>
      <p:sp>
        <p:nvSpPr>
          <p:cNvPr id="45" name="Text 43"/>
          <p:cNvSpPr txBox="1"/>
          <p:nvPr/>
        </p:nvSpPr>
        <p:spPr>
          <a:xfrm>
            <a:off x="3666744" y="3895344"/>
            <a:ext cx="1828800" cy="274320"/>
          </a:xfrm>
          <a:prstGeom prst="rect">
            <a:avLst/>
          </a:prstGeom>
          <a:noFill/>
          <a:ln/>
        </p:spPr>
        <p:txBody>
          <a:bodyPr wrap="square" lIns="0" tIns="0" rIns="0" bIns="0" rtlCol="0" anchor="ctr"/>
          <a:lstStyle/>
          <a:p>
            <a:pPr indent="0" marL="0">
              <a:buNone/>
            </a:pPr>
            <a:r>
              <a:rPr lang="en-US" sz="1300" b="1" dirty="0">
                <a:solidFill>
                  <a:srgbClr val="C8102E"/>
                </a:solidFill>
              </a:rPr>
              <a:t>ヘモグロビンA1c</a:t>
            </a:r>
            <a:endParaRPr lang="en-US" sz="1300" dirty="0"/>
          </a:p>
        </p:txBody>
      </p:sp>
      <p:sp>
        <p:nvSpPr>
          <p:cNvPr id="46" name="Text 44"/>
          <p:cNvSpPr txBox="1"/>
          <p:nvPr/>
        </p:nvSpPr>
        <p:spPr>
          <a:xfrm>
            <a:off x="5074920" y="3922776"/>
            <a:ext cx="1124712" cy="219456"/>
          </a:xfrm>
          <a:prstGeom prst="roundRect">
            <a:avLst>
              <a:gd name="adj" fmla="val 50000"/>
            </a:avLst>
          </a:prstGeom>
          <a:solidFill>
            <a:srgbClr val="C8102E"/>
          </a:solidFill>
          <a:ln/>
        </p:spPr>
        <p:txBody>
          <a:bodyPr wrap="square" lIns="0" tIns="0" rIns="0" bIns="0" rtlCol="0" anchor="ctr"/>
          <a:lstStyle/>
          <a:p>
            <a:pPr algn="ctr" indent="0" marL="0">
              <a:buNone/>
            </a:pPr>
            <a:r>
              <a:rPr lang="en-US" sz="700" b="1" dirty="0">
                <a:solidFill>
                  <a:srgbClr val="FFFFFF"/>
                </a:solidFill>
              </a:rPr>
              <a:t>ほとんど変動しない</a:t>
            </a:r>
            <a:endParaRPr lang="en-US" sz="700" dirty="0"/>
          </a:p>
        </p:txBody>
      </p:sp>
      <p:sp>
        <p:nvSpPr>
          <p:cNvPr id="47" name="Text 45"/>
          <p:cNvSpPr txBox="1"/>
          <p:nvPr/>
        </p:nvSpPr>
        <p:spPr>
          <a:xfrm>
            <a:off x="3666744" y="4206240"/>
            <a:ext cx="2560320" cy="201168"/>
          </a:xfrm>
          <a:prstGeom prst="rect">
            <a:avLst/>
          </a:prstGeom>
          <a:noFill/>
          <a:ln/>
        </p:spPr>
        <p:txBody>
          <a:bodyPr wrap="square" lIns="0" tIns="0" rIns="0" bIns="0" rtlCol="0" anchor="ctr"/>
          <a:lstStyle/>
          <a:p>
            <a:pPr indent="0" marL="0">
              <a:buNone/>
            </a:pPr>
            <a:r>
              <a:rPr lang="en-US" sz="850" b="1" dirty="0">
                <a:solidFill>
                  <a:srgbClr val="262626"/>
                </a:solidFill>
              </a:rPr>
              <a:t>過去1〜2か月の血糖の“通信簿”</a:t>
            </a:r>
            <a:endParaRPr lang="en-US" sz="850" dirty="0"/>
          </a:p>
        </p:txBody>
      </p:sp>
      <p:pic>
        <p:nvPicPr>
          <p:cNvPr id="48" name="Image 0" descr="赤血球・糖・ヘモグロビン・ヘモグロビンA1cの模式図">    </p:cNvPr>
          <p:cNvPicPr>
            <a:picLocks noChangeAspect="1"/>
          </p:cNvPicPr>
          <p:nvPr/>
        </p:nvPicPr>
        <p:blipFill>
          <a:blip r:embed="rId1"/>
          <a:stretch>
            <a:fillRect/>
          </a:stretch>
        </p:blipFill>
        <p:spPr>
          <a:xfrm>
            <a:off x="3785616" y="4443984"/>
            <a:ext cx="2286000" cy="627556"/>
          </a:xfrm>
          <a:prstGeom prst="rect">
            <a:avLst/>
          </a:prstGeom>
        </p:spPr>
      </p:pic>
      <p:sp>
        <p:nvSpPr>
          <p:cNvPr id="49" name="Shape 46"/>
          <p:cNvSpPr/>
          <p:nvPr/>
        </p:nvSpPr>
        <p:spPr>
          <a:xfrm flipH="1">
            <a:off x="4059936" y="4854151"/>
            <a:ext cx="463981" cy="308829"/>
          </a:xfrm>
          <a:prstGeom prst="line">
            <a:avLst/>
          </a:prstGeom>
          <a:noFill/>
          <a:ln w="6350">
            <a:solidFill>
              <a:srgbClr val="262626"/>
            </a:solidFill>
            <a:prstDash val="solid"/>
          </a:ln>
        </p:spPr>
      </p:sp>
      <p:sp>
        <p:nvSpPr>
          <p:cNvPr id="50" name="Text 47"/>
          <p:cNvSpPr txBox="1"/>
          <p:nvPr/>
        </p:nvSpPr>
        <p:spPr>
          <a:xfrm>
            <a:off x="3648456" y="5162980"/>
            <a:ext cx="822960" cy="128016"/>
          </a:xfrm>
          <a:prstGeom prst="rect">
            <a:avLst/>
          </a:prstGeom>
          <a:noFill/>
          <a:ln/>
        </p:spPr>
        <p:txBody>
          <a:bodyPr wrap="square" lIns="0" tIns="0" rIns="0" bIns="0" rtlCol="0" anchor="ctr"/>
          <a:lstStyle/>
          <a:p>
            <a:pPr algn="ctr" indent="0" marL="0">
              <a:buNone/>
            </a:pPr>
            <a:r>
              <a:rPr lang="en-US" sz="550" b="1" dirty="0">
                <a:solidFill>
                  <a:srgbClr val="262626"/>
                </a:solidFill>
              </a:rPr>
              <a:t>赤血球</a:t>
            </a:r>
            <a:endParaRPr lang="en-US" sz="550" dirty="0"/>
          </a:p>
        </p:txBody>
      </p:sp>
      <p:sp>
        <p:nvSpPr>
          <p:cNvPr id="51" name="Shape 48"/>
          <p:cNvSpPr/>
          <p:nvPr/>
        </p:nvSpPr>
        <p:spPr>
          <a:xfrm flipH="1">
            <a:off x="4535424" y="4895168"/>
            <a:ext cx="91035" cy="267812"/>
          </a:xfrm>
          <a:prstGeom prst="line">
            <a:avLst/>
          </a:prstGeom>
          <a:noFill/>
          <a:ln w="6350">
            <a:solidFill>
              <a:srgbClr val="262626"/>
            </a:solidFill>
            <a:prstDash val="solid"/>
          </a:ln>
        </p:spPr>
      </p:sp>
      <p:sp>
        <p:nvSpPr>
          <p:cNvPr id="52" name="Text 49"/>
          <p:cNvSpPr txBox="1"/>
          <p:nvPr/>
        </p:nvSpPr>
        <p:spPr>
          <a:xfrm>
            <a:off x="4123944" y="5162980"/>
            <a:ext cx="822960" cy="128016"/>
          </a:xfrm>
          <a:prstGeom prst="rect">
            <a:avLst/>
          </a:prstGeom>
          <a:noFill/>
          <a:ln/>
        </p:spPr>
        <p:txBody>
          <a:bodyPr wrap="square" lIns="0" tIns="0" rIns="0" bIns="0" rtlCol="0" anchor="ctr"/>
          <a:lstStyle/>
          <a:p>
            <a:pPr algn="ctr" indent="0" marL="0">
              <a:buNone/>
            </a:pPr>
            <a:r>
              <a:rPr lang="en-US" sz="550" b="1" dirty="0">
                <a:solidFill>
                  <a:srgbClr val="262626"/>
                </a:solidFill>
              </a:rPr>
              <a:t>糖</a:t>
            </a:r>
            <a:endParaRPr lang="en-US" sz="550" dirty="0"/>
          </a:p>
        </p:txBody>
      </p:sp>
      <p:sp>
        <p:nvSpPr>
          <p:cNvPr id="53" name="Shape 50"/>
          <p:cNvSpPr/>
          <p:nvPr/>
        </p:nvSpPr>
        <p:spPr>
          <a:xfrm>
            <a:off x="4790526" y="4810400"/>
            <a:ext cx="229530" cy="352580"/>
          </a:xfrm>
          <a:prstGeom prst="line">
            <a:avLst/>
          </a:prstGeom>
          <a:noFill/>
          <a:ln w="6350">
            <a:solidFill>
              <a:srgbClr val="262626"/>
            </a:solidFill>
            <a:prstDash val="solid"/>
          </a:ln>
        </p:spPr>
      </p:sp>
      <p:sp>
        <p:nvSpPr>
          <p:cNvPr id="54" name="Text 51"/>
          <p:cNvSpPr txBox="1"/>
          <p:nvPr/>
        </p:nvSpPr>
        <p:spPr>
          <a:xfrm>
            <a:off x="4608576" y="5162980"/>
            <a:ext cx="822960" cy="128016"/>
          </a:xfrm>
          <a:prstGeom prst="rect">
            <a:avLst/>
          </a:prstGeom>
          <a:noFill/>
          <a:ln/>
        </p:spPr>
        <p:txBody>
          <a:bodyPr wrap="square" lIns="0" tIns="0" rIns="0" bIns="0" rtlCol="0" anchor="ctr"/>
          <a:lstStyle/>
          <a:p>
            <a:pPr algn="ctr" indent="0" marL="0">
              <a:buNone/>
            </a:pPr>
            <a:r>
              <a:rPr lang="en-US" sz="550" b="1" dirty="0">
                <a:solidFill>
                  <a:srgbClr val="262626"/>
                </a:solidFill>
              </a:rPr>
              <a:t>ヘモグロビン</a:t>
            </a:r>
            <a:endParaRPr lang="en-US" sz="550" dirty="0"/>
          </a:p>
        </p:txBody>
      </p:sp>
      <p:sp>
        <p:nvSpPr>
          <p:cNvPr id="55" name="Shape 52"/>
          <p:cNvSpPr/>
          <p:nvPr/>
        </p:nvSpPr>
        <p:spPr>
          <a:xfrm>
            <a:off x="5569844" y="4826807"/>
            <a:ext cx="181732" cy="336173"/>
          </a:xfrm>
          <a:prstGeom prst="line">
            <a:avLst/>
          </a:prstGeom>
          <a:noFill/>
          <a:ln w="6350">
            <a:solidFill>
              <a:srgbClr val="262626"/>
            </a:solidFill>
            <a:prstDash val="solid"/>
          </a:ln>
        </p:spPr>
      </p:sp>
      <p:sp>
        <p:nvSpPr>
          <p:cNvPr id="56" name="Text 53"/>
          <p:cNvSpPr txBox="1"/>
          <p:nvPr/>
        </p:nvSpPr>
        <p:spPr>
          <a:xfrm>
            <a:off x="5340096" y="5162980"/>
            <a:ext cx="822960" cy="128016"/>
          </a:xfrm>
          <a:prstGeom prst="rect">
            <a:avLst/>
          </a:prstGeom>
          <a:noFill/>
          <a:ln/>
        </p:spPr>
        <p:txBody>
          <a:bodyPr wrap="square" lIns="0" tIns="0" rIns="0" bIns="0" rtlCol="0" anchor="ctr"/>
          <a:lstStyle/>
          <a:p>
            <a:pPr algn="ctr" indent="0" marL="0">
              <a:buNone/>
            </a:pPr>
            <a:r>
              <a:rPr lang="en-US" sz="550" b="1" dirty="0">
                <a:solidFill>
                  <a:srgbClr val="262626"/>
                </a:solidFill>
              </a:rPr>
              <a:t>ヘモグロビンA1c</a:t>
            </a:r>
            <a:endParaRPr lang="en-US" sz="550" dirty="0"/>
          </a:p>
        </p:txBody>
      </p:sp>
      <p:sp>
        <p:nvSpPr>
          <p:cNvPr id="57" name="Text 54"/>
          <p:cNvSpPr txBox="1"/>
          <p:nvPr/>
        </p:nvSpPr>
        <p:spPr>
          <a:xfrm>
            <a:off x="3666744" y="5358384"/>
            <a:ext cx="2523744" cy="1097280"/>
          </a:xfrm>
          <a:prstGeom prst="rect">
            <a:avLst/>
          </a:prstGeom>
          <a:noFill/>
          <a:ln/>
        </p:spPr>
        <p:txBody>
          <a:bodyPr wrap="square" lIns="0" tIns="0" rIns="0" bIns="0" rtlCol="0" anchor="t"/>
          <a:lstStyle/>
          <a:p>
            <a:pPr indent="0" marL="0">
              <a:lnSpc>
                <a:spcPct val="120000"/>
              </a:lnSpc>
              <a:buNone/>
            </a:pPr>
            <a:r>
              <a:rPr lang="en-US" sz="700" dirty="0">
                <a:solidFill>
                  <a:srgbClr val="262626"/>
                </a:solidFill>
              </a:rPr>
              <a:t>　血液中に取り込まれた糖の一部は赤血球の中に入り、ヘモグロビンと結合します。その結合した割合を示すのがヘモグロビンA1cです。一度結合すると、その赤血球が寿命を迎えるまで消えることなく蓄積されるため、血液中に糖が多い状態が長く続く人ほど数値が高くなります。</a:t>
            </a:r>
            <a:endParaRPr lang="en-US" sz="700" dirty="0"/>
          </a:p>
          <a:p>
            <a:pPr indent="0" marL="0">
              <a:lnSpc>
                <a:spcPct val="120000"/>
              </a:lnSpc>
              <a:buNone/>
            </a:pPr>
            <a:r>
              <a:rPr lang="en-US" sz="700" dirty="0">
                <a:solidFill>
                  <a:srgbClr val="262626"/>
                </a:solidFill>
              </a:rPr>
              <a:t>　過去1〜2か月トータルの血糖の状態を反映しているため、血糖値と違い、検査当日の食事の影響を受けにくいのが特長です。</a:t>
            </a:r>
            <a:endParaRPr lang="en-US" sz="700" dirty="0"/>
          </a:p>
        </p:txBody>
      </p:sp>
      <p:sp>
        <p:nvSpPr>
          <p:cNvPr id="58" name="Text 55"/>
          <p:cNvSpPr txBox="1"/>
          <p:nvPr/>
        </p:nvSpPr>
        <p:spPr>
          <a:xfrm>
            <a:off x="3666744" y="6483096"/>
            <a:ext cx="548640" cy="146304"/>
          </a:xfrm>
          <a:prstGeom prst="rect">
            <a:avLst/>
          </a:prstGeom>
          <a:noFill/>
          <a:ln/>
        </p:spPr>
        <p:txBody>
          <a:bodyPr wrap="square" lIns="0" tIns="0" rIns="0" bIns="0" rtlCol="0" anchor="ctr"/>
          <a:lstStyle/>
          <a:p>
            <a:pPr indent="0" marL="0">
              <a:buNone/>
            </a:pPr>
            <a:r>
              <a:rPr lang="en-US" sz="650" b="1" dirty="0">
                <a:solidFill>
                  <a:srgbClr val="4A4A4A"/>
                </a:solidFill>
              </a:rPr>
              <a:t>基準値</a:t>
            </a:r>
            <a:endParaRPr lang="en-US" sz="650" dirty="0"/>
          </a:p>
        </p:txBody>
      </p:sp>
      <p:sp>
        <p:nvSpPr>
          <p:cNvPr id="59" name="Text 56"/>
          <p:cNvSpPr txBox="1"/>
          <p:nvPr/>
        </p:nvSpPr>
        <p:spPr>
          <a:xfrm>
            <a:off x="3666744" y="6665976"/>
            <a:ext cx="959023" cy="182880"/>
          </a:xfrm>
          <a:prstGeom prst="rect">
            <a:avLst/>
          </a:prstGeom>
          <a:solidFill>
            <a:srgbClr val="6FA088"/>
          </a:solidFill>
          <a:ln w="12700">
            <a:solidFill>
              <a:srgbClr val="FFFFFF"/>
            </a:solidFill>
          </a:ln>
        </p:spPr>
        <p:txBody>
          <a:bodyPr wrap="square" lIns="0" tIns="0" rIns="0" bIns="0" rtlCol="0" anchor="ctr"/>
          <a:lstStyle/>
          <a:p>
            <a:pPr algn="ctr" indent="0" marL="0">
              <a:buNone/>
            </a:pPr>
            <a:r>
              <a:rPr lang="en-US" sz="650" b="1" dirty="0">
                <a:solidFill>
                  <a:srgbClr val="FFFFFF"/>
                </a:solidFill>
              </a:rPr>
              <a:t>正常</a:t>
            </a:r>
            <a:endParaRPr lang="en-US" sz="650" dirty="0"/>
          </a:p>
        </p:txBody>
      </p:sp>
      <p:sp>
        <p:nvSpPr>
          <p:cNvPr id="60" name="Text 57"/>
          <p:cNvSpPr txBox="1"/>
          <p:nvPr/>
        </p:nvSpPr>
        <p:spPr>
          <a:xfrm>
            <a:off x="4625767" y="6665976"/>
            <a:ext cx="555224" cy="182880"/>
          </a:xfrm>
          <a:prstGeom prst="rect">
            <a:avLst/>
          </a:prstGeom>
          <a:solidFill>
            <a:srgbClr val="E3B04B"/>
          </a:solidFill>
          <a:ln w="12700">
            <a:solidFill>
              <a:srgbClr val="FFFFFF"/>
            </a:solidFill>
          </a:ln>
        </p:spPr>
        <p:txBody>
          <a:bodyPr wrap="square" lIns="0" tIns="0" rIns="0" bIns="0" rtlCol="0" anchor="ctr"/>
          <a:lstStyle/>
          <a:p>
            <a:pPr algn="ctr" indent="0" marL="0">
              <a:buNone/>
            </a:pPr>
            <a:r>
              <a:rPr lang="en-US" sz="650" b="1" dirty="0">
                <a:solidFill>
                  <a:srgbClr val="FFFFFF"/>
                </a:solidFill>
              </a:rPr>
              <a:t>注意</a:t>
            </a:r>
            <a:endParaRPr lang="en-US" sz="650" dirty="0"/>
          </a:p>
        </p:txBody>
      </p:sp>
      <p:sp>
        <p:nvSpPr>
          <p:cNvPr id="61" name="Text 58"/>
          <p:cNvSpPr txBox="1"/>
          <p:nvPr/>
        </p:nvSpPr>
        <p:spPr>
          <a:xfrm>
            <a:off x="5180990" y="6665976"/>
            <a:ext cx="1009498" cy="182880"/>
          </a:xfrm>
          <a:prstGeom prst="rect">
            <a:avLst/>
          </a:prstGeom>
          <a:solidFill>
            <a:srgbClr val="C8102E"/>
          </a:solidFill>
          <a:ln w="12700">
            <a:solidFill>
              <a:srgbClr val="FFFFFF"/>
            </a:solidFill>
          </a:ln>
        </p:spPr>
        <p:txBody>
          <a:bodyPr wrap="square" lIns="0" tIns="0" rIns="0" bIns="0" rtlCol="0" anchor="ctr"/>
          <a:lstStyle/>
          <a:p>
            <a:pPr algn="ctr" indent="0" marL="0">
              <a:buNone/>
            </a:pPr>
            <a:r>
              <a:rPr lang="en-US" sz="650" b="1" dirty="0">
                <a:solidFill>
                  <a:srgbClr val="FFFFFF"/>
                </a:solidFill>
              </a:rPr>
              <a:t>糖尿病の恐れ</a:t>
            </a:r>
            <a:endParaRPr lang="en-US" sz="650" dirty="0"/>
          </a:p>
        </p:txBody>
      </p:sp>
      <p:sp>
        <p:nvSpPr>
          <p:cNvPr id="62" name="Text 59"/>
          <p:cNvSpPr txBox="1"/>
          <p:nvPr/>
        </p:nvSpPr>
        <p:spPr>
          <a:xfrm>
            <a:off x="4351447" y="6858000"/>
            <a:ext cx="548640" cy="128016"/>
          </a:xfrm>
          <a:prstGeom prst="rect">
            <a:avLst/>
          </a:prstGeom>
          <a:noFill/>
          <a:ln/>
        </p:spPr>
        <p:txBody>
          <a:bodyPr wrap="square" lIns="0" tIns="0" rIns="0" bIns="0" rtlCol="0" anchor="ctr"/>
          <a:lstStyle/>
          <a:p>
            <a:pPr algn="ctr" indent="0" marL="0">
              <a:buNone/>
            </a:pPr>
            <a:r>
              <a:rPr lang="en-US" sz="550" dirty="0">
                <a:solidFill>
                  <a:srgbClr val="4A4A4A"/>
                </a:solidFill>
              </a:rPr>
              <a:t>5.6〜5.8</a:t>
            </a:r>
            <a:endParaRPr lang="en-US" sz="550" dirty="0"/>
          </a:p>
        </p:txBody>
      </p:sp>
      <p:sp>
        <p:nvSpPr>
          <p:cNvPr id="63" name="Text 60"/>
          <p:cNvSpPr txBox="1"/>
          <p:nvPr/>
        </p:nvSpPr>
        <p:spPr>
          <a:xfrm>
            <a:off x="4998110" y="6858000"/>
            <a:ext cx="365760" cy="128016"/>
          </a:xfrm>
          <a:prstGeom prst="rect">
            <a:avLst/>
          </a:prstGeom>
          <a:noFill/>
          <a:ln/>
        </p:spPr>
        <p:txBody>
          <a:bodyPr wrap="square" lIns="0" tIns="0" rIns="0" bIns="0" rtlCol="0" anchor="ctr"/>
          <a:lstStyle/>
          <a:p>
            <a:pPr algn="ctr" indent="0" marL="0">
              <a:buNone/>
            </a:pPr>
            <a:r>
              <a:rPr lang="en-US" sz="550" dirty="0">
                <a:solidFill>
                  <a:srgbClr val="4A4A4A"/>
                </a:solidFill>
              </a:rPr>
              <a:t>6.5</a:t>
            </a:r>
            <a:endParaRPr lang="en-US" sz="550" dirty="0"/>
          </a:p>
        </p:txBody>
      </p:sp>
      <p:sp>
        <p:nvSpPr>
          <p:cNvPr id="64" name="Text 61"/>
          <p:cNvSpPr txBox="1"/>
          <p:nvPr/>
        </p:nvSpPr>
        <p:spPr>
          <a:xfrm>
            <a:off x="502920" y="7132320"/>
            <a:ext cx="310896" cy="310896"/>
          </a:xfrm>
          <a:prstGeom prst="ellipse">
            <a:avLst/>
          </a:prstGeom>
          <a:solidFill>
            <a:srgbClr val="C8102E"/>
          </a:solid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65" name="Text 62"/>
          <p:cNvSpPr txBox="1"/>
          <p:nvPr/>
        </p:nvSpPr>
        <p:spPr>
          <a:xfrm>
            <a:off x="923544" y="7132320"/>
            <a:ext cx="5431536" cy="310896"/>
          </a:xfrm>
          <a:prstGeom prst="rect">
            <a:avLst/>
          </a:prstGeom>
          <a:noFill/>
          <a:ln/>
        </p:spPr>
        <p:txBody>
          <a:bodyPr wrap="square" lIns="0" tIns="0" rIns="0" bIns="0" rtlCol="0" anchor="ctr"/>
          <a:lstStyle/>
          <a:p>
            <a:pPr indent="0" marL="0">
              <a:buNone/>
            </a:pPr>
            <a:r>
              <a:rPr lang="en-US" sz="1300" b="1" dirty="0">
                <a:solidFill>
                  <a:srgbClr val="262626"/>
                </a:solidFill>
              </a:rPr>
              <a:t>生活者の87.5%が「血糖値でリスクを十分に把握できる」</a:t>
            </a:r>
            <a:endParaRPr lang="en-US" sz="1300" dirty="0"/>
          </a:p>
        </p:txBody>
      </p:sp>
      <p:sp>
        <p:nvSpPr>
          <p:cNvPr id="66" name="Text 63"/>
          <p:cNvSpPr txBox="1"/>
          <p:nvPr/>
        </p:nvSpPr>
        <p:spPr>
          <a:xfrm>
            <a:off x="502920" y="7534656"/>
            <a:ext cx="5852160" cy="219456"/>
          </a:xfrm>
          <a:prstGeom prst="rect">
            <a:avLst/>
          </a:prstGeom>
          <a:noFill/>
          <a:ln/>
        </p:spPr>
        <p:txBody>
          <a:bodyPr wrap="square" lIns="0" tIns="0" rIns="0" bIns="0" rtlCol="0" anchor="ctr"/>
          <a:lstStyle/>
          <a:p>
            <a:pPr indent="0" marL="0">
              <a:buNone/>
            </a:pPr>
            <a:r>
              <a:rPr lang="en-US" sz="850" b="1" dirty="0">
                <a:solidFill>
                  <a:srgbClr val="C8102E"/>
                </a:solidFill>
              </a:rPr>
              <a:t>図5</a:t>
            </a:r>
            <a:pPr indent="0" marL="0">
              <a:buNone/>
            </a:pPr>
            <a:r>
              <a:rPr lang="en-US" sz="850" b="1" dirty="0">
                <a:solidFill>
                  <a:srgbClr val="262626"/>
                </a:solidFill>
              </a:rPr>
              <a:t>　【生活者】血糖値の測定やその数値で、糖尿病予備群などのリスクを十分に把握できる？</a:t>
            </a:r>
            <a:endParaRPr lang="en-US" sz="850" dirty="0"/>
          </a:p>
        </p:txBody>
      </p:sp>
      <p:sp>
        <p:nvSpPr>
          <p:cNvPr id="67" name="Shape 64"/>
          <p:cNvSpPr/>
          <p:nvPr/>
        </p:nvSpPr>
        <p:spPr>
          <a:xfrm>
            <a:off x="502920" y="7790688"/>
            <a:ext cx="5852160" cy="868680"/>
          </a:xfrm>
          <a:prstGeom prst="roundRect">
            <a:avLst>
              <a:gd name="adj" fmla="val 8421"/>
            </a:avLst>
          </a:prstGeom>
          <a:solidFill>
            <a:srgbClr val="F6F6F6"/>
          </a:solidFill>
          <a:ln/>
        </p:spPr>
      </p:sp>
      <p:sp>
        <p:nvSpPr>
          <p:cNvPr id="68" name="Text 65"/>
          <p:cNvSpPr txBox="1"/>
          <p:nvPr/>
        </p:nvSpPr>
        <p:spPr>
          <a:xfrm>
            <a:off x="640080" y="7845552"/>
            <a:ext cx="1097280" cy="548640"/>
          </a:xfrm>
          <a:prstGeom prst="rect">
            <a:avLst/>
          </a:prstGeom>
          <a:noFill/>
          <a:ln/>
        </p:spPr>
        <p:txBody>
          <a:bodyPr wrap="square" lIns="0" tIns="0" rIns="0" bIns="0" rtlCol="0" anchor="ctr"/>
          <a:lstStyle/>
          <a:p>
            <a:pPr indent="0" marL="0">
              <a:buNone/>
            </a:pPr>
            <a:r>
              <a:rPr lang="en-US" sz="2000" b="1" dirty="0">
                <a:solidFill>
                  <a:srgbClr val="C8102E"/>
                </a:solidFill>
              </a:rPr>
              <a:t>87.5%</a:t>
            </a:r>
            <a:endParaRPr lang="en-US" sz="850" dirty="0"/>
          </a:p>
          <a:p>
            <a:pPr indent="0" marL="0">
              <a:buNone/>
            </a:pPr>
            <a:r>
              <a:rPr lang="en-US" sz="700" b="1" dirty="0">
                <a:solidFill>
                  <a:srgbClr val="4A4A4A"/>
                </a:solidFill>
              </a:rPr>
              <a:t>「そう思う」計</a:t>
            </a:r>
            <a:endParaRPr lang="en-US" sz="850" dirty="0"/>
          </a:p>
        </p:txBody>
      </p:sp>
      <p:sp>
        <p:nvSpPr>
          <p:cNvPr id="69" name="Text 66"/>
          <p:cNvSpPr txBox="1"/>
          <p:nvPr/>
        </p:nvSpPr>
        <p:spPr>
          <a:xfrm>
            <a:off x="5623560" y="7827264"/>
            <a:ext cx="640080" cy="128016"/>
          </a:xfrm>
          <a:prstGeom prst="rect">
            <a:avLst/>
          </a:prstGeom>
          <a:noFill/>
          <a:ln/>
        </p:spPr>
        <p:txBody>
          <a:bodyPr wrap="square" lIns="0" tIns="0" rIns="0" bIns="0" rtlCol="0" anchor="t"/>
          <a:lstStyle/>
          <a:p>
            <a:pPr algn="r" indent="0" marL="0">
              <a:buNone/>
            </a:pPr>
            <a:r>
              <a:rPr lang="en-US" sz="600" dirty="0">
                <a:solidFill>
                  <a:srgbClr val="7A7A7A"/>
                </a:solidFill>
              </a:rPr>
              <a:t>n=303</a:t>
            </a:r>
            <a:endParaRPr lang="en-US" sz="600" dirty="0"/>
          </a:p>
        </p:txBody>
      </p:sp>
      <p:sp>
        <p:nvSpPr>
          <p:cNvPr id="70" name="Shape 67"/>
          <p:cNvSpPr/>
          <p:nvPr/>
        </p:nvSpPr>
        <p:spPr>
          <a:xfrm>
            <a:off x="1828800" y="7973568"/>
            <a:ext cx="899770" cy="274320"/>
          </a:xfrm>
          <a:prstGeom prst="rect">
            <a:avLst/>
          </a:prstGeom>
          <a:solidFill>
            <a:srgbClr val="2F4A66"/>
          </a:solidFill>
          <a:ln w="12700">
            <a:solidFill>
              <a:srgbClr val="FFFFFF"/>
            </a:solidFill>
            <a:prstDash val="solid"/>
          </a:ln>
        </p:spPr>
      </p:sp>
      <p:sp>
        <p:nvSpPr>
          <p:cNvPr id="71" name="Text 68"/>
          <p:cNvSpPr txBox="1"/>
          <p:nvPr/>
        </p:nvSpPr>
        <p:spPr>
          <a:xfrm>
            <a:off x="1828800" y="7973568"/>
            <a:ext cx="899770" cy="274320"/>
          </a:xfrm>
          <a:prstGeom prst="rect">
            <a:avLst/>
          </a:prstGeom>
          <a:noFill/>
          <a:ln/>
        </p:spPr>
        <p:txBody>
          <a:bodyPr wrap="square" lIns="0" tIns="0" rIns="0" bIns="0" rtlCol="0" anchor="ctr"/>
          <a:lstStyle/>
          <a:p>
            <a:pPr algn="ctr" indent="0" marL="0">
              <a:buNone/>
            </a:pPr>
            <a:r>
              <a:rPr lang="en-US" sz="800" b="1" dirty="0">
                <a:solidFill>
                  <a:srgbClr val="FFFFFF"/>
                </a:solidFill>
              </a:rPr>
              <a:t>20.5%</a:t>
            </a:r>
            <a:endParaRPr lang="en-US" sz="800" dirty="0"/>
          </a:p>
        </p:txBody>
      </p:sp>
      <p:sp>
        <p:nvSpPr>
          <p:cNvPr id="72" name="Shape 69"/>
          <p:cNvSpPr/>
          <p:nvPr/>
        </p:nvSpPr>
        <p:spPr>
          <a:xfrm>
            <a:off x="2728570" y="7973568"/>
            <a:ext cx="2940710" cy="274320"/>
          </a:xfrm>
          <a:prstGeom prst="rect">
            <a:avLst/>
          </a:prstGeom>
          <a:solidFill>
            <a:srgbClr val="46688C"/>
          </a:solidFill>
          <a:ln w="12700">
            <a:solidFill>
              <a:srgbClr val="FFFFFF"/>
            </a:solidFill>
            <a:prstDash val="solid"/>
          </a:ln>
        </p:spPr>
      </p:sp>
      <p:sp>
        <p:nvSpPr>
          <p:cNvPr id="73" name="Text 70"/>
          <p:cNvSpPr txBox="1"/>
          <p:nvPr/>
        </p:nvSpPr>
        <p:spPr>
          <a:xfrm>
            <a:off x="2728570" y="7973568"/>
            <a:ext cx="2940710" cy="274320"/>
          </a:xfrm>
          <a:prstGeom prst="rect">
            <a:avLst/>
          </a:prstGeom>
          <a:noFill/>
          <a:ln/>
        </p:spPr>
        <p:txBody>
          <a:bodyPr wrap="square" lIns="0" tIns="0" rIns="0" bIns="0" rtlCol="0" anchor="ctr"/>
          <a:lstStyle/>
          <a:p>
            <a:pPr algn="ctr" indent="0" marL="0">
              <a:buNone/>
            </a:pPr>
            <a:r>
              <a:rPr lang="en-US" sz="800" b="1" dirty="0">
                <a:solidFill>
                  <a:srgbClr val="FFFFFF"/>
                </a:solidFill>
              </a:rPr>
              <a:t>67.0%</a:t>
            </a:r>
            <a:endParaRPr lang="en-US" sz="800" dirty="0"/>
          </a:p>
        </p:txBody>
      </p:sp>
      <p:sp>
        <p:nvSpPr>
          <p:cNvPr id="74" name="Shape 71"/>
          <p:cNvSpPr/>
          <p:nvPr/>
        </p:nvSpPr>
        <p:spPr>
          <a:xfrm>
            <a:off x="5669280" y="7973568"/>
            <a:ext cx="447690" cy="274320"/>
          </a:xfrm>
          <a:prstGeom prst="rect">
            <a:avLst/>
          </a:prstGeom>
          <a:solidFill>
            <a:srgbClr val="D5DBE2"/>
          </a:solidFill>
          <a:ln w="12700">
            <a:solidFill>
              <a:srgbClr val="FFFFFF"/>
            </a:solidFill>
            <a:prstDash val="solid"/>
          </a:ln>
        </p:spPr>
      </p:sp>
      <p:sp>
        <p:nvSpPr>
          <p:cNvPr id="75" name="Text 72"/>
          <p:cNvSpPr txBox="1"/>
          <p:nvPr/>
        </p:nvSpPr>
        <p:spPr>
          <a:xfrm>
            <a:off x="5669280" y="7973568"/>
            <a:ext cx="447690" cy="274320"/>
          </a:xfrm>
          <a:prstGeom prst="rect">
            <a:avLst/>
          </a:prstGeom>
          <a:noFill/>
          <a:ln/>
        </p:spPr>
        <p:txBody>
          <a:bodyPr wrap="square" lIns="0" tIns="0" rIns="0" bIns="0" rtlCol="0" anchor="ctr"/>
          <a:lstStyle/>
          <a:p>
            <a:pPr algn="ctr" indent="0" marL="0">
              <a:buNone/>
            </a:pPr>
            <a:r>
              <a:rPr lang="en-US" sz="800" b="1" dirty="0">
                <a:solidFill>
                  <a:srgbClr val="262626"/>
                </a:solidFill>
              </a:rPr>
              <a:t>10.2%</a:t>
            </a:r>
            <a:endParaRPr lang="en-US" sz="800" dirty="0"/>
          </a:p>
        </p:txBody>
      </p:sp>
      <p:sp>
        <p:nvSpPr>
          <p:cNvPr id="76" name="Shape 73"/>
          <p:cNvSpPr/>
          <p:nvPr/>
        </p:nvSpPr>
        <p:spPr>
          <a:xfrm>
            <a:off x="6116970" y="7973568"/>
            <a:ext cx="100950" cy="274320"/>
          </a:xfrm>
          <a:prstGeom prst="rect">
            <a:avLst/>
          </a:prstGeom>
          <a:solidFill>
            <a:srgbClr val="9AA4AF"/>
          </a:solidFill>
          <a:ln w="12700">
            <a:solidFill>
              <a:srgbClr val="FFFFFF"/>
            </a:solidFill>
            <a:prstDash val="solid"/>
          </a:ln>
        </p:spPr>
      </p:sp>
      <p:sp>
        <p:nvSpPr>
          <p:cNvPr id="77" name="Shape 74"/>
          <p:cNvSpPr/>
          <p:nvPr/>
        </p:nvSpPr>
        <p:spPr>
          <a:xfrm>
            <a:off x="1837944" y="8284464"/>
            <a:ext cx="914" cy="54864"/>
          </a:xfrm>
          <a:prstGeom prst="line">
            <a:avLst/>
          </a:prstGeom>
          <a:noFill/>
          <a:ln w="12700">
            <a:solidFill>
              <a:srgbClr val="C8102E"/>
            </a:solidFill>
            <a:prstDash val="solid"/>
          </a:ln>
        </p:spPr>
      </p:sp>
      <p:sp>
        <p:nvSpPr>
          <p:cNvPr id="78" name="Shape 75"/>
          <p:cNvSpPr/>
          <p:nvPr/>
        </p:nvSpPr>
        <p:spPr>
          <a:xfrm>
            <a:off x="1837944" y="8339328"/>
            <a:ext cx="3831336" cy="914"/>
          </a:xfrm>
          <a:prstGeom prst="line">
            <a:avLst/>
          </a:prstGeom>
          <a:noFill/>
          <a:ln w="12700">
            <a:solidFill>
              <a:srgbClr val="C8102E"/>
            </a:solidFill>
            <a:prstDash val="solid"/>
          </a:ln>
        </p:spPr>
      </p:sp>
      <p:sp>
        <p:nvSpPr>
          <p:cNvPr id="79" name="Shape 76"/>
          <p:cNvSpPr/>
          <p:nvPr/>
        </p:nvSpPr>
        <p:spPr>
          <a:xfrm>
            <a:off x="5669280" y="8284464"/>
            <a:ext cx="914" cy="54864"/>
          </a:xfrm>
          <a:prstGeom prst="line">
            <a:avLst/>
          </a:prstGeom>
          <a:noFill/>
          <a:ln w="12700">
            <a:solidFill>
              <a:srgbClr val="C8102E"/>
            </a:solidFill>
            <a:prstDash val="solid"/>
          </a:ln>
        </p:spPr>
      </p:sp>
      <p:sp>
        <p:nvSpPr>
          <p:cNvPr id="80" name="Shape 77"/>
          <p:cNvSpPr/>
          <p:nvPr/>
        </p:nvSpPr>
        <p:spPr>
          <a:xfrm>
            <a:off x="1828800" y="8453628"/>
            <a:ext cx="91440" cy="91440"/>
          </a:xfrm>
          <a:prstGeom prst="ellipse">
            <a:avLst/>
          </a:prstGeom>
          <a:solidFill>
            <a:srgbClr val="2F4A66"/>
          </a:solidFill>
          <a:ln/>
        </p:spPr>
      </p:sp>
      <p:sp>
        <p:nvSpPr>
          <p:cNvPr id="81" name="Text 78"/>
          <p:cNvSpPr txBox="1"/>
          <p:nvPr/>
        </p:nvSpPr>
        <p:spPr>
          <a:xfrm>
            <a:off x="1956816" y="8412480"/>
            <a:ext cx="685800" cy="173736"/>
          </a:xfrm>
          <a:prstGeom prst="rect">
            <a:avLst/>
          </a:prstGeom>
          <a:noFill/>
          <a:ln/>
        </p:spPr>
        <p:txBody>
          <a:bodyPr wrap="square" lIns="0" tIns="0" rIns="0" bIns="0" rtlCol="0" anchor="ctr"/>
          <a:lstStyle/>
          <a:p>
            <a:pPr indent="0" marL="0">
              <a:buNone/>
            </a:pPr>
            <a:r>
              <a:rPr lang="en-US" sz="650" dirty="0">
                <a:solidFill>
                  <a:srgbClr val="4A4A4A"/>
                </a:solidFill>
              </a:rPr>
              <a:t>非常にそう思う</a:t>
            </a:r>
            <a:endParaRPr lang="en-US" sz="650" dirty="0"/>
          </a:p>
        </p:txBody>
      </p:sp>
      <p:sp>
        <p:nvSpPr>
          <p:cNvPr id="82" name="Shape 79"/>
          <p:cNvSpPr/>
          <p:nvPr/>
        </p:nvSpPr>
        <p:spPr>
          <a:xfrm>
            <a:off x="2734056" y="8453628"/>
            <a:ext cx="91440" cy="91440"/>
          </a:xfrm>
          <a:prstGeom prst="ellipse">
            <a:avLst/>
          </a:prstGeom>
          <a:solidFill>
            <a:srgbClr val="46688C"/>
          </a:solidFill>
          <a:ln/>
        </p:spPr>
      </p:sp>
      <p:sp>
        <p:nvSpPr>
          <p:cNvPr id="83" name="Text 80"/>
          <p:cNvSpPr txBox="1"/>
          <p:nvPr/>
        </p:nvSpPr>
        <p:spPr>
          <a:xfrm>
            <a:off x="2862072" y="8412480"/>
            <a:ext cx="411480" cy="173736"/>
          </a:xfrm>
          <a:prstGeom prst="rect">
            <a:avLst/>
          </a:prstGeom>
          <a:noFill/>
          <a:ln/>
        </p:spPr>
        <p:txBody>
          <a:bodyPr wrap="square" lIns="0" tIns="0" rIns="0" bIns="0" rtlCol="0" anchor="ctr"/>
          <a:lstStyle/>
          <a:p>
            <a:pPr indent="0" marL="0">
              <a:buNone/>
            </a:pPr>
            <a:r>
              <a:rPr lang="en-US" sz="650" dirty="0">
                <a:solidFill>
                  <a:srgbClr val="4A4A4A"/>
                </a:solidFill>
              </a:rPr>
              <a:t>そう思う</a:t>
            </a:r>
            <a:endParaRPr lang="en-US" sz="650" dirty="0"/>
          </a:p>
        </p:txBody>
      </p:sp>
      <p:sp>
        <p:nvSpPr>
          <p:cNvPr id="84" name="Shape 81"/>
          <p:cNvSpPr/>
          <p:nvPr/>
        </p:nvSpPr>
        <p:spPr>
          <a:xfrm>
            <a:off x="3364992" y="8453628"/>
            <a:ext cx="91440" cy="91440"/>
          </a:xfrm>
          <a:prstGeom prst="ellipse">
            <a:avLst/>
          </a:prstGeom>
          <a:solidFill>
            <a:srgbClr val="D5DBE2"/>
          </a:solidFill>
          <a:ln/>
        </p:spPr>
      </p:sp>
      <p:sp>
        <p:nvSpPr>
          <p:cNvPr id="85" name="Text 82"/>
          <p:cNvSpPr txBox="1"/>
          <p:nvPr/>
        </p:nvSpPr>
        <p:spPr>
          <a:xfrm>
            <a:off x="3493008" y="8412480"/>
            <a:ext cx="594360" cy="173736"/>
          </a:xfrm>
          <a:prstGeom prst="rect">
            <a:avLst/>
          </a:prstGeom>
          <a:noFill/>
          <a:ln/>
        </p:spPr>
        <p:txBody>
          <a:bodyPr wrap="square" lIns="0" tIns="0" rIns="0" bIns="0" rtlCol="0" anchor="ctr"/>
          <a:lstStyle/>
          <a:p>
            <a:pPr indent="0" marL="0">
              <a:buNone/>
            </a:pPr>
            <a:r>
              <a:rPr lang="en-US" sz="650" dirty="0">
                <a:solidFill>
                  <a:srgbClr val="4A4A4A"/>
                </a:solidFill>
              </a:rPr>
              <a:t>そう思わない</a:t>
            </a:r>
            <a:endParaRPr lang="en-US" sz="650" dirty="0"/>
          </a:p>
        </p:txBody>
      </p:sp>
      <p:sp>
        <p:nvSpPr>
          <p:cNvPr id="86" name="Shape 83"/>
          <p:cNvSpPr/>
          <p:nvPr/>
        </p:nvSpPr>
        <p:spPr>
          <a:xfrm>
            <a:off x="4178808" y="8453628"/>
            <a:ext cx="91440" cy="91440"/>
          </a:xfrm>
          <a:prstGeom prst="ellipse">
            <a:avLst/>
          </a:prstGeom>
          <a:solidFill>
            <a:srgbClr val="9AA4AF"/>
          </a:solidFill>
          <a:ln/>
        </p:spPr>
      </p:sp>
      <p:sp>
        <p:nvSpPr>
          <p:cNvPr id="87" name="Text 84"/>
          <p:cNvSpPr txBox="1"/>
          <p:nvPr/>
        </p:nvSpPr>
        <p:spPr>
          <a:xfrm>
            <a:off x="4306824" y="8412480"/>
            <a:ext cx="1005840" cy="173736"/>
          </a:xfrm>
          <a:prstGeom prst="rect">
            <a:avLst/>
          </a:prstGeom>
          <a:noFill/>
          <a:ln/>
        </p:spPr>
        <p:txBody>
          <a:bodyPr wrap="square" lIns="0" tIns="0" rIns="0" bIns="0" rtlCol="0" anchor="ctr"/>
          <a:lstStyle/>
          <a:p>
            <a:pPr indent="0" marL="0">
              <a:buNone/>
            </a:pPr>
            <a:r>
              <a:rPr lang="en-US" sz="650" dirty="0">
                <a:solidFill>
                  <a:srgbClr val="4A4A4A"/>
                </a:solidFill>
              </a:rPr>
              <a:t>全くそう思わない 2.3%</a:t>
            </a:r>
            <a:endParaRPr lang="en-US" sz="650" dirty="0"/>
          </a:p>
        </p:txBody>
      </p:sp>
      <p:sp>
        <p:nvSpPr>
          <p:cNvPr id="88" name="Text 85"/>
          <p:cNvSpPr txBox="1"/>
          <p:nvPr/>
        </p:nvSpPr>
        <p:spPr>
          <a:xfrm>
            <a:off x="502920" y="8759952"/>
            <a:ext cx="5852160" cy="594360"/>
          </a:xfrm>
          <a:prstGeom prst="rect">
            <a:avLst/>
          </a:prstGeom>
          <a:noFill/>
          <a:ln/>
        </p:spPr>
        <p:txBody>
          <a:bodyPr wrap="square" lIns="0" tIns="0" rIns="0" bIns="0" rtlCol="0" anchor="t"/>
          <a:lstStyle/>
          <a:p>
            <a:pPr indent="0" marL="0">
              <a:lnSpc>
                <a:spcPct val="125000"/>
              </a:lnSpc>
              <a:buNone/>
            </a:pPr>
            <a:r>
              <a:rPr lang="en-US" sz="800" dirty="0">
                <a:solidFill>
                  <a:srgbClr val="262626"/>
                </a:solidFill>
              </a:rPr>
              <a:t>　生活者調査では、血糖値の測定やその数値によって、糖尿病予備群などのリスクを十分に把握できると思う人が87.5％にのぼりました（図5）。血糖値が身近な指標であるからこそ、「血糖値を見ていれば大丈夫」と受け止められやすいことも、今回の“血糖値の落とし穴”といえそうです。</a:t>
            </a:r>
            <a:endParaRPr lang="en-US" sz="800" dirty="0"/>
          </a:p>
        </p:txBody>
      </p:sp>
      <p:sp>
        <p:nvSpPr>
          <p:cNvPr id="25" name="Slide Number Placeholder 0"/>
          <p:cNvSpPr>
            <a:spLocks noGrp="1"/>
          </p:cNvSpPr>
          <p:nvPr>
            <p:ph type="sldNum" sz="quarter" idx="4294967295"/>
          </p:nvPr>
        </p:nvSpPr>
        <p:spPr>
          <a:xfrm>
            <a:off x="5897880" y="9491472"/>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7A7A7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411480"/>
            <a:ext cx="310896" cy="310896"/>
          </a:xfrm>
          <a:prstGeom prst="ellipse">
            <a:avLst/>
          </a:prstGeom>
          <a:solidFill>
            <a:srgbClr val="C8102E"/>
          </a:solid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3" name="Text 1"/>
          <p:cNvSpPr txBox="1"/>
          <p:nvPr/>
        </p:nvSpPr>
        <p:spPr>
          <a:xfrm>
            <a:off x="923544" y="411480"/>
            <a:ext cx="5431536" cy="310896"/>
          </a:xfrm>
          <a:prstGeom prst="rect">
            <a:avLst/>
          </a:prstGeom>
          <a:noFill/>
          <a:ln/>
        </p:spPr>
        <p:txBody>
          <a:bodyPr wrap="square" lIns="0" tIns="0" rIns="0" bIns="0" rtlCol="0" anchor="ctr"/>
          <a:lstStyle/>
          <a:p>
            <a:pPr indent="0" marL="0">
              <a:buNone/>
            </a:pPr>
            <a:r>
              <a:rPr lang="en-US" sz="1300" b="1" dirty="0">
                <a:solidFill>
                  <a:srgbClr val="262626"/>
                </a:solidFill>
              </a:rPr>
              <a:t>災害時の避難生活は「血糖コントロールの重要性が高まる」医師の9割</a:t>
            </a:r>
            <a:endParaRPr lang="en-US" sz="1300" dirty="0"/>
          </a:p>
        </p:txBody>
      </p:sp>
      <p:sp>
        <p:nvSpPr>
          <p:cNvPr id="4" name="Text 2"/>
          <p:cNvSpPr txBox="1"/>
          <p:nvPr/>
        </p:nvSpPr>
        <p:spPr>
          <a:xfrm>
            <a:off x="502920" y="822960"/>
            <a:ext cx="5852160" cy="219456"/>
          </a:xfrm>
          <a:prstGeom prst="rect">
            <a:avLst/>
          </a:prstGeom>
          <a:noFill/>
          <a:ln/>
        </p:spPr>
        <p:txBody>
          <a:bodyPr wrap="square" lIns="0" tIns="0" rIns="0" bIns="0" rtlCol="0" anchor="ctr"/>
          <a:lstStyle/>
          <a:p>
            <a:pPr indent="0" marL="0">
              <a:buNone/>
            </a:pPr>
            <a:r>
              <a:rPr lang="en-US" sz="850" b="1" dirty="0">
                <a:solidFill>
                  <a:srgbClr val="C8102E"/>
                </a:solidFill>
              </a:rPr>
              <a:t>図6</a:t>
            </a:r>
            <a:pPr indent="0" marL="0">
              <a:buNone/>
            </a:pPr>
            <a:r>
              <a:rPr lang="en-US" sz="850" b="1" dirty="0">
                <a:solidFill>
                  <a:srgbClr val="262626"/>
                </a:solidFill>
              </a:rPr>
              <a:t>　【医師】通常の生活時と比べ、「災害時の避難生活」では血糖コントロールの重要性は高まる？</a:t>
            </a:r>
            <a:endParaRPr lang="en-US" sz="850" dirty="0"/>
          </a:p>
        </p:txBody>
      </p:sp>
      <p:sp>
        <p:nvSpPr>
          <p:cNvPr id="5" name="Shape 3"/>
          <p:cNvSpPr/>
          <p:nvPr/>
        </p:nvSpPr>
        <p:spPr>
          <a:xfrm>
            <a:off x="502920" y="1078992"/>
            <a:ext cx="5852160" cy="868680"/>
          </a:xfrm>
          <a:prstGeom prst="roundRect">
            <a:avLst>
              <a:gd name="adj" fmla="val 8421"/>
            </a:avLst>
          </a:prstGeom>
          <a:solidFill>
            <a:srgbClr val="F6F6F6"/>
          </a:solidFill>
          <a:ln/>
        </p:spPr>
      </p:sp>
      <p:sp>
        <p:nvSpPr>
          <p:cNvPr id="6" name="Text 4"/>
          <p:cNvSpPr txBox="1"/>
          <p:nvPr/>
        </p:nvSpPr>
        <p:spPr>
          <a:xfrm>
            <a:off x="640080" y="1133856"/>
            <a:ext cx="1097280" cy="548640"/>
          </a:xfrm>
          <a:prstGeom prst="rect">
            <a:avLst/>
          </a:prstGeom>
          <a:noFill/>
          <a:ln/>
        </p:spPr>
        <p:txBody>
          <a:bodyPr wrap="square" lIns="0" tIns="0" rIns="0" bIns="0" rtlCol="0" anchor="ctr"/>
          <a:lstStyle/>
          <a:p>
            <a:pPr indent="0" marL="0">
              <a:buNone/>
            </a:pPr>
            <a:r>
              <a:rPr lang="en-US" sz="2000" b="1" dirty="0">
                <a:solidFill>
                  <a:srgbClr val="C8102E"/>
                </a:solidFill>
              </a:rPr>
              <a:t>89.7%</a:t>
            </a:r>
            <a:endParaRPr lang="en-US" sz="850" dirty="0"/>
          </a:p>
          <a:p>
            <a:pPr indent="0" marL="0">
              <a:buNone/>
            </a:pPr>
            <a:r>
              <a:rPr lang="en-US" sz="700" b="1" dirty="0">
                <a:solidFill>
                  <a:srgbClr val="4A4A4A"/>
                </a:solidFill>
              </a:rPr>
              <a:t>「高まる」計</a:t>
            </a:r>
            <a:endParaRPr lang="en-US" sz="850" dirty="0"/>
          </a:p>
        </p:txBody>
      </p:sp>
      <p:sp>
        <p:nvSpPr>
          <p:cNvPr id="7" name="Text 5"/>
          <p:cNvSpPr txBox="1"/>
          <p:nvPr/>
        </p:nvSpPr>
        <p:spPr>
          <a:xfrm>
            <a:off x="5623560" y="1115568"/>
            <a:ext cx="640080" cy="128016"/>
          </a:xfrm>
          <a:prstGeom prst="rect">
            <a:avLst/>
          </a:prstGeom>
          <a:noFill/>
          <a:ln/>
        </p:spPr>
        <p:txBody>
          <a:bodyPr wrap="square" lIns="0" tIns="0" rIns="0" bIns="0" rtlCol="0" anchor="t"/>
          <a:lstStyle/>
          <a:p>
            <a:pPr algn="r" indent="0" marL="0">
              <a:buNone/>
            </a:pPr>
            <a:r>
              <a:rPr lang="en-US" sz="600" dirty="0">
                <a:solidFill>
                  <a:srgbClr val="7A7A7A"/>
                </a:solidFill>
              </a:rPr>
              <a:t>n=331</a:t>
            </a:r>
            <a:endParaRPr lang="en-US" sz="600" dirty="0"/>
          </a:p>
        </p:txBody>
      </p:sp>
      <p:sp>
        <p:nvSpPr>
          <p:cNvPr id="8" name="Shape 6"/>
          <p:cNvSpPr/>
          <p:nvPr/>
        </p:nvSpPr>
        <p:spPr>
          <a:xfrm>
            <a:off x="1828800" y="1261872"/>
            <a:ext cx="1606418" cy="274320"/>
          </a:xfrm>
          <a:prstGeom prst="rect">
            <a:avLst/>
          </a:prstGeom>
          <a:solidFill>
            <a:srgbClr val="C8102E"/>
          </a:solidFill>
          <a:ln w="12700">
            <a:solidFill>
              <a:srgbClr val="FFFFFF"/>
            </a:solidFill>
            <a:prstDash val="solid"/>
          </a:ln>
        </p:spPr>
      </p:sp>
      <p:sp>
        <p:nvSpPr>
          <p:cNvPr id="9" name="Text 7"/>
          <p:cNvSpPr txBox="1"/>
          <p:nvPr/>
        </p:nvSpPr>
        <p:spPr>
          <a:xfrm>
            <a:off x="1828800" y="1261872"/>
            <a:ext cx="1606418" cy="274320"/>
          </a:xfrm>
          <a:prstGeom prst="rect">
            <a:avLst/>
          </a:prstGeom>
          <a:noFill/>
          <a:ln/>
        </p:spPr>
        <p:txBody>
          <a:bodyPr wrap="square" lIns="0" tIns="0" rIns="0" bIns="0" rtlCol="0" anchor="ctr"/>
          <a:lstStyle/>
          <a:p>
            <a:pPr algn="ctr" indent="0" marL="0">
              <a:buNone/>
            </a:pPr>
            <a:r>
              <a:rPr lang="en-US" sz="800" b="1" dirty="0">
                <a:solidFill>
                  <a:srgbClr val="FFFFFF"/>
                </a:solidFill>
              </a:rPr>
              <a:t>36.6%</a:t>
            </a:r>
            <a:endParaRPr lang="en-US" sz="800" dirty="0"/>
          </a:p>
        </p:txBody>
      </p:sp>
      <p:sp>
        <p:nvSpPr>
          <p:cNvPr id="10" name="Shape 8"/>
          <p:cNvSpPr/>
          <p:nvPr/>
        </p:nvSpPr>
        <p:spPr>
          <a:xfrm>
            <a:off x="3435218" y="1261872"/>
            <a:ext cx="2335012" cy="274320"/>
          </a:xfrm>
          <a:prstGeom prst="rect">
            <a:avLst/>
          </a:prstGeom>
          <a:solidFill>
            <a:srgbClr val="F3C9D0"/>
          </a:solidFill>
          <a:ln w="12700">
            <a:solidFill>
              <a:srgbClr val="FFFFFF"/>
            </a:solidFill>
            <a:prstDash val="solid"/>
          </a:ln>
        </p:spPr>
      </p:sp>
      <p:sp>
        <p:nvSpPr>
          <p:cNvPr id="11" name="Text 9"/>
          <p:cNvSpPr txBox="1"/>
          <p:nvPr/>
        </p:nvSpPr>
        <p:spPr>
          <a:xfrm>
            <a:off x="3435218" y="1261872"/>
            <a:ext cx="2335012" cy="274320"/>
          </a:xfrm>
          <a:prstGeom prst="rect">
            <a:avLst/>
          </a:prstGeom>
          <a:noFill/>
          <a:ln/>
        </p:spPr>
        <p:txBody>
          <a:bodyPr wrap="square" lIns="0" tIns="0" rIns="0" bIns="0" rtlCol="0" anchor="ctr"/>
          <a:lstStyle/>
          <a:p>
            <a:pPr algn="ctr" indent="0" marL="0">
              <a:buNone/>
            </a:pPr>
            <a:r>
              <a:rPr lang="en-US" sz="800" b="1" dirty="0">
                <a:solidFill>
                  <a:srgbClr val="9E0D25"/>
                </a:solidFill>
              </a:rPr>
              <a:t>53.2%</a:t>
            </a:r>
            <a:endParaRPr lang="en-US" sz="800" dirty="0"/>
          </a:p>
        </p:txBody>
      </p:sp>
      <p:sp>
        <p:nvSpPr>
          <p:cNvPr id="12" name="Shape 10"/>
          <p:cNvSpPr/>
          <p:nvPr/>
        </p:nvSpPr>
        <p:spPr>
          <a:xfrm>
            <a:off x="5770230" y="1261872"/>
            <a:ext cx="452079" cy="274320"/>
          </a:xfrm>
          <a:prstGeom prst="rect">
            <a:avLst/>
          </a:prstGeom>
          <a:solidFill>
            <a:srgbClr val="D9D9D9"/>
          </a:solidFill>
          <a:ln w="12700">
            <a:solidFill>
              <a:srgbClr val="FFFFFF"/>
            </a:solidFill>
            <a:prstDash val="solid"/>
          </a:ln>
        </p:spPr>
      </p:sp>
      <p:sp>
        <p:nvSpPr>
          <p:cNvPr id="13" name="Text 11"/>
          <p:cNvSpPr txBox="1"/>
          <p:nvPr/>
        </p:nvSpPr>
        <p:spPr>
          <a:xfrm>
            <a:off x="5770230" y="1261872"/>
            <a:ext cx="452079" cy="274320"/>
          </a:xfrm>
          <a:prstGeom prst="rect">
            <a:avLst/>
          </a:prstGeom>
          <a:noFill/>
          <a:ln/>
        </p:spPr>
        <p:txBody>
          <a:bodyPr wrap="square" lIns="0" tIns="0" rIns="0" bIns="0" rtlCol="0" anchor="ctr"/>
          <a:lstStyle/>
          <a:p>
            <a:pPr algn="ctr" indent="0" marL="0">
              <a:buNone/>
            </a:pPr>
            <a:r>
              <a:rPr lang="en-US" sz="800" b="1" dirty="0">
                <a:solidFill>
                  <a:srgbClr val="262626"/>
                </a:solidFill>
              </a:rPr>
              <a:t>10.3%</a:t>
            </a:r>
            <a:endParaRPr lang="en-US" sz="800" dirty="0"/>
          </a:p>
        </p:txBody>
      </p:sp>
      <p:sp>
        <p:nvSpPr>
          <p:cNvPr id="14" name="Shape 12"/>
          <p:cNvSpPr/>
          <p:nvPr/>
        </p:nvSpPr>
        <p:spPr>
          <a:xfrm>
            <a:off x="1837944" y="1572768"/>
            <a:ext cx="914" cy="54864"/>
          </a:xfrm>
          <a:prstGeom prst="line">
            <a:avLst/>
          </a:prstGeom>
          <a:noFill/>
          <a:ln w="12700">
            <a:solidFill>
              <a:srgbClr val="C8102E"/>
            </a:solidFill>
            <a:prstDash val="solid"/>
          </a:ln>
        </p:spPr>
      </p:sp>
      <p:sp>
        <p:nvSpPr>
          <p:cNvPr id="15" name="Shape 13"/>
          <p:cNvSpPr/>
          <p:nvPr/>
        </p:nvSpPr>
        <p:spPr>
          <a:xfrm>
            <a:off x="1837944" y="1627632"/>
            <a:ext cx="3932286" cy="914"/>
          </a:xfrm>
          <a:prstGeom prst="line">
            <a:avLst/>
          </a:prstGeom>
          <a:noFill/>
          <a:ln w="12700">
            <a:solidFill>
              <a:srgbClr val="C8102E"/>
            </a:solidFill>
            <a:prstDash val="solid"/>
          </a:ln>
        </p:spPr>
      </p:sp>
      <p:sp>
        <p:nvSpPr>
          <p:cNvPr id="16" name="Shape 14"/>
          <p:cNvSpPr/>
          <p:nvPr/>
        </p:nvSpPr>
        <p:spPr>
          <a:xfrm>
            <a:off x="5770230" y="1572768"/>
            <a:ext cx="914" cy="54864"/>
          </a:xfrm>
          <a:prstGeom prst="line">
            <a:avLst/>
          </a:prstGeom>
          <a:noFill/>
          <a:ln w="12700">
            <a:solidFill>
              <a:srgbClr val="C8102E"/>
            </a:solidFill>
            <a:prstDash val="solid"/>
          </a:ln>
        </p:spPr>
      </p:sp>
      <p:sp>
        <p:nvSpPr>
          <p:cNvPr id="17" name="Shape 15"/>
          <p:cNvSpPr/>
          <p:nvPr/>
        </p:nvSpPr>
        <p:spPr>
          <a:xfrm>
            <a:off x="1828800" y="1741932"/>
            <a:ext cx="91440" cy="91440"/>
          </a:xfrm>
          <a:prstGeom prst="ellipse">
            <a:avLst/>
          </a:prstGeom>
          <a:solidFill>
            <a:srgbClr val="C8102E"/>
          </a:solidFill>
          <a:ln/>
        </p:spPr>
      </p:sp>
      <p:sp>
        <p:nvSpPr>
          <p:cNvPr id="18" name="Text 16"/>
          <p:cNvSpPr txBox="1"/>
          <p:nvPr/>
        </p:nvSpPr>
        <p:spPr>
          <a:xfrm>
            <a:off x="1956816" y="1700784"/>
            <a:ext cx="640080" cy="173736"/>
          </a:xfrm>
          <a:prstGeom prst="rect">
            <a:avLst/>
          </a:prstGeom>
          <a:noFill/>
          <a:ln/>
        </p:spPr>
        <p:txBody>
          <a:bodyPr wrap="square" lIns="0" tIns="0" rIns="0" bIns="0" rtlCol="0" anchor="ctr"/>
          <a:lstStyle/>
          <a:p>
            <a:pPr indent="0" marL="0">
              <a:buNone/>
            </a:pPr>
            <a:r>
              <a:rPr lang="en-US" sz="650" dirty="0">
                <a:solidFill>
                  <a:srgbClr val="4A4A4A"/>
                </a:solidFill>
              </a:rPr>
              <a:t>かなり高まる</a:t>
            </a:r>
            <a:endParaRPr lang="en-US" sz="650" dirty="0"/>
          </a:p>
        </p:txBody>
      </p:sp>
      <p:sp>
        <p:nvSpPr>
          <p:cNvPr id="19" name="Shape 17"/>
          <p:cNvSpPr/>
          <p:nvPr/>
        </p:nvSpPr>
        <p:spPr>
          <a:xfrm>
            <a:off x="2706624" y="1741932"/>
            <a:ext cx="91440" cy="91440"/>
          </a:xfrm>
          <a:prstGeom prst="ellipse">
            <a:avLst/>
          </a:prstGeom>
          <a:solidFill>
            <a:srgbClr val="F3C9D0"/>
          </a:solidFill>
          <a:ln/>
        </p:spPr>
      </p:sp>
      <p:sp>
        <p:nvSpPr>
          <p:cNvPr id="20" name="Text 18"/>
          <p:cNvSpPr txBox="1"/>
          <p:nvPr/>
        </p:nvSpPr>
        <p:spPr>
          <a:xfrm>
            <a:off x="2834640" y="1700784"/>
            <a:ext cx="548640" cy="173736"/>
          </a:xfrm>
          <a:prstGeom prst="rect">
            <a:avLst/>
          </a:prstGeom>
          <a:noFill/>
          <a:ln/>
        </p:spPr>
        <p:txBody>
          <a:bodyPr wrap="square" lIns="0" tIns="0" rIns="0" bIns="0" rtlCol="0" anchor="ctr"/>
          <a:lstStyle/>
          <a:p>
            <a:pPr indent="0" marL="0">
              <a:buNone/>
            </a:pPr>
            <a:r>
              <a:rPr lang="en-US" sz="650" dirty="0">
                <a:solidFill>
                  <a:srgbClr val="4A4A4A"/>
                </a:solidFill>
              </a:rPr>
              <a:t>まあ高まる</a:t>
            </a:r>
            <a:endParaRPr lang="en-US" sz="650" dirty="0"/>
          </a:p>
        </p:txBody>
      </p:sp>
      <p:sp>
        <p:nvSpPr>
          <p:cNvPr id="21" name="Shape 19"/>
          <p:cNvSpPr/>
          <p:nvPr/>
        </p:nvSpPr>
        <p:spPr>
          <a:xfrm>
            <a:off x="3493008" y="1741932"/>
            <a:ext cx="91440" cy="91440"/>
          </a:xfrm>
          <a:prstGeom prst="ellipse">
            <a:avLst/>
          </a:prstGeom>
          <a:solidFill>
            <a:srgbClr val="D9D9D9"/>
          </a:solidFill>
          <a:ln/>
        </p:spPr>
      </p:sp>
      <p:sp>
        <p:nvSpPr>
          <p:cNvPr id="22" name="Text 20"/>
          <p:cNvSpPr txBox="1"/>
          <p:nvPr/>
        </p:nvSpPr>
        <p:spPr>
          <a:xfrm>
            <a:off x="3621024" y="1700784"/>
            <a:ext cx="1188720" cy="173736"/>
          </a:xfrm>
          <a:prstGeom prst="rect">
            <a:avLst/>
          </a:prstGeom>
          <a:noFill/>
          <a:ln/>
        </p:spPr>
        <p:txBody>
          <a:bodyPr wrap="square" lIns="0" tIns="0" rIns="0" bIns="0" rtlCol="0" anchor="ctr"/>
          <a:lstStyle/>
          <a:p>
            <a:pPr indent="0" marL="0">
              <a:buNone/>
            </a:pPr>
            <a:r>
              <a:rPr lang="en-US" sz="650" dirty="0">
                <a:solidFill>
                  <a:srgbClr val="4A4A4A"/>
                </a:solidFill>
              </a:rPr>
              <a:t>通常の生活時と変わらない</a:t>
            </a:r>
            <a:endParaRPr lang="en-US" sz="650" dirty="0"/>
          </a:p>
        </p:txBody>
      </p:sp>
      <p:sp>
        <p:nvSpPr>
          <p:cNvPr id="23" name="Text 21"/>
          <p:cNvSpPr txBox="1"/>
          <p:nvPr/>
        </p:nvSpPr>
        <p:spPr>
          <a:xfrm>
            <a:off x="502920" y="2057400"/>
            <a:ext cx="5852160" cy="731520"/>
          </a:xfrm>
          <a:prstGeom prst="rect">
            <a:avLst/>
          </a:prstGeom>
          <a:noFill/>
          <a:ln/>
        </p:spPr>
        <p:txBody>
          <a:bodyPr wrap="square" lIns="0" tIns="0" rIns="0" bIns="0" rtlCol="0" anchor="t"/>
          <a:lstStyle/>
          <a:p>
            <a:pPr indent="0" marL="0">
              <a:lnSpc>
                <a:spcPct val="125000"/>
              </a:lnSpc>
              <a:buNone/>
            </a:pPr>
            <a:r>
              <a:rPr lang="en-US" sz="800" dirty="0">
                <a:solidFill>
                  <a:srgbClr val="262626"/>
                </a:solidFill>
              </a:rPr>
              <a:t>　今年は、7月に発生した令和8年熊本地震や各地の豪雨災害など、大規模な災害が複数発生しています。災害時の避難生活では、食事の偏りや運動量の低下、生活リズムの乱れなどから血糖コントロールが難しくなることも考えられます。本調査で避難生活における血糖コントロールの重要性を医師に尋ねたところ、9割の医師が「重要性が高まる」と回答しました（図6）。</a:t>
            </a:r>
            <a:endParaRPr lang="en-US" sz="800" dirty="0"/>
          </a:p>
        </p:txBody>
      </p:sp>
      <p:sp>
        <p:nvSpPr>
          <p:cNvPr id="24" name="Shape 22"/>
          <p:cNvSpPr/>
          <p:nvPr/>
        </p:nvSpPr>
        <p:spPr>
          <a:xfrm>
            <a:off x="502920" y="2926080"/>
            <a:ext cx="5852160" cy="1920240"/>
          </a:xfrm>
          <a:prstGeom prst="roundRect">
            <a:avLst>
              <a:gd name="adj" fmla="val 3810"/>
            </a:avLst>
          </a:prstGeom>
          <a:solidFill>
            <a:srgbClr val="FBECEE"/>
          </a:solidFill>
          <a:ln/>
        </p:spPr>
      </p:sp>
      <p:pic>
        <p:nvPicPr>
          <p:cNvPr id="25" name="Image 0" descr="preencoded.png">    </p:cNvPr>
          <p:cNvPicPr>
            <a:picLocks noChangeAspect="1"/>
          </p:cNvPicPr>
          <p:nvPr/>
        </p:nvPicPr>
        <p:blipFill>
          <a:blip r:embed="rId1"/>
          <a:stretch>
            <a:fillRect/>
          </a:stretch>
        </p:blipFill>
        <p:spPr>
          <a:xfrm>
            <a:off x="667512" y="3044952"/>
            <a:ext cx="292608" cy="292608"/>
          </a:xfrm>
          <a:prstGeom prst="rect">
            <a:avLst/>
          </a:prstGeom>
        </p:spPr>
      </p:pic>
      <p:sp>
        <p:nvSpPr>
          <p:cNvPr id="26" name="Text 23"/>
          <p:cNvSpPr txBox="1"/>
          <p:nvPr/>
        </p:nvSpPr>
        <p:spPr>
          <a:xfrm>
            <a:off x="1051560" y="3044952"/>
            <a:ext cx="1828800" cy="292608"/>
          </a:xfrm>
          <a:prstGeom prst="rect">
            <a:avLst/>
          </a:prstGeom>
          <a:noFill/>
          <a:ln/>
        </p:spPr>
        <p:txBody>
          <a:bodyPr wrap="square" lIns="0" tIns="0" rIns="0" bIns="0" rtlCol="0" anchor="ctr"/>
          <a:lstStyle/>
          <a:p>
            <a:pPr indent="0" marL="0">
              <a:buNone/>
            </a:pPr>
            <a:r>
              <a:rPr lang="en-US" sz="1100" b="1" dirty="0">
                <a:solidFill>
                  <a:srgbClr val="C8102E"/>
                </a:solidFill>
              </a:rPr>
              <a:t>調査結果を踏まえて</a:t>
            </a:r>
            <a:endParaRPr lang="en-US" sz="1100" dirty="0"/>
          </a:p>
        </p:txBody>
      </p:sp>
      <p:sp>
        <p:nvSpPr>
          <p:cNvPr id="27" name="Text 24"/>
          <p:cNvSpPr txBox="1"/>
          <p:nvPr/>
        </p:nvSpPr>
        <p:spPr>
          <a:xfrm>
            <a:off x="2697480" y="3044952"/>
            <a:ext cx="3520440" cy="292608"/>
          </a:xfrm>
          <a:prstGeom prst="rect">
            <a:avLst/>
          </a:prstGeom>
          <a:noFill/>
          <a:ln/>
        </p:spPr>
        <p:txBody>
          <a:bodyPr wrap="square" lIns="0" tIns="0" rIns="0" bIns="0" rtlCol="0" anchor="ctr"/>
          <a:lstStyle/>
          <a:p>
            <a:pPr algn="r" indent="0" marL="0">
              <a:buNone/>
            </a:pPr>
            <a:r>
              <a:rPr lang="en-US" sz="700" dirty="0">
                <a:solidFill>
                  <a:srgbClr val="4A4A4A"/>
                </a:solidFill>
              </a:rPr>
              <a:t>日本生活習慣病予防協会 代表　東京慈恵会医科大学 客員教授　</a:t>
            </a:r>
            <a:pPr algn="r" indent="0" marL="0">
              <a:buNone/>
            </a:pPr>
            <a:r>
              <a:rPr lang="en-US" sz="900" b="1" dirty="0">
                <a:solidFill>
                  <a:srgbClr val="4A4A4A"/>
                </a:solidFill>
              </a:rPr>
              <a:t>和田 高士</a:t>
            </a:r>
            <a:endParaRPr lang="en-US" sz="850" dirty="0"/>
          </a:p>
        </p:txBody>
      </p:sp>
      <p:sp>
        <p:nvSpPr>
          <p:cNvPr id="28" name="Text 25"/>
          <p:cNvSpPr txBox="1"/>
          <p:nvPr/>
        </p:nvSpPr>
        <p:spPr>
          <a:xfrm>
            <a:off x="685800" y="3429000"/>
            <a:ext cx="5486400" cy="1325880"/>
          </a:xfrm>
          <a:prstGeom prst="rect">
            <a:avLst/>
          </a:prstGeom>
          <a:noFill/>
          <a:ln/>
        </p:spPr>
        <p:txBody>
          <a:bodyPr wrap="square" lIns="0" tIns="0" rIns="0" bIns="0" rtlCol="0" anchor="t"/>
          <a:lstStyle/>
          <a:p>
            <a:pPr indent="0" marL="0">
              <a:lnSpc>
                <a:spcPct val="130000"/>
              </a:lnSpc>
              <a:buNone/>
            </a:pPr>
            <a:r>
              <a:rPr lang="en-US" sz="850" dirty="0">
                <a:solidFill>
                  <a:srgbClr val="262626"/>
                </a:solidFill>
              </a:rPr>
              <a:t>　今回のアンケートにおいて、健康管理上の重要性として、医師が血圧の次にヘモグロビンA1cをあげたこと、これら以外の順位も、医師の立場からすると図星であった。一方、生活者対象の調査結果では、ヘモグロビンA1cが最下位であった。その理由は、健康診断では、糖尿病検査としては血糖かヘモグロビンA1cのいずれか実施でよいこと、空腹状態が必要な中性脂肪も同時実施するなら採血側が血糖を選択してしまうこと、その結果、生活者にヘモグロビンA1cを認知される機会が減るためと考えられました。ヘモグロビンA1cは変動する血糖と異なり、過去1〜2か月の血糖平均状態を反映するため、糖尿病状態を容易に評価でき、健康管理には必須の血液検査項目です。</a:t>
            </a:r>
            <a:endParaRPr lang="en-US" sz="850" dirty="0"/>
          </a:p>
        </p:txBody>
      </p:sp>
      <p:sp>
        <p:nvSpPr>
          <p:cNvPr id="29" name="Text 26"/>
          <p:cNvSpPr txBox="1"/>
          <p:nvPr/>
        </p:nvSpPr>
        <p:spPr>
          <a:xfrm>
            <a:off x="502920" y="4983480"/>
            <a:ext cx="5852160" cy="237744"/>
          </a:xfrm>
          <a:prstGeom prst="rect">
            <a:avLst/>
          </a:prstGeom>
          <a:noFill/>
          <a:ln/>
        </p:spPr>
        <p:txBody>
          <a:bodyPr wrap="square" lIns="0" tIns="0" rIns="0" bIns="0" rtlCol="0" anchor="ctr"/>
          <a:lstStyle/>
          <a:p>
            <a:pPr indent="0" marL="0">
              <a:buNone/>
            </a:pPr>
            <a:r>
              <a:rPr lang="en-US" sz="1100" b="1" dirty="0">
                <a:solidFill>
                  <a:srgbClr val="262626"/>
                </a:solidFill>
              </a:rPr>
              <a:t>調査概要</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5266944"/>
          <a:ext cx="5852160" cy="914400"/>
        </p:xfrm>
        <a:graphic>
          <a:graphicData uri="http://schemas.openxmlformats.org/drawingml/2006/table">
            <a:tbl>
              <a:tblPr/>
              <a:tblGrid>
                <a:gridCol w="1188720"/>
                <a:gridCol w="4663440"/>
              </a:tblGrid>
              <a:tr h="219456">
                <a:tc>
                  <a:txBody>
                    <a:bodyPr/>
                    <a:lstStyle/>
                    <a:p>
                      <a:pPr indent="0" marL="0">
                        <a:buNone/>
                      </a:pPr>
                      <a:r>
                        <a:rPr lang="en-US" sz="700" b="1" dirty="0">
                          <a:solidFill>
                            <a:srgbClr val="262626"/>
                          </a:solidFill>
                          <a:latin typeface="游ゴシック" pitchFamily="34" charset="0"/>
                          <a:ea typeface="游ゴシック" pitchFamily="34" charset="-122"/>
                          <a:cs typeface="游ゴシック" pitchFamily="34" charset="-120"/>
                        </a:rPr>
                        <a:t>調査名</a:t>
                      </a:r>
                      <a:endParaRPr lang="en-US" sz="700" dirty="0">
                        <a:latin typeface="游ゴシック" charset="0"/>
                        <a:ea typeface="游ゴシック" charset="0"/>
                        <a:cs typeface="游ゴシック" charset="0"/>
                      </a:endParaRPr>
                    </a:p>
                  </a:txBody>
                  <a:tcPr marL="73152" marR="73152"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6F6F6"/>
                    </a:solidFill>
                  </a:tcPr>
                </a:tc>
                <a:tc>
                  <a:txBody>
                    <a:bodyPr/>
                    <a:lstStyle/>
                    <a:p>
                      <a:pPr indent="0" marL="0">
                        <a:buNone/>
                      </a:pPr>
                      <a:r>
                        <a:rPr lang="en-US" sz="700" dirty="0">
                          <a:solidFill>
                            <a:srgbClr val="262626"/>
                          </a:solidFill>
                          <a:latin typeface="游ゴシック" pitchFamily="34" charset="0"/>
                          <a:ea typeface="游ゴシック" pitchFamily="34" charset="-122"/>
                          <a:cs typeface="游ゴシック" pitchFamily="34" charset="-120"/>
                        </a:rPr>
                        <a:t>血糖値・ヘモグロビンA1cに関する意識調査</a:t>
                      </a:r>
                      <a:endParaRPr lang="en-US" sz="700" dirty="0">
                        <a:latin typeface="游ゴシック" charset="0"/>
                        <a:ea typeface="游ゴシック" charset="0"/>
                        <a:cs typeface="游ゴシック" charset="0"/>
                      </a:endParaRPr>
                    </a:p>
                  </a:txBody>
                  <a:tcPr marL="73152" marR="73152"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19456">
                <a:tc>
                  <a:txBody>
                    <a:bodyPr/>
                    <a:lstStyle/>
                    <a:p>
                      <a:pPr indent="0" marL="0">
                        <a:buNone/>
                      </a:pPr>
                      <a:r>
                        <a:rPr lang="en-US" sz="700" b="1" dirty="0">
                          <a:solidFill>
                            <a:srgbClr val="262626"/>
                          </a:solidFill>
                          <a:latin typeface="游ゴシック" pitchFamily="34" charset="0"/>
                          <a:ea typeface="游ゴシック" pitchFamily="34" charset="-122"/>
                          <a:cs typeface="游ゴシック" pitchFamily="34" charset="-120"/>
                        </a:rPr>
                        <a:t>調査主体</a:t>
                      </a:r>
                      <a:endParaRPr lang="en-US" sz="700" dirty="0">
                        <a:latin typeface="游ゴシック" charset="0"/>
                        <a:ea typeface="游ゴシック" charset="0"/>
                        <a:cs typeface="游ゴシック" charset="0"/>
                      </a:endParaRPr>
                    </a:p>
                  </a:txBody>
                  <a:tcPr marL="73152" marR="73152"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6F6F6"/>
                    </a:solidFill>
                  </a:tcPr>
                </a:tc>
                <a:tc>
                  <a:txBody>
                    <a:bodyPr/>
                    <a:lstStyle/>
                    <a:p>
                      <a:pPr indent="0" marL="0">
                        <a:buNone/>
                      </a:pPr>
                      <a:r>
                        <a:rPr lang="en-US" sz="700" dirty="0">
                          <a:solidFill>
                            <a:srgbClr val="262626"/>
                          </a:solidFill>
                          <a:latin typeface="游ゴシック" pitchFamily="34" charset="0"/>
                          <a:ea typeface="游ゴシック" pitchFamily="34" charset="-122"/>
                          <a:cs typeface="游ゴシック" pitchFamily="34" charset="-120"/>
                        </a:rPr>
                        <a:t>一般社団法人 日本生活習慣病予防協会</a:t>
                      </a:r>
                      <a:endParaRPr lang="en-US" sz="700" dirty="0">
                        <a:latin typeface="游ゴシック" charset="0"/>
                        <a:ea typeface="游ゴシック" charset="0"/>
                        <a:cs typeface="游ゴシック" charset="0"/>
                      </a:endParaRPr>
                    </a:p>
                  </a:txBody>
                  <a:tcPr marL="73152" marR="73152"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19456">
                <a:tc>
                  <a:txBody>
                    <a:bodyPr/>
                    <a:lstStyle/>
                    <a:p>
                      <a:pPr indent="0" marL="0">
                        <a:buNone/>
                      </a:pPr>
                      <a:r>
                        <a:rPr lang="en-US" sz="700" b="1" dirty="0">
                          <a:solidFill>
                            <a:srgbClr val="262626"/>
                          </a:solidFill>
                          <a:latin typeface="游ゴシック" pitchFamily="34" charset="0"/>
                          <a:ea typeface="游ゴシック" pitchFamily="34" charset="-122"/>
                          <a:cs typeface="游ゴシック" pitchFamily="34" charset="-120"/>
                        </a:rPr>
                        <a:t>調査方法・期間</a:t>
                      </a:r>
                      <a:endParaRPr lang="en-US" sz="700" dirty="0">
                        <a:latin typeface="游ゴシック" charset="0"/>
                        <a:ea typeface="游ゴシック" charset="0"/>
                        <a:cs typeface="游ゴシック" charset="0"/>
                      </a:endParaRPr>
                    </a:p>
                  </a:txBody>
                  <a:tcPr marL="73152" marR="73152"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6F6F6"/>
                    </a:solidFill>
                  </a:tcPr>
                </a:tc>
                <a:tc>
                  <a:txBody>
                    <a:bodyPr/>
                    <a:lstStyle/>
                    <a:p>
                      <a:pPr indent="0" marL="0">
                        <a:buNone/>
                      </a:pPr>
                      <a:r>
                        <a:rPr lang="en-US" sz="700" dirty="0">
                          <a:solidFill>
                            <a:srgbClr val="262626"/>
                          </a:solidFill>
                          <a:latin typeface="游ゴシック" pitchFamily="34" charset="0"/>
                          <a:ea typeface="游ゴシック" pitchFamily="34" charset="-122"/>
                          <a:cs typeface="游ゴシック" pitchFamily="34" charset="-120"/>
                        </a:rPr>
                        <a:t>WEB調査　2026年9月</a:t>
                      </a:r>
                      <a:endParaRPr lang="en-US" sz="700" dirty="0">
                        <a:latin typeface="游ゴシック" charset="0"/>
                        <a:ea typeface="游ゴシック" charset="0"/>
                        <a:cs typeface="游ゴシック" charset="0"/>
                      </a:endParaRPr>
                    </a:p>
                  </a:txBody>
                  <a:tcPr marL="73152" marR="73152"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29184">
                <a:tc>
                  <a:txBody>
                    <a:bodyPr/>
                    <a:lstStyle/>
                    <a:p>
                      <a:pPr indent="0" marL="0">
                        <a:buNone/>
                      </a:pPr>
                      <a:r>
                        <a:rPr lang="en-US" sz="700" b="1" dirty="0">
                          <a:solidFill>
                            <a:srgbClr val="262626"/>
                          </a:solidFill>
                          <a:latin typeface="游ゴシック" pitchFamily="34" charset="0"/>
                          <a:ea typeface="游ゴシック" pitchFamily="34" charset="-122"/>
                          <a:cs typeface="游ゴシック" pitchFamily="34" charset="-120"/>
                        </a:rPr>
                        <a:t>医師調査</a:t>
                      </a:r>
                      <a:endParaRPr lang="en-US" sz="700" dirty="0">
                        <a:latin typeface="游ゴシック" charset="0"/>
                        <a:ea typeface="游ゴシック" charset="0"/>
                        <a:cs typeface="游ゴシック" charset="0"/>
                      </a:endParaRPr>
                    </a:p>
                  </a:txBody>
                  <a:tcPr marL="73152" marR="73152"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6F6F6"/>
                    </a:solidFill>
                  </a:tcPr>
                </a:tc>
                <a:tc>
                  <a:txBody>
                    <a:bodyPr/>
                    <a:lstStyle/>
                    <a:p>
                      <a:pPr indent="0" marL="0">
                        <a:buNone/>
                      </a:pPr>
                      <a:r>
                        <a:rPr lang="en-US" sz="700" dirty="0">
                          <a:solidFill>
                            <a:srgbClr val="262626"/>
                          </a:solidFill>
                          <a:latin typeface="游ゴシック" pitchFamily="34" charset="0"/>
                          <a:ea typeface="游ゴシック" pitchFamily="34" charset="-122"/>
                          <a:cs typeface="游ゴシック" pitchFamily="34" charset="-120"/>
                        </a:rPr>
                        <a:t>全国の医師331人を対象に、健康診断項目の重要度、患者により確認してほしい指標、ヘモグロビンA1cを重視する理由などを調査</a:t>
                      </a:r>
                      <a:endParaRPr lang="en-US" sz="700" dirty="0">
                        <a:latin typeface="游ゴシック" charset="0"/>
                        <a:ea typeface="游ゴシック" charset="0"/>
                        <a:cs typeface="游ゴシック" charset="0"/>
                      </a:endParaRPr>
                    </a:p>
                  </a:txBody>
                  <a:tcPr marL="73152" marR="73152"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29184">
                <a:tc>
                  <a:txBody>
                    <a:bodyPr/>
                    <a:lstStyle/>
                    <a:p>
                      <a:pPr indent="0" marL="0">
                        <a:buNone/>
                      </a:pPr>
                      <a:r>
                        <a:rPr lang="en-US" sz="700" b="1" dirty="0">
                          <a:solidFill>
                            <a:srgbClr val="262626"/>
                          </a:solidFill>
                          <a:latin typeface="游ゴシック" pitchFamily="34" charset="0"/>
                          <a:ea typeface="游ゴシック" pitchFamily="34" charset="-122"/>
                          <a:cs typeface="游ゴシック" pitchFamily="34" charset="-120"/>
                        </a:rPr>
                        <a:t>生活者調査</a:t>
                      </a:r>
                      <a:endParaRPr lang="en-US" sz="700" dirty="0">
                        <a:latin typeface="游ゴシック" charset="0"/>
                        <a:ea typeface="游ゴシック" charset="0"/>
                        <a:cs typeface="游ゴシック" charset="0"/>
                      </a:endParaRPr>
                    </a:p>
                  </a:txBody>
                  <a:tcPr marL="73152" marR="73152"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6F6F6"/>
                    </a:solidFill>
                  </a:tcPr>
                </a:tc>
                <a:tc>
                  <a:txBody>
                    <a:bodyPr/>
                    <a:lstStyle/>
                    <a:p>
                      <a:pPr indent="0" marL="0">
                        <a:buNone/>
                      </a:pPr>
                      <a:r>
                        <a:rPr lang="en-US" sz="700" dirty="0">
                          <a:solidFill>
                            <a:srgbClr val="262626"/>
                          </a:solidFill>
                          <a:latin typeface="游ゴシック" pitchFamily="34" charset="0"/>
                          <a:ea typeface="游ゴシック" pitchFamily="34" charset="-122"/>
                          <a:cs typeface="游ゴシック" pitchFamily="34" charset="-120"/>
                        </a:rPr>
                        <a:t>全国の20〜69歳男女310人を対象に、健康診断項目の認知度、糖尿病リスク把握で重視する指標、ヘモグロビンA1cの認知度などを調査</a:t>
                      </a:r>
                      <a:endParaRPr lang="en-US" sz="700" dirty="0">
                        <a:latin typeface="游ゴシック" charset="0"/>
                        <a:ea typeface="游ゴシック" charset="0"/>
                        <a:cs typeface="游ゴシック" charset="0"/>
                      </a:endParaRPr>
                    </a:p>
                  </a:txBody>
                  <a:tcPr marL="73152" marR="73152"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31" name="Text 27"/>
          <p:cNvSpPr txBox="1"/>
          <p:nvPr/>
        </p:nvSpPr>
        <p:spPr>
          <a:xfrm>
            <a:off x="502920" y="6766560"/>
            <a:ext cx="5852160" cy="237744"/>
          </a:xfrm>
          <a:prstGeom prst="rect">
            <a:avLst/>
          </a:prstGeom>
          <a:noFill/>
          <a:ln/>
        </p:spPr>
        <p:txBody>
          <a:bodyPr wrap="square" lIns="0" tIns="0" rIns="0" bIns="0" rtlCol="0" anchor="ctr"/>
          <a:lstStyle/>
          <a:p>
            <a:pPr indent="0" marL="0">
              <a:buNone/>
            </a:pPr>
            <a:r>
              <a:rPr lang="en-US" sz="1100" b="1" dirty="0">
                <a:solidFill>
                  <a:srgbClr val="262626"/>
                </a:solidFill>
              </a:rPr>
              <a:t>日本生活習慣病予防協会とは</a:t>
            </a:r>
            <a:endParaRPr lang="en-US" sz="1100" dirty="0"/>
          </a:p>
        </p:txBody>
      </p:sp>
      <p:sp>
        <p:nvSpPr>
          <p:cNvPr id="32" name="Text 28"/>
          <p:cNvSpPr txBox="1"/>
          <p:nvPr/>
        </p:nvSpPr>
        <p:spPr>
          <a:xfrm>
            <a:off x="502920" y="7040880"/>
            <a:ext cx="5852160" cy="1188720"/>
          </a:xfrm>
          <a:prstGeom prst="rect">
            <a:avLst/>
          </a:prstGeom>
          <a:noFill/>
          <a:ln/>
        </p:spPr>
        <p:txBody>
          <a:bodyPr wrap="square" lIns="0" tIns="0" rIns="0" bIns="0" rtlCol="0" anchor="t"/>
          <a:lstStyle/>
          <a:p>
            <a:pPr indent="0" marL="0">
              <a:lnSpc>
                <a:spcPct val="120000"/>
              </a:lnSpc>
              <a:buNone/>
            </a:pPr>
            <a:r>
              <a:rPr lang="en-US" sz="700" dirty="0">
                <a:solidFill>
                  <a:srgbClr val="262626"/>
                </a:solidFill>
              </a:rPr>
              <a:t>日本生活習慣病予防協会は、生活習慣病の一次予防を中心に、その成因、診断、治療、リハビリテーションに関する知識の普及啓発、生活習慣病に関する調査研究を行うことを目的に、2000年に設立。2012年より公益性を高めるため一般社団法人化致しました。設立当初より、健康標語『一無、二少、三多（いちむにしょうさんた）』（無煙、少食、少酒、多動、多休、多接）の健康習慣を提言し、2017年に1月23日を『一無、二少、三多の日』として記念日登録、2011年より毎年2月を「全国生活習慣病予防月間」として、『一無、二少、三多』の健康習慣の普及を図っています。役員は、医師を中心に構成されています。</a:t>
            </a:r>
            <a:endParaRPr lang="en-US" sz="700" dirty="0"/>
          </a:p>
          <a:p>
            <a:pPr indent="0" marL="0">
              <a:lnSpc>
                <a:spcPct val="120000"/>
              </a:lnSpc>
              <a:buNone/>
            </a:pPr>
            <a:r>
              <a:rPr lang="en-US" sz="700" u="sng" dirty="0">
                <a:solidFill>
                  <a:srgbClr val="46688C"/>
                </a:solidFill>
                <a:hlinkClick r:id="rId2" invalidUrl="" action="" tgtFrame="" tooltip="" history="1" highlightClick="0" endSnd="0">
                  <a:extLst>
                    <a:ext uri="{A12FA001-AC4F-418D-AE19-62706E023703}">
                      <ahyp:hlinkClr xmlns:ahyp="http://schemas.microsoft.com/office/drawing/2018/hyperlinkcolor" val="tx"/>
                    </a:ext>
                  </a:extLst>
                </a:hlinkClick>
              </a:rPr>
              <a:t>https://seikatsusyukanbyo.com/</a:t>
            </a:r>
            <a:endParaRPr lang="en-US" sz="700" dirty="0"/>
          </a:p>
        </p:txBody>
      </p:sp>
      <p:sp>
        <p:nvSpPr>
          <p:cNvPr id="33" name="Shape 29"/>
          <p:cNvSpPr/>
          <p:nvPr/>
        </p:nvSpPr>
        <p:spPr>
          <a:xfrm>
            <a:off x="502920" y="8321040"/>
            <a:ext cx="5852160" cy="914400"/>
          </a:xfrm>
          <a:prstGeom prst="roundRect">
            <a:avLst>
              <a:gd name="adj" fmla="val 8000"/>
            </a:avLst>
          </a:prstGeom>
          <a:solidFill>
            <a:srgbClr val="FFFFFF"/>
          </a:solidFill>
          <a:ln w="9525">
            <a:solidFill>
              <a:srgbClr val="4A4A4A"/>
            </a:solidFill>
            <a:prstDash val="solid"/>
          </a:ln>
        </p:spPr>
      </p:sp>
      <p:sp>
        <p:nvSpPr>
          <p:cNvPr id="34" name="Shape 30"/>
          <p:cNvSpPr/>
          <p:nvPr/>
        </p:nvSpPr>
        <p:spPr>
          <a:xfrm>
            <a:off x="685800" y="8476488"/>
            <a:ext cx="310896" cy="310896"/>
          </a:xfrm>
          <a:prstGeom prst="ellipse">
            <a:avLst/>
          </a:prstGeom>
          <a:solidFill>
            <a:srgbClr val="C8102E"/>
          </a:solidFill>
          <a:ln/>
        </p:spPr>
      </p:sp>
      <p:pic>
        <p:nvPicPr>
          <p:cNvPr id="35" name="Image 1" descr="preencoded.png">    </p:cNvPr>
          <p:cNvPicPr>
            <a:picLocks noChangeAspect="1"/>
          </p:cNvPicPr>
          <p:nvPr/>
        </p:nvPicPr>
        <p:blipFill>
          <a:blip r:embed="rId3"/>
          <a:stretch>
            <a:fillRect/>
          </a:stretch>
        </p:blipFill>
        <p:spPr>
          <a:xfrm>
            <a:off x="760415" y="8551103"/>
            <a:ext cx="161666" cy="161666"/>
          </a:xfrm>
          <a:prstGeom prst="rect">
            <a:avLst/>
          </a:prstGeom>
        </p:spPr>
      </p:pic>
      <p:sp>
        <p:nvSpPr>
          <p:cNvPr id="36" name="Text 31"/>
          <p:cNvSpPr txBox="1"/>
          <p:nvPr/>
        </p:nvSpPr>
        <p:spPr>
          <a:xfrm>
            <a:off x="1124712" y="8430768"/>
            <a:ext cx="3657600" cy="237744"/>
          </a:xfrm>
          <a:prstGeom prst="rect">
            <a:avLst/>
          </a:prstGeom>
          <a:noFill/>
          <a:ln/>
        </p:spPr>
        <p:txBody>
          <a:bodyPr wrap="square" lIns="0" tIns="0" rIns="0" bIns="0" rtlCol="0" anchor="ctr"/>
          <a:lstStyle/>
          <a:p>
            <a:pPr indent="0" marL="0">
              <a:buNone/>
            </a:pPr>
            <a:r>
              <a:rPr lang="en-US" sz="950" b="1" dirty="0">
                <a:solidFill>
                  <a:srgbClr val="262626"/>
                </a:solidFill>
              </a:rPr>
              <a:t>取材・調査内容のお問い合わせ</a:t>
            </a:r>
            <a:endParaRPr lang="en-US" sz="950" dirty="0"/>
          </a:p>
        </p:txBody>
      </p:sp>
      <p:sp>
        <p:nvSpPr>
          <p:cNvPr id="37" name="Text 32"/>
          <p:cNvSpPr txBox="1"/>
          <p:nvPr/>
        </p:nvSpPr>
        <p:spPr>
          <a:xfrm>
            <a:off x="1124712" y="8686800"/>
            <a:ext cx="5029200" cy="457200"/>
          </a:xfrm>
          <a:prstGeom prst="rect">
            <a:avLst/>
          </a:prstGeom>
          <a:noFill/>
          <a:ln/>
        </p:spPr>
        <p:txBody>
          <a:bodyPr wrap="square" lIns="0" tIns="0" rIns="0" bIns="0" rtlCol="0" anchor="t"/>
          <a:lstStyle/>
          <a:p>
            <a:pPr indent="0" marL="0">
              <a:lnSpc>
                <a:spcPct val="125000"/>
              </a:lnSpc>
              <a:buNone/>
            </a:pPr>
            <a:r>
              <a:rPr lang="en-US" sz="800" dirty="0">
                <a:solidFill>
                  <a:srgbClr val="4A4A4A"/>
                </a:solidFill>
              </a:rPr>
              <a:t>PR事務局（株式会社alma内）　担当：和田、長瀬、石川</a:t>
            </a:r>
            <a:endParaRPr lang="en-US" sz="800" dirty="0"/>
          </a:p>
          <a:p>
            <a:pPr indent="0" marL="0">
              <a:lnSpc>
                <a:spcPct val="125000"/>
              </a:lnSpc>
              <a:buNone/>
            </a:pPr>
            <a:r>
              <a:rPr lang="en-US" sz="800" dirty="0">
                <a:solidFill>
                  <a:srgbClr val="4A4A4A"/>
                </a:solidFill>
              </a:rPr>
              <a:t>Tel：03-3519-3051　Email：almapr@alma11.com</a:t>
            </a:r>
            <a:endParaRPr lang="en-US" sz="800" dirty="0"/>
          </a:p>
        </p:txBody>
      </p:sp>
      <p:sp>
        <p:nvSpPr>
          <p:cNvPr id="25" name="Slide Number Placeholder 0"/>
          <p:cNvSpPr>
            <a:spLocks noGrp="1"/>
          </p:cNvSpPr>
          <p:nvPr>
            <p:ph type="sldNum" sz="quarter" idx="4294967295"/>
          </p:nvPr>
        </p:nvSpPr>
        <p:spPr>
          <a:xfrm>
            <a:off x="5897880" y="9491472"/>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7A7A7A"/>
                </a:solidFill>
              </a:defRPr>
            </a:lvl1pPr>
          </a:lstStyle>
          <a:p>
            <a:pPr algn="r"/>
            <a:fld id="{F7021451-1387-4CA6-816F-3879F97B5CBC}" type="slidenum">
              <a:rPr b="0" lang="en-US"/>
              <a:t>4</a:t>
            </a:fld>
            <a:endParaRPr lang="en-US"/>
          </a:p>
        </p:txBody>
      </p:sp>
    </p:spTree>
  </p:cSld>
  <p:clrMapOvr>
    <a:masterClrMapping/>
  </p:clrMapOvr>
</p:sld>
</file>

<file path=ppt/theme/theme1.xml><?xml version="1.0" encoding="utf-8"?>
<a:theme xmlns:a="http://schemas.openxmlformats.org/drawingml/2006/main" name="Tou wo Hakaru Hi">
  <a:themeElements>
    <a:clrScheme name="Tou wo Hakaru Hi">
      <a:dk1>
        <a:srgbClr val="262626"/>
      </a:dk1>
      <a:lt1>
        <a:srgbClr val="FFFFFF"/>
      </a:lt1>
      <a:dk2>
        <a:srgbClr val="2F4A66"/>
      </a:dk2>
      <a:lt2>
        <a:srgbClr val="F6F6F6"/>
      </a:lt2>
      <a:accent1>
        <a:srgbClr val="C8102E"/>
      </a:accent1>
      <a:accent2>
        <a:srgbClr val="46688C"/>
      </a:accent2>
      <a:accent3>
        <a:srgbClr val="B7C6D6"/>
      </a:accent3>
      <a:accent4>
        <a:srgbClr val="F3C9D0"/>
      </a:accent4>
      <a:accent5>
        <a:srgbClr val="6FA088"/>
      </a:accent5>
      <a:accent6>
        <a:srgbClr val="E3B04B"/>
      </a:accent6>
      <a:hlink>
        <a:srgbClr val="46688C"/>
      </a:hlink>
      <a:folHlink>
        <a:srgbClr val="7A7A7A"/>
      </a:folHlink>
    </a:clrScheme>
    <a:fontScheme name="Tou wo Hakaru Hi">
      <a:majorFont>
        <a:latin typeface="游ゴシック"/>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ニュースリリース 血糖値・ヘモグロビンA1cに関する意識調査</dc:title>
  <dc:subject>PptxGenJS Presentation</dc:subject>
  <dc:creator>日本生活習慣病予防協会</dc:creator>
  <cp:lastModifiedBy>日本生活習慣病予防協会</cp:lastModifiedBy>
  <cp:revision>1</cp:revision>
  <dcterms:created xsi:type="dcterms:W3CDTF">2026-10-02T07:01:49Z</dcterms:created>
  <dcterms:modified xsi:type="dcterms:W3CDTF">2026-10-02T07:01:49Z</dcterms:modified>
</cp:coreProperties>
</file>