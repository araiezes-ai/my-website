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オープニング" id="{a4082094-3368-c771-63b2-a2ccb0236894}">
          <p14:sldIdLst>
            <p14:sldId id="256"/>
            <p14:sldId id="257"/>
            <p14:sldId id="258"/>
          </p14:sldIdLst>
        </p14:section>
        <p14:section name="調査結果" id="{a0a0fcd2-8459-a36f-1655-5957d7649d52}">
          <p14:sldIdLst>
            <p14:sldId id="259"/>
            <p14:sldId id="260"/>
            <p14:sldId id="261"/>
            <p14:sldId id="262"/>
          </p14:sldIdLst>
        </p14:section>
        <p14:section name="解説" id="{a3a24658-ce5c-bde1-60d6-e2fad66f4b57}">
          <p14:sldIdLst>
            <p14:sldId id="263"/>
            <p14:sldId id="264"/>
          </p14:sldIdLst>
        </p14:section>
        <p14:section name="スペシャルトーク" id="{4dac8804-4502-f769-ba68-275f35e28e7b}">
          <p14:sldIdLst>
            <p14:sldId id="265"/>
          </p14:sldIdLst>
        </p14:section>
        <p14:section name="測定方法" id="{012d33d8-8270-0830-ee80-f8b190767a56}">
          <p14:sldIdLst>
            <p14:sldId id="266"/>
          </p14:sldIdLst>
        </p14:section>
        <p14:section name="クロージング" id="{33820126-bf78-6c22-6897-cbed7013b8a9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8102E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B7C6D6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HbA1c</c:v>
                </c:pt>
                <c:pt idx="1">
                  <c:v>血糖値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87</c:v>
                </c:pt>
                <c:pt idx="1">
                  <c:v>13</c:v>
                </c:pt>
              </c:numCache>
            </c:numRef>
          </c:val>
        </c:ser>
        <c:firstSliceAng val="0"/>
        <c:holeSize val="70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46688C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F3C9D0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血糖値</c:v>
                </c:pt>
                <c:pt idx="1">
                  <c:v>HbA1c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68.7</c:v>
                </c:pt>
                <c:pt idx="1">
                  <c:v>31.3</c:v>
                </c:pt>
              </c:numCache>
            </c:numRef>
          </c:val>
        </c:ser>
        <c:firstSliceAng val="0"/>
        <c:holeSize val="70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名前も意味も知っている</c:v>
                </c:pt>
              </c:strCache>
            </c:strRef>
          </c:tx>
          <c:spPr>
            <a:solidFill>
              <a:srgbClr val="4668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血圧</c:v>
                  </c:pt>
                  <c:pt idx="1">
                    <c:v>BMI</c:v>
                  </c:pt>
                  <c:pt idx="2">
                    <c:v>血糖値</c:v>
                  </c:pt>
                  <c:pt idx="3">
                    <c:v>中性脂肪</c:v>
                  </c:pt>
                  <c:pt idx="4">
                    <c:v>骨密度</c:v>
                  </c:pt>
                  <c:pt idx="5">
                    <c:v>尿酸</c:v>
                  </c:pt>
                  <c:pt idx="6">
                    <c:v>HDLコレステロール</c:v>
                  </c:pt>
                  <c:pt idx="7">
                    <c:v>LDLコレステロール</c:v>
                  </c:pt>
                  <c:pt idx="8">
                    <c:v>γ-GTP</c:v>
                  </c:pt>
                  <c:pt idx="9">
                    <c:v>尿糖</c:v>
                  </c:pt>
                  <c:pt idx="10">
                    <c:v>クレアチニン</c:v>
                  </c:pt>
                  <c:pt idx="11">
                    <c:v>HbA1c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85.2</c:v>
                </c:pt>
                <c:pt idx="1">
                  <c:v>70.3</c:v>
                </c:pt>
                <c:pt idx="2">
                  <c:v>65.2</c:v>
                </c:pt>
                <c:pt idx="3">
                  <c:v>54.5</c:v>
                </c:pt>
                <c:pt idx="4">
                  <c:v>60.6</c:v>
                </c:pt>
                <c:pt idx="5">
                  <c:v>37.7</c:v>
                </c:pt>
                <c:pt idx="6">
                  <c:v>37.4</c:v>
                </c:pt>
                <c:pt idx="7">
                  <c:v>42.3</c:v>
                </c:pt>
                <c:pt idx="8">
                  <c:v>26.1</c:v>
                </c:pt>
                <c:pt idx="9">
                  <c:v>30</c:v>
                </c:pt>
                <c:pt idx="10">
                  <c:v>14.2</c:v>
                </c:pt>
                <c:pt idx="11">
                  <c:v>23.2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名前は見聞きした程度</c:v>
                </c:pt>
              </c:strCache>
            </c:strRef>
          </c:tx>
          <c:spPr>
            <a:solidFill>
              <a:srgbClr val="B7C6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血圧</c:v>
                  </c:pt>
                  <c:pt idx="1">
                    <c:v>BMI</c:v>
                  </c:pt>
                  <c:pt idx="2">
                    <c:v>血糖値</c:v>
                  </c:pt>
                  <c:pt idx="3">
                    <c:v>中性脂肪</c:v>
                  </c:pt>
                  <c:pt idx="4">
                    <c:v>骨密度</c:v>
                  </c:pt>
                  <c:pt idx="5">
                    <c:v>尿酸</c:v>
                  </c:pt>
                  <c:pt idx="6">
                    <c:v>HDLコレステロール</c:v>
                  </c:pt>
                  <c:pt idx="7">
                    <c:v>LDLコレステロール</c:v>
                  </c:pt>
                  <c:pt idx="8">
                    <c:v>γ-GTP</c:v>
                  </c:pt>
                  <c:pt idx="9">
                    <c:v>尿糖</c:v>
                  </c:pt>
                  <c:pt idx="10">
                    <c:v>クレアチニン</c:v>
                  </c:pt>
                  <c:pt idx="11">
                    <c:v>HbA1c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13.9</c:v>
                </c:pt>
                <c:pt idx="1">
                  <c:v>28.1</c:v>
                </c:pt>
                <c:pt idx="2">
                  <c:v>32.6</c:v>
                </c:pt>
                <c:pt idx="3">
                  <c:v>42.3</c:v>
                </c:pt>
                <c:pt idx="4">
                  <c:v>35.2</c:v>
                </c:pt>
                <c:pt idx="5">
                  <c:v>55.5</c:v>
                </c:pt>
                <c:pt idx="6">
                  <c:v>51.6</c:v>
                </c:pt>
                <c:pt idx="7">
                  <c:v>45.8</c:v>
                </c:pt>
                <c:pt idx="8">
                  <c:v>51.6</c:v>
                </c:pt>
                <c:pt idx="9">
                  <c:v>41.9</c:v>
                </c:pt>
                <c:pt idx="10">
                  <c:v>46.8</c:v>
                </c:pt>
                <c:pt idx="11">
                  <c:v>36.5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知らない</c:v>
                </c:pt>
              </c:strCache>
            </c:strRef>
          </c:tx>
          <c:spPr>
            <a:solidFill>
              <a:srgbClr val="C810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血圧</c:v>
                  </c:pt>
                  <c:pt idx="1">
                    <c:v>BMI</c:v>
                  </c:pt>
                  <c:pt idx="2">
                    <c:v>血糖値</c:v>
                  </c:pt>
                  <c:pt idx="3">
                    <c:v>中性脂肪</c:v>
                  </c:pt>
                  <c:pt idx="4">
                    <c:v>骨密度</c:v>
                  </c:pt>
                  <c:pt idx="5">
                    <c:v>尿酸</c:v>
                  </c:pt>
                  <c:pt idx="6">
                    <c:v>HDLコレステロール</c:v>
                  </c:pt>
                  <c:pt idx="7">
                    <c:v>LDLコレステロール</c:v>
                  </c:pt>
                  <c:pt idx="8">
                    <c:v>γ-GTP</c:v>
                  </c:pt>
                  <c:pt idx="9">
                    <c:v>尿糖</c:v>
                  </c:pt>
                  <c:pt idx="10">
                    <c:v>クレアチニン</c:v>
                  </c:pt>
                  <c:pt idx="11">
                    <c:v>HbA1c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</c:v>
                </c:pt>
                <c:pt idx="1">
                  <c:v>1.6</c:v>
                </c:pt>
                <c:pt idx="2">
                  <c:v>2.3</c:v>
                </c:pt>
                <c:pt idx="3">
                  <c:v>3.2</c:v>
                </c:pt>
                <c:pt idx="4">
                  <c:v>4.2</c:v>
                </c:pt>
                <c:pt idx="5">
                  <c:v>6.8</c:v>
                </c:pt>
                <c:pt idx="6">
                  <c:v>11</c:v>
                </c:pt>
                <c:pt idx="7">
                  <c:v>11.9</c:v>
                </c:pt>
                <c:pt idx="8">
                  <c:v>22.3</c:v>
                </c:pt>
                <c:pt idx="9">
                  <c:v>28.1</c:v>
                </c:pt>
                <c:pt idx="10">
                  <c:v>39</c:v>
                </c:pt>
                <c:pt idx="11">
                  <c:v>40.3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6262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E6E6E6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A7A7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300">
              <a:solidFill>
                <a:srgbClr val="4A4A4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3C9D0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B7C6D6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HbA1c</c:v>
                </c:pt>
                <c:pt idx="1">
                  <c:v>血糖値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29.2</c:v>
                </c:pt>
                <c:pt idx="1">
                  <c:v>70.8</c:v>
                </c:pt>
              </c:numCache>
            </c:numRef>
          </c:val>
        </c:ser>
        <c:firstSliceAng val="0"/>
        <c:holeSize val="70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8102E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B7C6D6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HbA1c</c:v>
                </c:pt>
                <c:pt idx="1">
                  <c:v>血糖値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70.8</c:v>
                </c:pt>
                <c:pt idx="1">
                  <c:v>29.2</c:v>
                </c:pt>
              </c:numCache>
            </c:numRef>
          </c:val>
        </c:ser>
        <c:firstSliceAng val="0"/>
        <c:holeSize val="70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オープニング。10月8日「糖をはかる日」のスペシャルトークイベント。主催：日本生活習慣病予防協会。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本日の構成：主催団体の紹介、医師・生活者調査の発表、ヘモグロビンA1cをテーマにしたスペシャルトーク。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登壇者紹介。元大関 琴欧州の鳴戸親方、一之江駅前ひまわり医院の伊藤大介医師。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医師の87.0%は健康診断で患者に「HbA1c」をより見てほしいと回答。一方、生活者の68.7%は糖尿病リスクの把握で「血糖値」をより重視。医師n=331、生活者n=310。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生活者にHbA1cを知っているか聞くと、40.3%が「知らない」と回答し全12指標中ワースト。血糖値を知らない人は2.3%。一方で医師の78.2%がHbA1cを「非常に重要」と回答（血圧に次ぐ2位）。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生活者の回答をHbA1cの認識度別に分析。「内容まで知っている人」の70.8%はHbA1cを重視、「見聞きした程度の人」は29.2%。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生活者の87.5%（非常にそう思う20.5%＋そう思う67.0%）が、血糖値で糖尿病予備群などのリスクを十分に把握できると回答。n=303。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血糖値は採血した瞬間の血糖の量。食事の直後に上がり、活動で下がる、の繰り返しで1日の中でも変動する。空腹時血糖値は低く測定されることがあり、血糖値だけでは「予備群」を見逃す可能性も。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ヘモグロビンA1cは、赤血球の中のヘモグロビンに糖が結合した割合。一度結合すると赤血球の寿命まで消えずに蓄積されるため、過去1〜2か月の血糖の状態を反映し、検査当日の食事の影響を受けにくい。基準値：5.6〜5.8を超えると注意、6.5以上は糖尿病の恐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鳴戸親方のHbA1c 9.4 → 5.2。（※時期・経緯などの補足は親方・事務局にご確認ください）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ヘモグロビンA1cは、健康診断のオプション、「ゆびさきナビ」で検索できるゆびさきセルフ測定室（薬局など）、自宅での簡易検査キットで測定できる。※ご自宅の写真はダミー。差し替え予定。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クロージング。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56032"/>
            <a:ext cx="731520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b="1" dirty="0">
                <a:solidFill>
                  <a:srgbClr val="C8102E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1672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62626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7A7A"/>
                </a:solidFill>
              </a:rPr>
              <a:t>10月8日は「糖をはかる日」　｜　主催：一般社団法人 日本生活習慣病予防協会</a:t>
            </a:r>
            <a:endParaRPr lang="en-US" sz="1100" dirty="0"/>
          </a:p>
        </p:txBody>
      </p:sp>
      <p:pic>
        <p:nvPicPr>
          <p:cNvPr id="5" name="Image 0" descr="/tmp/claude-0/-home-user-my-website/f87fda31-ca5a-5f96-b5c1-887c7a459d5f/scratchpad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6291072"/>
            <a:ext cx="548640" cy="390449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4" Type="http://schemas.openxmlformats.org/officeDocument/2006/relationships/chart" Target="/ppt/charts/chart2.xml"/><Relationship Id="rId1" Type="http://schemas.openxmlformats.org/officeDocument/2006/relationships/image" Target="../media/image-4-1.png"/><Relationship Id="rId3" Type="http://schemas.openxmlformats.org/officeDocument/2006/relationships/image" Target="../media/image-4-2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5-1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1" Type="http://schemas.openxmlformats.org/officeDocument/2006/relationships/image" Target="../media/image-6-1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685800"/>
            <a:ext cx="5486400" cy="5486400"/>
          </a:xfrm>
          <a:prstGeom prst="ellipse">
            <a:avLst/>
          </a:prstGeom>
          <a:solidFill>
            <a:srgbClr val="FBECEE"/>
          </a:solidFill>
          <a:ln/>
        </p:spPr>
      </p:sp>
      <p:pic>
        <p:nvPicPr>
          <p:cNvPr id="3" name="Image 0" descr="10月8日 糖をはかる日 ロ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83080"/>
            <a:ext cx="4206240" cy="299008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72200" y="1325880"/>
            <a:ext cx="3566160" cy="512064"/>
          </a:xfrm>
          <a:prstGeom prst="roundRect">
            <a:avLst>
              <a:gd name="adj" fmla="val 50000"/>
            </a:avLst>
          </a:prstGeom>
          <a:solidFill>
            <a:srgbClr val="C810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スペシャルトークイベント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6172200" y="201168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262626"/>
                </a:solidFill>
              </a:rPr>
              <a:t>血糖値の落とし穴！？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6172200" y="3017520"/>
            <a:ext cx="5760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4A4A4A"/>
                </a:solidFill>
              </a:rPr>
              <a:t>医師が血糖値より重視する</a:t>
            </a:r>
            <a:endParaRPr lang="en-US" sz="2600" dirty="0"/>
          </a:p>
          <a:p>
            <a:pPr indent="0" marL="0">
              <a:buNone/>
            </a:pPr>
            <a:r>
              <a:rPr lang="en-US" sz="3800" b="1" dirty="0">
                <a:solidFill>
                  <a:srgbClr val="C8102E"/>
                </a:solidFill>
              </a:rPr>
              <a:t>「ヘモグロビンA1c」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172200" y="457200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A7A7A"/>
                </a:solidFill>
              </a:rPr>
              <a:t>医師・生活者「血糖値・ヘモグロビンA1cに関する意識調査」発表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172200" y="571500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4A4A"/>
                </a:solidFill>
              </a:rPr>
              <a:t>主催：一般社団法人 日本生活習慣病予防協会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5603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102E"/>
                </a:solidFill>
              </a:rPr>
              <a:t>EVENT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62626"/>
                </a:solidFill>
              </a:rPr>
              <a:t>本日のスペシャルトークイベント</a:t>
            </a:r>
            <a:endParaRPr lang="en-US" sz="3200" dirty="0"/>
          </a:p>
        </p:txBody>
      </p:sp>
      <p:sp>
        <p:nvSpPr>
          <p:cNvPr id="4" name="card0"/>
          <p:cNvSpPr/>
          <p:nvPr/>
        </p:nvSpPr>
        <p:spPr>
          <a:xfrm>
            <a:off x="548640" y="16002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6F6F6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965960"/>
            <a:ext cx="914400" cy="914400"/>
          </a:xfrm>
          <a:prstGeom prst="ellipse">
            <a:avLst/>
          </a:prstGeom>
          <a:solidFill>
            <a:srgbClr val="4A4A4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19456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926080" y="201168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B5B5B5"/>
                </a:solidFill>
              </a:rPr>
              <a:t>01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1546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7A7A"/>
                </a:solidFill>
              </a:rPr>
              <a:t>主催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361188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62626"/>
                </a:solidFill>
              </a:rPr>
              <a:t>日本生活習慣病予防協会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46634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A4A"/>
                </a:solidFill>
              </a:rPr>
              <a:t>健康標語「一無、二少、三多」を提言</a:t>
            </a:r>
            <a:endParaRPr lang="en-US" sz="1800" dirty="0"/>
          </a:p>
        </p:txBody>
      </p:sp>
      <p:sp>
        <p:nvSpPr>
          <p:cNvPr id="11" name="card1"/>
          <p:cNvSpPr/>
          <p:nvPr/>
        </p:nvSpPr>
        <p:spPr>
          <a:xfrm>
            <a:off x="4334256" y="16002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6F6F6"/>
          </a:solidFill>
          <a:ln/>
        </p:spPr>
      </p:sp>
      <p:sp>
        <p:nvSpPr>
          <p:cNvPr id="12" name="Shape 9"/>
          <p:cNvSpPr/>
          <p:nvPr/>
        </p:nvSpPr>
        <p:spPr>
          <a:xfrm>
            <a:off x="4700016" y="1965960"/>
            <a:ext cx="914400" cy="914400"/>
          </a:xfrm>
          <a:prstGeom prst="ellipse">
            <a:avLst/>
          </a:prstGeom>
          <a:solidFill>
            <a:srgbClr val="4A4A4A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8616" y="2194560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711696" y="201168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B5B5B5"/>
                </a:solidFill>
              </a:rPr>
              <a:t>02</a:t>
            </a:r>
            <a:endParaRPr lang="en-US" sz="2800" dirty="0"/>
          </a:p>
        </p:txBody>
      </p:sp>
      <p:sp>
        <p:nvSpPr>
          <p:cNvPr id="15" name="Text 11"/>
          <p:cNvSpPr txBox="1"/>
          <p:nvPr/>
        </p:nvSpPr>
        <p:spPr>
          <a:xfrm>
            <a:off x="4700016" y="31546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7A7A"/>
                </a:solidFill>
              </a:rPr>
              <a:t>調査発表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4700016" y="361188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62626"/>
                </a:solidFill>
              </a:rPr>
              <a:t>医師・生活者調査</a:t>
            </a:r>
            <a:endParaRPr lang="en-US" sz="2200" dirty="0"/>
          </a:p>
        </p:txBody>
      </p:sp>
      <p:sp>
        <p:nvSpPr>
          <p:cNvPr id="17" name="Text 13"/>
          <p:cNvSpPr txBox="1"/>
          <p:nvPr/>
        </p:nvSpPr>
        <p:spPr>
          <a:xfrm>
            <a:off x="4700016" y="46634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A4A"/>
                </a:solidFill>
              </a:rPr>
              <a:t>医師が血糖値より重視する指標とは</a:t>
            </a:r>
            <a:endParaRPr lang="en-US" sz="1800" dirty="0"/>
          </a:p>
        </p:txBody>
      </p:sp>
      <p:sp>
        <p:nvSpPr>
          <p:cNvPr id="18" name="card2"/>
          <p:cNvSpPr/>
          <p:nvPr/>
        </p:nvSpPr>
        <p:spPr>
          <a:xfrm>
            <a:off x="8119872" y="1600200"/>
            <a:ext cx="3520440" cy="4343400"/>
          </a:xfrm>
          <a:prstGeom prst="roundRect">
            <a:avLst>
              <a:gd name="adj" fmla="val 3117"/>
            </a:avLst>
          </a:prstGeom>
          <a:solidFill>
            <a:srgbClr val="FBECEE"/>
          </a:solidFill>
          <a:ln/>
        </p:spPr>
      </p:sp>
      <p:sp>
        <p:nvSpPr>
          <p:cNvPr id="19" name="Shape 15"/>
          <p:cNvSpPr/>
          <p:nvPr/>
        </p:nvSpPr>
        <p:spPr>
          <a:xfrm>
            <a:off x="8485632" y="1965960"/>
            <a:ext cx="914400" cy="91440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4232" y="2194560"/>
            <a:ext cx="457200" cy="45720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497312" y="201168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C8102E"/>
                </a:solidFill>
              </a:rPr>
              <a:t>03</a:t>
            </a:r>
            <a:endParaRPr lang="en-US" sz="2800" dirty="0"/>
          </a:p>
        </p:txBody>
      </p:sp>
      <p:sp>
        <p:nvSpPr>
          <p:cNvPr id="22" name="Text 17"/>
          <p:cNvSpPr txBox="1"/>
          <p:nvPr/>
        </p:nvSpPr>
        <p:spPr>
          <a:xfrm>
            <a:off x="8485632" y="31546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102E"/>
                </a:solidFill>
              </a:rPr>
              <a:t>スペシャルトーク</a:t>
            </a:r>
            <a:endParaRPr lang="en-US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8485632" y="361188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62626"/>
                </a:solidFill>
              </a:rPr>
              <a:t>ヘモグロビンA1c</a:t>
            </a:r>
            <a:endParaRPr lang="en-US" sz="2200" dirty="0"/>
          </a:p>
        </p:txBody>
      </p:sp>
      <p:sp>
        <p:nvSpPr>
          <p:cNvPr id="24" name="Text 19"/>
          <p:cNvSpPr txBox="1"/>
          <p:nvPr/>
        </p:nvSpPr>
        <p:spPr>
          <a:xfrm>
            <a:off x="8485632" y="46634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A4A"/>
                </a:solidFill>
              </a:rPr>
              <a:t>鳴戸親方 × 伊藤 大介 医師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5603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102E"/>
                </a:solidFill>
              </a:rPr>
              <a:t>SPEAKERS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62626"/>
                </a:solidFill>
              </a:rPr>
              <a:t>本日の登壇者</a:t>
            </a:r>
            <a:endParaRPr lang="en-US" sz="3200" dirty="0"/>
          </a:p>
        </p:txBody>
      </p:sp>
      <p:pic>
        <p:nvPicPr>
          <p:cNvPr id="4" name="Image 0" descr="鳴戸親方と伊藤大介医師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6949440" cy="382219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44068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7A7A"/>
                </a:solidFill>
              </a:rPr>
              <a:t>写真左：鳴戸親方　／　写真右：伊藤 大介 医師</a:t>
            </a:r>
            <a:endParaRPr lang="en-US" sz="1300" dirty="0"/>
          </a:p>
        </p:txBody>
      </p:sp>
      <p:sp>
        <p:nvSpPr>
          <p:cNvPr id="6" name="speaker0"/>
          <p:cNvSpPr/>
          <p:nvPr/>
        </p:nvSpPr>
        <p:spPr>
          <a:xfrm>
            <a:off x="7863840" y="1508760"/>
            <a:ext cx="3776472" cy="1828800"/>
          </a:xfrm>
          <a:prstGeom prst="roundRect">
            <a:avLst>
              <a:gd name="adj" fmla="val 6000"/>
            </a:avLst>
          </a:prstGeom>
          <a:solidFill>
            <a:srgbClr val="FBECE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183880" y="18288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102E"/>
                </a:solidFill>
              </a:rPr>
              <a:t>元大関 琴欧州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228600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62626"/>
                </a:solidFill>
              </a:rPr>
              <a:t>鳴戸親方</a:t>
            </a:r>
            <a:endParaRPr lang="en-US" sz="3600" dirty="0"/>
          </a:p>
        </p:txBody>
      </p:sp>
      <p:sp>
        <p:nvSpPr>
          <p:cNvPr id="9" name="speaker1"/>
          <p:cNvSpPr/>
          <p:nvPr/>
        </p:nvSpPr>
        <p:spPr>
          <a:xfrm>
            <a:off x="7863840" y="3502152"/>
            <a:ext cx="3776472" cy="1828800"/>
          </a:xfrm>
          <a:prstGeom prst="roundRect">
            <a:avLst>
              <a:gd name="adj" fmla="val 6000"/>
            </a:avLst>
          </a:prstGeom>
          <a:solidFill>
            <a:srgbClr val="F6F6F6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183880" y="382219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4A4A"/>
                </a:solidFill>
              </a:rPr>
              <a:t>一之江駅前ひまわり医院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183880" y="4279392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62626"/>
                </a:solidFill>
              </a:rPr>
              <a:t>伊藤 大介 医師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5603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102E"/>
                </a:solidFill>
              </a:rPr>
              <a:t>調査結果 01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62626"/>
                </a:solidFill>
              </a:rPr>
              <a:t>医師はHbA1c、生活者は血糖値を重視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349240" cy="4754880"/>
          </a:xfrm>
          <a:prstGeom prst="roundRect">
            <a:avLst>
              <a:gd name="adj" fmla="val 2308"/>
            </a:avLst>
          </a:prstGeom>
          <a:solidFill>
            <a:srgbClr val="F6F6F6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645920"/>
            <a:ext cx="548640" cy="548640"/>
          </a:xfrm>
          <a:prstGeom prst="ellipse">
            <a:avLst/>
          </a:prstGeom>
          <a:solidFill>
            <a:srgbClr val="4A4A4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78308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27048" y="164592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626"/>
                </a:solidFill>
              </a:rPr>
              <a:t>医師</a:t>
            </a:r>
            <a:pPr indent="0" marL="0">
              <a:buNone/>
            </a:pPr>
            <a:r>
              <a:rPr lang="en-US" sz="1400" dirty="0">
                <a:solidFill>
                  <a:srgbClr val="7A7A7A"/>
                </a:solidFill>
              </a:rPr>
              <a:t>　n=331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2860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4A4A"/>
                </a:solidFill>
              </a:rPr>
              <a:t>健康診断で、患者により見てほしいのは？</a:t>
            </a:r>
            <a:endParaRPr lang="en-US" sz="18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1760220" y="2697480"/>
          <a:ext cx="29260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2308860" y="361188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102E"/>
                </a:solidFill>
              </a:rPr>
              <a:t>87.0%</a:t>
            </a:r>
            <a:endParaRPr lang="en-US" sz="32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4A4A4A"/>
                </a:solidFill>
              </a:rPr>
              <a:t>HbA1c</a:t>
            </a:r>
            <a:endParaRPr lang="en-US" sz="3200" dirty="0"/>
          </a:p>
        </p:txBody>
      </p:sp>
      <p:sp>
        <p:nvSpPr>
          <p:cNvPr id="11" name="Shape 7"/>
          <p:cNvSpPr/>
          <p:nvPr/>
        </p:nvSpPr>
        <p:spPr>
          <a:xfrm>
            <a:off x="1371600" y="5769864"/>
            <a:ext cx="164592" cy="164592"/>
          </a:xfrm>
          <a:prstGeom prst="ellipse">
            <a:avLst/>
          </a:prstGeom>
          <a:solidFill>
            <a:srgbClr val="C8102E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1609344" y="5669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4A4A"/>
                </a:solidFill>
              </a:rPr>
              <a:t>HbA1c 87.0%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429000" y="5769864"/>
            <a:ext cx="164592" cy="164592"/>
          </a:xfrm>
          <a:prstGeom prst="ellipse">
            <a:avLst/>
          </a:prstGeom>
          <a:solidFill>
            <a:srgbClr val="B7C6D6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3666744" y="5669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4A4A"/>
                </a:solidFill>
              </a:rPr>
              <a:t>血糖値 13.0%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6291072" y="1417320"/>
            <a:ext cx="5349240" cy="4754880"/>
          </a:xfrm>
          <a:prstGeom prst="roundRect">
            <a:avLst>
              <a:gd name="adj" fmla="val 2308"/>
            </a:avLst>
          </a:prstGeom>
          <a:solidFill>
            <a:srgbClr val="F6F6F6"/>
          </a:solidFill>
          <a:ln/>
        </p:spPr>
      </p:sp>
      <p:sp>
        <p:nvSpPr>
          <p:cNvPr id="16" name="Shape 12"/>
          <p:cNvSpPr/>
          <p:nvPr/>
        </p:nvSpPr>
        <p:spPr>
          <a:xfrm>
            <a:off x="6611112" y="1645920"/>
            <a:ext cx="548640" cy="548640"/>
          </a:xfrm>
          <a:prstGeom prst="ellipse">
            <a:avLst/>
          </a:prstGeom>
          <a:solidFill>
            <a:srgbClr val="4A4A4A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272" y="1783080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269480" y="164592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626"/>
                </a:solidFill>
              </a:rPr>
              <a:t>生活者</a:t>
            </a:r>
            <a:pPr indent="0" marL="0">
              <a:buNone/>
            </a:pPr>
            <a:r>
              <a:rPr lang="en-US" sz="1400" dirty="0">
                <a:solidFill>
                  <a:srgbClr val="7A7A7A"/>
                </a:solidFill>
              </a:rPr>
              <a:t>　n=310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6611112" y="22860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4A4A"/>
                </a:solidFill>
              </a:rPr>
              <a:t>糖尿病リスク把握で、より重視するのは？</a:t>
            </a:r>
            <a:endParaRPr lang="en-US" sz="1800" dirty="0"/>
          </a:p>
        </p:txBody>
      </p:sp>
      <p:graphicFrame>
        <p:nvGraphicFramePr>
          <p:cNvPr id="20" name="Chart 1" descr=""/>
          <p:cNvGraphicFramePr/>
          <p:nvPr/>
        </p:nvGraphicFramePr>
        <p:xfrm>
          <a:off x="7502652" y="2697480"/>
          <a:ext cx="29260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1" name="Text 15"/>
          <p:cNvSpPr txBox="1"/>
          <p:nvPr/>
        </p:nvSpPr>
        <p:spPr>
          <a:xfrm>
            <a:off x="8051292" y="361188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46688C"/>
                </a:solidFill>
              </a:rPr>
              <a:t>68.7%</a:t>
            </a:r>
            <a:endParaRPr lang="en-US" sz="32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4A4A4A"/>
                </a:solidFill>
              </a:rPr>
              <a:t>血糖値</a:t>
            </a:r>
            <a:endParaRPr lang="en-US" sz="3200" dirty="0"/>
          </a:p>
        </p:txBody>
      </p:sp>
      <p:sp>
        <p:nvSpPr>
          <p:cNvPr id="22" name="Shape 16"/>
          <p:cNvSpPr/>
          <p:nvPr/>
        </p:nvSpPr>
        <p:spPr>
          <a:xfrm>
            <a:off x="7114032" y="5769864"/>
            <a:ext cx="164592" cy="164592"/>
          </a:xfrm>
          <a:prstGeom prst="ellipse">
            <a:avLst/>
          </a:prstGeom>
          <a:solidFill>
            <a:srgbClr val="F3C9D0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7351776" y="5669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4A4A"/>
                </a:solidFill>
              </a:rPr>
              <a:t>HbA1c 31.3%</a:t>
            </a:r>
            <a:endParaRPr lang="en-US" sz="1500" dirty="0"/>
          </a:p>
        </p:txBody>
      </p:sp>
      <p:sp>
        <p:nvSpPr>
          <p:cNvPr id="24" name="Shape 18"/>
          <p:cNvSpPr/>
          <p:nvPr/>
        </p:nvSpPr>
        <p:spPr>
          <a:xfrm>
            <a:off x="9171432" y="5769864"/>
            <a:ext cx="164592" cy="164592"/>
          </a:xfrm>
          <a:prstGeom prst="ellipse">
            <a:avLst/>
          </a:prstGeom>
          <a:solidFill>
            <a:srgbClr val="46688C"/>
          </a:solidFill>
          <a:ln/>
        </p:spPr>
      </p:sp>
      <p:sp>
        <p:nvSpPr>
          <p:cNvPr id="25" name="Text 19"/>
          <p:cNvSpPr txBox="1"/>
          <p:nvPr/>
        </p:nvSpPr>
        <p:spPr>
          <a:xfrm>
            <a:off x="9409176" y="5669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4A4A"/>
                </a:solidFill>
              </a:rPr>
              <a:t>血糖値 68.7%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5545836" y="3611880"/>
            <a:ext cx="1097280" cy="10972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C8102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102E"/>
                </a:solidFill>
              </a:rPr>
              <a:t>認識の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C8102E"/>
                </a:solidFill>
              </a:rPr>
              <a:t>ギャップ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5603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102E"/>
                </a:solidFill>
              </a:rPr>
              <a:t>調査結果 02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62626"/>
                </a:solidFill>
              </a:rPr>
              <a:t>HbA1cの知名度は、12指標の中でワースト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8640" cy="548640"/>
          </a:xfrm>
          <a:prstGeom prst="ellipse">
            <a:avLst/>
          </a:prstGeom>
          <a:solidFill>
            <a:srgbClr val="4A4A4A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07008" y="141732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626"/>
                </a:solidFill>
              </a:rPr>
              <a:t>生活者</a:t>
            </a:r>
            <a:pPr indent="0" marL="0">
              <a:buNone/>
            </a:pPr>
            <a:r>
              <a:rPr lang="en-US" sz="1400" dirty="0">
                <a:solidFill>
                  <a:srgbClr val="7A7A7A"/>
                </a:solidFill>
              </a:rPr>
              <a:t>　各指標をどの程度知っている？（n=310）</a:t>
            </a:r>
            <a:endParaRPr lang="en-US" sz="22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2011680"/>
          <a:ext cx="70408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4"/>
          <p:cNvSpPr/>
          <p:nvPr/>
        </p:nvSpPr>
        <p:spPr>
          <a:xfrm>
            <a:off x="7818120" y="1417320"/>
            <a:ext cx="3822192" cy="2468880"/>
          </a:xfrm>
          <a:prstGeom prst="roundRect">
            <a:avLst>
              <a:gd name="adj" fmla="val 4444"/>
            </a:avLst>
          </a:prstGeom>
          <a:solidFill>
            <a:srgbClr val="FBECEE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8092440" y="15544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4A4A"/>
                </a:solidFill>
              </a:rPr>
              <a:t>生活者の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8092440" y="184708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C8102E"/>
                </a:solidFill>
              </a:rPr>
              <a:t>40.3%</a:t>
            </a:r>
            <a:endParaRPr lang="en-US" sz="6600" dirty="0"/>
          </a:p>
        </p:txBody>
      </p:sp>
      <p:sp>
        <p:nvSpPr>
          <p:cNvPr id="11" name="Text 7"/>
          <p:cNvSpPr txBox="1"/>
          <p:nvPr/>
        </p:nvSpPr>
        <p:spPr>
          <a:xfrm>
            <a:off x="8092440" y="27889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626"/>
                </a:solidFill>
              </a:rPr>
              <a:t>がHbA1cを「知らない」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092440" y="32918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4A4A"/>
                </a:solidFill>
              </a:rPr>
              <a:t>血糖値を「知らない」人は 2.3%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7818120" y="4069080"/>
            <a:ext cx="3822192" cy="2103120"/>
          </a:xfrm>
          <a:prstGeom prst="roundRect">
            <a:avLst>
              <a:gd name="adj" fmla="val 5217"/>
            </a:avLst>
          </a:prstGeom>
          <a:solidFill>
            <a:srgbClr val="F6F6F6"/>
          </a:solidFill>
          <a:ln/>
        </p:spPr>
      </p:sp>
      <p:sp>
        <p:nvSpPr>
          <p:cNvPr id="14" name="Shape 10"/>
          <p:cNvSpPr/>
          <p:nvPr/>
        </p:nvSpPr>
        <p:spPr>
          <a:xfrm>
            <a:off x="8092440" y="4224528"/>
            <a:ext cx="457200" cy="457200"/>
          </a:xfrm>
          <a:prstGeom prst="ellipse">
            <a:avLst/>
          </a:prstGeom>
          <a:solidFill>
            <a:srgbClr val="4A4A4A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6740" y="4338828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641080" y="42245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4A4A"/>
                </a:solidFill>
              </a:rPr>
              <a:t>一方、医師の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092440" y="4681728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102E"/>
                </a:solidFill>
              </a:rPr>
              <a:t>78.2%</a:t>
            </a:r>
            <a:endParaRPr lang="en-US" sz="4000" dirty="0"/>
          </a:p>
        </p:txBody>
      </p:sp>
      <p:sp>
        <p:nvSpPr>
          <p:cNvPr id="18" name="Text 13"/>
          <p:cNvSpPr txBox="1"/>
          <p:nvPr/>
        </p:nvSpPr>
        <p:spPr>
          <a:xfrm>
            <a:off x="8092440" y="532180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62626"/>
                </a:solidFill>
              </a:rPr>
              <a:t>がHbA1cを「非常に重要」と回答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092440" y="57150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7A7A"/>
                </a:solidFill>
              </a:rPr>
              <a:t>血圧に次いで2番目の高さ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5603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102E"/>
                </a:solidFill>
              </a:rPr>
              <a:t>調査結果 03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62626"/>
                </a:solidFill>
              </a:rPr>
              <a:t>HbA1cを「内容まで知っている」人の7割はHbA1cを重視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8640" cy="548640"/>
          </a:xfrm>
          <a:prstGeom prst="ellipse">
            <a:avLst/>
          </a:prstGeom>
          <a:solidFill>
            <a:srgbClr val="4A4A4A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07008" y="141732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626"/>
                </a:solidFill>
              </a:rPr>
              <a:t>生活者</a:t>
            </a:r>
            <a:pPr indent="0" marL="0">
              <a:buNone/>
            </a:pPr>
            <a:r>
              <a:rPr lang="en-US" sz="1400" dirty="0">
                <a:solidFill>
                  <a:srgbClr val="7A7A7A"/>
                </a:solidFill>
              </a:rPr>
              <a:t>　糖尿病リスク把握で、より重視するのは？（HbA1cの認識度別）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1488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2626"/>
                </a:solidFill>
              </a:rPr>
              <a:t>名前を見聞きした程度の人</a:t>
            </a:r>
            <a:pPr algn="ctr" indent="0" marL="0">
              <a:buNone/>
            </a:pPr>
            <a:r>
              <a:rPr lang="en-US" sz="1400" dirty="0">
                <a:solidFill>
                  <a:srgbClr val="7A7A7A"/>
                </a:solidFill>
              </a:rPr>
              <a:t>　n=113</a:t>
            </a:r>
            <a:endParaRPr lang="en-US" sz="2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1554480" y="2606040"/>
          <a:ext cx="29260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2057400" y="352044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4A4A4A"/>
                </a:solidFill>
              </a:rPr>
              <a:t>29.2%</a:t>
            </a:r>
            <a:endParaRPr lang="en-US" sz="32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4A4A4A"/>
                </a:solidFill>
              </a:rPr>
              <a:t>HbA1cを重視</a:t>
            </a:r>
            <a:endParaRPr lang="en-US" sz="3200" dirty="0"/>
          </a:p>
        </p:txBody>
      </p:sp>
      <p:sp>
        <p:nvSpPr>
          <p:cNvPr id="10" name="Text 6"/>
          <p:cNvSpPr txBox="1"/>
          <p:nvPr/>
        </p:nvSpPr>
        <p:spPr>
          <a:xfrm>
            <a:off x="6793992" y="21488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2626"/>
                </a:solidFill>
              </a:rPr>
              <a:t>内容まで知っている人</a:t>
            </a:r>
            <a:pPr algn="ctr" indent="0" marL="0">
              <a:buNone/>
            </a:pPr>
            <a:r>
              <a:rPr lang="en-US" sz="1400" dirty="0">
                <a:solidFill>
                  <a:srgbClr val="7A7A7A"/>
                </a:solidFill>
              </a:rPr>
              <a:t>　n=72</a:t>
            </a:r>
            <a:endParaRPr lang="en-US" sz="2000" dirty="0"/>
          </a:p>
        </p:txBody>
      </p:sp>
      <p:graphicFrame>
        <p:nvGraphicFramePr>
          <p:cNvPr id="11" name="Chart 1" descr=""/>
          <p:cNvGraphicFramePr/>
          <p:nvPr/>
        </p:nvGraphicFramePr>
        <p:xfrm>
          <a:off x="7708392" y="2606040"/>
          <a:ext cx="29260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8211312" y="352044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102E"/>
                </a:solidFill>
              </a:rPr>
              <a:t>70.8%</a:t>
            </a:r>
            <a:endParaRPr lang="en-US" sz="32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4A4A4A"/>
                </a:solidFill>
              </a:rPr>
              <a:t>HbA1cを重視</a:t>
            </a:r>
            <a:endParaRPr lang="en-US" sz="3200" dirty="0"/>
          </a:p>
        </p:txBody>
      </p:sp>
      <p:sp>
        <p:nvSpPr>
          <p:cNvPr id="13" name="Shape 8"/>
          <p:cNvSpPr/>
          <p:nvPr/>
        </p:nvSpPr>
        <p:spPr>
          <a:xfrm>
            <a:off x="5257800" y="3520440"/>
            <a:ext cx="1691640" cy="960120"/>
          </a:xfrm>
          <a:prstGeom prst="rightArrow">
            <a:avLst/>
          </a:prstGeom>
          <a:solidFill>
            <a:srgbClr val="F3C9D0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5257800" y="3520440"/>
            <a:ext cx="1463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E0D25"/>
                </a:solidFill>
              </a:rPr>
              <a:t>意味まで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9E0D25"/>
                </a:solidFill>
              </a:rPr>
              <a:t>知ると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548640" y="5532120"/>
            <a:ext cx="11091672" cy="658368"/>
          </a:xfrm>
          <a:prstGeom prst="roundRect">
            <a:avLst>
              <a:gd name="adj" fmla="val 16667"/>
            </a:avLst>
          </a:prstGeom>
          <a:solidFill>
            <a:srgbClr val="FBECEE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548640" y="5532120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E0D25"/>
                </a:solidFill>
              </a:rPr>
              <a:t>名称だけでなく、血糖値との違いや指標としての意味まで伝えることが鍵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5603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102E"/>
                </a:solidFill>
              </a:rPr>
              <a:t>調査結果 04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62626"/>
                </a:solidFill>
              </a:rPr>
              <a:t>生活者の87.5%が「血糖値でリスクを十分に把握できる」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8640" cy="548640"/>
          </a:xfrm>
          <a:prstGeom prst="ellipse">
            <a:avLst/>
          </a:prstGeom>
          <a:solidFill>
            <a:srgbClr val="4A4A4A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07008" y="141732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626"/>
                </a:solidFill>
              </a:rPr>
              <a:t>生活者</a:t>
            </a:r>
            <a:pPr indent="0" marL="0">
              <a:buNone/>
            </a:pPr>
            <a:r>
              <a:rPr lang="en-US" sz="1400" dirty="0">
                <a:solidFill>
                  <a:srgbClr val="7A7A7A"/>
                </a:solidFill>
              </a:rPr>
              <a:t>　血糖値の測定やその数値で、糖尿病予備群などのリスクを十分に把握できる？（n=303）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057400"/>
            <a:ext cx="4206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C8102E"/>
                </a:solidFill>
              </a:rPr>
              <a:t>87.5%</a:t>
            </a:r>
            <a:endParaRPr lang="en-US" sz="9600" dirty="0"/>
          </a:p>
        </p:txBody>
      </p:sp>
      <p:sp>
        <p:nvSpPr>
          <p:cNvPr id="8" name="Text 5"/>
          <p:cNvSpPr txBox="1"/>
          <p:nvPr/>
        </p:nvSpPr>
        <p:spPr>
          <a:xfrm>
            <a:off x="4937760" y="210312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62626"/>
                </a:solidFill>
              </a:rPr>
              <a:t>「血糖値を見ていれば大丈夫」？</a:t>
            </a:r>
            <a:endParaRPr lang="en-US" sz="2800" dirty="0"/>
          </a:p>
          <a:p>
            <a:pPr indent="0" marL="0">
              <a:buNone/>
            </a:pPr>
            <a:r>
              <a:rPr lang="en-US" sz="2000" dirty="0">
                <a:solidFill>
                  <a:srgbClr val="4A4A4A"/>
                </a:solidFill>
              </a:rPr>
              <a:t>身近な指標だからこそ生まれる、“血糖値の落とし穴”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548640" y="3703320"/>
            <a:ext cx="2273793" cy="868680"/>
          </a:xfrm>
          <a:prstGeom prst="rect">
            <a:avLst/>
          </a:prstGeom>
          <a:solidFill>
            <a:srgbClr val="2F4A6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3703320"/>
            <a:ext cx="227379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20.5%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2822433" y="3703320"/>
            <a:ext cx="7431420" cy="868680"/>
          </a:xfrm>
          <a:prstGeom prst="rect">
            <a:avLst/>
          </a:prstGeom>
          <a:solidFill>
            <a:srgbClr val="4668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822433" y="3703320"/>
            <a:ext cx="74314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67.0%</a:t>
            </a:r>
            <a:endParaRPr lang="en-US" sz="2600" dirty="0"/>
          </a:p>
        </p:txBody>
      </p:sp>
      <p:sp>
        <p:nvSpPr>
          <p:cNvPr id="13" name="Shape 10"/>
          <p:cNvSpPr/>
          <p:nvPr/>
        </p:nvSpPr>
        <p:spPr>
          <a:xfrm>
            <a:off x="10253853" y="3703320"/>
            <a:ext cx="1131351" cy="868680"/>
          </a:xfrm>
          <a:prstGeom prst="rect">
            <a:avLst/>
          </a:prstGeom>
          <a:solidFill>
            <a:srgbClr val="D5DBE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253853" y="3703320"/>
            <a:ext cx="113135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626"/>
                </a:solidFill>
              </a:rPr>
              <a:t>10.2%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11385204" y="3703320"/>
            <a:ext cx="255108" cy="868680"/>
          </a:xfrm>
          <a:prstGeom prst="rect">
            <a:avLst/>
          </a:prstGeom>
          <a:solidFill>
            <a:srgbClr val="9AA4A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836564" y="3319272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7A7A7A"/>
                </a:solidFill>
              </a:rPr>
              <a:t>2.3%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66928" y="4681728"/>
            <a:ext cx="914" cy="182880"/>
          </a:xfrm>
          <a:prstGeom prst="line">
            <a:avLst/>
          </a:prstGeom>
          <a:noFill/>
          <a:ln w="25400">
            <a:solidFill>
              <a:srgbClr val="C8102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66928" y="4864608"/>
            <a:ext cx="9668637" cy="914"/>
          </a:xfrm>
          <a:prstGeom prst="line">
            <a:avLst/>
          </a:prstGeom>
          <a:noFill/>
          <a:ln w="25400">
            <a:solidFill>
              <a:srgbClr val="C8102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235565" y="4681728"/>
            <a:ext cx="914" cy="182880"/>
          </a:xfrm>
          <a:prstGeom prst="line">
            <a:avLst/>
          </a:prstGeom>
          <a:noFill/>
          <a:ln w="25400">
            <a:solidFill>
              <a:srgbClr val="C8102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572447" y="491947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8102E"/>
                </a:solidFill>
              </a:rPr>
              <a:t>「そう思う」計 87.5%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548640" y="5678424"/>
            <a:ext cx="164592" cy="164592"/>
          </a:xfrm>
          <a:prstGeom prst="ellipse">
            <a:avLst/>
          </a:prstGeom>
          <a:solidFill>
            <a:srgbClr val="2F4A66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86384" y="5577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4A4A"/>
                </a:solidFill>
              </a:rPr>
              <a:t>非常にそう思う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3291840" y="5678424"/>
            <a:ext cx="164592" cy="164592"/>
          </a:xfrm>
          <a:prstGeom prst="ellipse">
            <a:avLst/>
          </a:prstGeom>
          <a:solidFill>
            <a:srgbClr val="46688C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3529584" y="5577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4A4A"/>
                </a:solidFill>
              </a:rPr>
              <a:t>そう思う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6035040" y="5678424"/>
            <a:ext cx="164592" cy="164592"/>
          </a:xfrm>
          <a:prstGeom prst="ellipse">
            <a:avLst/>
          </a:prstGeom>
          <a:solidFill>
            <a:srgbClr val="D5DBE2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272784" y="5577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4A4A"/>
                </a:solidFill>
              </a:rPr>
              <a:t>そう思わない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8778240" y="5678424"/>
            <a:ext cx="164592" cy="164592"/>
          </a:xfrm>
          <a:prstGeom prst="ellipse">
            <a:avLst/>
          </a:prstGeom>
          <a:solidFill>
            <a:srgbClr val="9AA4A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9015984" y="5577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4A4A"/>
                </a:solidFill>
              </a:rPr>
              <a:t>全くそう思わない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5603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102E"/>
                </a:solidFill>
              </a:rPr>
              <a:t>解説 ①　血糖値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62626"/>
                </a:solidFill>
              </a:rPr>
              <a:t>血糖値の落とし穴 ── 1日の中でも変動する「瞬間風速」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6720840" cy="4754880"/>
          </a:xfrm>
          <a:prstGeom prst="roundRect">
            <a:avLst>
              <a:gd name="adj" fmla="val 2308"/>
            </a:avLst>
          </a:prstGeom>
          <a:solidFill>
            <a:srgbClr val="F6F6F6"/>
          </a:solidFill>
          <a:ln/>
        </p:spPr>
      </p:sp>
      <p:sp>
        <p:nvSpPr>
          <p:cNvPr id="5" name="Shape 3"/>
          <p:cNvSpPr/>
          <p:nvPr/>
        </p:nvSpPr>
        <p:spPr>
          <a:xfrm flipH="1">
            <a:off x="960120" y="2103120"/>
            <a:ext cx="914" cy="2468880"/>
          </a:xfrm>
          <a:prstGeom prst="line">
            <a:avLst/>
          </a:prstGeom>
          <a:noFill/>
          <a:ln w="15875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960120" y="4572000"/>
            <a:ext cx="6035040" cy="914"/>
          </a:xfrm>
          <a:prstGeom prst="line">
            <a:avLst/>
          </a:prstGeom>
          <a:noFill/>
          <a:ln w="15875">
            <a:solidFill>
              <a:srgbClr val="7A7A7A"/>
            </a:solidFill>
            <a:prstDash val="solid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1051560" y="20574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7A7A"/>
                </a:solidFill>
              </a:rPr>
              <a:t>血糖値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422452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7A7A7A"/>
                </a:solidFill>
              </a:rPr>
              <a:t>時間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60120" y="1828800"/>
            <a:ext cx="6035040" cy="2560320"/>
          </a:xfrm>
          <a:custGeom>
            <a:avLst/>
            <a:gdLst/>
            <a:ahLst/>
            <a:cxnLst/>
            <a:rect l="l" t="t" r="r" b="b"/>
            <a:pathLst>
              <a:path w="6035040" h="2560320">
                <a:moveTo>
                  <a:pt x="45720" y="2194560"/>
                </a:moveTo>
                <a:cubicBezTo>
                  <a:pt x="121920" y="2171700"/>
                  <a:pt x="342900" y="2308860"/>
                  <a:pt x="502920" y="2057400"/>
                </a:cubicBezTo>
                <a:cubicBezTo>
                  <a:pt x="662940" y="1805940"/>
                  <a:pt x="830580" y="701040"/>
                  <a:pt x="1005840" y="685800"/>
                </a:cubicBezTo>
                <a:cubicBezTo>
                  <a:pt x="1181100" y="670560"/>
                  <a:pt x="1333500" y="1706880"/>
                  <a:pt x="1554480" y="1965960"/>
                </a:cubicBezTo>
                <a:cubicBezTo>
                  <a:pt x="1775460" y="2225040"/>
                  <a:pt x="2095500" y="2415540"/>
                  <a:pt x="2331720" y="2240280"/>
                </a:cubicBezTo>
                <a:cubicBezTo>
                  <a:pt x="2567940" y="2065020"/>
                  <a:pt x="2766060" y="937260"/>
                  <a:pt x="2971800" y="914400"/>
                </a:cubicBezTo>
                <a:cubicBezTo>
                  <a:pt x="3177540" y="891540"/>
                  <a:pt x="3337560" y="1874520"/>
                  <a:pt x="3566160" y="2103120"/>
                </a:cubicBezTo>
                <a:cubicBezTo>
                  <a:pt x="3794760" y="2331720"/>
                  <a:pt x="4114800" y="2499360"/>
                  <a:pt x="4343400" y="2286000"/>
                </a:cubicBezTo>
                <a:cubicBezTo>
                  <a:pt x="4572000" y="2072640"/>
                  <a:pt x="4747260" y="861060"/>
                  <a:pt x="4937760" y="822960"/>
                </a:cubicBezTo>
                <a:cubicBezTo>
                  <a:pt x="5128260" y="784860"/>
                  <a:pt x="5326380" y="1821180"/>
                  <a:pt x="5486400" y="2057400"/>
                </a:cubicBezTo>
                <a:cubicBezTo>
                  <a:pt x="5646420" y="2293620"/>
                  <a:pt x="5829300" y="2209800"/>
                  <a:pt x="5897880" y="2240280"/>
                </a:cubicBezTo>
              </a:path>
            </a:pathLst>
          </a:custGeom>
          <a:ln w="57150">
            <a:solidFill>
              <a:srgbClr val="46688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3429000"/>
            <a:ext cx="5897880" cy="914"/>
          </a:xfrm>
          <a:prstGeom prst="line">
            <a:avLst/>
          </a:prstGeom>
          <a:noFill/>
          <a:ln w="28575">
            <a:solidFill>
              <a:srgbClr val="C8102E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868680" y="1755648"/>
            <a:ext cx="411480" cy="914"/>
          </a:xfrm>
          <a:prstGeom prst="line">
            <a:avLst/>
          </a:prstGeom>
          <a:noFill/>
          <a:ln w="57150">
            <a:solidFill>
              <a:srgbClr val="46688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371600" y="159105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6688C"/>
                </a:solidFill>
              </a:rPr>
              <a:t>血糖値（その瞬間の量）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611880" y="1755648"/>
            <a:ext cx="411480" cy="914"/>
          </a:xfrm>
          <a:prstGeom prst="line">
            <a:avLst/>
          </a:prstGeom>
          <a:noFill/>
          <a:ln w="28575">
            <a:solidFill>
              <a:srgbClr val="C8102E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4114800" y="1591056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102E"/>
                </a:solidFill>
              </a:rPr>
              <a:t>HbA1c（1〜2か月の平均的な状態）</a:t>
            </a:r>
            <a:endParaRPr lang="en-US" sz="1300" dirty="0"/>
          </a:p>
        </p:txBody>
      </p:sp>
      <p:pic>
        <p:nvPicPr>
          <p:cNvPr id="15" name="Image 0" descr="朝食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258" y="4709160"/>
            <a:ext cx="1243405" cy="86868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17320" y="56235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626"/>
                </a:solidFill>
              </a:rPr>
              <a:t>朝食</a:t>
            </a:r>
            <a:endParaRPr lang="en-US" sz="1600" dirty="0"/>
          </a:p>
        </p:txBody>
      </p:sp>
      <p:pic>
        <p:nvPicPr>
          <p:cNvPr id="17" name="Image 1" descr="昼食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3899" y="4709160"/>
            <a:ext cx="1056042" cy="86868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3383280" y="56235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626"/>
                </a:solidFill>
              </a:rPr>
              <a:t>昼食</a:t>
            </a:r>
            <a:endParaRPr lang="en-US" sz="1600" dirty="0"/>
          </a:p>
        </p:txBody>
      </p:sp>
      <p:pic>
        <p:nvPicPr>
          <p:cNvPr id="19" name="Image 2" descr="夕食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9850" y="4709160"/>
            <a:ext cx="1496060" cy="86868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349240" y="56235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626"/>
                </a:solidFill>
              </a:rPr>
              <a:t>夕食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7589520" y="1463040"/>
            <a:ext cx="1371600" cy="411480"/>
          </a:xfrm>
          <a:prstGeom prst="roundRect">
            <a:avLst>
              <a:gd name="adj" fmla="val 50000"/>
            </a:avLst>
          </a:prstGeom>
          <a:solidFill>
            <a:srgbClr val="4668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POINT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7589520" y="2103120"/>
            <a:ext cx="640080" cy="640080"/>
          </a:xfrm>
          <a:prstGeom prst="ellipse">
            <a:avLst/>
          </a:prstGeom>
          <a:solidFill>
            <a:srgbClr val="46688C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9540" y="2263140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8412480" y="2084832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62626"/>
                </a:solidFill>
              </a:rPr>
              <a:t>採血した“瞬間”の数値</a:t>
            </a:r>
            <a:endParaRPr lang="en-US" sz="2100" dirty="0"/>
          </a:p>
        </p:txBody>
      </p:sp>
      <p:sp>
        <p:nvSpPr>
          <p:cNvPr id="25" name="Text 19"/>
          <p:cNvSpPr txBox="1"/>
          <p:nvPr/>
        </p:nvSpPr>
        <p:spPr>
          <a:xfrm>
            <a:off x="8412480" y="251460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A4A"/>
                </a:solidFill>
              </a:rPr>
              <a:t>あくまで「瞬間風速の数値」。中長期的な数値ではない</a:t>
            </a:r>
            <a:endParaRPr lang="en-US" sz="1500" dirty="0"/>
          </a:p>
        </p:txBody>
      </p:sp>
      <p:sp>
        <p:nvSpPr>
          <p:cNvPr id="26" name="Shape 20"/>
          <p:cNvSpPr/>
          <p:nvPr/>
        </p:nvSpPr>
        <p:spPr>
          <a:xfrm>
            <a:off x="7589520" y="3474720"/>
            <a:ext cx="640080" cy="640080"/>
          </a:xfrm>
          <a:prstGeom prst="ellipse">
            <a:avLst/>
          </a:prstGeom>
          <a:solidFill>
            <a:srgbClr val="46688C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49540" y="3634740"/>
            <a:ext cx="320040" cy="32004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8412480" y="3456432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62626"/>
                </a:solidFill>
              </a:rPr>
              <a:t>1日の中でも変動する</a:t>
            </a:r>
            <a:endParaRPr lang="en-US" sz="2100" dirty="0"/>
          </a:p>
        </p:txBody>
      </p:sp>
      <p:sp>
        <p:nvSpPr>
          <p:cNvPr id="29" name="Text 22"/>
          <p:cNvSpPr txBox="1"/>
          <p:nvPr/>
        </p:nvSpPr>
        <p:spPr>
          <a:xfrm>
            <a:off x="8412480" y="388620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A4A"/>
                </a:solidFill>
              </a:rPr>
              <a:t>食事で上がり、活動で下がる。その繰り返し</a:t>
            </a:r>
            <a:endParaRPr lang="en-US" sz="1500" dirty="0"/>
          </a:p>
        </p:txBody>
      </p:sp>
      <p:sp>
        <p:nvSpPr>
          <p:cNvPr id="30" name="Shape 23"/>
          <p:cNvSpPr/>
          <p:nvPr/>
        </p:nvSpPr>
        <p:spPr>
          <a:xfrm>
            <a:off x="7589520" y="4846320"/>
            <a:ext cx="640080" cy="64008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49540" y="5006340"/>
            <a:ext cx="320040" cy="32004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412480" y="4828032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62626"/>
                </a:solidFill>
              </a:rPr>
              <a:t>「予備群」を見逃すことも</a:t>
            </a:r>
            <a:endParaRPr lang="en-US" sz="2100" dirty="0"/>
          </a:p>
        </p:txBody>
      </p:sp>
      <p:sp>
        <p:nvSpPr>
          <p:cNvPr id="33" name="Text 25"/>
          <p:cNvSpPr txBox="1"/>
          <p:nvPr/>
        </p:nvSpPr>
        <p:spPr>
          <a:xfrm>
            <a:off x="8412480" y="525780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A4A"/>
                </a:solidFill>
              </a:rPr>
              <a:t>空腹時血糖値は低く出ることがあり、血糖値スパイクに気づけない場合も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5603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102E"/>
                </a:solidFill>
              </a:rPr>
              <a:t>解説 ②　ヘモグロビンA1c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62626"/>
                </a:solidFill>
              </a:rPr>
              <a:t>ヘモグロビンA1c ── 血糖の“通信簿”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91672" cy="621792"/>
          </a:xfrm>
          <a:prstGeom prst="roundRect">
            <a:avLst>
              <a:gd name="adj" fmla="val 17647"/>
            </a:avLst>
          </a:prstGeom>
          <a:solidFill>
            <a:srgbClr val="FBECE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371600"/>
            <a:ext cx="10698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62626"/>
                </a:solidFill>
              </a:rPr>
              <a:t>赤血球の中のヘモグロビンに糖が結合したもの。</a:t>
            </a:r>
            <a:pPr indent="0" marL="0">
              <a:buNone/>
            </a:pPr>
            <a:r>
              <a:rPr lang="en-US" sz="1700" dirty="0">
                <a:solidFill>
                  <a:srgbClr val="4A4A4A"/>
                </a:solidFill>
              </a:rPr>
              <a:t>血液中にどのくらいの割合で存在しているかの指標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21408"/>
            <a:ext cx="2514600" cy="347472"/>
          </a:xfrm>
          <a:prstGeom prst="roundRect">
            <a:avLst>
              <a:gd name="adj" fmla="val 50000"/>
            </a:avLst>
          </a:prstGeom>
          <a:solidFill>
            <a:srgbClr val="4668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ヘモグロビンA1cが低い</a:t>
            </a:r>
            <a:endParaRPr lang="en-US" sz="1400" dirty="0"/>
          </a:p>
        </p:txBody>
      </p:sp>
      <p:pic>
        <p:nvPicPr>
          <p:cNvPr id="7" name="Image 0" descr="HbA1cが低い血管内の模式図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23744"/>
            <a:ext cx="4846320" cy="1330419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 flipH="1">
            <a:off x="1325880" y="3393299"/>
            <a:ext cx="787959" cy="762616"/>
          </a:xfrm>
          <a:prstGeom prst="line">
            <a:avLst/>
          </a:prstGeom>
          <a:noFill/>
          <a:ln w="12700">
            <a:solidFill>
              <a:srgbClr val="26262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11480" y="4155915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626"/>
                </a:solidFill>
              </a:rPr>
              <a:t>赤血球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 flipH="1">
            <a:off x="2240280" y="3480255"/>
            <a:ext cx="90948" cy="675661"/>
          </a:xfrm>
          <a:prstGeom prst="line">
            <a:avLst/>
          </a:prstGeom>
          <a:noFill/>
          <a:ln w="12700">
            <a:solidFill>
              <a:srgbClr val="26262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325880" y="4155915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626"/>
                </a:solidFill>
              </a:rPr>
              <a:t>糖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2679050" y="3300546"/>
            <a:ext cx="429910" cy="855369"/>
          </a:xfrm>
          <a:prstGeom prst="line">
            <a:avLst/>
          </a:prstGeom>
          <a:noFill/>
          <a:ln w="12700">
            <a:solidFill>
              <a:srgbClr val="26262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194560" y="4155915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626"/>
                </a:solidFill>
              </a:rPr>
              <a:t>ヘモグロビン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331204" y="3335329"/>
            <a:ext cx="240796" cy="820586"/>
          </a:xfrm>
          <a:prstGeom prst="line">
            <a:avLst/>
          </a:prstGeom>
          <a:noFill/>
          <a:ln w="12700">
            <a:solidFill>
              <a:srgbClr val="26262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657600" y="4155915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626"/>
                </a:solidFill>
              </a:rPr>
              <a:t>ヘモグロビンA1c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4539963"/>
            <a:ext cx="2514600" cy="347472"/>
          </a:xfrm>
          <a:prstGeom prst="roundRect">
            <a:avLst>
              <a:gd name="adj" fmla="val 50000"/>
            </a:avLst>
          </a:prstGeom>
          <a:solidFill>
            <a:srgbClr val="C810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ヘモグロビンA1cが高い</a:t>
            </a:r>
            <a:endParaRPr lang="en-US" sz="1400" dirty="0"/>
          </a:p>
        </p:txBody>
      </p:sp>
      <p:pic>
        <p:nvPicPr>
          <p:cNvPr id="17" name="Image 1" descr="HbA1cが高い血管内の模式図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42299"/>
            <a:ext cx="4846320" cy="1246362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6172200" y="2121408"/>
            <a:ext cx="5468112" cy="1371600"/>
          </a:xfrm>
          <a:prstGeom prst="roundRect">
            <a:avLst>
              <a:gd name="adj" fmla="val 8000"/>
            </a:avLst>
          </a:prstGeom>
          <a:solidFill>
            <a:srgbClr val="F6F6F6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6446520" y="228600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C810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POINT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7863840" y="2286000"/>
            <a:ext cx="365760" cy="36576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2377440"/>
            <a:ext cx="182880" cy="18288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339328" y="2258568"/>
            <a:ext cx="3246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626"/>
                </a:solidFill>
              </a:rPr>
              <a:t>1日の中で変動しない</a:t>
            </a:r>
            <a:endParaRPr lang="en-US" sz="2000" dirty="0"/>
          </a:p>
        </p:txBody>
      </p:sp>
      <p:sp>
        <p:nvSpPr>
          <p:cNvPr id="23" name="Shape 18"/>
          <p:cNvSpPr/>
          <p:nvPr/>
        </p:nvSpPr>
        <p:spPr>
          <a:xfrm>
            <a:off x="7863840" y="2834640"/>
            <a:ext cx="365760" cy="36576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0" y="2926080"/>
            <a:ext cx="182880" cy="18288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8339328" y="2807208"/>
            <a:ext cx="3246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62626"/>
                </a:solidFill>
              </a:rPr>
              <a:t>1〜2か月の血糖の状態</a:t>
            </a:r>
            <a:endParaRPr lang="en-US" sz="2000" dirty="0"/>
          </a:p>
        </p:txBody>
      </p:sp>
      <p:sp>
        <p:nvSpPr>
          <p:cNvPr id="26" name="Shape 20"/>
          <p:cNvSpPr/>
          <p:nvPr/>
        </p:nvSpPr>
        <p:spPr>
          <a:xfrm>
            <a:off x="6172200" y="3657600"/>
            <a:ext cx="5468112" cy="2514600"/>
          </a:xfrm>
          <a:prstGeom prst="roundRect">
            <a:avLst>
              <a:gd name="adj" fmla="val 4364"/>
            </a:avLst>
          </a:prstGeom>
          <a:solidFill>
            <a:srgbClr val="F6F6F6"/>
          </a:solidFill>
          <a:ln/>
        </p:spPr>
      </p:sp>
      <p:sp>
        <p:nvSpPr>
          <p:cNvPr id="27" name="Text 21"/>
          <p:cNvSpPr txBox="1"/>
          <p:nvPr/>
        </p:nvSpPr>
        <p:spPr>
          <a:xfrm>
            <a:off x="6446520" y="3822192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4A4A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基準値</a:t>
            </a:r>
            <a:endParaRPr lang="en-US" sz="1400" dirty="0"/>
          </a:p>
        </p:txBody>
      </p:sp>
      <p:sp>
        <p:nvSpPr>
          <p:cNvPr id="28" name="Shape 22"/>
          <p:cNvSpPr/>
          <p:nvPr/>
        </p:nvSpPr>
        <p:spPr>
          <a:xfrm>
            <a:off x="7635240" y="4572000"/>
            <a:ext cx="2743200" cy="2743200"/>
          </a:xfrm>
          <a:prstGeom prst="blockArc">
            <a:avLst>
              <a:gd name="adj1" fmla="val 10800000"/>
              <a:gd name="adj2" fmla="val 14280000"/>
              <a:gd name="adj3" fmla="val 17000"/>
            </a:avLst>
          </a:prstGeom>
          <a:solidFill>
            <a:srgbClr val="6FA088"/>
          </a:solidFill>
          <a:ln/>
        </p:spPr>
      </p:sp>
      <p:sp>
        <p:nvSpPr>
          <p:cNvPr id="29" name="Shape 23"/>
          <p:cNvSpPr/>
          <p:nvPr/>
        </p:nvSpPr>
        <p:spPr>
          <a:xfrm>
            <a:off x="7635240" y="4572000"/>
            <a:ext cx="2743200" cy="2743200"/>
          </a:xfrm>
          <a:prstGeom prst="blockArc">
            <a:avLst>
              <a:gd name="adj1" fmla="val 14460000"/>
              <a:gd name="adj2" fmla="val 17940000"/>
              <a:gd name="adj3" fmla="val 17000"/>
            </a:avLst>
          </a:prstGeom>
          <a:solidFill>
            <a:srgbClr val="E3B04B"/>
          </a:solidFill>
          <a:ln/>
        </p:spPr>
      </p:sp>
      <p:sp>
        <p:nvSpPr>
          <p:cNvPr id="30" name="Shape 24"/>
          <p:cNvSpPr/>
          <p:nvPr/>
        </p:nvSpPr>
        <p:spPr>
          <a:xfrm>
            <a:off x="7635240" y="4572000"/>
            <a:ext cx="2743200" cy="2743200"/>
          </a:xfrm>
          <a:prstGeom prst="blockArc">
            <a:avLst>
              <a:gd name="adj1" fmla="val 18120000"/>
              <a:gd name="adj2" fmla="val 21600000"/>
              <a:gd name="adj3" fmla="val 17000"/>
            </a:avLst>
          </a:prstGeom>
          <a:solidFill>
            <a:srgbClr val="C8102E"/>
          </a:solidFill>
          <a:ln/>
        </p:spPr>
      </p:sp>
      <p:sp>
        <p:nvSpPr>
          <p:cNvPr id="31" name="Text 25"/>
          <p:cNvSpPr txBox="1"/>
          <p:nvPr/>
        </p:nvSpPr>
        <p:spPr>
          <a:xfrm>
            <a:off x="8549640" y="46222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注意</a:t>
            </a:r>
            <a:endParaRPr lang="en-US" sz="1600" dirty="0"/>
          </a:p>
        </p:txBody>
      </p:sp>
      <p:sp>
        <p:nvSpPr>
          <p:cNvPr id="32" name="Text 26"/>
          <p:cNvSpPr txBox="1"/>
          <p:nvPr/>
        </p:nvSpPr>
        <p:spPr>
          <a:xfrm>
            <a:off x="7581013" y="5243885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正常</a:t>
            </a:r>
            <a:endParaRPr lang="en-US" sz="1600" dirty="0"/>
          </a:p>
        </p:txBody>
      </p:sp>
      <p:sp>
        <p:nvSpPr>
          <p:cNvPr id="33" name="Text 27"/>
          <p:cNvSpPr txBox="1"/>
          <p:nvPr/>
        </p:nvSpPr>
        <p:spPr>
          <a:xfrm>
            <a:off x="10287000" y="52120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102E"/>
                </a:solidFill>
              </a:rPr>
              <a:t>糖尿病の恐れ</a:t>
            </a:r>
            <a:endParaRPr lang="en-US" sz="1500" dirty="0"/>
          </a:p>
        </p:txBody>
      </p:sp>
      <p:sp>
        <p:nvSpPr>
          <p:cNvPr id="34" name="Text 28"/>
          <p:cNvSpPr txBox="1"/>
          <p:nvPr/>
        </p:nvSpPr>
        <p:spPr>
          <a:xfrm>
            <a:off x="7494954" y="4358305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A4A4A"/>
                </a:solidFill>
              </a:rPr>
              <a:t>5.6〜5.8</a:t>
            </a:r>
            <a:endParaRPr lang="en-US" sz="1400" dirty="0"/>
          </a:p>
        </p:txBody>
      </p:sp>
      <p:sp>
        <p:nvSpPr>
          <p:cNvPr id="35" name="Text 29"/>
          <p:cNvSpPr txBox="1"/>
          <p:nvPr/>
        </p:nvSpPr>
        <p:spPr>
          <a:xfrm>
            <a:off x="9741486" y="4358305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4A4A"/>
                </a:solidFill>
              </a:rPr>
              <a:t>6.5</a:t>
            </a:r>
            <a:endParaRPr lang="en-US" sz="1400" dirty="0"/>
          </a:p>
        </p:txBody>
      </p:sp>
      <p:sp>
        <p:nvSpPr>
          <p:cNvPr id="36" name="Shape 30"/>
          <p:cNvSpPr/>
          <p:nvPr/>
        </p:nvSpPr>
        <p:spPr>
          <a:xfrm>
            <a:off x="8729943" y="4910206"/>
            <a:ext cx="276897" cy="1033394"/>
          </a:xfrm>
          <a:prstGeom prst="line">
            <a:avLst/>
          </a:prstGeom>
          <a:noFill/>
          <a:ln w="63500">
            <a:solidFill>
              <a:srgbClr val="262626"/>
            </a:solidFill>
            <a:prstDash val="solid"/>
          </a:ln>
        </p:spPr>
      </p:sp>
      <p:sp>
        <p:nvSpPr>
          <p:cNvPr id="37" name="Shape 31"/>
          <p:cNvSpPr/>
          <p:nvPr/>
        </p:nvSpPr>
        <p:spPr>
          <a:xfrm>
            <a:off x="8851392" y="5788152"/>
            <a:ext cx="310896" cy="310896"/>
          </a:xfrm>
          <a:prstGeom prst="ellipse">
            <a:avLst/>
          </a:prstGeom>
          <a:solidFill>
            <a:srgbClr val="262626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5603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102E"/>
                </a:solidFill>
              </a:rPr>
              <a:t>スペシャルトーク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62626"/>
                </a:solidFill>
              </a:rPr>
              <a:t>鳴戸親方のヘモグロビンA1c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234440" y="1508760"/>
            <a:ext cx="4023360" cy="2514600"/>
          </a:xfrm>
          <a:prstGeom prst="roundRect">
            <a:avLst>
              <a:gd name="adj" fmla="val 4364"/>
            </a:avLst>
          </a:prstGeom>
          <a:solidFill>
            <a:srgbClr val="FBECE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34440" y="1508760"/>
            <a:ext cx="40233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C8102E"/>
                </a:solidFill>
              </a:rPr>
              <a:t>9.4</a:t>
            </a:r>
            <a:pPr algn="ctr" indent="0" marL="0">
              <a:buNone/>
            </a:pPr>
            <a:r>
              <a:rPr lang="en-US" sz="3200" b="1" dirty="0">
                <a:solidFill>
                  <a:srgbClr val="C8102E"/>
                </a:solidFill>
              </a:rPr>
              <a:t> %</a:t>
            </a:r>
            <a:endParaRPr lang="en-US" sz="11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2286000"/>
            <a:ext cx="914400" cy="914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949440" y="1508760"/>
            <a:ext cx="4023360" cy="2514600"/>
          </a:xfrm>
          <a:prstGeom prst="roundRect">
            <a:avLst>
              <a:gd name="adj" fmla="val 4364"/>
            </a:avLst>
          </a:prstGeom>
          <a:solidFill>
            <a:srgbClr val="E8F2EC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949440" y="1508760"/>
            <a:ext cx="40233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3F7A5E"/>
                </a:solidFill>
              </a:rPr>
              <a:t>5.2</a:t>
            </a:r>
            <a:pPr algn="ctr" indent="0" marL="0">
              <a:buNone/>
            </a:pPr>
            <a:r>
              <a:rPr lang="en-US" sz="3200" b="1" dirty="0">
                <a:solidFill>
                  <a:srgbClr val="3F7A5E"/>
                </a:solidFill>
              </a:rPr>
              <a:t> %</a:t>
            </a:r>
            <a:endParaRPr lang="en-US" sz="11000" dirty="0"/>
          </a:p>
        </p:txBody>
      </p:sp>
      <p:sp>
        <p:nvSpPr>
          <p:cNvPr id="9" name="Shape 6"/>
          <p:cNvSpPr/>
          <p:nvPr/>
        </p:nvSpPr>
        <p:spPr>
          <a:xfrm>
            <a:off x="1234440" y="4892040"/>
            <a:ext cx="2759202" cy="384048"/>
          </a:xfrm>
          <a:prstGeom prst="rect">
            <a:avLst/>
          </a:prstGeom>
          <a:solidFill>
            <a:srgbClr val="6FA08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234440" y="4892040"/>
            <a:ext cx="275920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正常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993642" y="4892040"/>
            <a:ext cx="1298448" cy="384048"/>
          </a:xfrm>
          <a:prstGeom prst="rect">
            <a:avLst/>
          </a:prstGeom>
          <a:solidFill>
            <a:srgbClr val="E3B04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993642" y="4892040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注意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292090" y="4892040"/>
            <a:ext cx="5680710" cy="384048"/>
          </a:xfrm>
          <a:prstGeom prst="rect">
            <a:avLst/>
          </a:prstGeom>
          <a:solidFill>
            <a:srgbClr val="C8102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292090" y="4892040"/>
            <a:ext cx="56807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糖尿病の恐れ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445002" y="5321808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4A4A"/>
                </a:solidFill>
              </a:rPr>
              <a:t>5.6〜5.8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4926330" y="532180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4A4A"/>
                </a:solidFill>
              </a:rPr>
              <a:t>6.5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 rot="10800000">
            <a:off x="9843516" y="4599432"/>
            <a:ext cx="310896" cy="237744"/>
          </a:xfrm>
          <a:prstGeom prst="triangle">
            <a:avLst/>
          </a:prstGeom>
          <a:solidFill>
            <a:srgbClr val="C8102E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541764" y="423367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8102E"/>
                </a:solidFill>
              </a:rPr>
              <a:t>9.4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 rot="10800000">
            <a:off x="3026664" y="4599432"/>
            <a:ext cx="310896" cy="237744"/>
          </a:xfrm>
          <a:prstGeom prst="triangle">
            <a:avLst/>
          </a:prstGeom>
          <a:solidFill>
            <a:srgbClr val="3F7A5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724912" y="423367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7A5E"/>
                </a:solidFill>
              </a:rPr>
              <a:t>5.2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1234440" y="57607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A7A7A"/>
                </a:solidFill>
              </a:rPr>
              <a:t>HbA1c（%）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5603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102E"/>
                </a:solidFill>
              </a:rPr>
              <a:t>測定方法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62626"/>
                </a:solidFill>
              </a:rPr>
              <a:t>ヘモグロビンA1c、どこで測れる？</a:t>
            </a:r>
            <a:endParaRPr lang="en-US" sz="3200" dirty="0"/>
          </a:p>
        </p:txBody>
      </p:sp>
      <p:sp>
        <p:nvSpPr>
          <p:cNvPr id="4" name="where0"/>
          <p:cNvSpPr/>
          <p:nvPr/>
        </p:nvSpPr>
        <p:spPr>
          <a:xfrm>
            <a:off x="548640" y="1463040"/>
            <a:ext cx="3520440" cy="4709160"/>
          </a:xfrm>
          <a:prstGeom prst="roundRect">
            <a:avLst>
              <a:gd name="adj" fmla="val 3117"/>
            </a:avLst>
          </a:prstGeom>
          <a:solidFill>
            <a:srgbClr val="F6F6F6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737360"/>
            <a:ext cx="731520" cy="73152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920240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926080" y="178308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B5B5B5"/>
                </a:solidFill>
              </a:rPr>
              <a:t>01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6060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626"/>
                </a:solidFill>
              </a:rPr>
              <a:t>健康診断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1089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102E"/>
                </a:solidFill>
              </a:rPr>
              <a:t>オプション</a:t>
            </a:r>
            <a:endParaRPr lang="en-US" sz="1800" dirty="0"/>
          </a:p>
        </p:txBody>
      </p:sp>
      <p:pic>
        <p:nvPicPr>
          <p:cNvPr id="10" name="Image 1" descr="健康診断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22960" y="3749040"/>
            <a:ext cx="2971800" cy="2148840"/>
          </a:xfrm>
          <a:prstGeom prst="rect">
            <a:avLst/>
          </a:prstGeom>
        </p:spPr>
      </p:pic>
      <p:sp>
        <p:nvSpPr>
          <p:cNvPr id="11" name="where1"/>
          <p:cNvSpPr/>
          <p:nvPr/>
        </p:nvSpPr>
        <p:spPr>
          <a:xfrm>
            <a:off x="4334256" y="1463040"/>
            <a:ext cx="3520440" cy="4709160"/>
          </a:xfrm>
          <a:prstGeom prst="roundRect">
            <a:avLst>
              <a:gd name="adj" fmla="val 3117"/>
            </a:avLst>
          </a:prstGeom>
          <a:solidFill>
            <a:srgbClr val="F6F6F6"/>
          </a:solidFill>
          <a:ln/>
        </p:spPr>
      </p:sp>
      <p:sp>
        <p:nvSpPr>
          <p:cNvPr id="12" name="Shape 8"/>
          <p:cNvSpPr/>
          <p:nvPr/>
        </p:nvSpPr>
        <p:spPr>
          <a:xfrm>
            <a:off x="4608576" y="1737360"/>
            <a:ext cx="731520" cy="73152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1456" y="1920240"/>
            <a:ext cx="365760" cy="3657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711696" y="178308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B5B5B5"/>
                </a:solidFill>
              </a:rPr>
              <a:t>02</a:t>
            </a:r>
            <a:endParaRPr lang="en-US" sz="2600" dirty="0"/>
          </a:p>
        </p:txBody>
      </p:sp>
      <p:sp>
        <p:nvSpPr>
          <p:cNvPr id="15" name="Text 10"/>
          <p:cNvSpPr txBox="1"/>
          <p:nvPr/>
        </p:nvSpPr>
        <p:spPr>
          <a:xfrm>
            <a:off x="4608576" y="26060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626"/>
                </a:solidFill>
              </a:rPr>
              <a:t>ゆびさきセルフ測定室</a:t>
            </a:r>
            <a:endParaRPr lang="en-US" sz="2400" dirty="0"/>
          </a:p>
        </p:txBody>
      </p:sp>
      <p:sp>
        <p:nvSpPr>
          <p:cNvPr id="16" name="Text 11"/>
          <p:cNvSpPr txBox="1"/>
          <p:nvPr/>
        </p:nvSpPr>
        <p:spPr>
          <a:xfrm>
            <a:off x="4608576" y="31089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102E"/>
                </a:solidFill>
              </a:rPr>
              <a:t>「ゆびさきナビ」で検索</a:t>
            </a:r>
            <a:endParaRPr lang="en-US" sz="1800" dirty="0"/>
          </a:p>
        </p:txBody>
      </p:sp>
      <p:pic>
        <p:nvPicPr>
          <p:cNvPr id="17" name="Image 3" descr="ゆびさきセルフ測定室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608576" y="3749040"/>
            <a:ext cx="2971800" cy="2148840"/>
          </a:xfrm>
          <a:prstGeom prst="rect">
            <a:avLst/>
          </a:prstGeom>
        </p:spPr>
      </p:pic>
      <p:sp>
        <p:nvSpPr>
          <p:cNvPr id="18" name="where2"/>
          <p:cNvSpPr/>
          <p:nvPr/>
        </p:nvSpPr>
        <p:spPr>
          <a:xfrm>
            <a:off x="8119872" y="1463040"/>
            <a:ext cx="3520440" cy="4709160"/>
          </a:xfrm>
          <a:prstGeom prst="roundRect">
            <a:avLst>
              <a:gd name="adj" fmla="val 3117"/>
            </a:avLst>
          </a:prstGeom>
          <a:solidFill>
            <a:srgbClr val="F6F6F6"/>
          </a:solidFill>
          <a:ln/>
        </p:spPr>
      </p:sp>
      <p:sp>
        <p:nvSpPr>
          <p:cNvPr id="19" name="Shape 13"/>
          <p:cNvSpPr/>
          <p:nvPr/>
        </p:nvSpPr>
        <p:spPr>
          <a:xfrm>
            <a:off x="8394192" y="1737360"/>
            <a:ext cx="731520" cy="731520"/>
          </a:xfrm>
          <a:prstGeom prst="ellipse">
            <a:avLst/>
          </a:prstGeom>
          <a:solidFill>
            <a:srgbClr val="C8102E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7072" y="1920240"/>
            <a:ext cx="365760" cy="36576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0497312" y="178308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B5B5B5"/>
                </a:solidFill>
              </a:rPr>
              <a:t>03</a:t>
            </a:r>
            <a:endParaRPr lang="en-US" sz="2600" dirty="0"/>
          </a:p>
        </p:txBody>
      </p:sp>
      <p:sp>
        <p:nvSpPr>
          <p:cNvPr id="22" name="Text 15"/>
          <p:cNvSpPr txBox="1"/>
          <p:nvPr/>
        </p:nvSpPr>
        <p:spPr>
          <a:xfrm>
            <a:off x="8394192" y="26060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2626"/>
                </a:solidFill>
              </a:rPr>
              <a:t>ご自宅</a:t>
            </a:r>
            <a:endParaRPr lang="en-US" sz="2400" dirty="0"/>
          </a:p>
        </p:txBody>
      </p:sp>
      <p:sp>
        <p:nvSpPr>
          <p:cNvPr id="23" name="Text 16"/>
          <p:cNvSpPr txBox="1"/>
          <p:nvPr/>
        </p:nvSpPr>
        <p:spPr>
          <a:xfrm>
            <a:off x="8394192" y="31089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8102E"/>
                </a:solidFill>
              </a:rPr>
              <a:t>簡易検査キット</a:t>
            </a:r>
            <a:endParaRPr lang="en-US" sz="1800" dirty="0"/>
          </a:p>
        </p:txBody>
      </p:sp>
      <p:pic>
        <p:nvPicPr>
          <p:cNvPr id="24" name="Image 5" descr="ご自宅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394192" y="3749040"/>
            <a:ext cx="2971800" cy="214884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8467344" y="3822192"/>
            <a:ext cx="1234440" cy="274320"/>
          </a:xfrm>
          <a:prstGeom prst="rect">
            <a:avLst/>
          </a:prstGeom>
          <a:solidFill>
            <a:srgbClr val="55555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※画像はダミー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698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7A7A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407408" y="411480"/>
            <a:ext cx="3383280" cy="3383280"/>
          </a:xfrm>
          <a:prstGeom prst="ellipse">
            <a:avLst/>
          </a:prstGeom>
          <a:solidFill>
            <a:srgbClr val="FBECEE"/>
          </a:solidFill>
          <a:ln/>
        </p:spPr>
      </p:sp>
      <p:pic>
        <p:nvPicPr>
          <p:cNvPr id="3" name="Image 0" descr="10月8日 糖をはかる日 ロ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18888" y="914400"/>
            <a:ext cx="2560320" cy="181965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0233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62626"/>
                </a:solidFill>
              </a:rPr>
              <a:t>血糖値だけでなく、</a:t>
            </a:r>
            <a:pPr algn="ctr" indent="0" marL="0">
              <a:buNone/>
            </a:pPr>
            <a:r>
              <a:rPr lang="en-US" sz="4000" b="1" dirty="0">
                <a:solidFill>
                  <a:srgbClr val="C8102E"/>
                </a:solidFill>
              </a:rPr>
              <a:t>ヘモグロビンA1c</a:t>
            </a:r>
            <a:pPr algn="ctr" indent="0" marL="0">
              <a:buNone/>
            </a:pPr>
            <a:r>
              <a:rPr lang="en-US" sz="4000" b="1" dirty="0">
                <a:solidFill>
                  <a:srgbClr val="262626"/>
                </a:solidFill>
              </a:rPr>
              <a:t>も。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84632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4A4A4A"/>
                </a:solidFill>
              </a:rPr>
              <a:t>10月8日「糖をはかる日」をきっかけに、自分の“血糖の通信簿”をチェック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9436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7A7A"/>
                </a:solidFill>
              </a:rPr>
              <a:t>主催：一般社団法人 日本生活習慣病予防協会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ou wo Hakaru Hi">
  <a:themeElements>
    <a:clrScheme name="Tou wo Hakaru Hi">
      <a:dk1>
        <a:srgbClr val="262626"/>
      </a:dk1>
      <a:lt1>
        <a:srgbClr val="FFFFFF"/>
      </a:lt1>
      <a:dk2>
        <a:srgbClr val="2F4A66"/>
      </a:dk2>
      <a:lt2>
        <a:srgbClr val="F6F6F6"/>
      </a:lt2>
      <a:accent1>
        <a:srgbClr val="C8102E"/>
      </a:accent1>
      <a:accent2>
        <a:srgbClr val="46688C"/>
      </a:accent2>
      <a:accent3>
        <a:srgbClr val="B7C6D6"/>
      </a:accent3>
      <a:accent4>
        <a:srgbClr val="F3C9D0"/>
      </a:accent4>
      <a:accent5>
        <a:srgbClr val="6FA088"/>
      </a:accent5>
      <a:accent6>
        <a:srgbClr val="E3B04B"/>
      </a:accent6>
      <a:hlink>
        <a:srgbClr val="46688C"/>
      </a:hlink>
      <a:folHlink>
        <a:srgbClr val="7A7A7A"/>
      </a:folHlink>
    </a:clrScheme>
    <a:fontScheme name="Tou wo Hakaru Hi">
      <a:majorFont>
        <a:latin typeface="游ゴシック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10月8日は糖をはかる日 スペシャルトークイベント</dc:title>
  <dc:subject>PptxGenJS Presentation</dc:subject>
  <dc:creator>日本生活習慣病予防協会</dc:creator>
  <cp:lastModifiedBy>日本生活習慣病予防協会</cp:lastModifiedBy>
  <cp:revision>1</cp:revision>
  <dcterms:created xsi:type="dcterms:W3CDTF">2026-10-02T07:02:12Z</dcterms:created>
  <dcterms:modified xsi:type="dcterms:W3CDTF">2026-10-02T07:02:12Z</dcterms:modified>
</cp:coreProperties>
</file>