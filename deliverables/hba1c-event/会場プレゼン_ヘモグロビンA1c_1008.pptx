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オープニング" id="{c683dd2a-ab30-dcdd-f267-a3eb17337bd1}">
          <p14:sldIdLst>
            <p14:sldId id="256"/>
            <p14:sldId id="257"/>
            <p14:sldId id="258"/>
          </p14:sldIdLst>
        </p14:section>
        <p14:section name="調査結果" id="{9dd0c296-9efd-6320-a89e-04c2309be63a}">
          <p14:sldIdLst>
            <p14:sldId id="259"/>
            <p14:sldId id="260"/>
            <p14:sldId id="261"/>
            <p14:sldId id="262"/>
          </p14:sldIdLst>
        </p14:section>
        <p14:section name="解説" id="{a8130ff7-b149-3dcc-13f0-54617cdd9201}">
          <p14:sldIdLst>
            <p14:sldId id="263"/>
            <p14:sldId id="264"/>
          </p14:sldIdLst>
        </p14:section>
        <p14:section name="測定方法" id="{92ea8c87-dda2-fde5-0a25-31fb31ce7cd5}">
          <p14:sldIdLst>
            <p14:sldId id="265"/>
          </p14:sldIdLst>
        </p14:section>
        <p14:section name="クロージング" id="{d0bac513-3067-0a45-aa1f-2dfe11e63fcd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6688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HbA1c</c:v>
                </c:pt>
                <c:pt idx="1">
                  <c:v>血糖値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87</c:v>
                </c:pt>
                <c:pt idx="1">
                  <c:v>13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6688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810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血糖値</c:v>
                </c:pt>
                <c:pt idx="1">
                  <c:v>HbA1c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68.7</c:v>
                </c:pt>
                <c:pt idx="1">
                  <c:v>31.3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9"/>
          <c:y val="0.01"/>
          <c:w val="0.79"/>
          <c:h val="0.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名前も意味も知っている</c:v>
                </c:pt>
              </c:strCache>
            </c:strRef>
          </c:tx>
          <c:spPr>
            <a:solidFill>
              <a:srgbClr val="4668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血圧</c:v>
                  </c:pt>
                  <c:pt idx="1">
                    <c:v>BMI</c:v>
                  </c:pt>
                  <c:pt idx="2">
                    <c:v>血糖値</c:v>
                  </c:pt>
                  <c:pt idx="3">
                    <c:v>中性脂肪</c:v>
                  </c:pt>
                  <c:pt idx="4">
                    <c:v>骨密度</c:v>
                  </c:pt>
                  <c:pt idx="5">
                    <c:v>尿酸</c:v>
                  </c:pt>
                  <c:pt idx="6">
                    <c:v>HDLコレステロール</c:v>
                  </c:pt>
                  <c:pt idx="7">
                    <c:v>LDLコレステロール</c:v>
                  </c:pt>
                  <c:pt idx="8">
                    <c:v>γ-GTP</c:v>
                  </c:pt>
                  <c:pt idx="9">
                    <c:v>尿糖</c:v>
                  </c:pt>
                  <c:pt idx="10">
                    <c:v>クレアチニン</c:v>
                  </c:pt>
                  <c:pt idx="11">
                    <c:v>HbA1c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85.2</c:v>
                </c:pt>
                <c:pt idx="1">
                  <c:v>70.3</c:v>
                </c:pt>
                <c:pt idx="2">
                  <c:v>65.2</c:v>
                </c:pt>
                <c:pt idx="3">
                  <c:v>54.5</c:v>
                </c:pt>
                <c:pt idx="4">
                  <c:v>60.6</c:v>
                </c:pt>
                <c:pt idx="5">
                  <c:v>37.7</c:v>
                </c:pt>
                <c:pt idx="6">
                  <c:v>37.4</c:v>
                </c:pt>
                <c:pt idx="7">
                  <c:v>42.3</c:v>
                </c:pt>
                <c:pt idx="8">
                  <c:v>26.1</c:v>
                </c:pt>
                <c:pt idx="9">
                  <c:v>30</c:v>
                </c:pt>
                <c:pt idx="10">
                  <c:v>14.2</c:v>
                </c:pt>
                <c:pt idx="11">
                  <c:v>23.2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名前は見聞きした程度</c:v>
                </c:pt>
              </c:strCache>
            </c:strRef>
          </c:tx>
          <c:spPr>
            <a:solidFill>
              <a:srgbClr val="B7C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血圧</c:v>
                  </c:pt>
                  <c:pt idx="1">
                    <c:v>BMI</c:v>
                  </c:pt>
                  <c:pt idx="2">
                    <c:v>血糖値</c:v>
                  </c:pt>
                  <c:pt idx="3">
                    <c:v>中性脂肪</c:v>
                  </c:pt>
                  <c:pt idx="4">
                    <c:v>骨密度</c:v>
                  </c:pt>
                  <c:pt idx="5">
                    <c:v>尿酸</c:v>
                  </c:pt>
                  <c:pt idx="6">
                    <c:v>HDLコレステロール</c:v>
                  </c:pt>
                  <c:pt idx="7">
                    <c:v>LDLコレステロール</c:v>
                  </c:pt>
                  <c:pt idx="8">
                    <c:v>γ-GTP</c:v>
                  </c:pt>
                  <c:pt idx="9">
                    <c:v>尿糖</c:v>
                  </c:pt>
                  <c:pt idx="10">
                    <c:v>クレアチニン</c:v>
                  </c:pt>
                  <c:pt idx="11">
                    <c:v>HbA1c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13.9</c:v>
                </c:pt>
                <c:pt idx="1">
                  <c:v>28.1</c:v>
                </c:pt>
                <c:pt idx="2">
                  <c:v>32.6</c:v>
                </c:pt>
                <c:pt idx="3">
                  <c:v>42.3</c:v>
                </c:pt>
                <c:pt idx="4">
                  <c:v>35.2</c:v>
                </c:pt>
                <c:pt idx="5">
                  <c:v>55.5</c:v>
                </c:pt>
                <c:pt idx="6">
                  <c:v>51.6</c:v>
                </c:pt>
                <c:pt idx="7">
                  <c:v>45.8</c:v>
                </c:pt>
                <c:pt idx="8">
                  <c:v>51.6</c:v>
                </c:pt>
                <c:pt idx="9">
                  <c:v>41.9</c:v>
                </c:pt>
                <c:pt idx="10">
                  <c:v>46.8</c:v>
                </c:pt>
                <c:pt idx="11">
                  <c:v>36.5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知らない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血圧</c:v>
                  </c:pt>
                  <c:pt idx="1">
                    <c:v>BMI</c:v>
                  </c:pt>
                  <c:pt idx="2">
                    <c:v>血糖値</c:v>
                  </c:pt>
                  <c:pt idx="3">
                    <c:v>中性脂肪</c:v>
                  </c:pt>
                  <c:pt idx="4">
                    <c:v>骨密度</c:v>
                  </c:pt>
                  <c:pt idx="5">
                    <c:v>尿酸</c:v>
                  </c:pt>
                  <c:pt idx="6">
                    <c:v>HDLコレステロール</c:v>
                  </c:pt>
                  <c:pt idx="7">
                    <c:v>LDLコレステロール</c:v>
                  </c:pt>
                  <c:pt idx="8">
                    <c:v>γ-GTP</c:v>
                  </c:pt>
                  <c:pt idx="9">
                    <c:v>尿糖</c:v>
                  </c:pt>
                  <c:pt idx="10">
                    <c:v>クレアチニン</c:v>
                  </c:pt>
                  <c:pt idx="11">
                    <c:v>HbA1c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1.6</c:v>
                </c:pt>
                <c:pt idx="2">
                  <c:v>2.3</c:v>
                </c:pt>
                <c:pt idx="3">
                  <c:v>3.2</c:v>
                </c:pt>
                <c:pt idx="4">
                  <c:v>4.2</c:v>
                </c:pt>
                <c:pt idx="5">
                  <c:v>6.8</c:v>
                </c:pt>
                <c:pt idx="6">
                  <c:v>11</c:v>
                </c:pt>
                <c:pt idx="7">
                  <c:v>11.9</c:v>
                </c:pt>
                <c:pt idx="8">
                  <c:v>22.3</c:v>
                </c:pt>
                <c:pt idx="9">
                  <c:v>28.1</c:v>
                </c:pt>
                <c:pt idx="10">
                  <c:v>39</c:v>
                </c:pt>
                <c:pt idx="11">
                  <c:v>40.3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7C6D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810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血糖値</c:v>
                </c:pt>
                <c:pt idx="1">
                  <c:v>HbA1c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70.8</c:v>
                </c:pt>
                <c:pt idx="1">
                  <c:v>29.2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B7C6D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HbA1c</c:v>
                </c:pt>
                <c:pt idx="1">
                  <c:v>血糖値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70.8</c:v>
                </c:pt>
                <c:pt idx="1">
                  <c:v>29.2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オープニング。10月8日「糖をはかる日」のスペシャルトークイベント。主催：日本生活習慣病予防協会。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本日の構成：主催団体の紹介と、医師・生活者調査の発表。医師が血糖値より重視する指標は「ヘモグロビンA1c」。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登壇者紹介。元大関 琴欧州の鳴戸親方（写真左）、一之江駅前ひまわり医院の伊藤大介医師（写真右）。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医師の87.0%は健康診断で患者に「ヘモグロビンA1c」をより見てほしいと回答。一方、生活者の68.7%は糖尿病リスクの把握で「血糖値」をより重視。医師n=331、生活者n=310。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生活者にHbA1cを知っているか聞くと、40.3%が「知らない」と回答し全12指標中ワースト（血糖値を知らない人は2.3%）。一方、医師の78.2%がHbA1cを「非常に重要」と回答（血圧に次ぐ2位）。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生活者の回答をHbA1cの認識度別に分析。「内容まで知っている人」の70.8%はHbA1cを重視、「見聞きした程度の人」は29.2%。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生活者の87.5%（非常にそう思う20.5%＋そう思う67.0%）が、血糖値で糖尿病予備群などのリスクを十分に把握できると回答。n=303。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血糖値は採血した瞬間の血糖の量。食事の直後に上がり、活動で下がる、の繰り返しで1日の中でも変動する。空腹時血糖値は低く測定されることがあり、血糖値だけでは「予備群」を見逃す可能性も。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ヘモグロビンA1cは、赤血球の中のヘモグロビンに糖が結合した割合。一度結合すると赤血球の寿命まで消えずに蓄積されるため、過去1〜2か月の血糖の状態を反映し、検査当日の食事の影響を受けにくい。基準値：5.6〜5.8を超えると注意、6.5以上は糖尿病の恐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ヘモグロビンA1cは、健康診断のオプション、「ゆびさきナビ」で検索できるゆびさきセルフ測定室（薬局など）、自宅での簡易検査キットで測定できる。※ご自宅の写真はダミー。差し替え予定。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クロージング。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dirty="0">
                <a:solidFill>
                  <a:srgbClr val="C8102E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62626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/tmp/claude-0/-home-user-my-website/f87fda31-ca5a-5f96-b5c1-887c7a459d5f/scratchpad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291072"/>
            <a:ext cx="548640" cy="3904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y-website/f87fda31-ca5a-5f96-b5c1-887c7a459d5f/scratchpad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291072"/>
            <a:ext cx="548640" cy="3904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4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85800"/>
            <a:ext cx="5486400" cy="5486400"/>
          </a:xfrm>
          <a:prstGeom prst="ellipse">
            <a:avLst/>
          </a:prstGeom>
          <a:solidFill>
            <a:srgbClr val="FBECEE"/>
          </a:solidFill>
          <a:ln/>
        </p:spPr>
      </p:sp>
      <p:pic>
        <p:nvPicPr>
          <p:cNvPr id="3" name="Image 0" descr="10月8日 糖をはかる日 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4206240" cy="29900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72200" y="1325880"/>
            <a:ext cx="3566160" cy="51206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スペシャルトークイベント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172200" y="20116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62626"/>
                </a:solidFill>
              </a:rPr>
              <a:t>血糖値の落とし穴！？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301752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4A4A4A"/>
                </a:solidFill>
              </a:rPr>
              <a:t>医師が血糖値より重視する</a:t>
            </a:r>
            <a:endParaRPr lang="en-US" sz="2600" dirty="0"/>
          </a:p>
          <a:p>
            <a:pPr indent="0" marL="0">
              <a:buNone/>
            </a:pPr>
            <a:r>
              <a:rPr lang="en-US" sz="3800" b="1" dirty="0">
                <a:solidFill>
                  <a:srgbClr val="C8102E"/>
                </a:solidFill>
              </a:rPr>
              <a:t>「ヘモグロビンA1c」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57150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</a:rPr>
              <a:t>主催：一般社団法人 日本生活習慣病予防協会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EVENT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</a:rPr>
              <a:t>本日のスペシャルトークイベント</a:t>
            </a:r>
            <a:endParaRPr lang="en-US" sz="3200" dirty="0"/>
          </a:p>
        </p:txBody>
      </p:sp>
      <p:sp>
        <p:nvSpPr>
          <p:cNvPr id="4" name="card0"/>
          <p:cNvSpPr/>
          <p:nvPr/>
        </p:nvSpPr>
        <p:spPr>
          <a:xfrm>
            <a:off x="548640" y="150876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6F6F6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874520"/>
            <a:ext cx="1143000" cy="114300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2160270"/>
            <a:ext cx="571500" cy="571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389120" y="1920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B5B5B5"/>
                </a:solidFill>
              </a:rPr>
              <a:t>01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7A7A"/>
                </a:solidFill>
              </a:rPr>
              <a:t>主催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749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</a:rPr>
              <a:t>日本生活習慣病予防協会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6177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A4A"/>
                </a:solidFill>
              </a:rPr>
              <a:t>健康標語「一無、二少、三多」を提言</a:t>
            </a:r>
            <a:endParaRPr lang="en-US" sz="2400" dirty="0"/>
          </a:p>
        </p:txBody>
      </p:sp>
      <p:sp>
        <p:nvSpPr>
          <p:cNvPr id="11" name="card1"/>
          <p:cNvSpPr/>
          <p:nvPr/>
        </p:nvSpPr>
        <p:spPr>
          <a:xfrm>
            <a:off x="6291072" y="150876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6F6F6"/>
          </a:solidFill>
          <a:ln/>
        </p:spPr>
      </p:sp>
      <p:sp>
        <p:nvSpPr>
          <p:cNvPr id="12" name="Shape 9"/>
          <p:cNvSpPr/>
          <p:nvPr/>
        </p:nvSpPr>
        <p:spPr>
          <a:xfrm>
            <a:off x="6748272" y="1874520"/>
            <a:ext cx="1143000" cy="114300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022" y="2160270"/>
            <a:ext cx="571500" cy="5715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131552" y="1920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B5B5B5"/>
                </a:solidFill>
              </a:rPr>
              <a:t>02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6748272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7A7A"/>
                </a:solidFill>
              </a:rPr>
              <a:t>調査発表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6748272" y="3749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</a:rPr>
              <a:t>医師・生活者調査</a:t>
            </a:r>
            <a:endParaRPr lang="en-US" sz="3100" dirty="0"/>
          </a:p>
        </p:txBody>
      </p:sp>
      <p:sp>
        <p:nvSpPr>
          <p:cNvPr id="17" name="Text 13"/>
          <p:cNvSpPr txBox="1"/>
          <p:nvPr/>
        </p:nvSpPr>
        <p:spPr>
          <a:xfrm>
            <a:off x="6748272" y="46177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A4A"/>
                </a:solidFill>
              </a:rPr>
              <a:t>医師が血糖値より重視する指標は</a:t>
            </a:r>
            <a:endParaRPr lang="en-US" sz="2400" dirty="0"/>
          </a:p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</a:rPr>
              <a:t>ヘモグロビンA1c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鳴戸親方と伊藤大介医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023360"/>
          </a:xfrm>
          <a:prstGeom prst="rect">
            <a:avLst/>
          </a:prstGeom>
        </p:spPr>
      </p:pic>
      <p:sp>
        <p:nvSpPr>
          <p:cNvPr id="3" name="speaker0"/>
          <p:cNvSpPr/>
          <p:nvPr/>
        </p:nvSpPr>
        <p:spPr>
          <a:xfrm>
            <a:off x="8092440" y="1325880"/>
            <a:ext cx="3547872" cy="1947672"/>
          </a:xfrm>
          <a:prstGeom prst="roundRect">
            <a:avLst>
              <a:gd name="adj" fmla="val 5634"/>
            </a:avLst>
          </a:prstGeom>
          <a:solidFill>
            <a:srgbClr val="FBECE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36676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</a:rPr>
              <a:t>元大関 琴欧州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8366760" y="213055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</a:rPr>
              <a:t>鳴戸親方</a:t>
            </a:r>
            <a:endParaRPr lang="en-US" sz="3600" dirty="0"/>
          </a:p>
        </p:txBody>
      </p:sp>
      <p:sp>
        <p:nvSpPr>
          <p:cNvPr id="6" name="speaker1"/>
          <p:cNvSpPr/>
          <p:nvPr/>
        </p:nvSpPr>
        <p:spPr>
          <a:xfrm>
            <a:off x="8092440" y="3401568"/>
            <a:ext cx="3547872" cy="1947672"/>
          </a:xfrm>
          <a:prstGeom prst="roundRect">
            <a:avLst>
              <a:gd name="adj" fmla="val 5634"/>
            </a:avLst>
          </a:prstGeom>
          <a:solidFill>
            <a:srgbClr val="F6F6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366760" y="37216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4A4A"/>
                </a:solidFill>
              </a:rPr>
              <a:t>一之江駅前ひまわり医院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4206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</a:rPr>
              <a:t>伊藤 大介 医師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調査結果 01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</a:rPr>
              <a:t>医師はヘモグロビンA1c、生活者は血糖値を重視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6F6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27048" y="1600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</a:rPr>
              <a:t>医師</a:t>
            </a:r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　n=331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21284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</a:rPr>
              <a:t>健康診断で、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</a:rPr>
              <a:t>患者により見てほしいのは？</a:t>
            </a:r>
            <a:endParaRPr lang="en-US" sz="2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103120" y="3108960"/>
          <a:ext cx="3017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2697480" y="39319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</a:rPr>
              <a:t>87.0%</a:t>
            </a:r>
            <a:endParaRPr lang="en-US" sz="32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ヘモグロビン</a:t>
            </a:r>
            <a:endParaRPr lang="en-US" sz="32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A1c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00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6688C"/>
                </a:solidFill>
              </a:rPr>
              <a:t>血糖値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46688C"/>
                </a:solidFill>
              </a:rPr>
              <a:t>13.0%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291072" y="141732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6F6F6"/>
          </a:solidFill>
          <a:ln/>
        </p:spPr>
      </p:sp>
      <p:sp>
        <p:nvSpPr>
          <p:cNvPr id="13" name="Shape 9"/>
          <p:cNvSpPr/>
          <p:nvPr/>
        </p:nvSpPr>
        <p:spPr>
          <a:xfrm>
            <a:off x="6611112" y="1600200"/>
            <a:ext cx="548640" cy="54864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7373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69480" y="1600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</a:rPr>
              <a:t>生活者</a:t>
            </a:r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　n=310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6611112" y="221284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</a:rPr>
              <a:t>糖尿病リスク把握で、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</a:rPr>
              <a:t>より重視するのは？</a:t>
            </a:r>
            <a:endParaRPr lang="en-US" sz="24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7845552" y="3108960"/>
          <a:ext cx="3017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 12"/>
          <p:cNvSpPr txBox="1"/>
          <p:nvPr/>
        </p:nvSpPr>
        <p:spPr>
          <a:xfrm>
            <a:off x="8439912" y="39319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6688C"/>
                </a:solidFill>
              </a:rPr>
              <a:t>68.7%</a:t>
            </a:r>
            <a:endParaRPr lang="en-US" sz="32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血糖値</a:t>
            </a:r>
            <a:endParaRPr lang="en-US" sz="3200" dirty="0"/>
          </a:p>
        </p:txBody>
      </p:sp>
      <p:sp>
        <p:nvSpPr>
          <p:cNvPr id="19" name="Text 13"/>
          <p:cNvSpPr txBox="1"/>
          <p:nvPr/>
        </p:nvSpPr>
        <p:spPr>
          <a:xfrm>
            <a:off x="6565392" y="3200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</a:rPr>
              <a:t>ヘモグロビン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</a:rPr>
              <a:t>A1c 31.3%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5545836" y="406908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認識の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ギャップ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調査結果 02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</a:rPr>
              <a:t>HbA1cの知名度は、12指標の中でワースト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371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</a:rPr>
              <a:t>生活者</a:t>
            </a:r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</a:rPr>
              <a:t>　各指標をどの程度知っている？（n=310）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606040" y="6044184"/>
            <a:ext cx="164592" cy="164592"/>
          </a:xfrm>
          <a:prstGeom prst="ellipse">
            <a:avLst/>
          </a:prstGeom>
          <a:solidFill>
            <a:srgbClr val="46688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43784" y="5943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</a:rPr>
              <a:t>名前も意味も知っている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349240" y="6044184"/>
            <a:ext cx="164592" cy="164592"/>
          </a:xfrm>
          <a:prstGeom prst="ellipse">
            <a:avLst/>
          </a:prstGeom>
          <a:solidFill>
            <a:srgbClr val="B7C6D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586984" y="5943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</a:rPr>
              <a:t>名前は見聞きした程度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955280" y="6044184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93024" y="5943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</a:rPr>
              <a:t>知らない</a:t>
            </a:r>
            <a:endParaRPr lang="en-US" sz="17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" y="1920240"/>
          <a:ext cx="11247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57200" y="1960016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8102E"/>
                </a:solidFill>
              </a:rPr>
              <a:t>HbA1c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2258339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クレアチニン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2556662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尿糖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2854985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γ-GTP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3153308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LDLコレステロール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3451631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HDLコレステロール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3749954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尿酸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48277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骨密度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4346600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中性脂肪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4644923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血糖値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4943246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BMI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5241569"/>
            <a:ext cx="202722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血圧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10519258" y="1960016"/>
            <a:ext cx="896112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40.3%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10519258" y="2258339"/>
            <a:ext cx="896112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39.0%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10519258" y="2556662"/>
            <a:ext cx="896112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28.1%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10519258" y="2854985"/>
            <a:ext cx="896112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22.3%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10519258" y="3153308"/>
            <a:ext cx="896112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11.9%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10519258" y="3451631"/>
            <a:ext cx="896112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11.0%</a:t>
            </a:r>
            <a:endParaRPr lang="en-US" sz="1700" dirty="0"/>
          </a:p>
        </p:txBody>
      </p:sp>
      <p:sp>
        <p:nvSpPr>
          <p:cNvPr id="32" name="Text 28"/>
          <p:cNvSpPr txBox="1"/>
          <p:nvPr/>
        </p:nvSpPr>
        <p:spPr>
          <a:xfrm>
            <a:off x="10519258" y="3749954"/>
            <a:ext cx="896112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6.8%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調査結果 03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</a:rPr>
              <a:t>HbA1cを「内容まで知っている」人の7割はHbA1cを重視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371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</a:rPr>
              <a:t>生活者</a:t>
            </a:r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</a:rPr>
              <a:t>　糖尿病リスク把握で、より重視するのは？（HbA1cの認識度別）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</a:rPr>
              <a:t>名前を見聞きした程度の人</a:t>
            </a:r>
            <a:pPr algn="ctr" indent="0" marL="0">
              <a:buNone/>
            </a:pPr>
            <a:r>
              <a:rPr lang="en-US" sz="1500" dirty="0">
                <a:solidFill>
                  <a:srgbClr val="7A7A7A"/>
                </a:solidFill>
              </a:rPr>
              <a:t>　n=113</a:t>
            </a:r>
            <a:endParaRPr lang="en-US" sz="2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280160" y="2560320"/>
          <a:ext cx="3108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828800" y="34747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</a:rPr>
              <a:t>29.2%</a:t>
            </a:r>
            <a:endParaRPr lang="en-US" sz="34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HbA1cを重視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6885432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</a:rPr>
              <a:t>内容まで知っている人</a:t>
            </a:r>
            <a:pPr algn="ctr" indent="0" marL="0">
              <a:buNone/>
            </a:pPr>
            <a:r>
              <a:rPr lang="en-US" sz="1500" dirty="0">
                <a:solidFill>
                  <a:srgbClr val="7A7A7A"/>
                </a:solidFill>
              </a:rPr>
              <a:t>　n=72</a:t>
            </a:r>
            <a:endParaRPr lang="en-US" sz="21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7799832" y="2560320"/>
          <a:ext cx="3108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8348472" y="34747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</a:rPr>
              <a:t>70.8%</a:t>
            </a:r>
            <a:endParaRPr lang="en-US" sz="34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HbA1cを重視</a:t>
            </a:r>
            <a:endParaRPr lang="en-US" sz="3400" dirty="0"/>
          </a:p>
        </p:txBody>
      </p:sp>
      <p:sp>
        <p:nvSpPr>
          <p:cNvPr id="13" name="Shape 8"/>
          <p:cNvSpPr/>
          <p:nvPr/>
        </p:nvSpPr>
        <p:spPr>
          <a:xfrm>
            <a:off x="4846320" y="3429000"/>
            <a:ext cx="2514600" cy="1371600"/>
          </a:xfrm>
          <a:prstGeom prst="rightArrow">
            <a:avLst/>
          </a:prstGeom>
          <a:solidFill>
            <a:srgbClr val="F3C9D0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4846320" y="3429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0D25"/>
                </a:solidFill>
              </a:rPr>
              <a:t>意味まで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9E0D25"/>
                </a:solidFill>
              </a:rPr>
              <a:t>知ると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548640" y="553212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FBECEE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48640" y="55321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0D25"/>
                </a:solidFill>
              </a:rPr>
              <a:t>名称だけでなく、血糖値との違いや指標としての意味まで伝えることが鍵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調査結果 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</a:rPr>
              <a:t>生活者の87.5%が「血糖値でリスクを十分に把握できる」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371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</a:rPr>
              <a:t>生活者</a:t>
            </a:r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　n=303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</a:rPr>
              <a:t>血糖値の測定やその数値で、糖尿病予備群などのリスクを十分に把握できる？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2273793" cy="914400"/>
          </a:xfrm>
          <a:prstGeom prst="rect">
            <a:avLst/>
          </a:prstGeom>
          <a:solidFill>
            <a:srgbClr val="9E0D2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91840"/>
            <a:ext cx="22737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20.5%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2822433" y="3291840"/>
            <a:ext cx="7431420" cy="914400"/>
          </a:xfrm>
          <a:prstGeom prst="rect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22433" y="3291840"/>
            <a:ext cx="7431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67.0%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10253853" y="3291840"/>
            <a:ext cx="1131351" cy="914400"/>
          </a:xfrm>
          <a:prstGeom prst="rect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253853" y="3291840"/>
            <a:ext cx="11313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</a:rPr>
              <a:t>10.2%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385204" y="3291840"/>
            <a:ext cx="255108" cy="914400"/>
          </a:xfrm>
          <a:prstGeom prst="rect">
            <a:avLst/>
          </a:prstGeom>
          <a:solidFill>
            <a:srgbClr val="A6A6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745124" y="29077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4A4A"/>
                </a:solidFill>
              </a:rPr>
              <a:t>2.3%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6928" y="4297680"/>
            <a:ext cx="914" cy="201168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4498848"/>
            <a:ext cx="9668637" cy="914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35565" y="4297680"/>
            <a:ext cx="914" cy="201168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00847" y="4553712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2626"/>
                </a:solidFill>
              </a:rPr>
              <a:t>「そう思う」計 </a:t>
            </a:r>
            <a:pPr algn="ctr" indent="0" marL="0">
              <a:buNone/>
            </a:pPr>
            <a:r>
              <a:rPr lang="en-US" sz="6600" b="1" dirty="0">
                <a:solidFill>
                  <a:srgbClr val="C8102E"/>
                </a:solidFill>
              </a:rPr>
              <a:t>87.5%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48640" y="5815584"/>
            <a:ext cx="164592" cy="164592"/>
          </a:xfrm>
          <a:prstGeom prst="ellipse">
            <a:avLst/>
          </a:prstGeom>
          <a:solidFill>
            <a:srgbClr val="9E0D2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6384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4A4A"/>
                </a:solidFill>
              </a:rPr>
              <a:t>非常にそう思う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3383280" y="5815584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621024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4A4A"/>
                </a:solidFill>
              </a:rPr>
              <a:t>そう思う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6217920" y="5815584"/>
            <a:ext cx="164592" cy="164592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55664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4A4A"/>
                </a:solidFill>
              </a:rPr>
              <a:t>そう思わない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052560" y="5815584"/>
            <a:ext cx="164592" cy="164592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290304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4A4A"/>
                </a:solidFill>
              </a:rPr>
              <a:t>全くそう思わない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解説 ①　血糖値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</a:rPr>
              <a:t>血糖値の落とし穴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720840" cy="4754880"/>
          </a:xfrm>
          <a:prstGeom prst="roundRect">
            <a:avLst>
              <a:gd name="adj" fmla="val 2308"/>
            </a:avLst>
          </a:prstGeom>
          <a:solidFill>
            <a:srgbClr val="F6F6F6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960120" y="2103120"/>
            <a:ext cx="914" cy="2468880"/>
          </a:xfrm>
          <a:prstGeom prst="line">
            <a:avLst/>
          </a:prstGeom>
          <a:noFill/>
          <a:ln w="1587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60120" y="4572000"/>
            <a:ext cx="6035040" cy="914"/>
          </a:xfrm>
          <a:prstGeom prst="line">
            <a:avLst/>
          </a:prstGeom>
          <a:noFill/>
          <a:ln w="1587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</a:rPr>
              <a:t>血糖値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42245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7A7A"/>
                </a:solidFill>
              </a:rPr>
              <a:t>時間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1828800"/>
            <a:ext cx="6035040" cy="2560320"/>
          </a:xfrm>
          <a:custGeom>
            <a:avLst/>
            <a:gdLst/>
            <a:ahLst/>
            <a:cxnLst/>
            <a:rect l="l" t="t" r="r" b="b"/>
            <a:pathLst>
              <a:path w="6035040" h="2560320">
                <a:moveTo>
                  <a:pt x="45720" y="2194560"/>
                </a:moveTo>
                <a:cubicBezTo>
                  <a:pt x="121920" y="2171700"/>
                  <a:pt x="342900" y="2308860"/>
                  <a:pt x="502920" y="2057400"/>
                </a:cubicBezTo>
                <a:cubicBezTo>
                  <a:pt x="662940" y="1805940"/>
                  <a:pt x="830580" y="701040"/>
                  <a:pt x="1005840" y="685800"/>
                </a:cubicBezTo>
                <a:cubicBezTo>
                  <a:pt x="1181100" y="670560"/>
                  <a:pt x="1333500" y="1706880"/>
                  <a:pt x="1554480" y="1965960"/>
                </a:cubicBezTo>
                <a:cubicBezTo>
                  <a:pt x="1775460" y="2225040"/>
                  <a:pt x="2095500" y="2415540"/>
                  <a:pt x="2331720" y="2240280"/>
                </a:cubicBezTo>
                <a:cubicBezTo>
                  <a:pt x="2567940" y="2065020"/>
                  <a:pt x="2766060" y="937260"/>
                  <a:pt x="2971800" y="914400"/>
                </a:cubicBezTo>
                <a:cubicBezTo>
                  <a:pt x="3177540" y="891540"/>
                  <a:pt x="3337560" y="1874520"/>
                  <a:pt x="3566160" y="2103120"/>
                </a:cubicBezTo>
                <a:cubicBezTo>
                  <a:pt x="3794760" y="2331720"/>
                  <a:pt x="4114800" y="2499360"/>
                  <a:pt x="4343400" y="2286000"/>
                </a:cubicBezTo>
                <a:cubicBezTo>
                  <a:pt x="4572000" y="2072640"/>
                  <a:pt x="4747260" y="861060"/>
                  <a:pt x="4937760" y="822960"/>
                </a:cubicBezTo>
                <a:cubicBezTo>
                  <a:pt x="5128260" y="784860"/>
                  <a:pt x="5326380" y="1821180"/>
                  <a:pt x="5486400" y="2057400"/>
                </a:cubicBezTo>
                <a:cubicBezTo>
                  <a:pt x="5646420" y="2293620"/>
                  <a:pt x="5829300" y="2209800"/>
                  <a:pt x="5897880" y="2240280"/>
                </a:cubicBezTo>
              </a:path>
            </a:pathLst>
          </a:custGeom>
          <a:ln w="57150">
            <a:solidFill>
              <a:srgbClr val="4668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29000"/>
            <a:ext cx="5897880" cy="914"/>
          </a:xfrm>
          <a:prstGeom prst="line">
            <a:avLst/>
          </a:prstGeom>
          <a:noFill/>
          <a:ln w="28575">
            <a:solidFill>
              <a:srgbClr val="C8102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68680" y="1755648"/>
            <a:ext cx="411480" cy="914"/>
          </a:xfrm>
          <a:prstGeom prst="line">
            <a:avLst/>
          </a:prstGeom>
          <a:noFill/>
          <a:ln w="57150">
            <a:solidFill>
              <a:srgbClr val="4668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15910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88C"/>
                </a:solidFill>
              </a:rPr>
              <a:t>血糖値（その瞬間の量）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1755648"/>
            <a:ext cx="411480" cy="914"/>
          </a:xfrm>
          <a:prstGeom prst="line">
            <a:avLst/>
          </a:prstGeom>
          <a:noFill/>
          <a:ln w="28575">
            <a:solidFill>
              <a:srgbClr val="C8102E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114800" y="159105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</a:rPr>
              <a:t>HbA1c（1〜2か月の平均的な状態）</a:t>
            </a:r>
            <a:endParaRPr lang="en-US" sz="1300" dirty="0"/>
          </a:p>
        </p:txBody>
      </p:sp>
      <p:pic>
        <p:nvPicPr>
          <p:cNvPr id="15" name="Image 0" descr="朝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258" y="4709160"/>
            <a:ext cx="1243405" cy="8686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17320" y="5623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朝食</a:t>
            </a:r>
            <a:endParaRPr lang="en-US" sz="1600" dirty="0"/>
          </a:p>
        </p:txBody>
      </p:sp>
      <p:pic>
        <p:nvPicPr>
          <p:cNvPr id="17" name="Image 1" descr="昼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899" y="4709160"/>
            <a:ext cx="1056042" cy="8686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383280" y="5623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昼食</a:t>
            </a:r>
            <a:endParaRPr lang="en-US" sz="1600" dirty="0"/>
          </a:p>
        </p:txBody>
      </p:sp>
      <p:pic>
        <p:nvPicPr>
          <p:cNvPr id="19" name="Image 2" descr="夕食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850" y="4709160"/>
            <a:ext cx="1496060" cy="8686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49240" y="5623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夕食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98080" y="14630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4668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POINT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498080" y="2194560"/>
            <a:ext cx="685800" cy="685800"/>
          </a:xfrm>
          <a:prstGeom prst="ellipse">
            <a:avLst/>
          </a:prstGeom>
          <a:solidFill>
            <a:srgbClr val="46688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530" y="2366010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21040" y="21945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</a:rPr>
              <a:t>採血した“瞬間”の数値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274320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</a:rPr>
              <a:t>あくまで「瞬間風速の数値」。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</a:rPr>
              <a:t>中長期的な数値ではない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7498080" y="4160520"/>
            <a:ext cx="685800" cy="685800"/>
          </a:xfrm>
          <a:prstGeom prst="ellipse">
            <a:avLst/>
          </a:prstGeom>
          <a:solidFill>
            <a:srgbClr val="46688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530" y="4331970"/>
            <a:ext cx="342900" cy="3429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321040" y="4160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</a:rPr>
              <a:t>1日の中でも変動する</a:t>
            </a:r>
            <a:endParaRPr lang="en-US" sz="2200" dirty="0"/>
          </a:p>
        </p:txBody>
      </p:sp>
      <p:sp>
        <p:nvSpPr>
          <p:cNvPr id="29" name="Text 22"/>
          <p:cNvSpPr txBox="1"/>
          <p:nvPr/>
        </p:nvSpPr>
        <p:spPr>
          <a:xfrm>
            <a:off x="8321040" y="470916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</a:rPr>
              <a:t>食事で上がり、活動で下がる。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</a:rPr>
              <a:t>その繰り返し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解説 ②　ヘモグロビンA1c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</a:rPr>
              <a:t>ヘモグロビンA1c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BEC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</a:rPr>
              <a:t>赤血球の中のヘモグロビンに糖が結合したもの。</a:t>
            </a:r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</a:rPr>
              <a:t>血液中にどのくらいの割合で存在しているかの指標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21408"/>
            <a:ext cx="2514600" cy="347472"/>
          </a:xfrm>
          <a:prstGeom prst="roundRect">
            <a:avLst>
              <a:gd name="adj" fmla="val 50000"/>
            </a:avLst>
          </a:prstGeom>
          <a:solidFill>
            <a:srgbClr val="4668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ヘモグロビンA1cが低い</a:t>
            </a:r>
            <a:endParaRPr lang="en-US" sz="1400" dirty="0"/>
          </a:p>
        </p:txBody>
      </p:sp>
      <p:pic>
        <p:nvPicPr>
          <p:cNvPr id="7" name="Image 0" descr="HbA1cが低い血管内の模式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23744"/>
            <a:ext cx="4846320" cy="13304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 flipH="1">
            <a:off x="1188720" y="3393299"/>
            <a:ext cx="925119" cy="762616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2880" y="4155915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赤血球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flipH="1">
            <a:off x="2103120" y="3480255"/>
            <a:ext cx="228108" cy="675661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4155915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糖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79050" y="3300546"/>
            <a:ext cx="338470" cy="855369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11680" y="4155915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ヘモグロビン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87727" y="3500544"/>
            <a:ext cx="284273" cy="655371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4155915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ヘモグロビンA1c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13816" y="3283155"/>
            <a:ext cx="266664" cy="220287"/>
          </a:xfrm>
          <a:prstGeom prst="ellipse">
            <a:avLst/>
          </a:prstGeom>
          <a:ln w="25400">
            <a:solidFill>
              <a:srgbClr val="26262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585683"/>
            <a:ext cx="2514600" cy="34747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ヘモグロビンA1cが高い</a:t>
            </a:r>
            <a:endParaRPr lang="en-US" sz="1400" dirty="0"/>
          </a:p>
        </p:txBody>
      </p:sp>
      <p:pic>
        <p:nvPicPr>
          <p:cNvPr id="18" name="Image 1" descr="HbA1cが高い血管内の模式図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88019"/>
            <a:ext cx="4846320" cy="124636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172200" y="2121408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446520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POINT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863840" y="228600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377440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339328" y="225856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</a:rPr>
              <a:t>1日の中で変動しない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7863840" y="283464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926080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339328" y="280720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</a:rPr>
              <a:t>1〜2か月の血糖の状態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6172200" y="3657600"/>
            <a:ext cx="5468112" cy="2514600"/>
          </a:xfrm>
          <a:prstGeom prst="roundRect">
            <a:avLst>
              <a:gd name="adj" fmla="val 4364"/>
            </a:avLst>
          </a:prstGeom>
          <a:solidFill>
            <a:srgbClr val="F6F6F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446520" y="382219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4A4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基準値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7635240" y="4572000"/>
            <a:ext cx="2743200" cy="2743200"/>
          </a:xfrm>
          <a:prstGeom prst="blockArc">
            <a:avLst>
              <a:gd name="adj1" fmla="val 10800000"/>
              <a:gd name="adj2" fmla="val 14280000"/>
              <a:gd name="adj3" fmla="val 17000"/>
            </a:avLst>
          </a:prstGeom>
          <a:solidFill>
            <a:srgbClr val="6FA088"/>
          </a:solidFill>
          <a:ln/>
        </p:spPr>
      </p:sp>
      <p:sp>
        <p:nvSpPr>
          <p:cNvPr id="30" name="Shape 24"/>
          <p:cNvSpPr/>
          <p:nvPr/>
        </p:nvSpPr>
        <p:spPr>
          <a:xfrm>
            <a:off x="7635240" y="4572000"/>
            <a:ext cx="2743200" cy="2743200"/>
          </a:xfrm>
          <a:prstGeom prst="blockArc">
            <a:avLst>
              <a:gd name="adj1" fmla="val 14460000"/>
              <a:gd name="adj2" fmla="val 17940000"/>
              <a:gd name="adj3" fmla="val 17000"/>
            </a:avLst>
          </a:prstGeom>
          <a:solidFill>
            <a:srgbClr val="E3B04B"/>
          </a:solidFill>
          <a:ln/>
        </p:spPr>
      </p:sp>
      <p:sp>
        <p:nvSpPr>
          <p:cNvPr id="31" name="Shape 25"/>
          <p:cNvSpPr/>
          <p:nvPr/>
        </p:nvSpPr>
        <p:spPr>
          <a:xfrm>
            <a:off x="7635240" y="4572000"/>
            <a:ext cx="2743200" cy="2743200"/>
          </a:xfrm>
          <a:prstGeom prst="blockArc">
            <a:avLst>
              <a:gd name="adj1" fmla="val 18120000"/>
              <a:gd name="adj2" fmla="val 21600000"/>
              <a:gd name="adj3" fmla="val 17000"/>
            </a:avLst>
          </a:prstGeom>
          <a:solidFill>
            <a:srgbClr val="C8102E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549640" y="46222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注意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7581013" y="5243885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正常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287000" y="5212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糖尿病の恐れ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7494954" y="4358305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4A4A"/>
                </a:solidFill>
              </a:rPr>
              <a:t>5.6〜5.8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9741486" y="4358305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</a:rPr>
              <a:t>6.5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8729943" y="4910206"/>
            <a:ext cx="276897" cy="1033394"/>
          </a:xfrm>
          <a:prstGeom prst="line">
            <a:avLst/>
          </a:prstGeom>
          <a:noFill/>
          <a:ln w="63500">
            <a:solidFill>
              <a:srgbClr val="262626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8851392" y="5788152"/>
            <a:ext cx="310896" cy="310896"/>
          </a:xfrm>
          <a:prstGeom prst="ellipse">
            <a:avLst/>
          </a:prstGeom>
          <a:solidFill>
            <a:srgbClr val="26262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測定方法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</a:rPr>
              <a:t>ヘモグロビンA1c、どこで測れる？</a:t>
            </a:r>
            <a:endParaRPr lang="en-US" sz="3200" dirty="0"/>
          </a:p>
        </p:txBody>
      </p:sp>
      <p:sp>
        <p:nvSpPr>
          <p:cNvPr id="4" name="where0"/>
          <p:cNvSpPr/>
          <p:nvPr/>
        </p:nvSpPr>
        <p:spPr>
          <a:xfrm>
            <a:off x="548640" y="146304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6F6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926080" y="17830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5B5B5"/>
                </a:solidFill>
              </a:rPr>
              <a:t>01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</a:rPr>
              <a:t>健康診断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</a:rPr>
              <a:t>オプション</a:t>
            </a:r>
            <a:endParaRPr lang="en-US" sz="1800" dirty="0"/>
          </a:p>
        </p:txBody>
      </p:sp>
      <p:pic>
        <p:nvPicPr>
          <p:cNvPr id="10" name="Image 1" descr="健康診断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3749040"/>
            <a:ext cx="2971800" cy="2148840"/>
          </a:xfrm>
          <a:prstGeom prst="rect">
            <a:avLst/>
          </a:prstGeom>
        </p:spPr>
      </p:pic>
      <p:sp>
        <p:nvSpPr>
          <p:cNvPr id="11" name="where1"/>
          <p:cNvSpPr/>
          <p:nvPr/>
        </p:nvSpPr>
        <p:spPr>
          <a:xfrm>
            <a:off x="4334256" y="146304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6F6F6"/>
          </a:solidFill>
          <a:ln/>
        </p:spPr>
      </p:sp>
      <p:sp>
        <p:nvSpPr>
          <p:cNvPr id="12" name="Shape 8"/>
          <p:cNvSpPr/>
          <p:nvPr/>
        </p:nvSpPr>
        <p:spPr>
          <a:xfrm>
            <a:off x="4608576" y="1737360"/>
            <a:ext cx="731520" cy="7315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9202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711696" y="17830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5B5B5"/>
                </a:solidFill>
              </a:rPr>
              <a:t>02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4608576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</a:rPr>
              <a:t>ゆびさきセルフ測定室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4608576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</a:rPr>
              <a:t>「ゆびさきナビ」で検索</a:t>
            </a:r>
            <a:endParaRPr lang="en-US" sz="1800" dirty="0"/>
          </a:p>
        </p:txBody>
      </p:sp>
      <p:pic>
        <p:nvPicPr>
          <p:cNvPr id="17" name="Image 3" descr="ゆびさきセルフ測定室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08576" y="3749040"/>
            <a:ext cx="2971800" cy="2148840"/>
          </a:xfrm>
          <a:prstGeom prst="rect">
            <a:avLst/>
          </a:prstGeom>
        </p:spPr>
      </p:pic>
      <p:sp>
        <p:nvSpPr>
          <p:cNvPr id="18" name="where2"/>
          <p:cNvSpPr/>
          <p:nvPr/>
        </p:nvSpPr>
        <p:spPr>
          <a:xfrm>
            <a:off x="8119872" y="146304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6F6F6"/>
          </a:solidFill>
          <a:ln/>
        </p:spPr>
      </p:sp>
      <p:sp>
        <p:nvSpPr>
          <p:cNvPr id="19" name="Shape 13"/>
          <p:cNvSpPr/>
          <p:nvPr/>
        </p:nvSpPr>
        <p:spPr>
          <a:xfrm>
            <a:off x="8394192" y="1737360"/>
            <a:ext cx="731520" cy="7315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192024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497312" y="17830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5B5B5"/>
                </a:solidFill>
              </a:rPr>
              <a:t>03</a:t>
            </a:r>
            <a:endParaRPr lang="en-US" sz="2600" dirty="0"/>
          </a:p>
        </p:txBody>
      </p:sp>
      <p:sp>
        <p:nvSpPr>
          <p:cNvPr id="22" name="Text 15"/>
          <p:cNvSpPr txBox="1"/>
          <p:nvPr/>
        </p:nvSpPr>
        <p:spPr>
          <a:xfrm>
            <a:off x="8394192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</a:rPr>
              <a:t>ご自宅</a:t>
            </a:r>
            <a:endParaRPr lang="en-US" sz="2400" dirty="0"/>
          </a:p>
        </p:txBody>
      </p:sp>
      <p:sp>
        <p:nvSpPr>
          <p:cNvPr id="23" name="Text 16"/>
          <p:cNvSpPr txBox="1"/>
          <p:nvPr/>
        </p:nvSpPr>
        <p:spPr>
          <a:xfrm>
            <a:off x="8394192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</a:rPr>
              <a:t>簡易検査キット</a:t>
            </a:r>
            <a:endParaRPr lang="en-US" sz="1800" dirty="0"/>
          </a:p>
        </p:txBody>
      </p:sp>
      <p:pic>
        <p:nvPicPr>
          <p:cNvPr id="24" name="Image 5" descr="ご自宅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94192" y="3749040"/>
            <a:ext cx="2971800" cy="2148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07408" y="411480"/>
            <a:ext cx="3383280" cy="3383280"/>
          </a:xfrm>
          <a:prstGeom prst="ellipse">
            <a:avLst/>
          </a:prstGeom>
          <a:solidFill>
            <a:srgbClr val="FBECEE"/>
          </a:solidFill>
          <a:ln/>
        </p:spPr>
      </p:sp>
      <p:pic>
        <p:nvPicPr>
          <p:cNvPr id="3" name="Image 0" descr="10月8日 糖をはかる日 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888" y="914400"/>
            <a:ext cx="2560320" cy="1819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023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2626"/>
                </a:solidFill>
              </a:rPr>
              <a:t>血糖値だけでなく、</a:t>
            </a:r>
            <a:pPr algn="ctr" indent="0" marL="0">
              <a:buNone/>
            </a:pPr>
            <a:r>
              <a:rPr lang="en-US" sz="4000" b="1" dirty="0">
                <a:solidFill>
                  <a:srgbClr val="C8102E"/>
                </a:solidFill>
              </a:rPr>
              <a:t>ヘモグロビンA1c</a:t>
            </a:r>
            <a:pPr algn="ctr" indent="0" marL="0">
              <a:buNone/>
            </a:pPr>
            <a:r>
              <a:rPr lang="en-US" sz="4000" b="1" dirty="0">
                <a:solidFill>
                  <a:srgbClr val="262626"/>
                </a:solidFill>
              </a:rPr>
              <a:t>も。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846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4A4A"/>
                </a:solidFill>
              </a:rPr>
              <a:t>10月8日「糖をはかる日」をきっかけに、自分の“血糖の通信簿”をチェック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A7A"/>
                </a:solidFill>
              </a:rPr>
              <a:t>主催：一般社団法人 日本生活習慣病予防協会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u wo Hakaru Hi">
  <a:themeElements>
    <a:clrScheme name="Tou wo Hakaru Hi">
      <a:dk1>
        <a:srgbClr val="262626"/>
      </a:dk1>
      <a:lt1>
        <a:srgbClr val="FFFFFF"/>
      </a:lt1>
      <a:dk2>
        <a:srgbClr val="2F4A66"/>
      </a:dk2>
      <a:lt2>
        <a:srgbClr val="F6F6F6"/>
      </a:lt2>
      <a:accent1>
        <a:srgbClr val="C8102E"/>
      </a:accent1>
      <a:accent2>
        <a:srgbClr val="46688C"/>
      </a:accent2>
      <a:accent3>
        <a:srgbClr val="B7C6D6"/>
      </a:accent3>
      <a:accent4>
        <a:srgbClr val="F3C9D0"/>
      </a:accent4>
      <a:accent5>
        <a:srgbClr val="6FA088"/>
      </a:accent5>
      <a:accent6>
        <a:srgbClr val="E3B04B"/>
      </a:accent6>
      <a:hlink>
        <a:srgbClr val="46688C"/>
      </a:hlink>
      <a:folHlink>
        <a:srgbClr val="7A7A7A"/>
      </a:folHlink>
    </a:clrScheme>
    <a:fontScheme name="Tou wo Hakaru Hi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10月8日は糖をはかる日 スペシャルトークイベント</dc:title>
  <dc:subject>PptxGenJS Presentation</dc:subject>
  <dc:creator>日本生活習慣病予防協会</dc:creator>
  <cp:lastModifiedBy>日本生活習慣病予防協会</cp:lastModifiedBy>
  <cp:revision>1</cp:revision>
  <dcterms:created xsi:type="dcterms:W3CDTF">2026-10-02T08:54:51Z</dcterms:created>
  <dcterms:modified xsi:type="dcterms:W3CDTF">2026-10-02T08:54:51Z</dcterms:modified>
</cp:coreProperties>
</file>