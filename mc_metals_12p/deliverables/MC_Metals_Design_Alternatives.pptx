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-216000" y="-319081"/>
            <a:ext cx="7997512" cy="8503681"/>
          </a:xfrm>
          <a:custGeom>
            <a:avLst/>
            <a:gdLst/>
            <a:ahLst/>
            <a:cxnLst/>
            <a:rect l="l" t="t" r="r" b="b"/>
            <a:pathLst>
              <a:path w="7997512" h="8503681">
                <a:moveTo>
                  <a:pt x="0" y="8503681"/>
                </a:moveTo>
                <a:lnTo>
                  <a:pt x="3157550" y="8503681"/>
                </a:lnTo>
                <a:lnTo>
                  <a:pt x="6978852" y="1894995"/>
                </a:lnTo>
                <a:lnTo>
                  <a:pt x="7997512" y="127638"/>
                </a:lnTo>
                <a:lnTo>
                  <a:pt x="7776062" y="0"/>
                </a:lnTo>
                <a:lnTo>
                  <a:pt x="6757491" y="1767203"/>
                </a:lnTo>
                <a:lnTo>
                  <a:pt x="3010091" y="8248081"/>
                </a:lnTo>
                <a:lnTo>
                  <a:pt x="0" y="8248081"/>
                </a:lnTo>
                <a:close/>
              </a:path>
            </a:pathLst>
          </a:custGeom>
          <a:solidFill>
            <a:srgbClr val="A8622F"/>
          </a:solidFill>
          <a:ln/>
        </p:spPr>
      </p:sp>
      <p:sp>
        <p:nvSpPr>
          <p:cNvPr id="4" name="Shape 2"/>
          <p:cNvSpPr/>
          <p:nvPr/>
        </p:nvSpPr>
        <p:spPr>
          <a:xfrm>
            <a:off x="-216000" y="-298462"/>
            <a:ext cx="7886787" cy="8312062"/>
          </a:xfrm>
          <a:custGeom>
            <a:avLst/>
            <a:gdLst/>
            <a:ahLst/>
            <a:cxnLst/>
            <a:rect l="l" t="t" r="r" b="b"/>
            <a:pathLst>
              <a:path w="7886787" h="8312062">
                <a:moveTo>
                  <a:pt x="0" y="8312062"/>
                </a:moveTo>
                <a:lnTo>
                  <a:pt x="3083820" y="8312062"/>
                </a:lnTo>
                <a:lnTo>
                  <a:pt x="6868171" y="1767280"/>
                </a:lnTo>
                <a:lnTo>
                  <a:pt x="7886787" y="0"/>
                </a:lnTo>
              </a:path>
            </a:pathLst>
          </a:custGeom>
          <a:ln w="508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16000" y="-53019"/>
            <a:ext cx="8459125" cy="8770419"/>
          </a:xfrm>
          <a:custGeom>
            <a:avLst/>
            <a:gdLst/>
            <a:ahLst/>
            <a:cxnLst/>
            <a:rect l="l" t="t" r="r" b="b"/>
            <a:pathLst>
              <a:path w="8459125" h="8770419">
                <a:moveTo>
                  <a:pt x="0" y="8770419"/>
                </a:moveTo>
                <a:lnTo>
                  <a:pt x="3464930" y="8770419"/>
                </a:lnTo>
                <a:lnTo>
                  <a:pt x="7440281" y="1895315"/>
                </a:lnTo>
                <a:lnTo>
                  <a:pt x="8459125" y="127638"/>
                </a:lnTo>
                <a:lnTo>
                  <a:pt x="8237675" y="0"/>
                </a:lnTo>
                <a:lnTo>
                  <a:pt x="7218919" y="1767523"/>
                </a:lnTo>
                <a:lnTo>
                  <a:pt x="3317470" y="8514819"/>
                </a:lnTo>
                <a:lnTo>
                  <a:pt x="0" y="8514819"/>
                </a:lnTo>
                <a:close/>
              </a:path>
            </a:pathLst>
          </a:custGeom>
          <a:solidFill>
            <a:srgbClr val="6E7A87"/>
          </a:solidFill>
          <a:ln/>
        </p:spPr>
      </p:sp>
      <p:sp>
        <p:nvSpPr>
          <p:cNvPr id="6" name="Shape 4"/>
          <p:cNvSpPr/>
          <p:nvPr/>
        </p:nvSpPr>
        <p:spPr>
          <a:xfrm>
            <a:off x="-216000" y="-32400"/>
            <a:ext cx="8348400" cy="8578800"/>
          </a:xfrm>
          <a:custGeom>
            <a:avLst/>
            <a:gdLst/>
            <a:ahLst/>
            <a:cxnLst/>
            <a:rect l="l" t="t" r="r" b="b"/>
            <a:pathLst>
              <a:path w="8348400" h="8578800">
                <a:moveTo>
                  <a:pt x="0" y="8578800"/>
                </a:moveTo>
                <a:lnTo>
                  <a:pt x="3391200" y="8578800"/>
                </a:lnTo>
                <a:lnTo>
                  <a:pt x="7329600" y="1767600"/>
                </a:lnTo>
                <a:lnTo>
                  <a:pt x="8348400" y="0"/>
                </a:lnTo>
              </a:path>
            </a:pathLst>
          </a:custGeom>
          <a:ln w="508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216000" y="213043"/>
            <a:ext cx="8920738" cy="9037157"/>
          </a:xfrm>
          <a:custGeom>
            <a:avLst/>
            <a:gdLst/>
            <a:ahLst/>
            <a:cxnLst/>
            <a:rect l="l" t="t" r="r" b="b"/>
            <a:pathLst>
              <a:path w="8920738" h="9037157">
                <a:moveTo>
                  <a:pt x="0" y="9037157"/>
                </a:moveTo>
                <a:lnTo>
                  <a:pt x="3772309" y="9037157"/>
                </a:lnTo>
                <a:lnTo>
                  <a:pt x="7901709" y="1895635"/>
                </a:lnTo>
                <a:lnTo>
                  <a:pt x="8920738" y="127638"/>
                </a:lnTo>
                <a:lnTo>
                  <a:pt x="8699288" y="0"/>
                </a:lnTo>
                <a:lnTo>
                  <a:pt x="7680348" y="1767843"/>
                </a:lnTo>
                <a:lnTo>
                  <a:pt x="3624850" y="8781557"/>
                </a:lnTo>
                <a:lnTo>
                  <a:pt x="0" y="8781557"/>
                </a:lnTo>
                <a:close/>
              </a:path>
            </a:pathLst>
          </a:custGeom>
          <a:solidFill>
            <a:srgbClr val="4A535D"/>
          </a:solidFill>
          <a:ln/>
        </p:spPr>
      </p:sp>
      <p:sp>
        <p:nvSpPr>
          <p:cNvPr id="8" name="Shape 6"/>
          <p:cNvSpPr/>
          <p:nvPr/>
        </p:nvSpPr>
        <p:spPr>
          <a:xfrm>
            <a:off x="-216000" y="233662"/>
            <a:ext cx="8810013" cy="8845538"/>
          </a:xfrm>
          <a:custGeom>
            <a:avLst/>
            <a:gdLst/>
            <a:ahLst/>
            <a:cxnLst/>
            <a:rect l="l" t="t" r="r" b="b"/>
            <a:pathLst>
              <a:path w="8810013" h="8845538">
                <a:moveTo>
                  <a:pt x="0" y="8845538"/>
                </a:moveTo>
                <a:lnTo>
                  <a:pt x="3698580" y="8845538"/>
                </a:lnTo>
                <a:lnTo>
                  <a:pt x="7791029" y="1767920"/>
                </a:lnTo>
                <a:lnTo>
                  <a:pt x="8810013" y="0"/>
                </a:lnTo>
              </a:path>
            </a:pathLst>
          </a:custGeom>
          <a:ln w="508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000" y="864000"/>
            <a:ext cx="54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350" kern="0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MITSUBISHI CORPORATION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000" y="1188000"/>
            <a:ext cx="432000" cy="21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612000" y="1404000"/>
            <a:ext cx="6120000" cy="1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spc="300" kern="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METAL</a:t>
            </a:r>
            <a:endParaRPr lang="en-US" sz="3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000" spc="300" kern="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RESOURCES</a:t>
            </a:r>
            <a:endParaRPr lang="en-US" sz="3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000" spc="300" kern="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GROUP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000" y="2808000"/>
            <a:ext cx="612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32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CORPORATE PROFILE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2000" y="3096000"/>
            <a:ext cx="612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D424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Strength to Hold. Power to Connect.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000" y="9792000"/>
            <a:ext cx="6336000" cy="9000"/>
          </a:xfrm>
          <a:prstGeom prst="rect">
            <a:avLst/>
          </a:prstGeom>
          <a:solidFill>
            <a:srgbClr val="CFD3D7"/>
          </a:solidFill>
          <a:ln/>
        </p:spPr>
      </p:sp>
      <p:sp>
        <p:nvSpPr>
          <p:cNvPr id="15" name="Text 13"/>
          <p:cNvSpPr/>
          <p:nvPr/>
        </p:nvSpPr>
        <p:spPr>
          <a:xfrm>
            <a:off x="612000" y="9972000"/>
            <a:ext cx="633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spc="120" kern="0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Mitsubishi Corporation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560000" y="0"/>
            <a:ext cx="7560000" cy="1069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702325" y="6568695"/>
            <a:ext cx="9635350" cy="3422609"/>
          </a:xfrm>
          <a:custGeom>
            <a:avLst/>
            <a:gdLst/>
            <a:ahLst/>
            <a:cxnLst/>
            <a:rect l="l" t="t" r="r" b="b"/>
            <a:pathLst>
              <a:path w="9635350" h="3422609">
                <a:moveTo>
                  <a:pt x="275350" y="3422609"/>
                </a:moveTo>
                <a:lnTo>
                  <a:pt x="9635350" y="1118609"/>
                </a:lnTo>
                <a:lnTo>
                  <a:pt x="9360000" y="0"/>
                </a:lnTo>
                <a:lnTo>
                  <a:pt x="0" y="2304000"/>
                </a:lnTo>
                <a:close/>
              </a:path>
            </a:pathLst>
          </a:custGeom>
          <a:solidFill>
            <a:srgbClr val="3D4249">
              <a:alpha val="7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95732" y="4541753"/>
            <a:ext cx="9648537" cy="4020494"/>
          </a:xfrm>
          <a:custGeom>
            <a:avLst/>
            <a:gdLst/>
            <a:ahLst/>
            <a:cxnLst/>
            <a:rect l="l" t="t" r="r" b="b"/>
            <a:pathLst>
              <a:path w="9648537" h="4020494">
                <a:moveTo>
                  <a:pt x="288537" y="4020494"/>
                </a:moveTo>
                <a:lnTo>
                  <a:pt x="9648537" y="852494"/>
                </a:lnTo>
                <a:lnTo>
                  <a:pt x="9360000" y="0"/>
                </a:lnTo>
                <a:lnTo>
                  <a:pt x="0" y="3168000"/>
                </a:lnTo>
                <a:close/>
              </a:path>
            </a:pathLst>
          </a:custGeom>
          <a:solidFill>
            <a:srgbClr val="A3122A">
              <a:alpha val="8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881286" y="3815719"/>
            <a:ext cx="5813428" cy="7344561"/>
          </a:xfrm>
          <a:custGeom>
            <a:avLst/>
            <a:gdLst/>
            <a:ahLst/>
            <a:cxnLst/>
            <a:rect l="l" t="t" r="r" b="b"/>
            <a:pathLst>
              <a:path w="5813428" h="7344561">
                <a:moveTo>
                  <a:pt x="989428" y="7344561"/>
                </a:moveTo>
                <a:lnTo>
                  <a:pt x="5813428" y="720561"/>
                </a:lnTo>
                <a:lnTo>
                  <a:pt x="4824000" y="0"/>
                </a:lnTo>
                <a:lnTo>
                  <a:pt x="0" y="6624000"/>
                </a:lnTo>
                <a:close/>
              </a:path>
            </a:pathLst>
          </a:custGeom>
          <a:solidFill>
            <a:srgbClr val="7D1424">
              <a:alpha val="8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560000" y="9576000"/>
            <a:ext cx="7560000" cy="111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172000" y="864000"/>
            <a:ext cx="54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350" kern="0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MITSUBISHI CORPORATION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72000" y="1188000"/>
            <a:ext cx="432000" cy="21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3" name="Text 21"/>
          <p:cNvSpPr/>
          <p:nvPr/>
        </p:nvSpPr>
        <p:spPr>
          <a:xfrm>
            <a:off x="8172000" y="1404000"/>
            <a:ext cx="6120000" cy="1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spc="300" kern="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METAL</a:t>
            </a:r>
            <a:endParaRPr lang="en-US" sz="3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000" spc="300" kern="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RESOURCES</a:t>
            </a:r>
            <a:endParaRPr lang="en-US" sz="3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000" spc="300" kern="0" dirty="0">
                <a:solidFill>
                  <a:srgbClr val="12151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GROUP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172000" y="2808000"/>
            <a:ext cx="612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32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CORPORATE PROFILE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172000" y="3096000"/>
            <a:ext cx="612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D424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Strength to Hold. Power to Connect.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72000" y="9792000"/>
            <a:ext cx="6336000" cy="9000"/>
          </a:xfrm>
          <a:prstGeom prst="rect">
            <a:avLst/>
          </a:prstGeom>
          <a:solidFill>
            <a:srgbClr val="CFD3D7"/>
          </a:solidFill>
          <a:ln/>
        </p:spPr>
      </p:sp>
      <p:sp>
        <p:nvSpPr>
          <p:cNvPr id="27" name="Text 25"/>
          <p:cNvSpPr/>
          <p:nvPr/>
        </p:nvSpPr>
        <p:spPr>
          <a:xfrm>
            <a:off x="8172000" y="9972000"/>
            <a:ext cx="633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spc="120" kern="0" dirty="0">
                <a:solidFill>
                  <a:srgbClr val="1215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Mitsubishi Corporation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552800" y="0"/>
            <a:ext cx="14400" cy="10692000"/>
          </a:xfrm>
          <a:prstGeom prst="rect">
            <a:avLst/>
          </a:prstGeom>
          <a:solidFill>
            <a:srgbClr val="D5DADE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" y="103784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表紙 比較｜左：案A 3本のライン（前へ進み、一点で上へ）／右：案B 3本の帯が交差して上へ抜ける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4000" y="-216000"/>
            <a:ext cx="2872800" cy="259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9000" spc="-600" kern="0" dirty="0">
                <a:ln w="7620">
                  <a:solidFill>
                    <a:srgbClr val="D9DDE1"/>
                  </a:solidFill>
                </a:ln>
                <a:solidFill>
                  <a:srgbClr val="FFFFFF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01</a:t>
            </a:r>
            <a:endParaRPr lang="en-US" sz="19000" dirty="0"/>
          </a:p>
        </p:txBody>
      </p:sp>
      <p:sp>
        <p:nvSpPr>
          <p:cNvPr id="3" name="Text 1"/>
          <p:cNvSpPr/>
          <p:nvPr/>
        </p:nvSpPr>
        <p:spPr>
          <a:xfrm>
            <a:off x="504000" y="576000"/>
            <a:ext cx="43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60" kern="0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01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我々は何者か｜三菱商事とは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4000" y="828000"/>
            <a:ext cx="5400000" cy="68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200" b="1" spc="-60" kern="0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Who We Are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04000" y="1512000"/>
            <a:ext cx="252000" cy="1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504000" y="1620000"/>
            <a:ext cx="5400000" cy="28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三綱領を精神の根幹に、「総合力」で価値を生む。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4000" y="1908000"/>
            <a:ext cx="374400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65000"/>
              </a:lnSpc>
              <a:buNone/>
            </a:pPr>
            <a:r>
              <a:rPr lang="en-US" sz="78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菱商事は、三綱領を企業理念とし、事業を通じて経済価値・社会価値・環境価値の同時実現を目指しています。幅広い産業と地域にまたがる事業と人のつながり。その「総合力」こそが、三菱商事の強みです。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828000" y="2916000"/>
            <a:ext cx="4968000" cy="4968000"/>
          </a:xfrm>
          <a:prstGeom prst="ellipse">
            <a:avLst/>
          </a:prstGeom>
          <a:ln w="5080">
            <a:solidFill>
              <a:srgbClr val="CFD3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4000" y="2772000"/>
            <a:ext cx="5256000" cy="5256000"/>
          </a:xfrm>
          <a:prstGeom prst="ellipse">
            <a:avLst/>
          </a:prstGeom>
          <a:ln w="5080">
            <a:solidFill>
              <a:srgbClr val="ECE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1685" y="4486656"/>
            <a:ext cx="920315" cy="1826687"/>
          </a:xfrm>
          <a:custGeom>
            <a:avLst/>
            <a:gdLst/>
            <a:ahLst/>
            <a:cxnLst/>
            <a:rect l="l" t="t" r="r" b="b"/>
            <a:pathLst>
              <a:path w="920315" h="1826687">
                <a:moveTo>
                  <a:pt x="717712" y="0"/>
                </a:moveTo>
                <a:lnTo>
                  <a:pt x="737182" y="42942"/>
                </a:lnTo>
                <a:lnTo>
                  <a:pt x="755709" y="86300"/>
                </a:lnTo>
                <a:lnTo>
                  <a:pt x="773286" y="130051"/>
                </a:lnTo>
                <a:lnTo>
                  <a:pt x="789904" y="174175"/>
                </a:lnTo>
                <a:lnTo>
                  <a:pt x="805554" y="218652"/>
                </a:lnTo>
                <a:lnTo>
                  <a:pt x="820230" y="263459"/>
                </a:lnTo>
                <a:lnTo>
                  <a:pt x="833925" y="308577"/>
                </a:lnTo>
                <a:lnTo>
                  <a:pt x="846631" y="353982"/>
                </a:lnTo>
                <a:lnTo>
                  <a:pt x="858344" y="399654"/>
                </a:lnTo>
                <a:lnTo>
                  <a:pt x="869056" y="445571"/>
                </a:lnTo>
                <a:lnTo>
                  <a:pt x="878764" y="491711"/>
                </a:lnTo>
                <a:lnTo>
                  <a:pt x="887462" y="538051"/>
                </a:lnTo>
                <a:lnTo>
                  <a:pt x="895147" y="584571"/>
                </a:lnTo>
                <a:lnTo>
                  <a:pt x="901815" y="631247"/>
                </a:lnTo>
                <a:lnTo>
                  <a:pt x="907462" y="678057"/>
                </a:lnTo>
                <a:lnTo>
                  <a:pt x="912086" y="724980"/>
                </a:lnTo>
                <a:lnTo>
                  <a:pt x="915685" y="771992"/>
                </a:lnTo>
                <a:lnTo>
                  <a:pt x="918257" y="819072"/>
                </a:lnTo>
                <a:lnTo>
                  <a:pt x="919801" y="866196"/>
                </a:lnTo>
                <a:lnTo>
                  <a:pt x="920315" y="913344"/>
                </a:lnTo>
                <a:lnTo>
                  <a:pt x="919801" y="960491"/>
                </a:lnTo>
                <a:lnTo>
                  <a:pt x="918257" y="1007615"/>
                </a:lnTo>
                <a:lnTo>
                  <a:pt x="915685" y="1054695"/>
                </a:lnTo>
                <a:lnTo>
                  <a:pt x="912086" y="1101707"/>
                </a:lnTo>
                <a:lnTo>
                  <a:pt x="907462" y="1148630"/>
                </a:lnTo>
                <a:lnTo>
                  <a:pt x="901815" y="1195440"/>
                </a:lnTo>
                <a:lnTo>
                  <a:pt x="895147" y="1242116"/>
                </a:lnTo>
                <a:lnTo>
                  <a:pt x="887462" y="1288636"/>
                </a:lnTo>
                <a:lnTo>
                  <a:pt x="878764" y="1334976"/>
                </a:lnTo>
                <a:lnTo>
                  <a:pt x="869056" y="1381116"/>
                </a:lnTo>
                <a:lnTo>
                  <a:pt x="858344" y="1427033"/>
                </a:lnTo>
                <a:lnTo>
                  <a:pt x="846631" y="1472705"/>
                </a:lnTo>
                <a:lnTo>
                  <a:pt x="833925" y="1518110"/>
                </a:lnTo>
                <a:lnTo>
                  <a:pt x="820230" y="1563228"/>
                </a:lnTo>
                <a:lnTo>
                  <a:pt x="805554" y="1608035"/>
                </a:lnTo>
                <a:lnTo>
                  <a:pt x="789904" y="1652512"/>
                </a:lnTo>
                <a:lnTo>
                  <a:pt x="773286" y="1696636"/>
                </a:lnTo>
                <a:lnTo>
                  <a:pt x="755709" y="1740388"/>
                </a:lnTo>
                <a:lnTo>
                  <a:pt x="737182" y="1783745"/>
                </a:lnTo>
                <a:lnTo>
                  <a:pt x="717712" y="1826687"/>
                </a:lnTo>
                <a:lnTo>
                  <a:pt x="0" y="1491794"/>
                </a:lnTo>
                <a:lnTo>
                  <a:pt x="12331" y="1464598"/>
                </a:lnTo>
                <a:lnTo>
                  <a:pt x="24065" y="1437138"/>
                </a:lnTo>
                <a:lnTo>
                  <a:pt x="35197" y="1409429"/>
                </a:lnTo>
                <a:lnTo>
                  <a:pt x="45721" y="1381483"/>
                </a:lnTo>
                <a:lnTo>
                  <a:pt x="55633" y="1353315"/>
                </a:lnTo>
                <a:lnTo>
                  <a:pt x="64928" y="1324937"/>
                </a:lnTo>
                <a:lnTo>
                  <a:pt x="73601" y="1296362"/>
                </a:lnTo>
                <a:lnTo>
                  <a:pt x="81649" y="1267606"/>
                </a:lnTo>
                <a:lnTo>
                  <a:pt x="89066" y="1238680"/>
                </a:lnTo>
                <a:lnTo>
                  <a:pt x="95851" y="1209599"/>
                </a:lnTo>
                <a:lnTo>
                  <a:pt x="101999" y="1180378"/>
                </a:lnTo>
                <a:lnTo>
                  <a:pt x="107508" y="1151029"/>
                </a:lnTo>
                <a:lnTo>
                  <a:pt x="112376" y="1121566"/>
                </a:lnTo>
                <a:lnTo>
                  <a:pt x="116598" y="1092005"/>
                </a:lnTo>
                <a:lnTo>
                  <a:pt x="120175" y="1062358"/>
                </a:lnTo>
                <a:lnTo>
                  <a:pt x="123104" y="1032641"/>
                </a:lnTo>
                <a:lnTo>
                  <a:pt x="125383" y="1002866"/>
                </a:lnTo>
                <a:lnTo>
                  <a:pt x="127012" y="973049"/>
                </a:lnTo>
                <a:lnTo>
                  <a:pt x="127989" y="943203"/>
                </a:lnTo>
                <a:lnTo>
                  <a:pt x="128315" y="913344"/>
                </a:lnTo>
                <a:lnTo>
                  <a:pt x="127989" y="883484"/>
                </a:lnTo>
                <a:lnTo>
                  <a:pt x="127012" y="853638"/>
                </a:lnTo>
                <a:lnTo>
                  <a:pt x="125383" y="823821"/>
                </a:lnTo>
                <a:lnTo>
                  <a:pt x="123104" y="794047"/>
                </a:lnTo>
                <a:lnTo>
                  <a:pt x="120175" y="764329"/>
                </a:lnTo>
                <a:lnTo>
                  <a:pt x="116598" y="734682"/>
                </a:lnTo>
                <a:lnTo>
                  <a:pt x="112376" y="705121"/>
                </a:lnTo>
                <a:lnTo>
                  <a:pt x="107508" y="675658"/>
                </a:lnTo>
                <a:lnTo>
                  <a:pt x="101999" y="646309"/>
                </a:lnTo>
                <a:lnTo>
                  <a:pt x="95851" y="617088"/>
                </a:lnTo>
                <a:lnTo>
                  <a:pt x="89066" y="588007"/>
                </a:lnTo>
                <a:lnTo>
                  <a:pt x="81649" y="559081"/>
                </a:lnTo>
                <a:lnTo>
                  <a:pt x="73601" y="530325"/>
                </a:lnTo>
                <a:lnTo>
                  <a:pt x="64928" y="501750"/>
                </a:lnTo>
                <a:lnTo>
                  <a:pt x="55633" y="473372"/>
                </a:lnTo>
                <a:lnTo>
                  <a:pt x="45721" y="445204"/>
                </a:lnTo>
                <a:lnTo>
                  <a:pt x="35197" y="417258"/>
                </a:lnTo>
                <a:lnTo>
                  <a:pt x="24065" y="389549"/>
                </a:lnTo>
                <a:lnTo>
                  <a:pt x="12331" y="362089"/>
                </a:lnTo>
                <a:lnTo>
                  <a:pt x="0" y="334893"/>
                </a:lnTo>
                <a:close/>
              </a:path>
            </a:pathLst>
          </a:custGeom>
          <a:solidFill>
            <a:srgbClr val="A8622F"/>
          </a:solidFill>
          <a:ln/>
        </p:spPr>
      </p:sp>
      <p:sp>
        <p:nvSpPr>
          <p:cNvPr id="11" name="Shape 9"/>
          <p:cNvSpPr/>
          <p:nvPr/>
        </p:nvSpPr>
        <p:spPr>
          <a:xfrm>
            <a:off x="3632680" y="6008566"/>
            <a:ext cx="1613818" cy="1491249"/>
          </a:xfrm>
          <a:custGeom>
            <a:avLst/>
            <a:gdLst/>
            <a:ahLst/>
            <a:cxnLst/>
            <a:rect l="l" t="t" r="r" b="b"/>
            <a:pathLst>
              <a:path w="1613818" h="1491249">
                <a:moveTo>
                  <a:pt x="1613818" y="352328"/>
                </a:moveTo>
                <a:lnTo>
                  <a:pt x="1592383" y="394324"/>
                </a:lnTo>
                <a:lnTo>
                  <a:pt x="1570037" y="435842"/>
                </a:lnTo>
                <a:lnTo>
                  <a:pt x="1546790" y="476863"/>
                </a:lnTo>
                <a:lnTo>
                  <a:pt x="1522653" y="517366"/>
                </a:lnTo>
                <a:lnTo>
                  <a:pt x="1497638" y="557333"/>
                </a:lnTo>
                <a:lnTo>
                  <a:pt x="1471756" y="596744"/>
                </a:lnTo>
                <a:lnTo>
                  <a:pt x="1445020" y="635581"/>
                </a:lnTo>
                <a:lnTo>
                  <a:pt x="1417443" y="673825"/>
                </a:lnTo>
                <a:lnTo>
                  <a:pt x="1389038" y="711458"/>
                </a:lnTo>
                <a:lnTo>
                  <a:pt x="1359818" y="748462"/>
                </a:lnTo>
                <a:lnTo>
                  <a:pt x="1329797" y="784820"/>
                </a:lnTo>
                <a:lnTo>
                  <a:pt x="1298990" y="820513"/>
                </a:lnTo>
                <a:lnTo>
                  <a:pt x="1267411" y="855526"/>
                </a:lnTo>
                <a:lnTo>
                  <a:pt x="1235076" y="889841"/>
                </a:lnTo>
                <a:lnTo>
                  <a:pt x="1201999" y="923442"/>
                </a:lnTo>
                <a:lnTo>
                  <a:pt x="1168196" y="956313"/>
                </a:lnTo>
                <a:lnTo>
                  <a:pt x="1133684" y="988439"/>
                </a:lnTo>
                <a:lnTo>
                  <a:pt x="1098480" y="1019803"/>
                </a:lnTo>
                <a:lnTo>
                  <a:pt x="1062598" y="1050392"/>
                </a:lnTo>
                <a:lnTo>
                  <a:pt x="1026058" y="1080190"/>
                </a:lnTo>
                <a:lnTo>
                  <a:pt x="988876" y="1109183"/>
                </a:lnTo>
                <a:lnTo>
                  <a:pt x="951070" y="1137358"/>
                </a:lnTo>
                <a:lnTo>
                  <a:pt x="912659" y="1164701"/>
                </a:lnTo>
                <a:lnTo>
                  <a:pt x="873659" y="1191199"/>
                </a:lnTo>
                <a:lnTo>
                  <a:pt x="834090" y="1216839"/>
                </a:lnTo>
                <a:lnTo>
                  <a:pt x="793971" y="1241610"/>
                </a:lnTo>
                <a:lnTo>
                  <a:pt x="753321" y="1265499"/>
                </a:lnTo>
                <a:lnTo>
                  <a:pt x="712160" y="1288495"/>
                </a:lnTo>
                <a:lnTo>
                  <a:pt x="670506" y="1310587"/>
                </a:lnTo>
                <a:lnTo>
                  <a:pt x="628380" y="1331765"/>
                </a:lnTo>
                <a:lnTo>
                  <a:pt x="585801" y="1352018"/>
                </a:lnTo>
                <a:lnTo>
                  <a:pt x="542791" y="1371337"/>
                </a:lnTo>
                <a:lnTo>
                  <a:pt x="499369" y="1389713"/>
                </a:lnTo>
                <a:lnTo>
                  <a:pt x="455557" y="1407136"/>
                </a:lnTo>
                <a:lnTo>
                  <a:pt x="411374" y="1423599"/>
                </a:lnTo>
                <a:lnTo>
                  <a:pt x="366843" y="1439094"/>
                </a:lnTo>
                <a:lnTo>
                  <a:pt x="321984" y="1453613"/>
                </a:lnTo>
                <a:lnTo>
                  <a:pt x="276819" y="1467149"/>
                </a:lnTo>
                <a:lnTo>
                  <a:pt x="231369" y="1479696"/>
                </a:lnTo>
                <a:lnTo>
                  <a:pt x="185657" y="1491249"/>
                </a:lnTo>
                <a:lnTo>
                  <a:pt x="0" y="721316"/>
                </a:lnTo>
                <a:lnTo>
                  <a:pt x="28951" y="714000"/>
                </a:lnTo>
                <a:lnTo>
                  <a:pt x="57736" y="706053"/>
                </a:lnTo>
                <a:lnTo>
                  <a:pt x="86341" y="697480"/>
                </a:lnTo>
                <a:lnTo>
                  <a:pt x="114751" y="688285"/>
                </a:lnTo>
                <a:lnTo>
                  <a:pt x="142954" y="678472"/>
                </a:lnTo>
                <a:lnTo>
                  <a:pt x="170937" y="668045"/>
                </a:lnTo>
                <a:lnTo>
                  <a:pt x="198685" y="657010"/>
                </a:lnTo>
                <a:lnTo>
                  <a:pt x="226185" y="645373"/>
                </a:lnTo>
                <a:lnTo>
                  <a:pt x="253425" y="633137"/>
                </a:lnTo>
                <a:lnTo>
                  <a:pt x="280391" y="620310"/>
                </a:lnTo>
                <a:lnTo>
                  <a:pt x="307071" y="606898"/>
                </a:lnTo>
                <a:lnTo>
                  <a:pt x="333452" y="592906"/>
                </a:lnTo>
                <a:lnTo>
                  <a:pt x="359521" y="578342"/>
                </a:lnTo>
                <a:lnTo>
                  <a:pt x="385266" y="563212"/>
                </a:lnTo>
                <a:lnTo>
                  <a:pt x="410675" y="547524"/>
                </a:lnTo>
                <a:lnTo>
                  <a:pt x="435735" y="531285"/>
                </a:lnTo>
                <a:lnTo>
                  <a:pt x="460434" y="514503"/>
                </a:lnTo>
                <a:lnTo>
                  <a:pt x="484762" y="497186"/>
                </a:lnTo>
                <a:lnTo>
                  <a:pt x="508706" y="479342"/>
                </a:lnTo>
                <a:lnTo>
                  <a:pt x="532254" y="460979"/>
                </a:lnTo>
                <a:lnTo>
                  <a:pt x="555396" y="442107"/>
                </a:lnTo>
                <a:lnTo>
                  <a:pt x="578121" y="422734"/>
                </a:lnTo>
                <a:lnTo>
                  <a:pt x="600418" y="402870"/>
                </a:lnTo>
                <a:lnTo>
                  <a:pt x="622275" y="382524"/>
                </a:lnTo>
                <a:lnTo>
                  <a:pt x="643683" y="361706"/>
                </a:lnTo>
                <a:lnTo>
                  <a:pt x="664632" y="340425"/>
                </a:lnTo>
                <a:lnTo>
                  <a:pt x="685111" y="318692"/>
                </a:lnTo>
                <a:lnTo>
                  <a:pt x="705111" y="296518"/>
                </a:lnTo>
                <a:lnTo>
                  <a:pt x="724622" y="273912"/>
                </a:lnTo>
                <a:lnTo>
                  <a:pt x="743636" y="250885"/>
                </a:lnTo>
                <a:lnTo>
                  <a:pt x="762141" y="227449"/>
                </a:lnTo>
                <a:lnTo>
                  <a:pt x="780132" y="203615"/>
                </a:lnTo>
                <a:lnTo>
                  <a:pt x="797597" y="179394"/>
                </a:lnTo>
                <a:lnTo>
                  <a:pt x="814530" y="154797"/>
                </a:lnTo>
                <a:lnTo>
                  <a:pt x="830921" y="129836"/>
                </a:lnTo>
                <a:lnTo>
                  <a:pt x="846764" y="104524"/>
                </a:lnTo>
                <a:lnTo>
                  <a:pt x="862051" y="78872"/>
                </a:lnTo>
                <a:lnTo>
                  <a:pt x="876774" y="52892"/>
                </a:lnTo>
                <a:lnTo>
                  <a:pt x="890927" y="26597"/>
                </a:lnTo>
                <a:lnTo>
                  <a:pt x="904502" y="0"/>
                </a:lnTo>
                <a:close/>
              </a:path>
            </a:pathLst>
          </a:custGeom>
          <a:solidFill>
            <a:srgbClr val="E3E6E9"/>
          </a:solidFill>
          <a:ln/>
        </p:spPr>
      </p:sp>
      <p:sp>
        <p:nvSpPr>
          <p:cNvPr id="12" name="Shape 10"/>
          <p:cNvSpPr/>
          <p:nvPr/>
        </p:nvSpPr>
        <p:spPr>
          <a:xfrm>
            <a:off x="1985994" y="6479886"/>
            <a:ext cx="1780888" cy="1080074"/>
          </a:xfrm>
          <a:custGeom>
            <a:avLst/>
            <a:gdLst/>
            <a:ahLst/>
            <a:cxnLst/>
            <a:rect l="l" t="t" r="r" b="b"/>
            <a:pathLst>
              <a:path w="1780888" h="1080074">
                <a:moveTo>
                  <a:pt x="1780888" y="1031673"/>
                </a:moveTo>
                <a:lnTo>
                  <a:pt x="1734690" y="1041099"/>
                </a:lnTo>
                <a:lnTo>
                  <a:pt x="1688297" y="1049514"/>
                </a:lnTo>
                <a:lnTo>
                  <a:pt x="1641732" y="1056915"/>
                </a:lnTo>
                <a:lnTo>
                  <a:pt x="1595016" y="1063297"/>
                </a:lnTo>
                <a:lnTo>
                  <a:pt x="1548172" y="1068658"/>
                </a:lnTo>
                <a:lnTo>
                  <a:pt x="1501222" y="1072996"/>
                </a:lnTo>
                <a:lnTo>
                  <a:pt x="1454188" y="1076307"/>
                </a:lnTo>
                <a:lnTo>
                  <a:pt x="1407094" y="1078591"/>
                </a:lnTo>
                <a:lnTo>
                  <a:pt x="1359961" y="1079847"/>
                </a:lnTo>
                <a:lnTo>
                  <a:pt x="1312811" y="1080074"/>
                </a:lnTo>
                <a:lnTo>
                  <a:pt x="1265668" y="1079271"/>
                </a:lnTo>
                <a:lnTo>
                  <a:pt x="1218554" y="1077440"/>
                </a:lnTo>
                <a:lnTo>
                  <a:pt x="1171491" y="1074580"/>
                </a:lnTo>
                <a:lnTo>
                  <a:pt x="1124501" y="1070694"/>
                </a:lnTo>
                <a:lnTo>
                  <a:pt x="1077608" y="1065784"/>
                </a:lnTo>
                <a:lnTo>
                  <a:pt x="1030833" y="1059851"/>
                </a:lnTo>
                <a:lnTo>
                  <a:pt x="984198" y="1052898"/>
                </a:lnTo>
                <a:lnTo>
                  <a:pt x="937727" y="1044929"/>
                </a:lnTo>
                <a:lnTo>
                  <a:pt x="891440" y="1035948"/>
                </a:lnTo>
                <a:lnTo>
                  <a:pt x="845361" y="1025958"/>
                </a:lnTo>
                <a:lnTo>
                  <a:pt x="799510" y="1014965"/>
                </a:lnTo>
                <a:lnTo>
                  <a:pt x="753911" y="1002974"/>
                </a:lnTo>
                <a:lnTo>
                  <a:pt x="708584" y="989991"/>
                </a:lnTo>
                <a:lnTo>
                  <a:pt x="663551" y="976021"/>
                </a:lnTo>
                <a:lnTo>
                  <a:pt x="618834" y="961072"/>
                </a:lnTo>
                <a:lnTo>
                  <a:pt x="574453" y="945150"/>
                </a:lnTo>
                <a:lnTo>
                  <a:pt x="530431" y="928263"/>
                </a:lnTo>
                <a:lnTo>
                  <a:pt x="486788" y="910419"/>
                </a:lnTo>
                <a:lnTo>
                  <a:pt x="443545" y="891627"/>
                </a:lnTo>
                <a:lnTo>
                  <a:pt x="400722" y="871895"/>
                </a:lnTo>
                <a:lnTo>
                  <a:pt x="358341" y="851234"/>
                </a:lnTo>
                <a:lnTo>
                  <a:pt x="316420" y="829652"/>
                </a:lnTo>
                <a:lnTo>
                  <a:pt x="274980" y="807161"/>
                </a:lnTo>
                <a:lnTo>
                  <a:pt x="234042" y="783770"/>
                </a:lnTo>
                <a:lnTo>
                  <a:pt x="193623" y="759491"/>
                </a:lnTo>
                <a:lnTo>
                  <a:pt x="153744" y="734336"/>
                </a:lnTo>
                <a:lnTo>
                  <a:pt x="114424" y="708317"/>
                </a:lnTo>
                <a:lnTo>
                  <a:pt x="75681" y="681445"/>
                </a:lnTo>
                <a:lnTo>
                  <a:pt x="37533" y="653734"/>
                </a:lnTo>
                <a:lnTo>
                  <a:pt x="0" y="625197"/>
                </a:lnTo>
                <a:lnTo>
                  <a:pt x="486202" y="0"/>
                </a:lnTo>
                <a:lnTo>
                  <a:pt x="509973" y="18073"/>
                </a:lnTo>
                <a:lnTo>
                  <a:pt x="534133" y="35624"/>
                </a:lnTo>
                <a:lnTo>
                  <a:pt x="558671" y="52642"/>
                </a:lnTo>
                <a:lnTo>
                  <a:pt x="583573" y="69121"/>
                </a:lnTo>
                <a:lnTo>
                  <a:pt x="608830" y="85053"/>
                </a:lnTo>
                <a:lnTo>
                  <a:pt x="634428" y="100430"/>
                </a:lnTo>
                <a:lnTo>
                  <a:pt x="660356" y="115244"/>
                </a:lnTo>
                <a:lnTo>
                  <a:pt x="686602" y="129488"/>
                </a:lnTo>
                <a:lnTo>
                  <a:pt x="713151" y="143157"/>
                </a:lnTo>
                <a:lnTo>
                  <a:pt x="739993" y="156242"/>
                </a:lnTo>
                <a:lnTo>
                  <a:pt x="767114" y="168739"/>
                </a:lnTo>
                <a:lnTo>
                  <a:pt x="794501" y="180641"/>
                </a:lnTo>
                <a:lnTo>
                  <a:pt x="822142" y="191942"/>
                </a:lnTo>
                <a:lnTo>
                  <a:pt x="850023" y="202637"/>
                </a:lnTo>
                <a:lnTo>
                  <a:pt x="878130" y="212720"/>
                </a:lnTo>
                <a:lnTo>
                  <a:pt x="906451" y="222188"/>
                </a:lnTo>
                <a:lnTo>
                  <a:pt x="934972" y="231036"/>
                </a:lnTo>
                <a:lnTo>
                  <a:pt x="963679" y="239259"/>
                </a:lnTo>
                <a:lnTo>
                  <a:pt x="992559" y="246853"/>
                </a:lnTo>
                <a:lnTo>
                  <a:pt x="1021597" y="253815"/>
                </a:lnTo>
                <a:lnTo>
                  <a:pt x="1050781" y="260142"/>
                </a:lnTo>
                <a:lnTo>
                  <a:pt x="1080096" y="265830"/>
                </a:lnTo>
                <a:lnTo>
                  <a:pt x="1109528" y="270877"/>
                </a:lnTo>
                <a:lnTo>
                  <a:pt x="1139063" y="275281"/>
                </a:lnTo>
                <a:lnTo>
                  <a:pt x="1168687" y="279038"/>
                </a:lnTo>
                <a:lnTo>
                  <a:pt x="1198386" y="282148"/>
                </a:lnTo>
                <a:lnTo>
                  <a:pt x="1228146" y="284609"/>
                </a:lnTo>
                <a:lnTo>
                  <a:pt x="1257953" y="286420"/>
                </a:lnTo>
                <a:lnTo>
                  <a:pt x="1287792" y="287580"/>
                </a:lnTo>
                <a:lnTo>
                  <a:pt x="1317649" y="288089"/>
                </a:lnTo>
                <a:lnTo>
                  <a:pt x="1347511" y="287945"/>
                </a:lnTo>
                <a:lnTo>
                  <a:pt x="1377362" y="287150"/>
                </a:lnTo>
                <a:lnTo>
                  <a:pt x="1407188" y="285703"/>
                </a:lnTo>
                <a:lnTo>
                  <a:pt x="1436976" y="283606"/>
                </a:lnTo>
                <a:lnTo>
                  <a:pt x="1466711" y="280859"/>
                </a:lnTo>
                <a:lnTo>
                  <a:pt x="1496379" y="277463"/>
                </a:lnTo>
                <a:lnTo>
                  <a:pt x="1525966" y="273421"/>
                </a:lnTo>
                <a:lnTo>
                  <a:pt x="1555457" y="268734"/>
                </a:lnTo>
                <a:lnTo>
                  <a:pt x="1584839" y="263405"/>
                </a:lnTo>
                <a:lnTo>
                  <a:pt x="1614098" y="257435"/>
                </a:lnTo>
                <a:close/>
              </a:path>
            </a:pathLst>
          </a:custGeom>
          <a:solidFill>
            <a:srgbClr val="E3E6E9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2161" y="5416713"/>
            <a:ext cx="1293902" cy="1655464"/>
          </a:xfrm>
          <a:custGeom>
            <a:avLst/>
            <a:gdLst/>
            <a:ahLst/>
            <a:cxnLst/>
            <a:rect l="l" t="t" r="r" b="b"/>
            <a:pathLst>
              <a:path w="1293902" h="1655464">
                <a:moveTo>
                  <a:pt x="792570" y="1655464"/>
                </a:moveTo>
                <a:lnTo>
                  <a:pt x="756396" y="1625222"/>
                </a:lnTo>
                <a:lnTo>
                  <a:pt x="720892" y="1594197"/>
                </a:lnTo>
                <a:lnTo>
                  <a:pt x="686073" y="1562405"/>
                </a:lnTo>
                <a:lnTo>
                  <a:pt x="651956" y="1529860"/>
                </a:lnTo>
                <a:lnTo>
                  <a:pt x="618557" y="1496579"/>
                </a:lnTo>
                <a:lnTo>
                  <a:pt x="585893" y="1462576"/>
                </a:lnTo>
                <a:lnTo>
                  <a:pt x="553979" y="1427869"/>
                </a:lnTo>
                <a:lnTo>
                  <a:pt x="522831" y="1392473"/>
                </a:lnTo>
                <a:lnTo>
                  <a:pt x="492462" y="1356406"/>
                </a:lnTo>
                <a:lnTo>
                  <a:pt x="462888" y="1319684"/>
                </a:lnTo>
                <a:lnTo>
                  <a:pt x="434122" y="1282326"/>
                </a:lnTo>
                <a:lnTo>
                  <a:pt x="406178" y="1244348"/>
                </a:lnTo>
                <a:lnTo>
                  <a:pt x="379071" y="1205770"/>
                </a:lnTo>
                <a:lnTo>
                  <a:pt x="352811" y="1166609"/>
                </a:lnTo>
                <a:lnTo>
                  <a:pt x="327413" y="1126885"/>
                </a:lnTo>
                <a:lnTo>
                  <a:pt x="302888" y="1086615"/>
                </a:lnTo>
                <a:lnTo>
                  <a:pt x="279248" y="1045820"/>
                </a:lnTo>
                <a:lnTo>
                  <a:pt x="256503" y="1004519"/>
                </a:lnTo>
                <a:lnTo>
                  <a:pt x="234666" y="962731"/>
                </a:lnTo>
                <a:lnTo>
                  <a:pt x="213746" y="920476"/>
                </a:lnTo>
                <a:lnTo>
                  <a:pt x="193753" y="877775"/>
                </a:lnTo>
                <a:lnTo>
                  <a:pt x="174697" y="834647"/>
                </a:lnTo>
                <a:lnTo>
                  <a:pt x="156587" y="791114"/>
                </a:lnTo>
                <a:lnTo>
                  <a:pt x="139432" y="747196"/>
                </a:lnTo>
                <a:lnTo>
                  <a:pt x="123239" y="702914"/>
                </a:lnTo>
                <a:lnTo>
                  <a:pt x="108017" y="658289"/>
                </a:lnTo>
                <a:lnTo>
                  <a:pt x="93772" y="613342"/>
                </a:lnTo>
                <a:lnTo>
                  <a:pt x="80512" y="568095"/>
                </a:lnTo>
                <a:lnTo>
                  <a:pt x="68243" y="522570"/>
                </a:lnTo>
                <a:lnTo>
                  <a:pt x="56970" y="476787"/>
                </a:lnTo>
                <a:lnTo>
                  <a:pt x="46699" y="430770"/>
                </a:lnTo>
                <a:lnTo>
                  <a:pt x="37435" y="384539"/>
                </a:lnTo>
                <a:lnTo>
                  <a:pt x="29183" y="338117"/>
                </a:lnTo>
                <a:lnTo>
                  <a:pt x="21945" y="291526"/>
                </a:lnTo>
                <a:lnTo>
                  <a:pt x="15727" y="244788"/>
                </a:lnTo>
                <a:lnTo>
                  <a:pt x="10529" y="197925"/>
                </a:lnTo>
                <a:lnTo>
                  <a:pt x="6357" y="150960"/>
                </a:lnTo>
                <a:lnTo>
                  <a:pt x="3210" y="103915"/>
                </a:lnTo>
                <a:lnTo>
                  <a:pt x="1091" y="56813"/>
                </a:lnTo>
                <a:lnTo>
                  <a:pt x="0" y="9676"/>
                </a:lnTo>
                <a:lnTo>
                  <a:pt x="791941" y="0"/>
                </a:lnTo>
                <a:lnTo>
                  <a:pt x="792632" y="29854"/>
                </a:lnTo>
                <a:lnTo>
                  <a:pt x="793974" y="59685"/>
                </a:lnTo>
                <a:lnTo>
                  <a:pt x="795967" y="89480"/>
                </a:lnTo>
                <a:lnTo>
                  <a:pt x="798610" y="119224"/>
                </a:lnTo>
                <a:lnTo>
                  <a:pt x="801901" y="148904"/>
                </a:lnTo>
                <a:lnTo>
                  <a:pt x="805840" y="178505"/>
                </a:lnTo>
                <a:lnTo>
                  <a:pt x="810423" y="208013"/>
                </a:lnTo>
                <a:lnTo>
                  <a:pt x="815650" y="237413"/>
                </a:lnTo>
                <a:lnTo>
                  <a:pt x="821517" y="266693"/>
                </a:lnTo>
                <a:lnTo>
                  <a:pt x="828022" y="295837"/>
                </a:lnTo>
                <a:lnTo>
                  <a:pt x="835161" y="324833"/>
                </a:lnTo>
                <a:lnTo>
                  <a:pt x="842932" y="353666"/>
                </a:lnTo>
                <a:lnTo>
                  <a:pt x="851330" y="382322"/>
                </a:lnTo>
                <a:lnTo>
                  <a:pt x="860352" y="410788"/>
                </a:lnTo>
                <a:lnTo>
                  <a:pt x="869992" y="439051"/>
                </a:lnTo>
                <a:lnTo>
                  <a:pt x="880248" y="467096"/>
                </a:lnTo>
                <a:lnTo>
                  <a:pt x="891113" y="494911"/>
                </a:lnTo>
                <a:lnTo>
                  <a:pt x="902583" y="522482"/>
                </a:lnTo>
                <a:lnTo>
                  <a:pt x="914651" y="549796"/>
                </a:lnTo>
                <a:lnTo>
                  <a:pt x="927313" y="576840"/>
                </a:lnTo>
                <a:lnTo>
                  <a:pt x="940563" y="603601"/>
                </a:lnTo>
                <a:lnTo>
                  <a:pt x="954393" y="630067"/>
                </a:lnTo>
                <a:lnTo>
                  <a:pt x="968798" y="656225"/>
                </a:lnTo>
                <a:lnTo>
                  <a:pt x="983770" y="682062"/>
                </a:lnTo>
                <a:lnTo>
                  <a:pt x="999303" y="707566"/>
                </a:lnTo>
                <a:lnTo>
                  <a:pt x="1015388" y="732725"/>
                </a:lnTo>
                <a:lnTo>
                  <a:pt x="1032019" y="757526"/>
                </a:lnTo>
                <a:lnTo>
                  <a:pt x="1049187" y="781959"/>
                </a:lnTo>
                <a:lnTo>
                  <a:pt x="1066885" y="806012"/>
                </a:lnTo>
                <a:lnTo>
                  <a:pt x="1085103" y="829672"/>
                </a:lnTo>
                <a:lnTo>
                  <a:pt x="1103833" y="852929"/>
                </a:lnTo>
                <a:lnTo>
                  <a:pt x="1123067" y="875771"/>
                </a:lnTo>
                <a:lnTo>
                  <a:pt x="1142795" y="898189"/>
                </a:lnTo>
                <a:lnTo>
                  <a:pt x="1163007" y="920170"/>
                </a:lnTo>
                <a:lnTo>
                  <a:pt x="1183694" y="941705"/>
                </a:lnTo>
                <a:lnTo>
                  <a:pt x="1204846" y="962784"/>
                </a:lnTo>
                <a:lnTo>
                  <a:pt x="1226454" y="983395"/>
                </a:lnTo>
                <a:lnTo>
                  <a:pt x="1248506" y="1003530"/>
                </a:lnTo>
                <a:lnTo>
                  <a:pt x="1270992" y="1023179"/>
                </a:lnTo>
                <a:lnTo>
                  <a:pt x="1293902" y="1042332"/>
                </a:lnTo>
                <a:close/>
              </a:path>
            </a:pathLst>
          </a:custGeom>
          <a:solidFill>
            <a:srgbClr val="E3E6E9"/>
          </a:solidFill>
          <a:ln/>
        </p:spPr>
      </p:sp>
      <p:sp>
        <p:nvSpPr>
          <p:cNvPr id="14" name="Shape 12"/>
          <p:cNvSpPr/>
          <p:nvPr/>
        </p:nvSpPr>
        <p:spPr>
          <a:xfrm>
            <a:off x="1152161" y="3727823"/>
            <a:ext cx="1293902" cy="1655464"/>
          </a:xfrm>
          <a:custGeom>
            <a:avLst/>
            <a:gdLst/>
            <a:ahLst/>
            <a:cxnLst/>
            <a:rect l="l" t="t" r="r" b="b"/>
            <a:pathLst>
              <a:path w="1293902" h="1655464">
                <a:moveTo>
                  <a:pt x="0" y="1645788"/>
                </a:moveTo>
                <a:lnTo>
                  <a:pt x="1091" y="1598651"/>
                </a:lnTo>
                <a:lnTo>
                  <a:pt x="3210" y="1551549"/>
                </a:lnTo>
                <a:lnTo>
                  <a:pt x="6357" y="1504504"/>
                </a:lnTo>
                <a:lnTo>
                  <a:pt x="10529" y="1457539"/>
                </a:lnTo>
                <a:lnTo>
                  <a:pt x="15727" y="1410676"/>
                </a:lnTo>
                <a:lnTo>
                  <a:pt x="21945" y="1363938"/>
                </a:lnTo>
                <a:lnTo>
                  <a:pt x="29183" y="1317347"/>
                </a:lnTo>
                <a:lnTo>
                  <a:pt x="37435" y="1270925"/>
                </a:lnTo>
                <a:lnTo>
                  <a:pt x="46699" y="1224694"/>
                </a:lnTo>
                <a:lnTo>
                  <a:pt x="56970" y="1178677"/>
                </a:lnTo>
                <a:lnTo>
                  <a:pt x="68243" y="1132894"/>
                </a:lnTo>
                <a:lnTo>
                  <a:pt x="80512" y="1087369"/>
                </a:lnTo>
                <a:lnTo>
                  <a:pt x="93772" y="1042122"/>
                </a:lnTo>
                <a:lnTo>
                  <a:pt x="108017" y="997175"/>
                </a:lnTo>
                <a:lnTo>
                  <a:pt x="123239" y="952550"/>
                </a:lnTo>
                <a:lnTo>
                  <a:pt x="139432" y="908268"/>
                </a:lnTo>
                <a:lnTo>
                  <a:pt x="156587" y="864350"/>
                </a:lnTo>
                <a:lnTo>
                  <a:pt x="174697" y="820817"/>
                </a:lnTo>
                <a:lnTo>
                  <a:pt x="193753" y="777689"/>
                </a:lnTo>
                <a:lnTo>
                  <a:pt x="213746" y="734988"/>
                </a:lnTo>
                <a:lnTo>
                  <a:pt x="234666" y="692733"/>
                </a:lnTo>
                <a:lnTo>
                  <a:pt x="256503" y="650945"/>
                </a:lnTo>
                <a:lnTo>
                  <a:pt x="279248" y="609644"/>
                </a:lnTo>
                <a:lnTo>
                  <a:pt x="302888" y="568849"/>
                </a:lnTo>
                <a:lnTo>
                  <a:pt x="327413" y="528579"/>
                </a:lnTo>
                <a:lnTo>
                  <a:pt x="352811" y="488855"/>
                </a:lnTo>
                <a:lnTo>
                  <a:pt x="379071" y="449694"/>
                </a:lnTo>
                <a:lnTo>
                  <a:pt x="406178" y="411116"/>
                </a:lnTo>
                <a:lnTo>
                  <a:pt x="434122" y="373138"/>
                </a:lnTo>
                <a:lnTo>
                  <a:pt x="462888" y="335780"/>
                </a:lnTo>
                <a:lnTo>
                  <a:pt x="492462" y="299058"/>
                </a:lnTo>
                <a:lnTo>
                  <a:pt x="522831" y="262991"/>
                </a:lnTo>
                <a:lnTo>
                  <a:pt x="553979" y="227595"/>
                </a:lnTo>
                <a:lnTo>
                  <a:pt x="585893" y="192888"/>
                </a:lnTo>
                <a:lnTo>
                  <a:pt x="618557" y="158885"/>
                </a:lnTo>
                <a:lnTo>
                  <a:pt x="651956" y="125604"/>
                </a:lnTo>
                <a:lnTo>
                  <a:pt x="686073" y="93059"/>
                </a:lnTo>
                <a:lnTo>
                  <a:pt x="720892" y="61267"/>
                </a:lnTo>
                <a:lnTo>
                  <a:pt x="756396" y="30242"/>
                </a:lnTo>
                <a:lnTo>
                  <a:pt x="792570" y="0"/>
                </a:lnTo>
                <a:lnTo>
                  <a:pt x="1293902" y="613132"/>
                </a:lnTo>
                <a:lnTo>
                  <a:pt x="1270992" y="632285"/>
                </a:lnTo>
                <a:lnTo>
                  <a:pt x="1248506" y="651934"/>
                </a:lnTo>
                <a:lnTo>
                  <a:pt x="1226454" y="672069"/>
                </a:lnTo>
                <a:lnTo>
                  <a:pt x="1204846" y="692681"/>
                </a:lnTo>
                <a:lnTo>
                  <a:pt x="1183694" y="713759"/>
                </a:lnTo>
                <a:lnTo>
                  <a:pt x="1163007" y="735294"/>
                </a:lnTo>
                <a:lnTo>
                  <a:pt x="1142795" y="757275"/>
                </a:lnTo>
                <a:lnTo>
                  <a:pt x="1123067" y="779693"/>
                </a:lnTo>
                <a:lnTo>
                  <a:pt x="1103833" y="802535"/>
                </a:lnTo>
                <a:lnTo>
                  <a:pt x="1085103" y="825792"/>
                </a:lnTo>
                <a:lnTo>
                  <a:pt x="1066885" y="849452"/>
                </a:lnTo>
                <a:lnTo>
                  <a:pt x="1049187" y="873505"/>
                </a:lnTo>
                <a:lnTo>
                  <a:pt x="1032019" y="897938"/>
                </a:lnTo>
                <a:lnTo>
                  <a:pt x="1015388" y="922739"/>
                </a:lnTo>
                <a:lnTo>
                  <a:pt x="999303" y="947898"/>
                </a:lnTo>
                <a:lnTo>
                  <a:pt x="983770" y="973402"/>
                </a:lnTo>
                <a:lnTo>
                  <a:pt x="968798" y="999239"/>
                </a:lnTo>
                <a:lnTo>
                  <a:pt x="954393" y="1025397"/>
                </a:lnTo>
                <a:lnTo>
                  <a:pt x="940563" y="1051863"/>
                </a:lnTo>
                <a:lnTo>
                  <a:pt x="927313" y="1078624"/>
                </a:lnTo>
                <a:lnTo>
                  <a:pt x="914651" y="1105668"/>
                </a:lnTo>
                <a:lnTo>
                  <a:pt x="902583" y="1132982"/>
                </a:lnTo>
                <a:lnTo>
                  <a:pt x="891113" y="1160553"/>
                </a:lnTo>
                <a:lnTo>
                  <a:pt x="880248" y="1188368"/>
                </a:lnTo>
                <a:lnTo>
                  <a:pt x="869992" y="1216413"/>
                </a:lnTo>
                <a:lnTo>
                  <a:pt x="860352" y="1244676"/>
                </a:lnTo>
                <a:lnTo>
                  <a:pt x="851330" y="1273142"/>
                </a:lnTo>
                <a:lnTo>
                  <a:pt x="842932" y="1301798"/>
                </a:lnTo>
                <a:lnTo>
                  <a:pt x="835161" y="1330631"/>
                </a:lnTo>
                <a:lnTo>
                  <a:pt x="828022" y="1359627"/>
                </a:lnTo>
                <a:lnTo>
                  <a:pt x="821517" y="1388771"/>
                </a:lnTo>
                <a:lnTo>
                  <a:pt x="815650" y="1418051"/>
                </a:lnTo>
                <a:lnTo>
                  <a:pt x="810423" y="1447452"/>
                </a:lnTo>
                <a:lnTo>
                  <a:pt x="805840" y="1476959"/>
                </a:lnTo>
                <a:lnTo>
                  <a:pt x="801901" y="1506560"/>
                </a:lnTo>
                <a:lnTo>
                  <a:pt x="798610" y="1536240"/>
                </a:lnTo>
                <a:lnTo>
                  <a:pt x="795967" y="1565984"/>
                </a:lnTo>
                <a:lnTo>
                  <a:pt x="793974" y="1595779"/>
                </a:lnTo>
                <a:lnTo>
                  <a:pt x="792632" y="1625610"/>
                </a:lnTo>
                <a:lnTo>
                  <a:pt x="791941" y="1655464"/>
                </a:lnTo>
                <a:close/>
              </a:path>
            </a:pathLst>
          </a:custGeom>
          <a:solidFill>
            <a:srgbClr val="E3E6E9"/>
          </a:solidFill>
          <a:ln/>
        </p:spPr>
      </p:sp>
      <p:sp>
        <p:nvSpPr>
          <p:cNvPr id="15" name="Shape 13"/>
          <p:cNvSpPr/>
          <p:nvPr/>
        </p:nvSpPr>
        <p:spPr>
          <a:xfrm>
            <a:off x="1985994" y="3240040"/>
            <a:ext cx="1780888" cy="1080074"/>
          </a:xfrm>
          <a:custGeom>
            <a:avLst/>
            <a:gdLst/>
            <a:ahLst/>
            <a:cxnLst/>
            <a:rect l="l" t="t" r="r" b="b"/>
            <a:pathLst>
              <a:path w="1780888" h="1080074">
                <a:moveTo>
                  <a:pt x="0" y="454877"/>
                </a:moveTo>
                <a:lnTo>
                  <a:pt x="37533" y="426340"/>
                </a:lnTo>
                <a:lnTo>
                  <a:pt x="75681" y="398629"/>
                </a:lnTo>
                <a:lnTo>
                  <a:pt x="114424" y="371757"/>
                </a:lnTo>
                <a:lnTo>
                  <a:pt x="153744" y="345737"/>
                </a:lnTo>
                <a:lnTo>
                  <a:pt x="193623" y="320582"/>
                </a:lnTo>
                <a:lnTo>
                  <a:pt x="234042" y="296304"/>
                </a:lnTo>
                <a:lnTo>
                  <a:pt x="274980" y="272913"/>
                </a:lnTo>
                <a:lnTo>
                  <a:pt x="316420" y="250421"/>
                </a:lnTo>
                <a:lnTo>
                  <a:pt x="358341" y="228840"/>
                </a:lnTo>
                <a:lnTo>
                  <a:pt x="400722" y="208178"/>
                </a:lnTo>
                <a:lnTo>
                  <a:pt x="443545" y="188447"/>
                </a:lnTo>
                <a:lnTo>
                  <a:pt x="486788" y="169655"/>
                </a:lnTo>
                <a:lnTo>
                  <a:pt x="530431" y="151811"/>
                </a:lnTo>
                <a:lnTo>
                  <a:pt x="574453" y="134924"/>
                </a:lnTo>
                <a:lnTo>
                  <a:pt x="618834" y="119002"/>
                </a:lnTo>
                <a:lnTo>
                  <a:pt x="663551" y="104053"/>
                </a:lnTo>
                <a:lnTo>
                  <a:pt x="708584" y="90083"/>
                </a:lnTo>
                <a:lnTo>
                  <a:pt x="753911" y="77099"/>
                </a:lnTo>
                <a:lnTo>
                  <a:pt x="799510" y="65108"/>
                </a:lnTo>
                <a:lnTo>
                  <a:pt x="845361" y="54115"/>
                </a:lnTo>
                <a:lnTo>
                  <a:pt x="891440" y="44126"/>
                </a:lnTo>
                <a:lnTo>
                  <a:pt x="937727" y="35145"/>
                </a:lnTo>
                <a:lnTo>
                  <a:pt x="984198" y="27176"/>
                </a:lnTo>
                <a:lnTo>
                  <a:pt x="1030833" y="20223"/>
                </a:lnTo>
                <a:lnTo>
                  <a:pt x="1077608" y="14290"/>
                </a:lnTo>
                <a:lnTo>
                  <a:pt x="1124501" y="9379"/>
                </a:lnTo>
                <a:lnTo>
                  <a:pt x="1171491" y="5493"/>
                </a:lnTo>
                <a:lnTo>
                  <a:pt x="1218554" y="2634"/>
                </a:lnTo>
                <a:lnTo>
                  <a:pt x="1265668" y="803"/>
                </a:lnTo>
                <a:lnTo>
                  <a:pt x="1312811" y="0"/>
                </a:lnTo>
                <a:lnTo>
                  <a:pt x="1359961" y="227"/>
                </a:lnTo>
                <a:lnTo>
                  <a:pt x="1407094" y="1482"/>
                </a:lnTo>
                <a:lnTo>
                  <a:pt x="1454188" y="3766"/>
                </a:lnTo>
                <a:lnTo>
                  <a:pt x="1501222" y="7078"/>
                </a:lnTo>
                <a:lnTo>
                  <a:pt x="1548172" y="11415"/>
                </a:lnTo>
                <a:lnTo>
                  <a:pt x="1595016" y="16777"/>
                </a:lnTo>
                <a:lnTo>
                  <a:pt x="1641732" y="23159"/>
                </a:lnTo>
                <a:lnTo>
                  <a:pt x="1688297" y="30560"/>
                </a:lnTo>
                <a:lnTo>
                  <a:pt x="1734690" y="38975"/>
                </a:lnTo>
                <a:lnTo>
                  <a:pt x="1780888" y="48401"/>
                </a:lnTo>
                <a:lnTo>
                  <a:pt x="1614098" y="822639"/>
                </a:lnTo>
                <a:lnTo>
                  <a:pt x="1584839" y="816669"/>
                </a:lnTo>
                <a:lnTo>
                  <a:pt x="1555457" y="811340"/>
                </a:lnTo>
                <a:lnTo>
                  <a:pt x="1525966" y="806653"/>
                </a:lnTo>
                <a:lnTo>
                  <a:pt x="1496379" y="802610"/>
                </a:lnTo>
                <a:lnTo>
                  <a:pt x="1466711" y="799215"/>
                </a:lnTo>
                <a:lnTo>
                  <a:pt x="1436976" y="796468"/>
                </a:lnTo>
                <a:lnTo>
                  <a:pt x="1407188" y="794371"/>
                </a:lnTo>
                <a:lnTo>
                  <a:pt x="1377362" y="792924"/>
                </a:lnTo>
                <a:lnTo>
                  <a:pt x="1347511" y="792129"/>
                </a:lnTo>
                <a:lnTo>
                  <a:pt x="1317649" y="791985"/>
                </a:lnTo>
                <a:lnTo>
                  <a:pt x="1287792" y="792494"/>
                </a:lnTo>
                <a:lnTo>
                  <a:pt x="1257953" y="793653"/>
                </a:lnTo>
                <a:lnTo>
                  <a:pt x="1228146" y="795464"/>
                </a:lnTo>
                <a:lnTo>
                  <a:pt x="1198386" y="797925"/>
                </a:lnTo>
                <a:lnTo>
                  <a:pt x="1168687" y="801036"/>
                </a:lnTo>
                <a:lnTo>
                  <a:pt x="1139063" y="804793"/>
                </a:lnTo>
                <a:lnTo>
                  <a:pt x="1109528" y="809196"/>
                </a:lnTo>
                <a:lnTo>
                  <a:pt x="1080096" y="814243"/>
                </a:lnTo>
                <a:lnTo>
                  <a:pt x="1050781" y="819932"/>
                </a:lnTo>
                <a:lnTo>
                  <a:pt x="1021597" y="826258"/>
                </a:lnTo>
                <a:lnTo>
                  <a:pt x="992559" y="833220"/>
                </a:lnTo>
                <a:lnTo>
                  <a:pt x="963679" y="840815"/>
                </a:lnTo>
                <a:lnTo>
                  <a:pt x="934972" y="849038"/>
                </a:lnTo>
                <a:lnTo>
                  <a:pt x="906451" y="857885"/>
                </a:lnTo>
                <a:lnTo>
                  <a:pt x="878130" y="867353"/>
                </a:lnTo>
                <a:lnTo>
                  <a:pt x="850023" y="877437"/>
                </a:lnTo>
                <a:lnTo>
                  <a:pt x="822142" y="888132"/>
                </a:lnTo>
                <a:lnTo>
                  <a:pt x="794501" y="899433"/>
                </a:lnTo>
                <a:lnTo>
                  <a:pt x="767114" y="911335"/>
                </a:lnTo>
                <a:lnTo>
                  <a:pt x="739993" y="923831"/>
                </a:lnTo>
                <a:lnTo>
                  <a:pt x="713151" y="936917"/>
                </a:lnTo>
                <a:lnTo>
                  <a:pt x="686602" y="950585"/>
                </a:lnTo>
                <a:lnTo>
                  <a:pt x="660356" y="964830"/>
                </a:lnTo>
                <a:lnTo>
                  <a:pt x="634428" y="979644"/>
                </a:lnTo>
                <a:lnTo>
                  <a:pt x="608830" y="995021"/>
                </a:lnTo>
                <a:lnTo>
                  <a:pt x="583573" y="1010952"/>
                </a:lnTo>
                <a:lnTo>
                  <a:pt x="558671" y="1027431"/>
                </a:lnTo>
                <a:lnTo>
                  <a:pt x="534133" y="1044450"/>
                </a:lnTo>
                <a:lnTo>
                  <a:pt x="509973" y="1062000"/>
                </a:lnTo>
                <a:lnTo>
                  <a:pt x="486202" y="1080074"/>
                </a:lnTo>
                <a:close/>
              </a:path>
            </a:pathLst>
          </a:custGeom>
          <a:solidFill>
            <a:srgbClr val="E3E6E9"/>
          </a:solidFill>
          <a:ln/>
        </p:spPr>
      </p:sp>
      <p:sp>
        <p:nvSpPr>
          <p:cNvPr id="16" name="Shape 14"/>
          <p:cNvSpPr/>
          <p:nvPr/>
        </p:nvSpPr>
        <p:spPr>
          <a:xfrm>
            <a:off x="3632680" y="3300185"/>
            <a:ext cx="1613818" cy="1491249"/>
          </a:xfrm>
          <a:custGeom>
            <a:avLst/>
            <a:gdLst/>
            <a:ahLst/>
            <a:cxnLst/>
            <a:rect l="l" t="t" r="r" b="b"/>
            <a:pathLst>
              <a:path w="1613818" h="1491249">
                <a:moveTo>
                  <a:pt x="185657" y="0"/>
                </a:moveTo>
                <a:lnTo>
                  <a:pt x="231369" y="11552"/>
                </a:lnTo>
                <a:lnTo>
                  <a:pt x="276819" y="24100"/>
                </a:lnTo>
                <a:lnTo>
                  <a:pt x="321984" y="37636"/>
                </a:lnTo>
                <a:lnTo>
                  <a:pt x="366843" y="52155"/>
                </a:lnTo>
                <a:lnTo>
                  <a:pt x="411374" y="67649"/>
                </a:lnTo>
                <a:lnTo>
                  <a:pt x="455557" y="84112"/>
                </a:lnTo>
                <a:lnTo>
                  <a:pt x="499369" y="101536"/>
                </a:lnTo>
                <a:lnTo>
                  <a:pt x="542791" y="119911"/>
                </a:lnTo>
                <a:lnTo>
                  <a:pt x="585801" y="139230"/>
                </a:lnTo>
                <a:lnTo>
                  <a:pt x="628380" y="159484"/>
                </a:lnTo>
                <a:lnTo>
                  <a:pt x="670506" y="180661"/>
                </a:lnTo>
                <a:lnTo>
                  <a:pt x="712160" y="202753"/>
                </a:lnTo>
                <a:lnTo>
                  <a:pt x="753321" y="225750"/>
                </a:lnTo>
                <a:lnTo>
                  <a:pt x="793971" y="249639"/>
                </a:lnTo>
                <a:lnTo>
                  <a:pt x="834090" y="274409"/>
                </a:lnTo>
                <a:lnTo>
                  <a:pt x="873659" y="300050"/>
                </a:lnTo>
                <a:lnTo>
                  <a:pt x="912659" y="326548"/>
                </a:lnTo>
                <a:lnTo>
                  <a:pt x="951070" y="353891"/>
                </a:lnTo>
                <a:lnTo>
                  <a:pt x="988876" y="382066"/>
                </a:lnTo>
                <a:lnTo>
                  <a:pt x="1026058" y="411059"/>
                </a:lnTo>
                <a:lnTo>
                  <a:pt x="1062598" y="440857"/>
                </a:lnTo>
                <a:lnTo>
                  <a:pt x="1098480" y="471446"/>
                </a:lnTo>
                <a:lnTo>
                  <a:pt x="1133684" y="502810"/>
                </a:lnTo>
                <a:lnTo>
                  <a:pt x="1168196" y="534936"/>
                </a:lnTo>
                <a:lnTo>
                  <a:pt x="1201999" y="567807"/>
                </a:lnTo>
                <a:lnTo>
                  <a:pt x="1235076" y="601408"/>
                </a:lnTo>
                <a:lnTo>
                  <a:pt x="1267411" y="635723"/>
                </a:lnTo>
                <a:lnTo>
                  <a:pt x="1298990" y="670735"/>
                </a:lnTo>
                <a:lnTo>
                  <a:pt x="1329797" y="706429"/>
                </a:lnTo>
                <a:lnTo>
                  <a:pt x="1359818" y="742786"/>
                </a:lnTo>
                <a:lnTo>
                  <a:pt x="1389038" y="779790"/>
                </a:lnTo>
                <a:lnTo>
                  <a:pt x="1417443" y="817423"/>
                </a:lnTo>
                <a:lnTo>
                  <a:pt x="1445020" y="855668"/>
                </a:lnTo>
                <a:lnTo>
                  <a:pt x="1471756" y="894505"/>
                </a:lnTo>
                <a:lnTo>
                  <a:pt x="1497638" y="933916"/>
                </a:lnTo>
                <a:lnTo>
                  <a:pt x="1522653" y="973883"/>
                </a:lnTo>
                <a:lnTo>
                  <a:pt x="1546790" y="1014386"/>
                </a:lnTo>
                <a:lnTo>
                  <a:pt x="1570037" y="1055407"/>
                </a:lnTo>
                <a:lnTo>
                  <a:pt x="1592383" y="1096925"/>
                </a:lnTo>
                <a:lnTo>
                  <a:pt x="1613818" y="1138921"/>
                </a:lnTo>
                <a:lnTo>
                  <a:pt x="904502" y="1491249"/>
                </a:lnTo>
                <a:lnTo>
                  <a:pt x="890927" y="1464651"/>
                </a:lnTo>
                <a:lnTo>
                  <a:pt x="876774" y="1438356"/>
                </a:lnTo>
                <a:lnTo>
                  <a:pt x="862051" y="1412377"/>
                </a:lnTo>
                <a:lnTo>
                  <a:pt x="846764" y="1386725"/>
                </a:lnTo>
                <a:lnTo>
                  <a:pt x="830921" y="1361412"/>
                </a:lnTo>
                <a:lnTo>
                  <a:pt x="814530" y="1336452"/>
                </a:lnTo>
                <a:lnTo>
                  <a:pt x="797597" y="1311855"/>
                </a:lnTo>
                <a:lnTo>
                  <a:pt x="780132" y="1287634"/>
                </a:lnTo>
                <a:lnTo>
                  <a:pt x="762141" y="1263799"/>
                </a:lnTo>
                <a:lnTo>
                  <a:pt x="743636" y="1240364"/>
                </a:lnTo>
                <a:lnTo>
                  <a:pt x="724622" y="1217337"/>
                </a:lnTo>
                <a:lnTo>
                  <a:pt x="705111" y="1194731"/>
                </a:lnTo>
                <a:lnTo>
                  <a:pt x="685111" y="1172556"/>
                </a:lnTo>
                <a:lnTo>
                  <a:pt x="664632" y="1150824"/>
                </a:lnTo>
                <a:lnTo>
                  <a:pt x="643683" y="1129543"/>
                </a:lnTo>
                <a:lnTo>
                  <a:pt x="622275" y="1108725"/>
                </a:lnTo>
                <a:lnTo>
                  <a:pt x="600418" y="1088379"/>
                </a:lnTo>
                <a:lnTo>
                  <a:pt x="578121" y="1068514"/>
                </a:lnTo>
                <a:lnTo>
                  <a:pt x="555396" y="1049142"/>
                </a:lnTo>
                <a:lnTo>
                  <a:pt x="532254" y="1030270"/>
                </a:lnTo>
                <a:lnTo>
                  <a:pt x="508706" y="1011907"/>
                </a:lnTo>
                <a:lnTo>
                  <a:pt x="484762" y="994063"/>
                </a:lnTo>
                <a:lnTo>
                  <a:pt x="460434" y="976746"/>
                </a:lnTo>
                <a:lnTo>
                  <a:pt x="435735" y="959964"/>
                </a:lnTo>
                <a:lnTo>
                  <a:pt x="410675" y="943725"/>
                </a:lnTo>
                <a:lnTo>
                  <a:pt x="385266" y="928037"/>
                </a:lnTo>
                <a:lnTo>
                  <a:pt x="359521" y="912907"/>
                </a:lnTo>
                <a:lnTo>
                  <a:pt x="333452" y="898343"/>
                </a:lnTo>
                <a:lnTo>
                  <a:pt x="307071" y="884351"/>
                </a:lnTo>
                <a:lnTo>
                  <a:pt x="280391" y="870938"/>
                </a:lnTo>
                <a:lnTo>
                  <a:pt x="253425" y="858111"/>
                </a:lnTo>
                <a:lnTo>
                  <a:pt x="226185" y="845876"/>
                </a:lnTo>
                <a:lnTo>
                  <a:pt x="198685" y="834238"/>
                </a:lnTo>
                <a:lnTo>
                  <a:pt x="170937" y="823203"/>
                </a:lnTo>
                <a:lnTo>
                  <a:pt x="142954" y="812777"/>
                </a:lnTo>
                <a:lnTo>
                  <a:pt x="114751" y="802964"/>
                </a:lnTo>
                <a:lnTo>
                  <a:pt x="86341" y="793768"/>
                </a:lnTo>
                <a:lnTo>
                  <a:pt x="57736" y="785195"/>
                </a:lnTo>
                <a:lnTo>
                  <a:pt x="28951" y="777249"/>
                </a:lnTo>
                <a:lnTo>
                  <a:pt x="0" y="769932"/>
                </a:lnTo>
                <a:close/>
              </a:path>
            </a:pathLst>
          </a:custGeom>
          <a:solidFill>
            <a:srgbClr val="E3E6E9"/>
          </a:solidFill>
          <a:ln/>
        </p:spPr>
      </p:sp>
      <p:sp>
        <p:nvSpPr>
          <p:cNvPr id="17" name="Shape 15"/>
          <p:cNvSpPr/>
          <p:nvPr/>
        </p:nvSpPr>
        <p:spPr>
          <a:xfrm>
            <a:off x="2052000" y="4140000"/>
            <a:ext cx="2520000" cy="2520000"/>
          </a:xfrm>
          <a:prstGeom prst="ellipse">
            <a:avLst/>
          </a:prstGeom>
          <a:solidFill>
            <a:srgbClr val="F5F4F1"/>
          </a:solidFill>
          <a:ln/>
        </p:spPr>
      </p:sp>
      <p:sp>
        <p:nvSpPr>
          <p:cNvPr id="18" name="Shape 16"/>
          <p:cNvSpPr/>
          <p:nvPr/>
        </p:nvSpPr>
        <p:spPr>
          <a:xfrm>
            <a:off x="4372236" y="6739551"/>
            <a:ext cx="79200" cy="79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9873" y="7080173"/>
            <a:ext cx="79200" cy="79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83091" y="6125771"/>
            <a:ext cx="79200" cy="79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83091" y="4595029"/>
            <a:ext cx="79200" cy="79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9873" y="3640627"/>
            <a:ext cx="79200" cy="79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72236" y="3981249"/>
            <a:ext cx="79200" cy="79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04000" y="4932000"/>
            <a:ext cx="2016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三菱商事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304000" y="525600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総合力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304000" y="5508000"/>
            <a:ext cx="201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多様な産業 × 地域 × 機能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2304000" y="5724000"/>
            <a:ext cx="201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7つの営業グループ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716000" y="5184000"/>
            <a:ext cx="720000" cy="5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金属資源</a:t>
            </a:r>
            <a:endParaRPr lang="en-US" sz="74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グループ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612000" y="2736000"/>
            <a:ext cx="54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b="1" spc="24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BUSINESS GROUPS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5490000" y="5400000"/>
            <a:ext cx="3150000" cy="36"/>
          </a:xfrm>
          <a:prstGeom prst="line">
            <a:avLst/>
          </a:prstGeom>
          <a:noFill/>
          <a:ln w="17780">
            <a:solidFill>
              <a:srgbClr val="A8622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82400" y="5342400"/>
            <a:ext cx="115200" cy="115200"/>
          </a:xfrm>
          <a:prstGeom prst="ellipse">
            <a:avLst/>
          </a:prstGeom>
          <a:solidFill>
            <a:srgbClr val="A8622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60800" y="5320800"/>
            <a:ext cx="158400" cy="158400"/>
          </a:xfrm>
          <a:prstGeom prst="ellipse">
            <a:avLst/>
          </a:prstGeom>
          <a:solidFill>
            <a:srgbClr val="A8622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4000" y="7956000"/>
            <a:ext cx="504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4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7つの営業グループのうち、長年三菱商事を支えてきた中核グループの一つ。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504000" y="8568000"/>
            <a:ext cx="6624000" cy="144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35" name="Text 33"/>
          <p:cNvSpPr/>
          <p:nvPr/>
        </p:nvSpPr>
        <p:spPr>
          <a:xfrm>
            <a:off x="504000" y="8676000"/>
            <a:ext cx="43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60" kern="0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PRINCIPLES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三綱領｜三菱商事の企業理念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4000" y="8964000"/>
            <a:ext cx="2088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所期奉公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4000" y="9252000"/>
            <a:ext cx="208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しょきほうこう</a:t>
            </a:r>
            <a:endParaRPr lang="en-US" sz="580" dirty="0"/>
          </a:p>
        </p:txBody>
      </p:sp>
      <p:sp>
        <p:nvSpPr>
          <p:cNvPr id="38" name="Text 36"/>
          <p:cNvSpPr/>
          <p:nvPr/>
        </p:nvSpPr>
        <p:spPr>
          <a:xfrm>
            <a:off x="504000" y="9432000"/>
            <a:ext cx="2016000" cy="6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事業を通じ、物心共に豊かな社会の実現に努力すると同時に、かけがえのない地球環境の維持にも貢献する</a:t>
            </a:r>
            <a:endParaRPr lang="en-US" sz="630" dirty="0"/>
          </a:p>
        </p:txBody>
      </p:sp>
      <p:sp>
        <p:nvSpPr>
          <p:cNvPr id="39" name="Text 37"/>
          <p:cNvSpPr/>
          <p:nvPr/>
        </p:nvSpPr>
        <p:spPr>
          <a:xfrm>
            <a:off x="2736000" y="8964000"/>
            <a:ext cx="2088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処事光明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736000" y="9252000"/>
            <a:ext cx="208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しょじこうめい</a:t>
            </a:r>
            <a:endParaRPr lang="en-US" sz="580" dirty="0"/>
          </a:p>
        </p:txBody>
      </p:sp>
      <p:sp>
        <p:nvSpPr>
          <p:cNvPr id="41" name="Text 39"/>
          <p:cNvSpPr/>
          <p:nvPr/>
        </p:nvSpPr>
        <p:spPr>
          <a:xfrm>
            <a:off x="2736000" y="9432000"/>
            <a:ext cx="2016000" cy="6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公明正大で品格のある行動を旨とし、活動の公開性、透明性を堅持する</a:t>
            </a:r>
            <a:endParaRPr lang="en-US" sz="630" dirty="0"/>
          </a:p>
        </p:txBody>
      </p:sp>
      <p:sp>
        <p:nvSpPr>
          <p:cNvPr id="42" name="Text 40"/>
          <p:cNvSpPr/>
          <p:nvPr/>
        </p:nvSpPr>
        <p:spPr>
          <a:xfrm>
            <a:off x="4968000" y="8964000"/>
            <a:ext cx="2088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立業貿易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968000" y="9252000"/>
            <a:ext cx="208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りつぎょうぼうえき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4968000" y="9432000"/>
            <a:ext cx="2016000" cy="6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全世界的、宇宙的視野に立脚した事業展開を図る</a:t>
            </a:r>
            <a:endParaRPr lang="en-US" sz="630" dirty="0"/>
          </a:p>
        </p:txBody>
      </p:sp>
      <p:sp>
        <p:nvSpPr>
          <p:cNvPr id="45" name="Text 43"/>
          <p:cNvSpPr/>
          <p:nvPr/>
        </p:nvSpPr>
        <p:spPr>
          <a:xfrm>
            <a:off x="504000" y="10332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spc="15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7992000" y="576000"/>
            <a:ext cx="43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60" kern="0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01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我々は何者か｜金属資源グループとは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992000" y="828000"/>
            <a:ext cx="6624000" cy="92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b="1" spc="-60" kern="0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core that</a:t>
            </a:r>
            <a:endParaRPr lang="en-US" sz="30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000" b="1" spc="-60" kern="0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has carried us.</a:t>
            </a:r>
            <a:endParaRPr lang="en-US" sz="3000" dirty="0"/>
          </a:p>
        </p:txBody>
      </p:sp>
      <p:sp>
        <p:nvSpPr>
          <p:cNvPr id="48" name="Shape 46"/>
          <p:cNvSpPr/>
          <p:nvPr/>
        </p:nvSpPr>
        <p:spPr>
          <a:xfrm>
            <a:off x="7992000" y="1728000"/>
            <a:ext cx="252000" cy="1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9" name="Text 47"/>
          <p:cNvSpPr/>
          <p:nvPr/>
        </p:nvSpPr>
        <p:spPr>
          <a:xfrm>
            <a:off x="7992000" y="1836000"/>
            <a:ext cx="6624000" cy="28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三綱領を事業で体現する、中核グループとして。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992000" y="2124000"/>
            <a:ext cx="396000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65000"/>
              </a:lnSpc>
              <a:buNone/>
            </a:pPr>
            <a:r>
              <a:rPr lang="en-US" sz="78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社会に不可欠な金属資源を世界から確保し、安定的に届けてきました。市況の波を越えて事業に関わり続け、長年にわたり全社の利益を支える屋台骨となっています。</a:t>
            </a:r>
            <a:endParaRPr lang="en-US" sz="780" dirty="0"/>
          </a:p>
        </p:txBody>
      </p:sp>
      <p:pic>
        <p:nvPicPr>
          <p:cNvPr id="51" name="Image 0" descr="/home/user/my-website/mc_metals_12p/src/assets/_crop/_mr_project_03_68.0x40.0_0.5_0.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8000" y="2016000"/>
            <a:ext cx="2448000" cy="1440000"/>
          </a:xfrm>
          <a:prstGeom prst="rect">
            <a:avLst/>
          </a:prstGeom>
        </p:spPr>
      </p:pic>
      <p:sp>
        <p:nvSpPr>
          <p:cNvPr id="52" name="Shape 49"/>
          <p:cNvSpPr/>
          <p:nvPr/>
        </p:nvSpPr>
        <p:spPr>
          <a:xfrm>
            <a:off x="7992000" y="3744000"/>
            <a:ext cx="6624000" cy="144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53" name="Text 50"/>
          <p:cNvSpPr/>
          <p:nvPr/>
        </p:nvSpPr>
        <p:spPr>
          <a:xfrm>
            <a:off x="7992000" y="3852000"/>
            <a:ext cx="43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60" kern="0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長年の貢献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7992000" y="4068000"/>
            <a:ext cx="3960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市況の波を越えて、全社の利益を長く支えてきた。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8640000" y="4608000"/>
            <a:ext cx="5976000" cy="15840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56" name="Text 53"/>
          <p:cNvSpPr/>
          <p:nvPr/>
        </p:nvSpPr>
        <p:spPr>
          <a:xfrm>
            <a:off x="9000000" y="4824000"/>
            <a:ext cx="54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60" kern="0" dirty="0">
                <a:solidFill>
                  <a:srgbClr val="E9D6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MISSION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C9CED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グループミッション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9000000" y="5112000"/>
            <a:ext cx="5328000" cy="8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社会が必要とする良質な金属資源を、持続可能な形で安定供給することで、より良い社会の実現に寄与する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7992000" y="6552000"/>
            <a:ext cx="43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60" kern="0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JOURNEY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先見性をもって、先手を打ってきた歩み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7992000" y="7560000"/>
            <a:ext cx="7128000" cy="36"/>
          </a:xfrm>
          <a:prstGeom prst="line">
            <a:avLst/>
          </a:prstGeom>
          <a:noFill/>
          <a:ln w="15240">
            <a:solidFill>
              <a:srgbClr val="A8622F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992000" y="7164000"/>
            <a:ext cx="13248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1980–90s</a:t>
            </a:r>
            <a:endParaRPr lang="en-US" sz="1050" dirty="0"/>
          </a:p>
        </p:txBody>
      </p:sp>
      <p:sp>
        <p:nvSpPr>
          <p:cNvPr id="61" name="Shape 58"/>
          <p:cNvSpPr/>
          <p:nvPr/>
        </p:nvSpPr>
        <p:spPr>
          <a:xfrm>
            <a:off x="7992000" y="7502400"/>
            <a:ext cx="115200" cy="115200"/>
          </a:xfrm>
          <a:prstGeom prst="ellipse">
            <a:avLst/>
          </a:prstGeom>
          <a:solidFill>
            <a:srgbClr val="121519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992000" y="7704000"/>
            <a:ext cx="12168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6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日本の産業に、資源を。</a:t>
            </a:r>
            <a:endParaRPr lang="en-US" sz="760" dirty="0"/>
          </a:p>
        </p:txBody>
      </p:sp>
      <p:sp>
        <p:nvSpPr>
          <p:cNvPr id="63" name="Text 60"/>
          <p:cNvSpPr/>
          <p:nvPr/>
        </p:nvSpPr>
        <p:spPr>
          <a:xfrm>
            <a:off x="7992000" y="8028000"/>
            <a:ext cx="11988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日本の製造業を支えるため、トレーディングで資源に関わり、少数出資から事業へ。</a:t>
            </a:r>
            <a:endParaRPr lang="en-US" sz="630" dirty="0"/>
          </a:p>
        </p:txBody>
      </p:sp>
      <p:sp>
        <p:nvSpPr>
          <p:cNvPr id="64" name="Text 61"/>
          <p:cNvSpPr/>
          <p:nvPr/>
        </p:nvSpPr>
        <p:spPr>
          <a:xfrm>
            <a:off x="9316800" y="7164000"/>
            <a:ext cx="13248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1990s</a:t>
            </a:r>
            <a:endParaRPr lang="en-US" sz="1050" dirty="0"/>
          </a:p>
        </p:txBody>
      </p:sp>
      <p:sp>
        <p:nvSpPr>
          <p:cNvPr id="65" name="Shape 62"/>
          <p:cNvSpPr/>
          <p:nvPr/>
        </p:nvSpPr>
        <p:spPr>
          <a:xfrm>
            <a:off x="9316800" y="7502400"/>
            <a:ext cx="115200" cy="115200"/>
          </a:xfrm>
          <a:prstGeom prst="ellipse">
            <a:avLst/>
          </a:prstGeom>
          <a:solidFill>
            <a:srgbClr val="121519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9316800" y="7704000"/>
            <a:ext cx="12168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6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仲介から、担い手へ。</a:t>
            </a:r>
            <a:endParaRPr lang="en-US" sz="760" dirty="0"/>
          </a:p>
        </p:txBody>
      </p:sp>
      <p:sp>
        <p:nvSpPr>
          <p:cNvPr id="67" name="Text 64"/>
          <p:cNvSpPr/>
          <p:nvPr/>
        </p:nvSpPr>
        <p:spPr>
          <a:xfrm>
            <a:off x="9316800" y="8028000"/>
            <a:ext cx="11988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口銭収入に頼らず、資産を持つ投資モデルへ転換。JV運営の知見を蓄える。</a:t>
            </a:r>
            <a:endParaRPr lang="en-US" sz="630" dirty="0"/>
          </a:p>
        </p:txBody>
      </p:sp>
      <p:sp>
        <p:nvSpPr>
          <p:cNvPr id="68" name="Text 65"/>
          <p:cNvSpPr/>
          <p:nvPr/>
        </p:nvSpPr>
        <p:spPr>
          <a:xfrm>
            <a:off x="10641600" y="7164000"/>
            <a:ext cx="13248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2000s</a:t>
            </a:r>
            <a:endParaRPr lang="en-US" sz="1050" dirty="0"/>
          </a:p>
        </p:txBody>
      </p:sp>
      <p:sp>
        <p:nvSpPr>
          <p:cNvPr id="69" name="Shape 66"/>
          <p:cNvSpPr/>
          <p:nvPr/>
        </p:nvSpPr>
        <p:spPr>
          <a:xfrm>
            <a:off x="10641600" y="7502400"/>
            <a:ext cx="115200" cy="115200"/>
          </a:xfrm>
          <a:prstGeom prst="ellipse">
            <a:avLst/>
          </a:prstGeom>
          <a:solidFill>
            <a:srgbClr val="A8622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10641600" y="7704000"/>
            <a:ext cx="12168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6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一級資産に、早くから。</a:t>
            </a:r>
            <a:endParaRPr lang="en-US" sz="760" dirty="0"/>
          </a:p>
        </p:txBody>
      </p:sp>
      <p:sp>
        <p:nvSpPr>
          <p:cNvPr id="71" name="Text 68"/>
          <p:cNvSpPr/>
          <p:nvPr/>
        </p:nvSpPr>
        <p:spPr>
          <a:xfrm>
            <a:off x="10641600" y="8028000"/>
            <a:ext cx="11988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需要の拡大を先読みし、BHPとの折半出資でBMAを組成。事業経営に参画。</a:t>
            </a:r>
            <a:endParaRPr lang="en-US" sz="630" dirty="0"/>
          </a:p>
        </p:txBody>
      </p:sp>
      <p:sp>
        <p:nvSpPr>
          <p:cNvPr id="72" name="Text 69"/>
          <p:cNvSpPr/>
          <p:nvPr/>
        </p:nvSpPr>
        <p:spPr>
          <a:xfrm>
            <a:off x="11966400" y="7164000"/>
            <a:ext cx="13248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2010s</a:t>
            </a:r>
            <a:endParaRPr lang="en-US" sz="1050" dirty="0"/>
          </a:p>
        </p:txBody>
      </p:sp>
      <p:sp>
        <p:nvSpPr>
          <p:cNvPr id="73" name="Shape 70"/>
          <p:cNvSpPr/>
          <p:nvPr/>
        </p:nvSpPr>
        <p:spPr>
          <a:xfrm>
            <a:off x="11966400" y="7502400"/>
            <a:ext cx="115200" cy="115200"/>
          </a:xfrm>
          <a:prstGeom prst="ellipse">
            <a:avLst/>
          </a:prstGeom>
          <a:solidFill>
            <a:srgbClr val="A8622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11966400" y="7704000"/>
            <a:ext cx="12168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6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次の柱を、先回りして。</a:t>
            </a:r>
            <a:endParaRPr lang="en-US" sz="760" dirty="0"/>
          </a:p>
        </p:txBody>
      </p:sp>
      <p:sp>
        <p:nvSpPr>
          <p:cNvPr id="75" name="Text 72"/>
          <p:cNvSpPr/>
          <p:nvPr/>
        </p:nvSpPr>
        <p:spPr>
          <a:xfrm>
            <a:off x="11966400" y="8028000"/>
            <a:ext cx="11988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原料炭に続く柱として銅へ領域を拡大。販売機能をRtMに集約。</a:t>
            </a:r>
            <a:endParaRPr lang="en-US" sz="630" dirty="0"/>
          </a:p>
        </p:txBody>
      </p:sp>
      <p:sp>
        <p:nvSpPr>
          <p:cNvPr id="76" name="Text 73"/>
          <p:cNvSpPr/>
          <p:nvPr/>
        </p:nvSpPr>
        <p:spPr>
          <a:xfrm>
            <a:off x="13291200" y="7164000"/>
            <a:ext cx="13248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2020s–</a:t>
            </a:r>
            <a:endParaRPr lang="en-US" sz="1050" dirty="0"/>
          </a:p>
        </p:txBody>
      </p:sp>
      <p:sp>
        <p:nvSpPr>
          <p:cNvPr id="77" name="Shape 74"/>
          <p:cNvSpPr/>
          <p:nvPr/>
        </p:nvSpPr>
        <p:spPr>
          <a:xfrm>
            <a:off x="13291200" y="7502400"/>
            <a:ext cx="115200" cy="115200"/>
          </a:xfrm>
          <a:prstGeom prst="ellipse">
            <a:avLst/>
          </a:prstGeom>
          <a:solidFill>
            <a:srgbClr val="121519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13291200" y="7704000"/>
            <a:ext cx="12168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6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投資と販売を、一つの力に。</a:t>
            </a:r>
            <a:endParaRPr lang="en-US" sz="760" dirty="0"/>
          </a:p>
        </p:txBody>
      </p:sp>
      <p:sp>
        <p:nvSpPr>
          <p:cNvPr id="79" name="Text 76"/>
          <p:cNvSpPr/>
          <p:nvPr/>
        </p:nvSpPr>
        <p:spPr>
          <a:xfrm>
            <a:off x="13291200" y="8028000"/>
            <a:ext cx="11988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両輪を一体で動かし、世界の市場と産業をつなぐ事業者へ。</a:t>
            </a:r>
            <a:endParaRPr lang="en-US" sz="630" dirty="0"/>
          </a:p>
        </p:txBody>
      </p:sp>
      <p:sp>
        <p:nvSpPr>
          <p:cNvPr id="80" name="Shape 77"/>
          <p:cNvSpPr/>
          <p:nvPr/>
        </p:nvSpPr>
        <p:spPr>
          <a:xfrm>
            <a:off x="7992000" y="9000000"/>
            <a:ext cx="6624000" cy="10800"/>
          </a:xfrm>
          <a:prstGeom prst="rect">
            <a:avLst/>
          </a:prstGeom>
          <a:solidFill>
            <a:srgbClr val="CFD3D7"/>
          </a:solidFill>
          <a:ln/>
        </p:spPr>
      </p:sp>
      <p:sp>
        <p:nvSpPr>
          <p:cNvPr id="81" name="Text 78"/>
          <p:cNvSpPr/>
          <p:nvPr/>
        </p:nvSpPr>
        <p:spPr>
          <a:xfrm>
            <a:off x="7992000" y="9144000"/>
            <a:ext cx="43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60" kern="0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事業領域</a:t>
            </a:r>
            <a:endParaRPr lang="en-US" sz="800" dirty="0"/>
          </a:p>
        </p:txBody>
      </p:sp>
      <p:sp>
        <p:nvSpPr>
          <p:cNvPr id="82" name="Shape 79"/>
          <p:cNvSpPr/>
          <p:nvPr/>
        </p:nvSpPr>
        <p:spPr>
          <a:xfrm>
            <a:off x="7992000" y="9396000"/>
            <a:ext cx="576000" cy="252000"/>
          </a:xfrm>
          <a:prstGeom prst="roundRect">
            <a:avLst>
              <a:gd name="adj" fmla="val 50000"/>
            </a:avLst>
          </a:prstGeom>
          <a:solidFill>
            <a:srgbClr val="A8622F"/>
          </a:solidFill>
          <a:ln w="7620">
            <a:solidFill>
              <a:srgbClr val="A8622F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7992000" y="9457200"/>
            <a:ext cx="576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原料炭</a:t>
            </a:r>
            <a:endParaRPr lang="en-US" sz="640" dirty="0"/>
          </a:p>
        </p:txBody>
      </p:sp>
      <p:sp>
        <p:nvSpPr>
          <p:cNvPr id="84" name="Shape 81"/>
          <p:cNvSpPr/>
          <p:nvPr/>
        </p:nvSpPr>
        <p:spPr>
          <a:xfrm>
            <a:off x="8658000" y="9396000"/>
            <a:ext cx="432000" cy="252000"/>
          </a:xfrm>
          <a:prstGeom prst="roundRect">
            <a:avLst>
              <a:gd name="adj" fmla="val 50000"/>
            </a:avLst>
          </a:prstGeom>
          <a:solidFill>
            <a:srgbClr val="A8622F"/>
          </a:solidFill>
          <a:ln w="7620">
            <a:solidFill>
              <a:srgbClr val="A8622F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8658000" y="9457200"/>
            <a:ext cx="432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</a:t>
            </a:r>
            <a:endParaRPr lang="en-US" sz="640" dirty="0"/>
          </a:p>
        </p:txBody>
      </p:sp>
      <p:sp>
        <p:nvSpPr>
          <p:cNvPr id="86" name="Shape 83"/>
          <p:cNvSpPr/>
          <p:nvPr/>
        </p:nvSpPr>
        <p:spPr>
          <a:xfrm>
            <a:off x="9180000" y="9396000"/>
            <a:ext cx="576000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D3D7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9180000" y="9457200"/>
            <a:ext cx="576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鉄鉱石</a:t>
            </a:r>
            <a:endParaRPr lang="en-US" sz="640" dirty="0"/>
          </a:p>
        </p:txBody>
      </p:sp>
      <p:sp>
        <p:nvSpPr>
          <p:cNvPr id="88" name="Shape 85"/>
          <p:cNvSpPr/>
          <p:nvPr/>
        </p:nvSpPr>
        <p:spPr>
          <a:xfrm>
            <a:off x="9846000" y="9396000"/>
            <a:ext cx="648000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D3D7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9846000" y="9457200"/>
            <a:ext cx="648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ニッケル</a:t>
            </a:r>
            <a:endParaRPr lang="en-US" sz="640" dirty="0"/>
          </a:p>
        </p:txBody>
      </p:sp>
      <p:sp>
        <p:nvSpPr>
          <p:cNvPr id="90" name="Shape 87"/>
          <p:cNvSpPr/>
          <p:nvPr/>
        </p:nvSpPr>
        <p:spPr>
          <a:xfrm>
            <a:off x="10584000" y="9396000"/>
            <a:ext cx="648000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D3D7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10584000" y="9457200"/>
            <a:ext cx="648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リチウム</a:t>
            </a:r>
            <a:endParaRPr lang="en-US" sz="640" dirty="0"/>
          </a:p>
        </p:txBody>
      </p:sp>
      <p:sp>
        <p:nvSpPr>
          <p:cNvPr id="92" name="Shape 89"/>
          <p:cNvSpPr/>
          <p:nvPr/>
        </p:nvSpPr>
        <p:spPr>
          <a:xfrm>
            <a:off x="11322000" y="9396000"/>
            <a:ext cx="1080000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D3D7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11322000" y="9457200"/>
            <a:ext cx="1080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アルミ・ボーキサイト</a:t>
            </a:r>
            <a:endParaRPr lang="en-US" sz="640" dirty="0"/>
          </a:p>
        </p:txBody>
      </p:sp>
      <p:sp>
        <p:nvSpPr>
          <p:cNvPr id="94" name="Shape 91"/>
          <p:cNvSpPr/>
          <p:nvPr/>
        </p:nvSpPr>
        <p:spPr>
          <a:xfrm>
            <a:off x="12492000" y="9396000"/>
            <a:ext cx="648000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D3D7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12492000" y="9457200"/>
            <a:ext cx="648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肥料資源</a:t>
            </a:r>
            <a:endParaRPr lang="en-US" sz="640" dirty="0"/>
          </a:p>
        </p:txBody>
      </p:sp>
      <p:sp>
        <p:nvSpPr>
          <p:cNvPr id="96" name="Shape 93"/>
          <p:cNvSpPr/>
          <p:nvPr/>
        </p:nvSpPr>
        <p:spPr>
          <a:xfrm>
            <a:off x="13230000" y="9396000"/>
            <a:ext cx="648000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D3D7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13230000" y="9457200"/>
            <a:ext cx="648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二次資源</a:t>
            </a:r>
            <a:endParaRPr lang="en-US" sz="640" dirty="0"/>
          </a:p>
        </p:txBody>
      </p:sp>
      <p:sp>
        <p:nvSpPr>
          <p:cNvPr id="98" name="Text 95"/>
          <p:cNvSpPr/>
          <p:nvPr/>
        </p:nvSpPr>
        <p:spPr>
          <a:xfrm>
            <a:off x="7992000" y="9756000"/>
            <a:ext cx="662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原料炭と銅を中核に、世界に事業を広げる。</a:t>
            </a:r>
            <a:endParaRPr lang="en-US" sz="630" dirty="0"/>
          </a:p>
        </p:txBody>
      </p:sp>
      <p:sp>
        <p:nvSpPr>
          <p:cNvPr id="99" name="Text 96"/>
          <p:cNvSpPr/>
          <p:nvPr/>
        </p:nvSpPr>
        <p:spPr>
          <a:xfrm>
            <a:off x="13896000" y="10332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spc="15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650" dirty="0"/>
          </a:p>
        </p:txBody>
      </p:sp>
      <p:sp>
        <p:nvSpPr>
          <p:cNvPr id="100" name="Text 97"/>
          <p:cNvSpPr/>
          <p:nvPr/>
        </p:nvSpPr>
        <p:spPr>
          <a:xfrm>
            <a:off x="137160" y="103784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P4–5 案A｜企業全体から対象グループへ線がつながる構成（本体採用）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4000" y="-216000"/>
            <a:ext cx="2872800" cy="259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9000" spc="-600" kern="0" dirty="0">
                <a:ln w="7620">
                  <a:solidFill>
                    <a:srgbClr val="D9DDE1"/>
                  </a:solidFill>
                </a:ln>
                <a:solidFill>
                  <a:srgbClr val="FFFFFF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01</a:t>
            </a:r>
            <a:endParaRPr lang="en-US" sz="19000" dirty="0"/>
          </a:p>
        </p:txBody>
      </p:sp>
      <p:sp>
        <p:nvSpPr>
          <p:cNvPr id="3" name="Text 1"/>
          <p:cNvSpPr/>
          <p:nvPr/>
        </p:nvSpPr>
        <p:spPr>
          <a:xfrm>
            <a:off x="504000" y="576000"/>
            <a:ext cx="43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60" kern="0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01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我々は何者か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4000" y="828000"/>
            <a:ext cx="5400000" cy="68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200" b="1" spc="-60" kern="0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Who We Are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04000" y="1512000"/>
            <a:ext cx="252000" cy="1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504000" y="1620000"/>
            <a:ext cx="6480000" cy="28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三綱領を精神の根幹に。その総合力の中核を担う、金属資源グループ。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059532" y="2304000"/>
            <a:ext cx="9060468" cy="7128000"/>
          </a:xfrm>
          <a:custGeom>
            <a:avLst/>
            <a:gdLst/>
            <a:ahLst/>
            <a:cxnLst/>
            <a:rect l="l" t="t" r="r" b="b"/>
            <a:pathLst>
              <a:path w="9060468" h="7128000">
                <a:moveTo>
                  <a:pt x="0" y="2980105"/>
                </a:moveTo>
                <a:lnTo>
                  <a:pt x="9060468" y="0"/>
                </a:lnTo>
                <a:lnTo>
                  <a:pt x="9060468" y="7128000"/>
                </a:lnTo>
                <a:lnTo>
                  <a:pt x="0" y="5083895"/>
                </a:lnTo>
                <a:close/>
              </a:path>
            </a:pathLst>
          </a:custGeom>
          <a:solidFill>
            <a:srgbClr val="A8622F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88000" y="3168000"/>
            <a:ext cx="6336000" cy="6336000"/>
          </a:xfrm>
          <a:prstGeom prst="ellipse">
            <a:avLst/>
          </a:prstGeom>
          <a:ln w="5080">
            <a:solidFill>
              <a:srgbClr val="CFD3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56671" y="5148653"/>
            <a:ext cx="1307329" cy="2374693"/>
          </a:xfrm>
          <a:custGeom>
            <a:avLst/>
            <a:gdLst/>
            <a:ahLst/>
            <a:cxnLst/>
            <a:rect l="l" t="t" r="r" b="b"/>
            <a:pathLst>
              <a:path w="1307329" h="2374693">
                <a:moveTo>
                  <a:pt x="1043945" y="0"/>
                </a:moveTo>
                <a:lnTo>
                  <a:pt x="1069256" y="55825"/>
                </a:lnTo>
                <a:lnTo>
                  <a:pt x="1093341" y="112189"/>
                </a:lnTo>
                <a:lnTo>
                  <a:pt x="1116191" y="169066"/>
                </a:lnTo>
                <a:lnTo>
                  <a:pt x="1137794" y="226428"/>
                </a:lnTo>
                <a:lnTo>
                  <a:pt x="1158140" y="284247"/>
                </a:lnTo>
                <a:lnTo>
                  <a:pt x="1177219" y="342497"/>
                </a:lnTo>
                <a:lnTo>
                  <a:pt x="1195021" y="401150"/>
                </a:lnTo>
                <a:lnTo>
                  <a:pt x="1211540" y="460177"/>
                </a:lnTo>
                <a:lnTo>
                  <a:pt x="1226766" y="519551"/>
                </a:lnTo>
                <a:lnTo>
                  <a:pt x="1240692" y="579242"/>
                </a:lnTo>
                <a:lnTo>
                  <a:pt x="1253312" y="639224"/>
                </a:lnTo>
                <a:lnTo>
                  <a:pt x="1264620" y="699467"/>
                </a:lnTo>
                <a:lnTo>
                  <a:pt x="1274611" y="759942"/>
                </a:lnTo>
                <a:lnTo>
                  <a:pt x="1283279" y="820621"/>
                </a:lnTo>
                <a:lnTo>
                  <a:pt x="1290620" y="881474"/>
                </a:lnTo>
                <a:lnTo>
                  <a:pt x="1296631" y="942474"/>
                </a:lnTo>
                <a:lnTo>
                  <a:pt x="1301310" y="1003590"/>
                </a:lnTo>
                <a:lnTo>
                  <a:pt x="1304653" y="1064793"/>
                </a:lnTo>
                <a:lnTo>
                  <a:pt x="1306660" y="1126055"/>
                </a:lnTo>
                <a:lnTo>
                  <a:pt x="1307329" y="1187347"/>
                </a:lnTo>
                <a:lnTo>
                  <a:pt x="1306660" y="1248638"/>
                </a:lnTo>
                <a:lnTo>
                  <a:pt x="1304653" y="1309900"/>
                </a:lnTo>
                <a:lnTo>
                  <a:pt x="1301310" y="1371103"/>
                </a:lnTo>
                <a:lnTo>
                  <a:pt x="1296631" y="1432219"/>
                </a:lnTo>
                <a:lnTo>
                  <a:pt x="1290620" y="1493219"/>
                </a:lnTo>
                <a:lnTo>
                  <a:pt x="1283279" y="1554072"/>
                </a:lnTo>
                <a:lnTo>
                  <a:pt x="1274611" y="1614751"/>
                </a:lnTo>
                <a:lnTo>
                  <a:pt x="1264620" y="1675226"/>
                </a:lnTo>
                <a:lnTo>
                  <a:pt x="1253312" y="1735469"/>
                </a:lnTo>
                <a:lnTo>
                  <a:pt x="1240692" y="1795451"/>
                </a:lnTo>
                <a:lnTo>
                  <a:pt x="1226766" y="1855143"/>
                </a:lnTo>
                <a:lnTo>
                  <a:pt x="1211540" y="1914516"/>
                </a:lnTo>
                <a:lnTo>
                  <a:pt x="1195021" y="1973543"/>
                </a:lnTo>
                <a:lnTo>
                  <a:pt x="1177219" y="2032196"/>
                </a:lnTo>
                <a:lnTo>
                  <a:pt x="1158140" y="2090446"/>
                </a:lnTo>
                <a:lnTo>
                  <a:pt x="1137794" y="2148265"/>
                </a:lnTo>
                <a:lnTo>
                  <a:pt x="1116191" y="2205627"/>
                </a:lnTo>
                <a:lnTo>
                  <a:pt x="1093341" y="2262504"/>
                </a:lnTo>
                <a:lnTo>
                  <a:pt x="1069256" y="2318868"/>
                </a:lnTo>
                <a:lnTo>
                  <a:pt x="1043945" y="2374693"/>
                </a:lnTo>
                <a:lnTo>
                  <a:pt x="0" y="1887577"/>
                </a:lnTo>
                <a:lnTo>
                  <a:pt x="14927" y="1854654"/>
                </a:lnTo>
                <a:lnTo>
                  <a:pt x="29131" y="1821414"/>
                </a:lnTo>
                <a:lnTo>
                  <a:pt x="42607" y="1787871"/>
                </a:lnTo>
                <a:lnTo>
                  <a:pt x="55347" y="1754042"/>
                </a:lnTo>
                <a:lnTo>
                  <a:pt x="67346" y="1719944"/>
                </a:lnTo>
                <a:lnTo>
                  <a:pt x="78597" y="1685591"/>
                </a:lnTo>
                <a:lnTo>
                  <a:pt x="89096" y="1651001"/>
                </a:lnTo>
                <a:lnTo>
                  <a:pt x="98838" y="1616190"/>
                </a:lnTo>
                <a:lnTo>
                  <a:pt x="107817" y="1581175"/>
                </a:lnTo>
                <a:lnTo>
                  <a:pt x="116030" y="1545972"/>
                </a:lnTo>
                <a:lnTo>
                  <a:pt x="123473" y="1510598"/>
                </a:lnTo>
                <a:lnTo>
                  <a:pt x="130142" y="1475071"/>
                </a:lnTo>
                <a:lnTo>
                  <a:pt x="136034" y="1439406"/>
                </a:lnTo>
                <a:lnTo>
                  <a:pt x="141145" y="1403621"/>
                </a:lnTo>
                <a:lnTo>
                  <a:pt x="145475" y="1367733"/>
                </a:lnTo>
                <a:lnTo>
                  <a:pt x="149020" y="1331759"/>
                </a:lnTo>
                <a:lnTo>
                  <a:pt x="151779" y="1295716"/>
                </a:lnTo>
                <a:lnTo>
                  <a:pt x="153751" y="1259622"/>
                </a:lnTo>
                <a:lnTo>
                  <a:pt x="154934" y="1223493"/>
                </a:lnTo>
                <a:lnTo>
                  <a:pt x="155329" y="1187347"/>
                </a:lnTo>
                <a:lnTo>
                  <a:pt x="154934" y="1151200"/>
                </a:lnTo>
                <a:lnTo>
                  <a:pt x="153751" y="1115072"/>
                </a:lnTo>
                <a:lnTo>
                  <a:pt x="151779" y="1078977"/>
                </a:lnTo>
                <a:lnTo>
                  <a:pt x="149020" y="1042934"/>
                </a:lnTo>
                <a:lnTo>
                  <a:pt x="145475" y="1006960"/>
                </a:lnTo>
                <a:lnTo>
                  <a:pt x="141145" y="971072"/>
                </a:lnTo>
                <a:lnTo>
                  <a:pt x="136034" y="935287"/>
                </a:lnTo>
                <a:lnTo>
                  <a:pt x="130142" y="899623"/>
                </a:lnTo>
                <a:lnTo>
                  <a:pt x="123473" y="864095"/>
                </a:lnTo>
                <a:lnTo>
                  <a:pt x="116030" y="828721"/>
                </a:lnTo>
                <a:lnTo>
                  <a:pt x="107817" y="793518"/>
                </a:lnTo>
                <a:lnTo>
                  <a:pt x="98838" y="758503"/>
                </a:lnTo>
                <a:lnTo>
                  <a:pt x="89096" y="723692"/>
                </a:lnTo>
                <a:lnTo>
                  <a:pt x="78597" y="689102"/>
                </a:lnTo>
                <a:lnTo>
                  <a:pt x="67346" y="654750"/>
                </a:lnTo>
                <a:lnTo>
                  <a:pt x="55347" y="620651"/>
                </a:lnTo>
                <a:lnTo>
                  <a:pt x="42607" y="586822"/>
                </a:lnTo>
                <a:lnTo>
                  <a:pt x="29131" y="553280"/>
                </a:lnTo>
                <a:lnTo>
                  <a:pt x="14927" y="520039"/>
                </a:lnTo>
                <a:lnTo>
                  <a:pt x="0" y="487117"/>
                </a:lnTo>
                <a:close/>
              </a:path>
            </a:pathLst>
          </a:custGeom>
          <a:solidFill>
            <a:srgbClr val="A8622F"/>
          </a:solidFill>
          <a:ln/>
        </p:spPr>
      </p:sp>
      <p:sp>
        <p:nvSpPr>
          <p:cNvPr id="10" name="Shape 8"/>
          <p:cNvSpPr/>
          <p:nvPr/>
        </p:nvSpPr>
        <p:spPr>
          <a:xfrm>
            <a:off x="3844191" y="7072686"/>
            <a:ext cx="2126656" cy="1993074"/>
          </a:xfrm>
          <a:custGeom>
            <a:avLst/>
            <a:gdLst/>
            <a:ahLst/>
            <a:cxnLst/>
            <a:rect l="l" t="t" r="r" b="b"/>
            <a:pathLst>
              <a:path w="2126656" h="1993074">
                <a:moveTo>
                  <a:pt x="2126656" y="512477"/>
                </a:moveTo>
                <a:lnTo>
                  <a:pt x="2098791" y="567072"/>
                </a:lnTo>
                <a:lnTo>
                  <a:pt x="2069741" y="621045"/>
                </a:lnTo>
                <a:lnTo>
                  <a:pt x="2039520" y="674372"/>
                </a:lnTo>
                <a:lnTo>
                  <a:pt x="2008142" y="727026"/>
                </a:lnTo>
                <a:lnTo>
                  <a:pt x="1975622" y="778983"/>
                </a:lnTo>
                <a:lnTo>
                  <a:pt x="1941975" y="830218"/>
                </a:lnTo>
                <a:lnTo>
                  <a:pt x="1907219" y="880706"/>
                </a:lnTo>
                <a:lnTo>
                  <a:pt x="1871369" y="930423"/>
                </a:lnTo>
                <a:lnTo>
                  <a:pt x="1834442" y="979346"/>
                </a:lnTo>
                <a:lnTo>
                  <a:pt x="1796456" y="1027452"/>
                </a:lnTo>
                <a:lnTo>
                  <a:pt x="1757429" y="1074717"/>
                </a:lnTo>
                <a:lnTo>
                  <a:pt x="1717380" y="1121118"/>
                </a:lnTo>
                <a:lnTo>
                  <a:pt x="1676327" y="1166635"/>
                </a:lnTo>
                <a:lnTo>
                  <a:pt x="1634291" y="1211244"/>
                </a:lnTo>
                <a:lnTo>
                  <a:pt x="1591291" y="1254925"/>
                </a:lnTo>
                <a:lnTo>
                  <a:pt x="1547348" y="1297658"/>
                </a:lnTo>
                <a:lnTo>
                  <a:pt x="1502482" y="1339421"/>
                </a:lnTo>
                <a:lnTo>
                  <a:pt x="1456716" y="1380195"/>
                </a:lnTo>
                <a:lnTo>
                  <a:pt x="1410070" y="1419960"/>
                </a:lnTo>
                <a:lnTo>
                  <a:pt x="1362568" y="1458697"/>
                </a:lnTo>
                <a:lnTo>
                  <a:pt x="1314232" y="1496389"/>
                </a:lnTo>
                <a:lnTo>
                  <a:pt x="1265084" y="1533016"/>
                </a:lnTo>
                <a:lnTo>
                  <a:pt x="1215148" y="1568562"/>
                </a:lnTo>
                <a:lnTo>
                  <a:pt x="1164449" y="1603009"/>
                </a:lnTo>
                <a:lnTo>
                  <a:pt x="1113010" y="1636342"/>
                </a:lnTo>
                <a:lnTo>
                  <a:pt x="1060855" y="1668544"/>
                </a:lnTo>
                <a:lnTo>
                  <a:pt x="1008010" y="1699599"/>
                </a:lnTo>
                <a:lnTo>
                  <a:pt x="954500" y="1729494"/>
                </a:lnTo>
                <a:lnTo>
                  <a:pt x="900350" y="1758214"/>
                </a:lnTo>
                <a:lnTo>
                  <a:pt x="845586" y="1785745"/>
                </a:lnTo>
                <a:lnTo>
                  <a:pt x="790234" y="1812074"/>
                </a:lnTo>
                <a:lnTo>
                  <a:pt x="734320" y="1837189"/>
                </a:lnTo>
                <a:lnTo>
                  <a:pt x="677872" y="1861077"/>
                </a:lnTo>
                <a:lnTo>
                  <a:pt x="620916" y="1883728"/>
                </a:lnTo>
                <a:lnTo>
                  <a:pt x="563479" y="1905130"/>
                </a:lnTo>
                <a:lnTo>
                  <a:pt x="505588" y="1925273"/>
                </a:lnTo>
                <a:lnTo>
                  <a:pt x="447272" y="1944147"/>
                </a:lnTo>
                <a:lnTo>
                  <a:pt x="388557" y="1961745"/>
                </a:lnTo>
                <a:lnTo>
                  <a:pt x="329473" y="1978056"/>
                </a:lnTo>
                <a:lnTo>
                  <a:pt x="270046" y="1993074"/>
                </a:lnTo>
                <a:lnTo>
                  <a:pt x="0" y="873173"/>
                </a:lnTo>
                <a:lnTo>
                  <a:pt x="35046" y="864316"/>
                </a:lnTo>
                <a:lnTo>
                  <a:pt x="69891" y="854696"/>
                </a:lnTo>
                <a:lnTo>
                  <a:pt x="104518" y="844318"/>
                </a:lnTo>
                <a:lnTo>
                  <a:pt x="138909" y="833187"/>
                </a:lnTo>
                <a:lnTo>
                  <a:pt x="173050" y="821308"/>
                </a:lnTo>
                <a:lnTo>
                  <a:pt x="206923" y="808686"/>
                </a:lnTo>
                <a:lnTo>
                  <a:pt x="240513" y="795328"/>
                </a:lnTo>
                <a:lnTo>
                  <a:pt x="273803" y="781240"/>
                </a:lnTo>
                <a:lnTo>
                  <a:pt x="306777" y="766429"/>
                </a:lnTo>
                <a:lnTo>
                  <a:pt x="339421" y="750902"/>
                </a:lnTo>
                <a:lnTo>
                  <a:pt x="371718" y="734666"/>
                </a:lnTo>
                <a:lnTo>
                  <a:pt x="403652" y="717728"/>
                </a:lnTo>
                <a:lnTo>
                  <a:pt x="435210" y="700098"/>
                </a:lnTo>
                <a:lnTo>
                  <a:pt x="466375" y="681783"/>
                </a:lnTo>
                <a:lnTo>
                  <a:pt x="497132" y="662792"/>
                </a:lnTo>
                <a:lnTo>
                  <a:pt x="527468" y="643134"/>
                </a:lnTo>
                <a:lnTo>
                  <a:pt x="557368" y="622819"/>
                </a:lnTo>
                <a:lnTo>
                  <a:pt x="586817" y="601856"/>
                </a:lnTo>
                <a:lnTo>
                  <a:pt x="615802" y="580256"/>
                </a:lnTo>
                <a:lnTo>
                  <a:pt x="644308" y="558027"/>
                </a:lnTo>
                <a:lnTo>
                  <a:pt x="672322" y="535182"/>
                </a:lnTo>
                <a:lnTo>
                  <a:pt x="699831" y="511731"/>
                </a:lnTo>
                <a:lnTo>
                  <a:pt x="726821" y="487685"/>
                </a:lnTo>
                <a:lnTo>
                  <a:pt x="753280" y="463055"/>
                </a:lnTo>
                <a:lnTo>
                  <a:pt x="779196" y="437854"/>
                </a:lnTo>
                <a:lnTo>
                  <a:pt x="804555" y="412093"/>
                </a:lnTo>
                <a:lnTo>
                  <a:pt x="829345" y="385785"/>
                </a:lnTo>
                <a:lnTo>
                  <a:pt x="853556" y="358942"/>
                </a:lnTo>
                <a:lnTo>
                  <a:pt x="877174" y="331577"/>
                </a:lnTo>
                <a:lnTo>
                  <a:pt x="900190" y="303703"/>
                </a:lnTo>
                <a:lnTo>
                  <a:pt x="922592" y="275333"/>
                </a:lnTo>
                <a:lnTo>
                  <a:pt x="944370" y="246481"/>
                </a:lnTo>
                <a:lnTo>
                  <a:pt x="965512" y="217161"/>
                </a:lnTo>
                <a:lnTo>
                  <a:pt x="986010" y="187386"/>
                </a:lnTo>
                <a:lnTo>
                  <a:pt x="1005852" y="157170"/>
                </a:lnTo>
                <a:lnTo>
                  <a:pt x="1025031" y="126529"/>
                </a:lnTo>
                <a:lnTo>
                  <a:pt x="1043536" y="95477"/>
                </a:lnTo>
                <a:lnTo>
                  <a:pt x="1061358" y="64028"/>
                </a:lnTo>
                <a:lnTo>
                  <a:pt x="1078491" y="32197"/>
                </a:lnTo>
                <a:lnTo>
                  <a:pt x="1094924" y="0"/>
                </a:lnTo>
                <a:close/>
              </a:path>
            </a:pathLst>
          </a:custGeom>
          <a:solidFill>
            <a:srgbClr val="E3E6E9"/>
          </a:solidFill>
          <a:ln/>
        </p:spPr>
      </p:sp>
      <p:sp>
        <p:nvSpPr>
          <p:cNvPr id="11" name="Shape 9"/>
          <p:cNvSpPr/>
          <p:nvPr/>
        </p:nvSpPr>
        <p:spPr>
          <a:xfrm>
            <a:off x="1732192" y="7643230"/>
            <a:ext cx="2315155" cy="1500717"/>
          </a:xfrm>
          <a:custGeom>
            <a:avLst/>
            <a:gdLst/>
            <a:ahLst/>
            <a:cxnLst/>
            <a:rect l="l" t="t" r="r" b="b"/>
            <a:pathLst>
              <a:path w="2315155" h="1500717">
                <a:moveTo>
                  <a:pt x="2315155" y="1437797"/>
                </a:moveTo>
                <a:lnTo>
                  <a:pt x="2255097" y="1450050"/>
                </a:lnTo>
                <a:lnTo>
                  <a:pt x="2194786" y="1460990"/>
                </a:lnTo>
                <a:lnTo>
                  <a:pt x="2134251" y="1470611"/>
                </a:lnTo>
                <a:lnTo>
                  <a:pt x="2073521" y="1478908"/>
                </a:lnTo>
                <a:lnTo>
                  <a:pt x="2012623" y="1485877"/>
                </a:lnTo>
                <a:lnTo>
                  <a:pt x="1951588" y="1491516"/>
                </a:lnTo>
                <a:lnTo>
                  <a:pt x="1890445" y="1495821"/>
                </a:lnTo>
                <a:lnTo>
                  <a:pt x="1829222" y="1498790"/>
                </a:lnTo>
                <a:lnTo>
                  <a:pt x="1767949" y="1500423"/>
                </a:lnTo>
                <a:lnTo>
                  <a:pt x="1706655" y="1500717"/>
                </a:lnTo>
                <a:lnTo>
                  <a:pt x="1645369" y="1499674"/>
                </a:lnTo>
                <a:lnTo>
                  <a:pt x="1584120" y="1497293"/>
                </a:lnTo>
                <a:lnTo>
                  <a:pt x="1522938" y="1493576"/>
                </a:lnTo>
                <a:lnTo>
                  <a:pt x="1461852" y="1488524"/>
                </a:lnTo>
                <a:lnTo>
                  <a:pt x="1400890" y="1482140"/>
                </a:lnTo>
                <a:lnTo>
                  <a:pt x="1340083" y="1474427"/>
                </a:lnTo>
                <a:lnTo>
                  <a:pt x="1279458" y="1465389"/>
                </a:lnTo>
                <a:lnTo>
                  <a:pt x="1219045" y="1455029"/>
                </a:lnTo>
                <a:lnTo>
                  <a:pt x="1158872" y="1443354"/>
                </a:lnTo>
                <a:lnTo>
                  <a:pt x="1098969" y="1430367"/>
                </a:lnTo>
                <a:lnTo>
                  <a:pt x="1039363" y="1416076"/>
                </a:lnTo>
                <a:lnTo>
                  <a:pt x="980084" y="1400488"/>
                </a:lnTo>
                <a:lnTo>
                  <a:pt x="921159" y="1383609"/>
                </a:lnTo>
                <a:lnTo>
                  <a:pt x="862616" y="1365449"/>
                </a:lnTo>
                <a:lnTo>
                  <a:pt x="804484" y="1346014"/>
                </a:lnTo>
                <a:lnTo>
                  <a:pt x="746789" y="1325316"/>
                </a:lnTo>
                <a:lnTo>
                  <a:pt x="689561" y="1303363"/>
                </a:lnTo>
                <a:lnTo>
                  <a:pt x="632825" y="1280166"/>
                </a:lnTo>
                <a:lnTo>
                  <a:pt x="576609" y="1255736"/>
                </a:lnTo>
                <a:lnTo>
                  <a:pt x="520939" y="1230085"/>
                </a:lnTo>
                <a:lnTo>
                  <a:pt x="465843" y="1203225"/>
                </a:lnTo>
                <a:lnTo>
                  <a:pt x="411346" y="1175169"/>
                </a:lnTo>
                <a:lnTo>
                  <a:pt x="357475" y="1145930"/>
                </a:lnTo>
                <a:lnTo>
                  <a:pt x="304254" y="1115522"/>
                </a:lnTo>
                <a:lnTo>
                  <a:pt x="251710" y="1083960"/>
                </a:lnTo>
                <a:lnTo>
                  <a:pt x="199867" y="1051259"/>
                </a:lnTo>
                <a:lnTo>
                  <a:pt x="148751" y="1017433"/>
                </a:lnTo>
                <a:lnTo>
                  <a:pt x="98385" y="982500"/>
                </a:lnTo>
                <a:lnTo>
                  <a:pt x="48793" y="946476"/>
                </a:lnTo>
                <a:lnTo>
                  <a:pt x="0" y="909378"/>
                </a:lnTo>
                <a:lnTo>
                  <a:pt x="707203" y="0"/>
                </a:lnTo>
                <a:lnTo>
                  <a:pt x="735979" y="21878"/>
                </a:lnTo>
                <a:lnTo>
                  <a:pt x="765225" y="43123"/>
                </a:lnTo>
                <a:lnTo>
                  <a:pt x="794928" y="63725"/>
                </a:lnTo>
                <a:lnTo>
                  <a:pt x="825074" y="83673"/>
                </a:lnTo>
                <a:lnTo>
                  <a:pt x="855647" y="102959"/>
                </a:lnTo>
                <a:lnTo>
                  <a:pt x="886635" y="121573"/>
                </a:lnTo>
                <a:lnTo>
                  <a:pt x="918021" y="139505"/>
                </a:lnTo>
                <a:lnTo>
                  <a:pt x="949792" y="156749"/>
                </a:lnTo>
                <a:lnTo>
                  <a:pt x="981931" y="173295"/>
                </a:lnTo>
                <a:lnTo>
                  <a:pt x="1014424" y="189135"/>
                </a:lnTo>
                <a:lnTo>
                  <a:pt x="1047254" y="204263"/>
                </a:lnTo>
                <a:lnTo>
                  <a:pt x="1080408" y="218670"/>
                </a:lnTo>
                <a:lnTo>
                  <a:pt x="1113867" y="232350"/>
                </a:lnTo>
                <a:lnTo>
                  <a:pt x="1147617" y="245297"/>
                </a:lnTo>
                <a:lnTo>
                  <a:pt x="1181642" y="257504"/>
                </a:lnTo>
                <a:lnTo>
                  <a:pt x="1215925" y="268965"/>
                </a:lnTo>
                <a:lnTo>
                  <a:pt x="1250451" y="279675"/>
                </a:lnTo>
                <a:lnTo>
                  <a:pt x="1285201" y="289629"/>
                </a:lnTo>
                <a:lnTo>
                  <a:pt x="1320161" y="298822"/>
                </a:lnTo>
                <a:lnTo>
                  <a:pt x="1355313" y="307250"/>
                </a:lnTo>
                <a:lnTo>
                  <a:pt x="1390641" y="314909"/>
                </a:lnTo>
                <a:lnTo>
                  <a:pt x="1426127" y="321795"/>
                </a:lnTo>
                <a:lnTo>
                  <a:pt x="1461755" y="327904"/>
                </a:lnTo>
                <a:lnTo>
                  <a:pt x="1497508" y="333234"/>
                </a:lnTo>
                <a:lnTo>
                  <a:pt x="1533369" y="337783"/>
                </a:lnTo>
                <a:lnTo>
                  <a:pt x="1569321" y="341548"/>
                </a:lnTo>
                <a:lnTo>
                  <a:pt x="1605346" y="344527"/>
                </a:lnTo>
                <a:lnTo>
                  <a:pt x="1641428" y="346719"/>
                </a:lnTo>
                <a:lnTo>
                  <a:pt x="1677549" y="348123"/>
                </a:lnTo>
                <a:lnTo>
                  <a:pt x="1713692" y="348739"/>
                </a:lnTo>
                <a:lnTo>
                  <a:pt x="1749840" y="348565"/>
                </a:lnTo>
                <a:lnTo>
                  <a:pt x="1785975" y="347602"/>
                </a:lnTo>
                <a:lnTo>
                  <a:pt x="1822081" y="345851"/>
                </a:lnTo>
                <a:lnTo>
                  <a:pt x="1858140" y="343312"/>
                </a:lnTo>
                <a:lnTo>
                  <a:pt x="1894135" y="339987"/>
                </a:lnTo>
                <a:lnTo>
                  <a:pt x="1930049" y="335877"/>
                </a:lnTo>
                <a:lnTo>
                  <a:pt x="1965864" y="330984"/>
                </a:lnTo>
                <a:lnTo>
                  <a:pt x="2001564" y="325310"/>
                </a:lnTo>
                <a:lnTo>
                  <a:pt x="2037132" y="318858"/>
                </a:lnTo>
                <a:lnTo>
                  <a:pt x="2072551" y="311632"/>
                </a:lnTo>
                <a:close/>
              </a:path>
            </a:pathLst>
          </a:custGeom>
          <a:solidFill>
            <a:srgbClr val="E3E6E9"/>
          </a:solidFill>
          <a:ln/>
        </p:spPr>
      </p:sp>
      <p:sp>
        <p:nvSpPr>
          <p:cNvPr id="12" name="Shape 10"/>
          <p:cNvSpPr/>
          <p:nvPr/>
        </p:nvSpPr>
        <p:spPr>
          <a:xfrm>
            <a:off x="648210" y="6356231"/>
            <a:ext cx="1759551" cy="2153599"/>
          </a:xfrm>
          <a:custGeom>
            <a:avLst/>
            <a:gdLst/>
            <a:ahLst/>
            <a:cxnLst/>
            <a:rect l="l" t="t" r="r" b="b"/>
            <a:pathLst>
              <a:path w="1759551" h="2153599">
                <a:moveTo>
                  <a:pt x="1030341" y="2153599"/>
                </a:moveTo>
                <a:lnTo>
                  <a:pt x="983315" y="2114284"/>
                </a:lnTo>
                <a:lnTo>
                  <a:pt x="937159" y="2073952"/>
                </a:lnTo>
                <a:lnTo>
                  <a:pt x="891894" y="2032622"/>
                </a:lnTo>
                <a:lnTo>
                  <a:pt x="847542" y="1990314"/>
                </a:lnTo>
                <a:lnTo>
                  <a:pt x="804125" y="1947048"/>
                </a:lnTo>
                <a:lnTo>
                  <a:pt x="761661" y="1902844"/>
                </a:lnTo>
                <a:lnTo>
                  <a:pt x="720173" y="1857725"/>
                </a:lnTo>
                <a:lnTo>
                  <a:pt x="679680" y="1811710"/>
                </a:lnTo>
                <a:lnTo>
                  <a:pt x="640200" y="1764823"/>
                </a:lnTo>
                <a:lnTo>
                  <a:pt x="601754" y="1717085"/>
                </a:lnTo>
                <a:lnTo>
                  <a:pt x="564358" y="1668519"/>
                </a:lnTo>
                <a:lnTo>
                  <a:pt x="528032" y="1619148"/>
                </a:lnTo>
                <a:lnTo>
                  <a:pt x="492792" y="1568997"/>
                </a:lnTo>
                <a:lnTo>
                  <a:pt x="458655" y="1518088"/>
                </a:lnTo>
                <a:lnTo>
                  <a:pt x="425637" y="1466446"/>
                </a:lnTo>
                <a:lnTo>
                  <a:pt x="393754" y="1414096"/>
                </a:lnTo>
                <a:lnTo>
                  <a:pt x="363022" y="1361062"/>
                </a:lnTo>
                <a:lnTo>
                  <a:pt x="333454" y="1307370"/>
                </a:lnTo>
                <a:lnTo>
                  <a:pt x="305066" y="1253045"/>
                </a:lnTo>
                <a:lnTo>
                  <a:pt x="277870" y="1198114"/>
                </a:lnTo>
                <a:lnTo>
                  <a:pt x="251879" y="1142602"/>
                </a:lnTo>
                <a:lnTo>
                  <a:pt x="227107" y="1086537"/>
                </a:lnTo>
                <a:lnTo>
                  <a:pt x="203564" y="1029943"/>
                </a:lnTo>
                <a:lnTo>
                  <a:pt x="181262" y="972850"/>
                </a:lnTo>
                <a:lnTo>
                  <a:pt x="160211" y="915283"/>
                </a:lnTo>
                <a:lnTo>
                  <a:pt x="140422" y="857271"/>
                </a:lnTo>
                <a:lnTo>
                  <a:pt x="121904" y="798840"/>
                </a:lnTo>
                <a:lnTo>
                  <a:pt x="104666" y="740019"/>
                </a:lnTo>
                <a:lnTo>
                  <a:pt x="88715" y="680836"/>
                </a:lnTo>
                <a:lnTo>
                  <a:pt x="74061" y="621319"/>
                </a:lnTo>
                <a:lnTo>
                  <a:pt x="60709" y="561496"/>
                </a:lnTo>
                <a:lnTo>
                  <a:pt x="48666" y="501396"/>
                </a:lnTo>
                <a:lnTo>
                  <a:pt x="37937" y="441047"/>
                </a:lnTo>
                <a:lnTo>
                  <a:pt x="28529" y="380479"/>
                </a:lnTo>
                <a:lnTo>
                  <a:pt x="20444" y="319719"/>
                </a:lnTo>
                <a:lnTo>
                  <a:pt x="13688" y="258798"/>
                </a:lnTo>
                <a:lnTo>
                  <a:pt x="8264" y="197744"/>
                </a:lnTo>
                <a:lnTo>
                  <a:pt x="4173" y="136585"/>
                </a:lnTo>
                <a:lnTo>
                  <a:pt x="1418" y="75352"/>
                </a:lnTo>
                <a:lnTo>
                  <a:pt x="0" y="14074"/>
                </a:lnTo>
                <a:lnTo>
                  <a:pt x="1151914" y="0"/>
                </a:lnTo>
                <a:lnTo>
                  <a:pt x="1152750" y="36139"/>
                </a:lnTo>
                <a:lnTo>
                  <a:pt x="1154375" y="72250"/>
                </a:lnTo>
                <a:lnTo>
                  <a:pt x="1156787" y="108318"/>
                </a:lnTo>
                <a:lnTo>
                  <a:pt x="1159987" y="144324"/>
                </a:lnTo>
                <a:lnTo>
                  <a:pt x="1163971" y="180252"/>
                </a:lnTo>
                <a:lnTo>
                  <a:pt x="1168739" y="216085"/>
                </a:lnTo>
                <a:lnTo>
                  <a:pt x="1174287" y="251805"/>
                </a:lnTo>
                <a:lnTo>
                  <a:pt x="1180614" y="287395"/>
                </a:lnTo>
                <a:lnTo>
                  <a:pt x="1187717" y="322838"/>
                </a:lnTo>
                <a:lnTo>
                  <a:pt x="1195591" y="358119"/>
                </a:lnTo>
                <a:lnTo>
                  <a:pt x="1204233" y="393219"/>
                </a:lnTo>
                <a:lnTo>
                  <a:pt x="1213640" y="428121"/>
                </a:lnTo>
                <a:lnTo>
                  <a:pt x="1223806" y="462811"/>
                </a:lnTo>
                <a:lnTo>
                  <a:pt x="1234727" y="497270"/>
                </a:lnTo>
                <a:lnTo>
                  <a:pt x="1246397" y="531482"/>
                </a:lnTo>
                <a:lnTo>
                  <a:pt x="1258812" y="565432"/>
                </a:lnTo>
                <a:lnTo>
                  <a:pt x="1271964" y="599103"/>
                </a:lnTo>
                <a:lnTo>
                  <a:pt x="1285849" y="632478"/>
                </a:lnTo>
                <a:lnTo>
                  <a:pt x="1300458" y="665542"/>
                </a:lnTo>
                <a:lnTo>
                  <a:pt x="1315786" y="698280"/>
                </a:lnTo>
                <a:lnTo>
                  <a:pt x="1331825" y="730675"/>
                </a:lnTo>
                <a:lnTo>
                  <a:pt x="1348567" y="762713"/>
                </a:lnTo>
                <a:lnTo>
                  <a:pt x="1366004" y="794377"/>
                </a:lnTo>
                <a:lnTo>
                  <a:pt x="1384128" y="825654"/>
                </a:lnTo>
                <a:lnTo>
                  <a:pt x="1402931" y="856527"/>
                </a:lnTo>
                <a:lnTo>
                  <a:pt x="1422403" y="886982"/>
                </a:lnTo>
                <a:lnTo>
                  <a:pt x="1442535" y="917006"/>
                </a:lnTo>
                <a:lnTo>
                  <a:pt x="1463318" y="946582"/>
                </a:lnTo>
                <a:lnTo>
                  <a:pt x="1484741" y="975698"/>
                </a:lnTo>
                <a:lnTo>
                  <a:pt x="1506795" y="1004340"/>
                </a:lnTo>
                <a:lnTo>
                  <a:pt x="1529468" y="1032493"/>
                </a:lnTo>
                <a:lnTo>
                  <a:pt x="1552751" y="1060144"/>
                </a:lnTo>
                <a:lnTo>
                  <a:pt x="1576632" y="1087281"/>
                </a:lnTo>
                <a:lnTo>
                  <a:pt x="1601099" y="1113890"/>
                </a:lnTo>
                <a:lnTo>
                  <a:pt x="1626141" y="1139959"/>
                </a:lnTo>
                <a:lnTo>
                  <a:pt x="1651747" y="1165475"/>
                </a:lnTo>
                <a:lnTo>
                  <a:pt x="1677903" y="1190426"/>
                </a:lnTo>
                <a:lnTo>
                  <a:pt x="1704598" y="1214800"/>
                </a:lnTo>
                <a:lnTo>
                  <a:pt x="1731818" y="1238585"/>
                </a:lnTo>
                <a:lnTo>
                  <a:pt x="1759551" y="1261771"/>
                </a:lnTo>
                <a:close/>
              </a:path>
            </a:pathLst>
          </a:custGeom>
          <a:solidFill>
            <a:srgbClr val="E3E6E9"/>
          </a:solidFill>
          <a:ln/>
        </p:spPr>
      </p:sp>
      <p:sp>
        <p:nvSpPr>
          <p:cNvPr id="13" name="Shape 11"/>
          <p:cNvSpPr/>
          <p:nvPr/>
        </p:nvSpPr>
        <p:spPr>
          <a:xfrm>
            <a:off x="648210" y="4162170"/>
            <a:ext cx="1759551" cy="2153599"/>
          </a:xfrm>
          <a:custGeom>
            <a:avLst/>
            <a:gdLst/>
            <a:ahLst/>
            <a:cxnLst/>
            <a:rect l="l" t="t" r="r" b="b"/>
            <a:pathLst>
              <a:path w="1759551" h="2153599">
                <a:moveTo>
                  <a:pt x="0" y="2139525"/>
                </a:moveTo>
                <a:lnTo>
                  <a:pt x="1418" y="2078246"/>
                </a:lnTo>
                <a:lnTo>
                  <a:pt x="4173" y="2017013"/>
                </a:lnTo>
                <a:lnTo>
                  <a:pt x="8264" y="1955855"/>
                </a:lnTo>
                <a:lnTo>
                  <a:pt x="13688" y="1894801"/>
                </a:lnTo>
                <a:lnTo>
                  <a:pt x="20444" y="1833879"/>
                </a:lnTo>
                <a:lnTo>
                  <a:pt x="28529" y="1773120"/>
                </a:lnTo>
                <a:lnTo>
                  <a:pt x="37937" y="1712552"/>
                </a:lnTo>
                <a:lnTo>
                  <a:pt x="48666" y="1652203"/>
                </a:lnTo>
                <a:lnTo>
                  <a:pt x="60709" y="1592103"/>
                </a:lnTo>
                <a:lnTo>
                  <a:pt x="74061" y="1532280"/>
                </a:lnTo>
                <a:lnTo>
                  <a:pt x="88715" y="1472763"/>
                </a:lnTo>
                <a:lnTo>
                  <a:pt x="104666" y="1413579"/>
                </a:lnTo>
                <a:lnTo>
                  <a:pt x="121904" y="1354759"/>
                </a:lnTo>
                <a:lnTo>
                  <a:pt x="140422" y="1296328"/>
                </a:lnTo>
                <a:lnTo>
                  <a:pt x="160211" y="1238315"/>
                </a:lnTo>
                <a:lnTo>
                  <a:pt x="181262" y="1180749"/>
                </a:lnTo>
                <a:lnTo>
                  <a:pt x="203564" y="1123655"/>
                </a:lnTo>
                <a:lnTo>
                  <a:pt x="227107" y="1067062"/>
                </a:lnTo>
                <a:lnTo>
                  <a:pt x="251879" y="1010996"/>
                </a:lnTo>
                <a:lnTo>
                  <a:pt x="277870" y="955484"/>
                </a:lnTo>
                <a:lnTo>
                  <a:pt x="305066" y="900553"/>
                </a:lnTo>
                <a:lnTo>
                  <a:pt x="333454" y="846229"/>
                </a:lnTo>
                <a:lnTo>
                  <a:pt x="363022" y="792537"/>
                </a:lnTo>
                <a:lnTo>
                  <a:pt x="393754" y="739503"/>
                </a:lnTo>
                <a:lnTo>
                  <a:pt x="425637" y="687153"/>
                </a:lnTo>
                <a:lnTo>
                  <a:pt x="458655" y="635511"/>
                </a:lnTo>
                <a:lnTo>
                  <a:pt x="492792" y="584602"/>
                </a:lnTo>
                <a:lnTo>
                  <a:pt x="528032" y="534450"/>
                </a:lnTo>
                <a:lnTo>
                  <a:pt x="564358" y="485080"/>
                </a:lnTo>
                <a:lnTo>
                  <a:pt x="601754" y="436514"/>
                </a:lnTo>
                <a:lnTo>
                  <a:pt x="640200" y="388776"/>
                </a:lnTo>
                <a:lnTo>
                  <a:pt x="679680" y="341888"/>
                </a:lnTo>
                <a:lnTo>
                  <a:pt x="720173" y="295874"/>
                </a:lnTo>
                <a:lnTo>
                  <a:pt x="761661" y="250754"/>
                </a:lnTo>
                <a:lnTo>
                  <a:pt x="804125" y="206551"/>
                </a:lnTo>
                <a:lnTo>
                  <a:pt x="847542" y="163285"/>
                </a:lnTo>
                <a:lnTo>
                  <a:pt x="891894" y="120977"/>
                </a:lnTo>
                <a:lnTo>
                  <a:pt x="937159" y="79647"/>
                </a:lnTo>
                <a:lnTo>
                  <a:pt x="983315" y="39315"/>
                </a:lnTo>
                <a:lnTo>
                  <a:pt x="1030341" y="0"/>
                </a:lnTo>
                <a:lnTo>
                  <a:pt x="1759551" y="891828"/>
                </a:lnTo>
                <a:lnTo>
                  <a:pt x="1731818" y="915013"/>
                </a:lnTo>
                <a:lnTo>
                  <a:pt x="1704598" y="938799"/>
                </a:lnTo>
                <a:lnTo>
                  <a:pt x="1677903" y="963173"/>
                </a:lnTo>
                <a:lnTo>
                  <a:pt x="1651747" y="988124"/>
                </a:lnTo>
                <a:lnTo>
                  <a:pt x="1626141" y="1013640"/>
                </a:lnTo>
                <a:lnTo>
                  <a:pt x="1601099" y="1039708"/>
                </a:lnTo>
                <a:lnTo>
                  <a:pt x="1576632" y="1066317"/>
                </a:lnTo>
                <a:lnTo>
                  <a:pt x="1552751" y="1093454"/>
                </a:lnTo>
                <a:lnTo>
                  <a:pt x="1529468" y="1121106"/>
                </a:lnTo>
                <a:lnTo>
                  <a:pt x="1506795" y="1149259"/>
                </a:lnTo>
                <a:lnTo>
                  <a:pt x="1484741" y="1177900"/>
                </a:lnTo>
                <a:lnTo>
                  <a:pt x="1463318" y="1207016"/>
                </a:lnTo>
                <a:lnTo>
                  <a:pt x="1442535" y="1236593"/>
                </a:lnTo>
                <a:lnTo>
                  <a:pt x="1422403" y="1266616"/>
                </a:lnTo>
                <a:lnTo>
                  <a:pt x="1402931" y="1297072"/>
                </a:lnTo>
                <a:lnTo>
                  <a:pt x="1384128" y="1327945"/>
                </a:lnTo>
                <a:lnTo>
                  <a:pt x="1366004" y="1359221"/>
                </a:lnTo>
                <a:lnTo>
                  <a:pt x="1348567" y="1390886"/>
                </a:lnTo>
                <a:lnTo>
                  <a:pt x="1331825" y="1422923"/>
                </a:lnTo>
                <a:lnTo>
                  <a:pt x="1315786" y="1455318"/>
                </a:lnTo>
                <a:lnTo>
                  <a:pt x="1300458" y="1488056"/>
                </a:lnTo>
                <a:lnTo>
                  <a:pt x="1285849" y="1521121"/>
                </a:lnTo>
                <a:lnTo>
                  <a:pt x="1271964" y="1554496"/>
                </a:lnTo>
                <a:lnTo>
                  <a:pt x="1258812" y="1588167"/>
                </a:lnTo>
                <a:lnTo>
                  <a:pt x="1246397" y="1622116"/>
                </a:lnTo>
                <a:lnTo>
                  <a:pt x="1234727" y="1656329"/>
                </a:lnTo>
                <a:lnTo>
                  <a:pt x="1223806" y="1690788"/>
                </a:lnTo>
                <a:lnTo>
                  <a:pt x="1213640" y="1725477"/>
                </a:lnTo>
                <a:lnTo>
                  <a:pt x="1204233" y="1760380"/>
                </a:lnTo>
                <a:lnTo>
                  <a:pt x="1195591" y="1795480"/>
                </a:lnTo>
                <a:lnTo>
                  <a:pt x="1187717" y="1830760"/>
                </a:lnTo>
                <a:lnTo>
                  <a:pt x="1180614" y="1866204"/>
                </a:lnTo>
                <a:lnTo>
                  <a:pt x="1174287" y="1901794"/>
                </a:lnTo>
                <a:lnTo>
                  <a:pt x="1168739" y="1937514"/>
                </a:lnTo>
                <a:lnTo>
                  <a:pt x="1163971" y="1973346"/>
                </a:lnTo>
                <a:lnTo>
                  <a:pt x="1159987" y="2009274"/>
                </a:lnTo>
                <a:lnTo>
                  <a:pt x="1156787" y="2045281"/>
                </a:lnTo>
                <a:lnTo>
                  <a:pt x="1154375" y="2081348"/>
                </a:lnTo>
                <a:lnTo>
                  <a:pt x="1152750" y="2117460"/>
                </a:lnTo>
                <a:lnTo>
                  <a:pt x="1151914" y="2153599"/>
                </a:lnTo>
                <a:close/>
              </a:path>
            </a:pathLst>
          </a:custGeom>
          <a:solidFill>
            <a:srgbClr val="E3E6E9"/>
          </a:solidFill>
          <a:ln/>
        </p:spPr>
      </p:sp>
      <p:sp>
        <p:nvSpPr>
          <p:cNvPr id="14" name="Shape 12"/>
          <p:cNvSpPr/>
          <p:nvPr/>
        </p:nvSpPr>
        <p:spPr>
          <a:xfrm>
            <a:off x="1732192" y="3528052"/>
            <a:ext cx="2315155" cy="1500717"/>
          </a:xfrm>
          <a:custGeom>
            <a:avLst/>
            <a:gdLst/>
            <a:ahLst/>
            <a:cxnLst/>
            <a:rect l="l" t="t" r="r" b="b"/>
            <a:pathLst>
              <a:path w="2315155" h="1500717">
                <a:moveTo>
                  <a:pt x="0" y="591340"/>
                </a:moveTo>
                <a:lnTo>
                  <a:pt x="48793" y="554242"/>
                </a:lnTo>
                <a:lnTo>
                  <a:pt x="98385" y="518217"/>
                </a:lnTo>
                <a:lnTo>
                  <a:pt x="148751" y="483284"/>
                </a:lnTo>
                <a:lnTo>
                  <a:pt x="199867" y="449459"/>
                </a:lnTo>
                <a:lnTo>
                  <a:pt x="251710" y="416757"/>
                </a:lnTo>
                <a:lnTo>
                  <a:pt x="304254" y="385195"/>
                </a:lnTo>
                <a:lnTo>
                  <a:pt x="357475" y="354787"/>
                </a:lnTo>
                <a:lnTo>
                  <a:pt x="411346" y="325548"/>
                </a:lnTo>
                <a:lnTo>
                  <a:pt x="465843" y="297492"/>
                </a:lnTo>
                <a:lnTo>
                  <a:pt x="520939" y="270632"/>
                </a:lnTo>
                <a:lnTo>
                  <a:pt x="576609" y="244981"/>
                </a:lnTo>
                <a:lnTo>
                  <a:pt x="632825" y="220551"/>
                </a:lnTo>
                <a:lnTo>
                  <a:pt x="689561" y="197354"/>
                </a:lnTo>
                <a:lnTo>
                  <a:pt x="746789" y="175401"/>
                </a:lnTo>
                <a:lnTo>
                  <a:pt x="804484" y="154703"/>
                </a:lnTo>
                <a:lnTo>
                  <a:pt x="862616" y="135269"/>
                </a:lnTo>
                <a:lnTo>
                  <a:pt x="921159" y="117108"/>
                </a:lnTo>
                <a:lnTo>
                  <a:pt x="980084" y="100229"/>
                </a:lnTo>
                <a:lnTo>
                  <a:pt x="1039363" y="84641"/>
                </a:lnTo>
                <a:lnTo>
                  <a:pt x="1098969" y="70350"/>
                </a:lnTo>
                <a:lnTo>
                  <a:pt x="1158872" y="57364"/>
                </a:lnTo>
                <a:lnTo>
                  <a:pt x="1219045" y="45688"/>
                </a:lnTo>
                <a:lnTo>
                  <a:pt x="1279458" y="35328"/>
                </a:lnTo>
                <a:lnTo>
                  <a:pt x="1340083" y="26290"/>
                </a:lnTo>
                <a:lnTo>
                  <a:pt x="1400890" y="18577"/>
                </a:lnTo>
                <a:lnTo>
                  <a:pt x="1461852" y="12193"/>
                </a:lnTo>
                <a:lnTo>
                  <a:pt x="1522938" y="7141"/>
                </a:lnTo>
                <a:lnTo>
                  <a:pt x="1584120" y="3424"/>
                </a:lnTo>
                <a:lnTo>
                  <a:pt x="1645369" y="1043"/>
                </a:lnTo>
                <a:lnTo>
                  <a:pt x="1706655" y="0"/>
                </a:lnTo>
                <a:lnTo>
                  <a:pt x="1767949" y="295"/>
                </a:lnTo>
                <a:lnTo>
                  <a:pt x="1829222" y="1927"/>
                </a:lnTo>
                <a:lnTo>
                  <a:pt x="1890445" y="4896"/>
                </a:lnTo>
                <a:lnTo>
                  <a:pt x="1951588" y="9201"/>
                </a:lnTo>
                <a:lnTo>
                  <a:pt x="2012623" y="14840"/>
                </a:lnTo>
                <a:lnTo>
                  <a:pt x="2073521" y="21810"/>
                </a:lnTo>
                <a:lnTo>
                  <a:pt x="2134251" y="30107"/>
                </a:lnTo>
                <a:lnTo>
                  <a:pt x="2194786" y="39727"/>
                </a:lnTo>
                <a:lnTo>
                  <a:pt x="2255097" y="50667"/>
                </a:lnTo>
                <a:lnTo>
                  <a:pt x="2315155" y="62921"/>
                </a:lnTo>
                <a:lnTo>
                  <a:pt x="2072551" y="1189086"/>
                </a:lnTo>
                <a:lnTo>
                  <a:pt x="2037132" y="1181859"/>
                </a:lnTo>
                <a:lnTo>
                  <a:pt x="2001564" y="1175407"/>
                </a:lnTo>
                <a:lnTo>
                  <a:pt x="1965864" y="1169734"/>
                </a:lnTo>
                <a:lnTo>
                  <a:pt x="1930049" y="1164841"/>
                </a:lnTo>
                <a:lnTo>
                  <a:pt x="1894135" y="1160730"/>
                </a:lnTo>
                <a:lnTo>
                  <a:pt x="1858140" y="1157405"/>
                </a:lnTo>
                <a:lnTo>
                  <a:pt x="1822081" y="1154866"/>
                </a:lnTo>
                <a:lnTo>
                  <a:pt x="1785975" y="1153115"/>
                </a:lnTo>
                <a:lnTo>
                  <a:pt x="1749840" y="1152152"/>
                </a:lnTo>
                <a:lnTo>
                  <a:pt x="1713692" y="1151979"/>
                </a:lnTo>
                <a:lnTo>
                  <a:pt x="1677549" y="1152594"/>
                </a:lnTo>
                <a:lnTo>
                  <a:pt x="1641428" y="1153998"/>
                </a:lnTo>
                <a:lnTo>
                  <a:pt x="1605346" y="1156190"/>
                </a:lnTo>
                <a:lnTo>
                  <a:pt x="1569321" y="1159169"/>
                </a:lnTo>
                <a:lnTo>
                  <a:pt x="1533369" y="1162934"/>
                </a:lnTo>
                <a:lnTo>
                  <a:pt x="1497508" y="1167483"/>
                </a:lnTo>
                <a:lnTo>
                  <a:pt x="1461755" y="1172813"/>
                </a:lnTo>
                <a:lnTo>
                  <a:pt x="1426127" y="1178923"/>
                </a:lnTo>
                <a:lnTo>
                  <a:pt x="1390641" y="1185808"/>
                </a:lnTo>
                <a:lnTo>
                  <a:pt x="1355313" y="1193467"/>
                </a:lnTo>
                <a:lnTo>
                  <a:pt x="1320161" y="1201895"/>
                </a:lnTo>
                <a:lnTo>
                  <a:pt x="1285201" y="1211088"/>
                </a:lnTo>
                <a:lnTo>
                  <a:pt x="1250451" y="1221042"/>
                </a:lnTo>
                <a:lnTo>
                  <a:pt x="1215925" y="1231752"/>
                </a:lnTo>
                <a:lnTo>
                  <a:pt x="1181642" y="1243214"/>
                </a:lnTo>
                <a:lnTo>
                  <a:pt x="1147617" y="1255420"/>
                </a:lnTo>
                <a:lnTo>
                  <a:pt x="1113867" y="1268367"/>
                </a:lnTo>
                <a:lnTo>
                  <a:pt x="1080408" y="1282047"/>
                </a:lnTo>
                <a:lnTo>
                  <a:pt x="1047254" y="1296454"/>
                </a:lnTo>
                <a:lnTo>
                  <a:pt x="1014424" y="1311582"/>
                </a:lnTo>
                <a:lnTo>
                  <a:pt x="981931" y="1327422"/>
                </a:lnTo>
                <a:lnTo>
                  <a:pt x="949792" y="1343968"/>
                </a:lnTo>
                <a:lnTo>
                  <a:pt x="918021" y="1361212"/>
                </a:lnTo>
                <a:lnTo>
                  <a:pt x="886635" y="1379145"/>
                </a:lnTo>
                <a:lnTo>
                  <a:pt x="855647" y="1397758"/>
                </a:lnTo>
                <a:lnTo>
                  <a:pt x="825074" y="1417044"/>
                </a:lnTo>
                <a:lnTo>
                  <a:pt x="794928" y="1436992"/>
                </a:lnTo>
                <a:lnTo>
                  <a:pt x="765225" y="1457594"/>
                </a:lnTo>
                <a:lnTo>
                  <a:pt x="735979" y="1478839"/>
                </a:lnTo>
                <a:lnTo>
                  <a:pt x="707203" y="1500717"/>
                </a:lnTo>
                <a:close/>
              </a:path>
            </a:pathLst>
          </a:custGeom>
          <a:solidFill>
            <a:srgbClr val="E3E6E9"/>
          </a:solidFill>
          <a:ln/>
        </p:spPr>
      </p:sp>
      <p:sp>
        <p:nvSpPr>
          <p:cNvPr id="15" name="Shape 13"/>
          <p:cNvSpPr/>
          <p:nvPr/>
        </p:nvSpPr>
        <p:spPr>
          <a:xfrm>
            <a:off x="3844191" y="3606240"/>
            <a:ext cx="2126656" cy="1993074"/>
          </a:xfrm>
          <a:custGeom>
            <a:avLst/>
            <a:gdLst/>
            <a:ahLst/>
            <a:cxnLst/>
            <a:rect l="l" t="t" r="r" b="b"/>
            <a:pathLst>
              <a:path w="2126656" h="1993074">
                <a:moveTo>
                  <a:pt x="270046" y="0"/>
                </a:moveTo>
                <a:lnTo>
                  <a:pt x="329473" y="15018"/>
                </a:lnTo>
                <a:lnTo>
                  <a:pt x="388557" y="31329"/>
                </a:lnTo>
                <a:lnTo>
                  <a:pt x="447272" y="48927"/>
                </a:lnTo>
                <a:lnTo>
                  <a:pt x="505588" y="67801"/>
                </a:lnTo>
                <a:lnTo>
                  <a:pt x="563479" y="87944"/>
                </a:lnTo>
                <a:lnTo>
                  <a:pt x="620916" y="109346"/>
                </a:lnTo>
                <a:lnTo>
                  <a:pt x="677872" y="131997"/>
                </a:lnTo>
                <a:lnTo>
                  <a:pt x="734320" y="155885"/>
                </a:lnTo>
                <a:lnTo>
                  <a:pt x="790234" y="181000"/>
                </a:lnTo>
                <a:lnTo>
                  <a:pt x="845586" y="207329"/>
                </a:lnTo>
                <a:lnTo>
                  <a:pt x="900350" y="234860"/>
                </a:lnTo>
                <a:lnTo>
                  <a:pt x="954500" y="263580"/>
                </a:lnTo>
                <a:lnTo>
                  <a:pt x="1008010" y="293474"/>
                </a:lnTo>
                <a:lnTo>
                  <a:pt x="1060855" y="324530"/>
                </a:lnTo>
                <a:lnTo>
                  <a:pt x="1113010" y="356732"/>
                </a:lnTo>
                <a:lnTo>
                  <a:pt x="1164449" y="390065"/>
                </a:lnTo>
                <a:lnTo>
                  <a:pt x="1215148" y="424512"/>
                </a:lnTo>
                <a:lnTo>
                  <a:pt x="1265084" y="460058"/>
                </a:lnTo>
                <a:lnTo>
                  <a:pt x="1314232" y="496685"/>
                </a:lnTo>
                <a:lnTo>
                  <a:pt x="1362568" y="534377"/>
                </a:lnTo>
                <a:lnTo>
                  <a:pt x="1410070" y="573114"/>
                </a:lnTo>
                <a:lnTo>
                  <a:pt x="1456716" y="612879"/>
                </a:lnTo>
                <a:lnTo>
                  <a:pt x="1502482" y="653653"/>
                </a:lnTo>
                <a:lnTo>
                  <a:pt x="1547348" y="695416"/>
                </a:lnTo>
                <a:lnTo>
                  <a:pt x="1591291" y="738149"/>
                </a:lnTo>
                <a:lnTo>
                  <a:pt x="1634291" y="781830"/>
                </a:lnTo>
                <a:lnTo>
                  <a:pt x="1676327" y="826439"/>
                </a:lnTo>
                <a:lnTo>
                  <a:pt x="1717380" y="871956"/>
                </a:lnTo>
                <a:lnTo>
                  <a:pt x="1757429" y="918357"/>
                </a:lnTo>
                <a:lnTo>
                  <a:pt x="1796456" y="965622"/>
                </a:lnTo>
                <a:lnTo>
                  <a:pt x="1834442" y="1013728"/>
                </a:lnTo>
                <a:lnTo>
                  <a:pt x="1871369" y="1062651"/>
                </a:lnTo>
                <a:lnTo>
                  <a:pt x="1907219" y="1112368"/>
                </a:lnTo>
                <a:lnTo>
                  <a:pt x="1941975" y="1162856"/>
                </a:lnTo>
                <a:lnTo>
                  <a:pt x="1975622" y="1214091"/>
                </a:lnTo>
                <a:lnTo>
                  <a:pt x="2008142" y="1266048"/>
                </a:lnTo>
                <a:lnTo>
                  <a:pt x="2039520" y="1318702"/>
                </a:lnTo>
                <a:lnTo>
                  <a:pt x="2069741" y="1372029"/>
                </a:lnTo>
                <a:lnTo>
                  <a:pt x="2098791" y="1426002"/>
                </a:lnTo>
                <a:lnTo>
                  <a:pt x="2126656" y="1480597"/>
                </a:lnTo>
                <a:lnTo>
                  <a:pt x="1094924" y="1993074"/>
                </a:lnTo>
                <a:lnTo>
                  <a:pt x="1078491" y="1960877"/>
                </a:lnTo>
                <a:lnTo>
                  <a:pt x="1061358" y="1929046"/>
                </a:lnTo>
                <a:lnTo>
                  <a:pt x="1043536" y="1897597"/>
                </a:lnTo>
                <a:lnTo>
                  <a:pt x="1025031" y="1866545"/>
                </a:lnTo>
                <a:lnTo>
                  <a:pt x="1005852" y="1835904"/>
                </a:lnTo>
                <a:lnTo>
                  <a:pt x="986010" y="1805688"/>
                </a:lnTo>
                <a:lnTo>
                  <a:pt x="965512" y="1775913"/>
                </a:lnTo>
                <a:lnTo>
                  <a:pt x="944370" y="1746593"/>
                </a:lnTo>
                <a:lnTo>
                  <a:pt x="922592" y="1717741"/>
                </a:lnTo>
                <a:lnTo>
                  <a:pt x="900190" y="1689371"/>
                </a:lnTo>
                <a:lnTo>
                  <a:pt x="877174" y="1661497"/>
                </a:lnTo>
                <a:lnTo>
                  <a:pt x="853556" y="1634132"/>
                </a:lnTo>
                <a:lnTo>
                  <a:pt x="829345" y="1607289"/>
                </a:lnTo>
                <a:lnTo>
                  <a:pt x="804555" y="1580981"/>
                </a:lnTo>
                <a:lnTo>
                  <a:pt x="779196" y="1555220"/>
                </a:lnTo>
                <a:lnTo>
                  <a:pt x="753280" y="1530019"/>
                </a:lnTo>
                <a:lnTo>
                  <a:pt x="726821" y="1505389"/>
                </a:lnTo>
                <a:lnTo>
                  <a:pt x="699831" y="1481343"/>
                </a:lnTo>
                <a:lnTo>
                  <a:pt x="672322" y="1457892"/>
                </a:lnTo>
                <a:lnTo>
                  <a:pt x="644308" y="1435047"/>
                </a:lnTo>
                <a:lnTo>
                  <a:pt x="615802" y="1412818"/>
                </a:lnTo>
                <a:lnTo>
                  <a:pt x="586817" y="1391218"/>
                </a:lnTo>
                <a:lnTo>
                  <a:pt x="557368" y="1370255"/>
                </a:lnTo>
                <a:lnTo>
                  <a:pt x="527468" y="1349940"/>
                </a:lnTo>
                <a:lnTo>
                  <a:pt x="497132" y="1330282"/>
                </a:lnTo>
                <a:lnTo>
                  <a:pt x="466375" y="1311291"/>
                </a:lnTo>
                <a:lnTo>
                  <a:pt x="435210" y="1292976"/>
                </a:lnTo>
                <a:lnTo>
                  <a:pt x="403652" y="1275346"/>
                </a:lnTo>
                <a:lnTo>
                  <a:pt x="371718" y="1258408"/>
                </a:lnTo>
                <a:lnTo>
                  <a:pt x="339421" y="1242172"/>
                </a:lnTo>
                <a:lnTo>
                  <a:pt x="306777" y="1226645"/>
                </a:lnTo>
                <a:lnTo>
                  <a:pt x="273803" y="1211833"/>
                </a:lnTo>
                <a:lnTo>
                  <a:pt x="240513" y="1197746"/>
                </a:lnTo>
                <a:lnTo>
                  <a:pt x="206923" y="1184388"/>
                </a:lnTo>
                <a:lnTo>
                  <a:pt x="173050" y="1171766"/>
                </a:lnTo>
                <a:lnTo>
                  <a:pt x="138909" y="1159887"/>
                </a:lnTo>
                <a:lnTo>
                  <a:pt x="104518" y="1148756"/>
                </a:lnTo>
                <a:lnTo>
                  <a:pt x="69891" y="1138378"/>
                </a:lnTo>
                <a:lnTo>
                  <a:pt x="35046" y="1128758"/>
                </a:lnTo>
                <a:lnTo>
                  <a:pt x="0" y="1119901"/>
                </a:lnTo>
                <a:close/>
              </a:path>
            </a:pathLst>
          </a:custGeom>
          <a:solidFill>
            <a:srgbClr val="E3E6E9"/>
          </a:solidFill>
          <a:ln/>
        </p:spPr>
      </p:sp>
      <p:sp>
        <p:nvSpPr>
          <p:cNvPr id="16" name="Shape 14"/>
          <p:cNvSpPr/>
          <p:nvPr/>
        </p:nvSpPr>
        <p:spPr>
          <a:xfrm>
            <a:off x="1908000" y="4788000"/>
            <a:ext cx="3096000" cy="3096000"/>
          </a:xfrm>
          <a:prstGeom prst="ellipse">
            <a:avLst/>
          </a:prstGeom>
          <a:solidFill>
            <a:srgbClr val="F5F4F1"/>
          </a:solidFill>
          <a:ln/>
        </p:spPr>
      </p:sp>
      <p:sp>
        <p:nvSpPr>
          <p:cNvPr id="17" name="Shape 15"/>
          <p:cNvSpPr/>
          <p:nvPr/>
        </p:nvSpPr>
        <p:spPr>
          <a:xfrm>
            <a:off x="2376000" y="5256000"/>
            <a:ext cx="2160000" cy="21600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9AD82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2376000" y="4968000"/>
            <a:ext cx="216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三菱商事｜総合力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20000" y="5904000"/>
            <a:ext cx="187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三綱領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520000" y="6156000"/>
            <a:ext cx="18720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6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所期奉公</a:t>
            </a:r>
            <a:endParaRPr lang="en-US" sz="76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76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処事光明</a:t>
            </a:r>
            <a:endParaRPr lang="en-US" sz="76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76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立業貿易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5184000" y="6084000"/>
            <a:ext cx="1008000" cy="5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金属資源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グループ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4000" y="9432000"/>
            <a:ext cx="612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4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7つの営業グループのうち、長年三菱商事を支えてきた中核グループの一つ。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504000" y="9792000"/>
            <a:ext cx="6120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5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三綱領を企業理念とし、幅広い産業と地域にまたがる事業と人のつながり＝「総合力」で価値を生み出しています。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504000" y="10332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spc="15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8280000" y="2592000"/>
            <a:ext cx="61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60" kern="0" dirty="0">
                <a:solidFill>
                  <a:srgbClr val="A862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MISSION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グループミッション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80000" y="2880000"/>
            <a:ext cx="6120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社会が必要とする良質な金属資源を、持続可能な形で安定供給することで、より良い社会の実現に寄与する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80000" y="4032000"/>
            <a:ext cx="43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60" kern="0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JOURNEY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先見性をもって、先手を打ってきた歩み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424000" y="4464000"/>
            <a:ext cx="36" cy="4536000"/>
          </a:xfrm>
          <a:prstGeom prst="line">
            <a:avLst/>
          </a:prstGeom>
          <a:noFill/>
          <a:ln w="12700">
            <a:solidFill>
              <a:srgbClr val="A8622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59200" y="4471200"/>
            <a:ext cx="129600" cy="129600"/>
          </a:xfrm>
          <a:prstGeom prst="ellipse">
            <a:avLst/>
          </a:prstGeom>
          <a:solidFill>
            <a:srgbClr val="121519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12000" y="4428000"/>
            <a:ext cx="108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1980–90s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864000" y="4428000"/>
            <a:ext cx="21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日本の産業に、資源を。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864000" y="4644000"/>
            <a:ext cx="39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4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トレーディングで資源に関わり、少数出資から事業へ。</a:t>
            </a:r>
            <a:endParaRPr lang="en-US" sz="640" dirty="0"/>
          </a:p>
        </p:txBody>
      </p:sp>
      <p:sp>
        <p:nvSpPr>
          <p:cNvPr id="33" name="Shape 31"/>
          <p:cNvSpPr/>
          <p:nvPr/>
        </p:nvSpPr>
        <p:spPr>
          <a:xfrm>
            <a:off x="8359200" y="5407200"/>
            <a:ext cx="129600" cy="129600"/>
          </a:xfrm>
          <a:prstGeom prst="ellipse">
            <a:avLst/>
          </a:prstGeom>
          <a:solidFill>
            <a:srgbClr val="121519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12000" y="5364000"/>
            <a:ext cx="108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1990s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864000" y="5364000"/>
            <a:ext cx="21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仲介から、担い手へ。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864000" y="5580000"/>
            <a:ext cx="39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4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資産を持つ投資モデルへ転換し、JV運営の知見を蓄える。</a:t>
            </a:r>
            <a:endParaRPr lang="en-US" sz="640" dirty="0"/>
          </a:p>
        </p:txBody>
      </p:sp>
      <p:sp>
        <p:nvSpPr>
          <p:cNvPr id="37" name="Shape 35"/>
          <p:cNvSpPr/>
          <p:nvPr/>
        </p:nvSpPr>
        <p:spPr>
          <a:xfrm>
            <a:off x="8359200" y="6343200"/>
            <a:ext cx="129600" cy="129600"/>
          </a:xfrm>
          <a:prstGeom prst="ellipse">
            <a:avLst/>
          </a:prstGeom>
          <a:solidFill>
            <a:srgbClr val="A8622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12000" y="6300000"/>
            <a:ext cx="108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2000s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864000" y="6300000"/>
            <a:ext cx="21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一級資産に、早くから。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9864000" y="6516000"/>
            <a:ext cx="39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4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BHPとの折半出資でBMAを組成し、事業経営に参画。</a:t>
            </a:r>
            <a:endParaRPr lang="en-US" sz="640" dirty="0"/>
          </a:p>
        </p:txBody>
      </p:sp>
      <p:sp>
        <p:nvSpPr>
          <p:cNvPr id="41" name="Shape 39"/>
          <p:cNvSpPr/>
          <p:nvPr/>
        </p:nvSpPr>
        <p:spPr>
          <a:xfrm>
            <a:off x="8359200" y="7279200"/>
            <a:ext cx="129600" cy="129600"/>
          </a:xfrm>
          <a:prstGeom prst="ellipse">
            <a:avLst/>
          </a:prstGeom>
          <a:solidFill>
            <a:srgbClr val="A8622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12000" y="7236000"/>
            <a:ext cx="108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2010s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864000" y="7236000"/>
            <a:ext cx="21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次の柱を、先回りして。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9864000" y="7452000"/>
            <a:ext cx="39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4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銅へ領域を拡大。販売機能をRtMに集約。</a:t>
            </a:r>
            <a:endParaRPr lang="en-US" sz="640" dirty="0"/>
          </a:p>
        </p:txBody>
      </p:sp>
      <p:sp>
        <p:nvSpPr>
          <p:cNvPr id="45" name="Shape 43"/>
          <p:cNvSpPr/>
          <p:nvPr/>
        </p:nvSpPr>
        <p:spPr>
          <a:xfrm>
            <a:off x="8359200" y="8215200"/>
            <a:ext cx="129600" cy="129600"/>
          </a:xfrm>
          <a:prstGeom prst="ellipse">
            <a:avLst/>
          </a:prstGeom>
          <a:solidFill>
            <a:srgbClr val="121519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12000" y="8172000"/>
            <a:ext cx="108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2020s–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864000" y="8172000"/>
            <a:ext cx="21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投資と販売を、一つの力に。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9864000" y="8388000"/>
            <a:ext cx="39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4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両輪を一体で動かす、グローバルな事業者へ。</a:t>
            </a:r>
            <a:endParaRPr lang="en-US" sz="640" dirty="0"/>
          </a:p>
        </p:txBody>
      </p:sp>
      <p:sp>
        <p:nvSpPr>
          <p:cNvPr id="49" name="Text 47"/>
          <p:cNvSpPr/>
          <p:nvPr/>
        </p:nvSpPr>
        <p:spPr>
          <a:xfrm>
            <a:off x="8280000" y="9432000"/>
            <a:ext cx="6120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4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市況の波を越えて事業に関わり続け、長年にわたり全社の利益を支える屋台骨に。</a:t>
            </a:r>
            <a:endParaRPr lang="en-US" sz="840" dirty="0"/>
          </a:p>
        </p:txBody>
      </p:sp>
      <p:sp>
        <p:nvSpPr>
          <p:cNvPr id="50" name="Text 48"/>
          <p:cNvSpPr/>
          <p:nvPr/>
        </p:nvSpPr>
        <p:spPr>
          <a:xfrm>
            <a:off x="13896000" y="10332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spc="15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137160" y="103784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P4–5 案B｜総合力の構造図にミッションと歩みを重ねる構成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64000" y="-216000"/>
            <a:ext cx="2872800" cy="259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9000" spc="-600" kern="0" dirty="0">
                <a:ln w="7620">
                  <a:solidFill>
                    <a:srgbClr val="D9DDE1"/>
                  </a:solidFill>
                </a:ln>
                <a:solidFill>
                  <a:srgbClr val="FFFFFF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02</a:t>
            </a:r>
            <a:endParaRPr lang="en-US" sz="19000" dirty="0"/>
          </a:p>
        </p:txBody>
      </p:sp>
      <p:sp>
        <p:nvSpPr>
          <p:cNvPr id="3" name="Text 1"/>
          <p:cNvSpPr/>
          <p:nvPr/>
        </p:nvSpPr>
        <p:spPr>
          <a:xfrm>
            <a:off x="504000" y="576000"/>
            <a:ext cx="43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60" kern="0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02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独自価値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4000" y="828000"/>
            <a:ext cx="6624000" cy="107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b="1" spc="-60" kern="0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Our Distinctive</a:t>
            </a:r>
            <a:endParaRPr lang="en-US" sz="36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600" b="1" spc="-60" kern="0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Strength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4000" y="1872000"/>
            <a:ext cx="252000" cy="1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504000" y="1980000"/>
            <a:ext cx="6480000" cy="28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投資とトレーディングの両輪で、資源の流れ全体に関わる。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992000" y="756000"/>
            <a:ext cx="6624000" cy="61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spc="-60" kern="0" dirty="0">
                <a:solidFill>
                  <a:srgbClr val="3D424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Not a miner.</a:t>
            </a:r>
            <a:endParaRPr lang="en-US" sz="18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800" spc="-60" kern="0" dirty="0">
                <a:solidFill>
                  <a:srgbClr val="3D4249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Not just a trader.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992000" y="1368000"/>
            <a:ext cx="6624000" cy="8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65000"/>
              </a:lnSpc>
              <a:buNone/>
            </a:pPr>
            <a:r>
              <a:rPr lang="en-US" sz="78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源に投資して育てる力と、市場へ届ける力。その両方を持ち、互いを強め合いながら長い時間をかけて積み重ねてきたこと。それが、鉱山会社でも純粋なトレーダーでもない、金属資源グループならではの強さです。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1080000" y="2736000"/>
            <a:ext cx="11988000" cy="378000"/>
          </a:xfrm>
          <a:custGeom>
            <a:avLst/>
            <a:gdLst/>
            <a:ahLst/>
            <a:cxnLst/>
            <a:rect l="l" t="t" r="r" b="b"/>
            <a:pathLst>
              <a:path w="11988000" h="378000">
                <a:moveTo>
                  <a:pt x="11988000" y="324000"/>
                </a:moveTo>
                <a:lnTo>
                  <a:pt x="11988000" y="0"/>
                </a:lnTo>
                <a:lnTo>
                  <a:pt x="0" y="0"/>
                </a:lnTo>
                <a:lnTo>
                  <a:pt x="0" y="378000"/>
                </a:lnTo>
              </a:path>
            </a:pathLst>
          </a:custGeom>
          <a:ln w="12700">
            <a:solidFill>
              <a:srgbClr val="1F3A56"/>
            </a:solidFill>
            <a:prstDash val="dash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56000" y="2646000"/>
            <a:ext cx="3312000" cy="18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456000" y="2664000"/>
            <a:ext cx="3312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1F3A5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　市場の情報を、次の投資判断へ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504000" y="3096000"/>
            <a:ext cx="309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b="1" spc="16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UPSTREAM</a:t>
            </a:r>
            <a:endParaRPr lang="en-US" sz="630" dirty="0"/>
          </a:p>
        </p:txBody>
      </p:sp>
      <p:sp>
        <p:nvSpPr>
          <p:cNvPr id="13" name="Text 11"/>
          <p:cNvSpPr/>
          <p:nvPr/>
        </p:nvSpPr>
        <p:spPr>
          <a:xfrm>
            <a:off x="504000" y="3258000"/>
            <a:ext cx="309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鉱山・資源開発</a:t>
            </a:r>
            <a:endParaRPr lang="en-US" sz="900" dirty="0"/>
          </a:p>
        </p:txBody>
      </p:sp>
      <p:pic>
        <p:nvPicPr>
          <p:cNvPr id="14" name="Image 0" descr="/home/user/my-website/mc_metals_12p/src/assets/_crop/_mr_project_03_86.0x30.0_0.5_0.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000" y="3492000"/>
            <a:ext cx="3096000" cy="1080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032000" y="3096000"/>
            <a:ext cx="309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b="1" spc="16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PROCESSING</a:t>
            </a:r>
            <a:endParaRPr lang="en-US" sz="630" dirty="0"/>
          </a:p>
        </p:txBody>
      </p:sp>
      <p:sp>
        <p:nvSpPr>
          <p:cNvPr id="16" name="Text 13"/>
          <p:cNvSpPr/>
          <p:nvPr/>
        </p:nvSpPr>
        <p:spPr>
          <a:xfrm>
            <a:off x="4032000" y="3258000"/>
            <a:ext cx="309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選鉱・製錬・製鉄</a:t>
            </a:r>
            <a:endParaRPr lang="en-US" sz="900" dirty="0"/>
          </a:p>
        </p:txBody>
      </p:sp>
      <p:pic>
        <p:nvPicPr>
          <p:cNvPr id="17" name="Image 1" descr="/home/user/my-website/mc_metals_12p/src/assets/_crop/mr_02_01@2x_86.0x30.0_0.5_0.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000" y="3492000"/>
            <a:ext cx="3096000" cy="10800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992000" y="3096000"/>
            <a:ext cx="309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b="1" spc="16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LOGISTICS &amp; SALES</a:t>
            </a:r>
            <a:endParaRPr lang="en-US" sz="630" dirty="0"/>
          </a:p>
        </p:txBody>
      </p:sp>
      <p:sp>
        <p:nvSpPr>
          <p:cNvPr id="19" name="Text 15"/>
          <p:cNvSpPr/>
          <p:nvPr/>
        </p:nvSpPr>
        <p:spPr>
          <a:xfrm>
            <a:off x="7992000" y="3258000"/>
            <a:ext cx="309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調達・物流・販売</a:t>
            </a:r>
            <a:endParaRPr lang="en-US" sz="900" dirty="0"/>
          </a:p>
        </p:txBody>
      </p:sp>
      <p:pic>
        <p:nvPicPr>
          <p:cNvPr id="20" name="Image 2" descr="/home/user/my-website/mc_metals_12p/src/assets/_crop/r-023_86.0x30.0_0.5_0.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2000" y="3492000"/>
            <a:ext cx="3096000" cy="10800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520000" y="3096000"/>
            <a:ext cx="309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b="1" spc="16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</a:t>
            </a:r>
            <a:endParaRPr lang="en-US" sz="630" dirty="0"/>
          </a:p>
        </p:txBody>
      </p:sp>
      <p:sp>
        <p:nvSpPr>
          <p:cNvPr id="22" name="Text 17"/>
          <p:cNvSpPr/>
          <p:nvPr/>
        </p:nvSpPr>
        <p:spPr>
          <a:xfrm>
            <a:off x="11520000" y="3258000"/>
            <a:ext cx="309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産業の需要家</a:t>
            </a:r>
            <a:endParaRPr lang="en-US" sz="900" dirty="0"/>
          </a:p>
        </p:txBody>
      </p:sp>
      <p:pic>
        <p:nvPicPr>
          <p:cNvPr id="23" name="Image 3" descr="/home/user/my-website/mc_metals_12p/src/assets/_crop/r-022_86.0x30.0_0.5_0.5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0000" y="3492000"/>
            <a:ext cx="3096000" cy="10800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04000" y="4752000"/>
            <a:ext cx="6624000" cy="79200"/>
          </a:xfrm>
          <a:prstGeom prst="rect">
            <a:avLst/>
          </a:prstGeom>
          <a:solidFill>
            <a:srgbClr val="9C7442"/>
          </a:solidFill>
          <a:ln/>
        </p:spPr>
      </p:sp>
      <p:sp>
        <p:nvSpPr>
          <p:cNvPr id="25" name="Text 19"/>
          <p:cNvSpPr/>
          <p:nvPr/>
        </p:nvSpPr>
        <p:spPr>
          <a:xfrm>
            <a:off x="1080000" y="4878000"/>
            <a:ext cx="6048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160" kern="0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資源投資｜鉱山・製錬への出資　</a:t>
            </a:r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鉄鋼原料本部・クリティカルミネラル本部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504000" y="5464800"/>
            <a:ext cx="50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鉄鋼原料</a:t>
            </a:r>
            <a:endParaRPr lang="en-US" sz="600" dirty="0"/>
          </a:p>
        </p:txBody>
      </p:sp>
      <p:sp>
        <p:nvSpPr>
          <p:cNvPr id="27" name="Shape 21"/>
          <p:cNvSpPr/>
          <p:nvPr/>
        </p:nvSpPr>
        <p:spPr>
          <a:xfrm>
            <a:off x="1080000" y="5400000"/>
            <a:ext cx="2448000" cy="32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D3D7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1080000" y="5497200"/>
            <a:ext cx="2448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原料炭・鉄鉱石</a:t>
            </a:r>
            <a:endParaRPr lang="en-US" sz="740" dirty="0"/>
          </a:p>
        </p:txBody>
      </p:sp>
      <p:sp>
        <p:nvSpPr>
          <p:cNvPr id="29" name="Shape 23"/>
          <p:cNvSpPr/>
          <p:nvPr/>
        </p:nvSpPr>
        <p:spPr>
          <a:xfrm>
            <a:off x="4032000" y="5400000"/>
            <a:ext cx="3096000" cy="32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D3D7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032000" y="5497200"/>
            <a:ext cx="3096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製鉄所｜鋼材</a:t>
            </a:r>
            <a:endParaRPr lang="en-US" sz="740" dirty="0"/>
          </a:p>
        </p:txBody>
      </p:sp>
      <p:sp>
        <p:nvSpPr>
          <p:cNvPr id="31" name="Shape 25"/>
          <p:cNvSpPr/>
          <p:nvPr/>
        </p:nvSpPr>
        <p:spPr>
          <a:xfrm>
            <a:off x="11520000" y="5400000"/>
            <a:ext cx="3096000" cy="32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D3D7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11520000" y="5497200"/>
            <a:ext cx="3096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建設・自動車・インフラ</a:t>
            </a:r>
            <a:endParaRPr lang="en-US" sz="740" dirty="0"/>
          </a:p>
        </p:txBody>
      </p:sp>
      <p:sp>
        <p:nvSpPr>
          <p:cNvPr id="33" name="Shape 27"/>
          <p:cNvSpPr/>
          <p:nvPr/>
        </p:nvSpPr>
        <p:spPr>
          <a:xfrm>
            <a:off x="3546000" y="5562000"/>
            <a:ext cx="468000" cy="36"/>
          </a:xfrm>
          <a:prstGeom prst="line">
            <a:avLst/>
          </a:prstGeom>
          <a:noFill/>
          <a:ln w="10160">
            <a:solidFill>
              <a:srgbClr val="7D838A"/>
            </a:solidFill>
            <a:prstDash val="solid"/>
            <a:tailEnd type="triangle"/>
          </a:ln>
        </p:spPr>
      </p:sp>
      <p:sp>
        <p:nvSpPr>
          <p:cNvPr id="34" name="Shape 28"/>
          <p:cNvSpPr/>
          <p:nvPr/>
        </p:nvSpPr>
        <p:spPr>
          <a:xfrm>
            <a:off x="7146000" y="5562000"/>
            <a:ext cx="810000" cy="36"/>
          </a:xfrm>
          <a:prstGeom prst="line">
            <a:avLst/>
          </a:prstGeom>
          <a:noFill/>
          <a:ln w="10160">
            <a:solidFill>
              <a:srgbClr val="7D838A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106000" y="5562000"/>
            <a:ext cx="396000" cy="36"/>
          </a:xfrm>
          <a:prstGeom prst="line">
            <a:avLst/>
          </a:prstGeom>
          <a:noFill/>
          <a:ln w="10160">
            <a:solidFill>
              <a:srgbClr val="7D838A"/>
            </a:solidFill>
            <a:prstDash val="solid"/>
            <a:tailEnd type="triangle"/>
          </a:ln>
        </p:spPr>
      </p:sp>
      <p:sp>
        <p:nvSpPr>
          <p:cNvPr id="36" name="Text 30"/>
          <p:cNvSpPr/>
          <p:nvPr/>
        </p:nvSpPr>
        <p:spPr>
          <a:xfrm>
            <a:off x="504000" y="6076800"/>
            <a:ext cx="50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</a:t>
            </a:r>
            <a:endParaRPr lang="en-US" sz="600" dirty="0"/>
          </a:p>
        </p:txBody>
      </p:sp>
      <p:sp>
        <p:nvSpPr>
          <p:cNvPr id="37" name="Shape 31"/>
          <p:cNvSpPr/>
          <p:nvPr/>
        </p:nvSpPr>
        <p:spPr>
          <a:xfrm>
            <a:off x="1080000" y="6012000"/>
            <a:ext cx="2448000" cy="32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D3D7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1080000" y="6109200"/>
            <a:ext cx="2448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銅鉱石</a:t>
            </a:r>
            <a:endParaRPr lang="en-US" sz="740" dirty="0"/>
          </a:p>
        </p:txBody>
      </p:sp>
      <p:sp>
        <p:nvSpPr>
          <p:cNvPr id="39" name="Shape 33"/>
          <p:cNvSpPr/>
          <p:nvPr/>
        </p:nvSpPr>
        <p:spPr>
          <a:xfrm>
            <a:off x="4032000" y="6012000"/>
            <a:ext cx="3096000" cy="32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D3D7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032000" y="6109200"/>
            <a:ext cx="3096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選鉱・製錬｜銅地金</a:t>
            </a:r>
            <a:endParaRPr lang="en-US" sz="740" dirty="0"/>
          </a:p>
        </p:txBody>
      </p:sp>
      <p:sp>
        <p:nvSpPr>
          <p:cNvPr id="41" name="Shape 35"/>
          <p:cNvSpPr/>
          <p:nvPr/>
        </p:nvSpPr>
        <p:spPr>
          <a:xfrm>
            <a:off x="11520000" y="6012000"/>
            <a:ext cx="3096000" cy="32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D3D7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11520000" y="6109200"/>
            <a:ext cx="3096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電線・電力・データセンター</a:t>
            </a:r>
            <a:endParaRPr lang="en-US" sz="740" dirty="0"/>
          </a:p>
        </p:txBody>
      </p:sp>
      <p:sp>
        <p:nvSpPr>
          <p:cNvPr id="43" name="Shape 37"/>
          <p:cNvSpPr/>
          <p:nvPr/>
        </p:nvSpPr>
        <p:spPr>
          <a:xfrm>
            <a:off x="3546000" y="6174000"/>
            <a:ext cx="468000" cy="36"/>
          </a:xfrm>
          <a:prstGeom prst="line">
            <a:avLst/>
          </a:prstGeom>
          <a:noFill/>
          <a:ln w="10160">
            <a:solidFill>
              <a:srgbClr val="7D838A"/>
            </a:solidFill>
            <a:prstDash val="solid"/>
            <a:tailEnd type="triangle"/>
          </a:ln>
        </p:spPr>
      </p:sp>
      <p:sp>
        <p:nvSpPr>
          <p:cNvPr id="44" name="Shape 38"/>
          <p:cNvSpPr/>
          <p:nvPr/>
        </p:nvSpPr>
        <p:spPr>
          <a:xfrm>
            <a:off x="7146000" y="6174000"/>
            <a:ext cx="810000" cy="36"/>
          </a:xfrm>
          <a:prstGeom prst="line">
            <a:avLst/>
          </a:prstGeom>
          <a:noFill/>
          <a:ln w="10160">
            <a:solidFill>
              <a:srgbClr val="7D838A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11106000" y="6174000"/>
            <a:ext cx="396000" cy="36"/>
          </a:xfrm>
          <a:prstGeom prst="line">
            <a:avLst/>
          </a:prstGeom>
          <a:noFill/>
          <a:ln w="10160">
            <a:solidFill>
              <a:srgbClr val="7D838A"/>
            </a:solidFill>
            <a:prstDash val="solid"/>
            <a:tailEnd type="triangle"/>
          </a:ln>
        </p:spPr>
      </p:sp>
      <p:sp>
        <p:nvSpPr>
          <p:cNvPr id="46" name="Shape 40"/>
          <p:cNvSpPr/>
          <p:nvPr/>
        </p:nvSpPr>
        <p:spPr>
          <a:xfrm>
            <a:off x="7992000" y="5328000"/>
            <a:ext cx="3096000" cy="810000"/>
          </a:xfrm>
          <a:prstGeom prst="roundRect">
            <a:avLst>
              <a:gd name="adj" fmla="val 13333"/>
            </a:avLst>
          </a:prstGeom>
          <a:solidFill>
            <a:srgbClr val="EEF2F6"/>
          </a:solidFill>
          <a:ln w="7620">
            <a:solidFill>
              <a:srgbClr val="9FB1C3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7956000" y="5562000"/>
            <a:ext cx="36000" cy="36"/>
          </a:xfrm>
          <a:prstGeom prst="line">
            <a:avLst/>
          </a:prstGeom>
          <a:noFill/>
          <a:ln w="10160">
            <a:solidFill>
              <a:srgbClr val="7D838A"/>
            </a:solidFill>
            <a:prstDash val="solid"/>
            <a:tailEnd type="triangle"/>
          </a:ln>
        </p:spPr>
      </p:sp>
      <p:sp>
        <p:nvSpPr>
          <p:cNvPr id="48" name="Shape 42"/>
          <p:cNvSpPr/>
          <p:nvPr/>
        </p:nvSpPr>
        <p:spPr>
          <a:xfrm>
            <a:off x="7956000" y="6174000"/>
            <a:ext cx="36000" cy="36"/>
          </a:xfrm>
          <a:prstGeom prst="line">
            <a:avLst/>
          </a:prstGeom>
          <a:noFill/>
          <a:ln w="10160">
            <a:solidFill>
              <a:srgbClr val="7D838A"/>
            </a:solidFill>
            <a:prstDash val="solid"/>
            <a:tailEnd type="triangle"/>
          </a:ln>
        </p:spPr>
      </p:sp>
      <p:sp>
        <p:nvSpPr>
          <p:cNvPr id="49" name="Text 43"/>
          <p:cNvSpPr/>
          <p:nvPr/>
        </p:nvSpPr>
        <p:spPr>
          <a:xfrm>
            <a:off x="7992000" y="5454000"/>
            <a:ext cx="309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1F3A5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RtM｜資源と市場をつなぐ</a:t>
            </a:r>
            <a:endParaRPr lang="en-US" sz="760" dirty="0"/>
          </a:p>
        </p:txBody>
      </p:sp>
      <p:sp>
        <p:nvSpPr>
          <p:cNvPr id="50" name="Text 44"/>
          <p:cNvSpPr/>
          <p:nvPr/>
        </p:nvSpPr>
        <p:spPr>
          <a:xfrm>
            <a:off x="7992000" y="5688000"/>
            <a:ext cx="309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60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鉱石・精鉱の段階から、地金・製品の段階まで</a:t>
            </a:r>
            <a:endParaRPr lang="en-US" sz="6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60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物流・在庫・ヘッジ・販売を担う</a:t>
            </a:r>
            <a:endParaRPr lang="en-US" sz="600" dirty="0"/>
          </a:p>
        </p:txBody>
      </p:sp>
      <p:sp>
        <p:nvSpPr>
          <p:cNvPr id="51" name="Shape 45"/>
          <p:cNvSpPr/>
          <p:nvPr/>
        </p:nvSpPr>
        <p:spPr>
          <a:xfrm>
            <a:off x="504000" y="6624000"/>
            <a:ext cx="13968000" cy="79200"/>
          </a:xfrm>
          <a:prstGeom prst="rect">
            <a:avLst/>
          </a:prstGeom>
          <a:solidFill>
            <a:srgbClr val="1F3A56"/>
          </a:solidFill>
          <a:ln/>
        </p:spPr>
      </p:sp>
      <p:sp>
        <p:nvSpPr>
          <p:cNvPr id="52" name="Shape 46"/>
          <p:cNvSpPr/>
          <p:nvPr/>
        </p:nvSpPr>
        <p:spPr>
          <a:xfrm>
            <a:off x="14472000" y="6552000"/>
            <a:ext cx="144000" cy="223200"/>
          </a:xfrm>
          <a:custGeom>
            <a:avLst/>
            <a:gdLst/>
            <a:ahLst/>
            <a:cxnLst/>
            <a:rect l="l" t="t" r="r" b="b"/>
            <a:pathLst>
              <a:path w="144000" h="223200">
                <a:moveTo>
                  <a:pt x="0" y="0"/>
                </a:moveTo>
                <a:lnTo>
                  <a:pt x="144000" y="111600"/>
                </a:lnTo>
                <a:lnTo>
                  <a:pt x="0" y="223200"/>
                </a:lnTo>
                <a:close/>
              </a:path>
            </a:pathLst>
          </a:custGeom>
          <a:solidFill>
            <a:srgbClr val="1F3A56"/>
          </a:solidFill>
          <a:ln/>
        </p:spPr>
      </p:sp>
      <p:sp>
        <p:nvSpPr>
          <p:cNvPr id="53" name="Text 47"/>
          <p:cNvSpPr/>
          <p:nvPr/>
        </p:nvSpPr>
        <p:spPr>
          <a:xfrm>
            <a:off x="1080000" y="6760800"/>
            <a:ext cx="6048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160" kern="0" dirty="0">
                <a:solidFill>
                  <a:srgbClr val="1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トレーディング（RtM）｜資源と市場をつなぐ　</a:t>
            </a:r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金属資源トレーディング本部</a:t>
            </a:r>
            <a:endParaRPr lang="en-US" sz="800" dirty="0"/>
          </a:p>
        </p:txBody>
      </p:sp>
      <p:sp>
        <p:nvSpPr>
          <p:cNvPr id="54" name="Shape 48"/>
          <p:cNvSpPr/>
          <p:nvPr/>
        </p:nvSpPr>
        <p:spPr>
          <a:xfrm>
            <a:off x="676800" y="4852800"/>
            <a:ext cx="230400" cy="230400"/>
          </a:xfrm>
          <a:prstGeom prst="ellipse">
            <a:avLst/>
          </a:prstGeom>
          <a:solidFill>
            <a:srgbClr val="9C7442"/>
          </a:solidFill>
          <a:ln/>
        </p:spPr>
      </p:sp>
      <p:sp>
        <p:nvSpPr>
          <p:cNvPr id="55" name="Text 49"/>
          <p:cNvSpPr/>
          <p:nvPr/>
        </p:nvSpPr>
        <p:spPr>
          <a:xfrm>
            <a:off x="676800" y="4896000"/>
            <a:ext cx="2304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650" dirty="0"/>
          </a:p>
        </p:txBody>
      </p:sp>
      <p:sp>
        <p:nvSpPr>
          <p:cNvPr id="56" name="Shape 50"/>
          <p:cNvSpPr/>
          <p:nvPr/>
        </p:nvSpPr>
        <p:spPr>
          <a:xfrm>
            <a:off x="676800" y="6724800"/>
            <a:ext cx="230400" cy="230400"/>
          </a:xfrm>
          <a:prstGeom prst="ellipse">
            <a:avLst/>
          </a:prstGeom>
          <a:solidFill>
            <a:srgbClr val="1F3A56"/>
          </a:solidFill>
          <a:ln/>
        </p:spPr>
      </p:sp>
      <p:sp>
        <p:nvSpPr>
          <p:cNvPr id="57" name="Text 51"/>
          <p:cNvSpPr/>
          <p:nvPr/>
        </p:nvSpPr>
        <p:spPr>
          <a:xfrm>
            <a:off x="676800" y="6768000"/>
            <a:ext cx="2304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650" dirty="0"/>
          </a:p>
        </p:txBody>
      </p:sp>
      <p:sp>
        <p:nvSpPr>
          <p:cNvPr id="58" name="Shape 52"/>
          <p:cNvSpPr/>
          <p:nvPr/>
        </p:nvSpPr>
        <p:spPr>
          <a:xfrm>
            <a:off x="6235200" y="5857200"/>
            <a:ext cx="201600" cy="201600"/>
          </a:xfrm>
          <a:prstGeom prst="ellipse">
            <a:avLst/>
          </a:prstGeom>
          <a:solidFill>
            <a:srgbClr val="A8622F"/>
          </a:solidFill>
          <a:ln/>
        </p:spPr>
      </p:sp>
      <p:sp>
        <p:nvSpPr>
          <p:cNvPr id="59" name="Text 53"/>
          <p:cNvSpPr/>
          <p:nvPr/>
        </p:nvSpPr>
        <p:spPr>
          <a:xfrm>
            <a:off x="6235200" y="5886000"/>
            <a:ext cx="2016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650" dirty="0"/>
          </a:p>
        </p:txBody>
      </p:sp>
      <p:sp>
        <p:nvSpPr>
          <p:cNvPr id="60" name="Shape 54"/>
          <p:cNvSpPr/>
          <p:nvPr/>
        </p:nvSpPr>
        <p:spPr>
          <a:xfrm>
            <a:off x="14155200" y="5857200"/>
            <a:ext cx="201600" cy="201600"/>
          </a:xfrm>
          <a:prstGeom prst="ellipse">
            <a:avLst/>
          </a:prstGeom>
          <a:solidFill>
            <a:srgbClr val="A8622F"/>
          </a:solidFill>
          <a:ln/>
        </p:spPr>
      </p:sp>
      <p:sp>
        <p:nvSpPr>
          <p:cNvPr id="61" name="Text 55"/>
          <p:cNvSpPr/>
          <p:nvPr/>
        </p:nvSpPr>
        <p:spPr>
          <a:xfrm>
            <a:off x="14155200" y="5886000"/>
            <a:ext cx="2016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650" dirty="0"/>
          </a:p>
        </p:txBody>
      </p:sp>
      <p:sp>
        <p:nvSpPr>
          <p:cNvPr id="62" name="Text 56"/>
          <p:cNvSpPr/>
          <p:nvPr/>
        </p:nvSpPr>
        <p:spPr>
          <a:xfrm>
            <a:off x="11520000" y="6372000"/>
            <a:ext cx="3096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A862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　新技術がボトルネックを改善 → P.08</a:t>
            </a:r>
            <a:endParaRPr lang="en-US" sz="600" dirty="0"/>
          </a:p>
        </p:txBody>
      </p:sp>
      <p:sp>
        <p:nvSpPr>
          <p:cNvPr id="63" name="Shape 57"/>
          <p:cNvSpPr/>
          <p:nvPr/>
        </p:nvSpPr>
        <p:spPr>
          <a:xfrm>
            <a:off x="504000" y="7344000"/>
            <a:ext cx="14040000" cy="36"/>
          </a:xfrm>
          <a:prstGeom prst="line">
            <a:avLst/>
          </a:prstGeom>
          <a:noFill/>
          <a:ln w="38100">
            <a:solidFill>
              <a:srgbClr val="CFD3D7"/>
            </a:solidFill>
            <a:prstDash val="solid"/>
            <a:tailEnd type="triangle"/>
          </a:ln>
        </p:spPr>
      </p:sp>
      <p:sp>
        <p:nvSpPr>
          <p:cNvPr id="64" name="Text 58"/>
          <p:cNvSpPr/>
          <p:nvPr/>
        </p:nvSpPr>
        <p:spPr>
          <a:xfrm>
            <a:off x="1080000" y="7452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1980s</a:t>
            </a:r>
            <a:endParaRPr lang="en-US" sz="600" dirty="0"/>
          </a:p>
        </p:txBody>
      </p:sp>
      <p:sp>
        <p:nvSpPr>
          <p:cNvPr id="65" name="Text 59"/>
          <p:cNvSpPr/>
          <p:nvPr/>
        </p:nvSpPr>
        <p:spPr>
          <a:xfrm>
            <a:off x="3240000" y="7452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1990s</a:t>
            </a:r>
            <a:endParaRPr lang="en-US" sz="600" dirty="0"/>
          </a:p>
        </p:txBody>
      </p:sp>
      <p:sp>
        <p:nvSpPr>
          <p:cNvPr id="66" name="Text 60"/>
          <p:cNvSpPr/>
          <p:nvPr/>
        </p:nvSpPr>
        <p:spPr>
          <a:xfrm>
            <a:off x="5400000" y="7452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2000s</a:t>
            </a:r>
            <a:endParaRPr lang="en-US" sz="600" dirty="0"/>
          </a:p>
        </p:txBody>
      </p:sp>
      <p:sp>
        <p:nvSpPr>
          <p:cNvPr id="67" name="Text 61"/>
          <p:cNvSpPr/>
          <p:nvPr/>
        </p:nvSpPr>
        <p:spPr>
          <a:xfrm>
            <a:off x="9360000" y="7452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2010s</a:t>
            </a:r>
            <a:endParaRPr lang="en-US" sz="600" dirty="0"/>
          </a:p>
        </p:txBody>
      </p:sp>
      <p:sp>
        <p:nvSpPr>
          <p:cNvPr id="68" name="Text 62"/>
          <p:cNvSpPr/>
          <p:nvPr/>
        </p:nvSpPr>
        <p:spPr>
          <a:xfrm>
            <a:off x="12240000" y="7452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2020s</a:t>
            </a:r>
            <a:endParaRPr lang="en-US" sz="600" dirty="0"/>
          </a:p>
        </p:txBody>
      </p:sp>
      <p:sp>
        <p:nvSpPr>
          <p:cNvPr id="69" name="Shape 63"/>
          <p:cNvSpPr/>
          <p:nvPr/>
        </p:nvSpPr>
        <p:spPr>
          <a:xfrm>
            <a:off x="388800" y="7228800"/>
            <a:ext cx="230400" cy="230400"/>
          </a:xfrm>
          <a:prstGeom prst="ellipse">
            <a:avLst/>
          </a:prstGeom>
          <a:solidFill>
            <a:srgbClr val="121519"/>
          </a:solidFill>
          <a:ln/>
        </p:spPr>
      </p:sp>
      <p:sp>
        <p:nvSpPr>
          <p:cNvPr id="70" name="Text 64"/>
          <p:cNvSpPr/>
          <p:nvPr/>
        </p:nvSpPr>
        <p:spPr>
          <a:xfrm>
            <a:off x="388800" y="7272000"/>
            <a:ext cx="2304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650" dirty="0"/>
          </a:p>
        </p:txBody>
      </p:sp>
      <p:sp>
        <p:nvSpPr>
          <p:cNvPr id="71" name="Text 65"/>
          <p:cNvSpPr/>
          <p:nvPr/>
        </p:nvSpPr>
        <p:spPr>
          <a:xfrm>
            <a:off x="792000" y="7110000"/>
            <a:ext cx="64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　市況に左右されず、流れに関わり続けてきた積み重ね</a:t>
            </a:r>
            <a:endParaRPr lang="en-US" sz="640" dirty="0"/>
          </a:p>
        </p:txBody>
      </p:sp>
      <p:sp>
        <p:nvSpPr>
          <p:cNvPr id="72" name="Shape 66"/>
          <p:cNvSpPr/>
          <p:nvPr/>
        </p:nvSpPr>
        <p:spPr>
          <a:xfrm>
            <a:off x="10800000" y="7704000"/>
            <a:ext cx="3816000" cy="9360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73" name="Text 67"/>
          <p:cNvSpPr/>
          <p:nvPr/>
        </p:nvSpPr>
        <p:spPr>
          <a:xfrm>
            <a:off x="11016000" y="7848000"/>
            <a:ext cx="345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E9D6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pPr algn="l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その結果としての、いまの主力事業</a:t>
            </a:r>
            <a:endParaRPr lang="en-US" sz="800" dirty="0"/>
          </a:p>
        </p:txBody>
      </p:sp>
      <p:sp>
        <p:nvSpPr>
          <p:cNvPr id="74" name="Shape 68"/>
          <p:cNvSpPr/>
          <p:nvPr/>
        </p:nvSpPr>
        <p:spPr>
          <a:xfrm>
            <a:off x="11016000" y="8136000"/>
            <a:ext cx="1008000" cy="288000"/>
          </a:xfrm>
          <a:prstGeom prst="roundRect">
            <a:avLst>
              <a:gd name="adj" fmla="val 50000"/>
            </a:avLst>
          </a:prstGeom>
          <a:solidFill>
            <a:srgbClr val="121519"/>
          </a:solidFill>
          <a:ln w="7620">
            <a:solidFill>
              <a:srgbClr val="8A9096"/>
            </a:solidFill>
            <a:prstDash val="solid"/>
          </a:ln>
        </p:spPr>
      </p:sp>
      <p:sp>
        <p:nvSpPr>
          <p:cNvPr id="75" name="Text 69"/>
          <p:cNvSpPr/>
          <p:nvPr/>
        </p:nvSpPr>
        <p:spPr>
          <a:xfrm>
            <a:off x="11016000" y="8215200"/>
            <a:ext cx="100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原料炭</a:t>
            </a:r>
            <a:endParaRPr lang="en-US" sz="660" dirty="0"/>
          </a:p>
        </p:txBody>
      </p:sp>
      <p:sp>
        <p:nvSpPr>
          <p:cNvPr id="76" name="Shape 70"/>
          <p:cNvSpPr/>
          <p:nvPr/>
        </p:nvSpPr>
        <p:spPr>
          <a:xfrm>
            <a:off x="12132000" y="8136000"/>
            <a:ext cx="1008000" cy="288000"/>
          </a:xfrm>
          <a:prstGeom prst="roundRect">
            <a:avLst>
              <a:gd name="adj" fmla="val 50000"/>
            </a:avLst>
          </a:prstGeom>
          <a:solidFill>
            <a:srgbClr val="121519"/>
          </a:solidFill>
          <a:ln w="7620">
            <a:solidFill>
              <a:srgbClr val="8A9096"/>
            </a:solidFill>
            <a:prstDash val="solid"/>
          </a:ln>
        </p:spPr>
      </p:sp>
      <p:sp>
        <p:nvSpPr>
          <p:cNvPr id="77" name="Text 71"/>
          <p:cNvSpPr/>
          <p:nvPr/>
        </p:nvSpPr>
        <p:spPr>
          <a:xfrm>
            <a:off x="12132000" y="8215200"/>
            <a:ext cx="1008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</a:t>
            </a:r>
            <a:endParaRPr lang="en-US" sz="660" dirty="0"/>
          </a:p>
        </p:txBody>
      </p:sp>
      <p:sp>
        <p:nvSpPr>
          <p:cNvPr id="78" name="Shape 72"/>
          <p:cNvSpPr/>
          <p:nvPr/>
        </p:nvSpPr>
        <p:spPr>
          <a:xfrm>
            <a:off x="13248000" y="8136000"/>
            <a:ext cx="1224000" cy="288000"/>
          </a:xfrm>
          <a:prstGeom prst="roundRect">
            <a:avLst>
              <a:gd name="adj" fmla="val 50000"/>
            </a:avLst>
          </a:prstGeom>
          <a:solidFill>
            <a:srgbClr val="121519"/>
          </a:solidFill>
          <a:ln w="7620">
            <a:solidFill>
              <a:srgbClr val="8A9096"/>
            </a:solidFill>
            <a:prstDash val="solid"/>
          </a:ln>
        </p:spPr>
      </p:sp>
      <p:sp>
        <p:nvSpPr>
          <p:cNvPr id="79" name="Text 73"/>
          <p:cNvSpPr/>
          <p:nvPr/>
        </p:nvSpPr>
        <p:spPr>
          <a:xfrm>
            <a:off x="13248000" y="8215200"/>
            <a:ext cx="1224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トレーディング</a:t>
            </a:r>
            <a:endParaRPr lang="en-US" sz="660" dirty="0"/>
          </a:p>
        </p:txBody>
      </p:sp>
      <p:sp>
        <p:nvSpPr>
          <p:cNvPr id="80" name="Text 74"/>
          <p:cNvSpPr/>
          <p:nvPr/>
        </p:nvSpPr>
        <p:spPr>
          <a:xfrm>
            <a:off x="13392000" y="8478000"/>
            <a:ext cx="10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C9CE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P.08</a:t>
            </a:r>
            <a:endParaRPr lang="en-US" sz="600" dirty="0"/>
          </a:p>
        </p:txBody>
      </p:sp>
      <p:sp>
        <p:nvSpPr>
          <p:cNvPr id="81" name="Shape 75"/>
          <p:cNvSpPr/>
          <p:nvPr/>
        </p:nvSpPr>
        <p:spPr>
          <a:xfrm>
            <a:off x="504000" y="8928000"/>
            <a:ext cx="2016000" cy="144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82" name="Shape 76"/>
          <p:cNvSpPr/>
          <p:nvPr/>
        </p:nvSpPr>
        <p:spPr>
          <a:xfrm>
            <a:off x="511200" y="9043200"/>
            <a:ext cx="201600" cy="201600"/>
          </a:xfrm>
          <a:prstGeom prst="ellipse">
            <a:avLst/>
          </a:prstGeom>
          <a:solidFill>
            <a:srgbClr val="9C7442"/>
          </a:solidFill>
          <a:ln/>
        </p:spPr>
      </p:sp>
      <p:sp>
        <p:nvSpPr>
          <p:cNvPr id="83" name="Text 77"/>
          <p:cNvSpPr/>
          <p:nvPr/>
        </p:nvSpPr>
        <p:spPr>
          <a:xfrm>
            <a:off x="511200" y="9072000"/>
            <a:ext cx="2016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650" dirty="0"/>
          </a:p>
        </p:txBody>
      </p:sp>
      <p:sp>
        <p:nvSpPr>
          <p:cNvPr id="84" name="Text 78"/>
          <p:cNvSpPr/>
          <p:nvPr/>
        </p:nvSpPr>
        <p:spPr>
          <a:xfrm>
            <a:off x="792000" y="9064800"/>
            <a:ext cx="1728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持つ力・つなぐ力</a:t>
            </a:r>
            <a:endParaRPr lang="en-US" sz="760" dirty="0"/>
          </a:p>
        </p:txBody>
      </p:sp>
      <p:sp>
        <p:nvSpPr>
          <p:cNvPr id="85" name="Text 79"/>
          <p:cNvSpPr/>
          <p:nvPr/>
        </p:nvSpPr>
        <p:spPr>
          <a:xfrm>
            <a:off x="504000" y="9324000"/>
            <a:ext cx="1944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投資とトレーディングの両輪で事業を行う。鉱山会社でも純粋なトレーダーでもない立ち位置。</a:t>
            </a:r>
            <a:endParaRPr lang="en-US" sz="630" dirty="0"/>
          </a:p>
        </p:txBody>
      </p:sp>
      <p:sp>
        <p:nvSpPr>
          <p:cNvPr id="86" name="Shape 80"/>
          <p:cNvSpPr/>
          <p:nvPr/>
        </p:nvSpPr>
        <p:spPr>
          <a:xfrm>
            <a:off x="2736000" y="8928000"/>
            <a:ext cx="2016000" cy="144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87" name="Shape 81"/>
          <p:cNvSpPr/>
          <p:nvPr/>
        </p:nvSpPr>
        <p:spPr>
          <a:xfrm>
            <a:off x="2743200" y="9043200"/>
            <a:ext cx="201600" cy="201600"/>
          </a:xfrm>
          <a:prstGeom prst="ellipse">
            <a:avLst/>
          </a:prstGeom>
          <a:solidFill>
            <a:srgbClr val="1F3A56"/>
          </a:solidFill>
          <a:ln/>
        </p:spPr>
      </p:sp>
      <p:sp>
        <p:nvSpPr>
          <p:cNvPr id="88" name="Text 82"/>
          <p:cNvSpPr/>
          <p:nvPr/>
        </p:nvSpPr>
        <p:spPr>
          <a:xfrm>
            <a:off x="2743200" y="9072000"/>
            <a:ext cx="2016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650" dirty="0"/>
          </a:p>
        </p:txBody>
      </p:sp>
      <p:sp>
        <p:nvSpPr>
          <p:cNvPr id="89" name="Text 83"/>
          <p:cNvSpPr/>
          <p:nvPr/>
        </p:nvSpPr>
        <p:spPr>
          <a:xfrm>
            <a:off x="3024000" y="9064800"/>
            <a:ext cx="1728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互いを強め合う</a:t>
            </a:r>
            <a:endParaRPr lang="en-US" sz="760" dirty="0"/>
          </a:p>
        </p:txBody>
      </p:sp>
      <p:sp>
        <p:nvSpPr>
          <p:cNvPr id="90" name="Text 84"/>
          <p:cNvSpPr/>
          <p:nvPr/>
        </p:nvSpPr>
        <p:spPr>
          <a:xfrm>
            <a:off x="2736000" y="9324000"/>
            <a:ext cx="1944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市場の情報を投資判断に生かし、投資で得た資源を市場へ届ける好循環。</a:t>
            </a:r>
            <a:endParaRPr lang="en-US" sz="630" dirty="0"/>
          </a:p>
        </p:txBody>
      </p:sp>
      <p:sp>
        <p:nvSpPr>
          <p:cNvPr id="91" name="Shape 85"/>
          <p:cNvSpPr/>
          <p:nvPr/>
        </p:nvSpPr>
        <p:spPr>
          <a:xfrm>
            <a:off x="4968000" y="8928000"/>
            <a:ext cx="2016000" cy="144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92" name="Shape 86"/>
          <p:cNvSpPr/>
          <p:nvPr/>
        </p:nvSpPr>
        <p:spPr>
          <a:xfrm>
            <a:off x="4975200" y="9043200"/>
            <a:ext cx="201600" cy="201600"/>
          </a:xfrm>
          <a:prstGeom prst="ellipse">
            <a:avLst/>
          </a:prstGeom>
          <a:solidFill>
            <a:srgbClr val="A8622F"/>
          </a:solidFill>
          <a:ln/>
        </p:spPr>
      </p:sp>
      <p:sp>
        <p:nvSpPr>
          <p:cNvPr id="93" name="Text 87"/>
          <p:cNvSpPr/>
          <p:nvPr/>
        </p:nvSpPr>
        <p:spPr>
          <a:xfrm>
            <a:off x="4975200" y="9072000"/>
            <a:ext cx="2016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650" dirty="0"/>
          </a:p>
        </p:txBody>
      </p:sp>
      <p:sp>
        <p:nvSpPr>
          <p:cNvPr id="94" name="Text 88"/>
          <p:cNvSpPr/>
          <p:nvPr/>
        </p:nvSpPr>
        <p:spPr>
          <a:xfrm>
            <a:off x="5256000" y="9064800"/>
            <a:ext cx="1728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流れ全体を進化させる</a:t>
            </a:r>
            <a:endParaRPr lang="en-US" sz="760" dirty="0"/>
          </a:p>
        </p:txBody>
      </p:sp>
      <p:sp>
        <p:nvSpPr>
          <p:cNvPr id="95" name="Text 89"/>
          <p:cNvSpPr/>
          <p:nvPr/>
        </p:nvSpPr>
        <p:spPr>
          <a:xfrm>
            <a:off x="4968000" y="9324000"/>
            <a:ext cx="1944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業界の課題に挑む新技術に投資し、知見を両輪に還元する。</a:t>
            </a:r>
            <a:endParaRPr lang="en-US" sz="630" dirty="0"/>
          </a:p>
        </p:txBody>
      </p:sp>
      <p:sp>
        <p:nvSpPr>
          <p:cNvPr id="96" name="Shape 90"/>
          <p:cNvSpPr/>
          <p:nvPr/>
        </p:nvSpPr>
        <p:spPr>
          <a:xfrm>
            <a:off x="7992000" y="8928000"/>
            <a:ext cx="3096000" cy="144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97" name="Shape 91"/>
          <p:cNvSpPr/>
          <p:nvPr/>
        </p:nvSpPr>
        <p:spPr>
          <a:xfrm>
            <a:off x="7999200" y="9043200"/>
            <a:ext cx="201600" cy="201600"/>
          </a:xfrm>
          <a:prstGeom prst="ellipse">
            <a:avLst/>
          </a:prstGeom>
          <a:solidFill>
            <a:srgbClr val="121519"/>
          </a:solidFill>
          <a:ln/>
        </p:spPr>
      </p:sp>
      <p:sp>
        <p:nvSpPr>
          <p:cNvPr id="98" name="Text 92"/>
          <p:cNvSpPr/>
          <p:nvPr/>
        </p:nvSpPr>
        <p:spPr>
          <a:xfrm>
            <a:off x="7999200" y="9072000"/>
            <a:ext cx="2016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650" dirty="0"/>
          </a:p>
        </p:txBody>
      </p:sp>
      <p:sp>
        <p:nvSpPr>
          <p:cNvPr id="99" name="Text 93"/>
          <p:cNvSpPr/>
          <p:nvPr/>
        </p:nvSpPr>
        <p:spPr>
          <a:xfrm>
            <a:off x="8280000" y="9064800"/>
            <a:ext cx="2808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長い時間をかけて</a:t>
            </a:r>
            <a:endParaRPr lang="en-US" sz="760" dirty="0"/>
          </a:p>
        </p:txBody>
      </p:sp>
      <p:sp>
        <p:nvSpPr>
          <p:cNvPr id="100" name="Text 94"/>
          <p:cNvSpPr/>
          <p:nvPr/>
        </p:nvSpPr>
        <p:spPr>
          <a:xfrm>
            <a:off x="7992000" y="9324000"/>
            <a:ext cx="3024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流れに関わり続けた積み重ねが、先手を打つ力（先見性）に。</a:t>
            </a:r>
            <a:endParaRPr lang="en-US" sz="630" dirty="0"/>
          </a:p>
        </p:txBody>
      </p:sp>
      <p:sp>
        <p:nvSpPr>
          <p:cNvPr id="101" name="Shape 95"/>
          <p:cNvSpPr/>
          <p:nvPr/>
        </p:nvSpPr>
        <p:spPr>
          <a:xfrm>
            <a:off x="11520000" y="8928000"/>
            <a:ext cx="3096000" cy="14400"/>
          </a:xfrm>
          <a:prstGeom prst="rect">
            <a:avLst/>
          </a:prstGeom>
          <a:solidFill>
            <a:srgbClr val="121519"/>
          </a:solidFill>
          <a:ln/>
        </p:spPr>
      </p:sp>
      <p:sp>
        <p:nvSpPr>
          <p:cNvPr id="102" name="Shape 96"/>
          <p:cNvSpPr/>
          <p:nvPr/>
        </p:nvSpPr>
        <p:spPr>
          <a:xfrm>
            <a:off x="11527200" y="9043200"/>
            <a:ext cx="201600" cy="2016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03" name="Text 97"/>
          <p:cNvSpPr/>
          <p:nvPr/>
        </p:nvSpPr>
        <p:spPr>
          <a:xfrm>
            <a:off x="11527200" y="9072000"/>
            <a:ext cx="2016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endParaRPr lang="en-US" sz="650" dirty="0"/>
          </a:p>
        </p:txBody>
      </p:sp>
      <p:sp>
        <p:nvSpPr>
          <p:cNvPr id="104" name="Text 98"/>
          <p:cNvSpPr/>
          <p:nvPr/>
        </p:nvSpPr>
        <p:spPr>
          <a:xfrm>
            <a:off x="11808000" y="9064800"/>
            <a:ext cx="2808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その結果としての、いま</a:t>
            </a:r>
            <a:endParaRPr lang="en-US" sz="760" dirty="0"/>
          </a:p>
        </p:txBody>
      </p:sp>
      <p:sp>
        <p:nvSpPr>
          <p:cNvPr id="105" name="Text 99"/>
          <p:cNvSpPr/>
          <p:nvPr/>
        </p:nvSpPr>
        <p:spPr>
          <a:xfrm>
            <a:off x="11520000" y="9324000"/>
            <a:ext cx="3024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原料炭・銅・トレーディングは、強みの「結果」である。</a:t>
            </a:r>
            <a:endParaRPr lang="en-US" sz="630" dirty="0"/>
          </a:p>
        </p:txBody>
      </p:sp>
      <p:sp>
        <p:nvSpPr>
          <p:cNvPr id="106" name="Text 100"/>
          <p:cNvSpPr/>
          <p:nvPr/>
        </p:nvSpPr>
        <p:spPr>
          <a:xfrm>
            <a:off x="504000" y="10332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spc="15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650" dirty="0"/>
          </a:p>
        </p:txBody>
      </p:sp>
      <p:sp>
        <p:nvSpPr>
          <p:cNvPr id="107" name="Text 101"/>
          <p:cNvSpPr/>
          <p:nvPr/>
        </p:nvSpPr>
        <p:spPr>
          <a:xfrm>
            <a:off x="13896000" y="10332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spc="15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650" dirty="0"/>
          </a:p>
        </p:txBody>
      </p:sp>
      <p:sp>
        <p:nvSpPr>
          <p:cNvPr id="108" name="Text 102"/>
          <p:cNvSpPr/>
          <p:nvPr/>
        </p:nvSpPr>
        <p:spPr>
          <a:xfrm>
            <a:off x="137160" y="103784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P6–7 案A｜バリューチェーン横軸＋投資／販売の2本のライン＋市場情報の戻り（本体採用）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64000" y="-216000"/>
            <a:ext cx="2872800" cy="259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9000" spc="-600" kern="0" dirty="0">
                <a:ln w="7620">
                  <a:solidFill>
                    <a:srgbClr val="D9DDE1"/>
                  </a:solidFill>
                </a:ln>
                <a:solidFill>
                  <a:srgbClr val="FFFFFF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02</a:t>
            </a:r>
            <a:endParaRPr lang="en-US" sz="19000" dirty="0"/>
          </a:p>
        </p:txBody>
      </p:sp>
      <p:sp>
        <p:nvSpPr>
          <p:cNvPr id="3" name="Text 1"/>
          <p:cNvSpPr/>
          <p:nvPr/>
        </p:nvSpPr>
        <p:spPr>
          <a:xfrm>
            <a:off x="504000" y="576000"/>
            <a:ext cx="43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60" kern="0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02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独自価値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4000" y="828000"/>
            <a:ext cx="6624000" cy="107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b="1" spc="-60" kern="0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Our Distinctive</a:t>
            </a:r>
            <a:endParaRPr lang="en-US" sz="36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600" b="1" spc="-60" kern="0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Strength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4000" y="1872000"/>
            <a:ext cx="252000" cy="1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504000" y="1980000"/>
            <a:ext cx="6480000" cy="28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投資とトレーディングが互いを強め合い、価値が循環する。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332000" y="3672000"/>
            <a:ext cx="4896000" cy="4896000"/>
          </a:xfrm>
          <a:prstGeom prst="ellipse">
            <a:avLst/>
          </a:prstGeom>
          <a:ln w="6350">
            <a:solidFill>
              <a:srgbClr val="CFD3D7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908000" y="4248000"/>
            <a:ext cx="3744000" cy="1872000"/>
          </a:xfrm>
          <a:custGeom>
            <a:avLst/>
            <a:gdLst/>
            <a:ahLst/>
            <a:cxnLst/>
            <a:rect l="l" t="t" r="r" b="b"/>
            <a:pathLst>
              <a:path w="3744000" h="1872000">
                <a:moveTo>
                  <a:pt x="0" y="1872000"/>
                </a:moveTo>
                <a:lnTo>
                  <a:pt x="5771" y="1725125"/>
                </a:lnTo>
                <a:lnTo>
                  <a:pt x="23047" y="1579155"/>
                </a:lnTo>
                <a:lnTo>
                  <a:pt x="51724" y="1434990"/>
                </a:lnTo>
                <a:lnTo>
                  <a:pt x="91622" y="1293520"/>
                </a:lnTo>
                <a:lnTo>
                  <a:pt x="142498" y="1155617"/>
                </a:lnTo>
                <a:lnTo>
                  <a:pt x="204036" y="1022130"/>
                </a:lnTo>
                <a:lnTo>
                  <a:pt x="275858" y="893883"/>
                </a:lnTo>
                <a:lnTo>
                  <a:pt x="357520" y="771666"/>
                </a:lnTo>
                <a:lnTo>
                  <a:pt x="448520" y="656233"/>
                </a:lnTo>
                <a:lnTo>
                  <a:pt x="548296" y="548296"/>
                </a:lnTo>
                <a:lnTo>
                  <a:pt x="656233" y="448520"/>
                </a:lnTo>
                <a:lnTo>
                  <a:pt x="771666" y="357520"/>
                </a:lnTo>
                <a:lnTo>
                  <a:pt x="893883" y="275858"/>
                </a:lnTo>
                <a:lnTo>
                  <a:pt x="1022130" y="204036"/>
                </a:lnTo>
                <a:lnTo>
                  <a:pt x="1155617" y="142498"/>
                </a:lnTo>
                <a:lnTo>
                  <a:pt x="1293520" y="91622"/>
                </a:lnTo>
                <a:lnTo>
                  <a:pt x="1434990" y="51724"/>
                </a:lnTo>
                <a:lnTo>
                  <a:pt x="1579155" y="23047"/>
                </a:lnTo>
                <a:lnTo>
                  <a:pt x="1725125" y="5771"/>
                </a:lnTo>
                <a:lnTo>
                  <a:pt x="1872000" y="0"/>
                </a:lnTo>
                <a:lnTo>
                  <a:pt x="2018875" y="5771"/>
                </a:lnTo>
                <a:lnTo>
                  <a:pt x="2164845" y="23047"/>
                </a:lnTo>
                <a:lnTo>
                  <a:pt x="2309010" y="51724"/>
                </a:lnTo>
                <a:lnTo>
                  <a:pt x="2450480" y="91622"/>
                </a:lnTo>
                <a:lnTo>
                  <a:pt x="2588383" y="142498"/>
                </a:lnTo>
                <a:lnTo>
                  <a:pt x="2721870" y="204036"/>
                </a:lnTo>
                <a:lnTo>
                  <a:pt x="2850117" y="275858"/>
                </a:lnTo>
                <a:lnTo>
                  <a:pt x="2972334" y="357520"/>
                </a:lnTo>
                <a:lnTo>
                  <a:pt x="3087767" y="448520"/>
                </a:lnTo>
                <a:lnTo>
                  <a:pt x="3195704" y="548296"/>
                </a:lnTo>
                <a:lnTo>
                  <a:pt x="3295480" y="656233"/>
                </a:lnTo>
                <a:lnTo>
                  <a:pt x="3386480" y="771666"/>
                </a:lnTo>
                <a:lnTo>
                  <a:pt x="3468142" y="893883"/>
                </a:lnTo>
                <a:lnTo>
                  <a:pt x="3539964" y="1022130"/>
                </a:lnTo>
                <a:lnTo>
                  <a:pt x="3601502" y="1155617"/>
                </a:lnTo>
                <a:lnTo>
                  <a:pt x="3652378" y="1293520"/>
                </a:lnTo>
                <a:lnTo>
                  <a:pt x="3692276" y="1434990"/>
                </a:lnTo>
                <a:lnTo>
                  <a:pt x="3720953" y="1579155"/>
                </a:lnTo>
                <a:lnTo>
                  <a:pt x="3738229" y="1725125"/>
                </a:lnTo>
                <a:lnTo>
                  <a:pt x="3744000" y="1872000"/>
                </a:lnTo>
                <a:lnTo>
                  <a:pt x="3240000" y="1872000"/>
                </a:lnTo>
                <a:lnTo>
                  <a:pt x="3235783" y="1764668"/>
                </a:lnTo>
                <a:lnTo>
                  <a:pt x="3223158" y="1657998"/>
                </a:lnTo>
                <a:lnTo>
                  <a:pt x="3202202" y="1552647"/>
                </a:lnTo>
                <a:lnTo>
                  <a:pt x="3173045" y="1449265"/>
                </a:lnTo>
                <a:lnTo>
                  <a:pt x="3135867" y="1348489"/>
                </a:lnTo>
                <a:lnTo>
                  <a:pt x="3090897" y="1250941"/>
                </a:lnTo>
                <a:lnTo>
                  <a:pt x="3038412" y="1157222"/>
                </a:lnTo>
                <a:lnTo>
                  <a:pt x="2978735" y="1067910"/>
                </a:lnTo>
                <a:lnTo>
                  <a:pt x="2912235" y="983555"/>
                </a:lnTo>
                <a:lnTo>
                  <a:pt x="2839322" y="904678"/>
                </a:lnTo>
                <a:lnTo>
                  <a:pt x="2760445" y="831765"/>
                </a:lnTo>
                <a:lnTo>
                  <a:pt x="2676090" y="765265"/>
                </a:lnTo>
                <a:lnTo>
                  <a:pt x="2586778" y="705588"/>
                </a:lnTo>
                <a:lnTo>
                  <a:pt x="2493059" y="653103"/>
                </a:lnTo>
                <a:lnTo>
                  <a:pt x="2395511" y="608133"/>
                </a:lnTo>
                <a:lnTo>
                  <a:pt x="2294735" y="570955"/>
                </a:lnTo>
                <a:lnTo>
                  <a:pt x="2191353" y="541798"/>
                </a:lnTo>
                <a:lnTo>
                  <a:pt x="2086002" y="520842"/>
                </a:lnTo>
                <a:lnTo>
                  <a:pt x="1979332" y="508217"/>
                </a:lnTo>
                <a:lnTo>
                  <a:pt x="1872000" y="504000"/>
                </a:lnTo>
                <a:lnTo>
                  <a:pt x="1764668" y="508217"/>
                </a:lnTo>
                <a:lnTo>
                  <a:pt x="1657998" y="520842"/>
                </a:lnTo>
                <a:lnTo>
                  <a:pt x="1552647" y="541798"/>
                </a:lnTo>
                <a:lnTo>
                  <a:pt x="1449265" y="570955"/>
                </a:lnTo>
                <a:lnTo>
                  <a:pt x="1348489" y="608133"/>
                </a:lnTo>
                <a:lnTo>
                  <a:pt x="1250941" y="653103"/>
                </a:lnTo>
                <a:lnTo>
                  <a:pt x="1157222" y="705588"/>
                </a:lnTo>
                <a:lnTo>
                  <a:pt x="1067910" y="765265"/>
                </a:lnTo>
                <a:lnTo>
                  <a:pt x="983555" y="831765"/>
                </a:lnTo>
                <a:lnTo>
                  <a:pt x="904678" y="904678"/>
                </a:lnTo>
                <a:lnTo>
                  <a:pt x="831765" y="983555"/>
                </a:lnTo>
                <a:lnTo>
                  <a:pt x="765265" y="1067910"/>
                </a:lnTo>
                <a:lnTo>
                  <a:pt x="705588" y="1157222"/>
                </a:lnTo>
                <a:lnTo>
                  <a:pt x="653103" y="1250941"/>
                </a:lnTo>
                <a:lnTo>
                  <a:pt x="608133" y="1348489"/>
                </a:lnTo>
                <a:lnTo>
                  <a:pt x="570955" y="1449265"/>
                </a:lnTo>
                <a:lnTo>
                  <a:pt x="541798" y="1552647"/>
                </a:lnTo>
                <a:lnTo>
                  <a:pt x="520842" y="1657998"/>
                </a:lnTo>
                <a:lnTo>
                  <a:pt x="508217" y="1764668"/>
                </a:lnTo>
                <a:lnTo>
                  <a:pt x="504000" y="1872000"/>
                </a:lnTo>
                <a:close/>
              </a:path>
            </a:pathLst>
          </a:custGeom>
          <a:solidFill>
            <a:srgbClr val="9C7442"/>
          </a:solidFill>
          <a:ln/>
        </p:spPr>
      </p:sp>
      <p:sp>
        <p:nvSpPr>
          <p:cNvPr id="9" name="Shape 7"/>
          <p:cNvSpPr/>
          <p:nvPr/>
        </p:nvSpPr>
        <p:spPr>
          <a:xfrm>
            <a:off x="1908000" y="6120000"/>
            <a:ext cx="3744000" cy="1872000"/>
          </a:xfrm>
          <a:custGeom>
            <a:avLst/>
            <a:gdLst/>
            <a:ahLst/>
            <a:cxnLst/>
            <a:rect l="l" t="t" r="r" b="b"/>
            <a:pathLst>
              <a:path w="3744000" h="1872000">
                <a:moveTo>
                  <a:pt x="3744000" y="0"/>
                </a:moveTo>
                <a:lnTo>
                  <a:pt x="3738229" y="146875"/>
                </a:lnTo>
                <a:lnTo>
                  <a:pt x="3720953" y="292845"/>
                </a:lnTo>
                <a:lnTo>
                  <a:pt x="3692276" y="437010"/>
                </a:lnTo>
                <a:lnTo>
                  <a:pt x="3652378" y="578480"/>
                </a:lnTo>
                <a:lnTo>
                  <a:pt x="3601502" y="716383"/>
                </a:lnTo>
                <a:lnTo>
                  <a:pt x="3539964" y="849870"/>
                </a:lnTo>
                <a:lnTo>
                  <a:pt x="3468142" y="978117"/>
                </a:lnTo>
                <a:lnTo>
                  <a:pt x="3386480" y="1100334"/>
                </a:lnTo>
                <a:lnTo>
                  <a:pt x="3295480" y="1215767"/>
                </a:lnTo>
                <a:lnTo>
                  <a:pt x="3195704" y="1323704"/>
                </a:lnTo>
                <a:lnTo>
                  <a:pt x="3087767" y="1423480"/>
                </a:lnTo>
                <a:lnTo>
                  <a:pt x="2972334" y="1514480"/>
                </a:lnTo>
                <a:lnTo>
                  <a:pt x="2850117" y="1596142"/>
                </a:lnTo>
                <a:lnTo>
                  <a:pt x="2721870" y="1667964"/>
                </a:lnTo>
                <a:lnTo>
                  <a:pt x="2588383" y="1729502"/>
                </a:lnTo>
                <a:lnTo>
                  <a:pt x="2450480" y="1780378"/>
                </a:lnTo>
                <a:lnTo>
                  <a:pt x="2309010" y="1820276"/>
                </a:lnTo>
                <a:lnTo>
                  <a:pt x="2164845" y="1848953"/>
                </a:lnTo>
                <a:lnTo>
                  <a:pt x="2018875" y="1866229"/>
                </a:lnTo>
                <a:lnTo>
                  <a:pt x="1872000" y="1872000"/>
                </a:lnTo>
                <a:lnTo>
                  <a:pt x="1725125" y="1866229"/>
                </a:lnTo>
                <a:lnTo>
                  <a:pt x="1579155" y="1848953"/>
                </a:lnTo>
                <a:lnTo>
                  <a:pt x="1434990" y="1820276"/>
                </a:lnTo>
                <a:lnTo>
                  <a:pt x="1293520" y="1780378"/>
                </a:lnTo>
                <a:lnTo>
                  <a:pt x="1155617" y="1729502"/>
                </a:lnTo>
                <a:lnTo>
                  <a:pt x="1022130" y="1667964"/>
                </a:lnTo>
                <a:lnTo>
                  <a:pt x="893883" y="1596142"/>
                </a:lnTo>
                <a:lnTo>
                  <a:pt x="771666" y="1514480"/>
                </a:lnTo>
                <a:lnTo>
                  <a:pt x="656233" y="1423480"/>
                </a:lnTo>
                <a:lnTo>
                  <a:pt x="548296" y="1323704"/>
                </a:lnTo>
                <a:lnTo>
                  <a:pt x="448520" y="1215767"/>
                </a:lnTo>
                <a:lnTo>
                  <a:pt x="357520" y="1100334"/>
                </a:lnTo>
                <a:lnTo>
                  <a:pt x="275858" y="978117"/>
                </a:lnTo>
                <a:lnTo>
                  <a:pt x="204036" y="849870"/>
                </a:lnTo>
                <a:lnTo>
                  <a:pt x="142498" y="716383"/>
                </a:lnTo>
                <a:lnTo>
                  <a:pt x="91622" y="578480"/>
                </a:lnTo>
                <a:lnTo>
                  <a:pt x="51724" y="437010"/>
                </a:lnTo>
                <a:lnTo>
                  <a:pt x="23047" y="292845"/>
                </a:lnTo>
                <a:lnTo>
                  <a:pt x="5771" y="146875"/>
                </a:lnTo>
                <a:lnTo>
                  <a:pt x="0" y="0"/>
                </a:lnTo>
                <a:lnTo>
                  <a:pt x="504000" y="0"/>
                </a:lnTo>
                <a:lnTo>
                  <a:pt x="508217" y="107332"/>
                </a:lnTo>
                <a:lnTo>
                  <a:pt x="520842" y="214002"/>
                </a:lnTo>
                <a:lnTo>
                  <a:pt x="541798" y="319353"/>
                </a:lnTo>
                <a:lnTo>
                  <a:pt x="570955" y="422735"/>
                </a:lnTo>
                <a:lnTo>
                  <a:pt x="608133" y="523511"/>
                </a:lnTo>
                <a:lnTo>
                  <a:pt x="653103" y="621059"/>
                </a:lnTo>
                <a:lnTo>
                  <a:pt x="705588" y="714778"/>
                </a:lnTo>
                <a:lnTo>
                  <a:pt x="765265" y="804090"/>
                </a:lnTo>
                <a:lnTo>
                  <a:pt x="831765" y="888445"/>
                </a:lnTo>
                <a:lnTo>
                  <a:pt x="904678" y="967322"/>
                </a:lnTo>
                <a:lnTo>
                  <a:pt x="983555" y="1040235"/>
                </a:lnTo>
                <a:lnTo>
                  <a:pt x="1067910" y="1106735"/>
                </a:lnTo>
                <a:lnTo>
                  <a:pt x="1157222" y="1166412"/>
                </a:lnTo>
                <a:lnTo>
                  <a:pt x="1250941" y="1218897"/>
                </a:lnTo>
                <a:lnTo>
                  <a:pt x="1348489" y="1263867"/>
                </a:lnTo>
                <a:lnTo>
                  <a:pt x="1449265" y="1301045"/>
                </a:lnTo>
                <a:lnTo>
                  <a:pt x="1552647" y="1330202"/>
                </a:lnTo>
                <a:lnTo>
                  <a:pt x="1657998" y="1351158"/>
                </a:lnTo>
                <a:lnTo>
                  <a:pt x="1764668" y="1363783"/>
                </a:lnTo>
                <a:lnTo>
                  <a:pt x="1872000" y="1368000"/>
                </a:lnTo>
                <a:lnTo>
                  <a:pt x="1979332" y="1363783"/>
                </a:lnTo>
                <a:lnTo>
                  <a:pt x="2086002" y="1351158"/>
                </a:lnTo>
                <a:lnTo>
                  <a:pt x="2191353" y="1330202"/>
                </a:lnTo>
                <a:lnTo>
                  <a:pt x="2294735" y="1301045"/>
                </a:lnTo>
                <a:lnTo>
                  <a:pt x="2395511" y="1263867"/>
                </a:lnTo>
                <a:lnTo>
                  <a:pt x="2493059" y="1218897"/>
                </a:lnTo>
                <a:lnTo>
                  <a:pt x="2586778" y="1166412"/>
                </a:lnTo>
                <a:lnTo>
                  <a:pt x="2676090" y="1106735"/>
                </a:lnTo>
                <a:lnTo>
                  <a:pt x="2760445" y="1040235"/>
                </a:lnTo>
                <a:lnTo>
                  <a:pt x="2839322" y="967322"/>
                </a:lnTo>
                <a:lnTo>
                  <a:pt x="2912235" y="888445"/>
                </a:lnTo>
                <a:lnTo>
                  <a:pt x="2978735" y="804090"/>
                </a:lnTo>
                <a:lnTo>
                  <a:pt x="3038412" y="714778"/>
                </a:lnTo>
                <a:lnTo>
                  <a:pt x="3090897" y="621059"/>
                </a:lnTo>
                <a:lnTo>
                  <a:pt x="3135867" y="523511"/>
                </a:lnTo>
                <a:lnTo>
                  <a:pt x="3173045" y="422735"/>
                </a:lnTo>
                <a:lnTo>
                  <a:pt x="3202202" y="319353"/>
                </a:lnTo>
                <a:lnTo>
                  <a:pt x="3223158" y="214002"/>
                </a:lnTo>
                <a:lnTo>
                  <a:pt x="3235783" y="107332"/>
                </a:lnTo>
                <a:lnTo>
                  <a:pt x="3240000" y="0"/>
                </a:lnTo>
                <a:close/>
              </a:path>
            </a:pathLst>
          </a:custGeom>
          <a:solidFill>
            <a:srgbClr val="1F3A56"/>
          </a:solidFill>
          <a:ln/>
        </p:spPr>
      </p:sp>
      <p:sp>
        <p:nvSpPr>
          <p:cNvPr id="10" name="Shape 8"/>
          <p:cNvSpPr/>
          <p:nvPr/>
        </p:nvSpPr>
        <p:spPr>
          <a:xfrm>
            <a:off x="5400000" y="5904000"/>
            <a:ext cx="432000" cy="360000"/>
          </a:xfrm>
          <a:custGeom>
            <a:avLst/>
            <a:gdLst/>
            <a:ahLst/>
            <a:cxnLst/>
            <a:rect l="l" t="t" r="r" b="b"/>
            <a:pathLst>
              <a:path w="432000" h="360000">
                <a:moveTo>
                  <a:pt x="432000" y="0"/>
                </a:moveTo>
                <a:lnTo>
                  <a:pt x="0" y="0"/>
                </a:lnTo>
                <a:lnTo>
                  <a:pt x="216000" y="360000"/>
                </a:lnTo>
                <a:close/>
              </a:path>
            </a:pathLst>
          </a:custGeom>
          <a:solidFill>
            <a:srgbClr val="9C7442"/>
          </a:solidFill>
          <a:ln/>
        </p:spPr>
      </p:sp>
      <p:sp>
        <p:nvSpPr>
          <p:cNvPr id="11" name="Shape 9"/>
          <p:cNvSpPr/>
          <p:nvPr/>
        </p:nvSpPr>
        <p:spPr>
          <a:xfrm>
            <a:off x="1728000" y="5976000"/>
            <a:ext cx="432000" cy="360000"/>
          </a:xfrm>
          <a:custGeom>
            <a:avLst/>
            <a:gdLst/>
            <a:ahLst/>
            <a:cxnLst/>
            <a:rect l="l" t="t" r="r" b="b"/>
            <a:pathLst>
              <a:path w="432000" h="360000">
                <a:moveTo>
                  <a:pt x="0" y="360000"/>
                </a:moveTo>
                <a:lnTo>
                  <a:pt x="432000" y="360000"/>
                </a:lnTo>
                <a:lnTo>
                  <a:pt x="216000" y="0"/>
                </a:lnTo>
                <a:close/>
              </a:path>
            </a:pathLst>
          </a:custGeom>
          <a:solidFill>
            <a:srgbClr val="1F3A56"/>
          </a:solidFill>
          <a:ln/>
        </p:spPr>
      </p:sp>
      <p:sp>
        <p:nvSpPr>
          <p:cNvPr id="12" name="Shape 10"/>
          <p:cNvSpPr/>
          <p:nvPr/>
        </p:nvSpPr>
        <p:spPr>
          <a:xfrm>
            <a:off x="2556000" y="4896000"/>
            <a:ext cx="2448000" cy="2448000"/>
          </a:xfrm>
          <a:prstGeom prst="ellipse">
            <a:avLst/>
          </a:prstGeom>
          <a:solidFill>
            <a:srgbClr val="F5F4F1"/>
          </a:solidFill>
          <a:ln/>
        </p:spPr>
      </p:sp>
      <p:sp>
        <p:nvSpPr>
          <p:cNvPr id="13" name="Text 11"/>
          <p:cNvSpPr/>
          <p:nvPr/>
        </p:nvSpPr>
        <p:spPr>
          <a:xfrm>
            <a:off x="2700000" y="5760000"/>
            <a:ext cx="216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C74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Strength to Hold.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00000" y="6192000"/>
            <a:ext cx="216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F3A5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Power to Connect.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40000" y="3816000"/>
            <a:ext cx="288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HOLD｜資源投資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980000" y="4014000"/>
            <a:ext cx="36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投資で得た資源を、市場へ届ける</a:t>
            </a:r>
            <a:endParaRPr lang="en-US" sz="620" dirty="0"/>
          </a:p>
        </p:txBody>
      </p:sp>
      <p:sp>
        <p:nvSpPr>
          <p:cNvPr id="17" name="Text 15"/>
          <p:cNvSpPr/>
          <p:nvPr/>
        </p:nvSpPr>
        <p:spPr>
          <a:xfrm>
            <a:off x="2340000" y="8100000"/>
            <a:ext cx="288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F3A5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CONNECT｜トレーディング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980000" y="8316000"/>
            <a:ext cx="36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市場の情報を、投資判断へ返す</a:t>
            </a:r>
            <a:endParaRPr lang="en-US" sz="620" dirty="0"/>
          </a:p>
        </p:txBody>
      </p:sp>
      <p:sp>
        <p:nvSpPr>
          <p:cNvPr id="19" name="Shape 17"/>
          <p:cNvSpPr/>
          <p:nvPr/>
        </p:nvSpPr>
        <p:spPr>
          <a:xfrm>
            <a:off x="1360800" y="4276800"/>
            <a:ext cx="230400" cy="230400"/>
          </a:xfrm>
          <a:prstGeom prst="ellipse">
            <a:avLst/>
          </a:prstGeom>
          <a:solidFill>
            <a:srgbClr val="9C7442"/>
          </a:solidFill>
          <a:ln/>
        </p:spPr>
      </p:sp>
      <p:sp>
        <p:nvSpPr>
          <p:cNvPr id="20" name="Text 18"/>
          <p:cNvSpPr/>
          <p:nvPr/>
        </p:nvSpPr>
        <p:spPr>
          <a:xfrm>
            <a:off x="1360800" y="4320000"/>
            <a:ext cx="2304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5896800" y="7732800"/>
            <a:ext cx="230400" cy="230400"/>
          </a:xfrm>
          <a:prstGeom prst="ellipse">
            <a:avLst/>
          </a:prstGeom>
          <a:solidFill>
            <a:srgbClr val="1F3A56"/>
          </a:solidFill>
          <a:ln/>
        </p:spPr>
      </p:sp>
      <p:sp>
        <p:nvSpPr>
          <p:cNvPr id="22" name="Text 20"/>
          <p:cNvSpPr/>
          <p:nvPr/>
        </p:nvSpPr>
        <p:spPr>
          <a:xfrm>
            <a:off x="5896800" y="7776000"/>
            <a:ext cx="2304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 flipV="1">
            <a:off x="6228000" y="3744000"/>
            <a:ext cx="2124000" cy="1296000"/>
          </a:xfrm>
          <a:prstGeom prst="line">
            <a:avLst/>
          </a:prstGeom>
          <a:noFill/>
          <a:ln w="12700">
            <a:solidFill>
              <a:srgbClr val="A8622F"/>
            </a:solidFill>
            <a:prstDash val="dash"/>
            <a:headEnd type="triangle"/>
          </a:ln>
        </p:spPr>
      </p:sp>
      <p:sp>
        <p:nvSpPr>
          <p:cNvPr id="24" name="Shape 22"/>
          <p:cNvSpPr/>
          <p:nvPr/>
        </p:nvSpPr>
        <p:spPr>
          <a:xfrm>
            <a:off x="6328800" y="4564800"/>
            <a:ext cx="230400" cy="230400"/>
          </a:xfrm>
          <a:prstGeom prst="ellipse">
            <a:avLst/>
          </a:prstGeom>
          <a:solidFill>
            <a:srgbClr val="A8622F"/>
          </a:solidFill>
          <a:ln/>
        </p:spPr>
      </p:sp>
      <p:sp>
        <p:nvSpPr>
          <p:cNvPr id="25" name="Text 23"/>
          <p:cNvSpPr/>
          <p:nvPr/>
        </p:nvSpPr>
        <p:spPr>
          <a:xfrm>
            <a:off x="6328800" y="4608000"/>
            <a:ext cx="2304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504000" y="9000000"/>
            <a:ext cx="648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12151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　この循環に、長い時間をかけて関わり続けてきた。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504000" y="9288000"/>
            <a:ext cx="64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5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市況の浮き沈みに左右されず関わり続けた積み重ねが、先を見据えて手を打つ力（先見性）になっています。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504000" y="10332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spc="15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8352000" y="3312000"/>
            <a:ext cx="6264000" cy="936000"/>
          </a:xfrm>
          <a:prstGeom prst="rect">
            <a:avLst/>
          </a:prstGeom>
          <a:solidFill>
            <a:srgbClr val="E9D3C2"/>
          </a:solidFill>
          <a:ln/>
        </p:spPr>
      </p:sp>
      <p:sp>
        <p:nvSpPr>
          <p:cNvPr id="30" name="Text 28"/>
          <p:cNvSpPr/>
          <p:nvPr/>
        </p:nvSpPr>
        <p:spPr>
          <a:xfrm>
            <a:off x="8640000" y="3492000"/>
            <a:ext cx="57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A862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　NEW TECHNOLOGY｜流れ全体を進化させる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640000" y="3744000"/>
            <a:ext cx="57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6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業界のボトルネック（選鉱・浸出・リサイクル）に挑む技術へ投資し、知見を両輪に還元する。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7992000" y="4680000"/>
            <a:ext cx="43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60" kern="0" dirty="0">
                <a:solidFill>
                  <a:srgbClr val="9C74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D83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E　その結果としての、いまの主力事業</a:t>
            </a:r>
            <a:endParaRPr lang="en-US" sz="800" dirty="0"/>
          </a:p>
        </p:txBody>
      </p:sp>
      <p:pic>
        <p:nvPicPr>
          <p:cNvPr id="33" name="Image 0" descr="/home/user/my-website/mc_metals_12p/src/assets/_crop/r-047_52.0x34.0_0.5_0.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2000" y="5040000"/>
            <a:ext cx="1872000" cy="12240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0080000" y="5112000"/>
            <a:ext cx="43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METALLURGICAL COAL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0080000" y="5364000"/>
            <a:ext cx="43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原料炭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0080000" y="5616000"/>
            <a:ext cx="432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8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高品位の一級資産を、長期のコミットメントで育てる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 flipV="1">
            <a:off x="6228000" y="5652000"/>
            <a:ext cx="1692000" cy="468000"/>
          </a:xfrm>
          <a:prstGeom prst="line">
            <a:avLst/>
          </a:prstGeom>
          <a:noFill/>
          <a:ln w="7620">
            <a:solidFill>
              <a:srgbClr val="CFD3D7"/>
            </a:solidFill>
            <a:prstDash val="solid"/>
          </a:ln>
        </p:spPr>
      </p:sp>
      <p:pic>
        <p:nvPicPr>
          <p:cNvPr id="38" name="Image 1" descr="/home/user/my-website/mc_metals_12p/src/assets/_crop/_mr_project_02_52.0x34.0_0.5_0.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2000" y="6480000"/>
            <a:ext cx="1872000" cy="122400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10080000" y="6552000"/>
            <a:ext cx="43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COPPER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10080000" y="6804000"/>
            <a:ext cx="43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10080000" y="7056000"/>
            <a:ext cx="432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8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世界上位の優良鉱山に、早くから参画</a:t>
            </a:r>
            <a:endParaRPr lang="en-US" sz="680" dirty="0"/>
          </a:p>
        </p:txBody>
      </p:sp>
      <p:sp>
        <p:nvSpPr>
          <p:cNvPr id="42" name="Shape 38"/>
          <p:cNvSpPr/>
          <p:nvPr/>
        </p:nvSpPr>
        <p:spPr>
          <a:xfrm>
            <a:off x="6228000" y="6120000"/>
            <a:ext cx="1692000" cy="972000"/>
          </a:xfrm>
          <a:prstGeom prst="line">
            <a:avLst/>
          </a:prstGeom>
          <a:noFill/>
          <a:ln w="7620">
            <a:solidFill>
              <a:srgbClr val="CFD3D7"/>
            </a:solidFill>
            <a:prstDash val="solid"/>
          </a:ln>
        </p:spPr>
      </p:sp>
      <p:pic>
        <p:nvPicPr>
          <p:cNvPr id="43" name="Image 2" descr="/home/user/my-website/mc_metals_12p/src/assets/_crop/r-023_52.0x34.0_0.5_0.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2000" y="7920000"/>
            <a:ext cx="1872000" cy="1224000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10080000" y="7992000"/>
            <a:ext cx="43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2151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TRADING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10080000" y="8244000"/>
            <a:ext cx="43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9C74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トレーディング</a:t>
            </a:r>
            <a:endParaRPr lang="en-US" sz="800" dirty="0"/>
          </a:p>
        </p:txBody>
      </p:sp>
      <p:sp>
        <p:nvSpPr>
          <p:cNvPr id="46" name="Text 41"/>
          <p:cNvSpPr/>
          <p:nvPr/>
        </p:nvSpPr>
        <p:spPr>
          <a:xfrm>
            <a:off x="10080000" y="8496000"/>
            <a:ext cx="432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80" dirty="0">
                <a:solidFill>
                  <a:srgbClr val="3D424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自社と第三者の資源を、世界の需要家へ</a:t>
            </a:r>
            <a:endParaRPr lang="en-US" sz="680" dirty="0"/>
          </a:p>
        </p:txBody>
      </p:sp>
      <p:sp>
        <p:nvSpPr>
          <p:cNvPr id="47" name="Shape 42"/>
          <p:cNvSpPr/>
          <p:nvPr/>
        </p:nvSpPr>
        <p:spPr>
          <a:xfrm>
            <a:off x="6228000" y="6120000"/>
            <a:ext cx="1692000" cy="2412000"/>
          </a:xfrm>
          <a:prstGeom prst="line">
            <a:avLst/>
          </a:prstGeom>
          <a:noFill/>
          <a:ln w="7620">
            <a:solidFill>
              <a:srgbClr val="CFD3D7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7992000" y="9504000"/>
            <a:ext cx="6624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A862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詳しくは P.08　Our Businesses &amp; Innovation</a:t>
            </a:r>
            <a:endParaRPr lang="en-US" sz="660" dirty="0"/>
          </a:p>
        </p:txBody>
      </p:sp>
      <p:sp>
        <p:nvSpPr>
          <p:cNvPr id="49" name="Text 44"/>
          <p:cNvSpPr/>
          <p:nvPr/>
        </p:nvSpPr>
        <p:spPr>
          <a:xfrm>
            <a:off x="13896000" y="10332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spc="150" kern="0" dirty="0">
                <a:solidFill>
                  <a:srgbClr val="7D8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650" dirty="0"/>
          </a:p>
        </p:txBody>
      </p:sp>
      <p:sp>
        <p:nvSpPr>
          <p:cNvPr id="50" name="Text 45"/>
          <p:cNvSpPr/>
          <p:nvPr/>
        </p:nvSpPr>
        <p:spPr>
          <a:xfrm>
            <a:off x="137160" y="103784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P6–7 案B｜価値循環のループ＋各事業への接続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2026-10-14T02:40:26Z</dcterms:created>
  <dcterms:modified xsi:type="dcterms:W3CDTF">2026-10-14T02:40:26Z</dcterms:modified>
</cp:coreProperties>
</file>