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P01 Cover｜詳細は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P02 Introduction｜詳細は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P03 Core Message &amp; Contents｜詳細は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P04 Who We Are｜三菱商事とは｜詳細は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P05 Who We Are｜金属資源グループとは｜詳細は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P06 Our Distinctive Strength｜詳細は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P07 Our Distinctive Strength｜詳細は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P08 Our Businesses &amp; Innovation｜詳細は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P09 Our Businesses &amp; Innovation｜詳細は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P10 Partner of Choice｜詳細は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P11 Supporting Society｜詳細は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P12 Back Cover｜詳細は content_and_factcheck.md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6000" y="-319081"/>
            <a:ext cx="7997512" cy="8503681"/>
          </a:xfrm>
          <a:custGeom>
            <a:avLst/>
            <a:gdLst/>
            <a:ahLst/>
            <a:cxnLst/>
            <a:rect l="l" t="t" r="r" b="b"/>
            <a:pathLst>
              <a:path w="7997512" h="8503681">
                <a:moveTo>
                  <a:pt x="0" y="8503681"/>
                </a:moveTo>
                <a:lnTo>
                  <a:pt x="3157550" y="8503681"/>
                </a:lnTo>
                <a:lnTo>
                  <a:pt x="6978852" y="1894995"/>
                </a:lnTo>
                <a:lnTo>
                  <a:pt x="7997512" y="127638"/>
                </a:lnTo>
                <a:lnTo>
                  <a:pt x="7776062" y="0"/>
                </a:lnTo>
                <a:lnTo>
                  <a:pt x="6757491" y="1767203"/>
                </a:lnTo>
                <a:lnTo>
                  <a:pt x="3010091" y="8248081"/>
                </a:lnTo>
                <a:lnTo>
                  <a:pt x="0" y="8248081"/>
                </a:lnTo>
                <a:close/>
              </a:path>
            </a:pathLst>
          </a:custGeom>
          <a:solidFill>
            <a:srgbClr val="A8622F"/>
          </a:solidFill>
          <a:ln/>
        </p:spPr>
      </p:sp>
      <p:sp>
        <p:nvSpPr>
          <p:cNvPr id="4" name="Shape 2"/>
          <p:cNvSpPr/>
          <p:nvPr/>
        </p:nvSpPr>
        <p:spPr>
          <a:xfrm>
            <a:off x="-216000" y="-298462"/>
            <a:ext cx="7886787" cy="8312062"/>
          </a:xfrm>
          <a:custGeom>
            <a:avLst/>
            <a:gdLst/>
            <a:ahLst/>
            <a:cxnLst/>
            <a:rect l="l" t="t" r="r" b="b"/>
            <a:pathLst>
              <a:path w="7886787" h="8312062">
                <a:moveTo>
                  <a:pt x="0" y="8312062"/>
                </a:moveTo>
                <a:lnTo>
                  <a:pt x="3083820" y="8312062"/>
                </a:lnTo>
                <a:lnTo>
                  <a:pt x="6868171" y="1767280"/>
                </a:lnTo>
                <a:lnTo>
                  <a:pt x="7886787" y="0"/>
                </a:lnTo>
              </a:path>
            </a:pathLst>
          </a:custGeom>
          <a:ln w="508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16000" y="-53019"/>
            <a:ext cx="8459125" cy="8770419"/>
          </a:xfrm>
          <a:custGeom>
            <a:avLst/>
            <a:gdLst/>
            <a:ahLst/>
            <a:cxnLst/>
            <a:rect l="l" t="t" r="r" b="b"/>
            <a:pathLst>
              <a:path w="8459125" h="8770419">
                <a:moveTo>
                  <a:pt x="0" y="8770419"/>
                </a:moveTo>
                <a:lnTo>
                  <a:pt x="3464930" y="8770419"/>
                </a:lnTo>
                <a:lnTo>
                  <a:pt x="7440281" y="1895315"/>
                </a:lnTo>
                <a:lnTo>
                  <a:pt x="8459125" y="127638"/>
                </a:lnTo>
                <a:lnTo>
                  <a:pt x="8237675" y="0"/>
                </a:lnTo>
                <a:lnTo>
                  <a:pt x="7218919" y="1767523"/>
                </a:lnTo>
                <a:lnTo>
                  <a:pt x="3317470" y="8514819"/>
                </a:lnTo>
                <a:lnTo>
                  <a:pt x="0" y="8514819"/>
                </a:lnTo>
                <a:close/>
              </a:path>
            </a:pathLst>
          </a:custGeom>
          <a:solidFill>
            <a:srgbClr val="6E7A87"/>
          </a:solidFill>
          <a:ln/>
        </p:spPr>
      </p:sp>
      <p:sp>
        <p:nvSpPr>
          <p:cNvPr id="6" name="Shape 4"/>
          <p:cNvSpPr/>
          <p:nvPr/>
        </p:nvSpPr>
        <p:spPr>
          <a:xfrm>
            <a:off x="-216000" y="-32400"/>
            <a:ext cx="8348400" cy="8578800"/>
          </a:xfrm>
          <a:custGeom>
            <a:avLst/>
            <a:gdLst/>
            <a:ahLst/>
            <a:cxnLst/>
            <a:rect l="l" t="t" r="r" b="b"/>
            <a:pathLst>
              <a:path w="8348400" h="8578800">
                <a:moveTo>
                  <a:pt x="0" y="8578800"/>
                </a:moveTo>
                <a:lnTo>
                  <a:pt x="3391200" y="8578800"/>
                </a:lnTo>
                <a:lnTo>
                  <a:pt x="7329600" y="1767600"/>
                </a:lnTo>
                <a:lnTo>
                  <a:pt x="8348400" y="0"/>
                </a:lnTo>
              </a:path>
            </a:pathLst>
          </a:custGeom>
          <a:ln w="508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216000" y="213043"/>
            <a:ext cx="8920738" cy="9037157"/>
          </a:xfrm>
          <a:custGeom>
            <a:avLst/>
            <a:gdLst/>
            <a:ahLst/>
            <a:cxnLst/>
            <a:rect l="l" t="t" r="r" b="b"/>
            <a:pathLst>
              <a:path w="8920738" h="9037157">
                <a:moveTo>
                  <a:pt x="0" y="9037157"/>
                </a:moveTo>
                <a:lnTo>
                  <a:pt x="3772309" y="9037157"/>
                </a:lnTo>
                <a:lnTo>
                  <a:pt x="7901709" y="1895635"/>
                </a:lnTo>
                <a:lnTo>
                  <a:pt x="8920738" y="127638"/>
                </a:lnTo>
                <a:lnTo>
                  <a:pt x="8699288" y="0"/>
                </a:lnTo>
                <a:lnTo>
                  <a:pt x="7680348" y="1767843"/>
                </a:lnTo>
                <a:lnTo>
                  <a:pt x="3624850" y="8781557"/>
                </a:lnTo>
                <a:lnTo>
                  <a:pt x="0" y="8781557"/>
                </a:lnTo>
                <a:close/>
              </a:path>
            </a:pathLst>
          </a:custGeom>
          <a:solidFill>
            <a:srgbClr val="4A535D"/>
          </a:solidFill>
          <a:ln/>
        </p:spPr>
      </p:sp>
      <p:sp>
        <p:nvSpPr>
          <p:cNvPr id="8" name="Shape 6"/>
          <p:cNvSpPr/>
          <p:nvPr/>
        </p:nvSpPr>
        <p:spPr>
          <a:xfrm>
            <a:off x="-216000" y="233662"/>
            <a:ext cx="8810013" cy="8845538"/>
          </a:xfrm>
          <a:custGeom>
            <a:avLst/>
            <a:gdLst/>
            <a:ahLst/>
            <a:cxnLst/>
            <a:rect l="l" t="t" r="r" b="b"/>
            <a:pathLst>
              <a:path w="8810013" h="8845538">
                <a:moveTo>
                  <a:pt x="0" y="8845538"/>
                </a:moveTo>
                <a:lnTo>
                  <a:pt x="3698580" y="8845538"/>
                </a:lnTo>
                <a:lnTo>
                  <a:pt x="7791029" y="1767920"/>
                </a:lnTo>
                <a:lnTo>
                  <a:pt x="8810013" y="0"/>
                </a:lnTo>
              </a:path>
            </a:pathLst>
          </a:custGeom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000" y="864000"/>
            <a:ext cx="5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350" kern="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MITSUBISHI CORPORATION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000" y="1188000"/>
            <a:ext cx="432000" cy="2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12000" y="1404000"/>
            <a:ext cx="6120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METAL</a:t>
            </a:r>
            <a:endParaRPr lang="en-US" sz="3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RESOURCES</a:t>
            </a:r>
            <a:endParaRPr lang="en-US" sz="3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GROUP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000" y="2808000"/>
            <a:ext cx="61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32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PROFILE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000" y="3096000"/>
            <a:ext cx="61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 Power to Connect.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000" y="9792000"/>
            <a:ext cx="6336000" cy="90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15" name="Text 13"/>
          <p:cNvSpPr/>
          <p:nvPr/>
        </p:nvSpPr>
        <p:spPr>
          <a:xfrm>
            <a:off x="612000" y="9972000"/>
            <a:ext cx="63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spc="120" kern="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Mitsubishi Corporation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-website/mc_metals_12p/src/assets/_crop/r-022_128.0x86.0_0.5_0.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08000" cy="3096000"/>
          </a:xfrm>
          <a:prstGeom prst="rect">
            <a:avLst/>
          </a:prstGeom>
        </p:spPr>
      </p:pic>
      <p:pic>
        <p:nvPicPr>
          <p:cNvPr id="3" name="Image 1" descr="/home/user/my-website/mc_metals_12p/src/assets/_crop/mr_03_01@2x_80.0x86.0_0.4_0.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0"/>
            <a:ext cx="2880000" cy="3096000"/>
          </a:xfrm>
          <a:prstGeom prst="rect">
            <a:avLst/>
          </a:prstGeom>
        </p:spPr>
      </p:pic>
      <p:pic>
        <p:nvPicPr>
          <p:cNvPr id="4" name="Image 2" descr="/home/user/my-website/mc_metals_12p/src/assets/_crop/r-023_82.0x46.0_0.5_0.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8000"/>
            <a:ext cx="2952000" cy="1656000"/>
          </a:xfrm>
          <a:prstGeom prst="rect">
            <a:avLst/>
          </a:prstGeom>
        </p:spPr>
      </p:pic>
      <p:pic>
        <p:nvPicPr>
          <p:cNvPr id="5" name="Image 3" descr="/home/user/my-website/mc_metals_12p/src/assets/_crop/r-054_62.0x46.0_0.5_0.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000" y="3168000"/>
            <a:ext cx="2232000" cy="1656000"/>
          </a:xfrm>
          <a:prstGeom prst="rect">
            <a:avLst/>
          </a:prstGeom>
        </p:spPr>
      </p:pic>
      <p:pic>
        <p:nvPicPr>
          <p:cNvPr id="6" name="Image 4" descr="/home/user/my-website/mc_metals_12p/src/assets/_crop/_mr_project_06_62.0x46.0_0.6_0.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000" y="3168000"/>
            <a:ext cx="2232000" cy="1656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8000" y="2880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都市・インフラ</a:t>
            </a:r>
            <a:endParaRPr lang="en-US" sz="580" dirty="0"/>
          </a:p>
        </p:txBody>
      </p:sp>
      <p:sp>
        <p:nvSpPr>
          <p:cNvPr id="8" name="Text 1"/>
          <p:cNvSpPr/>
          <p:nvPr/>
        </p:nvSpPr>
        <p:spPr>
          <a:xfrm>
            <a:off x="4788000" y="2880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金属素材</a:t>
            </a:r>
            <a:endParaRPr lang="en-US" sz="580" dirty="0"/>
          </a:p>
        </p:txBody>
      </p:sp>
      <p:sp>
        <p:nvSpPr>
          <p:cNvPr id="9" name="Text 2"/>
          <p:cNvSpPr/>
          <p:nvPr/>
        </p:nvSpPr>
        <p:spPr>
          <a:xfrm>
            <a:off x="108000" y="4608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海上輸送</a:t>
            </a:r>
            <a:endParaRPr lang="en-US" sz="580" dirty="0"/>
          </a:p>
        </p:txBody>
      </p:sp>
      <p:sp>
        <p:nvSpPr>
          <p:cNvPr id="10" name="Text 3"/>
          <p:cNvSpPr/>
          <p:nvPr/>
        </p:nvSpPr>
        <p:spPr>
          <a:xfrm>
            <a:off x="3132000" y="4608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銅地金</a:t>
            </a:r>
            <a:endParaRPr lang="en-US" sz="580" dirty="0"/>
          </a:p>
        </p:txBody>
      </p:sp>
      <p:sp>
        <p:nvSpPr>
          <p:cNvPr id="11" name="Text 4"/>
          <p:cNvSpPr/>
          <p:nvPr/>
        </p:nvSpPr>
        <p:spPr>
          <a:xfrm>
            <a:off x="5436000" y="4608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12" name="Shape 5"/>
          <p:cNvSpPr/>
          <p:nvPr/>
        </p:nvSpPr>
        <p:spPr>
          <a:xfrm>
            <a:off x="0" y="5040000"/>
            <a:ext cx="15120000" cy="18000"/>
          </a:xfrm>
          <a:prstGeom prst="rect">
            <a:avLst/>
          </a:prstGeom>
          <a:solidFill>
            <a:srgbClr val="A8622F"/>
          </a:solidFill>
          <a:ln/>
        </p:spPr>
      </p:sp>
      <p:sp>
        <p:nvSpPr>
          <p:cNvPr id="13" name="Text 6"/>
          <p:cNvSpPr/>
          <p:nvPr/>
        </p:nvSpPr>
        <p:spPr>
          <a:xfrm>
            <a:off x="504000" y="5328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社会と金属</a:t>
            </a:r>
            <a:endParaRPr lang="en-US" sz="800" dirty="0"/>
          </a:p>
        </p:txBody>
      </p:sp>
      <p:sp>
        <p:nvSpPr>
          <p:cNvPr id="14" name="Text 7"/>
          <p:cNvSpPr/>
          <p:nvPr/>
        </p:nvSpPr>
        <p:spPr>
          <a:xfrm>
            <a:off x="504000" y="5580000"/>
            <a:ext cx="4320000" cy="92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Metals shape</a:t>
            </a:r>
            <a:endParaRPr lang="en-US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0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way we live.</a:t>
            </a:r>
            <a:endParaRPr lang="en-US" sz="3000" dirty="0"/>
          </a:p>
        </p:txBody>
      </p:sp>
      <p:sp>
        <p:nvSpPr>
          <p:cNvPr id="15" name="Shape 8"/>
          <p:cNvSpPr/>
          <p:nvPr/>
        </p:nvSpPr>
        <p:spPr>
          <a:xfrm>
            <a:off x="504000" y="655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9"/>
          <p:cNvSpPr/>
          <p:nvPr/>
        </p:nvSpPr>
        <p:spPr>
          <a:xfrm>
            <a:off x="504000" y="6660000"/>
            <a:ext cx="3960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暮らしのすべてに、金属がある。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504000" y="6948000"/>
            <a:ext cx="3456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ル、鉄道、自動車、送電網、再生可能エネルギー、データセンター。私たちの暮らしと産業は、鉄や銅をはじめとする金属に支えられています。人口の増加と新興国の発展、そして社会の電化によって、金属の需要はこれからも高まっていきます。一方で、良質な資源の開発は年々難しくなり、資源を確保し、必要な場所へ確実に届けることの重要性が増しています。</a:t>
            </a:r>
            <a:endParaRPr lang="en-US" sz="780" dirty="0"/>
          </a:p>
        </p:txBody>
      </p:sp>
      <p:sp>
        <p:nvSpPr>
          <p:cNvPr id="18" name="Text 11"/>
          <p:cNvSpPr/>
          <p:nvPr/>
        </p:nvSpPr>
        <p:spPr>
          <a:xfrm>
            <a:off x="4392000" y="5328000"/>
            <a:ext cx="273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METALS WORK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暮らしを支える金属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4392000" y="5688000"/>
            <a:ext cx="2736000" cy="108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20" name="Text 13"/>
          <p:cNvSpPr/>
          <p:nvPr/>
        </p:nvSpPr>
        <p:spPr>
          <a:xfrm>
            <a:off x="4392000" y="5796000"/>
            <a:ext cx="14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都市・インフラ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4392000" y="5994000"/>
            <a:ext cx="14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建物・鉄道・橋</a:t>
            </a:r>
            <a:endParaRPr lang="en-US" sz="620" dirty="0"/>
          </a:p>
        </p:txBody>
      </p:sp>
      <p:sp>
        <p:nvSpPr>
          <p:cNvPr id="22" name="Shape 15"/>
          <p:cNvSpPr/>
          <p:nvPr/>
        </p:nvSpPr>
        <p:spPr>
          <a:xfrm>
            <a:off x="5882400" y="5882400"/>
            <a:ext cx="259200" cy="259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7D83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882400" y="5943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</a:t>
            </a:r>
            <a:endParaRPr lang="en-US" sz="640" dirty="0"/>
          </a:p>
        </p:txBody>
      </p:sp>
      <p:sp>
        <p:nvSpPr>
          <p:cNvPr id="24" name="Shape 17"/>
          <p:cNvSpPr/>
          <p:nvPr/>
        </p:nvSpPr>
        <p:spPr>
          <a:xfrm>
            <a:off x="6177600" y="5882400"/>
            <a:ext cx="259200" cy="259200"/>
          </a:xfrm>
          <a:prstGeom prst="ellipse">
            <a:avLst/>
          </a:prstGeom>
          <a:solidFill>
            <a:srgbClr val="A8622F"/>
          </a:solidFill>
          <a:ln w="7620">
            <a:solidFill>
              <a:srgbClr val="A8622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177600" y="5943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</a:t>
            </a:r>
            <a:endParaRPr lang="en-US" sz="640" dirty="0"/>
          </a:p>
        </p:txBody>
      </p:sp>
      <p:sp>
        <p:nvSpPr>
          <p:cNvPr id="26" name="Shape 19"/>
          <p:cNvSpPr/>
          <p:nvPr/>
        </p:nvSpPr>
        <p:spPr>
          <a:xfrm>
            <a:off x="6472800" y="5882400"/>
            <a:ext cx="259200" cy="259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7D838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72800" y="5943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</a:t>
            </a:r>
            <a:endParaRPr lang="en-US" sz="640" dirty="0"/>
          </a:p>
        </p:txBody>
      </p:sp>
      <p:sp>
        <p:nvSpPr>
          <p:cNvPr id="28" name="Shape 21"/>
          <p:cNvSpPr/>
          <p:nvPr/>
        </p:nvSpPr>
        <p:spPr>
          <a:xfrm>
            <a:off x="4392000" y="6444000"/>
            <a:ext cx="2736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29" name="Text 22"/>
          <p:cNvSpPr/>
          <p:nvPr/>
        </p:nvSpPr>
        <p:spPr>
          <a:xfrm>
            <a:off x="4392000" y="6552000"/>
            <a:ext cx="14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モビリティ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4392000" y="6750000"/>
            <a:ext cx="14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自動車・EV・船舶</a:t>
            </a:r>
            <a:endParaRPr lang="en-US" sz="620" dirty="0"/>
          </a:p>
        </p:txBody>
      </p:sp>
      <p:sp>
        <p:nvSpPr>
          <p:cNvPr id="31" name="Shape 24"/>
          <p:cNvSpPr/>
          <p:nvPr/>
        </p:nvSpPr>
        <p:spPr>
          <a:xfrm>
            <a:off x="5882400" y="6638400"/>
            <a:ext cx="259200" cy="259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7D838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882400" y="6699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</a:t>
            </a:r>
            <a:endParaRPr lang="en-US" sz="640" dirty="0"/>
          </a:p>
        </p:txBody>
      </p:sp>
      <p:sp>
        <p:nvSpPr>
          <p:cNvPr id="33" name="Shape 26"/>
          <p:cNvSpPr/>
          <p:nvPr/>
        </p:nvSpPr>
        <p:spPr>
          <a:xfrm>
            <a:off x="6177600" y="6638400"/>
            <a:ext cx="259200" cy="259200"/>
          </a:xfrm>
          <a:prstGeom prst="ellipse">
            <a:avLst/>
          </a:prstGeom>
          <a:solidFill>
            <a:srgbClr val="A8622F"/>
          </a:solidFill>
          <a:ln w="7620">
            <a:solidFill>
              <a:srgbClr val="A8622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177600" y="6699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</a:t>
            </a:r>
            <a:endParaRPr lang="en-US" sz="640" dirty="0"/>
          </a:p>
        </p:txBody>
      </p:sp>
      <p:sp>
        <p:nvSpPr>
          <p:cNvPr id="35" name="Shape 28"/>
          <p:cNvSpPr/>
          <p:nvPr/>
        </p:nvSpPr>
        <p:spPr>
          <a:xfrm>
            <a:off x="6472800" y="6638400"/>
            <a:ext cx="259200" cy="259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7D838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472800" y="6699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</a:t>
            </a:r>
            <a:endParaRPr lang="en-US" sz="640" dirty="0"/>
          </a:p>
        </p:txBody>
      </p:sp>
      <p:sp>
        <p:nvSpPr>
          <p:cNvPr id="37" name="Shape 30"/>
          <p:cNvSpPr/>
          <p:nvPr/>
        </p:nvSpPr>
        <p:spPr>
          <a:xfrm>
            <a:off x="6768000" y="6638400"/>
            <a:ext cx="259200" cy="259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7D838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768000" y="6699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</a:t>
            </a:r>
            <a:endParaRPr lang="en-US" sz="640" dirty="0"/>
          </a:p>
        </p:txBody>
      </p:sp>
      <p:sp>
        <p:nvSpPr>
          <p:cNvPr id="39" name="Shape 32"/>
          <p:cNvSpPr/>
          <p:nvPr/>
        </p:nvSpPr>
        <p:spPr>
          <a:xfrm>
            <a:off x="4392000" y="7200000"/>
            <a:ext cx="2736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40" name="Text 33"/>
          <p:cNvSpPr/>
          <p:nvPr/>
        </p:nvSpPr>
        <p:spPr>
          <a:xfrm>
            <a:off x="4392000" y="7308000"/>
            <a:ext cx="14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電力・再エネ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4392000" y="7506000"/>
            <a:ext cx="14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送電網・風力・太陽光</a:t>
            </a:r>
            <a:endParaRPr lang="en-US" sz="620" dirty="0"/>
          </a:p>
        </p:txBody>
      </p:sp>
      <p:sp>
        <p:nvSpPr>
          <p:cNvPr id="42" name="Shape 35"/>
          <p:cNvSpPr/>
          <p:nvPr/>
        </p:nvSpPr>
        <p:spPr>
          <a:xfrm>
            <a:off x="5882400" y="7394400"/>
            <a:ext cx="259200" cy="259200"/>
          </a:xfrm>
          <a:prstGeom prst="ellipse">
            <a:avLst/>
          </a:prstGeom>
          <a:solidFill>
            <a:srgbClr val="A8622F"/>
          </a:solidFill>
          <a:ln w="7620">
            <a:solidFill>
              <a:srgbClr val="A8622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882400" y="7455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</a:t>
            </a:r>
            <a:endParaRPr lang="en-US" sz="640" dirty="0"/>
          </a:p>
        </p:txBody>
      </p:sp>
      <p:sp>
        <p:nvSpPr>
          <p:cNvPr id="44" name="Shape 37"/>
          <p:cNvSpPr/>
          <p:nvPr/>
        </p:nvSpPr>
        <p:spPr>
          <a:xfrm>
            <a:off x="6177600" y="7394400"/>
            <a:ext cx="259200" cy="259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7D838A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177600" y="7455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</a:t>
            </a:r>
            <a:endParaRPr lang="en-US" sz="640" dirty="0"/>
          </a:p>
        </p:txBody>
      </p:sp>
      <p:sp>
        <p:nvSpPr>
          <p:cNvPr id="46" name="Shape 39"/>
          <p:cNvSpPr/>
          <p:nvPr/>
        </p:nvSpPr>
        <p:spPr>
          <a:xfrm>
            <a:off x="6472800" y="7394400"/>
            <a:ext cx="259200" cy="259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7D838A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472800" y="7455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</a:t>
            </a:r>
            <a:endParaRPr lang="en-US" sz="640" dirty="0"/>
          </a:p>
        </p:txBody>
      </p:sp>
      <p:sp>
        <p:nvSpPr>
          <p:cNvPr id="48" name="Shape 41"/>
          <p:cNvSpPr/>
          <p:nvPr/>
        </p:nvSpPr>
        <p:spPr>
          <a:xfrm>
            <a:off x="4392000" y="7956000"/>
            <a:ext cx="2736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49" name="Text 42"/>
          <p:cNvSpPr/>
          <p:nvPr/>
        </p:nvSpPr>
        <p:spPr>
          <a:xfrm>
            <a:off x="4392000" y="8064000"/>
            <a:ext cx="14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4392000" y="8262000"/>
            <a:ext cx="14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通信・データセンター</a:t>
            </a:r>
            <a:endParaRPr lang="en-US" sz="620" dirty="0"/>
          </a:p>
        </p:txBody>
      </p:sp>
      <p:sp>
        <p:nvSpPr>
          <p:cNvPr id="51" name="Shape 44"/>
          <p:cNvSpPr/>
          <p:nvPr/>
        </p:nvSpPr>
        <p:spPr>
          <a:xfrm>
            <a:off x="5882400" y="8150400"/>
            <a:ext cx="259200" cy="259200"/>
          </a:xfrm>
          <a:prstGeom prst="ellipse">
            <a:avLst/>
          </a:prstGeom>
          <a:solidFill>
            <a:srgbClr val="A8622F"/>
          </a:solidFill>
          <a:ln w="7620">
            <a:solidFill>
              <a:srgbClr val="A8622F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5882400" y="8211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</a:t>
            </a:r>
            <a:endParaRPr lang="en-US" sz="640" dirty="0"/>
          </a:p>
        </p:txBody>
      </p:sp>
      <p:sp>
        <p:nvSpPr>
          <p:cNvPr id="53" name="Shape 46"/>
          <p:cNvSpPr/>
          <p:nvPr/>
        </p:nvSpPr>
        <p:spPr>
          <a:xfrm>
            <a:off x="6177600" y="8150400"/>
            <a:ext cx="259200" cy="2592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7D838A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177600" y="8211600"/>
            <a:ext cx="259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</a:t>
            </a:r>
            <a:endParaRPr lang="en-US" sz="640" dirty="0"/>
          </a:p>
        </p:txBody>
      </p:sp>
      <p:sp>
        <p:nvSpPr>
          <p:cNvPr id="55" name="Shape 48"/>
          <p:cNvSpPr/>
          <p:nvPr/>
        </p:nvSpPr>
        <p:spPr>
          <a:xfrm>
            <a:off x="4392000" y="8712000"/>
            <a:ext cx="2736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56" name="Text 49"/>
          <p:cNvSpPr/>
          <p:nvPr/>
        </p:nvSpPr>
        <p:spPr>
          <a:xfrm>
            <a:off x="4392000" y="8820000"/>
            <a:ext cx="273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Fe 鉄　Cu 銅　Al アルミ　Li リチウム　Ni ニッケル</a:t>
            </a:r>
            <a:endParaRPr lang="en-US" sz="600" dirty="0"/>
          </a:p>
        </p:txBody>
      </p:sp>
      <p:sp>
        <p:nvSpPr>
          <p:cNvPr id="57" name="Text 50"/>
          <p:cNvSpPr/>
          <p:nvPr/>
        </p:nvSpPr>
        <p:spPr>
          <a:xfrm>
            <a:off x="504000" y="9072000"/>
            <a:ext cx="34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需要と供給</a:t>
            </a:r>
            <a:endParaRPr lang="en-US" sz="650" dirty="0"/>
          </a:p>
        </p:txBody>
      </p:sp>
      <p:sp>
        <p:nvSpPr>
          <p:cNvPr id="58" name="Shape 51"/>
          <p:cNvSpPr/>
          <p:nvPr/>
        </p:nvSpPr>
        <p:spPr>
          <a:xfrm>
            <a:off x="504000" y="9252000"/>
            <a:ext cx="3456000" cy="900000"/>
          </a:xfrm>
          <a:custGeom>
            <a:avLst/>
            <a:gdLst/>
            <a:ahLst/>
            <a:cxnLst/>
            <a:rect l="l" t="t" r="r" b="b"/>
            <a:pathLst>
              <a:path w="3456000" h="900000">
                <a:moveTo>
                  <a:pt x="0" y="900000"/>
                </a:moveTo>
                <a:cubicBezTo>
                  <a:pt x="1440000" y="756000"/>
                  <a:pt x="2520000" y="396000"/>
                  <a:pt x="3456000" y="0"/>
                </a:cubicBezTo>
              </a:path>
            </a:pathLst>
          </a:custGeom>
          <a:ln w="20320">
            <a:solidFill>
              <a:srgbClr val="121519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504000" y="9684000"/>
            <a:ext cx="3456000" cy="468000"/>
          </a:xfrm>
          <a:custGeom>
            <a:avLst/>
            <a:gdLst/>
            <a:ahLst/>
            <a:cxnLst/>
            <a:rect l="l" t="t" r="r" b="b"/>
            <a:pathLst>
              <a:path w="3456000" h="468000">
                <a:moveTo>
                  <a:pt x="0" y="468000"/>
                </a:moveTo>
                <a:cubicBezTo>
                  <a:pt x="1440000" y="180000"/>
                  <a:pt x="2520000" y="72000"/>
                  <a:pt x="3456000" y="0"/>
                </a:cubicBezTo>
              </a:path>
            </a:pathLst>
          </a:custGeom>
          <a:ln w="15240">
            <a:solidFill>
              <a:srgbClr val="7D838A"/>
            </a:solidFill>
            <a:prstDash val="dash"/>
          </a:ln>
        </p:spPr>
      </p:sp>
      <p:sp>
        <p:nvSpPr>
          <p:cNvPr id="60" name="Shape 53"/>
          <p:cNvSpPr/>
          <p:nvPr/>
        </p:nvSpPr>
        <p:spPr>
          <a:xfrm>
            <a:off x="504000" y="10173600"/>
            <a:ext cx="3456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61" name="Text 54"/>
          <p:cNvSpPr/>
          <p:nvPr/>
        </p:nvSpPr>
        <p:spPr>
          <a:xfrm>
            <a:off x="2880000" y="9036000"/>
            <a:ext cx="10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需要｜電化・人口増</a:t>
            </a:r>
            <a:endParaRPr lang="en-US" sz="580" dirty="0"/>
          </a:p>
        </p:txBody>
      </p:sp>
      <p:sp>
        <p:nvSpPr>
          <p:cNvPr id="62" name="Text 55"/>
          <p:cNvSpPr/>
          <p:nvPr/>
        </p:nvSpPr>
        <p:spPr>
          <a:xfrm>
            <a:off x="2880000" y="9450000"/>
            <a:ext cx="10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供給｜開発の難化</a:t>
            </a:r>
            <a:endParaRPr lang="en-US" sz="580" dirty="0"/>
          </a:p>
        </p:txBody>
      </p:sp>
      <p:sp>
        <p:nvSpPr>
          <p:cNvPr id="63" name="Text 56"/>
          <p:cNvSpPr/>
          <p:nvPr/>
        </p:nvSpPr>
        <p:spPr>
          <a:xfrm>
            <a:off x="2304000" y="9252000"/>
            <a:ext cx="93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700" dirty="0"/>
          </a:p>
        </p:txBody>
      </p:sp>
      <p:sp>
        <p:nvSpPr>
          <p:cNvPr id="64" name="Text 57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-website/mc_metals_12p/src/assets/_crop/r-046_208.0x134.0_0.5_0.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0" y="0"/>
            <a:ext cx="7488000" cy="482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000" y="2880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</a:t>
            </a:r>
            <a:endParaRPr lang="en-US" sz="580" dirty="0"/>
          </a:p>
        </p:txBody>
      </p:sp>
      <p:sp>
        <p:nvSpPr>
          <p:cNvPr id="4" name="Shape 1"/>
          <p:cNvSpPr/>
          <p:nvPr/>
        </p:nvSpPr>
        <p:spPr>
          <a:xfrm>
            <a:off x="-7560000" y="5040000"/>
            <a:ext cx="15120000" cy="18000"/>
          </a:xfrm>
          <a:prstGeom prst="rect">
            <a:avLst/>
          </a:prstGeom>
          <a:solidFill>
            <a:srgbClr val="A8622F"/>
          </a:solidFill>
          <a:ln/>
        </p:spPr>
      </p:sp>
      <p:sp>
        <p:nvSpPr>
          <p:cNvPr id="5" name="Text 2"/>
          <p:cNvSpPr/>
          <p:nvPr/>
        </p:nvSpPr>
        <p:spPr>
          <a:xfrm>
            <a:off x="432000" y="5328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MESSAGE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私たちの存在意義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32000" y="5580000"/>
            <a:ext cx="6624000" cy="92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6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</a:t>
            </a:r>
            <a:endParaRPr lang="en-US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000" spc="-6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Power to Connect.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32000" y="655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432000" y="6660000"/>
            <a:ext cx="5400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持つ力と、つなぐ力。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32000" y="6948000"/>
            <a:ext cx="4032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は、そこに「ある」だけでは、まだ価値ではありません。誰かが見出し、育て、必要とする場所へ届けて、はじめて社会の力になる。私たちは、世界有数の資産に関わり、投資とトレーディングの両輪で、川上から川下までをつなぎます。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4752000" y="6948000"/>
            <a:ext cx="72000" cy="540000"/>
          </a:xfrm>
          <a:prstGeom prst="rect">
            <a:avLst/>
          </a:prstGeom>
          <a:solidFill>
            <a:srgbClr val="9C7442"/>
          </a:solidFill>
          <a:ln/>
        </p:spPr>
      </p:sp>
      <p:sp>
        <p:nvSpPr>
          <p:cNvPr id="11" name="Text 8"/>
          <p:cNvSpPr/>
          <p:nvPr/>
        </p:nvSpPr>
        <p:spPr>
          <a:xfrm>
            <a:off x="4932000" y="6948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5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932000" y="7110000"/>
            <a:ext cx="21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持つ力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32000" y="7308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世界有数の資源に投資し、長く育てる</a:t>
            </a:r>
            <a:endParaRPr lang="en-US" sz="580" dirty="0"/>
          </a:p>
        </p:txBody>
      </p:sp>
      <p:sp>
        <p:nvSpPr>
          <p:cNvPr id="14" name="Shape 11"/>
          <p:cNvSpPr/>
          <p:nvPr/>
        </p:nvSpPr>
        <p:spPr>
          <a:xfrm>
            <a:off x="4752000" y="7668000"/>
            <a:ext cx="72000" cy="540000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15" name="Text 12"/>
          <p:cNvSpPr/>
          <p:nvPr/>
        </p:nvSpPr>
        <p:spPr>
          <a:xfrm>
            <a:off x="4932000" y="7668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50" kern="0" dirty="0">
                <a:solidFill>
                  <a:srgbClr val="1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932000" y="7830000"/>
            <a:ext cx="21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つなぐ力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932000" y="8028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資源と市場をつなぎ、必要な場所へ届ける</a:t>
            </a: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432000" y="8640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目次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32000" y="8928000"/>
            <a:ext cx="12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20" name="Text 17"/>
          <p:cNvSpPr/>
          <p:nvPr/>
        </p:nvSpPr>
        <p:spPr>
          <a:xfrm>
            <a:off x="432000" y="9000000"/>
            <a:ext cx="12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32000" y="9360000"/>
            <a:ext cx="12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Who We Are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432000" y="968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我々は何者か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32000" y="986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P.04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1771200" y="8928000"/>
            <a:ext cx="12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25" name="Text 22"/>
          <p:cNvSpPr/>
          <p:nvPr/>
        </p:nvSpPr>
        <p:spPr>
          <a:xfrm>
            <a:off x="1771200" y="9000000"/>
            <a:ext cx="12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771200" y="9360000"/>
            <a:ext cx="12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Distinctive Strength</a:t>
            </a:r>
            <a:endParaRPr lang="en-US" sz="740" dirty="0"/>
          </a:p>
        </p:txBody>
      </p:sp>
      <p:sp>
        <p:nvSpPr>
          <p:cNvPr id="27" name="Text 24"/>
          <p:cNvSpPr/>
          <p:nvPr/>
        </p:nvSpPr>
        <p:spPr>
          <a:xfrm>
            <a:off x="1771200" y="968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独自価値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771200" y="986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P.06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3110400" y="8928000"/>
            <a:ext cx="12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30" name="Text 27"/>
          <p:cNvSpPr/>
          <p:nvPr/>
        </p:nvSpPr>
        <p:spPr>
          <a:xfrm>
            <a:off x="3110400" y="9000000"/>
            <a:ext cx="12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3110400" y="9360000"/>
            <a:ext cx="12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Businesses &amp; Innovation</a:t>
            </a:r>
            <a:endParaRPr lang="en-US" sz="740" dirty="0"/>
          </a:p>
        </p:txBody>
      </p:sp>
      <p:sp>
        <p:nvSpPr>
          <p:cNvPr id="32" name="Text 29"/>
          <p:cNvSpPr/>
          <p:nvPr/>
        </p:nvSpPr>
        <p:spPr>
          <a:xfrm>
            <a:off x="3110400" y="968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主力事業と新技術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110400" y="986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P.08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4449600" y="8928000"/>
            <a:ext cx="12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35" name="Text 32"/>
          <p:cNvSpPr/>
          <p:nvPr/>
        </p:nvSpPr>
        <p:spPr>
          <a:xfrm>
            <a:off x="4449600" y="9000000"/>
            <a:ext cx="12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4449600" y="9360000"/>
            <a:ext cx="12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Partner of Choice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4449600" y="968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選ばれ続ける理由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4449600" y="986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P.10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5788800" y="8928000"/>
            <a:ext cx="12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40" name="Text 37"/>
          <p:cNvSpPr/>
          <p:nvPr/>
        </p:nvSpPr>
        <p:spPr>
          <a:xfrm>
            <a:off x="5788800" y="9000000"/>
            <a:ext cx="12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05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5788800" y="9360000"/>
            <a:ext cx="1224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Supporting Society</a:t>
            </a:r>
            <a:endParaRPr lang="en-US" sz="740" dirty="0"/>
          </a:p>
        </p:txBody>
      </p:sp>
      <p:sp>
        <p:nvSpPr>
          <p:cNvPr id="42" name="Text 39"/>
          <p:cNvSpPr/>
          <p:nvPr/>
        </p:nvSpPr>
        <p:spPr>
          <a:xfrm>
            <a:off x="5788800" y="968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社会課題への取り組み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5788800" y="9864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P.11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633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4000" y="-216000"/>
            <a:ext cx="2872800" cy="259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0" spc="-600" kern="0" dirty="0">
                <a:ln w="7620">
                  <a:solidFill>
                    <a:srgbClr val="D9DDE1"/>
                  </a:solidFill>
                </a:ln>
                <a:solidFill>
                  <a:srgbClr val="FFFFF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504000" y="5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我々は何者か｜三菱商事とは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4000" y="828000"/>
            <a:ext cx="5400000" cy="68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2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Who We Are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04000" y="151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04000" y="1620000"/>
            <a:ext cx="5400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三綱領を精神の根幹に、「総合力」で価値を生む。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4000" y="1908000"/>
            <a:ext cx="3744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は、三綱領を企業理念とし、事業を通じて経済価値・社会価値・環境価値の同時実現を目指しています。幅広い産業と地域にまたがる事業と人のつながり。その「総合力」こそが、三菱商事の強みです。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28000" y="2916000"/>
            <a:ext cx="4968000" cy="4968000"/>
          </a:xfrm>
          <a:prstGeom prst="ellipse">
            <a:avLst/>
          </a:prstGeom>
          <a:ln w="5080">
            <a:solidFill>
              <a:srgbClr val="CFD3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4000" y="2772000"/>
            <a:ext cx="5256000" cy="5256000"/>
          </a:xfrm>
          <a:prstGeom prst="ellipse">
            <a:avLst/>
          </a:prstGeom>
          <a:ln w="5080">
            <a:solidFill>
              <a:srgbClr val="ECE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1685" y="4486656"/>
            <a:ext cx="920315" cy="1826687"/>
          </a:xfrm>
          <a:custGeom>
            <a:avLst/>
            <a:gdLst/>
            <a:ahLst/>
            <a:cxnLst/>
            <a:rect l="l" t="t" r="r" b="b"/>
            <a:pathLst>
              <a:path w="920315" h="1826687">
                <a:moveTo>
                  <a:pt x="717712" y="0"/>
                </a:moveTo>
                <a:lnTo>
                  <a:pt x="737182" y="42942"/>
                </a:lnTo>
                <a:lnTo>
                  <a:pt x="755709" y="86300"/>
                </a:lnTo>
                <a:lnTo>
                  <a:pt x="773286" y="130051"/>
                </a:lnTo>
                <a:lnTo>
                  <a:pt x="789904" y="174175"/>
                </a:lnTo>
                <a:lnTo>
                  <a:pt x="805554" y="218652"/>
                </a:lnTo>
                <a:lnTo>
                  <a:pt x="820230" y="263459"/>
                </a:lnTo>
                <a:lnTo>
                  <a:pt x="833925" y="308577"/>
                </a:lnTo>
                <a:lnTo>
                  <a:pt x="846631" y="353982"/>
                </a:lnTo>
                <a:lnTo>
                  <a:pt x="858344" y="399654"/>
                </a:lnTo>
                <a:lnTo>
                  <a:pt x="869056" y="445571"/>
                </a:lnTo>
                <a:lnTo>
                  <a:pt x="878764" y="491711"/>
                </a:lnTo>
                <a:lnTo>
                  <a:pt x="887462" y="538051"/>
                </a:lnTo>
                <a:lnTo>
                  <a:pt x="895147" y="584571"/>
                </a:lnTo>
                <a:lnTo>
                  <a:pt x="901815" y="631247"/>
                </a:lnTo>
                <a:lnTo>
                  <a:pt x="907462" y="678057"/>
                </a:lnTo>
                <a:lnTo>
                  <a:pt x="912086" y="724980"/>
                </a:lnTo>
                <a:lnTo>
                  <a:pt x="915685" y="771992"/>
                </a:lnTo>
                <a:lnTo>
                  <a:pt x="918257" y="819072"/>
                </a:lnTo>
                <a:lnTo>
                  <a:pt x="919801" y="866196"/>
                </a:lnTo>
                <a:lnTo>
                  <a:pt x="920315" y="913344"/>
                </a:lnTo>
                <a:lnTo>
                  <a:pt x="919801" y="960491"/>
                </a:lnTo>
                <a:lnTo>
                  <a:pt x="918257" y="1007615"/>
                </a:lnTo>
                <a:lnTo>
                  <a:pt x="915685" y="1054695"/>
                </a:lnTo>
                <a:lnTo>
                  <a:pt x="912086" y="1101707"/>
                </a:lnTo>
                <a:lnTo>
                  <a:pt x="907462" y="1148630"/>
                </a:lnTo>
                <a:lnTo>
                  <a:pt x="901815" y="1195440"/>
                </a:lnTo>
                <a:lnTo>
                  <a:pt x="895147" y="1242116"/>
                </a:lnTo>
                <a:lnTo>
                  <a:pt x="887462" y="1288636"/>
                </a:lnTo>
                <a:lnTo>
                  <a:pt x="878764" y="1334976"/>
                </a:lnTo>
                <a:lnTo>
                  <a:pt x="869056" y="1381116"/>
                </a:lnTo>
                <a:lnTo>
                  <a:pt x="858344" y="1427033"/>
                </a:lnTo>
                <a:lnTo>
                  <a:pt x="846631" y="1472705"/>
                </a:lnTo>
                <a:lnTo>
                  <a:pt x="833925" y="1518110"/>
                </a:lnTo>
                <a:lnTo>
                  <a:pt x="820230" y="1563228"/>
                </a:lnTo>
                <a:lnTo>
                  <a:pt x="805554" y="1608035"/>
                </a:lnTo>
                <a:lnTo>
                  <a:pt x="789904" y="1652512"/>
                </a:lnTo>
                <a:lnTo>
                  <a:pt x="773286" y="1696636"/>
                </a:lnTo>
                <a:lnTo>
                  <a:pt x="755709" y="1740388"/>
                </a:lnTo>
                <a:lnTo>
                  <a:pt x="737182" y="1783745"/>
                </a:lnTo>
                <a:lnTo>
                  <a:pt x="717712" y="1826687"/>
                </a:lnTo>
                <a:lnTo>
                  <a:pt x="0" y="1491794"/>
                </a:lnTo>
                <a:lnTo>
                  <a:pt x="12331" y="1464598"/>
                </a:lnTo>
                <a:lnTo>
                  <a:pt x="24065" y="1437138"/>
                </a:lnTo>
                <a:lnTo>
                  <a:pt x="35197" y="1409429"/>
                </a:lnTo>
                <a:lnTo>
                  <a:pt x="45721" y="1381483"/>
                </a:lnTo>
                <a:lnTo>
                  <a:pt x="55633" y="1353315"/>
                </a:lnTo>
                <a:lnTo>
                  <a:pt x="64928" y="1324937"/>
                </a:lnTo>
                <a:lnTo>
                  <a:pt x="73601" y="1296362"/>
                </a:lnTo>
                <a:lnTo>
                  <a:pt x="81649" y="1267606"/>
                </a:lnTo>
                <a:lnTo>
                  <a:pt x="89066" y="1238680"/>
                </a:lnTo>
                <a:lnTo>
                  <a:pt x="95851" y="1209599"/>
                </a:lnTo>
                <a:lnTo>
                  <a:pt x="101999" y="1180378"/>
                </a:lnTo>
                <a:lnTo>
                  <a:pt x="107508" y="1151029"/>
                </a:lnTo>
                <a:lnTo>
                  <a:pt x="112376" y="1121566"/>
                </a:lnTo>
                <a:lnTo>
                  <a:pt x="116598" y="1092005"/>
                </a:lnTo>
                <a:lnTo>
                  <a:pt x="120175" y="1062358"/>
                </a:lnTo>
                <a:lnTo>
                  <a:pt x="123104" y="1032641"/>
                </a:lnTo>
                <a:lnTo>
                  <a:pt x="125383" y="1002866"/>
                </a:lnTo>
                <a:lnTo>
                  <a:pt x="127012" y="973049"/>
                </a:lnTo>
                <a:lnTo>
                  <a:pt x="127989" y="943203"/>
                </a:lnTo>
                <a:lnTo>
                  <a:pt x="128315" y="913344"/>
                </a:lnTo>
                <a:lnTo>
                  <a:pt x="127989" y="883484"/>
                </a:lnTo>
                <a:lnTo>
                  <a:pt x="127012" y="853638"/>
                </a:lnTo>
                <a:lnTo>
                  <a:pt x="125383" y="823821"/>
                </a:lnTo>
                <a:lnTo>
                  <a:pt x="123104" y="794047"/>
                </a:lnTo>
                <a:lnTo>
                  <a:pt x="120175" y="764329"/>
                </a:lnTo>
                <a:lnTo>
                  <a:pt x="116598" y="734682"/>
                </a:lnTo>
                <a:lnTo>
                  <a:pt x="112376" y="705121"/>
                </a:lnTo>
                <a:lnTo>
                  <a:pt x="107508" y="675658"/>
                </a:lnTo>
                <a:lnTo>
                  <a:pt x="101999" y="646309"/>
                </a:lnTo>
                <a:lnTo>
                  <a:pt x="95851" y="617088"/>
                </a:lnTo>
                <a:lnTo>
                  <a:pt x="89066" y="588007"/>
                </a:lnTo>
                <a:lnTo>
                  <a:pt x="81649" y="559081"/>
                </a:lnTo>
                <a:lnTo>
                  <a:pt x="73601" y="530325"/>
                </a:lnTo>
                <a:lnTo>
                  <a:pt x="64928" y="501750"/>
                </a:lnTo>
                <a:lnTo>
                  <a:pt x="55633" y="473372"/>
                </a:lnTo>
                <a:lnTo>
                  <a:pt x="45721" y="445204"/>
                </a:lnTo>
                <a:lnTo>
                  <a:pt x="35197" y="417258"/>
                </a:lnTo>
                <a:lnTo>
                  <a:pt x="24065" y="389549"/>
                </a:lnTo>
                <a:lnTo>
                  <a:pt x="12331" y="362089"/>
                </a:lnTo>
                <a:lnTo>
                  <a:pt x="0" y="334893"/>
                </a:lnTo>
                <a:close/>
              </a:path>
            </a:pathLst>
          </a:custGeom>
          <a:solidFill>
            <a:srgbClr val="A8622F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680" y="6008566"/>
            <a:ext cx="1613818" cy="1491249"/>
          </a:xfrm>
          <a:custGeom>
            <a:avLst/>
            <a:gdLst/>
            <a:ahLst/>
            <a:cxnLst/>
            <a:rect l="l" t="t" r="r" b="b"/>
            <a:pathLst>
              <a:path w="1613818" h="1491249">
                <a:moveTo>
                  <a:pt x="1613818" y="352328"/>
                </a:moveTo>
                <a:lnTo>
                  <a:pt x="1592383" y="394324"/>
                </a:lnTo>
                <a:lnTo>
                  <a:pt x="1570037" y="435842"/>
                </a:lnTo>
                <a:lnTo>
                  <a:pt x="1546790" y="476863"/>
                </a:lnTo>
                <a:lnTo>
                  <a:pt x="1522653" y="517366"/>
                </a:lnTo>
                <a:lnTo>
                  <a:pt x="1497638" y="557333"/>
                </a:lnTo>
                <a:lnTo>
                  <a:pt x="1471756" y="596744"/>
                </a:lnTo>
                <a:lnTo>
                  <a:pt x="1445020" y="635581"/>
                </a:lnTo>
                <a:lnTo>
                  <a:pt x="1417443" y="673825"/>
                </a:lnTo>
                <a:lnTo>
                  <a:pt x="1389038" y="711458"/>
                </a:lnTo>
                <a:lnTo>
                  <a:pt x="1359818" y="748462"/>
                </a:lnTo>
                <a:lnTo>
                  <a:pt x="1329797" y="784820"/>
                </a:lnTo>
                <a:lnTo>
                  <a:pt x="1298990" y="820513"/>
                </a:lnTo>
                <a:lnTo>
                  <a:pt x="1267411" y="855526"/>
                </a:lnTo>
                <a:lnTo>
                  <a:pt x="1235076" y="889841"/>
                </a:lnTo>
                <a:lnTo>
                  <a:pt x="1201999" y="923442"/>
                </a:lnTo>
                <a:lnTo>
                  <a:pt x="1168196" y="956313"/>
                </a:lnTo>
                <a:lnTo>
                  <a:pt x="1133684" y="988439"/>
                </a:lnTo>
                <a:lnTo>
                  <a:pt x="1098480" y="1019803"/>
                </a:lnTo>
                <a:lnTo>
                  <a:pt x="1062598" y="1050392"/>
                </a:lnTo>
                <a:lnTo>
                  <a:pt x="1026058" y="1080190"/>
                </a:lnTo>
                <a:lnTo>
                  <a:pt x="988876" y="1109183"/>
                </a:lnTo>
                <a:lnTo>
                  <a:pt x="951070" y="1137358"/>
                </a:lnTo>
                <a:lnTo>
                  <a:pt x="912659" y="1164701"/>
                </a:lnTo>
                <a:lnTo>
                  <a:pt x="873659" y="1191199"/>
                </a:lnTo>
                <a:lnTo>
                  <a:pt x="834090" y="1216839"/>
                </a:lnTo>
                <a:lnTo>
                  <a:pt x="793971" y="1241610"/>
                </a:lnTo>
                <a:lnTo>
                  <a:pt x="753321" y="1265499"/>
                </a:lnTo>
                <a:lnTo>
                  <a:pt x="712160" y="1288495"/>
                </a:lnTo>
                <a:lnTo>
                  <a:pt x="670506" y="1310587"/>
                </a:lnTo>
                <a:lnTo>
                  <a:pt x="628380" y="1331765"/>
                </a:lnTo>
                <a:lnTo>
                  <a:pt x="585801" y="1352018"/>
                </a:lnTo>
                <a:lnTo>
                  <a:pt x="542791" y="1371337"/>
                </a:lnTo>
                <a:lnTo>
                  <a:pt x="499369" y="1389713"/>
                </a:lnTo>
                <a:lnTo>
                  <a:pt x="455557" y="1407136"/>
                </a:lnTo>
                <a:lnTo>
                  <a:pt x="411374" y="1423599"/>
                </a:lnTo>
                <a:lnTo>
                  <a:pt x="366843" y="1439094"/>
                </a:lnTo>
                <a:lnTo>
                  <a:pt x="321984" y="1453613"/>
                </a:lnTo>
                <a:lnTo>
                  <a:pt x="276819" y="1467149"/>
                </a:lnTo>
                <a:lnTo>
                  <a:pt x="231369" y="1479696"/>
                </a:lnTo>
                <a:lnTo>
                  <a:pt x="185657" y="1491249"/>
                </a:lnTo>
                <a:lnTo>
                  <a:pt x="0" y="721316"/>
                </a:lnTo>
                <a:lnTo>
                  <a:pt x="28951" y="714000"/>
                </a:lnTo>
                <a:lnTo>
                  <a:pt x="57736" y="706053"/>
                </a:lnTo>
                <a:lnTo>
                  <a:pt x="86341" y="697480"/>
                </a:lnTo>
                <a:lnTo>
                  <a:pt x="114751" y="688285"/>
                </a:lnTo>
                <a:lnTo>
                  <a:pt x="142954" y="678472"/>
                </a:lnTo>
                <a:lnTo>
                  <a:pt x="170937" y="668045"/>
                </a:lnTo>
                <a:lnTo>
                  <a:pt x="198685" y="657010"/>
                </a:lnTo>
                <a:lnTo>
                  <a:pt x="226185" y="645373"/>
                </a:lnTo>
                <a:lnTo>
                  <a:pt x="253425" y="633137"/>
                </a:lnTo>
                <a:lnTo>
                  <a:pt x="280391" y="620310"/>
                </a:lnTo>
                <a:lnTo>
                  <a:pt x="307071" y="606898"/>
                </a:lnTo>
                <a:lnTo>
                  <a:pt x="333452" y="592906"/>
                </a:lnTo>
                <a:lnTo>
                  <a:pt x="359521" y="578342"/>
                </a:lnTo>
                <a:lnTo>
                  <a:pt x="385266" y="563212"/>
                </a:lnTo>
                <a:lnTo>
                  <a:pt x="410675" y="547524"/>
                </a:lnTo>
                <a:lnTo>
                  <a:pt x="435735" y="531285"/>
                </a:lnTo>
                <a:lnTo>
                  <a:pt x="460434" y="514503"/>
                </a:lnTo>
                <a:lnTo>
                  <a:pt x="484762" y="497186"/>
                </a:lnTo>
                <a:lnTo>
                  <a:pt x="508706" y="479342"/>
                </a:lnTo>
                <a:lnTo>
                  <a:pt x="532254" y="460979"/>
                </a:lnTo>
                <a:lnTo>
                  <a:pt x="555396" y="442107"/>
                </a:lnTo>
                <a:lnTo>
                  <a:pt x="578121" y="422734"/>
                </a:lnTo>
                <a:lnTo>
                  <a:pt x="600418" y="402870"/>
                </a:lnTo>
                <a:lnTo>
                  <a:pt x="622275" y="382524"/>
                </a:lnTo>
                <a:lnTo>
                  <a:pt x="643683" y="361706"/>
                </a:lnTo>
                <a:lnTo>
                  <a:pt x="664632" y="340425"/>
                </a:lnTo>
                <a:lnTo>
                  <a:pt x="685111" y="318692"/>
                </a:lnTo>
                <a:lnTo>
                  <a:pt x="705111" y="296518"/>
                </a:lnTo>
                <a:lnTo>
                  <a:pt x="724622" y="273912"/>
                </a:lnTo>
                <a:lnTo>
                  <a:pt x="743636" y="250885"/>
                </a:lnTo>
                <a:lnTo>
                  <a:pt x="762141" y="227449"/>
                </a:lnTo>
                <a:lnTo>
                  <a:pt x="780132" y="203615"/>
                </a:lnTo>
                <a:lnTo>
                  <a:pt x="797597" y="179394"/>
                </a:lnTo>
                <a:lnTo>
                  <a:pt x="814530" y="154797"/>
                </a:lnTo>
                <a:lnTo>
                  <a:pt x="830921" y="129836"/>
                </a:lnTo>
                <a:lnTo>
                  <a:pt x="846764" y="104524"/>
                </a:lnTo>
                <a:lnTo>
                  <a:pt x="862051" y="78872"/>
                </a:lnTo>
                <a:lnTo>
                  <a:pt x="876774" y="52892"/>
                </a:lnTo>
                <a:lnTo>
                  <a:pt x="890927" y="26597"/>
                </a:lnTo>
                <a:lnTo>
                  <a:pt x="904502" y="0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2" name="Shape 10"/>
          <p:cNvSpPr/>
          <p:nvPr/>
        </p:nvSpPr>
        <p:spPr>
          <a:xfrm>
            <a:off x="1985994" y="6479886"/>
            <a:ext cx="1780888" cy="1080074"/>
          </a:xfrm>
          <a:custGeom>
            <a:avLst/>
            <a:gdLst/>
            <a:ahLst/>
            <a:cxnLst/>
            <a:rect l="l" t="t" r="r" b="b"/>
            <a:pathLst>
              <a:path w="1780888" h="1080074">
                <a:moveTo>
                  <a:pt x="1780888" y="1031673"/>
                </a:moveTo>
                <a:lnTo>
                  <a:pt x="1734690" y="1041099"/>
                </a:lnTo>
                <a:lnTo>
                  <a:pt x="1688297" y="1049514"/>
                </a:lnTo>
                <a:lnTo>
                  <a:pt x="1641732" y="1056915"/>
                </a:lnTo>
                <a:lnTo>
                  <a:pt x="1595016" y="1063297"/>
                </a:lnTo>
                <a:lnTo>
                  <a:pt x="1548172" y="1068658"/>
                </a:lnTo>
                <a:lnTo>
                  <a:pt x="1501222" y="1072996"/>
                </a:lnTo>
                <a:lnTo>
                  <a:pt x="1454188" y="1076307"/>
                </a:lnTo>
                <a:lnTo>
                  <a:pt x="1407094" y="1078591"/>
                </a:lnTo>
                <a:lnTo>
                  <a:pt x="1359961" y="1079847"/>
                </a:lnTo>
                <a:lnTo>
                  <a:pt x="1312811" y="1080074"/>
                </a:lnTo>
                <a:lnTo>
                  <a:pt x="1265668" y="1079271"/>
                </a:lnTo>
                <a:lnTo>
                  <a:pt x="1218554" y="1077440"/>
                </a:lnTo>
                <a:lnTo>
                  <a:pt x="1171491" y="1074580"/>
                </a:lnTo>
                <a:lnTo>
                  <a:pt x="1124501" y="1070694"/>
                </a:lnTo>
                <a:lnTo>
                  <a:pt x="1077608" y="1065784"/>
                </a:lnTo>
                <a:lnTo>
                  <a:pt x="1030833" y="1059851"/>
                </a:lnTo>
                <a:lnTo>
                  <a:pt x="984198" y="1052898"/>
                </a:lnTo>
                <a:lnTo>
                  <a:pt x="937727" y="1044929"/>
                </a:lnTo>
                <a:lnTo>
                  <a:pt x="891440" y="1035948"/>
                </a:lnTo>
                <a:lnTo>
                  <a:pt x="845361" y="1025958"/>
                </a:lnTo>
                <a:lnTo>
                  <a:pt x="799510" y="1014965"/>
                </a:lnTo>
                <a:lnTo>
                  <a:pt x="753911" y="1002974"/>
                </a:lnTo>
                <a:lnTo>
                  <a:pt x="708584" y="989991"/>
                </a:lnTo>
                <a:lnTo>
                  <a:pt x="663551" y="976021"/>
                </a:lnTo>
                <a:lnTo>
                  <a:pt x="618834" y="961072"/>
                </a:lnTo>
                <a:lnTo>
                  <a:pt x="574453" y="945150"/>
                </a:lnTo>
                <a:lnTo>
                  <a:pt x="530431" y="928263"/>
                </a:lnTo>
                <a:lnTo>
                  <a:pt x="486788" y="910419"/>
                </a:lnTo>
                <a:lnTo>
                  <a:pt x="443545" y="891627"/>
                </a:lnTo>
                <a:lnTo>
                  <a:pt x="400722" y="871895"/>
                </a:lnTo>
                <a:lnTo>
                  <a:pt x="358341" y="851234"/>
                </a:lnTo>
                <a:lnTo>
                  <a:pt x="316420" y="829652"/>
                </a:lnTo>
                <a:lnTo>
                  <a:pt x="274980" y="807161"/>
                </a:lnTo>
                <a:lnTo>
                  <a:pt x="234042" y="783770"/>
                </a:lnTo>
                <a:lnTo>
                  <a:pt x="193623" y="759491"/>
                </a:lnTo>
                <a:lnTo>
                  <a:pt x="153744" y="734336"/>
                </a:lnTo>
                <a:lnTo>
                  <a:pt x="114424" y="708317"/>
                </a:lnTo>
                <a:lnTo>
                  <a:pt x="75681" y="681445"/>
                </a:lnTo>
                <a:lnTo>
                  <a:pt x="37533" y="653734"/>
                </a:lnTo>
                <a:lnTo>
                  <a:pt x="0" y="625197"/>
                </a:lnTo>
                <a:lnTo>
                  <a:pt x="486202" y="0"/>
                </a:lnTo>
                <a:lnTo>
                  <a:pt x="509973" y="18073"/>
                </a:lnTo>
                <a:lnTo>
                  <a:pt x="534133" y="35624"/>
                </a:lnTo>
                <a:lnTo>
                  <a:pt x="558671" y="52642"/>
                </a:lnTo>
                <a:lnTo>
                  <a:pt x="583573" y="69121"/>
                </a:lnTo>
                <a:lnTo>
                  <a:pt x="608830" y="85053"/>
                </a:lnTo>
                <a:lnTo>
                  <a:pt x="634428" y="100430"/>
                </a:lnTo>
                <a:lnTo>
                  <a:pt x="660356" y="115244"/>
                </a:lnTo>
                <a:lnTo>
                  <a:pt x="686602" y="129488"/>
                </a:lnTo>
                <a:lnTo>
                  <a:pt x="713151" y="143157"/>
                </a:lnTo>
                <a:lnTo>
                  <a:pt x="739993" y="156242"/>
                </a:lnTo>
                <a:lnTo>
                  <a:pt x="767114" y="168739"/>
                </a:lnTo>
                <a:lnTo>
                  <a:pt x="794501" y="180641"/>
                </a:lnTo>
                <a:lnTo>
                  <a:pt x="822142" y="191942"/>
                </a:lnTo>
                <a:lnTo>
                  <a:pt x="850023" y="202637"/>
                </a:lnTo>
                <a:lnTo>
                  <a:pt x="878130" y="212720"/>
                </a:lnTo>
                <a:lnTo>
                  <a:pt x="906451" y="222188"/>
                </a:lnTo>
                <a:lnTo>
                  <a:pt x="934972" y="231036"/>
                </a:lnTo>
                <a:lnTo>
                  <a:pt x="963679" y="239259"/>
                </a:lnTo>
                <a:lnTo>
                  <a:pt x="992559" y="246853"/>
                </a:lnTo>
                <a:lnTo>
                  <a:pt x="1021597" y="253815"/>
                </a:lnTo>
                <a:lnTo>
                  <a:pt x="1050781" y="260142"/>
                </a:lnTo>
                <a:lnTo>
                  <a:pt x="1080096" y="265830"/>
                </a:lnTo>
                <a:lnTo>
                  <a:pt x="1109528" y="270877"/>
                </a:lnTo>
                <a:lnTo>
                  <a:pt x="1139063" y="275281"/>
                </a:lnTo>
                <a:lnTo>
                  <a:pt x="1168687" y="279038"/>
                </a:lnTo>
                <a:lnTo>
                  <a:pt x="1198386" y="282148"/>
                </a:lnTo>
                <a:lnTo>
                  <a:pt x="1228146" y="284609"/>
                </a:lnTo>
                <a:lnTo>
                  <a:pt x="1257953" y="286420"/>
                </a:lnTo>
                <a:lnTo>
                  <a:pt x="1287792" y="287580"/>
                </a:lnTo>
                <a:lnTo>
                  <a:pt x="1317649" y="288089"/>
                </a:lnTo>
                <a:lnTo>
                  <a:pt x="1347511" y="287945"/>
                </a:lnTo>
                <a:lnTo>
                  <a:pt x="1377362" y="287150"/>
                </a:lnTo>
                <a:lnTo>
                  <a:pt x="1407188" y="285703"/>
                </a:lnTo>
                <a:lnTo>
                  <a:pt x="1436976" y="283606"/>
                </a:lnTo>
                <a:lnTo>
                  <a:pt x="1466711" y="280859"/>
                </a:lnTo>
                <a:lnTo>
                  <a:pt x="1496379" y="277463"/>
                </a:lnTo>
                <a:lnTo>
                  <a:pt x="1525966" y="273421"/>
                </a:lnTo>
                <a:lnTo>
                  <a:pt x="1555457" y="268734"/>
                </a:lnTo>
                <a:lnTo>
                  <a:pt x="1584839" y="263405"/>
                </a:lnTo>
                <a:lnTo>
                  <a:pt x="1614098" y="257435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61" y="5416713"/>
            <a:ext cx="1293902" cy="1655464"/>
          </a:xfrm>
          <a:custGeom>
            <a:avLst/>
            <a:gdLst/>
            <a:ahLst/>
            <a:cxnLst/>
            <a:rect l="l" t="t" r="r" b="b"/>
            <a:pathLst>
              <a:path w="1293902" h="1655464">
                <a:moveTo>
                  <a:pt x="792570" y="1655464"/>
                </a:moveTo>
                <a:lnTo>
                  <a:pt x="756396" y="1625222"/>
                </a:lnTo>
                <a:lnTo>
                  <a:pt x="720892" y="1594197"/>
                </a:lnTo>
                <a:lnTo>
                  <a:pt x="686073" y="1562405"/>
                </a:lnTo>
                <a:lnTo>
                  <a:pt x="651956" y="1529860"/>
                </a:lnTo>
                <a:lnTo>
                  <a:pt x="618557" y="1496579"/>
                </a:lnTo>
                <a:lnTo>
                  <a:pt x="585893" y="1462576"/>
                </a:lnTo>
                <a:lnTo>
                  <a:pt x="553979" y="1427869"/>
                </a:lnTo>
                <a:lnTo>
                  <a:pt x="522831" y="1392473"/>
                </a:lnTo>
                <a:lnTo>
                  <a:pt x="492462" y="1356406"/>
                </a:lnTo>
                <a:lnTo>
                  <a:pt x="462888" y="1319684"/>
                </a:lnTo>
                <a:lnTo>
                  <a:pt x="434122" y="1282326"/>
                </a:lnTo>
                <a:lnTo>
                  <a:pt x="406178" y="1244348"/>
                </a:lnTo>
                <a:lnTo>
                  <a:pt x="379071" y="1205770"/>
                </a:lnTo>
                <a:lnTo>
                  <a:pt x="352811" y="1166609"/>
                </a:lnTo>
                <a:lnTo>
                  <a:pt x="327413" y="1126885"/>
                </a:lnTo>
                <a:lnTo>
                  <a:pt x="302888" y="1086615"/>
                </a:lnTo>
                <a:lnTo>
                  <a:pt x="279248" y="1045820"/>
                </a:lnTo>
                <a:lnTo>
                  <a:pt x="256503" y="1004519"/>
                </a:lnTo>
                <a:lnTo>
                  <a:pt x="234666" y="962731"/>
                </a:lnTo>
                <a:lnTo>
                  <a:pt x="213746" y="920476"/>
                </a:lnTo>
                <a:lnTo>
                  <a:pt x="193753" y="877775"/>
                </a:lnTo>
                <a:lnTo>
                  <a:pt x="174697" y="834647"/>
                </a:lnTo>
                <a:lnTo>
                  <a:pt x="156587" y="791114"/>
                </a:lnTo>
                <a:lnTo>
                  <a:pt x="139432" y="747196"/>
                </a:lnTo>
                <a:lnTo>
                  <a:pt x="123239" y="702914"/>
                </a:lnTo>
                <a:lnTo>
                  <a:pt x="108017" y="658289"/>
                </a:lnTo>
                <a:lnTo>
                  <a:pt x="93772" y="613342"/>
                </a:lnTo>
                <a:lnTo>
                  <a:pt x="80512" y="568095"/>
                </a:lnTo>
                <a:lnTo>
                  <a:pt x="68243" y="522570"/>
                </a:lnTo>
                <a:lnTo>
                  <a:pt x="56970" y="476787"/>
                </a:lnTo>
                <a:lnTo>
                  <a:pt x="46699" y="430770"/>
                </a:lnTo>
                <a:lnTo>
                  <a:pt x="37435" y="384539"/>
                </a:lnTo>
                <a:lnTo>
                  <a:pt x="29183" y="338117"/>
                </a:lnTo>
                <a:lnTo>
                  <a:pt x="21945" y="291526"/>
                </a:lnTo>
                <a:lnTo>
                  <a:pt x="15727" y="244788"/>
                </a:lnTo>
                <a:lnTo>
                  <a:pt x="10529" y="197925"/>
                </a:lnTo>
                <a:lnTo>
                  <a:pt x="6357" y="150960"/>
                </a:lnTo>
                <a:lnTo>
                  <a:pt x="3210" y="103915"/>
                </a:lnTo>
                <a:lnTo>
                  <a:pt x="1091" y="56813"/>
                </a:lnTo>
                <a:lnTo>
                  <a:pt x="0" y="9676"/>
                </a:lnTo>
                <a:lnTo>
                  <a:pt x="791941" y="0"/>
                </a:lnTo>
                <a:lnTo>
                  <a:pt x="792632" y="29854"/>
                </a:lnTo>
                <a:lnTo>
                  <a:pt x="793974" y="59685"/>
                </a:lnTo>
                <a:lnTo>
                  <a:pt x="795967" y="89480"/>
                </a:lnTo>
                <a:lnTo>
                  <a:pt x="798610" y="119224"/>
                </a:lnTo>
                <a:lnTo>
                  <a:pt x="801901" y="148904"/>
                </a:lnTo>
                <a:lnTo>
                  <a:pt x="805840" y="178505"/>
                </a:lnTo>
                <a:lnTo>
                  <a:pt x="810423" y="208013"/>
                </a:lnTo>
                <a:lnTo>
                  <a:pt x="815650" y="237413"/>
                </a:lnTo>
                <a:lnTo>
                  <a:pt x="821517" y="266693"/>
                </a:lnTo>
                <a:lnTo>
                  <a:pt x="828022" y="295837"/>
                </a:lnTo>
                <a:lnTo>
                  <a:pt x="835161" y="324833"/>
                </a:lnTo>
                <a:lnTo>
                  <a:pt x="842932" y="353666"/>
                </a:lnTo>
                <a:lnTo>
                  <a:pt x="851330" y="382322"/>
                </a:lnTo>
                <a:lnTo>
                  <a:pt x="860352" y="410788"/>
                </a:lnTo>
                <a:lnTo>
                  <a:pt x="869992" y="439051"/>
                </a:lnTo>
                <a:lnTo>
                  <a:pt x="880248" y="467096"/>
                </a:lnTo>
                <a:lnTo>
                  <a:pt x="891113" y="494911"/>
                </a:lnTo>
                <a:lnTo>
                  <a:pt x="902583" y="522482"/>
                </a:lnTo>
                <a:lnTo>
                  <a:pt x="914651" y="549796"/>
                </a:lnTo>
                <a:lnTo>
                  <a:pt x="927313" y="576840"/>
                </a:lnTo>
                <a:lnTo>
                  <a:pt x="940563" y="603601"/>
                </a:lnTo>
                <a:lnTo>
                  <a:pt x="954393" y="630067"/>
                </a:lnTo>
                <a:lnTo>
                  <a:pt x="968798" y="656225"/>
                </a:lnTo>
                <a:lnTo>
                  <a:pt x="983770" y="682062"/>
                </a:lnTo>
                <a:lnTo>
                  <a:pt x="999303" y="707566"/>
                </a:lnTo>
                <a:lnTo>
                  <a:pt x="1015388" y="732725"/>
                </a:lnTo>
                <a:lnTo>
                  <a:pt x="1032019" y="757526"/>
                </a:lnTo>
                <a:lnTo>
                  <a:pt x="1049187" y="781959"/>
                </a:lnTo>
                <a:lnTo>
                  <a:pt x="1066885" y="806012"/>
                </a:lnTo>
                <a:lnTo>
                  <a:pt x="1085103" y="829672"/>
                </a:lnTo>
                <a:lnTo>
                  <a:pt x="1103833" y="852929"/>
                </a:lnTo>
                <a:lnTo>
                  <a:pt x="1123067" y="875771"/>
                </a:lnTo>
                <a:lnTo>
                  <a:pt x="1142795" y="898189"/>
                </a:lnTo>
                <a:lnTo>
                  <a:pt x="1163007" y="920170"/>
                </a:lnTo>
                <a:lnTo>
                  <a:pt x="1183694" y="941705"/>
                </a:lnTo>
                <a:lnTo>
                  <a:pt x="1204846" y="962784"/>
                </a:lnTo>
                <a:lnTo>
                  <a:pt x="1226454" y="983395"/>
                </a:lnTo>
                <a:lnTo>
                  <a:pt x="1248506" y="1003530"/>
                </a:lnTo>
                <a:lnTo>
                  <a:pt x="1270992" y="1023179"/>
                </a:lnTo>
                <a:lnTo>
                  <a:pt x="1293902" y="1042332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161" y="3727823"/>
            <a:ext cx="1293902" cy="1655464"/>
          </a:xfrm>
          <a:custGeom>
            <a:avLst/>
            <a:gdLst/>
            <a:ahLst/>
            <a:cxnLst/>
            <a:rect l="l" t="t" r="r" b="b"/>
            <a:pathLst>
              <a:path w="1293902" h="1655464">
                <a:moveTo>
                  <a:pt x="0" y="1645788"/>
                </a:moveTo>
                <a:lnTo>
                  <a:pt x="1091" y="1598651"/>
                </a:lnTo>
                <a:lnTo>
                  <a:pt x="3210" y="1551549"/>
                </a:lnTo>
                <a:lnTo>
                  <a:pt x="6357" y="1504504"/>
                </a:lnTo>
                <a:lnTo>
                  <a:pt x="10529" y="1457539"/>
                </a:lnTo>
                <a:lnTo>
                  <a:pt x="15727" y="1410676"/>
                </a:lnTo>
                <a:lnTo>
                  <a:pt x="21945" y="1363938"/>
                </a:lnTo>
                <a:lnTo>
                  <a:pt x="29183" y="1317347"/>
                </a:lnTo>
                <a:lnTo>
                  <a:pt x="37435" y="1270925"/>
                </a:lnTo>
                <a:lnTo>
                  <a:pt x="46699" y="1224694"/>
                </a:lnTo>
                <a:lnTo>
                  <a:pt x="56970" y="1178677"/>
                </a:lnTo>
                <a:lnTo>
                  <a:pt x="68243" y="1132894"/>
                </a:lnTo>
                <a:lnTo>
                  <a:pt x="80512" y="1087369"/>
                </a:lnTo>
                <a:lnTo>
                  <a:pt x="93772" y="1042122"/>
                </a:lnTo>
                <a:lnTo>
                  <a:pt x="108017" y="997175"/>
                </a:lnTo>
                <a:lnTo>
                  <a:pt x="123239" y="952550"/>
                </a:lnTo>
                <a:lnTo>
                  <a:pt x="139432" y="908268"/>
                </a:lnTo>
                <a:lnTo>
                  <a:pt x="156587" y="864350"/>
                </a:lnTo>
                <a:lnTo>
                  <a:pt x="174697" y="820817"/>
                </a:lnTo>
                <a:lnTo>
                  <a:pt x="193753" y="777689"/>
                </a:lnTo>
                <a:lnTo>
                  <a:pt x="213746" y="734988"/>
                </a:lnTo>
                <a:lnTo>
                  <a:pt x="234666" y="692733"/>
                </a:lnTo>
                <a:lnTo>
                  <a:pt x="256503" y="650945"/>
                </a:lnTo>
                <a:lnTo>
                  <a:pt x="279248" y="609644"/>
                </a:lnTo>
                <a:lnTo>
                  <a:pt x="302888" y="568849"/>
                </a:lnTo>
                <a:lnTo>
                  <a:pt x="327413" y="528579"/>
                </a:lnTo>
                <a:lnTo>
                  <a:pt x="352811" y="488855"/>
                </a:lnTo>
                <a:lnTo>
                  <a:pt x="379071" y="449694"/>
                </a:lnTo>
                <a:lnTo>
                  <a:pt x="406178" y="411116"/>
                </a:lnTo>
                <a:lnTo>
                  <a:pt x="434122" y="373138"/>
                </a:lnTo>
                <a:lnTo>
                  <a:pt x="462888" y="335780"/>
                </a:lnTo>
                <a:lnTo>
                  <a:pt x="492462" y="299058"/>
                </a:lnTo>
                <a:lnTo>
                  <a:pt x="522831" y="262991"/>
                </a:lnTo>
                <a:lnTo>
                  <a:pt x="553979" y="227595"/>
                </a:lnTo>
                <a:lnTo>
                  <a:pt x="585893" y="192888"/>
                </a:lnTo>
                <a:lnTo>
                  <a:pt x="618557" y="158885"/>
                </a:lnTo>
                <a:lnTo>
                  <a:pt x="651956" y="125604"/>
                </a:lnTo>
                <a:lnTo>
                  <a:pt x="686073" y="93059"/>
                </a:lnTo>
                <a:lnTo>
                  <a:pt x="720892" y="61267"/>
                </a:lnTo>
                <a:lnTo>
                  <a:pt x="756396" y="30242"/>
                </a:lnTo>
                <a:lnTo>
                  <a:pt x="792570" y="0"/>
                </a:lnTo>
                <a:lnTo>
                  <a:pt x="1293902" y="613132"/>
                </a:lnTo>
                <a:lnTo>
                  <a:pt x="1270992" y="632285"/>
                </a:lnTo>
                <a:lnTo>
                  <a:pt x="1248506" y="651934"/>
                </a:lnTo>
                <a:lnTo>
                  <a:pt x="1226454" y="672069"/>
                </a:lnTo>
                <a:lnTo>
                  <a:pt x="1204846" y="692681"/>
                </a:lnTo>
                <a:lnTo>
                  <a:pt x="1183694" y="713759"/>
                </a:lnTo>
                <a:lnTo>
                  <a:pt x="1163007" y="735294"/>
                </a:lnTo>
                <a:lnTo>
                  <a:pt x="1142795" y="757275"/>
                </a:lnTo>
                <a:lnTo>
                  <a:pt x="1123067" y="779693"/>
                </a:lnTo>
                <a:lnTo>
                  <a:pt x="1103833" y="802535"/>
                </a:lnTo>
                <a:lnTo>
                  <a:pt x="1085103" y="825792"/>
                </a:lnTo>
                <a:lnTo>
                  <a:pt x="1066885" y="849452"/>
                </a:lnTo>
                <a:lnTo>
                  <a:pt x="1049187" y="873505"/>
                </a:lnTo>
                <a:lnTo>
                  <a:pt x="1032019" y="897938"/>
                </a:lnTo>
                <a:lnTo>
                  <a:pt x="1015388" y="922739"/>
                </a:lnTo>
                <a:lnTo>
                  <a:pt x="999303" y="947898"/>
                </a:lnTo>
                <a:lnTo>
                  <a:pt x="983770" y="973402"/>
                </a:lnTo>
                <a:lnTo>
                  <a:pt x="968798" y="999239"/>
                </a:lnTo>
                <a:lnTo>
                  <a:pt x="954393" y="1025397"/>
                </a:lnTo>
                <a:lnTo>
                  <a:pt x="940563" y="1051863"/>
                </a:lnTo>
                <a:lnTo>
                  <a:pt x="927313" y="1078624"/>
                </a:lnTo>
                <a:lnTo>
                  <a:pt x="914651" y="1105668"/>
                </a:lnTo>
                <a:lnTo>
                  <a:pt x="902583" y="1132982"/>
                </a:lnTo>
                <a:lnTo>
                  <a:pt x="891113" y="1160553"/>
                </a:lnTo>
                <a:lnTo>
                  <a:pt x="880248" y="1188368"/>
                </a:lnTo>
                <a:lnTo>
                  <a:pt x="869992" y="1216413"/>
                </a:lnTo>
                <a:lnTo>
                  <a:pt x="860352" y="1244676"/>
                </a:lnTo>
                <a:lnTo>
                  <a:pt x="851330" y="1273142"/>
                </a:lnTo>
                <a:lnTo>
                  <a:pt x="842932" y="1301798"/>
                </a:lnTo>
                <a:lnTo>
                  <a:pt x="835161" y="1330631"/>
                </a:lnTo>
                <a:lnTo>
                  <a:pt x="828022" y="1359627"/>
                </a:lnTo>
                <a:lnTo>
                  <a:pt x="821517" y="1388771"/>
                </a:lnTo>
                <a:lnTo>
                  <a:pt x="815650" y="1418051"/>
                </a:lnTo>
                <a:lnTo>
                  <a:pt x="810423" y="1447452"/>
                </a:lnTo>
                <a:lnTo>
                  <a:pt x="805840" y="1476959"/>
                </a:lnTo>
                <a:lnTo>
                  <a:pt x="801901" y="1506560"/>
                </a:lnTo>
                <a:lnTo>
                  <a:pt x="798610" y="1536240"/>
                </a:lnTo>
                <a:lnTo>
                  <a:pt x="795967" y="1565984"/>
                </a:lnTo>
                <a:lnTo>
                  <a:pt x="793974" y="1595779"/>
                </a:lnTo>
                <a:lnTo>
                  <a:pt x="792632" y="1625610"/>
                </a:lnTo>
                <a:lnTo>
                  <a:pt x="791941" y="1655464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5" name="Shape 13"/>
          <p:cNvSpPr/>
          <p:nvPr/>
        </p:nvSpPr>
        <p:spPr>
          <a:xfrm>
            <a:off x="1985994" y="3240040"/>
            <a:ext cx="1780888" cy="1080074"/>
          </a:xfrm>
          <a:custGeom>
            <a:avLst/>
            <a:gdLst/>
            <a:ahLst/>
            <a:cxnLst/>
            <a:rect l="l" t="t" r="r" b="b"/>
            <a:pathLst>
              <a:path w="1780888" h="1080074">
                <a:moveTo>
                  <a:pt x="0" y="454877"/>
                </a:moveTo>
                <a:lnTo>
                  <a:pt x="37533" y="426340"/>
                </a:lnTo>
                <a:lnTo>
                  <a:pt x="75681" y="398629"/>
                </a:lnTo>
                <a:lnTo>
                  <a:pt x="114424" y="371757"/>
                </a:lnTo>
                <a:lnTo>
                  <a:pt x="153744" y="345737"/>
                </a:lnTo>
                <a:lnTo>
                  <a:pt x="193623" y="320582"/>
                </a:lnTo>
                <a:lnTo>
                  <a:pt x="234042" y="296304"/>
                </a:lnTo>
                <a:lnTo>
                  <a:pt x="274980" y="272913"/>
                </a:lnTo>
                <a:lnTo>
                  <a:pt x="316420" y="250421"/>
                </a:lnTo>
                <a:lnTo>
                  <a:pt x="358341" y="228840"/>
                </a:lnTo>
                <a:lnTo>
                  <a:pt x="400722" y="208178"/>
                </a:lnTo>
                <a:lnTo>
                  <a:pt x="443545" y="188447"/>
                </a:lnTo>
                <a:lnTo>
                  <a:pt x="486788" y="169655"/>
                </a:lnTo>
                <a:lnTo>
                  <a:pt x="530431" y="151811"/>
                </a:lnTo>
                <a:lnTo>
                  <a:pt x="574453" y="134924"/>
                </a:lnTo>
                <a:lnTo>
                  <a:pt x="618834" y="119002"/>
                </a:lnTo>
                <a:lnTo>
                  <a:pt x="663551" y="104053"/>
                </a:lnTo>
                <a:lnTo>
                  <a:pt x="708584" y="90083"/>
                </a:lnTo>
                <a:lnTo>
                  <a:pt x="753911" y="77099"/>
                </a:lnTo>
                <a:lnTo>
                  <a:pt x="799510" y="65108"/>
                </a:lnTo>
                <a:lnTo>
                  <a:pt x="845361" y="54115"/>
                </a:lnTo>
                <a:lnTo>
                  <a:pt x="891440" y="44126"/>
                </a:lnTo>
                <a:lnTo>
                  <a:pt x="937727" y="35145"/>
                </a:lnTo>
                <a:lnTo>
                  <a:pt x="984198" y="27176"/>
                </a:lnTo>
                <a:lnTo>
                  <a:pt x="1030833" y="20223"/>
                </a:lnTo>
                <a:lnTo>
                  <a:pt x="1077608" y="14290"/>
                </a:lnTo>
                <a:lnTo>
                  <a:pt x="1124501" y="9379"/>
                </a:lnTo>
                <a:lnTo>
                  <a:pt x="1171491" y="5493"/>
                </a:lnTo>
                <a:lnTo>
                  <a:pt x="1218554" y="2634"/>
                </a:lnTo>
                <a:lnTo>
                  <a:pt x="1265668" y="803"/>
                </a:lnTo>
                <a:lnTo>
                  <a:pt x="1312811" y="0"/>
                </a:lnTo>
                <a:lnTo>
                  <a:pt x="1359961" y="227"/>
                </a:lnTo>
                <a:lnTo>
                  <a:pt x="1407094" y="1482"/>
                </a:lnTo>
                <a:lnTo>
                  <a:pt x="1454188" y="3766"/>
                </a:lnTo>
                <a:lnTo>
                  <a:pt x="1501222" y="7078"/>
                </a:lnTo>
                <a:lnTo>
                  <a:pt x="1548172" y="11415"/>
                </a:lnTo>
                <a:lnTo>
                  <a:pt x="1595016" y="16777"/>
                </a:lnTo>
                <a:lnTo>
                  <a:pt x="1641732" y="23159"/>
                </a:lnTo>
                <a:lnTo>
                  <a:pt x="1688297" y="30560"/>
                </a:lnTo>
                <a:lnTo>
                  <a:pt x="1734690" y="38975"/>
                </a:lnTo>
                <a:lnTo>
                  <a:pt x="1780888" y="48401"/>
                </a:lnTo>
                <a:lnTo>
                  <a:pt x="1614098" y="822639"/>
                </a:lnTo>
                <a:lnTo>
                  <a:pt x="1584839" y="816669"/>
                </a:lnTo>
                <a:lnTo>
                  <a:pt x="1555457" y="811340"/>
                </a:lnTo>
                <a:lnTo>
                  <a:pt x="1525966" y="806653"/>
                </a:lnTo>
                <a:lnTo>
                  <a:pt x="1496379" y="802610"/>
                </a:lnTo>
                <a:lnTo>
                  <a:pt x="1466711" y="799215"/>
                </a:lnTo>
                <a:lnTo>
                  <a:pt x="1436976" y="796468"/>
                </a:lnTo>
                <a:lnTo>
                  <a:pt x="1407188" y="794371"/>
                </a:lnTo>
                <a:lnTo>
                  <a:pt x="1377362" y="792924"/>
                </a:lnTo>
                <a:lnTo>
                  <a:pt x="1347511" y="792129"/>
                </a:lnTo>
                <a:lnTo>
                  <a:pt x="1317649" y="791985"/>
                </a:lnTo>
                <a:lnTo>
                  <a:pt x="1287792" y="792494"/>
                </a:lnTo>
                <a:lnTo>
                  <a:pt x="1257953" y="793653"/>
                </a:lnTo>
                <a:lnTo>
                  <a:pt x="1228146" y="795464"/>
                </a:lnTo>
                <a:lnTo>
                  <a:pt x="1198386" y="797925"/>
                </a:lnTo>
                <a:lnTo>
                  <a:pt x="1168687" y="801036"/>
                </a:lnTo>
                <a:lnTo>
                  <a:pt x="1139063" y="804793"/>
                </a:lnTo>
                <a:lnTo>
                  <a:pt x="1109528" y="809196"/>
                </a:lnTo>
                <a:lnTo>
                  <a:pt x="1080096" y="814243"/>
                </a:lnTo>
                <a:lnTo>
                  <a:pt x="1050781" y="819932"/>
                </a:lnTo>
                <a:lnTo>
                  <a:pt x="1021597" y="826258"/>
                </a:lnTo>
                <a:lnTo>
                  <a:pt x="992559" y="833220"/>
                </a:lnTo>
                <a:lnTo>
                  <a:pt x="963679" y="840815"/>
                </a:lnTo>
                <a:lnTo>
                  <a:pt x="934972" y="849038"/>
                </a:lnTo>
                <a:lnTo>
                  <a:pt x="906451" y="857885"/>
                </a:lnTo>
                <a:lnTo>
                  <a:pt x="878130" y="867353"/>
                </a:lnTo>
                <a:lnTo>
                  <a:pt x="850023" y="877437"/>
                </a:lnTo>
                <a:lnTo>
                  <a:pt x="822142" y="888132"/>
                </a:lnTo>
                <a:lnTo>
                  <a:pt x="794501" y="899433"/>
                </a:lnTo>
                <a:lnTo>
                  <a:pt x="767114" y="911335"/>
                </a:lnTo>
                <a:lnTo>
                  <a:pt x="739993" y="923831"/>
                </a:lnTo>
                <a:lnTo>
                  <a:pt x="713151" y="936917"/>
                </a:lnTo>
                <a:lnTo>
                  <a:pt x="686602" y="950585"/>
                </a:lnTo>
                <a:lnTo>
                  <a:pt x="660356" y="964830"/>
                </a:lnTo>
                <a:lnTo>
                  <a:pt x="634428" y="979644"/>
                </a:lnTo>
                <a:lnTo>
                  <a:pt x="608830" y="995021"/>
                </a:lnTo>
                <a:lnTo>
                  <a:pt x="583573" y="1010952"/>
                </a:lnTo>
                <a:lnTo>
                  <a:pt x="558671" y="1027431"/>
                </a:lnTo>
                <a:lnTo>
                  <a:pt x="534133" y="1044450"/>
                </a:lnTo>
                <a:lnTo>
                  <a:pt x="509973" y="1062000"/>
                </a:lnTo>
                <a:lnTo>
                  <a:pt x="486202" y="1080074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6" name="Shape 14"/>
          <p:cNvSpPr/>
          <p:nvPr/>
        </p:nvSpPr>
        <p:spPr>
          <a:xfrm>
            <a:off x="3632680" y="3300185"/>
            <a:ext cx="1613818" cy="1491249"/>
          </a:xfrm>
          <a:custGeom>
            <a:avLst/>
            <a:gdLst/>
            <a:ahLst/>
            <a:cxnLst/>
            <a:rect l="l" t="t" r="r" b="b"/>
            <a:pathLst>
              <a:path w="1613818" h="1491249">
                <a:moveTo>
                  <a:pt x="185657" y="0"/>
                </a:moveTo>
                <a:lnTo>
                  <a:pt x="231369" y="11552"/>
                </a:lnTo>
                <a:lnTo>
                  <a:pt x="276819" y="24100"/>
                </a:lnTo>
                <a:lnTo>
                  <a:pt x="321984" y="37636"/>
                </a:lnTo>
                <a:lnTo>
                  <a:pt x="366843" y="52155"/>
                </a:lnTo>
                <a:lnTo>
                  <a:pt x="411374" y="67649"/>
                </a:lnTo>
                <a:lnTo>
                  <a:pt x="455557" y="84112"/>
                </a:lnTo>
                <a:lnTo>
                  <a:pt x="499369" y="101536"/>
                </a:lnTo>
                <a:lnTo>
                  <a:pt x="542791" y="119911"/>
                </a:lnTo>
                <a:lnTo>
                  <a:pt x="585801" y="139230"/>
                </a:lnTo>
                <a:lnTo>
                  <a:pt x="628380" y="159484"/>
                </a:lnTo>
                <a:lnTo>
                  <a:pt x="670506" y="180661"/>
                </a:lnTo>
                <a:lnTo>
                  <a:pt x="712160" y="202753"/>
                </a:lnTo>
                <a:lnTo>
                  <a:pt x="753321" y="225750"/>
                </a:lnTo>
                <a:lnTo>
                  <a:pt x="793971" y="249639"/>
                </a:lnTo>
                <a:lnTo>
                  <a:pt x="834090" y="274409"/>
                </a:lnTo>
                <a:lnTo>
                  <a:pt x="873659" y="300050"/>
                </a:lnTo>
                <a:lnTo>
                  <a:pt x="912659" y="326548"/>
                </a:lnTo>
                <a:lnTo>
                  <a:pt x="951070" y="353891"/>
                </a:lnTo>
                <a:lnTo>
                  <a:pt x="988876" y="382066"/>
                </a:lnTo>
                <a:lnTo>
                  <a:pt x="1026058" y="411059"/>
                </a:lnTo>
                <a:lnTo>
                  <a:pt x="1062598" y="440857"/>
                </a:lnTo>
                <a:lnTo>
                  <a:pt x="1098480" y="471446"/>
                </a:lnTo>
                <a:lnTo>
                  <a:pt x="1133684" y="502810"/>
                </a:lnTo>
                <a:lnTo>
                  <a:pt x="1168196" y="534936"/>
                </a:lnTo>
                <a:lnTo>
                  <a:pt x="1201999" y="567807"/>
                </a:lnTo>
                <a:lnTo>
                  <a:pt x="1235076" y="601408"/>
                </a:lnTo>
                <a:lnTo>
                  <a:pt x="1267411" y="635723"/>
                </a:lnTo>
                <a:lnTo>
                  <a:pt x="1298990" y="670735"/>
                </a:lnTo>
                <a:lnTo>
                  <a:pt x="1329797" y="706429"/>
                </a:lnTo>
                <a:lnTo>
                  <a:pt x="1359818" y="742786"/>
                </a:lnTo>
                <a:lnTo>
                  <a:pt x="1389038" y="779790"/>
                </a:lnTo>
                <a:lnTo>
                  <a:pt x="1417443" y="817423"/>
                </a:lnTo>
                <a:lnTo>
                  <a:pt x="1445020" y="855668"/>
                </a:lnTo>
                <a:lnTo>
                  <a:pt x="1471756" y="894505"/>
                </a:lnTo>
                <a:lnTo>
                  <a:pt x="1497638" y="933916"/>
                </a:lnTo>
                <a:lnTo>
                  <a:pt x="1522653" y="973883"/>
                </a:lnTo>
                <a:lnTo>
                  <a:pt x="1546790" y="1014386"/>
                </a:lnTo>
                <a:lnTo>
                  <a:pt x="1570037" y="1055407"/>
                </a:lnTo>
                <a:lnTo>
                  <a:pt x="1592383" y="1096925"/>
                </a:lnTo>
                <a:lnTo>
                  <a:pt x="1613818" y="1138921"/>
                </a:lnTo>
                <a:lnTo>
                  <a:pt x="904502" y="1491249"/>
                </a:lnTo>
                <a:lnTo>
                  <a:pt x="890927" y="1464651"/>
                </a:lnTo>
                <a:lnTo>
                  <a:pt x="876774" y="1438356"/>
                </a:lnTo>
                <a:lnTo>
                  <a:pt x="862051" y="1412377"/>
                </a:lnTo>
                <a:lnTo>
                  <a:pt x="846764" y="1386725"/>
                </a:lnTo>
                <a:lnTo>
                  <a:pt x="830921" y="1361412"/>
                </a:lnTo>
                <a:lnTo>
                  <a:pt x="814530" y="1336452"/>
                </a:lnTo>
                <a:lnTo>
                  <a:pt x="797597" y="1311855"/>
                </a:lnTo>
                <a:lnTo>
                  <a:pt x="780132" y="1287634"/>
                </a:lnTo>
                <a:lnTo>
                  <a:pt x="762141" y="1263799"/>
                </a:lnTo>
                <a:lnTo>
                  <a:pt x="743636" y="1240364"/>
                </a:lnTo>
                <a:lnTo>
                  <a:pt x="724622" y="1217337"/>
                </a:lnTo>
                <a:lnTo>
                  <a:pt x="705111" y="1194731"/>
                </a:lnTo>
                <a:lnTo>
                  <a:pt x="685111" y="1172556"/>
                </a:lnTo>
                <a:lnTo>
                  <a:pt x="664632" y="1150824"/>
                </a:lnTo>
                <a:lnTo>
                  <a:pt x="643683" y="1129543"/>
                </a:lnTo>
                <a:lnTo>
                  <a:pt x="622275" y="1108725"/>
                </a:lnTo>
                <a:lnTo>
                  <a:pt x="600418" y="1088379"/>
                </a:lnTo>
                <a:lnTo>
                  <a:pt x="578121" y="1068514"/>
                </a:lnTo>
                <a:lnTo>
                  <a:pt x="555396" y="1049142"/>
                </a:lnTo>
                <a:lnTo>
                  <a:pt x="532254" y="1030270"/>
                </a:lnTo>
                <a:lnTo>
                  <a:pt x="508706" y="1011907"/>
                </a:lnTo>
                <a:lnTo>
                  <a:pt x="484762" y="994063"/>
                </a:lnTo>
                <a:lnTo>
                  <a:pt x="460434" y="976746"/>
                </a:lnTo>
                <a:lnTo>
                  <a:pt x="435735" y="959964"/>
                </a:lnTo>
                <a:lnTo>
                  <a:pt x="410675" y="943725"/>
                </a:lnTo>
                <a:lnTo>
                  <a:pt x="385266" y="928037"/>
                </a:lnTo>
                <a:lnTo>
                  <a:pt x="359521" y="912907"/>
                </a:lnTo>
                <a:lnTo>
                  <a:pt x="333452" y="898343"/>
                </a:lnTo>
                <a:lnTo>
                  <a:pt x="307071" y="884351"/>
                </a:lnTo>
                <a:lnTo>
                  <a:pt x="280391" y="870938"/>
                </a:lnTo>
                <a:lnTo>
                  <a:pt x="253425" y="858111"/>
                </a:lnTo>
                <a:lnTo>
                  <a:pt x="226185" y="845876"/>
                </a:lnTo>
                <a:lnTo>
                  <a:pt x="198685" y="834238"/>
                </a:lnTo>
                <a:lnTo>
                  <a:pt x="170937" y="823203"/>
                </a:lnTo>
                <a:lnTo>
                  <a:pt x="142954" y="812777"/>
                </a:lnTo>
                <a:lnTo>
                  <a:pt x="114751" y="802964"/>
                </a:lnTo>
                <a:lnTo>
                  <a:pt x="86341" y="793768"/>
                </a:lnTo>
                <a:lnTo>
                  <a:pt x="57736" y="785195"/>
                </a:lnTo>
                <a:lnTo>
                  <a:pt x="28951" y="777249"/>
                </a:lnTo>
                <a:lnTo>
                  <a:pt x="0" y="769932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2000" y="4140000"/>
            <a:ext cx="2520000" cy="2520000"/>
          </a:xfrm>
          <a:prstGeom prst="ellipse">
            <a:avLst/>
          </a:prstGeom>
          <a:solidFill>
            <a:srgbClr val="F5F4F1"/>
          </a:solidFill>
          <a:ln/>
        </p:spPr>
      </p:sp>
      <p:sp>
        <p:nvSpPr>
          <p:cNvPr id="18" name="Shape 16"/>
          <p:cNvSpPr/>
          <p:nvPr/>
        </p:nvSpPr>
        <p:spPr>
          <a:xfrm>
            <a:off x="4372236" y="6739551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9873" y="7080173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83091" y="6125771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83091" y="4595029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9873" y="3640627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2236" y="3981249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04000" y="4932000"/>
            <a:ext cx="2016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04000" y="5256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総合力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04000" y="5508000"/>
            <a:ext cx="20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多様な産業 × 地域 × 機能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304000" y="5724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7つの営業グループ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16000" y="5184000"/>
            <a:ext cx="72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金属資源</a:t>
            </a:r>
            <a:endParaRPr lang="en-US" sz="74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12000" y="2736000"/>
            <a:ext cx="54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spc="24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BUSINESS GROUPS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490000" y="5400000"/>
            <a:ext cx="3150000" cy="36"/>
          </a:xfrm>
          <a:prstGeom prst="line">
            <a:avLst/>
          </a:prstGeom>
          <a:noFill/>
          <a:ln w="17780">
            <a:solidFill>
              <a:srgbClr val="A862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82400" y="5342400"/>
            <a:ext cx="115200" cy="1152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000" y="7956000"/>
            <a:ext cx="50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7つの営業グループのうち、長年三菱商事を支えてきた中核グループの一つ。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04000" y="8568000"/>
            <a:ext cx="66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34" name="Text 32"/>
          <p:cNvSpPr/>
          <p:nvPr/>
        </p:nvSpPr>
        <p:spPr>
          <a:xfrm>
            <a:off x="504000" y="86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三綱領｜三菱商事の企業理念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4000" y="8964000"/>
            <a:ext cx="208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所期奉公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4000" y="9252000"/>
            <a:ext cx="208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しょきほうこう</a:t>
            </a:r>
            <a:endParaRPr lang="en-US" sz="580" dirty="0"/>
          </a:p>
        </p:txBody>
      </p:sp>
      <p:sp>
        <p:nvSpPr>
          <p:cNvPr id="37" name="Text 35"/>
          <p:cNvSpPr/>
          <p:nvPr/>
        </p:nvSpPr>
        <p:spPr>
          <a:xfrm>
            <a:off x="504000" y="9432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事業を通じ、物心共に豊かな社会の実現に努力すると同時に、かけがえのない地球環境の維持にも貢献する</a:t>
            </a:r>
            <a:endParaRPr lang="en-US" sz="630" dirty="0"/>
          </a:p>
        </p:txBody>
      </p:sp>
      <p:sp>
        <p:nvSpPr>
          <p:cNvPr id="38" name="Text 36"/>
          <p:cNvSpPr/>
          <p:nvPr/>
        </p:nvSpPr>
        <p:spPr>
          <a:xfrm>
            <a:off x="2736000" y="8964000"/>
            <a:ext cx="208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処事光明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36000" y="9252000"/>
            <a:ext cx="208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しょじこうめい</a:t>
            </a:r>
            <a:endParaRPr lang="en-US" sz="580" dirty="0"/>
          </a:p>
        </p:txBody>
      </p:sp>
      <p:sp>
        <p:nvSpPr>
          <p:cNvPr id="40" name="Text 38"/>
          <p:cNvSpPr/>
          <p:nvPr/>
        </p:nvSpPr>
        <p:spPr>
          <a:xfrm>
            <a:off x="2736000" y="9432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公明正大で品格のある行動を旨とし、活動の公開性、透明性を堅持する</a:t>
            </a:r>
            <a:endParaRPr lang="en-US" sz="630" dirty="0"/>
          </a:p>
        </p:txBody>
      </p:sp>
      <p:sp>
        <p:nvSpPr>
          <p:cNvPr id="41" name="Text 39"/>
          <p:cNvSpPr/>
          <p:nvPr/>
        </p:nvSpPr>
        <p:spPr>
          <a:xfrm>
            <a:off x="4968000" y="8964000"/>
            <a:ext cx="208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立業貿易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68000" y="9252000"/>
            <a:ext cx="208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りつぎょうぼうえき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4968000" y="9432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全世界的、宇宙的視野に立脚した事業展開を図る</a:t>
            </a:r>
            <a:endParaRPr lang="en-US" sz="630" dirty="0"/>
          </a:p>
        </p:txBody>
      </p:sp>
      <p:sp>
        <p:nvSpPr>
          <p:cNvPr id="44" name="Text 42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0000" y="5400000"/>
            <a:ext cx="3150000" cy="36"/>
          </a:xfrm>
          <a:prstGeom prst="line">
            <a:avLst/>
          </a:prstGeom>
          <a:noFill/>
          <a:ln w="17780">
            <a:solidFill>
              <a:srgbClr val="A862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0800" y="5320800"/>
            <a:ext cx="158400" cy="1584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2000" y="5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我々は何者か｜金属資源グループとは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2000" y="828000"/>
            <a:ext cx="6624000" cy="92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core that</a:t>
            </a:r>
            <a:endParaRPr lang="en-US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0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has carried us.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2000" y="1728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432000" y="1836000"/>
            <a:ext cx="6624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三綱領を事業で体現する、中核グループとして。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000" y="2124000"/>
            <a:ext cx="396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社会に不可欠な金属資源を世界から確保し、安定的に届けてきました。市況の波を越えて事業に関わり続け、長年にわたり全社の利益を支える屋台骨となっています。</a:t>
            </a:r>
            <a:endParaRPr lang="en-US" sz="780" dirty="0"/>
          </a:p>
        </p:txBody>
      </p:sp>
      <p:pic>
        <p:nvPicPr>
          <p:cNvPr id="9" name="Image 0" descr="/home/user/my-website/mc_metals_12p/src/assets/_crop/_mr_project_03_68.0x40.0_0.5_0.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8000" y="2016000"/>
            <a:ext cx="2448000" cy="1440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2000" y="3744000"/>
            <a:ext cx="66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11" name="Text 8"/>
          <p:cNvSpPr/>
          <p:nvPr/>
        </p:nvSpPr>
        <p:spPr>
          <a:xfrm>
            <a:off x="432000" y="3852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長年の貢献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2000" y="4068000"/>
            <a:ext cx="396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市況の波を越えて、全社の利益を長く支えてきた。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80000" y="4608000"/>
            <a:ext cx="5976000" cy="15840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14" name="Text 11"/>
          <p:cNvSpPr/>
          <p:nvPr/>
        </p:nvSpPr>
        <p:spPr>
          <a:xfrm>
            <a:off x="1440000" y="4824000"/>
            <a:ext cx="54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E9D6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MISSION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C9CE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グループミッション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440000" y="5112000"/>
            <a:ext cx="5328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社会が必要とする良質な金属資源を、持続可能な形で安定供給することで、より良い社会の実現に寄与する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2000" y="6552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JOURNEY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先見性をもって、先手を打ってきた歩み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32000" y="7560000"/>
            <a:ext cx="7128000" cy="36"/>
          </a:xfrm>
          <a:prstGeom prst="line">
            <a:avLst/>
          </a:prstGeom>
          <a:noFill/>
          <a:ln w="15240">
            <a:solidFill>
              <a:srgbClr val="A862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20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1980–90s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2000" y="7502400"/>
            <a:ext cx="115200" cy="1152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20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日本の産業に、資源を。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4320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日本の製造業を支えるため、トレーディングで資源に関わり、少数出資から事業へ。</a:t>
            </a:r>
            <a:endParaRPr lang="en-US" sz="630" dirty="0"/>
          </a:p>
        </p:txBody>
      </p:sp>
      <p:sp>
        <p:nvSpPr>
          <p:cNvPr id="22" name="Text 19"/>
          <p:cNvSpPr/>
          <p:nvPr/>
        </p:nvSpPr>
        <p:spPr>
          <a:xfrm>
            <a:off x="17568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1990s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756800" y="7502400"/>
            <a:ext cx="115200" cy="1152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568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仲介から、担い手へ。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17568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口銭収入に頼らず、資産を持つ投資モデルへ転換。JV運営の知見を蓄える。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30816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2000s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081600" y="7502400"/>
            <a:ext cx="115200" cy="1152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816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一級資産に、早くから。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30816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需要の拡大を先読みし、BHPとの折半出資でBMAを組成。事業経営に参画。</a:t>
            </a:r>
            <a:endParaRPr lang="en-US" sz="630" dirty="0"/>
          </a:p>
        </p:txBody>
      </p:sp>
      <p:sp>
        <p:nvSpPr>
          <p:cNvPr id="30" name="Text 27"/>
          <p:cNvSpPr/>
          <p:nvPr/>
        </p:nvSpPr>
        <p:spPr>
          <a:xfrm>
            <a:off x="44064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2010s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406400" y="7502400"/>
            <a:ext cx="115200" cy="1152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064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次の柱を、先回りして。</a:t>
            </a:r>
            <a:endParaRPr lang="en-US" sz="760" dirty="0"/>
          </a:p>
        </p:txBody>
      </p:sp>
      <p:sp>
        <p:nvSpPr>
          <p:cNvPr id="33" name="Text 30"/>
          <p:cNvSpPr/>
          <p:nvPr/>
        </p:nvSpPr>
        <p:spPr>
          <a:xfrm>
            <a:off x="44064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原料炭に続く柱として銅へ領域を拡大。販売機能をRtMに集約。</a:t>
            </a:r>
            <a:endParaRPr lang="en-US" sz="630" dirty="0"/>
          </a:p>
        </p:txBody>
      </p:sp>
      <p:sp>
        <p:nvSpPr>
          <p:cNvPr id="34" name="Text 31"/>
          <p:cNvSpPr/>
          <p:nvPr/>
        </p:nvSpPr>
        <p:spPr>
          <a:xfrm>
            <a:off x="57312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2020s–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731200" y="7502400"/>
            <a:ext cx="115200" cy="1152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312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投資と販売を、一つの力に。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57312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両輪を一体で動かし、世界の市場と産業をつなぐ事業者へ。</a:t>
            </a:r>
            <a:endParaRPr lang="en-US" sz="630" dirty="0"/>
          </a:p>
        </p:txBody>
      </p:sp>
      <p:sp>
        <p:nvSpPr>
          <p:cNvPr id="38" name="Shape 35"/>
          <p:cNvSpPr/>
          <p:nvPr/>
        </p:nvSpPr>
        <p:spPr>
          <a:xfrm>
            <a:off x="432000" y="9000000"/>
            <a:ext cx="6624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39" name="Text 36"/>
          <p:cNvSpPr/>
          <p:nvPr/>
        </p:nvSpPr>
        <p:spPr>
          <a:xfrm>
            <a:off x="432000" y="9144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事業領域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32000" y="9396000"/>
            <a:ext cx="576000" cy="252000"/>
          </a:xfrm>
          <a:prstGeom prst="roundRect">
            <a:avLst>
              <a:gd name="adj" fmla="val 50000"/>
            </a:avLst>
          </a:prstGeom>
          <a:solidFill>
            <a:srgbClr val="A8622F"/>
          </a:solidFill>
          <a:ln w="7620">
            <a:solidFill>
              <a:srgbClr val="A8622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2000" y="9457200"/>
            <a:ext cx="57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</a:t>
            </a:r>
            <a:endParaRPr lang="en-US" sz="640" dirty="0"/>
          </a:p>
        </p:txBody>
      </p:sp>
      <p:sp>
        <p:nvSpPr>
          <p:cNvPr id="42" name="Shape 39"/>
          <p:cNvSpPr/>
          <p:nvPr/>
        </p:nvSpPr>
        <p:spPr>
          <a:xfrm>
            <a:off x="1098000" y="9396000"/>
            <a:ext cx="432000" cy="252000"/>
          </a:xfrm>
          <a:prstGeom prst="roundRect">
            <a:avLst>
              <a:gd name="adj" fmla="val 50000"/>
            </a:avLst>
          </a:prstGeom>
          <a:solidFill>
            <a:srgbClr val="A8622F"/>
          </a:solidFill>
          <a:ln w="7620">
            <a:solidFill>
              <a:srgbClr val="A8622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98000" y="9457200"/>
            <a:ext cx="432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</a:t>
            </a:r>
            <a:endParaRPr lang="en-US" sz="640" dirty="0"/>
          </a:p>
        </p:txBody>
      </p:sp>
      <p:sp>
        <p:nvSpPr>
          <p:cNvPr id="44" name="Shape 41"/>
          <p:cNvSpPr/>
          <p:nvPr/>
        </p:nvSpPr>
        <p:spPr>
          <a:xfrm>
            <a:off x="1620000" y="9396000"/>
            <a:ext cx="576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20000" y="9457200"/>
            <a:ext cx="57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鉄鉱石</a:t>
            </a:r>
            <a:endParaRPr lang="en-US" sz="640" dirty="0"/>
          </a:p>
        </p:txBody>
      </p:sp>
      <p:sp>
        <p:nvSpPr>
          <p:cNvPr id="46" name="Shape 43"/>
          <p:cNvSpPr/>
          <p:nvPr/>
        </p:nvSpPr>
        <p:spPr>
          <a:xfrm>
            <a:off x="2286000" y="9396000"/>
            <a:ext cx="64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286000" y="9457200"/>
            <a:ext cx="64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ニッケル</a:t>
            </a:r>
            <a:endParaRPr lang="en-US" sz="640" dirty="0"/>
          </a:p>
        </p:txBody>
      </p:sp>
      <p:sp>
        <p:nvSpPr>
          <p:cNvPr id="48" name="Shape 45"/>
          <p:cNvSpPr/>
          <p:nvPr/>
        </p:nvSpPr>
        <p:spPr>
          <a:xfrm>
            <a:off x="3024000" y="9396000"/>
            <a:ext cx="64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024000" y="9457200"/>
            <a:ext cx="64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リチウム</a:t>
            </a:r>
            <a:endParaRPr lang="en-US" sz="640" dirty="0"/>
          </a:p>
        </p:txBody>
      </p:sp>
      <p:sp>
        <p:nvSpPr>
          <p:cNvPr id="50" name="Shape 47"/>
          <p:cNvSpPr/>
          <p:nvPr/>
        </p:nvSpPr>
        <p:spPr>
          <a:xfrm>
            <a:off x="3762000" y="9396000"/>
            <a:ext cx="1080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762000" y="9457200"/>
            <a:ext cx="108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アルミ・ボーキサイト</a:t>
            </a:r>
            <a:endParaRPr lang="en-US" sz="640" dirty="0"/>
          </a:p>
        </p:txBody>
      </p:sp>
      <p:sp>
        <p:nvSpPr>
          <p:cNvPr id="52" name="Shape 49"/>
          <p:cNvSpPr/>
          <p:nvPr/>
        </p:nvSpPr>
        <p:spPr>
          <a:xfrm>
            <a:off x="4932000" y="9396000"/>
            <a:ext cx="64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932000" y="9457200"/>
            <a:ext cx="64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肥料資源</a:t>
            </a:r>
            <a:endParaRPr lang="en-US" sz="640" dirty="0"/>
          </a:p>
        </p:txBody>
      </p:sp>
      <p:sp>
        <p:nvSpPr>
          <p:cNvPr id="54" name="Shape 51"/>
          <p:cNvSpPr/>
          <p:nvPr/>
        </p:nvSpPr>
        <p:spPr>
          <a:xfrm>
            <a:off x="5670000" y="9396000"/>
            <a:ext cx="64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70000" y="9457200"/>
            <a:ext cx="64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二次資源</a:t>
            </a:r>
            <a:endParaRPr lang="en-US" sz="640" dirty="0"/>
          </a:p>
        </p:txBody>
      </p:sp>
      <p:sp>
        <p:nvSpPr>
          <p:cNvPr id="56" name="Text 53"/>
          <p:cNvSpPr/>
          <p:nvPr/>
        </p:nvSpPr>
        <p:spPr>
          <a:xfrm>
            <a:off x="432000" y="9756000"/>
            <a:ext cx="66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原料炭と銅を中核に、世界に事業を広げる。</a:t>
            </a:r>
            <a:endParaRPr lang="en-US" sz="630" dirty="0"/>
          </a:p>
        </p:txBody>
      </p:sp>
      <p:sp>
        <p:nvSpPr>
          <p:cNvPr id="57" name="Text 54"/>
          <p:cNvSpPr/>
          <p:nvPr/>
        </p:nvSpPr>
        <p:spPr>
          <a:xfrm>
            <a:off x="633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4000" y="-216000"/>
            <a:ext cx="2872800" cy="259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0" spc="-600" kern="0" dirty="0">
                <a:ln w="7620">
                  <a:solidFill>
                    <a:srgbClr val="D9DDE1"/>
                  </a:solidFill>
                </a:ln>
                <a:solidFill>
                  <a:srgbClr val="FFFFF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504000" y="5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02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独自価値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4000" y="828000"/>
            <a:ext cx="6624000" cy="107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Distinctive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Strength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4000" y="187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04000" y="1980000"/>
            <a:ext cx="6480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投資とトレーディングの両輪で、資源の流れ全体に関わる。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80000" y="2736000"/>
            <a:ext cx="11988000" cy="378000"/>
          </a:xfrm>
          <a:custGeom>
            <a:avLst/>
            <a:gdLst/>
            <a:ahLst/>
            <a:cxnLst/>
            <a:rect l="l" t="t" r="r" b="b"/>
            <a:pathLst>
              <a:path w="11988000" h="378000">
                <a:moveTo>
                  <a:pt x="11988000" y="324000"/>
                </a:moveTo>
                <a:lnTo>
                  <a:pt x="11988000" y="0"/>
                </a:lnTo>
                <a:lnTo>
                  <a:pt x="0" y="0"/>
                </a:lnTo>
                <a:lnTo>
                  <a:pt x="0" y="378000"/>
                </a:lnTo>
              </a:path>
            </a:pathLst>
          </a:custGeom>
          <a:ln w="12700">
            <a:solidFill>
              <a:srgbClr val="1F3A56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56000" y="2646000"/>
            <a:ext cx="3312000" cy="18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456000" y="2664000"/>
            <a:ext cx="33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　市場の情報を、次の投資判断へ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504000" y="3096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</a:t>
            </a:r>
            <a:endParaRPr lang="en-US" sz="630" dirty="0"/>
          </a:p>
        </p:txBody>
      </p:sp>
      <p:sp>
        <p:nvSpPr>
          <p:cNvPr id="11" name="Text 9"/>
          <p:cNvSpPr/>
          <p:nvPr/>
        </p:nvSpPr>
        <p:spPr>
          <a:xfrm>
            <a:off x="504000" y="3258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鉱山・資源開発</a:t>
            </a:r>
            <a:endParaRPr lang="en-US" sz="900" dirty="0"/>
          </a:p>
        </p:txBody>
      </p:sp>
      <p:pic>
        <p:nvPicPr>
          <p:cNvPr id="12" name="Image 0" descr="/home/user/my-website/mc_metals_12p/src/assets/_crop/_mr_project_03_86.0x30.0_0.5_0.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00" y="3492000"/>
            <a:ext cx="3096000" cy="1080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32000" y="3096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4032000" y="3258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選鉱・製錬・製鉄</a:t>
            </a:r>
            <a:endParaRPr lang="en-US" sz="900" dirty="0"/>
          </a:p>
        </p:txBody>
      </p:sp>
      <p:pic>
        <p:nvPicPr>
          <p:cNvPr id="15" name="Image 1" descr="/home/user/my-website/mc_metals_12p/src/assets/_crop/mr_02_01@2x_86.0x30.0_0.5_0.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000" y="3492000"/>
            <a:ext cx="3096000" cy="1080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4000" y="4752000"/>
            <a:ext cx="6624000" cy="79200"/>
          </a:xfrm>
          <a:prstGeom prst="rect">
            <a:avLst/>
          </a:prstGeom>
          <a:solidFill>
            <a:srgbClr val="9C7442"/>
          </a:solidFill>
          <a:ln/>
        </p:spPr>
      </p:sp>
      <p:sp>
        <p:nvSpPr>
          <p:cNvPr id="17" name="Text 13"/>
          <p:cNvSpPr/>
          <p:nvPr/>
        </p:nvSpPr>
        <p:spPr>
          <a:xfrm>
            <a:off x="1080000" y="4878000"/>
            <a:ext cx="604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資源投資｜鉱山・製錬への出資　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鉄鋼原料本部・クリティカルミネラル本部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04000" y="5464800"/>
            <a:ext cx="5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鉄鋼原料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1080000" y="5400000"/>
            <a:ext cx="2448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80000" y="5497200"/>
            <a:ext cx="2448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原料炭・鉄鉱石</a:t>
            </a:r>
            <a:endParaRPr lang="en-US" sz="740" dirty="0"/>
          </a:p>
        </p:txBody>
      </p:sp>
      <p:sp>
        <p:nvSpPr>
          <p:cNvPr id="21" name="Shape 17"/>
          <p:cNvSpPr/>
          <p:nvPr/>
        </p:nvSpPr>
        <p:spPr>
          <a:xfrm>
            <a:off x="4032000" y="5400000"/>
            <a:ext cx="3096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032000" y="5497200"/>
            <a:ext cx="309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製鉄所｜鋼材</a:t>
            </a:r>
            <a:endParaRPr lang="en-US" sz="740" dirty="0"/>
          </a:p>
        </p:txBody>
      </p:sp>
      <p:sp>
        <p:nvSpPr>
          <p:cNvPr id="23" name="Shape 19"/>
          <p:cNvSpPr/>
          <p:nvPr/>
        </p:nvSpPr>
        <p:spPr>
          <a:xfrm>
            <a:off x="3546000" y="5562000"/>
            <a:ext cx="468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7146000" y="5562000"/>
            <a:ext cx="810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4000" y="6076800"/>
            <a:ext cx="5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1080000" y="6012000"/>
            <a:ext cx="2448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80000" y="6109200"/>
            <a:ext cx="2448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銅鉱石</a:t>
            </a:r>
            <a:endParaRPr lang="en-US" sz="740" dirty="0"/>
          </a:p>
        </p:txBody>
      </p:sp>
      <p:sp>
        <p:nvSpPr>
          <p:cNvPr id="28" name="Shape 24"/>
          <p:cNvSpPr/>
          <p:nvPr/>
        </p:nvSpPr>
        <p:spPr>
          <a:xfrm>
            <a:off x="4032000" y="6012000"/>
            <a:ext cx="3096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032000" y="6109200"/>
            <a:ext cx="309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選鉱・製錬｜銅地金</a:t>
            </a:r>
            <a:endParaRPr lang="en-US" sz="740" dirty="0"/>
          </a:p>
        </p:txBody>
      </p:sp>
      <p:sp>
        <p:nvSpPr>
          <p:cNvPr id="30" name="Shape 26"/>
          <p:cNvSpPr/>
          <p:nvPr/>
        </p:nvSpPr>
        <p:spPr>
          <a:xfrm>
            <a:off x="3546000" y="6174000"/>
            <a:ext cx="468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7146000" y="6174000"/>
            <a:ext cx="810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04000" y="6624000"/>
            <a:ext cx="13968000" cy="79200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33" name="Text 29"/>
          <p:cNvSpPr/>
          <p:nvPr/>
        </p:nvSpPr>
        <p:spPr>
          <a:xfrm>
            <a:off x="1080000" y="6760800"/>
            <a:ext cx="604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60" kern="0" dirty="0">
                <a:solidFill>
                  <a:srgbClr val="1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トレーディング（RtM）｜資源と市場をつなぐ　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金属資源トレーディング本部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676800" y="4852800"/>
            <a:ext cx="230400" cy="230400"/>
          </a:xfrm>
          <a:prstGeom prst="ellipse">
            <a:avLst/>
          </a:prstGeom>
          <a:solidFill>
            <a:srgbClr val="9C7442"/>
          </a:solidFill>
          <a:ln/>
        </p:spPr>
      </p:sp>
      <p:sp>
        <p:nvSpPr>
          <p:cNvPr id="35" name="Text 31"/>
          <p:cNvSpPr/>
          <p:nvPr/>
        </p:nvSpPr>
        <p:spPr>
          <a:xfrm>
            <a:off x="676800" y="4896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650" dirty="0"/>
          </a:p>
        </p:txBody>
      </p:sp>
      <p:sp>
        <p:nvSpPr>
          <p:cNvPr id="36" name="Shape 32"/>
          <p:cNvSpPr/>
          <p:nvPr/>
        </p:nvSpPr>
        <p:spPr>
          <a:xfrm>
            <a:off x="676800" y="6724800"/>
            <a:ext cx="230400" cy="230400"/>
          </a:xfrm>
          <a:prstGeom prst="ellipse">
            <a:avLst/>
          </a:prstGeom>
          <a:solidFill>
            <a:srgbClr val="1F3A56"/>
          </a:solidFill>
          <a:ln/>
        </p:spPr>
      </p:sp>
      <p:sp>
        <p:nvSpPr>
          <p:cNvPr id="37" name="Text 33"/>
          <p:cNvSpPr/>
          <p:nvPr/>
        </p:nvSpPr>
        <p:spPr>
          <a:xfrm>
            <a:off x="676800" y="6768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650" dirty="0"/>
          </a:p>
        </p:txBody>
      </p:sp>
      <p:sp>
        <p:nvSpPr>
          <p:cNvPr id="38" name="Shape 34"/>
          <p:cNvSpPr/>
          <p:nvPr/>
        </p:nvSpPr>
        <p:spPr>
          <a:xfrm>
            <a:off x="6235200" y="5857200"/>
            <a:ext cx="201600" cy="2016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39" name="Text 35"/>
          <p:cNvSpPr/>
          <p:nvPr/>
        </p:nvSpPr>
        <p:spPr>
          <a:xfrm>
            <a:off x="6235200" y="5886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504000" y="7344000"/>
            <a:ext cx="14040000" cy="36"/>
          </a:xfrm>
          <a:prstGeom prst="line">
            <a:avLst/>
          </a:prstGeom>
          <a:noFill/>
          <a:ln w="38100">
            <a:solidFill>
              <a:srgbClr val="CFD3D7"/>
            </a:solidFill>
            <a:prstDash val="solid"/>
            <a:tailEnd type="triangle"/>
          </a:ln>
        </p:spPr>
      </p:sp>
      <p:sp>
        <p:nvSpPr>
          <p:cNvPr id="41" name="Text 37"/>
          <p:cNvSpPr/>
          <p:nvPr/>
        </p:nvSpPr>
        <p:spPr>
          <a:xfrm>
            <a:off x="108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1980s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324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1990s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540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2000s</a:t>
            </a:r>
            <a:endParaRPr lang="en-US" sz="600" dirty="0"/>
          </a:p>
        </p:txBody>
      </p:sp>
      <p:sp>
        <p:nvSpPr>
          <p:cNvPr id="44" name="Shape 40"/>
          <p:cNvSpPr/>
          <p:nvPr/>
        </p:nvSpPr>
        <p:spPr>
          <a:xfrm>
            <a:off x="388800" y="7228800"/>
            <a:ext cx="230400" cy="230400"/>
          </a:xfrm>
          <a:prstGeom prst="ellipse">
            <a:avLst/>
          </a:prstGeom>
          <a:solidFill>
            <a:srgbClr val="121519"/>
          </a:solidFill>
          <a:ln/>
        </p:spPr>
      </p:sp>
      <p:sp>
        <p:nvSpPr>
          <p:cNvPr id="45" name="Text 41"/>
          <p:cNvSpPr/>
          <p:nvPr/>
        </p:nvSpPr>
        <p:spPr>
          <a:xfrm>
            <a:off x="388800" y="7272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792000" y="7110000"/>
            <a:ext cx="64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　市況に左右されず、流れに関わり続けてきた積み重ね</a:t>
            </a:r>
            <a:endParaRPr lang="en-US" sz="640" dirty="0"/>
          </a:p>
        </p:txBody>
      </p:sp>
      <p:sp>
        <p:nvSpPr>
          <p:cNvPr id="47" name="Shape 43"/>
          <p:cNvSpPr/>
          <p:nvPr/>
        </p:nvSpPr>
        <p:spPr>
          <a:xfrm>
            <a:off x="504000" y="8928000"/>
            <a:ext cx="201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48" name="Shape 44"/>
          <p:cNvSpPr/>
          <p:nvPr/>
        </p:nvSpPr>
        <p:spPr>
          <a:xfrm>
            <a:off x="511200" y="9043200"/>
            <a:ext cx="201600" cy="201600"/>
          </a:xfrm>
          <a:prstGeom prst="ellipse">
            <a:avLst/>
          </a:prstGeom>
          <a:solidFill>
            <a:srgbClr val="9C7442"/>
          </a:solidFill>
          <a:ln/>
        </p:spPr>
      </p:sp>
      <p:sp>
        <p:nvSpPr>
          <p:cNvPr id="49" name="Text 45"/>
          <p:cNvSpPr/>
          <p:nvPr/>
        </p:nvSpPr>
        <p:spPr>
          <a:xfrm>
            <a:off x="511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650" dirty="0"/>
          </a:p>
        </p:txBody>
      </p:sp>
      <p:sp>
        <p:nvSpPr>
          <p:cNvPr id="50" name="Text 46"/>
          <p:cNvSpPr/>
          <p:nvPr/>
        </p:nvSpPr>
        <p:spPr>
          <a:xfrm>
            <a:off x="792000" y="9064800"/>
            <a:ext cx="172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持つ力・つなぐ力</a:t>
            </a:r>
            <a:endParaRPr lang="en-US" sz="760" dirty="0"/>
          </a:p>
        </p:txBody>
      </p:sp>
      <p:sp>
        <p:nvSpPr>
          <p:cNvPr id="51" name="Text 47"/>
          <p:cNvSpPr/>
          <p:nvPr/>
        </p:nvSpPr>
        <p:spPr>
          <a:xfrm>
            <a:off x="504000" y="9324000"/>
            <a:ext cx="194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投資とトレーディングの両輪で事業を行う。鉱山会社でも純粋なトレーダーでもない立ち位置。</a:t>
            </a:r>
            <a:endParaRPr lang="en-US" sz="630" dirty="0"/>
          </a:p>
        </p:txBody>
      </p:sp>
      <p:sp>
        <p:nvSpPr>
          <p:cNvPr id="52" name="Shape 48"/>
          <p:cNvSpPr/>
          <p:nvPr/>
        </p:nvSpPr>
        <p:spPr>
          <a:xfrm>
            <a:off x="2736000" y="8928000"/>
            <a:ext cx="201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53" name="Shape 49"/>
          <p:cNvSpPr/>
          <p:nvPr/>
        </p:nvSpPr>
        <p:spPr>
          <a:xfrm>
            <a:off x="2743200" y="9043200"/>
            <a:ext cx="201600" cy="201600"/>
          </a:xfrm>
          <a:prstGeom prst="ellipse">
            <a:avLst/>
          </a:prstGeom>
          <a:solidFill>
            <a:srgbClr val="1F3A56"/>
          </a:solidFill>
          <a:ln/>
        </p:spPr>
      </p:sp>
      <p:sp>
        <p:nvSpPr>
          <p:cNvPr id="54" name="Text 50"/>
          <p:cNvSpPr/>
          <p:nvPr/>
        </p:nvSpPr>
        <p:spPr>
          <a:xfrm>
            <a:off x="2743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650" dirty="0"/>
          </a:p>
        </p:txBody>
      </p:sp>
      <p:sp>
        <p:nvSpPr>
          <p:cNvPr id="55" name="Text 51"/>
          <p:cNvSpPr/>
          <p:nvPr/>
        </p:nvSpPr>
        <p:spPr>
          <a:xfrm>
            <a:off x="3024000" y="9064800"/>
            <a:ext cx="172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互いを強め合う</a:t>
            </a:r>
            <a:endParaRPr lang="en-US" sz="760" dirty="0"/>
          </a:p>
        </p:txBody>
      </p:sp>
      <p:sp>
        <p:nvSpPr>
          <p:cNvPr id="56" name="Text 52"/>
          <p:cNvSpPr/>
          <p:nvPr/>
        </p:nvSpPr>
        <p:spPr>
          <a:xfrm>
            <a:off x="2736000" y="9324000"/>
            <a:ext cx="194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市場の情報を投資判断に生かし、投資で得た資源を市場へ届ける好循環。</a:t>
            </a:r>
            <a:endParaRPr lang="en-US" sz="630" dirty="0"/>
          </a:p>
        </p:txBody>
      </p:sp>
      <p:sp>
        <p:nvSpPr>
          <p:cNvPr id="57" name="Shape 53"/>
          <p:cNvSpPr/>
          <p:nvPr/>
        </p:nvSpPr>
        <p:spPr>
          <a:xfrm>
            <a:off x="4968000" y="8928000"/>
            <a:ext cx="201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58" name="Shape 54"/>
          <p:cNvSpPr/>
          <p:nvPr/>
        </p:nvSpPr>
        <p:spPr>
          <a:xfrm>
            <a:off x="4975200" y="9043200"/>
            <a:ext cx="201600" cy="2016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59" name="Text 55"/>
          <p:cNvSpPr/>
          <p:nvPr/>
        </p:nvSpPr>
        <p:spPr>
          <a:xfrm>
            <a:off x="4975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5256000" y="9064800"/>
            <a:ext cx="172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流れ全体を進化させる</a:t>
            </a:r>
            <a:endParaRPr lang="en-US" sz="760" dirty="0"/>
          </a:p>
        </p:txBody>
      </p:sp>
      <p:sp>
        <p:nvSpPr>
          <p:cNvPr id="61" name="Text 57"/>
          <p:cNvSpPr/>
          <p:nvPr/>
        </p:nvSpPr>
        <p:spPr>
          <a:xfrm>
            <a:off x="4968000" y="9324000"/>
            <a:ext cx="194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業界の課題に挑む新技術に投資し、知見を両輪に還元する。</a:t>
            </a:r>
            <a:endParaRPr lang="en-US" sz="630" dirty="0"/>
          </a:p>
        </p:txBody>
      </p:sp>
      <p:sp>
        <p:nvSpPr>
          <p:cNvPr id="62" name="Text 58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00" y="756000"/>
            <a:ext cx="6624000" cy="6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60" kern="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Not a miner.</a:t>
            </a:r>
            <a:endParaRPr lang="en-US" sz="18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800" spc="-60" kern="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Not just a trader.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32000" y="1368000"/>
            <a:ext cx="6624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に投資して育てる力と、市場へ届ける力。その両方を持ち、互いを強め合いながら長い時間をかけて積み重ねてきたこと。それが、鉱山会社でも純粋なトレーダーでもない、金属資源グループならではの強さです。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-6480000" y="2736000"/>
            <a:ext cx="11988000" cy="378000"/>
          </a:xfrm>
          <a:custGeom>
            <a:avLst/>
            <a:gdLst/>
            <a:ahLst/>
            <a:cxnLst/>
            <a:rect l="l" t="t" r="r" b="b"/>
            <a:pathLst>
              <a:path w="11988000" h="378000">
                <a:moveTo>
                  <a:pt x="11988000" y="324000"/>
                </a:moveTo>
                <a:lnTo>
                  <a:pt x="11988000" y="0"/>
                </a:lnTo>
                <a:lnTo>
                  <a:pt x="0" y="0"/>
                </a:lnTo>
                <a:lnTo>
                  <a:pt x="0" y="378000"/>
                </a:lnTo>
              </a:path>
            </a:pathLst>
          </a:custGeom>
          <a:ln w="12700">
            <a:solidFill>
              <a:srgbClr val="1F3A56"/>
            </a:solidFill>
            <a:prstDash val="dash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432000" y="3096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&amp; SALES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432000" y="3258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調達・物流・販売</a:t>
            </a:r>
            <a:endParaRPr lang="en-US" sz="900" dirty="0"/>
          </a:p>
        </p:txBody>
      </p:sp>
      <p:pic>
        <p:nvPicPr>
          <p:cNvPr id="7" name="Image 0" descr="/home/user/my-website/mc_metals_12p/src/assets/_crop/r-023_86.0x30.0_0.5_0.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00" y="3492000"/>
            <a:ext cx="3096000" cy="1080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60000" y="3096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630" dirty="0"/>
          </a:p>
        </p:txBody>
      </p:sp>
      <p:sp>
        <p:nvSpPr>
          <p:cNvPr id="9" name="Text 6"/>
          <p:cNvSpPr/>
          <p:nvPr/>
        </p:nvSpPr>
        <p:spPr>
          <a:xfrm>
            <a:off x="3960000" y="3258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産業の需要家</a:t>
            </a:r>
            <a:endParaRPr lang="en-US" sz="900" dirty="0"/>
          </a:p>
        </p:txBody>
      </p:sp>
      <p:pic>
        <p:nvPicPr>
          <p:cNvPr id="10" name="Image 1" descr="/home/user/my-website/mc_metals_12p/src/assets/_crop/r-022_86.0x30.0_0.5_0.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3492000"/>
            <a:ext cx="3096000" cy="1080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960000" y="5400000"/>
            <a:ext cx="3096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60000" y="5497200"/>
            <a:ext cx="309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建設・自動車・インフラ</a:t>
            </a:r>
            <a:endParaRPr lang="en-US" sz="740" dirty="0"/>
          </a:p>
        </p:txBody>
      </p:sp>
      <p:sp>
        <p:nvSpPr>
          <p:cNvPr id="13" name="Shape 9"/>
          <p:cNvSpPr/>
          <p:nvPr/>
        </p:nvSpPr>
        <p:spPr>
          <a:xfrm>
            <a:off x="-414000" y="5562000"/>
            <a:ext cx="810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46000" y="5562000"/>
            <a:ext cx="396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960000" y="6012000"/>
            <a:ext cx="3096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960000" y="6109200"/>
            <a:ext cx="309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電線・電力・データセンター</a:t>
            </a:r>
            <a:endParaRPr lang="en-US" sz="740" dirty="0"/>
          </a:p>
        </p:txBody>
      </p:sp>
      <p:sp>
        <p:nvSpPr>
          <p:cNvPr id="17" name="Shape 13"/>
          <p:cNvSpPr/>
          <p:nvPr/>
        </p:nvSpPr>
        <p:spPr>
          <a:xfrm>
            <a:off x="-414000" y="6174000"/>
            <a:ext cx="810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46000" y="6174000"/>
            <a:ext cx="396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32000" y="5328000"/>
            <a:ext cx="3096000" cy="81000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7620">
            <a:solidFill>
              <a:srgbClr val="9FB1C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96000" y="5562000"/>
            <a:ext cx="36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96000" y="6174000"/>
            <a:ext cx="36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432000" y="5454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RtM｜資源と市場をつなぐ</a:t>
            </a:r>
            <a:endParaRPr lang="en-US" sz="760" dirty="0"/>
          </a:p>
        </p:txBody>
      </p:sp>
      <p:sp>
        <p:nvSpPr>
          <p:cNvPr id="23" name="Text 19"/>
          <p:cNvSpPr/>
          <p:nvPr/>
        </p:nvSpPr>
        <p:spPr>
          <a:xfrm>
            <a:off x="432000" y="5688000"/>
            <a:ext cx="309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60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鉱石・精鉱の段階から、地金・製品の段階まで</a:t>
            </a:r>
            <a:endParaRPr lang="en-US" sz="6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60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物流・在庫・ヘッジ・販売を担う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-7056000" y="6624000"/>
            <a:ext cx="13968000" cy="79200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25" name="Shape 21"/>
          <p:cNvSpPr/>
          <p:nvPr/>
        </p:nvSpPr>
        <p:spPr>
          <a:xfrm>
            <a:off x="6912000" y="6552000"/>
            <a:ext cx="144000" cy="223200"/>
          </a:xfrm>
          <a:custGeom>
            <a:avLst/>
            <a:gdLst/>
            <a:ahLst/>
            <a:cxnLst/>
            <a:rect l="l" t="t" r="r" b="b"/>
            <a:pathLst>
              <a:path w="144000" h="223200">
                <a:moveTo>
                  <a:pt x="0" y="0"/>
                </a:moveTo>
                <a:lnTo>
                  <a:pt x="144000" y="111600"/>
                </a:lnTo>
                <a:lnTo>
                  <a:pt x="0" y="223200"/>
                </a:lnTo>
                <a:close/>
              </a:path>
            </a:pathLst>
          </a:custGeom>
          <a:solidFill>
            <a:srgbClr val="1F3A56"/>
          </a:solidFill>
          <a:ln/>
        </p:spPr>
      </p:sp>
      <p:sp>
        <p:nvSpPr>
          <p:cNvPr id="26" name="Shape 22"/>
          <p:cNvSpPr/>
          <p:nvPr/>
        </p:nvSpPr>
        <p:spPr>
          <a:xfrm>
            <a:off x="6595200" y="5857200"/>
            <a:ext cx="201600" cy="2016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27" name="Text 23"/>
          <p:cNvSpPr/>
          <p:nvPr/>
        </p:nvSpPr>
        <p:spPr>
          <a:xfrm>
            <a:off x="6595200" y="5886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3960000" y="6372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　新技術がボトルネックを改善 → P.08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-7056000" y="7344000"/>
            <a:ext cx="14040000" cy="36"/>
          </a:xfrm>
          <a:prstGeom prst="line">
            <a:avLst/>
          </a:prstGeom>
          <a:noFill/>
          <a:ln w="38100">
            <a:solidFill>
              <a:srgbClr val="CFD3D7"/>
            </a:solidFill>
            <a:prstDash val="solid"/>
            <a:tailEnd type="triangle"/>
          </a:ln>
        </p:spPr>
      </p:sp>
      <p:sp>
        <p:nvSpPr>
          <p:cNvPr id="30" name="Text 26"/>
          <p:cNvSpPr/>
          <p:nvPr/>
        </p:nvSpPr>
        <p:spPr>
          <a:xfrm>
            <a:off x="180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2010s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468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2020s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3240000" y="7704000"/>
            <a:ext cx="3816000" cy="9360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33" name="Text 29"/>
          <p:cNvSpPr/>
          <p:nvPr/>
        </p:nvSpPr>
        <p:spPr>
          <a:xfrm>
            <a:off x="3456000" y="7848000"/>
            <a:ext cx="34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9D6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その結果としての、いまの主力事業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3456000" y="8136000"/>
            <a:ext cx="1008000" cy="288000"/>
          </a:xfrm>
          <a:prstGeom prst="roundRect">
            <a:avLst>
              <a:gd name="adj" fmla="val 50000"/>
            </a:avLst>
          </a:prstGeom>
          <a:solidFill>
            <a:srgbClr val="121519"/>
          </a:solidFill>
          <a:ln w="7620">
            <a:solidFill>
              <a:srgbClr val="8A909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56000" y="8215200"/>
            <a:ext cx="100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</a:t>
            </a:r>
            <a:endParaRPr lang="en-US" sz="660" dirty="0"/>
          </a:p>
        </p:txBody>
      </p:sp>
      <p:sp>
        <p:nvSpPr>
          <p:cNvPr id="36" name="Shape 32"/>
          <p:cNvSpPr/>
          <p:nvPr/>
        </p:nvSpPr>
        <p:spPr>
          <a:xfrm>
            <a:off x="4572000" y="8136000"/>
            <a:ext cx="1008000" cy="288000"/>
          </a:xfrm>
          <a:prstGeom prst="roundRect">
            <a:avLst>
              <a:gd name="adj" fmla="val 50000"/>
            </a:avLst>
          </a:prstGeom>
          <a:solidFill>
            <a:srgbClr val="121519"/>
          </a:solidFill>
          <a:ln w="7620">
            <a:solidFill>
              <a:srgbClr val="8A909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72000" y="8215200"/>
            <a:ext cx="100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</a:t>
            </a:r>
            <a:endParaRPr lang="en-US" sz="660" dirty="0"/>
          </a:p>
        </p:txBody>
      </p:sp>
      <p:sp>
        <p:nvSpPr>
          <p:cNvPr id="38" name="Shape 34"/>
          <p:cNvSpPr/>
          <p:nvPr/>
        </p:nvSpPr>
        <p:spPr>
          <a:xfrm>
            <a:off x="5688000" y="8136000"/>
            <a:ext cx="1224000" cy="288000"/>
          </a:xfrm>
          <a:prstGeom prst="roundRect">
            <a:avLst>
              <a:gd name="adj" fmla="val 50000"/>
            </a:avLst>
          </a:prstGeom>
          <a:solidFill>
            <a:srgbClr val="121519"/>
          </a:solidFill>
          <a:ln w="7620">
            <a:solidFill>
              <a:srgbClr val="8A909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688000" y="8215200"/>
            <a:ext cx="122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660" dirty="0"/>
          </a:p>
        </p:txBody>
      </p:sp>
      <p:sp>
        <p:nvSpPr>
          <p:cNvPr id="40" name="Text 36"/>
          <p:cNvSpPr/>
          <p:nvPr/>
        </p:nvSpPr>
        <p:spPr>
          <a:xfrm>
            <a:off x="5832000" y="8478000"/>
            <a:ext cx="10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C9CE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P.08</a:t>
            </a: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432000" y="8928000"/>
            <a:ext cx="309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42" name="Shape 38"/>
          <p:cNvSpPr/>
          <p:nvPr/>
        </p:nvSpPr>
        <p:spPr>
          <a:xfrm>
            <a:off x="439200" y="9043200"/>
            <a:ext cx="201600" cy="201600"/>
          </a:xfrm>
          <a:prstGeom prst="ellipse">
            <a:avLst/>
          </a:prstGeom>
          <a:solidFill>
            <a:srgbClr val="121519"/>
          </a:solidFill>
          <a:ln/>
        </p:spPr>
      </p:sp>
      <p:sp>
        <p:nvSpPr>
          <p:cNvPr id="43" name="Text 39"/>
          <p:cNvSpPr/>
          <p:nvPr/>
        </p:nvSpPr>
        <p:spPr>
          <a:xfrm>
            <a:off x="439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650" dirty="0"/>
          </a:p>
        </p:txBody>
      </p:sp>
      <p:sp>
        <p:nvSpPr>
          <p:cNvPr id="44" name="Text 40"/>
          <p:cNvSpPr/>
          <p:nvPr/>
        </p:nvSpPr>
        <p:spPr>
          <a:xfrm>
            <a:off x="720000" y="9064800"/>
            <a:ext cx="280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長い時間をかけて</a:t>
            </a:r>
            <a:endParaRPr lang="en-US" sz="760" dirty="0"/>
          </a:p>
        </p:txBody>
      </p:sp>
      <p:sp>
        <p:nvSpPr>
          <p:cNvPr id="45" name="Text 41"/>
          <p:cNvSpPr/>
          <p:nvPr/>
        </p:nvSpPr>
        <p:spPr>
          <a:xfrm>
            <a:off x="432000" y="9324000"/>
            <a:ext cx="302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流れに関わり続けた積み重ねが、先手を打つ力（先見性）に。</a:t>
            </a:r>
            <a:endParaRPr lang="en-US" sz="630" dirty="0"/>
          </a:p>
        </p:txBody>
      </p:sp>
      <p:sp>
        <p:nvSpPr>
          <p:cNvPr id="46" name="Shape 42"/>
          <p:cNvSpPr/>
          <p:nvPr/>
        </p:nvSpPr>
        <p:spPr>
          <a:xfrm>
            <a:off x="3960000" y="8928000"/>
            <a:ext cx="309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47" name="Shape 43"/>
          <p:cNvSpPr/>
          <p:nvPr/>
        </p:nvSpPr>
        <p:spPr>
          <a:xfrm>
            <a:off x="3967200" y="9043200"/>
            <a:ext cx="201600" cy="2016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8" name="Text 44"/>
          <p:cNvSpPr/>
          <p:nvPr/>
        </p:nvSpPr>
        <p:spPr>
          <a:xfrm>
            <a:off x="3967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650" dirty="0"/>
          </a:p>
        </p:txBody>
      </p:sp>
      <p:sp>
        <p:nvSpPr>
          <p:cNvPr id="49" name="Text 45"/>
          <p:cNvSpPr/>
          <p:nvPr/>
        </p:nvSpPr>
        <p:spPr>
          <a:xfrm>
            <a:off x="4248000" y="9064800"/>
            <a:ext cx="280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その結果としての、いま</a:t>
            </a:r>
            <a:endParaRPr lang="en-US" sz="760" dirty="0"/>
          </a:p>
        </p:txBody>
      </p:sp>
      <p:sp>
        <p:nvSpPr>
          <p:cNvPr id="50" name="Text 46"/>
          <p:cNvSpPr/>
          <p:nvPr/>
        </p:nvSpPr>
        <p:spPr>
          <a:xfrm>
            <a:off x="3960000" y="9324000"/>
            <a:ext cx="302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原料炭・銅・トレーディングは、強みの「結果」である。</a:t>
            </a:r>
            <a:endParaRPr lang="en-US" sz="630" dirty="0"/>
          </a:p>
        </p:txBody>
      </p:sp>
      <p:sp>
        <p:nvSpPr>
          <p:cNvPr id="51" name="Text 47"/>
          <p:cNvSpPr/>
          <p:nvPr/>
        </p:nvSpPr>
        <p:spPr>
          <a:xfrm>
            <a:off x="633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000" y="432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03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独自価値｜主力事業と新技術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4000" y="612000"/>
            <a:ext cx="6624000" cy="45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Businesses &amp; Innovation</a:t>
            </a:r>
            <a:endParaRPr lang="en-US" sz="2400" dirty="0"/>
          </a:p>
        </p:txBody>
      </p:sp>
      <p:pic>
        <p:nvPicPr>
          <p:cNvPr id="4" name="Image 0" descr="/home/user/my-website/mc_metals_12p/src/assets/_crop/r-047_120.0x24.0_0.5_0.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00" y="1296000"/>
            <a:ext cx="4320000" cy="864000"/>
          </a:xfrm>
          <a:prstGeom prst="rect">
            <a:avLst/>
          </a:prstGeom>
        </p:spPr>
      </p:pic>
      <p:pic>
        <p:nvPicPr>
          <p:cNvPr id="5" name="Image 1" descr="/home/user/my-website/mc_metals_12p/src/assets/_crop/_mr_project_02_128.0x24.0_0.5_0.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00" y="1296000"/>
            <a:ext cx="4608000" cy="86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4000" y="2268000"/>
            <a:ext cx="43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METALLURGICAL COAL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04000" y="2538000"/>
            <a:ext cx="288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4"/>
          <p:cNvSpPr/>
          <p:nvPr/>
        </p:nvSpPr>
        <p:spPr>
          <a:xfrm>
            <a:off x="504000" y="2610000"/>
            <a:ext cx="432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社会に不可欠な高品位原料炭の一級資産を、長期のコミットメントで育ててきた。</a:t>
            </a:r>
            <a:endParaRPr lang="en-US" sz="760" dirty="0"/>
          </a:p>
        </p:txBody>
      </p:sp>
      <p:sp>
        <p:nvSpPr>
          <p:cNvPr id="9" name="Text 5"/>
          <p:cNvSpPr/>
          <p:nvPr/>
        </p:nvSpPr>
        <p:spPr>
          <a:xfrm>
            <a:off x="504000" y="3024000"/>
            <a:ext cx="180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50:50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04000" y="3420000"/>
            <a:ext cx="1872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BHPとの合弁 BMA</a:t>
            </a:r>
            <a:endParaRPr lang="en-US" sz="58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（BHP Mitsubishi Alliance）</a:t>
            </a:r>
            <a:endParaRPr lang="en-US" sz="580" dirty="0"/>
          </a:p>
        </p:txBody>
      </p:sp>
      <p:sp>
        <p:nvSpPr>
          <p:cNvPr id="11" name="Shape 7"/>
          <p:cNvSpPr/>
          <p:nvPr/>
        </p:nvSpPr>
        <p:spPr>
          <a:xfrm>
            <a:off x="2736000" y="3024000"/>
            <a:ext cx="936000" cy="288000"/>
          </a:xfrm>
          <a:prstGeom prst="rect">
            <a:avLst/>
          </a:prstGeom>
          <a:solidFill>
            <a:srgbClr val="FFFFFF"/>
          </a:solidFill>
          <a:ln w="8890">
            <a:solidFill>
              <a:srgbClr val="12151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36000" y="3067200"/>
            <a:ext cx="93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三菱商事</a:t>
            </a:r>
            <a:endParaRPr lang="en-US" sz="660" dirty="0"/>
          </a:p>
        </p:txBody>
      </p:sp>
      <p:sp>
        <p:nvSpPr>
          <p:cNvPr id="13" name="Shape 9"/>
          <p:cNvSpPr/>
          <p:nvPr/>
        </p:nvSpPr>
        <p:spPr>
          <a:xfrm>
            <a:off x="2736000" y="3528000"/>
            <a:ext cx="936000" cy="288000"/>
          </a:xfrm>
          <a:prstGeom prst="rect">
            <a:avLst/>
          </a:prstGeom>
          <a:solidFill>
            <a:srgbClr val="FFFFFF"/>
          </a:solidFill>
          <a:ln w="8890">
            <a:solidFill>
              <a:srgbClr val="12151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36000" y="3571200"/>
            <a:ext cx="93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MDP</a:t>
            </a:r>
            <a:endParaRPr lang="en-US" sz="660" dirty="0"/>
          </a:p>
        </p:txBody>
      </p:sp>
      <p:sp>
        <p:nvSpPr>
          <p:cNvPr id="15" name="Text 11"/>
          <p:cNvSpPr/>
          <p:nvPr/>
        </p:nvSpPr>
        <p:spPr>
          <a:xfrm>
            <a:off x="2736000" y="3693600"/>
            <a:ext cx="936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三菱商事100%</a:t>
            </a:r>
            <a:endParaRPr lang="en-US" sz="460" dirty="0"/>
          </a:p>
        </p:txBody>
      </p:sp>
      <p:sp>
        <p:nvSpPr>
          <p:cNvPr id="16" name="Shape 12"/>
          <p:cNvSpPr/>
          <p:nvPr/>
        </p:nvSpPr>
        <p:spPr>
          <a:xfrm>
            <a:off x="3852000" y="3528000"/>
            <a:ext cx="864000" cy="288000"/>
          </a:xfrm>
          <a:prstGeom prst="rect">
            <a:avLst/>
          </a:prstGeom>
          <a:solidFill>
            <a:srgbClr val="FFFFFF"/>
          </a:solidFill>
          <a:ln w="8890">
            <a:solidFill>
              <a:srgbClr val="7D83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52000" y="3571200"/>
            <a:ext cx="86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BHP</a:t>
            </a:r>
            <a:endParaRPr lang="en-US" sz="660" dirty="0"/>
          </a:p>
        </p:txBody>
      </p:sp>
      <p:sp>
        <p:nvSpPr>
          <p:cNvPr id="18" name="Shape 14"/>
          <p:cNvSpPr/>
          <p:nvPr/>
        </p:nvSpPr>
        <p:spPr>
          <a:xfrm>
            <a:off x="2736000" y="4032000"/>
            <a:ext cx="1980000" cy="3240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19" name="Text 15"/>
          <p:cNvSpPr/>
          <p:nvPr/>
        </p:nvSpPr>
        <p:spPr>
          <a:xfrm>
            <a:off x="2736000" y="4086000"/>
            <a:ext cx="19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</a:t>
            </a:r>
            <a:endParaRPr lang="en-US" sz="740" dirty="0"/>
          </a:p>
        </p:txBody>
      </p:sp>
      <p:sp>
        <p:nvSpPr>
          <p:cNvPr id="20" name="Text 16"/>
          <p:cNvSpPr/>
          <p:nvPr/>
        </p:nvSpPr>
        <p:spPr>
          <a:xfrm>
            <a:off x="2736000" y="4219200"/>
            <a:ext cx="198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" dirty="0">
                <a:solidFill>
                  <a:srgbClr val="C9CE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豪州クイーンズランド州 ボーエン・ベースン</a:t>
            </a:r>
            <a:endParaRPr lang="en-US" sz="480" dirty="0"/>
          </a:p>
        </p:txBody>
      </p:sp>
      <p:sp>
        <p:nvSpPr>
          <p:cNvPr id="21" name="Shape 17"/>
          <p:cNvSpPr/>
          <p:nvPr/>
        </p:nvSpPr>
        <p:spPr>
          <a:xfrm>
            <a:off x="3204000" y="3312000"/>
            <a:ext cx="36" cy="198000"/>
          </a:xfrm>
          <a:prstGeom prst="line">
            <a:avLst/>
          </a:prstGeom>
          <a:noFill/>
          <a:ln w="7620">
            <a:solidFill>
              <a:srgbClr val="121519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3204000" y="3816000"/>
            <a:ext cx="36" cy="198000"/>
          </a:xfrm>
          <a:prstGeom prst="line">
            <a:avLst/>
          </a:prstGeom>
          <a:noFill/>
          <a:ln w="7620">
            <a:solidFill>
              <a:srgbClr val="121519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4284000" y="3816000"/>
            <a:ext cx="36" cy="198000"/>
          </a:xfrm>
          <a:prstGeom prst="line">
            <a:avLst/>
          </a:prstGeom>
          <a:noFill/>
          <a:ln w="762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3258000" y="3859200"/>
            <a:ext cx="36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500" dirty="0"/>
          </a:p>
        </p:txBody>
      </p:sp>
      <p:sp>
        <p:nvSpPr>
          <p:cNvPr id="25" name="Text 21"/>
          <p:cNvSpPr/>
          <p:nvPr/>
        </p:nvSpPr>
        <p:spPr>
          <a:xfrm>
            <a:off x="4338000" y="3859200"/>
            <a:ext cx="36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500" dirty="0"/>
          </a:p>
        </p:txBody>
      </p:sp>
      <p:sp>
        <p:nvSpPr>
          <p:cNvPr id="26" name="Text 22"/>
          <p:cNvSpPr/>
          <p:nvPr/>
        </p:nvSpPr>
        <p:spPr>
          <a:xfrm>
            <a:off x="504000" y="3852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高品位への厳選</a:t>
            </a:r>
            <a:endParaRPr lang="en-US" sz="640" dirty="0"/>
          </a:p>
        </p:txBody>
      </p:sp>
      <p:sp>
        <p:nvSpPr>
          <p:cNvPr id="27" name="Shape 23"/>
          <p:cNvSpPr/>
          <p:nvPr/>
        </p:nvSpPr>
        <p:spPr>
          <a:xfrm>
            <a:off x="525600" y="4089600"/>
            <a:ext cx="172800" cy="172800"/>
          </a:xfrm>
          <a:prstGeom prst="ellipse">
            <a:avLst/>
          </a:prstGeom>
          <a:solidFill>
            <a:srgbClr val="9C7442"/>
          </a:solidFill>
          <a:ln w="8890">
            <a:solidFill>
              <a:srgbClr val="9C744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56000" y="4089600"/>
            <a:ext cx="172800" cy="172800"/>
          </a:xfrm>
          <a:prstGeom prst="ellipse">
            <a:avLst/>
          </a:prstGeom>
          <a:solidFill>
            <a:srgbClr val="9C7442"/>
          </a:solidFill>
          <a:ln w="8890">
            <a:solidFill>
              <a:srgbClr val="9C744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86400" y="4089600"/>
            <a:ext cx="172800" cy="172800"/>
          </a:xfrm>
          <a:prstGeom prst="ellipse">
            <a:avLst/>
          </a:prstGeom>
          <a:solidFill>
            <a:srgbClr val="9C7442"/>
          </a:solidFill>
          <a:ln w="8890">
            <a:solidFill>
              <a:srgbClr val="9C744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216800" y="4089600"/>
            <a:ext cx="172800" cy="172800"/>
          </a:xfrm>
          <a:prstGeom prst="ellipse">
            <a:avLst/>
          </a:prstGeom>
          <a:solidFill>
            <a:srgbClr val="9C7442"/>
          </a:solidFill>
          <a:ln w="8890">
            <a:solidFill>
              <a:srgbClr val="9C744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447200" y="4089600"/>
            <a:ext cx="172800" cy="172800"/>
          </a:xfrm>
          <a:prstGeom prst="ellipse">
            <a:avLst/>
          </a:prstGeom>
          <a:solidFill>
            <a:srgbClr val="9C7442"/>
          </a:solidFill>
          <a:ln w="8890">
            <a:solidFill>
              <a:srgbClr val="9C744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677600" y="4089600"/>
            <a:ext cx="172800" cy="1728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FD3D7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908000" y="4089600"/>
            <a:ext cx="172800" cy="1728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FD3D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4000" y="4338000"/>
            <a:ext cx="208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7炭鉱 → 高品位の5炭鉱へ</a:t>
            </a:r>
            <a:endParaRPr lang="en-US" sz="560" dirty="0"/>
          </a:p>
        </p:txBody>
      </p:sp>
      <p:sp>
        <p:nvSpPr>
          <p:cNvPr id="35" name="Shape 31"/>
          <p:cNvSpPr/>
          <p:nvPr/>
        </p:nvSpPr>
        <p:spPr>
          <a:xfrm>
            <a:off x="504000" y="4536000"/>
            <a:ext cx="4320000" cy="108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36" name="Text 32"/>
          <p:cNvSpPr/>
          <p:nvPr/>
        </p:nvSpPr>
        <p:spPr>
          <a:xfrm>
            <a:off x="504000" y="4615200"/>
            <a:ext cx="64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540" dirty="0"/>
          </a:p>
        </p:txBody>
      </p:sp>
      <p:sp>
        <p:nvSpPr>
          <p:cNvPr id="37" name="Text 33"/>
          <p:cNvSpPr/>
          <p:nvPr/>
        </p:nvSpPr>
        <p:spPr>
          <a:xfrm>
            <a:off x="1152000" y="4593600"/>
            <a:ext cx="36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上位5社で約80%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1152000" y="4726800"/>
            <a:ext cx="36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寡占度が高く、供給は漸減</a:t>
            </a:r>
            <a:endParaRPr lang="en-US" sz="560" dirty="0"/>
          </a:p>
        </p:txBody>
      </p:sp>
      <p:sp>
        <p:nvSpPr>
          <p:cNvPr id="39" name="Shape 35"/>
          <p:cNvSpPr/>
          <p:nvPr/>
        </p:nvSpPr>
        <p:spPr>
          <a:xfrm>
            <a:off x="504000" y="4860000"/>
            <a:ext cx="4320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40" name="Text 36"/>
          <p:cNvSpPr/>
          <p:nvPr/>
        </p:nvSpPr>
        <p:spPr>
          <a:xfrm>
            <a:off x="504000" y="4939200"/>
            <a:ext cx="64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540" dirty="0"/>
          </a:p>
        </p:txBody>
      </p:sp>
      <p:sp>
        <p:nvSpPr>
          <p:cNvPr id="41" name="Text 37"/>
          <p:cNvSpPr/>
          <p:nvPr/>
        </p:nvSpPr>
        <p:spPr>
          <a:xfrm>
            <a:off x="1152000" y="4917600"/>
            <a:ext cx="36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一級強粘炭の世界供給の約50%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1152000" y="5050800"/>
            <a:ext cx="36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BMAが占めるシェア</a:t>
            </a:r>
            <a:endParaRPr lang="en-US" sz="560" dirty="0"/>
          </a:p>
        </p:txBody>
      </p:sp>
      <p:sp>
        <p:nvSpPr>
          <p:cNvPr id="43" name="Shape 39"/>
          <p:cNvSpPr/>
          <p:nvPr/>
        </p:nvSpPr>
        <p:spPr>
          <a:xfrm>
            <a:off x="504000" y="5184000"/>
            <a:ext cx="4320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44" name="Text 40"/>
          <p:cNvSpPr/>
          <p:nvPr/>
        </p:nvSpPr>
        <p:spPr>
          <a:xfrm>
            <a:off x="504000" y="5263200"/>
            <a:ext cx="64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540" dirty="0"/>
          </a:p>
        </p:txBody>
      </p:sp>
      <p:sp>
        <p:nvSpPr>
          <p:cNvPr id="45" name="Text 41"/>
          <p:cNvSpPr/>
          <p:nvPr/>
        </p:nvSpPr>
        <p:spPr>
          <a:xfrm>
            <a:off x="1152000" y="5241600"/>
            <a:ext cx="36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炭鉱から港湾・鉄道まで保有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1152000" y="5374800"/>
            <a:ext cx="36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山から港まで一体で運営</a:t>
            </a:r>
            <a:endParaRPr lang="en-US" sz="560" dirty="0"/>
          </a:p>
        </p:txBody>
      </p:sp>
      <p:sp>
        <p:nvSpPr>
          <p:cNvPr id="47" name="Text 43"/>
          <p:cNvSpPr/>
          <p:nvPr/>
        </p:nvSpPr>
        <p:spPr>
          <a:xfrm>
            <a:off x="5256000" y="2268000"/>
            <a:ext cx="20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COPPER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5256000" y="2538000"/>
            <a:ext cx="288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9" name="Text 45"/>
          <p:cNvSpPr/>
          <p:nvPr/>
        </p:nvSpPr>
        <p:spPr>
          <a:xfrm>
            <a:off x="5256000" y="2610000"/>
            <a:ext cx="2052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電化と成長を支える銅。世界上位の優良鉱山に早くから参画。</a:t>
            </a:r>
            <a:endParaRPr lang="en-US" sz="760" dirty="0"/>
          </a:p>
        </p:txBody>
      </p:sp>
      <p:sp>
        <p:nvSpPr>
          <p:cNvPr id="50" name="Text 46"/>
          <p:cNvSpPr/>
          <p:nvPr/>
        </p:nvSpPr>
        <p:spPr>
          <a:xfrm>
            <a:off x="5256000" y="3024000"/>
            <a:ext cx="2052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Top 15</a:t>
            </a:r>
            <a:endParaRPr lang="en-US" sz="2400" dirty="0"/>
          </a:p>
        </p:txBody>
      </p:sp>
      <p:sp>
        <p:nvSpPr>
          <p:cNvPr id="51" name="Text 47"/>
          <p:cNvSpPr/>
          <p:nvPr/>
        </p:nvSpPr>
        <p:spPr>
          <a:xfrm>
            <a:off x="5256000" y="3420000"/>
            <a:ext cx="205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操業中の主要5鉱山すべてが、鉱山別生産量で世界トップ15</a:t>
            </a:r>
            <a:endParaRPr lang="en-US" sz="580" dirty="0"/>
          </a:p>
        </p:txBody>
      </p:sp>
      <p:sp>
        <p:nvSpPr>
          <p:cNvPr id="52" name="Shape 48"/>
          <p:cNvSpPr/>
          <p:nvPr/>
        </p:nvSpPr>
        <p:spPr>
          <a:xfrm>
            <a:off x="5256000" y="3888000"/>
            <a:ext cx="2052000" cy="108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53" name="Text 49"/>
          <p:cNvSpPr/>
          <p:nvPr/>
        </p:nvSpPr>
        <p:spPr>
          <a:xfrm>
            <a:off x="5256000" y="3967200"/>
            <a:ext cx="64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540" dirty="0"/>
          </a:p>
        </p:txBody>
      </p:sp>
      <p:sp>
        <p:nvSpPr>
          <p:cNvPr id="54" name="Text 50"/>
          <p:cNvSpPr/>
          <p:nvPr/>
        </p:nvSpPr>
        <p:spPr>
          <a:xfrm>
            <a:off x="5904000" y="3945600"/>
            <a:ext cx="14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上位5社で約25%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5904000" y="4078800"/>
            <a:ext cx="14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寡占化が進まず、再編の機運</a:t>
            </a:r>
            <a:endParaRPr lang="en-US" sz="560" dirty="0"/>
          </a:p>
        </p:txBody>
      </p:sp>
      <p:sp>
        <p:nvSpPr>
          <p:cNvPr id="56" name="Shape 52"/>
          <p:cNvSpPr/>
          <p:nvPr/>
        </p:nvSpPr>
        <p:spPr>
          <a:xfrm>
            <a:off x="5256000" y="4212000"/>
            <a:ext cx="2052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57" name="Text 53"/>
          <p:cNvSpPr/>
          <p:nvPr/>
        </p:nvSpPr>
        <p:spPr>
          <a:xfrm>
            <a:off x="5256000" y="4291200"/>
            <a:ext cx="64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540" dirty="0"/>
          </a:p>
        </p:txBody>
      </p:sp>
      <p:sp>
        <p:nvSpPr>
          <p:cNvPr id="58" name="Text 54"/>
          <p:cNvSpPr/>
          <p:nvPr/>
        </p:nvSpPr>
        <p:spPr>
          <a:xfrm>
            <a:off x="5904000" y="4269600"/>
            <a:ext cx="14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日本最大の銅生産者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5904000" y="4402800"/>
            <a:ext cx="14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持分生産量ベース</a:t>
            </a:r>
            <a:endParaRPr lang="en-US" sz="560" dirty="0"/>
          </a:p>
        </p:txBody>
      </p:sp>
      <p:sp>
        <p:nvSpPr>
          <p:cNvPr id="60" name="Shape 56"/>
          <p:cNvSpPr/>
          <p:nvPr/>
        </p:nvSpPr>
        <p:spPr>
          <a:xfrm>
            <a:off x="5256000" y="4536000"/>
            <a:ext cx="2052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61" name="Text 57"/>
          <p:cNvSpPr/>
          <p:nvPr/>
        </p:nvSpPr>
        <p:spPr>
          <a:xfrm>
            <a:off x="5256000" y="4615200"/>
            <a:ext cx="64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</a:t>
            </a:r>
            <a:endParaRPr lang="en-US" sz="540" dirty="0"/>
          </a:p>
        </p:txBody>
      </p:sp>
      <p:sp>
        <p:nvSpPr>
          <p:cNvPr id="62" name="Text 58"/>
          <p:cNvSpPr/>
          <p:nvPr/>
        </p:nvSpPr>
        <p:spPr>
          <a:xfrm>
            <a:off x="5904000" y="4593600"/>
            <a:ext cx="14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主要メジャーの多くと協業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904000" y="4726800"/>
            <a:ext cx="14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特定の1社に偏らない</a:t>
            </a:r>
            <a:endParaRPr lang="en-US" sz="560" dirty="0"/>
          </a:p>
        </p:txBody>
      </p:sp>
      <p:sp>
        <p:nvSpPr>
          <p:cNvPr id="64" name="Shape 60"/>
          <p:cNvSpPr/>
          <p:nvPr/>
        </p:nvSpPr>
        <p:spPr>
          <a:xfrm>
            <a:off x="5256000" y="4860000"/>
            <a:ext cx="2052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65" name="Shape 61"/>
          <p:cNvSpPr/>
          <p:nvPr/>
        </p:nvSpPr>
        <p:spPr>
          <a:xfrm>
            <a:off x="0" y="5616000"/>
            <a:ext cx="15120000" cy="5076000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66" name="Text 62"/>
          <p:cNvSpPr/>
          <p:nvPr/>
        </p:nvSpPr>
        <p:spPr>
          <a:xfrm>
            <a:off x="504000" y="5904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A862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TECHNOLOGY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新技術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504000" y="6120000"/>
            <a:ext cx="2520000" cy="63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Investing in</a:t>
            </a:r>
            <a:endParaRPr lang="en-US" sz="19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9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what's next.</a:t>
            </a:r>
            <a:endParaRPr lang="en-US" sz="1900" dirty="0"/>
          </a:p>
        </p:txBody>
      </p:sp>
      <p:sp>
        <p:nvSpPr>
          <p:cNvPr id="68" name="Shape 64"/>
          <p:cNvSpPr/>
          <p:nvPr/>
        </p:nvSpPr>
        <p:spPr>
          <a:xfrm>
            <a:off x="504000" y="6732000"/>
            <a:ext cx="288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9" name="Text 65"/>
          <p:cNvSpPr/>
          <p:nvPr/>
        </p:nvSpPr>
        <p:spPr>
          <a:xfrm>
            <a:off x="504000" y="6840000"/>
            <a:ext cx="2376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業界のボトルネックに挑む技術へ投資し、現場へ届ける。</a:t>
            </a:r>
            <a:endParaRPr lang="en-US" sz="760" dirty="0"/>
          </a:p>
        </p:txBody>
      </p:sp>
      <p:sp>
        <p:nvSpPr>
          <p:cNvPr id="70" name="Text 66"/>
          <p:cNvSpPr/>
          <p:nvPr/>
        </p:nvSpPr>
        <p:spPr>
          <a:xfrm>
            <a:off x="504000" y="7344000"/>
            <a:ext cx="223200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66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の流れの中で、業界の課題になっている工程を見極め、課題を解く技術を持つスタートアップに出資しています。トレーディングや業界とのつながりを生かして技術を現場に取り入れ、得られた知見を既存事業の高度化に還元しています。</a:t>
            </a:r>
            <a:endParaRPr lang="en-US" sz="660" dirty="0"/>
          </a:p>
        </p:txBody>
      </p:sp>
      <p:sp>
        <p:nvSpPr>
          <p:cNvPr id="71" name="Text 67"/>
          <p:cNvSpPr/>
          <p:nvPr/>
        </p:nvSpPr>
        <p:spPr>
          <a:xfrm>
            <a:off x="2880000" y="59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COPPER VALUE CHAIN｜銅が姿を変えていく流れ</a:t>
            </a:r>
            <a:endParaRPr lang="en-US" sz="640" dirty="0"/>
          </a:p>
        </p:txBody>
      </p:sp>
      <p:sp>
        <p:nvSpPr>
          <p:cNvPr id="72" name="Shape 68"/>
          <p:cNvSpPr/>
          <p:nvPr/>
        </p:nvSpPr>
        <p:spPr>
          <a:xfrm>
            <a:off x="2916000" y="6732000"/>
            <a:ext cx="792000" cy="648000"/>
          </a:xfrm>
          <a:custGeom>
            <a:avLst/>
            <a:gdLst/>
            <a:ahLst/>
            <a:cxnLst/>
            <a:rect l="l" t="t" r="r" b="b"/>
            <a:pathLst>
              <a:path w="792000" h="648000">
                <a:moveTo>
                  <a:pt x="0" y="540000"/>
                </a:moveTo>
                <a:lnTo>
                  <a:pt x="180000" y="108000"/>
                </a:lnTo>
                <a:lnTo>
                  <a:pt x="504000" y="0"/>
                </a:lnTo>
                <a:lnTo>
                  <a:pt x="792000" y="216000"/>
                </a:lnTo>
                <a:lnTo>
                  <a:pt x="720000" y="576000"/>
                </a:lnTo>
                <a:lnTo>
                  <a:pt x="324000" y="648000"/>
                </a:lnTo>
                <a:close/>
              </a:path>
            </a:pathLst>
          </a:custGeom>
          <a:solidFill>
            <a:srgbClr val="5A6068"/>
          </a:solidFill>
          <a:ln/>
        </p:spPr>
      </p:sp>
      <p:sp>
        <p:nvSpPr>
          <p:cNvPr id="73" name="Shape 69"/>
          <p:cNvSpPr/>
          <p:nvPr/>
        </p:nvSpPr>
        <p:spPr>
          <a:xfrm>
            <a:off x="3132000" y="6948000"/>
            <a:ext cx="72000" cy="72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74" name="Shape 70"/>
          <p:cNvSpPr/>
          <p:nvPr/>
        </p:nvSpPr>
        <p:spPr>
          <a:xfrm>
            <a:off x="3384000" y="7056000"/>
            <a:ext cx="72000" cy="72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75" name="Shape 71"/>
          <p:cNvSpPr/>
          <p:nvPr/>
        </p:nvSpPr>
        <p:spPr>
          <a:xfrm>
            <a:off x="3240000" y="7200000"/>
            <a:ext cx="72000" cy="72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76" name="Shape 72"/>
          <p:cNvSpPr/>
          <p:nvPr/>
        </p:nvSpPr>
        <p:spPr>
          <a:xfrm>
            <a:off x="3456000" y="6840000"/>
            <a:ext cx="72000" cy="72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77" name="Shape 73"/>
          <p:cNvSpPr/>
          <p:nvPr/>
        </p:nvSpPr>
        <p:spPr>
          <a:xfrm>
            <a:off x="4536000" y="6840000"/>
            <a:ext cx="864000" cy="504000"/>
          </a:xfrm>
          <a:custGeom>
            <a:avLst/>
            <a:gdLst/>
            <a:ahLst/>
            <a:cxnLst/>
            <a:rect l="l" t="t" r="r" b="b"/>
            <a:pathLst>
              <a:path w="864000" h="504000">
                <a:moveTo>
                  <a:pt x="0" y="504000"/>
                </a:moveTo>
                <a:lnTo>
                  <a:pt x="216000" y="144000"/>
                </a:lnTo>
                <a:lnTo>
                  <a:pt x="396000" y="0"/>
                </a:lnTo>
                <a:lnTo>
                  <a:pt x="612000" y="108000"/>
                </a:lnTo>
                <a:lnTo>
                  <a:pt x="864000" y="504000"/>
                </a:lnTo>
                <a:close/>
              </a:path>
            </a:pathLst>
          </a:custGeom>
          <a:solidFill>
            <a:srgbClr val="8C5A3A"/>
          </a:solidFill>
          <a:ln/>
        </p:spPr>
      </p:sp>
      <p:sp>
        <p:nvSpPr>
          <p:cNvPr id="78" name="Shape 74"/>
          <p:cNvSpPr/>
          <p:nvPr/>
        </p:nvSpPr>
        <p:spPr>
          <a:xfrm>
            <a:off x="4658400" y="7214400"/>
            <a:ext cx="43200" cy="43200"/>
          </a:xfrm>
          <a:prstGeom prst="ellipse">
            <a:avLst/>
          </a:prstGeom>
          <a:solidFill>
            <a:srgbClr val="E9D3C2"/>
          </a:solidFill>
          <a:ln/>
        </p:spPr>
      </p:sp>
      <p:sp>
        <p:nvSpPr>
          <p:cNvPr id="79" name="Shape 75"/>
          <p:cNvSpPr/>
          <p:nvPr/>
        </p:nvSpPr>
        <p:spPr>
          <a:xfrm>
            <a:off x="4773600" y="7142400"/>
            <a:ext cx="43200" cy="43200"/>
          </a:xfrm>
          <a:prstGeom prst="ellipse">
            <a:avLst/>
          </a:prstGeom>
          <a:solidFill>
            <a:srgbClr val="E9D3C2"/>
          </a:solidFill>
          <a:ln/>
        </p:spPr>
      </p:sp>
      <p:sp>
        <p:nvSpPr>
          <p:cNvPr id="80" name="Shape 76"/>
          <p:cNvSpPr/>
          <p:nvPr/>
        </p:nvSpPr>
        <p:spPr>
          <a:xfrm>
            <a:off x="4888800" y="7214400"/>
            <a:ext cx="43200" cy="43200"/>
          </a:xfrm>
          <a:prstGeom prst="ellipse">
            <a:avLst/>
          </a:prstGeom>
          <a:solidFill>
            <a:srgbClr val="E9D3C2"/>
          </a:solidFill>
          <a:ln/>
        </p:spPr>
      </p:sp>
      <p:sp>
        <p:nvSpPr>
          <p:cNvPr id="81" name="Shape 77"/>
          <p:cNvSpPr/>
          <p:nvPr/>
        </p:nvSpPr>
        <p:spPr>
          <a:xfrm>
            <a:off x="5004000" y="7142400"/>
            <a:ext cx="43200" cy="43200"/>
          </a:xfrm>
          <a:prstGeom prst="ellipse">
            <a:avLst/>
          </a:prstGeom>
          <a:solidFill>
            <a:srgbClr val="E9D3C2"/>
          </a:solidFill>
          <a:ln/>
        </p:spPr>
      </p:sp>
      <p:sp>
        <p:nvSpPr>
          <p:cNvPr id="82" name="Shape 78"/>
          <p:cNvSpPr/>
          <p:nvPr/>
        </p:nvSpPr>
        <p:spPr>
          <a:xfrm>
            <a:off x="5119200" y="7214400"/>
            <a:ext cx="43200" cy="43200"/>
          </a:xfrm>
          <a:prstGeom prst="ellipse">
            <a:avLst/>
          </a:prstGeom>
          <a:solidFill>
            <a:srgbClr val="E9D3C2"/>
          </a:solidFill>
          <a:ln/>
        </p:spPr>
      </p:sp>
      <p:sp>
        <p:nvSpPr>
          <p:cNvPr id="83" name="Shape 79"/>
          <p:cNvSpPr/>
          <p:nvPr/>
        </p:nvSpPr>
        <p:spPr>
          <a:xfrm>
            <a:off x="5234400" y="7142400"/>
            <a:ext cx="43200" cy="43200"/>
          </a:xfrm>
          <a:prstGeom prst="ellipse">
            <a:avLst/>
          </a:prstGeom>
          <a:solidFill>
            <a:srgbClr val="E9D3C2"/>
          </a:solidFill>
          <a:ln/>
        </p:spPr>
      </p:sp>
      <p:sp>
        <p:nvSpPr>
          <p:cNvPr id="84" name="Shape 80"/>
          <p:cNvSpPr/>
          <p:nvPr/>
        </p:nvSpPr>
        <p:spPr>
          <a:xfrm>
            <a:off x="6192000" y="6768000"/>
            <a:ext cx="648000" cy="504000"/>
          </a:xfrm>
          <a:prstGeom prst="rect">
            <a:avLst/>
          </a:prstGeom>
          <a:solidFill>
            <a:srgbClr val="A8622F"/>
          </a:solidFill>
          <a:ln w="5080">
            <a:solidFill>
              <a:srgbClr val="8C4E24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6271200" y="6825600"/>
            <a:ext cx="648000" cy="504000"/>
          </a:xfrm>
          <a:prstGeom prst="rect">
            <a:avLst/>
          </a:prstGeom>
          <a:solidFill>
            <a:srgbClr val="B8723F"/>
          </a:solidFill>
          <a:ln w="5080">
            <a:solidFill>
              <a:srgbClr val="8C4E24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6350400" y="6883200"/>
            <a:ext cx="648000" cy="504000"/>
          </a:xfrm>
          <a:prstGeom prst="rect">
            <a:avLst/>
          </a:prstGeom>
          <a:solidFill>
            <a:srgbClr val="C88752"/>
          </a:solidFill>
          <a:ln w="5080">
            <a:solidFill>
              <a:srgbClr val="8C4E24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3816000" y="7056000"/>
            <a:ext cx="648000" cy="36"/>
          </a:xfrm>
          <a:prstGeom prst="line">
            <a:avLst/>
          </a:prstGeom>
          <a:noFill/>
          <a:ln w="11430">
            <a:solidFill>
              <a:srgbClr val="3D4249"/>
            </a:solidFill>
            <a:prstDash val="solid"/>
            <a:tailEnd type="triangle"/>
          </a:ln>
        </p:spPr>
      </p:sp>
      <p:sp>
        <p:nvSpPr>
          <p:cNvPr id="88" name="Shape 84"/>
          <p:cNvSpPr/>
          <p:nvPr/>
        </p:nvSpPr>
        <p:spPr>
          <a:xfrm>
            <a:off x="5472000" y="7056000"/>
            <a:ext cx="576000" cy="36"/>
          </a:xfrm>
          <a:prstGeom prst="line">
            <a:avLst/>
          </a:prstGeom>
          <a:noFill/>
          <a:ln w="11430">
            <a:solidFill>
              <a:srgbClr val="3D4249"/>
            </a:solidFill>
            <a:prstDash val="solid"/>
            <a:tailEnd type="triangle"/>
          </a:ln>
        </p:spPr>
      </p:sp>
      <p:sp>
        <p:nvSpPr>
          <p:cNvPr id="89" name="Shape 85"/>
          <p:cNvSpPr/>
          <p:nvPr/>
        </p:nvSpPr>
        <p:spPr>
          <a:xfrm>
            <a:off x="7056000" y="7056000"/>
            <a:ext cx="1440000" cy="36"/>
          </a:xfrm>
          <a:prstGeom prst="line">
            <a:avLst/>
          </a:prstGeom>
          <a:noFill/>
          <a:ln w="11430">
            <a:solidFill>
              <a:srgbClr val="3D4249"/>
            </a:solidFill>
            <a:prstDash val="solid"/>
            <a:tailEnd type="triangle"/>
          </a:ln>
        </p:spPr>
      </p:sp>
      <p:sp>
        <p:nvSpPr>
          <p:cNvPr id="90" name="Text 86"/>
          <p:cNvSpPr/>
          <p:nvPr/>
        </p:nvSpPr>
        <p:spPr>
          <a:xfrm>
            <a:off x="2520000" y="748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</a:t>
            </a:r>
            <a:endParaRPr lang="en-US" sz="540" dirty="0"/>
          </a:p>
        </p:txBody>
      </p:sp>
      <p:sp>
        <p:nvSpPr>
          <p:cNvPr id="91" name="Text 87"/>
          <p:cNvSpPr/>
          <p:nvPr/>
        </p:nvSpPr>
        <p:spPr>
          <a:xfrm>
            <a:off x="2520000" y="7650000"/>
            <a:ext cx="158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鉱石</a:t>
            </a:r>
            <a:endParaRPr lang="en-US" sz="740" dirty="0"/>
          </a:p>
        </p:txBody>
      </p:sp>
      <p:sp>
        <p:nvSpPr>
          <p:cNvPr id="92" name="Text 88"/>
          <p:cNvSpPr/>
          <p:nvPr/>
        </p:nvSpPr>
        <p:spPr>
          <a:xfrm>
            <a:off x="4176000" y="748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CONCENTRATE</a:t>
            </a:r>
            <a:endParaRPr lang="en-US" sz="540" dirty="0"/>
          </a:p>
        </p:txBody>
      </p:sp>
      <p:sp>
        <p:nvSpPr>
          <p:cNvPr id="93" name="Text 89"/>
          <p:cNvSpPr/>
          <p:nvPr/>
        </p:nvSpPr>
        <p:spPr>
          <a:xfrm>
            <a:off x="4176000" y="7650000"/>
            <a:ext cx="158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選鉱｜銅精鉱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5760000" y="748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CATHODE</a:t>
            </a:r>
            <a:endParaRPr lang="en-US" sz="540" dirty="0"/>
          </a:p>
        </p:txBody>
      </p:sp>
      <p:sp>
        <p:nvSpPr>
          <p:cNvPr id="95" name="Text 91"/>
          <p:cNvSpPr/>
          <p:nvPr/>
        </p:nvSpPr>
        <p:spPr>
          <a:xfrm>
            <a:off x="5760000" y="7650000"/>
            <a:ext cx="158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製錬｜銅地金</a:t>
            </a:r>
            <a:endParaRPr lang="en-US" sz="740" dirty="0"/>
          </a:p>
        </p:txBody>
      </p:sp>
      <p:sp>
        <p:nvSpPr>
          <p:cNvPr id="96" name="Shape 92"/>
          <p:cNvSpPr/>
          <p:nvPr/>
        </p:nvSpPr>
        <p:spPr>
          <a:xfrm>
            <a:off x="3312000" y="7848000"/>
            <a:ext cx="720000" cy="504000"/>
          </a:xfrm>
          <a:custGeom>
            <a:avLst/>
            <a:gdLst/>
            <a:ahLst/>
            <a:cxnLst/>
            <a:rect l="l" t="t" r="r" b="b"/>
            <a:pathLst>
              <a:path w="720000" h="504000">
                <a:moveTo>
                  <a:pt x="0" y="0"/>
                </a:moveTo>
                <a:lnTo>
                  <a:pt x="0" y="504000"/>
                </a:lnTo>
                <a:lnTo>
                  <a:pt x="720000" y="504000"/>
                </a:lnTo>
              </a:path>
            </a:pathLst>
          </a:custGeom>
          <a:ln w="10160">
            <a:solidFill>
              <a:srgbClr val="3D4249"/>
            </a:solidFill>
            <a:prstDash val="solid"/>
            <a:tailEnd type="triangle"/>
          </a:ln>
        </p:spPr>
      </p:sp>
      <p:sp>
        <p:nvSpPr>
          <p:cNvPr id="97" name="Shape 93"/>
          <p:cNvSpPr/>
          <p:nvPr/>
        </p:nvSpPr>
        <p:spPr>
          <a:xfrm>
            <a:off x="4032000" y="8172000"/>
            <a:ext cx="1224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3D4249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4032000" y="8272800"/>
            <a:ext cx="122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浸出（リーチング）</a:t>
            </a:r>
            <a:endParaRPr lang="en-US" sz="640" dirty="0"/>
          </a:p>
        </p:txBody>
      </p:sp>
      <p:sp>
        <p:nvSpPr>
          <p:cNvPr id="99" name="Shape 95"/>
          <p:cNvSpPr/>
          <p:nvPr/>
        </p:nvSpPr>
        <p:spPr>
          <a:xfrm>
            <a:off x="5256000" y="7848000"/>
            <a:ext cx="1296000" cy="504000"/>
          </a:xfrm>
          <a:custGeom>
            <a:avLst/>
            <a:gdLst/>
            <a:ahLst/>
            <a:cxnLst/>
            <a:rect l="l" t="t" r="r" b="b"/>
            <a:pathLst>
              <a:path w="1296000" h="504000">
                <a:moveTo>
                  <a:pt x="0" y="504000"/>
                </a:moveTo>
                <a:lnTo>
                  <a:pt x="1296000" y="504000"/>
                </a:lnTo>
                <a:lnTo>
                  <a:pt x="1296000" y="0"/>
                </a:lnTo>
              </a:path>
            </a:pathLst>
          </a:custGeom>
          <a:ln w="10160">
            <a:solidFill>
              <a:srgbClr val="3D4249"/>
            </a:solidFill>
            <a:prstDash val="solid"/>
            <a:tailEnd type="triangle"/>
          </a:ln>
        </p:spPr>
      </p:sp>
      <p:sp>
        <p:nvSpPr>
          <p:cNvPr id="100" name="Text 96"/>
          <p:cNvSpPr/>
          <p:nvPr/>
        </p:nvSpPr>
        <p:spPr>
          <a:xfrm>
            <a:off x="5328000" y="8190000"/>
            <a:ext cx="12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電解採取で銅地金へ</a:t>
            </a:r>
            <a:endParaRPr lang="en-US" sz="500" dirty="0"/>
          </a:p>
        </p:txBody>
      </p:sp>
      <p:sp>
        <p:nvSpPr>
          <p:cNvPr id="101" name="Shape 97"/>
          <p:cNvSpPr/>
          <p:nvPr/>
        </p:nvSpPr>
        <p:spPr>
          <a:xfrm>
            <a:off x="7128000" y="7848000"/>
            <a:ext cx="3816000" cy="1080000"/>
          </a:xfrm>
          <a:custGeom>
            <a:avLst/>
            <a:gdLst/>
            <a:ahLst/>
            <a:cxnLst/>
            <a:rect l="l" t="t" r="r" b="b"/>
            <a:pathLst>
              <a:path w="3816000" h="1080000">
                <a:moveTo>
                  <a:pt x="3816000" y="0"/>
                </a:moveTo>
                <a:cubicBezTo>
                  <a:pt x="3816000" y="936000"/>
                  <a:pt x="504000" y="1080000"/>
                  <a:pt x="0" y="144000"/>
                </a:cubicBezTo>
              </a:path>
            </a:pathLst>
          </a:custGeom>
          <a:ln w="11430">
            <a:solidFill>
              <a:srgbClr val="A8622F"/>
            </a:solidFill>
            <a:prstDash val="dash"/>
            <a:tailEnd type="triangle"/>
          </a:ln>
        </p:spPr>
      </p:sp>
      <p:sp>
        <p:nvSpPr>
          <p:cNvPr id="102" name="Shape 98"/>
          <p:cNvSpPr/>
          <p:nvPr/>
        </p:nvSpPr>
        <p:spPr>
          <a:xfrm>
            <a:off x="5112000" y="7848000"/>
            <a:ext cx="36" cy="1062000"/>
          </a:xfrm>
          <a:prstGeom prst="line">
            <a:avLst/>
          </a:prstGeom>
          <a:noFill/>
          <a:ln w="10160">
            <a:solidFill>
              <a:srgbClr val="A8622F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5047200" y="7783200"/>
            <a:ext cx="129600" cy="1296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5004000" y="8928000"/>
            <a:ext cx="1728000" cy="79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A8622F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5004000" y="8928000"/>
            <a:ext cx="1728000" cy="43200"/>
          </a:xfrm>
          <a:prstGeom prst="rect">
            <a:avLst/>
          </a:prstGeom>
          <a:solidFill>
            <a:srgbClr val="A8622F"/>
          </a:solidFill>
          <a:ln/>
        </p:spPr>
      </p:sp>
      <p:sp>
        <p:nvSpPr>
          <p:cNvPr id="106" name="Text 102"/>
          <p:cNvSpPr/>
          <p:nvPr/>
        </p:nvSpPr>
        <p:spPr>
          <a:xfrm>
            <a:off x="5112000" y="90360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CiDRA</a:t>
            </a:r>
            <a:endParaRPr lang="en-US" sz="900" dirty="0"/>
          </a:p>
        </p:txBody>
      </p:sp>
      <p:sp>
        <p:nvSpPr>
          <p:cNvPr id="107" name="Text 103"/>
          <p:cNvSpPr/>
          <p:nvPr/>
        </p:nvSpPr>
        <p:spPr>
          <a:xfrm>
            <a:off x="5112000" y="92340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選鉱の高度化</a:t>
            </a:r>
            <a:endParaRPr lang="en-US" sz="600" dirty="0"/>
          </a:p>
        </p:txBody>
      </p:sp>
      <p:sp>
        <p:nvSpPr>
          <p:cNvPr id="108" name="Text 104"/>
          <p:cNvSpPr/>
          <p:nvPr/>
        </p:nvSpPr>
        <p:spPr>
          <a:xfrm>
            <a:off x="5112000" y="9396000"/>
            <a:ext cx="154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浮遊選鉱を高度化し、銅の回収率と処理能力を高める</a:t>
            </a:r>
            <a:endParaRPr lang="en-US" sz="540" dirty="0"/>
          </a:p>
        </p:txBody>
      </p:sp>
      <p:sp>
        <p:nvSpPr>
          <p:cNvPr id="109" name="Shape 105"/>
          <p:cNvSpPr/>
          <p:nvPr/>
        </p:nvSpPr>
        <p:spPr>
          <a:xfrm>
            <a:off x="4248000" y="8532000"/>
            <a:ext cx="36" cy="918000"/>
          </a:xfrm>
          <a:prstGeom prst="line">
            <a:avLst/>
          </a:prstGeom>
          <a:noFill/>
          <a:ln w="10160">
            <a:solidFill>
              <a:srgbClr val="A8622F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4183200" y="8467200"/>
            <a:ext cx="129600" cy="1296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2592000" y="9468000"/>
            <a:ext cx="1728000" cy="79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A8622F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2592000" y="9468000"/>
            <a:ext cx="1728000" cy="43200"/>
          </a:xfrm>
          <a:prstGeom prst="rect">
            <a:avLst/>
          </a:prstGeom>
          <a:solidFill>
            <a:srgbClr val="A8622F"/>
          </a:solidFill>
          <a:ln/>
        </p:spPr>
      </p:sp>
      <p:sp>
        <p:nvSpPr>
          <p:cNvPr id="113" name="Text 109"/>
          <p:cNvSpPr/>
          <p:nvPr/>
        </p:nvSpPr>
        <p:spPr>
          <a:xfrm>
            <a:off x="2700000" y="95760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Jetti</a:t>
            </a:r>
            <a:endParaRPr lang="en-US" sz="900" dirty="0"/>
          </a:p>
        </p:txBody>
      </p:sp>
      <p:sp>
        <p:nvSpPr>
          <p:cNvPr id="114" name="Text 110"/>
          <p:cNvSpPr/>
          <p:nvPr/>
        </p:nvSpPr>
        <p:spPr>
          <a:xfrm>
            <a:off x="2700000" y="97740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浸出による銅回収</a:t>
            </a:r>
            <a:endParaRPr lang="en-US" sz="600" dirty="0"/>
          </a:p>
        </p:txBody>
      </p:sp>
      <p:sp>
        <p:nvSpPr>
          <p:cNvPr id="115" name="Text 111"/>
          <p:cNvSpPr/>
          <p:nvPr/>
        </p:nvSpPr>
        <p:spPr>
          <a:xfrm>
            <a:off x="2700000" y="9936000"/>
            <a:ext cx="154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触媒を用いた浸出で、硫化銅鉱から銅を回収する</a:t>
            </a:r>
            <a:endParaRPr lang="en-US" sz="540" dirty="0"/>
          </a:p>
        </p:txBody>
      </p:sp>
      <p:sp>
        <p:nvSpPr>
          <p:cNvPr id="116" name="Text 112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000" y="612000"/>
            <a:ext cx="66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原料炭・銅・トレーディング。3つの主力事業と、業界の課題に挑む新技術。</a:t>
            </a:r>
            <a:endParaRPr lang="en-US" sz="850" dirty="0"/>
          </a:p>
        </p:txBody>
      </p:sp>
      <p:pic>
        <p:nvPicPr>
          <p:cNvPr id="3" name="Image 0" descr="/home/user/my-website/mc_metals_12p/src/assets/_crop/_mr_project_02_128.0x24.0_0.5_0.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04000" y="1296000"/>
            <a:ext cx="4608000" cy="864000"/>
          </a:xfrm>
          <a:prstGeom prst="rect">
            <a:avLst/>
          </a:prstGeom>
        </p:spPr>
      </p:pic>
      <p:pic>
        <p:nvPicPr>
          <p:cNvPr id="4" name="Image 1" descr="/home/user/my-website/mc_metals_12p/src/assets/_crop/r-023_120.0x24.0_0.5_0.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000" y="1296000"/>
            <a:ext cx="4320000" cy="864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52000" y="2268000"/>
            <a:ext cx="205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ENTRY</a:t>
            </a:r>
            <a:endParaRPr lang="en-US" sz="630" dirty="0"/>
          </a:p>
        </p:txBody>
      </p:sp>
      <p:sp>
        <p:nvSpPr>
          <p:cNvPr id="6" name="Text 2"/>
          <p:cNvSpPr/>
          <p:nvPr/>
        </p:nvSpPr>
        <p:spPr>
          <a:xfrm>
            <a:off x="252000" y="2430000"/>
            <a:ext cx="205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主要銅鉱山への参画年と世界順位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684000" y="2736000"/>
            <a:ext cx="36" cy="1987200"/>
          </a:xfrm>
          <a:prstGeom prst="line">
            <a:avLst/>
          </a:prstGeom>
          <a:noFill/>
          <a:ln w="10160">
            <a:solidFill>
              <a:srgbClr val="CFD3D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52000" y="26784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1988</a:t>
            </a:r>
            <a:endParaRPr lang="en-US" sz="580" dirty="0"/>
          </a:p>
        </p:txBody>
      </p:sp>
      <p:sp>
        <p:nvSpPr>
          <p:cNvPr id="9" name="Shape 5"/>
          <p:cNvSpPr/>
          <p:nvPr/>
        </p:nvSpPr>
        <p:spPr>
          <a:xfrm>
            <a:off x="576000" y="2628000"/>
            <a:ext cx="216000" cy="216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10" name="Text 6"/>
          <p:cNvSpPr/>
          <p:nvPr/>
        </p:nvSpPr>
        <p:spPr>
          <a:xfrm>
            <a:off x="576000" y="2678400"/>
            <a:ext cx="2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40" dirty="0"/>
          </a:p>
        </p:txBody>
      </p:sp>
      <p:sp>
        <p:nvSpPr>
          <p:cNvPr id="11" name="Text 7"/>
          <p:cNvSpPr/>
          <p:nvPr/>
        </p:nvSpPr>
        <p:spPr>
          <a:xfrm>
            <a:off x="864000" y="26532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Escondida</a:t>
            </a:r>
            <a:endParaRPr lang="en-US" sz="640" dirty="0"/>
          </a:p>
        </p:txBody>
      </p:sp>
      <p:sp>
        <p:nvSpPr>
          <p:cNvPr id="12" name="Text 8"/>
          <p:cNvSpPr/>
          <p:nvPr/>
        </p:nvSpPr>
        <p:spPr>
          <a:xfrm>
            <a:off x="864000" y="2786400"/>
            <a:ext cx="1512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00" dirty="0"/>
          </a:p>
        </p:txBody>
      </p:sp>
      <p:sp>
        <p:nvSpPr>
          <p:cNvPr id="13" name="Text 9"/>
          <p:cNvSpPr/>
          <p:nvPr/>
        </p:nvSpPr>
        <p:spPr>
          <a:xfrm>
            <a:off x="252000" y="30096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1997</a:t>
            </a:r>
            <a:endParaRPr lang="en-US" sz="580" dirty="0"/>
          </a:p>
        </p:txBody>
      </p:sp>
      <p:sp>
        <p:nvSpPr>
          <p:cNvPr id="14" name="Shape 10"/>
          <p:cNvSpPr/>
          <p:nvPr/>
        </p:nvSpPr>
        <p:spPr>
          <a:xfrm>
            <a:off x="576000" y="2959200"/>
            <a:ext cx="216000" cy="216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15" name="Text 11"/>
          <p:cNvSpPr/>
          <p:nvPr/>
        </p:nvSpPr>
        <p:spPr>
          <a:xfrm>
            <a:off x="576000" y="3009600"/>
            <a:ext cx="2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540" dirty="0"/>
          </a:p>
        </p:txBody>
      </p:sp>
      <p:sp>
        <p:nvSpPr>
          <p:cNvPr id="16" name="Text 12"/>
          <p:cNvSpPr/>
          <p:nvPr/>
        </p:nvSpPr>
        <p:spPr>
          <a:xfrm>
            <a:off x="864000" y="29844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Pelambres</a:t>
            </a:r>
            <a:endParaRPr lang="en-US" sz="640" dirty="0"/>
          </a:p>
        </p:txBody>
      </p:sp>
      <p:sp>
        <p:nvSpPr>
          <p:cNvPr id="17" name="Text 13"/>
          <p:cNvSpPr/>
          <p:nvPr/>
        </p:nvSpPr>
        <p:spPr>
          <a:xfrm>
            <a:off x="864000" y="3117600"/>
            <a:ext cx="1512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00" dirty="0"/>
          </a:p>
        </p:txBody>
      </p:sp>
      <p:sp>
        <p:nvSpPr>
          <p:cNvPr id="18" name="Text 14"/>
          <p:cNvSpPr/>
          <p:nvPr/>
        </p:nvSpPr>
        <p:spPr>
          <a:xfrm>
            <a:off x="252000" y="33408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1999</a:t>
            </a:r>
            <a:endParaRPr lang="en-US" sz="580" dirty="0"/>
          </a:p>
        </p:txBody>
      </p:sp>
      <p:sp>
        <p:nvSpPr>
          <p:cNvPr id="19" name="Shape 15"/>
          <p:cNvSpPr/>
          <p:nvPr/>
        </p:nvSpPr>
        <p:spPr>
          <a:xfrm>
            <a:off x="576000" y="3290400"/>
            <a:ext cx="216000" cy="216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20" name="Text 16"/>
          <p:cNvSpPr/>
          <p:nvPr/>
        </p:nvSpPr>
        <p:spPr>
          <a:xfrm>
            <a:off x="576000" y="3340800"/>
            <a:ext cx="2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540" dirty="0"/>
          </a:p>
        </p:txBody>
      </p:sp>
      <p:sp>
        <p:nvSpPr>
          <p:cNvPr id="21" name="Text 17"/>
          <p:cNvSpPr/>
          <p:nvPr/>
        </p:nvSpPr>
        <p:spPr>
          <a:xfrm>
            <a:off x="864000" y="33156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Antamina</a:t>
            </a:r>
            <a:endParaRPr lang="en-US" sz="640" dirty="0"/>
          </a:p>
        </p:txBody>
      </p:sp>
      <p:sp>
        <p:nvSpPr>
          <p:cNvPr id="22" name="Text 18"/>
          <p:cNvSpPr/>
          <p:nvPr/>
        </p:nvSpPr>
        <p:spPr>
          <a:xfrm>
            <a:off x="864000" y="3448800"/>
            <a:ext cx="1512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500" dirty="0"/>
          </a:p>
        </p:txBody>
      </p:sp>
      <p:sp>
        <p:nvSpPr>
          <p:cNvPr id="23" name="Text 19"/>
          <p:cNvSpPr/>
          <p:nvPr/>
        </p:nvSpPr>
        <p:spPr>
          <a:xfrm>
            <a:off x="252000" y="36720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2011</a:t>
            </a:r>
            <a:endParaRPr lang="en-US" sz="580" dirty="0"/>
          </a:p>
        </p:txBody>
      </p:sp>
      <p:sp>
        <p:nvSpPr>
          <p:cNvPr id="24" name="Shape 20"/>
          <p:cNvSpPr/>
          <p:nvPr/>
        </p:nvSpPr>
        <p:spPr>
          <a:xfrm>
            <a:off x="576000" y="3621600"/>
            <a:ext cx="216000" cy="216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25" name="Text 21"/>
          <p:cNvSpPr/>
          <p:nvPr/>
        </p:nvSpPr>
        <p:spPr>
          <a:xfrm>
            <a:off x="576000" y="3672000"/>
            <a:ext cx="2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540" dirty="0"/>
          </a:p>
        </p:txBody>
      </p:sp>
      <p:sp>
        <p:nvSpPr>
          <p:cNvPr id="26" name="Text 22"/>
          <p:cNvSpPr/>
          <p:nvPr/>
        </p:nvSpPr>
        <p:spPr>
          <a:xfrm>
            <a:off x="864000" y="36468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Anglo American Sur</a:t>
            </a:r>
            <a:endParaRPr lang="en-US" sz="640" dirty="0"/>
          </a:p>
        </p:txBody>
      </p:sp>
      <p:sp>
        <p:nvSpPr>
          <p:cNvPr id="27" name="Text 23"/>
          <p:cNvSpPr/>
          <p:nvPr/>
        </p:nvSpPr>
        <p:spPr>
          <a:xfrm>
            <a:off x="864000" y="3780000"/>
            <a:ext cx="1512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500" dirty="0"/>
          </a:p>
        </p:txBody>
      </p:sp>
      <p:sp>
        <p:nvSpPr>
          <p:cNvPr id="28" name="Text 24"/>
          <p:cNvSpPr/>
          <p:nvPr/>
        </p:nvSpPr>
        <p:spPr>
          <a:xfrm>
            <a:off x="252000" y="40032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2011</a:t>
            </a:r>
            <a:endParaRPr lang="en-US" sz="580" dirty="0"/>
          </a:p>
        </p:txBody>
      </p:sp>
      <p:sp>
        <p:nvSpPr>
          <p:cNvPr id="29" name="Shape 25"/>
          <p:cNvSpPr/>
          <p:nvPr/>
        </p:nvSpPr>
        <p:spPr>
          <a:xfrm>
            <a:off x="576000" y="3952800"/>
            <a:ext cx="216000" cy="2160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30" name="Text 26"/>
          <p:cNvSpPr/>
          <p:nvPr/>
        </p:nvSpPr>
        <p:spPr>
          <a:xfrm>
            <a:off x="576000" y="4003200"/>
            <a:ext cx="2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540" dirty="0"/>
          </a:p>
        </p:txBody>
      </p:sp>
      <p:sp>
        <p:nvSpPr>
          <p:cNvPr id="31" name="Text 27"/>
          <p:cNvSpPr/>
          <p:nvPr/>
        </p:nvSpPr>
        <p:spPr>
          <a:xfrm>
            <a:off x="864000" y="39780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Quellaveco</a:t>
            </a:r>
            <a:endParaRPr lang="en-US" sz="640" dirty="0"/>
          </a:p>
        </p:txBody>
      </p:sp>
      <p:sp>
        <p:nvSpPr>
          <p:cNvPr id="32" name="Text 28"/>
          <p:cNvSpPr/>
          <p:nvPr/>
        </p:nvSpPr>
        <p:spPr>
          <a:xfrm>
            <a:off x="864000" y="4111200"/>
            <a:ext cx="1512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500" dirty="0"/>
          </a:p>
        </p:txBody>
      </p:sp>
      <p:sp>
        <p:nvSpPr>
          <p:cNvPr id="33" name="Text 29"/>
          <p:cNvSpPr/>
          <p:nvPr/>
        </p:nvSpPr>
        <p:spPr>
          <a:xfrm>
            <a:off x="252000" y="43344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580" dirty="0"/>
          </a:p>
        </p:txBody>
      </p:sp>
      <p:sp>
        <p:nvSpPr>
          <p:cNvPr id="34" name="Shape 30"/>
          <p:cNvSpPr/>
          <p:nvPr/>
        </p:nvSpPr>
        <p:spPr>
          <a:xfrm>
            <a:off x="590400" y="4298400"/>
            <a:ext cx="187200" cy="18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A8622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64000" y="43092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Marimaca</a:t>
            </a:r>
            <a:endParaRPr lang="en-US" sz="640" dirty="0"/>
          </a:p>
        </p:txBody>
      </p:sp>
      <p:sp>
        <p:nvSpPr>
          <p:cNvPr id="36" name="Text 32"/>
          <p:cNvSpPr/>
          <p:nvPr/>
        </p:nvSpPr>
        <p:spPr>
          <a:xfrm>
            <a:off x="864000" y="4442400"/>
            <a:ext cx="1512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チリ｜開発中</a:t>
            </a:r>
            <a:endParaRPr lang="en-US" sz="500" dirty="0"/>
          </a:p>
        </p:txBody>
      </p:sp>
      <p:sp>
        <p:nvSpPr>
          <p:cNvPr id="37" name="Text 33"/>
          <p:cNvSpPr/>
          <p:nvPr/>
        </p:nvSpPr>
        <p:spPr>
          <a:xfrm>
            <a:off x="252000" y="4665600"/>
            <a:ext cx="3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580" dirty="0"/>
          </a:p>
        </p:txBody>
      </p:sp>
      <p:sp>
        <p:nvSpPr>
          <p:cNvPr id="38" name="Shape 34"/>
          <p:cNvSpPr/>
          <p:nvPr/>
        </p:nvSpPr>
        <p:spPr>
          <a:xfrm>
            <a:off x="590400" y="4629600"/>
            <a:ext cx="187200" cy="18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A8622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4000" y="46404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Copper World</a:t>
            </a:r>
            <a:endParaRPr lang="en-US" sz="640" dirty="0"/>
          </a:p>
        </p:txBody>
      </p:sp>
      <p:sp>
        <p:nvSpPr>
          <p:cNvPr id="40" name="Text 36"/>
          <p:cNvSpPr/>
          <p:nvPr/>
        </p:nvSpPr>
        <p:spPr>
          <a:xfrm>
            <a:off x="864000" y="4773600"/>
            <a:ext cx="1512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米国｜開発中</a:t>
            </a:r>
            <a:endParaRPr lang="en-US" sz="500" dirty="0"/>
          </a:p>
        </p:txBody>
      </p:sp>
      <p:sp>
        <p:nvSpPr>
          <p:cNvPr id="41" name="Text 37"/>
          <p:cNvSpPr/>
          <p:nvPr/>
        </p:nvSpPr>
        <p:spPr>
          <a:xfrm>
            <a:off x="252000" y="5004000"/>
            <a:ext cx="2052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●内の数字＝鉱山別生産量の世界順位</a:t>
            </a:r>
            <a:endParaRPr lang="en-US" sz="48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48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○＝開発中（順位対象外）</a:t>
            </a:r>
            <a:endParaRPr lang="en-US" sz="480" dirty="0"/>
          </a:p>
        </p:txBody>
      </p:sp>
      <p:sp>
        <p:nvSpPr>
          <p:cNvPr id="42" name="Text 38"/>
          <p:cNvSpPr/>
          <p:nvPr/>
        </p:nvSpPr>
        <p:spPr>
          <a:xfrm>
            <a:off x="2736000" y="2268000"/>
            <a:ext cx="43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TRADING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2736000" y="2538000"/>
            <a:ext cx="288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4" name="Text 40"/>
          <p:cNvSpPr/>
          <p:nvPr/>
        </p:nvSpPr>
        <p:spPr>
          <a:xfrm>
            <a:off x="2736000" y="2610000"/>
            <a:ext cx="432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自社アセットに限らず第三者の資源も扱い、資源と市場をつなぐ。</a:t>
            </a:r>
            <a:endParaRPr lang="en-US" sz="760" dirty="0"/>
          </a:p>
        </p:txBody>
      </p:sp>
      <p:sp>
        <p:nvSpPr>
          <p:cNvPr id="45" name="Text 41"/>
          <p:cNvSpPr/>
          <p:nvPr/>
        </p:nvSpPr>
        <p:spPr>
          <a:xfrm>
            <a:off x="2736000" y="3024000"/>
            <a:ext cx="129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15</a:t>
            </a:r>
            <a:endParaRPr lang="en-US" sz="2400" dirty="0"/>
          </a:p>
        </p:txBody>
      </p:sp>
      <p:sp>
        <p:nvSpPr>
          <p:cNvPr id="46" name="Text 42"/>
          <p:cNvSpPr/>
          <p:nvPr/>
        </p:nvSpPr>
        <p:spPr>
          <a:xfrm>
            <a:off x="2736000" y="3420000"/>
            <a:ext cx="12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</a:t>
            </a:r>
            <a:endParaRPr lang="en-US" sz="580" dirty="0"/>
          </a:p>
        </p:txBody>
      </p:sp>
      <p:sp>
        <p:nvSpPr>
          <p:cNvPr id="47" name="Text 43"/>
          <p:cNvSpPr/>
          <p:nvPr/>
        </p:nvSpPr>
        <p:spPr>
          <a:xfrm>
            <a:off x="4032000" y="3024000"/>
            <a:ext cx="129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50</a:t>
            </a:r>
            <a:endParaRPr lang="en-US" sz="2400" dirty="0"/>
          </a:p>
        </p:txBody>
      </p:sp>
      <p:sp>
        <p:nvSpPr>
          <p:cNvPr id="48" name="Text 44"/>
          <p:cNvSpPr/>
          <p:nvPr/>
        </p:nvSpPr>
        <p:spPr>
          <a:xfrm>
            <a:off x="4032000" y="3420000"/>
            <a:ext cx="12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カ国</a:t>
            </a:r>
            <a:endParaRPr lang="en-US" sz="580" dirty="0"/>
          </a:p>
        </p:txBody>
      </p:sp>
      <p:sp>
        <p:nvSpPr>
          <p:cNvPr id="49" name="Text 45"/>
          <p:cNvSpPr/>
          <p:nvPr/>
        </p:nvSpPr>
        <p:spPr>
          <a:xfrm>
            <a:off x="5328000" y="3024000"/>
            <a:ext cx="129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約1,000</a:t>
            </a:r>
            <a:endParaRPr lang="en-US" sz="1900" dirty="0"/>
          </a:p>
        </p:txBody>
      </p:sp>
      <p:sp>
        <p:nvSpPr>
          <p:cNvPr id="50" name="Text 46"/>
          <p:cNvSpPr/>
          <p:nvPr/>
        </p:nvSpPr>
        <p:spPr>
          <a:xfrm>
            <a:off x="5328000" y="3420000"/>
            <a:ext cx="12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社の販売先</a:t>
            </a:r>
            <a:endParaRPr lang="en-US" sz="580" dirty="0"/>
          </a:p>
        </p:txBody>
      </p:sp>
      <p:sp>
        <p:nvSpPr>
          <p:cNvPr id="51" name="Shape 47"/>
          <p:cNvSpPr/>
          <p:nvPr/>
        </p:nvSpPr>
        <p:spPr>
          <a:xfrm>
            <a:off x="2736000" y="3708000"/>
            <a:ext cx="1080000" cy="324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890">
            <a:solidFill>
              <a:srgbClr val="9C7442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736000" y="3790800"/>
            <a:ext cx="10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自社の保有資産</a:t>
            </a:r>
            <a:endParaRPr lang="en-US" sz="630" dirty="0"/>
          </a:p>
        </p:txBody>
      </p:sp>
      <p:sp>
        <p:nvSpPr>
          <p:cNvPr id="53" name="Shape 49"/>
          <p:cNvSpPr/>
          <p:nvPr/>
        </p:nvSpPr>
        <p:spPr>
          <a:xfrm>
            <a:off x="2736000" y="4140000"/>
            <a:ext cx="1080000" cy="324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890">
            <a:solidFill>
              <a:srgbClr val="7D838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2736000" y="4222800"/>
            <a:ext cx="10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第三者の資源</a:t>
            </a:r>
            <a:endParaRPr lang="en-US" sz="630" dirty="0"/>
          </a:p>
        </p:txBody>
      </p:sp>
      <p:sp>
        <p:nvSpPr>
          <p:cNvPr id="55" name="Shape 51"/>
          <p:cNvSpPr/>
          <p:nvPr/>
        </p:nvSpPr>
        <p:spPr>
          <a:xfrm>
            <a:off x="4176000" y="3816000"/>
            <a:ext cx="1152000" cy="540000"/>
          </a:xfrm>
          <a:prstGeom prst="roundRect">
            <a:avLst>
              <a:gd name="adj" fmla="val 10000"/>
            </a:avLst>
          </a:prstGeom>
          <a:solidFill>
            <a:srgbClr val="1F3A56"/>
          </a:solidFill>
          <a:ln/>
        </p:spPr>
      </p:sp>
      <p:sp>
        <p:nvSpPr>
          <p:cNvPr id="56" name="Text 52"/>
          <p:cNvSpPr/>
          <p:nvPr/>
        </p:nvSpPr>
        <p:spPr>
          <a:xfrm>
            <a:off x="4176000" y="3924000"/>
            <a:ext cx="11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RtM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4176000" y="4140000"/>
            <a:ext cx="115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C9D6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to Market</a:t>
            </a:r>
            <a:endParaRPr lang="en-US" sz="460" dirty="0"/>
          </a:p>
        </p:txBody>
      </p:sp>
      <p:sp>
        <p:nvSpPr>
          <p:cNvPr id="58" name="Shape 54"/>
          <p:cNvSpPr/>
          <p:nvPr/>
        </p:nvSpPr>
        <p:spPr>
          <a:xfrm>
            <a:off x="5688000" y="3816000"/>
            <a:ext cx="1368000" cy="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121519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5688000" y="4006800"/>
            <a:ext cx="136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世界の顧客</a:t>
            </a:r>
            <a:endParaRPr lang="en-US" sz="63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3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15業界・50カ国</a:t>
            </a:r>
            <a:endParaRPr lang="en-US" sz="630" dirty="0"/>
          </a:p>
        </p:txBody>
      </p:sp>
      <p:sp>
        <p:nvSpPr>
          <p:cNvPr id="60" name="Shape 56"/>
          <p:cNvSpPr/>
          <p:nvPr/>
        </p:nvSpPr>
        <p:spPr>
          <a:xfrm>
            <a:off x="3834000" y="3870000"/>
            <a:ext cx="324000" cy="126000"/>
          </a:xfrm>
          <a:prstGeom prst="line">
            <a:avLst/>
          </a:prstGeom>
          <a:noFill/>
          <a:ln w="8890">
            <a:solidFill>
              <a:srgbClr val="1F3A56"/>
            </a:solidFill>
            <a:prstDash val="solid"/>
            <a:tailEnd type="triangle"/>
          </a:ln>
        </p:spPr>
      </p:sp>
      <p:sp>
        <p:nvSpPr>
          <p:cNvPr id="61" name="Shape 57"/>
          <p:cNvSpPr/>
          <p:nvPr/>
        </p:nvSpPr>
        <p:spPr>
          <a:xfrm flipV="1">
            <a:off x="3834000" y="4176000"/>
            <a:ext cx="324000" cy="126000"/>
          </a:xfrm>
          <a:prstGeom prst="line">
            <a:avLst/>
          </a:prstGeom>
          <a:noFill/>
          <a:ln w="8890">
            <a:solidFill>
              <a:srgbClr val="1F3A56"/>
            </a:solidFill>
            <a:prstDash val="solid"/>
            <a:tailEnd type="triangle"/>
          </a:ln>
        </p:spPr>
      </p:sp>
      <p:sp>
        <p:nvSpPr>
          <p:cNvPr id="62" name="Shape 58"/>
          <p:cNvSpPr/>
          <p:nvPr/>
        </p:nvSpPr>
        <p:spPr>
          <a:xfrm>
            <a:off x="5346000" y="4086000"/>
            <a:ext cx="324000" cy="36"/>
          </a:xfrm>
          <a:prstGeom prst="line">
            <a:avLst/>
          </a:prstGeom>
          <a:noFill/>
          <a:ln w="8890">
            <a:solidFill>
              <a:srgbClr val="1F3A56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3276000" y="4050000"/>
            <a:ext cx="3096000" cy="594000"/>
          </a:xfrm>
          <a:custGeom>
            <a:avLst/>
            <a:gdLst/>
            <a:ahLst/>
            <a:cxnLst/>
            <a:rect l="l" t="t" r="r" b="b"/>
            <a:pathLst>
              <a:path w="3096000" h="594000">
                <a:moveTo>
                  <a:pt x="3096000" y="324000"/>
                </a:moveTo>
                <a:lnTo>
                  <a:pt x="3096000" y="594000"/>
                </a:lnTo>
                <a:lnTo>
                  <a:pt x="0" y="594000"/>
                </a:lnTo>
                <a:lnTo>
                  <a:pt x="0" y="0"/>
                </a:lnTo>
              </a:path>
            </a:pathLst>
          </a:custGeom>
          <a:ln w="10160">
            <a:solidFill>
              <a:srgbClr val="9C7442"/>
            </a:solidFill>
            <a:prstDash val="dash"/>
            <a:tailEnd type="triangle"/>
          </a:ln>
        </p:spPr>
      </p:sp>
      <p:sp>
        <p:nvSpPr>
          <p:cNvPr id="64" name="Text 60"/>
          <p:cNvSpPr/>
          <p:nvPr/>
        </p:nvSpPr>
        <p:spPr>
          <a:xfrm>
            <a:off x="3960000" y="4680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市場の情報を、投資の判断へ</a:t>
            </a:r>
            <a:endParaRPr lang="en-US" sz="560" dirty="0"/>
          </a:p>
        </p:txBody>
      </p:sp>
      <p:sp>
        <p:nvSpPr>
          <p:cNvPr id="65" name="Text 61"/>
          <p:cNvSpPr/>
          <p:nvPr/>
        </p:nvSpPr>
        <p:spPr>
          <a:xfrm>
            <a:off x="2736000" y="4860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FUNCTIONS｜多様な取引機能</a:t>
            </a:r>
            <a:endParaRPr lang="en-US" sz="600" dirty="0"/>
          </a:p>
        </p:txBody>
      </p:sp>
      <p:sp>
        <p:nvSpPr>
          <p:cNvPr id="66" name="Shape 62"/>
          <p:cNvSpPr/>
          <p:nvPr/>
        </p:nvSpPr>
        <p:spPr>
          <a:xfrm>
            <a:off x="2736000" y="5040000"/>
            <a:ext cx="1008000" cy="27000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7620">
            <a:solidFill>
              <a:srgbClr val="9FB1C3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736000" y="5110200"/>
            <a:ext cx="1008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物流</a:t>
            </a:r>
            <a:endParaRPr lang="en-US" sz="640" dirty="0"/>
          </a:p>
        </p:txBody>
      </p:sp>
      <p:sp>
        <p:nvSpPr>
          <p:cNvPr id="68" name="Shape 64"/>
          <p:cNvSpPr/>
          <p:nvPr/>
        </p:nvSpPr>
        <p:spPr>
          <a:xfrm>
            <a:off x="3834000" y="5040000"/>
            <a:ext cx="1008000" cy="27000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7620">
            <a:solidFill>
              <a:srgbClr val="9FB1C3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3834000" y="5110200"/>
            <a:ext cx="1008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在庫</a:t>
            </a:r>
            <a:endParaRPr lang="en-US" sz="640" dirty="0"/>
          </a:p>
        </p:txBody>
      </p:sp>
      <p:sp>
        <p:nvSpPr>
          <p:cNvPr id="70" name="Shape 66"/>
          <p:cNvSpPr/>
          <p:nvPr/>
        </p:nvSpPr>
        <p:spPr>
          <a:xfrm>
            <a:off x="4932000" y="5040000"/>
            <a:ext cx="1008000" cy="27000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7620">
            <a:solidFill>
              <a:srgbClr val="9FB1C3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932000" y="5110200"/>
            <a:ext cx="1008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ヘッジ</a:t>
            </a:r>
            <a:endParaRPr lang="en-US" sz="640" dirty="0"/>
          </a:p>
        </p:txBody>
      </p:sp>
      <p:sp>
        <p:nvSpPr>
          <p:cNvPr id="72" name="Shape 68"/>
          <p:cNvSpPr/>
          <p:nvPr/>
        </p:nvSpPr>
        <p:spPr>
          <a:xfrm>
            <a:off x="6030000" y="5040000"/>
            <a:ext cx="1008000" cy="27000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7620">
            <a:solidFill>
              <a:srgbClr val="9FB1C3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030000" y="5110200"/>
            <a:ext cx="1008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リスク管理</a:t>
            </a:r>
            <a:endParaRPr lang="en-US" sz="640" dirty="0"/>
          </a:p>
        </p:txBody>
      </p:sp>
      <p:sp>
        <p:nvSpPr>
          <p:cNvPr id="74" name="Shape 70"/>
          <p:cNvSpPr/>
          <p:nvPr/>
        </p:nvSpPr>
        <p:spPr>
          <a:xfrm>
            <a:off x="-7560000" y="5616000"/>
            <a:ext cx="15120000" cy="5076000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75" name="Shape 71"/>
          <p:cNvSpPr/>
          <p:nvPr/>
        </p:nvSpPr>
        <p:spPr>
          <a:xfrm>
            <a:off x="1116000" y="6732000"/>
            <a:ext cx="648000" cy="648000"/>
          </a:xfrm>
          <a:prstGeom prst="ellipse">
            <a:avLst/>
          </a:prstGeom>
          <a:ln w="27940">
            <a:solidFill>
              <a:srgbClr val="A8622F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260000" y="6876000"/>
            <a:ext cx="360000" cy="360000"/>
          </a:xfrm>
          <a:prstGeom prst="ellipse">
            <a:avLst/>
          </a:prstGeom>
          <a:ln w="27940">
            <a:solidFill>
              <a:srgbClr val="A8622F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382400" y="6998400"/>
            <a:ext cx="115200" cy="1152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78" name="Shape 74"/>
          <p:cNvSpPr/>
          <p:nvPr/>
        </p:nvSpPr>
        <p:spPr>
          <a:xfrm>
            <a:off x="3113369" y="6768000"/>
            <a:ext cx="558588" cy="575825"/>
          </a:xfrm>
          <a:custGeom>
            <a:avLst/>
            <a:gdLst/>
            <a:ahLst/>
            <a:cxnLst/>
            <a:rect l="l" t="t" r="r" b="b"/>
            <a:pathLst>
              <a:path w="558588" h="575825">
                <a:moveTo>
                  <a:pt x="0" y="189498"/>
                </a:moveTo>
                <a:lnTo>
                  <a:pt x="14022" y="157251"/>
                </a:lnTo>
                <a:lnTo>
                  <a:pt x="31869" y="126952"/>
                </a:lnTo>
                <a:lnTo>
                  <a:pt x="53275" y="99055"/>
                </a:lnTo>
                <a:lnTo>
                  <a:pt x="77922" y="73974"/>
                </a:lnTo>
                <a:lnTo>
                  <a:pt x="105441" y="52084"/>
                </a:lnTo>
                <a:lnTo>
                  <a:pt x="135424" y="33711"/>
                </a:lnTo>
                <a:lnTo>
                  <a:pt x="167422" y="19129"/>
                </a:lnTo>
                <a:lnTo>
                  <a:pt x="200958" y="8555"/>
                </a:lnTo>
                <a:lnTo>
                  <a:pt x="235533" y="2147"/>
                </a:lnTo>
                <a:lnTo>
                  <a:pt x="270631" y="0"/>
                </a:lnTo>
                <a:lnTo>
                  <a:pt x="305730" y="2147"/>
                </a:lnTo>
                <a:lnTo>
                  <a:pt x="340305" y="8555"/>
                </a:lnTo>
                <a:lnTo>
                  <a:pt x="373841" y="19129"/>
                </a:lnTo>
                <a:lnTo>
                  <a:pt x="405839" y="33711"/>
                </a:lnTo>
                <a:lnTo>
                  <a:pt x="435821" y="52084"/>
                </a:lnTo>
                <a:lnTo>
                  <a:pt x="463341" y="73974"/>
                </a:lnTo>
                <a:lnTo>
                  <a:pt x="487988" y="99055"/>
                </a:lnTo>
                <a:lnTo>
                  <a:pt x="509394" y="126952"/>
                </a:lnTo>
                <a:lnTo>
                  <a:pt x="527241" y="157251"/>
                </a:lnTo>
                <a:lnTo>
                  <a:pt x="541263" y="189498"/>
                </a:lnTo>
                <a:lnTo>
                  <a:pt x="551250" y="223214"/>
                </a:lnTo>
                <a:lnTo>
                  <a:pt x="557054" y="257896"/>
                </a:lnTo>
                <a:lnTo>
                  <a:pt x="558588" y="293026"/>
                </a:lnTo>
                <a:lnTo>
                  <a:pt x="555829" y="328082"/>
                </a:lnTo>
                <a:lnTo>
                  <a:pt x="548818" y="362540"/>
                </a:lnTo>
                <a:lnTo>
                  <a:pt x="537660" y="395887"/>
                </a:lnTo>
                <a:lnTo>
                  <a:pt x="522522" y="427625"/>
                </a:lnTo>
                <a:lnTo>
                  <a:pt x="503628" y="457282"/>
                </a:lnTo>
                <a:lnTo>
                  <a:pt x="481261" y="484416"/>
                </a:lnTo>
                <a:lnTo>
                  <a:pt x="455754" y="508621"/>
                </a:lnTo>
                <a:lnTo>
                  <a:pt x="427488" y="529537"/>
                </a:lnTo>
                <a:lnTo>
                  <a:pt x="396882" y="546853"/>
                </a:lnTo>
                <a:lnTo>
                  <a:pt x="364395" y="560309"/>
                </a:lnTo>
                <a:lnTo>
                  <a:pt x="330510" y="569707"/>
                </a:lnTo>
                <a:lnTo>
                  <a:pt x="295732" y="574904"/>
                </a:lnTo>
                <a:lnTo>
                  <a:pt x="260580" y="575825"/>
                </a:lnTo>
                <a:lnTo>
                  <a:pt x="225578" y="572454"/>
                </a:lnTo>
                <a:lnTo>
                  <a:pt x="191248" y="564843"/>
                </a:lnTo>
                <a:lnTo>
                  <a:pt x="158101" y="553105"/>
                </a:lnTo>
                <a:lnTo>
                  <a:pt x="126631" y="537415"/>
                </a:lnTo>
              </a:path>
            </a:pathLst>
          </a:custGeom>
          <a:ln w="25400">
            <a:solidFill>
              <a:srgbClr val="A8622F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3520800" y="6714000"/>
            <a:ext cx="205200" cy="190800"/>
          </a:xfrm>
          <a:custGeom>
            <a:avLst/>
            <a:gdLst/>
            <a:ahLst/>
            <a:cxnLst/>
            <a:rect l="l" t="t" r="r" b="b"/>
            <a:pathLst>
              <a:path w="205200" h="190800">
                <a:moveTo>
                  <a:pt x="97200" y="0"/>
                </a:moveTo>
                <a:lnTo>
                  <a:pt x="205200" y="169200"/>
                </a:lnTo>
                <a:lnTo>
                  <a:pt x="0" y="190800"/>
                </a:lnTo>
                <a:close/>
              </a:path>
            </a:pathLst>
          </a:custGeom>
          <a:solidFill>
            <a:srgbClr val="A8622F"/>
          </a:solidFill>
          <a:ln/>
        </p:spPr>
      </p:sp>
      <p:sp>
        <p:nvSpPr>
          <p:cNvPr id="80" name="Shape 76"/>
          <p:cNvSpPr/>
          <p:nvPr/>
        </p:nvSpPr>
        <p:spPr>
          <a:xfrm>
            <a:off x="1944000" y="7056000"/>
            <a:ext cx="936000" cy="36"/>
          </a:xfrm>
          <a:prstGeom prst="line">
            <a:avLst/>
          </a:prstGeom>
          <a:noFill/>
          <a:ln w="11430">
            <a:solidFill>
              <a:srgbClr val="3D4249"/>
            </a:solidFill>
            <a:prstDash val="solid"/>
            <a:tailEnd type="triangle"/>
          </a:ln>
        </p:spPr>
      </p:sp>
      <p:sp>
        <p:nvSpPr>
          <p:cNvPr id="81" name="Shape 77"/>
          <p:cNvSpPr/>
          <p:nvPr/>
        </p:nvSpPr>
        <p:spPr>
          <a:xfrm>
            <a:off x="-504000" y="7056000"/>
            <a:ext cx="1440000" cy="36"/>
          </a:xfrm>
          <a:prstGeom prst="line">
            <a:avLst/>
          </a:prstGeom>
          <a:noFill/>
          <a:ln w="11430">
            <a:solidFill>
              <a:srgbClr val="3D4249"/>
            </a:solidFill>
            <a:prstDash val="solid"/>
            <a:tailEnd type="triangle"/>
          </a:ln>
        </p:spPr>
      </p:sp>
      <p:sp>
        <p:nvSpPr>
          <p:cNvPr id="82" name="Text 78"/>
          <p:cNvSpPr/>
          <p:nvPr/>
        </p:nvSpPr>
        <p:spPr>
          <a:xfrm>
            <a:off x="648000" y="748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USE</a:t>
            </a:r>
            <a:endParaRPr lang="en-US" sz="540" dirty="0"/>
          </a:p>
        </p:txBody>
      </p:sp>
      <p:sp>
        <p:nvSpPr>
          <p:cNvPr id="83" name="Text 79"/>
          <p:cNvSpPr/>
          <p:nvPr/>
        </p:nvSpPr>
        <p:spPr>
          <a:xfrm>
            <a:off x="648000" y="7650000"/>
            <a:ext cx="158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endParaRPr lang="en-US" sz="740" dirty="0"/>
          </a:p>
        </p:txBody>
      </p:sp>
      <p:sp>
        <p:nvSpPr>
          <p:cNvPr id="84" name="Text 80"/>
          <p:cNvSpPr/>
          <p:nvPr/>
        </p:nvSpPr>
        <p:spPr>
          <a:xfrm>
            <a:off x="2592000" y="748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RECYCLING</a:t>
            </a:r>
            <a:endParaRPr lang="en-US" sz="540" dirty="0"/>
          </a:p>
        </p:txBody>
      </p:sp>
      <p:sp>
        <p:nvSpPr>
          <p:cNvPr id="85" name="Text 81"/>
          <p:cNvSpPr/>
          <p:nvPr/>
        </p:nvSpPr>
        <p:spPr>
          <a:xfrm>
            <a:off x="2592000" y="7650000"/>
            <a:ext cx="158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回収・リサイクル</a:t>
            </a:r>
            <a:endParaRPr lang="en-US" sz="740" dirty="0"/>
          </a:p>
        </p:txBody>
      </p:sp>
      <p:sp>
        <p:nvSpPr>
          <p:cNvPr id="86" name="Shape 82"/>
          <p:cNvSpPr/>
          <p:nvPr/>
        </p:nvSpPr>
        <p:spPr>
          <a:xfrm>
            <a:off x="-432000" y="7848000"/>
            <a:ext cx="3816000" cy="1080000"/>
          </a:xfrm>
          <a:custGeom>
            <a:avLst/>
            <a:gdLst/>
            <a:ahLst/>
            <a:cxnLst/>
            <a:rect l="l" t="t" r="r" b="b"/>
            <a:pathLst>
              <a:path w="3816000" h="1080000">
                <a:moveTo>
                  <a:pt x="3816000" y="0"/>
                </a:moveTo>
                <a:cubicBezTo>
                  <a:pt x="3816000" y="936000"/>
                  <a:pt x="504000" y="1080000"/>
                  <a:pt x="0" y="144000"/>
                </a:cubicBezTo>
              </a:path>
            </a:pathLst>
          </a:custGeom>
          <a:ln w="11430">
            <a:solidFill>
              <a:srgbClr val="A8622F"/>
            </a:solidFill>
            <a:prstDash val="dash"/>
            <a:tailEnd type="triangle"/>
          </a:ln>
        </p:spPr>
      </p:sp>
      <p:sp>
        <p:nvSpPr>
          <p:cNvPr id="87" name="Text 83"/>
          <p:cNvSpPr/>
          <p:nvPr/>
        </p:nvSpPr>
        <p:spPr>
          <a:xfrm>
            <a:off x="1656000" y="8820000"/>
            <a:ext cx="14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再び供給へ</a:t>
            </a:r>
            <a:endParaRPr lang="en-US" sz="560" dirty="0"/>
          </a:p>
        </p:txBody>
      </p:sp>
      <p:sp>
        <p:nvSpPr>
          <p:cNvPr id="88" name="Shape 84"/>
          <p:cNvSpPr/>
          <p:nvPr/>
        </p:nvSpPr>
        <p:spPr>
          <a:xfrm>
            <a:off x="3384000" y="7848000"/>
            <a:ext cx="36" cy="1062000"/>
          </a:xfrm>
          <a:prstGeom prst="line">
            <a:avLst/>
          </a:prstGeom>
          <a:noFill/>
          <a:ln w="10160">
            <a:solidFill>
              <a:srgbClr val="A8622F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3319200" y="7783200"/>
            <a:ext cx="129600" cy="1296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520000" y="8928000"/>
            <a:ext cx="1728000" cy="79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A8622F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2520000" y="8928000"/>
            <a:ext cx="1728000" cy="43200"/>
          </a:xfrm>
          <a:prstGeom prst="rect">
            <a:avLst/>
          </a:prstGeom>
          <a:solidFill>
            <a:srgbClr val="A8622F"/>
          </a:solidFill>
          <a:ln/>
        </p:spPr>
      </p:sp>
      <p:sp>
        <p:nvSpPr>
          <p:cNvPr id="92" name="Text 88"/>
          <p:cNvSpPr/>
          <p:nvPr/>
        </p:nvSpPr>
        <p:spPr>
          <a:xfrm>
            <a:off x="2628000" y="90360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DESCycle</a:t>
            </a:r>
            <a:endParaRPr lang="en-US" sz="900" dirty="0"/>
          </a:p>
        </p:txBody>
      </p:sp>
      <p:sp>
        <p:nvSpPr>
          <p:cNvPr id="93" name="Text 89"/>
          <p:cNvSpPr/>
          <p:nvPr/>
        </p:nvSpPr>
        <p:spPr>
          <a:xfrm>
            <a:off x="2628000" y="9234000"/>
            <a:ext cx="15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資源の回収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2628000" y="9396000"/>
            <a:ext cx="154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電子スクラップから銅・貴金属を回収する</a:t>
            </a:r>
            <a:endParaRPr lang="en-US" sz="540" dirty="0"/>
          </a:p>
        </p:txBody>
      </p:sp>
      <p:sp>
        <p:nvSpPr>
          <p:cNvPr id="95" name="Shape 91"/>
          <p:cNvSpPr/>
          <p:nvPr/>
        </p:nvSpPr>
        <p:spPr>
          <a:xfrm>
            <a:off x="4320000" y="5904000"/>
            <a:ext cx="2736000" cy="45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2"/>
          <p:cNvSpPr/>
          <p:nvPr/>
        </p:nvSpPr>
        <p:spPr>
          <a:xfrm>
            <a:off x="4500000" y="6084000"/>
            <a:ext cx="237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CASE｜取り組み事例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500000" y="6264000"/>
            <a:ext cx="237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Jetti × 三菱商事</a:t>
            </a:r>
            <a:endParaRPr lang="en-US" sz="1100" dirty="0"/>
          </a:p>
        </p:txBody>
      </p:sp>
      <p:sp>
        <p:nvSpPr>
          <p:cNvPr id="98" name="Text 94"/>
          <p:cNvSpPr/>
          <p:nvPr/>
        </p:nvSpPr>
        <p:spPr>
          <a:xfrm>
            <a:off x="4500000" y="6696000"/>
            <a:ext cx="3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622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99" name="Text 95"/>
          <p:cNvSpPr/>
          <p:nvPr/>
        </p:nvSpPr>
        <p:spPr>
          <a:xfrm>
            <a:off x="4932000" y="6696000"/>
            <a:ext cx="194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BOTTLENECK</a:t>
            </a:r>
            <a:endParaRPr lang="en-US" sz="560" dirty="0"/>
          </a:p>
        </p:txBody>
      </p:sp>
      <p:sp>
        <p:nvSpPr>
          <p:cNvPr id="100" name="Text 96"/>
          <p:cNvSpPr/>
          <p:nvPr/>
        </p:nvSpPr>
        <p:spPr>
          <a:xfrm>
            <a:off x="4932000" y="6840000"/>
            <a:ext cx="194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700" dirty="0"/>
          </a:p>
        </p:txBody>
      </p:sp>
      <p:sp>
        <p:nvSpPr>
          <p:cNvPr id="101" name="Text 97"/>
          <p:cNvSpPr/>
          <p:nvPr/>
        </p:nvSpPr>
        <p:spPr>
          <a:xfrm>
            <a:off x="4932000" y="7038000"/>
            <a:ext cx="198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9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低品位・難処理の硫化銅鉱は、従来の方法では銅を回収しにくい。</a:t>
            </a:r>
            <a:endParaRPr lang="en-US" sz="590" dirty="0"/>
          </a:p>
        </p:txBody>
      </p:sp>
      <p:sp>
        <p:nvSpPr>
          <p:cNvPr id="102" name="Shape 98"/>
          <p:cNvSpPr/>
          <p:nvPr/>
        </p:nvSpPr>
        <p:spPr>
          <a:xfrm>
            <a:off x="4680000" y="6984000"/>
            <a:ext cx="36" cy="612000"/>
          </a:xfrm>
          <a:prstGeom prst="line">
            <a:avLst/>
          </a:prstGeom>
          <a:noFill/>
          <a:ln w="15240">
            <a:solidFill>
              <a:srgbClr val="E9D3C2"/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4500000" y="7704000"/>
            <a:ext cx="3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622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4" name="Text 100"/>
          <p:cNvSpPr/>
          <p:nvPr/>
        </p:nvSpPr>
        <p:spPr>
          <a:xfrm>
            <a:off x="4932000" y="7704000"/>
            <a:ext cx="194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560" dirty="0"/>
          </a:p>
        </p:txBody>
      </p:sp>
      <p:sp>
        <p:nvSpPr>
          <p:cNvPr id="105" name="Text 101"/>
          <p:cNvSpPr/>
          <p:nvPr/>
        </p:nvSpPr>
        <p:spPr>
          <a:xfrm>
            <a:off x="4932000" y="7848000"/>
            <a:ext cx="194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技術が変える工程</a:t>
            </a:r>
            <a:endParaRPr lang="en-US" sz="700" dirty="0"/>
          </a:p>
        </p:txBody>
      </p:sp>
      <p:sp>
        <p:nvSpPr>
          <p:cNvPr id="106" name="Text 102"/>
          <p:cNvSpPr/>
          <p:nvPr/>
        </p:nvSpPr>
        <p:spPr>
          <a:xfrm>
            <a:off x="4932000" y="8046000"/>
            <a:ext cx="198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9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触媒を用いた浸出（リーチング）で、硫化銅鉱から銅を回収する。</a:t>
            </a:r>
            <a:endParaRPr lang="en-US" sz="590" dirty="0"/>
          </a:p>
        </p:txBody>
      </p:sp>
      <p:sp>
        <p:nvSpPr>
          <p:cNvPr id="107" name="Shape 103"/>
          <p:cNvSpPr/>
          <p:nvPr/>
        </p:nvSpPr>
        <p:spPr>
          <a:xfrm>
            <a:off x="4680000" y="7992000"/>
            <a:ext cx="36" cy="612000"/>
          </a:xfrm>
          <a:prstGeom prst="line">
            <a:avLst/>
          </a:prstGeom>
          <a:noFill/>
          <a:ln w="15240">
            <a:solidFill>
              <a:srgbClr val="E9D3C2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4500000" y="8712000"/>
            <a:ext cx="3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622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09" name="Text 105"/>
          <p:cNvSpPr/>
          <p:nvPr/>
        </p:nvSpPr>
        <p:spPr>
          <a:xfrm>
            <a:off x="4932000" y="8712000"/>
            <a:ext cx="194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b="1" spc="10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560" dirty="0"/>
          </a:p>
        </p:txBody>
      </p:sp>
      <p:sp>
        <p:nvSpPr>
          <p:cNvPr id="110" name="Text 106"/>
          <p:cNvSpPr/>
          <p:nvPr/>
        </p:nvSpPr>
        <p:spPr>
          <a:xfrm>
            <a:off x="4932000" y="8856000"/>
            <a:ext cx="194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期待する価値</a:t>
            </a:r>
            <a:endParaRPr lang="en-US" sz="700" dirty="0"/>
          </a:p>
        </p:txBody>
      </p:sp>
      <p:sp>
        <p:nvSpPr>
          <p:cNvPr id="111" name="Text 107"/>
          <p:cNvSpPr/>
          <p:nvPr/>
        </p:nvSpPr>
        <p:spPr>
          <a:xfrm>
            <a:off x="4932000" y="9054000"/>
            <a:ext cx="198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9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これまで活用しにくかった鉱石の活用と、環境価値の高い銅地金の供給。</a:t>
            </a:r>
            <a:endParaRPr lang="en-US" sz="590" dirty="0"/>
          </a:p>
        </p:txBody>
      </p:sp>
      <p:sp>
        <p:nvSpPr>
          <p:cNvPr id="112" name="Shape 108"/>
          <p:cNvSpPr/>
          <p:nvPr/>
        </p:nvSpPr>
        <p:spPr>
          <a:xfrm>
            <a:off x="4500000" y="9684000"/>
            <a:ext cx="2376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113" name="Text 109"/>
          <p:cNvSpPr/>
          <p:nvPr/>
        </p:nvSpPr>
        <p:spPr>
          <a:xfrm>
            <a:off x="4500000" y="9756000"/>
            <a:ext cx="2376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6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三菱商事の役割：出資による事業拡大の支援、同社技術で生産された銅地金の販売、鉱山への技術導入の共同検討。</a:t>
            </a:r>
            <a:endParaRPr lang="en-US" sz="560" dirty="0"/>
          </a:p>
        </p:txBody>
      </p:sp>
      <p:sp>
        <p:nvSpPr>
          <p:cNvPr id="114" name="Text 110"/>
          <p:cNvSpPr/>
          <p:nvPr/>
        </p:nvSpPr>
        <p:spPr>
          <a:xfrm>
            <a:off x="633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-website/mc_metals_12p/src/assets/_crop/r-084_210.0x80.0_0.5_0.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00" cy="288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000" y="266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パートナーシップ（写真は要差し替え）</a:t>
            </a:r>
            <a:endParaRPr lang="en-US" sz="580" dirty="0"/>
          </a:p>
        </p:txBody>
      </p:sp>
      <p:sp>
        <p:nvSpPr>
          <p:cNvPr id="4" name="Text 1"/>
          <p:cNvSpPr/>
          <p:nvPr/>
        </p:nvSpPr>
        <p:spPr>
          <a:xfrm>
            <a:off x="4320000" y="2808000"/>
            <a:ext cx="2268000" cy="20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0" spc="-600" kern="0" dirty="0">
                <a:ln w="7620">
                  <a:solidFill>
                    <a:srgbClr val="D9DDE1"/>
                  </a:solidFill>
                </a:ln>
                <a:solidFill>
                  <a:srgbClr val="FFFFF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504000" y="3168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04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選ばれ続ける理由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4000" y="3384000"/>
            <a:ext cx="6624000" cy="55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Partner of Choice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04000" y="3960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504000" y="4068000"/>
            <a:ext cx="6624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資源業界に不可欠な存在として、選ばれ続ける。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4000" y="4356000"/>
            <a:ext cx="66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資源メジャーをはじめとするパートナーと長期にわたり事業を共に育て、単なる共同出資者にとどまらない貢献を重ねてきました。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504000" y="4824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US → VALUE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4つの強みが、パートナーの価値に変わる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4000" y="5112000"/>
            <a:ext cx="3744000" cy="108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12" name="Text 9"/>
          <p:cNvSpPr/>
          <p:nvPr/>
        </p:nvSpPr>
        <p:spPr>
          <a:xfrm>
            <a:off x="504000" y="5184000"/>
            <a:ext cx="432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72000" y="5202000"/>
            <a:ext cx="33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中長期の視座と文化的親和性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972000" y="5418000"/>
            <a:ext cx="33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資源メジャーと同じ時間軸で事業に向き合う</a:t>
            </a:r>
            <a:endParaRPr lang="en-US" sz="610" dirty="0"/>
          </a:p>
        </p:txBody>
      </p:sp>
      <p:sp>
        <p:nvSpPr>
          <p:cNvPr id="15" name="Shape 12"/>
          <p:cNvSpPr/>
          <p:nvPr/>
        </p:nvSpPr>
        <p:spPr>
          <a:xfrm>
            <a:off x="4320000" y="5400000"/>
            <a:ext cx="396000" cy="36"/>
          </a:xfrm>
          <a:prstGeom prst="line">
            <a:avLst/>
          </a:prstGeom>
          <a:noFill/>
          <a:ln w="10160">
            <a:solidFill>
              <a:srgbClr val="9C7442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752000" y="5202000"/>
            <a:ext cx="2376000" cy="396000"/>
          </a:xfrm>
          <a:prstGeom prst="roundRect">
            <a:avLst>
              <a:gd name="adj" fmla="val 13636"/>
            </a:avLst>
          </a:prstGeom>
          <a:solidFill>
            <a:srgbClr val="F5F4F1"/>
          </a:solidFill>
          <a:ln w="6350">
            <a:solidFill>
              <a:srgbClr val="C9AD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2000" y="5306400"/>
            <a:ext cx="237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長期にわたる、安定したパートナーシップ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04000" y="5868000"/>
            <a:ext cx="3744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19" name="Text 16"/>
          <p:cNvSpPr/>
          <p:nvPr/>
        </p:nvSpPr>
        <p:spPr>
          <a:xfrm>
            <a:off x="504000" y="5940000"/>
            <a:ext cx="432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72000" y="5958000"/>
            <a:ext cx="33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JV経営・現場への貢献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972000" y="6174000"/>
            <a:ext cx="33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人材派遣・ガバナンス参画で経営と操業を支える</a:t>
            </a:r>
            <a:endParaRPr lang="en-US" sz="610" dirty="0"/>
          </a:p>
        </p:txBody>
      </p:sp>
      <p:sp>
        <p:nvSpPr>
          <p:cNvPr id="22" name="Shape 19"/>
          <p:cNvSpPr/>
          <p:nvPr/>
        </p:nvSpPr>
        <p:spPr>
          <a:xfrm>
            <a:off x="4320000" y="6156000"/>
            <a:ext cx="396000" cy="36"/>
          </a:xfrm>
          <a:prstGeom prst="line">
            <a:avLst/>
          </a:prstGeom>
          <a:noFill/>
          <a:ln w="10160">
            <a:solidFill>
              <a:srgbClr val="9C744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752000" y="5958000"/>
            <a:ext cx="2376000" cy="396000"/>
          </a:xfrm>
          <a:prstGeom prst="roundRect">
            <a:avLst>
              <a:gd name="adj" fmla="val 13636"/>
            </a:avLst>
          </a:prstGeom>
          <a:solidFill>
            <a:srgbClr val="F5F4F1"/>
          </a:solidFill>
          <a:ln w="6350">
            <a:solidFill>
              <a:srgbClr val="C9AD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2000" y="6062400"/>
            <a:ext cx="237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事業価値の最大化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04000" y="6624000"/>
            <a:ext cx="3744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26" name="Text 23"/>
          <p:cNvSpPr/>
          <p:nvPr/>
        </p:nvSpPr>
        <p:spPr>
          <a:xfrm>
            <a:off x="504000" y="6696000"/>
            <a:ext cx="432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72000" y="6714000"/>
            <a:ext cx="33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健全な財務基盤とリスクシェア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972000" y="6930000"/>
            <a:ext cx="33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事業ポートフォリオを生かした資金力</a:t>
            </a:r>
            <a:endParaRPr lang="en-US" sz="610" dirty="0"/>
          </a:p>
        </p:txBody>
      </p:sp>
      <p:sp>
        <p:nvSpPr>
          <p:cNvPr id="29" name="Shape 26"/>
          <p:cNvSpPr/>
          <p:nvPr/>
        </p:nvSpPr>
        <p:spPr>
          <a:xfrm>
            <a:off x="4320000" y="6912000"/>
            <a:ext cx="396000" cy="36"/>
          </a:xfrm>
          <a:prstGeom prst="line">
            <a:avLst/>
          </a:prstGeom>
          <a:noFill/>
          <a:ln w="10160">
            <a:solidFill>
              <a:srgbClr val="9C7442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752000" y="6714000"/>
            <a:ext cx="2376000" cy="396000"/>
          </a:xfrm>
          <a:prstGeom prst="roundRect">
            <a:avLst>
              <a:gd name="adj" fmla="val 13636"/>
            </a:avLst>
          </a:prstGeom>
          <a:solidFill>
            <a:srgbClr val="F5F4F1"/>
          </a:solidFill>
          <a:ln w="6350">
            <a:solidFill>
              <a:srgbClr val="C9AD8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2000" y="6818400"/>
            <a:ext cx="237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大型案件のリスク分担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04000" y="7380000"/>
            <a:ext cx="3744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33" name="Text 30"/>
          <p:cNvSpPr/>
          <p:nvPr/>
        </p:nvSpPr>
        <p:spPr>
          <a:xfrm>
            <a:off x="504000" y="7452000"/>
            <a:ext cx="432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72000" y="7470000"/>
            <a:ext cx="33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マクロ環境とバリューチェーンの知見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972000" y="7686000"/>
            <a:ext cx="331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幅広い産業接点から得る市場の理解</a:t>
            </a:r>
            <a:endParaRPr lang="en-US" sz="610" dirty="0"/>
          </a:p>
        </p:txBody>
      </p:sp>
      <p:sp>
        <p:nvSpPr>
          <p:cNvPr id="36" name="Shape 33"/>
          <p:cNvSpPr/>
          <p:nvPr/>
        </p:nvSpPr>
        <p:spPr>
          <a:xfrm>
            <a:off x="4320000" y="7668000"/>
            <a:ext cx="396000" cy="36"/>
          </a:xfrm>
          <a:prstGeom prst="line">
            <a:avLst/>
          </a:prstGeom>
          <a:noFill/>
          <a:ln w="10160">
            <a:solidFill>
              <a:srgbClr val="9C7442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4752000" y="7470000"/>
            <a:ext cx="2376000" cy="396000"/>
          </a:xfrm>
          <a:prstGeom prst="roundRect">
            <a:avLst>
              <a:gd name="adj" fmla="val 13636"/>
            </a:avLst>
          </a:prstGeom>
          <a:solidFill>
            <a:srgbClr val="F5F4F1"/>
          </a:solidFill>
          <a:ln w="6350">
            <a:solidFill>
              <a:srgbClr val="C9AD8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2000" y="7574400"/>
            <a:ext cx="237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市場と産業の知見の提供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752000" y="4950000"/>
            <a:ext cx="237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パートナーにもたらす価値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504000" y="8352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OF COLLABORATION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協業が、次の協業を生む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04000" y="8640000"/>
            <a:ext cx="2016000" cy="432000"/>
          </a:xfrm>
          <a:prstGeom prst="roundRect">
            <a:avLst>
              <a:gd name="adj" fmla="val 50000"/>
            </a:avLst>
          </a:prstGeom>
          <a:solidFill>
            <a:srgbClr val="121519"/>
          </a:solidFill>
          <a:ln w="8890">
            <a:solidFill>
              <a:srgbClr val="12151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4000" y="8762400"/>
            <a:ext cx="201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会社対会社の関係へ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2538000" y="8856000"/>
            <a:ext cx="252000" cy="36"/>
          </a:xfrm>
          <a:prstGeom prst="line">
            <a:avLst/>
          </a:prstGeom>
          <a:noFill/>
          <a:ln w="10160">
            <a:solidFill>
              <a:srgbClr val="121519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2808000" y="8640000"/>
            <a:ext cx="2016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12151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808000" y="8762400"/>
            <a:ext cx="201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新たな協業が生まれる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4842000" y="8856000"/>
            <a:ext cx="252000" cy="36"/>
          </a:xfrm>
          <a:prstGeom prst="line">
            <a:avLst/>
          </a:prstGeom>
          <a:noFill/>
          <a:ln w="10160">
            <a:solidFill>
              <a:srgbClr val="121519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5112000" y="8640000"/>
            <a:ext cx="2016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12151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12000" y="8762400"/>
            <a:ext cx="201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強み・知見・信頼が蓄積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1224000" y="8856000"/>
            <a:ext cx="6192000" cy="576000"/>
          </a:xfrm>
          <a:custGeom>
            <a:avLst/>
            <a:gdLst/>
            <a:ahLst/>
            <a:cxnLst/>
            <a:rect l="l" t="t" r="r" b="b"/>
            <a:pathLst>
              <a:path w="6192000" h="576000">
                <a:moveTo>
                  <a:pt x="5904000" y="0"/>
                </a:moveTo>
                <a:cubicBezTo>
                  <a:pt x="6192000" y="0"/>
                  <a:pt x="6192000" y="576000"/>
                  <a:pt x="4680000" y="576000"/>
                </a:cubicBezTo>
                <a:lnTo>
                  <a:pt x="504000" y="576000"/>
                </a:lnTo>
                <a:cubicBezTo>
                  <a:pt x="0" y="576000"/>
                  <a:pt x="0" y="360000"/>
                  <a:pt x="288000" y="234000"/>
                </a:cubicBezTo>
              </a:path>
            </a:pathLst>
          </a:custGeom>
          <a:ln w="11430">
            <a:solidFill>
              <a:srgbClr val="9C7442"/>
            </a:solidFill>
            <a:prstDash val="dash"/>
            <a:tailEnd type="triangle"/>
          </a:ln>
        </p:spPr>
      </p:sp>
      <p:sp>
        <p:nvSpPr>
          <p:cNvPr id="50" name="Text 47"/>
          <p:cNvSpPr/>
          <p:nvPr/>
        </p:nvSpPr>
        <p:spPr>
          <a:xfrm>
            <a:off x="504000" y="9648000"/>
            <a:ext cx="66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主なJVパートナー　BHP　／　Rio Tinto　／　Anglo American　ほか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-website/mc_metals_12p/src/assets/_crop/r-075_210.0x80.0_0.5_0.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00" cy="288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000" y="266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社会を支える資源</a:t>
            </a:r>
            <a:endParaRPr lang="en-US" sz="580" dirty="0"/>
          </a:p>
        </p:txBody>
      </p:sp>
      <p:sp>
        <p:nvSpPr>
          <p:cNvPr id="4" name="Text 1"/>
          <p:cNvSpPr/>
          <p:nvPr/>
        </p:nvSpPr>
        <p:spPr>
          <a:xfrm>
            <a:off x="4320000" y="2808000"/>
            <a:ext cx="2268000" cy="20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0" spc="-600" kern="0" dirty="0">
                <a:ln w="7620">
                  <a:solidFill>
                    <a:srgbClr val="D9DDE1"/>
                  </a:solidFill>
                </a:ln>
                <a:solidFill>
                  <a:srgbClr val="FFFFF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432000" y="3168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05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何を実現するか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32000" y="3384000"/>
            <a:ext cx="6624000" cy="71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Supporting Society with</a:t>
            </a:r>
            <a:endParaRPr lang="en-US" sz="2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22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Resources It Needs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32000" y="403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432000" y="4140000"/>
            <a:ext cx="6624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取り組みを通じて資源の安定供給を支え、パートナーと共に未来をつくる。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32000" y="4536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630" dirty="0"/>
          </a:p>
        </p:txBody>
      </p:sp>
      <p:sp>
        <p:nvSpPr>
          <p:cNvPr id="10" name="Text 7"/>
          <p:cNvSpPr/>
          <p:nvPr/>
        </p:nvSpPr>
        <p:spPr>
          <a:xfrm>
            <a:off x="1872000" y="4536000"/>
            <a:ext cx="36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社会の課題</a:t>
            </a:r>
            <a:endParaRPr lang="en-US" sz="630" dirty="0"/>
          </a:p>
        </p:txBody>
      </p:sp>
      <p:sp>
        <p:nvSpPr>
          <p:cNvPr id="11" name="Shape 8"/>
          <p:cNvSpPr/>
          <p:nvPr/>
        </p:nvSpPr>
        <p:spPr>
          <a:xfrm>
            <a:off x="432000" y="4716000"/>
            <a:ext cx="2088000" cy="720000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12" name="Shape 9"/>
          <p:cNvSpPr/>
          <p:nvPr/>
        </p:nvSpPr>
        <p:spPr>
          <a:xfrm>
            <a:off x="432000" y="4716000"/>
            <a:ext cx="2088000" cy="216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13" name="Text 10"/>
          <p:cNvSpPr/>
          <p:nvPr/>
        </p:nvSpPr>
        <p:spPr>
          <a:xfrm>
            <a:off x="540000" y="4824000"/>
            <a:ext cx="187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需要の拡大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540000" y="5040000"/>
            <a:ext cx="18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電化・AI・データセンターで、基幹素材の需要が高まる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2664000" y="4716000"/>
            <a:ext cx="2088000" cy="720000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16" name="Shape 13"/>
          <p:cNvSpPr/>
          <p:nvPr/>
        </p:nvSpPr>
        <p:spPr>
          <a:xfrm>
            <a:off x="2664000" y="4716000"/>
            <a:ext cx="2088000" cy="216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17" name="Text 14"/>
          <p:cNvSpPr/>
          <p:nvPr/>
        </p:nvSpPr>
        <p:spPr>
          <a:xfrm>
            <a:off x="2772000" y="4824000"/>
            <a:ext cx="187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供給の制約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772000" y="5040000"/>
            <a:ext cx="18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良質な資源の開発が、より難しく時間を要するように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4896000" y="4716000"/>
            <a:ext cx="2088000" cy="720000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896000" y="4716000"/>
            <a:ext cx="2088000" cy="216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21" name="Text 18"/>
          <p:cNvSpPr/>
          <p:nvPr/>
        </p:nvSpPr>
        <p:spPr>
          <a:xfrm>
            <a:off x="5004000" y="4824000"/>
            <a:ext cx="187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地政学リスク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004000" y="5040000"/>
            <a:ext cx="18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資源の囲い込みが、供給網に影響を与える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528000" y="5544000"/>
            <a:ext cx="432000" cy="144000"/>
          </a:xfrm>
          <a:custGeom>
            <a:avLst/>
            <a:gdLst/>
            <a:ahLst/>
            <a:cxnLst/>
            <a:rect l="l" t="t" r="r" b="b"/>
            <a:pathLst>
              <a:path w="432000" h="144000">
                <a:moveTo>
                  <a:pt x="0" y="0"/>
                </a:moveTo>
                <a:lnTo>
                  <a:pt x="216000" y="144000"/>
                </a:lnTo>
                <a:lnTo>
                  <a:pt x="432000" y="0"/>
                </a:lnTo>
              </a:path>
            </a:pathLst>
          </a:custGeom>
          <a:ln w="12700">
            <a:solidFill>
              <a:srgbClr val="C8102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2000" y="5796000"/>
            <a:ext cx="6624000" cy="3240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25" name="Text 22"/>
          <p:cNvSpPr/>
          <p:nvPr/>
        </p:nvSpPr>
        <p:spPr>
          <a:xfrm>
            <a:off x="432000" y="5875200"/>
            <a:ext cx="662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クリティカルミネラルの供給網を確保する重要性が、かつてなく高まっている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3528000" y="6228000"/>
            <a:ext cx="432000" cy="144000"/>
          </a:xfrm>
          <a:custGeom>
            <a:avLst/>
            <a:gdLst/>
            <a:ahLst/>
            <a:cxnLst/>
            <a:rect l="l" t="t" r="r" b="b"/>
            <a:pathLst>
              <a:path w="432000" h="144000">
                <a:moveTo>
                  <a:pt x="0" y="0"/>
                </a:moveTo>
                <a:lnTo>
                  <a:pt x="216000" y="144000"/>
                </a:lnTo>
                <a:lnTo>
                  <a:pt x="432000" y="0"/>
                </a:lnTo>
              </a:path>
            </a:pathLst>
          </a:custGeom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2000" y="6516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ACTIONS</a:t>
            </a:r>
            <a:endParaRPr lang="en-US" sz="630" dirty="0"/>
          </a:p>
        </p:txBody>
      </p:sp>
      <p:sp>
        <p:nvSpPr>
          <p:cNvPr id="28" name="Text 25"/>
          <p:cNvSpPr/>
          <p:nvPr/>
        </p:nvSpPr>
        <p:spPr>
          <a:xfrm>
            <a:off x="1872000" y="6516000"/>
            <a:ext cx="36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私たちのアクション</a:t>
            </a:r>
            <a:endParaRPr lang="en-US" sz="630" dirty="0"/>
          </a:p>
        </p:txBody>
      </p:sp>
      <p:sp>
        <p:nvSpPr>
          <p:cNvPr id="29" name="Shape 26"/>
          <p:cNvSpPr/>
          <p:nvPr/>
        </p:nvSpPr>
        <p:spPr>
          <a:xfrm>
            <a:off x="432000" y="6696000"/>
            <a:ext cx="295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9C744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2000" y="6696000"/>
            <a:ext cx="2952000" cy="50400"/>
          </a:xfrm>
          <a:prstGeom prst="rect">
            <a:avLst/>
          </a:prstGeom>
          <a:solidFill>
            <a:srgbClr val="9C7442"/>
          </a:solidFill>
          <a:ln/>
        </p:spPr>
      </p:sp>
      <p:sp>
        <p:nvSpPr>
          <p:cNvPr id="31" name="Text 28"/>
          <p:cNvSpPr/>
          <p:nvPr/>
        </p:nvSpPr>
        <p:spPr>
          <a:xfrm>
            <a:off x="576000" y="6840000"/>
            <a:ext cx="266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資源投資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76000" y="7020000"/>
            <a:ext cx="266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安定的な資源確保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576000" y="7254000"/>
            <a:ext cx="266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9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大規模資産の持分を確保し、成長領域に早くから参画する</a:t>
            </a:r>
            <a:endParaRPr lang="en-US" sz="590" dirty="0"/>
          </a:p>
        </p:txBody>
      </p:sp>
      <p:sp>
        <p:nvSpPr>
          <p:cNvPr id="34" name="Shape 31"/>
          <p:cNvSpPr/>
          <p:nvPr/>
        </p:nvSpPr>
        <p:spPr>
          <a:xfrm>
            <a:off x="4104000" y="6696000"/>
            <a:ext cx="2952000" cy="8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1F3A5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04000" y="6696000"/>
            <a:ext cx="2952000" cy="50400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36" name="Text 33"/>
          <p:cNvSpPr/>
          <p:nvPr/>
        </p:nvSpPr>
        <p:spPr>
          <a:xfrm>
            <a:off x="4248000" y="6840000"/>
            <a:ext cx="266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4248000" y="7020000"/>
            <a:ext cx="266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バリューチェーン全体の効率化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4248000" y="7254000"/>
            <a:ext cx="266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9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権益の引き取りと外部調達で、必要な場所へ確実に届ける</a:t>
            </a:r>
            <a:endParaRPr lang="en-US" sz="590" dirty="0"/>
          </a:p>
        </p:txBody>
      </p:sp>
      <p:sp>
        <p:nvSpPr>
          <p:cNvPr id="39" name="Shape 36"/>
          <p:cNvSpPr/>
          <p:nvPr/>
        </p:nvSpPr>
        <p:spPr>
          <a:xfrm>
            <a:off x="3456000" y="7020000"/>
            <a:ext cx="576000" cy="36"/>
          </a:xfrm>
          <a:prstGeom prst="line">
            <a:avLst/>
          </a:prstGeom>
          <a:noFill/>
          <a:ln w="10160">
            <a:solidFill>
              <a:srgbClr val="3D4249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3456000" y="7236000"/>
            <a:ext cx="576000" cy="36"/>
          </a:xfrm>
          <a:prstGeom prst="line">
            <a:avLst/>
          </a:prstGeom>
          <a:noFill/>
          <a:ln w="10160">
            <a:solidFill>
              <a:srgbClr val="3D4249"/>
            </a:solidFill>
            <a:prstDash val="solid"/>
            <a:headEnd type="triangle"/>
          </a:ln>
        </p:spPr>
      </p:sp>
      <p:sp>
        <p:nvSpPr>
          <p:cNvPr id="41" name="Text 38"/>
          <p:cNvSpPr/>
          <p:nvPr/>
        </p:nvSpPr>
        <p:spPr>
          <a:xfrm>
            <a:off x="3384000" y="7308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連携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3528000" y="7704000"/>
            <a:ext cx="432000" cy="144000"/>
          </a:xfrm>
          <a:custGeom>
            <a:avLst/>
            <a:gdLst/>
            <a:ahLst/>
            <a:cxnLst/>
            <a:rect l="l" t="t" r="r" b="b"/>
            <a:pathLst>
              <a:path w="432000" h="144000">
                <a:moveTo>
                  <a:pt x="0" y="0"/>
                </a:moveTo>
                <a:lnTo>
                  <a:pt x="216000" y="144000"/>
                </a:lnTo>
                <a:lnTo>
                  <a:pt x="432000" y="0"/>
                </a:lnTo>
              </a:path>
            </a:pathLst>
          </a:custGeom>
          <a:ln w="12700">
            <a:solidFill>
              <a:srgbClr val="C810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2000" y="7992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630" dirty="0"/>
          </a:p>
        </p:txBody>
      </p:sp>
      <p:sp>
        <p:nvSpPr>
          <p:cNvPr id="44" name="Text 41"/>
          <p:cNvSpPr/>
          <p:nvPr/>
        </p:nvSpPr>
        <p:spPr>
          <a:xfrm>
            <a:off x="1872000" y="7992000"/>
            <a:ext cx="36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社会への価値</a:t>
            </a:r>
            <a:endParaRPr lang="en-US" sz="630" dirty="0"/>
          </a:p>
        </p:txBody>
      </p:sp>
      <p:sp>
        <p:nvSpPr>
          <p:cNvPr id="45" name="Shape 42"/>
          <p:cNvSpPr/>
          <p:nvPr/>
        </p:nvSpPr>
        <p:spPr>
          <a:xfrm>
            <a:off x="432000" y="8172000"/>
            <a:ext cx="6624000" cy="17280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46" name="Text 43"/>
          <p:cNvSpPr/>
          <p:nvPr/>
        </p:nvSpPr>
        <p:spPr>
          <a:xfrm>
            <a:off x="720000" y="8352000"/>
            <a:ext cx="604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持続可能で豊かな社会を、パートナーと共に。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20000" y="8712000"/>
            <a:ext cx="6048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40" dirty="0">
                <a:solidFill>
                  <a:srgbClr val="DCE0E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社会が必要とする良質な金属資源を、持続可能な形で安定供給することで、より良い社会の実現に寄与する。</a:t>
            </a:r>
            <a:endParaRPr lang="en-US" sz="740" dirty="0"/>
          </a:p>
        </p:txBody>
      </p:sp>
      <p:sp>
        <p:nvSpPr>
          <p:cNvPr id="48" name="Text 45"/>
          <p:cNvSpPr/>
          <p:nvPr/>
        </p:nvSpPr>
        <p:spPr>
          <a:xfrm>
            <a:off x="720000" y="9216000"/>
            <a:ext cx="6048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contribute to a better society by providing a stable supply of high-quality mineral resources that society needs, in a sustainable way.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633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29000"/>
            <a:ext cx="7560000" cy="255600"/>
          </a:xfrm>
          <a:prstGeom prst="rect">
            <a:avLst/>
          </a:prstGeom>
          <a:solidFill>
            <a:srgbClr val="A8622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972200"/>
            <a:ext cx="7560000" cy="54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61800"/>
            <a:ext cx="7560000" cy="255600"/>
          </a:xfrm>
          <a:prstGeom prst="rect">
            <a:avLst/>
          </a:prstGeom>
          <a:solidFill>
            <a:srgbClr val="6E7A8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8505000"/>
            <a:ext cx="7560000" cy="54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994600"/>
            <a:ext cx="7560000" cy="255600"/>
          </a:xfrm>
          <a:prstGeom prst="rect">
            <a:avLst/>
          </a:prstGeom>
          <a:solidFill>
            <a:srgbClr val="4A535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37800"/>
            <a:ext cx="7560000" cy="54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2000" y="864000"/>
            <a:ext cx="63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300" kern="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MITSUBISHI CORPORATION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2000" y="1116000"/>
            <a:ext cx="63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Metal Resources Group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000" y="9648000"/>
            <a:ext cx="6336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三菱商事株式会社　金属資源グループ</a:t>
            </a:r>
            <a:endParaRPr lang="en-US" sz="7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〒100-8086 東京都千代田区丸の内2-3-1　｜　www.mitsubishicorp.com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三菱商事 金属資源グループ 会社案内 12P</dc:title>
  <dc:subject>PptxGenJS Presentation</dc:subject>
  <dc:creator>PptxGenJS</dc:creator>
  <cp:lastModifiedBy>PptxGenJS</cp:lastModifiedBy>
  <cp:revision>1</cp:revision>
  <dcterms:created xsi:type="dcterms:W3CDTF">2026-10-14T02:40:26Z</dcterms:created>
  <dcterms:modified xsi:type="dcterms:W3CDTF">2026-10-14T02:40:26Z</dcterms:modified>
</cp:coreProperties>
</file>