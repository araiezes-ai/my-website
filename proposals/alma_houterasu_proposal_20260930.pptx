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本日はお時間をいただきありがとうございます。株式会社almaの〇〇です。
表紙の一文が、今回のご提案の出発点です。法テラスの名前自体はかなり知られてきている。ただ、名前を知っている方の多くが『何をしてくれる所か』までは知らない。ここをどう動かすかを、12月の調査結果をもとに一緒に考えたい、というのが本日のお話です。
下の帯は、白書に載っている認知状況の割合をそのまま帯にしたものです。後ほど詳しくご説明します。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まず、ご相談の内容をこう理解しています、という確認です。ずれていたら、ぜひこの場でご指摘ください。
調査は毎年きちんとされている。ただ、結果を読み解いて次の打ち手を決めるところまでは手が回っていない。実行は御センターでされるので、私たちは運用代行ではなく、判断材料と優先順位をお渡しする役割だと考えています。
右側の『やらないこと』は、あえて書きました。広告を増やしましょう、という提案にはしません。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白書に出ている数字です。名前を知っている方は55%。ただその内訳を見ると、37.6%は『名前だけ』で、何をしてくれる所かまで知っているのは17.4%にとどまります。つまり、名前を知っている人の約7割が名前止まりです。
私たちは、この真ん中の層に一番伸びしろがあると見ています。ゼロから名前を覚えてもらうより、すでに知っている方に『こういうときに頼れる』を伝えるほうが効率がいい。ただ、これは過年度の数字なので、12月の調査で同じ構造になっているかを最初に確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ここは私たちの見立てです。まだ12月の調査結果を見ていないので、あくまで仮説としてお聞きください。
一つ目。足りないのは知名度そのものより、『自分に関係がある』という感覚ではないか。
二つ目。広告は毎年されているので、名前に触れる機会はある。ただ、短い広告だけでは何をする所かが残りにくい。広告の中身と、クリックした後のページのつながりに改善の余地があるかもしれません。
三つ目。本当に困っている方ほど、自分で調べる余裕がない。周りの人が紹介できる状態をつくるほうが届く層もあると考えています。
※ここで『実際のところ、現場の感覚としてはいかがですか』と伺う。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分析の枠組みです。認知度を『知っている／知らない』の一つの数字で見ると、打ち手が『もっと広告を』になりがちです。
そこで4段に分けます。名前を知っている、何をする所かわかる、困ったときに思い出す、実際にたどり着く。どこで止まっているかで、効く手がまったく変わります。
前半の2つは既存の調査で見られます。後半の2つは、今の調査票に設問があるかを確認させてください。なければ、次回の調査に入れる設問として提案します。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分析の材料は3つです。調査の数字だけを見て『若い人が低いからSNSを』という結論にはしたくありません。
実際に出している広告やページを見て、言葉や順番に引っかかりがないかを点検します。そして、職員の方に実際の相談現場の感覚を伺います。
提言は、事実と私たちの解釈を分けて書きます。内部で説明するときにも、根拠を示しやすい形にします。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ここからは、改善策のイメージを具体的に見ていただくための例です。
たとえばテレビや生活情報サイト向けに、『その困りごと、どこに聞けばいい？』という切り口の企画。法テラスの名前から入るのではなく、敷金、給料の未払い、養育費といった身近な困りごとから入って、最後に『こういうとき法テラスが案内してくれる』とつなげます。
名前だけ知っている37.6%の層に、『こういうときの所なんだ』を残す狙いです。どの困りごとを取り上げるかは、調査結果を見て決めます。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ほかにも2つ例を挙げます。
左は、広告をクリックした先のページです。『無料』を前に出すのは大事なのですが、情報提供は誰でも無料、弁護士への相談には条件がある、という違いが最初の画面でわかるかどうか。ここは誤解がそのまま不満につながりやすいところなので、点検したいと考えています。
右は、周りの人から紹介してもらう方法です。窓口の職員さんやご家族が、一言で紹介できる言葉を用意する。新しい連携先を開拓するのではなく、今あるリーフレットやつながりの使い方を整える提案です。
いずれも例なので、実際に何を重点にするかは分析の結果次第です。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進め方です。月1回、計3回の打合せを軸にしています。
1月は診断をつくる月。資料をいただいて調査の条件を確認し、分析とヒアリングを進めます。第1回で、分析の進め方と『3月末に何ができていれば成功か』をすり合わせます。
2月は選ぶ月。第2回で診断結果を共有し、6つの改善案から重点の3つを一緒に選びます。
3月は決める月。重点案を具体化して年間計画に落とし、第3回で合意して納品します。
12月調査の結果がいつ頃いただけるかで1月の動きが変わるので、そこは後ほど伺わせてください。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お渡しするものは5つです。
特にお伝えしたいのは4番と5番で、来年度そのまま使える計画と、次の12月調査で何を見れば効果がわかるかまでお渡しします。1年で終わる報告書ではなく、毎年の調査と広報が回っていく形にしたいと考えています。
重点の3案は、担当の方がそのまま内部で検討に回せるところまで具体化します。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体制です。少人数ですが、最初から最後まで同じメンバーで担当します。途中で担当が替わって話が戻る、ということはありません。
私たちは、医療や健康など、正確さが求められる専門分野の情報を一般の方に伝わる形にするPRを続けてきました。法律も同じで、正確さを崩さずに『自分ごと』に感じてもらう言葉づくりが肝だと考えています。
法律の内容の正確さは御センターに確認いただき、私たちは伝わり方に責任を持つ、という役割分担を想定しています。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費用です。3か月一式で180万円、税込で198万円です。ご予算の200万円以内に収めています。
内訳の中で一番比重が大きいのは最初の診断です。ここの精度で後の提案の質が決まるので、厚めにしています。
新しいアンケートや調査会社への追加集計は含んでいません。既存の集計表で分析するのが前提で、追加が必要になりそうな場合は必ず事前にご相談します。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最後に、こちらから伺いたいことです。今日すべてお答えいただく必要はありません。
一番大事なのは1つ目で、12月調査の結果がいつ頃、どういう形でいただけるか。ここで1月のスケジュールが決まります。
あとは過去の調査、広告の中身、来年度の予算感、そしてこの提言を社内のどなたがどこで使われるか。最後の質問は、報告書の書き方を合わせたいので伺っています。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本日はありがとうございました。毎年の調査の数字を、来年の具体的な打ち手に変える。そのお手伝いができればと思っています。ご検討のほど、よろしくお願いいたします。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5486400" cy="365760"/>
          </a:xfrm>
          <a:prstGeom prst="rect">
            <a:avLst/>
          </a:prstGeom>
          <a:noFill/>
          <a:ln/>
        </p:spPr>
        <p:txBody>
          <a:bodyPr wrap="square" lIns="0" tIns="0" rIns="0" bIns="0" rtlCol="0" anchor="t"/>
          <a:lstStyle/>
          <a:p>
            <a:pPr indent="0" marL="0">
              <a:lnSpc>
                <a:spcPct val="125000"/>
              </a:lnSpc>
              <a:buNone/>
            </a:pPr>
            <a:r>
              <a:rPr lang="en-US" sz="1400" dirty="0">
                <a:solidFill>
                  <a:srgbClr val="6B6B6B"/>
                </a:solidFill>
                <a:latin typeface="Yu Gothic" pitchFamily="34" charset="0"/>
                <a:ea typeface="Yu Gothic" pitchFamily="34" charset="-122"/>
                <a:cs typeface="Yu Gothic" pitchFamily="34" charset="-120"/>
              </a:rPr>
              <a:t>日本司法支援センター 御中</a:t>
            </a:r>
            <a:endParaRPr lang="en-US" sz="1400" dirty="0"/>
          </a:p>
        </p:txBody>
      </p:sp>
      <p:sp>
        <p:nvSpPr>
          <p:cNvPr id="3" name="Text 1"/>
          <p:cNvSpPr txBox="1"/>
          <p:nvPr/>
        </p:nvSpPr>
        <p:spPr>
          <a:xfrm>
            <a:off x="685800" y="1737360"/>
            <a:ext cx="10515600" cy="1737360"/>
          </a:xfrm>
          <a:prstGeom prst="rect">
            <a:avLst/>
          </a:prstGeom>
          <a:noFill/>
          <a:ln/>
        </p:spPr>
        <p:txBody>
          <a:bodyPr wrap="square" lIns="0" tIns="0" rIns="0" bIns="0" rtlCol="0" anchor="t"/>
          <a:lstStyle/>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名前は知っている。</a:t>
            </a:r>
            <a:endParaRPr lang="en-US" sz="3800" dirty="0"/>
          </a:p>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でも、何をしてくれる所かは知らない。</a:t>
            </a:r>
            <a:endParaRPr lang="en-US" sz="3800" dirty="0"/>
          </a:p>
        </p:txBody>
      </p:sp>
      <p:sp>
        <p:nvSpPr>
          <p:cNvPr id="4" name="Text 2"/>
          <p:cNvSpPr txBox="1"/>
          <p:nvPr/>
        </p:nvSpPr>
        <p:spPr>
          <a:xfrm>
            <a:off x="685800" y="3657600"/>
            <a:ext cx="10058400" cy="822960"/>
          </a:xfrm>
          <a:prstGeom prst="rect">
            <a:avLst/>
          </a:prstGeom>
          <a:noFill/>
          <a:ln/>
        </p:spPr>
        <p:txBody>
          <a:bodyPr wrap="square" lIns="0" tIns="0" rIns="0" bIns="0" rtlCol="0" anchor="t"/>
          <a:lstStyle/>
          <a:p>
            <a:pPr indent="0" marL="0">
              <a:lnSpc>
                <a:spcPct val="140000"/>
              </a:lnSpc>
              <a:buNone/>
            </a:pPr>
            <a:r>
              <a:rPr lang="en-US" sz="1600" dirty="0">
                <a:solidFill>
                  <a:srgbClr val="6B6B6B"/>
                </a:solidFill>
                <a:latin typeface="Yu Gothic" pitchFamily="34" charset="0"/>
                <a:ea typeface="Yu Gothic" pitchFamily="34" charset="-122"/>
                <a:cs typeface="Yu Gothic" pitchFamily="34" charset="-120"/>
              </a:rPr>
              <a:t>そこから、法テラスの認知度を考えます。</a:t>
            </a:r>
            <a:endParaRPr lang="en-US" sz="1600" dirty="0"/>
          </a:p>
          <a:p>
            <a:pPr indent="0" marL="0">
              <a:lnSpc>
                <a:spcPct val="140000"/>
              </a:lnSpc>
              <a:buNone/>
            </a:pPr>
            <a:r>
              <a:rPr lang="en-US" sz="1600" dirty="0">
                <a:solidFill>
                  <a:srgbClr val="6B6B6B"/>
                </a:solidFill>
                <a:latin typeface="Yu Gothic" pitchFamily="34" charset="0"/>
                <a:ea typeface="Yu Gothic" pitchFamily="34" charset="-122"/>
                <a:cs typeface="Yu Gothic" pitchFamily="34" charset="-120"/>
              </a:rPr>
              <a:t>認知度調査の結果を、来年度の広報戦略に変えるための 3か月のご提案</a:t>
            </a:r>
            <a:endParaRPr lang="en-US" sz="1600" dirty="0"/>
          </a:p>
        </p:txBody>
      </p:sp>
      <p:sp>
        <p:nvSpPr>
          <p:cNvPr id="5" name="Shape 3"/>
          <p:cNvSpPr/>
          <p:nvPr/>
        </p:nvSpPr>
        <p:spPr>
          <a:xfrm>
            <a:off x="685800" y="5074920"/>
            <a:ext cx="4869043" cy="146304"/>
          </a:xfrm>
          <a:prstGeom prst="rect">
            <a:avLst/>
          </a:prstGeom>
          <a:solidFill>
            <a:srgbClr val="D9D9D6"/>
          </a:solidFill>
          <a:ln w="12700">
            <a:solidFill>
              <a:srgbClr val="D9D9D6"/>
            </a:solidFill>
            <a:prstDash val="solid"/>
          </a:ln>
        </p:spPr>
      </p:sp>
      <p:sp>
        <p:nvSpPr>
          <p:cNvPr id="6" name="Shape 4"/>
          <p:cNvSpPr/>
          <p:nvPr/>
        </p:nvSpPr>
        <p:spPr>
          <a:xfrm>
            <a:off x="5554843" y="5074920"/>
            <a:ext cx="4068356" cy="146304"/>
          </a:xfrm>
          <a:prstGeom prst="rect">
            <a:avLst/>
          </a:prstGeom>
          <a:solidFill>
            <a:srgbClr val="C0462B"/>
          </a:solidFill>
          <a:ln w="12700">
            <a:solidFill>
              <a:srgbClr val="C0462B"/>
            </a:solidFill>
            <a:prstDash val="solid"/>
          </a:ln>
        </p:spPr>
      </p:sp>
      <p:sp>
        <p:nvSpPr>
          <p:cNvPr id="7" name="Shape 5"/>
          <p:cNvSpPr/>
          <p:nvPr/>
        </p:nvSpPr>
        <p:spPr>
          <a:xfrm>
            <a:off x="9623199" y="5074920"/>
            <a:ext cx="1882697" cy="146304"/>
          </a:xfrm>
          <a:prstGeom prst="rect">
            <a:avLst/>
          </a:prstGeom>
          <a:solidFill>
            <a:srgbClr val="1F1F1F"/>
          </a:solidFill>
          <a:ln w="12700">
            <a:solidFill>
              <a:srgbClr val="1F1F1F"/>
            </a:solidFill>
            <a:prstDash val="solid"/>
          </a:ln>
        </p:spPr>
      </p:sp>
      <p:sp>
        <p:nvSpPr>
          <p:cNvPr id="8" name="Text 6"/>
          <p:cNvSpPr txBox="1"/>
          <p:nvPr/>
        </p:nvSpPr>
        <p:spPr>
          <a:xfrm>
            <a:off x="685800" y="5897880"/>
            <a:ext cx="36576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2026年9月30日</a:t>
            </a:r>
            <a:endParaRPr lang="en-US" sz="1200" dirty="0"/>
          </a:p>
        </p:txBody>
      </p:sp>
      <p:sp>
        <p:nvSpPr>
          <p:cNvPr id="9" name="Text 7"/>
          <p:cNvSpPr txBox="1"/>
          <p:nvPr/>
        </p:nvSpPr>
        <p:spPr>
          <a:xfrm>
            <a:off x="7848295" y="5852160"/>
            <a:ext cx="3657600" cy="365760"/>
          </a:xfrm>
          <a:prstGeom prst="rect">
            <a:avLst/>
          </a:prstGeom>
          <a:noFill/>
          <a:ln/>
        </p:spPr>
        <p:txBody>
          <a:bodyPr wrap="square" lIns="0" tIns="0" rIns="0" bIns="0" rtlCol="0" anchor="ctr"/>
          <a:lstStyle/>
          <a:p>
            <a:pPr algn="r" indent="0" marL="0">
              <a:buNone/>
            </a:pPr>
            <a:r>
              <a:rPr lang="en-US" sz="1600" b="1" dirty="0">
                <a:solidFill>
                  <a:srgbClr val="1F1F1F"/>
                </a:solidFill>
                <a:latin typeface="Yu Mincho" pitchFamily="34" charset="0"/>
                <a:ea typeface="Yu Mincho" pitchFamily="34" charset="-122"/>
                <a:cs typeface="Yu Mincho" pitchFamily="34" charset="-120"/>
              </a:rPr>
              <a:t>株式会社alma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2</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ご相談を、こう受け止めました。</a:t>
            </a:r>
            <a:endParaRPr lang="en-US" sz="2800" dirty="0"/>
          </a:p>
        </p:txBody>
      </p:sp>
      <p:sp>
        <p:nvSpPr>
          <p:cNvPr id="5" name="Text 3"/>
          <p:cNvSpPr txBox="1"/>
          <p:nvPr/>
        </p:nvSpPr>
        <p:spPr>
          <a:xfrm>
            <a:off x="685800" y="1554480"/>
            <a:ext cx="5760720" cy="2926080"/>
          </a:xfrm>
          <a:prstGeom prst="rect">
            <a:avLst/>
          </a:prstGeom>
          <a:noFill/>
          <a:ln/>
        </p:spPr>
        <p:txBody>
          <a:bodyPr wrap="square" lIns="0" tIns="0" rIns="0" bIns="0" rtlCol="0" anchor="t"/>
          <a:lstStyle/>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毎年12月に認知度調査をされていて、</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数字は毎年出ている。</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ただ、「なぜその数字なのか」「来年は何を変えるのか」</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まで検討する時間と材料が足りていない。</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 </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施策はご自身たちで動かすので、欲しいのは</a:t>
            </a:r>
            <a:endParaRPr lang="en-US" sz="1700" dirty="0"/>
          </a:p>
          <a:p>
            <a:pPr indent="0" marL="0">
              <a:lnSpc>
                <a:spcPct val="155000"/>
              </a:lnSpc>
              <a:buNone/>
            </a:pPr>
            <a:r>
              <a:rPr lang="en-US" sz="1700" b="1" dirty="0">
                <a:solidFill>
                  <a:srgbClr val="C0462B"/>
                </a:solidFill>
                <a:latin typeface="Yu Gothic" pitchFamily="34" charset="0"/>
                <a:ea typeface="Yu Gothic" pitchFamily="34" charset="-122"/>
                <a:cs typeface="Yu Gothic" pitchFamily="34" charset="-120"/>
              </a:rPr>
              <a:t>判断の根拠と、優先順位のついた打ち手</a:t>
            </a:r>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a:t>
            </a:r>
            <a:endParaRPr lang="en-US" sz="1700" dirty="0"/>
          </a:p>
        </p:txBody>
      </p:sp>
      <p:sp>
        <p:nvSpPr>
          <p:cNvPr id="6" name="Shape 4"/>
          <p:cNvSpPr/>
          <p:nvPr/>
        </p:nvSpPr>
        <p:spPr>
          <a:xfrm>
            <a:off x="6903720" y="1554480"/>
            <a:ext cx="4599432" cy="2331720"/>
          </a:xfrm>
          <a:prstGeom prst="rect">
            <a:avLst/>
          </a:prstGeom>
          <a:solidFill>
            <a:srgbClr val="F2F2F0"/>
          </a:solidFill>
          <a:ln w="12700">
            <a:solidFill>
              <a:srgbClr val="F2F2F0"/>
            </a:solidFill>
            <a:prstDash val="solid"/>
          </a:ln>
        </p:spPr>
      </p:sp>
      <p:sp>
        <p:nvSpPr>
          <p:cNvPr id="7" name="Text 5"/>
          <p:cNvSpPr txBox="1"/>
          <p:nvPr/>
        </p:nvSpPr>
        <p:spPr>
          <a:xfrm>
            <a:off x="7223760" y="1783080"/>
            <a:ext cx="3657600"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今回やること</a:t>
            </a:r>
            <a:endParaRPr lang="en-US" sz="1300" dirty="0"/>
          </a:p>
        </p:txBody>
      </p:sp>
      <p:sp>
        <p:nvSpPr>
          <p:cNvPr id="8" name="Text 6"/>
          <p:cNvSpPr txBox="1"/>
          <p:nvPr/>
        </p:nvSpPr>
        <p:spPr>
          <a:xfrm>
            <a:off x="7223760" y="2194560"/>
            <a:ext cx="4050792" cy="1554480"/>
          </a:xfrm>
          <a:prstGeom prst="rect">
            <a:avLst/>
          </a:prstGeom>
          <a:noFill/>
          <a:ln/>
        </p:spPr>
        <p:txBody>
          <a:bodyPr wrap="square" lIns="0" tIns="0" rIns="0" bIns="0" rtlCol="0" anchor="t"/>
          <a:lstStyle/>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12月調査の結果から、認知が伸びない理由を分析する</a:t>
            </a:r>
            <a:endParaRPr lang="en-US" sz="1350" dirty="0"/>
          </a:p>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誰に・何を・どこで伝えるかの戦略を決める</a:t>
            </a:r>
            <a:endParaRPr lang="en-US" sz="1350" dirty="0"/>
          </a:p>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担当の方がそのまま動ける改善策にまで落とす</a:t>
            </a:r>
            <a:endParaRPr lang="en-US" sz="1350" dirty="0"/>
          </a:p>
        </p:txBody>
      </p:sp>
      <p:sp>
        <p:nvSpPr>
          <p:cNvPr id="9" name="Shape 7"/>
          <p:cNvSpPr/>
          <p:nvPr/>
        </p:nvSpPr>
        <p:spPr>
          <a:xfrm>
            <a:off x="6903720" y="4114800"/>
            <a:ext cx="4599432" cy="1600200"/>
          </a:xfrm>
          <a:prstGeom prst="rect">
            <a:avLst/>
          </a:prstGeom>
          <a:solidFill>
            <a:srgbClr val="FFFFFF"/>
          </a:solidFill>
          <a:ln w="12700">
            <a:solidFill>
              <a:srgbClr val="D6D6D3"/>
            </a:solidFill>
            <a:prstDash val="solid"/>
          </a:ln>
        </p:spPr>
      </p:sp>
      <p:sp>
        <p:nvSpPr>
          <p:cNvPr id="10" name="Text 8"/>
          <p:cNvSpPr txBox="1"/>
          <p:nvPr/>
        </p:nvSpPr>
        <p:spPr>
          <a:xfrm>
            <a:off x="7223760" y="4315968"/>
            <a:ext cx="3657600" cy="320040"/>
          </a:xfrm>
          <a:prstGeom prst="rect">
            <a:avLst/>
          </a:prstGeom>
          <a:noFill/>
          <a:ln/>
        </p:spPr>
        <p:txBody>
          <a:bodyPr wrap="square" lIns="0" tIns="0" rIns="0" bIns="0" rtlCol="0" anchor="t"/>
          <a:lstStyle/>
          <a:p>
            <a:pPr indent="0" marL="0">
              <a:lnSpc>
                <a:spcPct val="125000"/>
              </a:lnSpc>
              <a:buNone/>
            </a:pPr>
            <a:r>
              <a:rPr lang="en-US" sz="1300" b="1" dirty="0">
                <a:solidFill>
                  <a:srgbClr val="6B6B6B"/>
                </a:solidFill>
                <a:latin typeface="Yu Gothic" pitchFamily="34" charset="0"/>
                <a:ea typeface="Yu Gothic" pitchFamily="34" charset="-122"/>
                <a:cs typeface="Yu Gothic" pitchFamily="34" charset="-120"/>
              </a:rPr>
              <a:t>今回やらないこと</a:t>
            </a:r>
            <a:endParaRPr lang="en-US" sz="1300" dirty="0"/>
          </a:p>
        </p:txBody>
      </p:sp>
      <p:sp>
        <p:nvSpPr>
          <p:cNvPr id="11" name="Text 9"/>
          <p:cNvSpPr txBox="1"/>
          <p:nvPr/>
        </p:nvSpPr>
        <p:spPr>
          <a:xfrm>
            <a:off x="7223760" y="4709160"/>
            <a:ext cx="4050792" cy="914400"/>
          </a:xfrm>
          <a:prstGeom prst="rect">
            <a:avLst/>
          </a:prstGeom>
          <a:noFill/>
          <a:ln/>
        </p:spPr>
        <p:txBody>
          <a:bodyPr wrap="square" lIns="0" tIns="0" rIns="0" bIns="0" rtlCol="0" anchor="t"/>
          <a:lstStyle/>
          <a:p>
            <a:pPr marL="342900" indent="-342900">
              <a:lnSpc>
                <a:spcPct val="125000"/>
              </a:lnSpc>
              <a:spcAft>
                <a:spcPts val="600"/>
              </a:spcAft>
              <a:buSzPct val="100000"/>
              <a:buChar char="•"/>
            </a:pPr>
            <a:r>
              <a:rPr lang="en-US" sz="1350" dirty="0">
                <a:solidFill>
                  <a:srgbClr val="6B6B6B"/>
                </a:solidFill>
                <a:latin typeface="Yu Gothic" pitchFamily="34" charset="0"/>
                <a:ea typeface="Yu Gothic" pitchFamily="34" charset="-122"/>
                <a:cs typeface="Yu Gothic" pitchFamily="34" charset="-120"/>
              </a:rPr>
              <a:t>SNS運用やネット広告運用の代行</a:t>
            </a:r>
            <a:endParaRPr lang="en-US" sz="1350" dirty="0"/>
          </a:p>
          <a:p>
            <a:pPr marL="342900" indent="-342900">
              <a:lnSpc>
                <a:spcPct val="125000"/>
              </a:lnSpc>
              <a:spcAft>
                <a:spcPts val="600"/>
              </a:spcAft>
              <a:buSzPct val="100000"/>
              <a:buChar char="•"/>
            </a:pPr>
            <a:r>
              <a:rPr lang="en-US" sz="1350" dirty="0">
                <a:solidFill>
                  <a:srgbClr val="6B6B6B"/>
                </a:solidFill>
                <a:latin typeface="Yu Gothic" pitchFamily="34" charset="0"/>
                <a:ea typeface="Yu Gothic" pitchFamily="34" charset="-122"/>
                <a:cs typeface="Yu Gothic" pitchFamily="34" charset="-120"/>
              </a:rPr>
              <a:t>新しい広告出稿を前提にした提案</a:t>
            </a:r>
            <a:endParaRPr lang="en-US" sz="1350" dirty="0"/>
          </a:p>
        </p:txBody>
      </p:sp>
      <p:sp>
        <p:nvSpPr>
          <p:cNvPr id="12" name="Text 10"/>
          <p:cNvSpPr txBox="1"/>
          <p:nvPr/>
        </p:nvSpPr>
        <p:spPr>
          <a:xfrm>
            <a:off x="685800" y="5623560"/>
            <a:ext cx="5760720" cy="36576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期間　2027年1月〜3月31日　／　本部での打合せ　月1回・計3回</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3</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名前を知っている人の、約7割は「名前だけ」。</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令和6年度の認知状況（法テラス白書 令和6年度版より）</a:t>
            </a:r>
            <a:endParaRPr lang="en-US" sz="1400" dirty="0"/>
          </a:p>
        </p:txBody>
      </p:sp>
      <p:sp>
        <p:nvSpPr>
          <p:cNvPr id="6" name="Shape 4"/>
          <p:cNvSpPr/>
          <p:nvPr/>
        </p:nvSpPr>
        <p:spPr>
          <a:xfrm>
            <a:off x="685800" y="2011680"/>
            <a:ext cx="4869043" cy="1417320"/>
          </a:xfrm>
          <a:prstGeom prst="rect">
            <a:avLst/>
          </a:prstGeom>
          <a:solidFill>
            <a:srgbClr val="D9D9D6"/>
          </a:solidFill>
          <a:ln w="12700">
            <a:solidFill>
              <a:srgbClr val="D9D9D6"/>
            </a:solidFill>
            <a:prstDash val="solid"/>
          </a:ln>
        </p:spPr>
      </p:sp>
      <p:sp>
        <p:nvSpPr>
          <p:cNvPr id="7" name="Text 5"/>
          <p:cNvSpPr txBox="1"/>
          <p:nvPr/>
        </p:nvSpPr>
        <p:spPr>
          <a:xfrm>
            <a:off x="822960" y="2121408"/>
            <a:ext cx="4594723" cy="779526"/>
          </a:xfrm>
          <a:prstGeom prst="rect">
            <a:avLst/>
          </a:prstGeom>
          <a:noFill/>
          <a:ln/>
        </p:spPr>
        <p:txBody>
          <a:bodyPr wrap="square" lIns="0" tIns="0" rIns="0" bIns="0" rtlCol="0" anchor="t"/>
          <a:lstStyle/>
          <a:p>
            <a:pPr indent="0" marL="0">
              <a:buNone/>
            </a:pPr>
            <a:r>
              <a:rPr lang="en-US" sz="3000" b="1" dirty="0">
                <a:solidFill>
                  <a:srgbClr val="1F1F1F"/>
                </a:solidFill>
                <a:latin typeface="Yu Mincho" pitchFamily="34" charset="0"/>
                <a:ea typeface="Yu Mincho" pitchFamily="34" charset="-122"/>
                <a:cs typeface="Yu Mincho" pitchFamily="34" charset="-120"/>
              </a:rPr>
              <a:t>45.0%</a:t>
            </a:r>
            <a:endParaRPr lang="en-US" sz="3000" dirty="0"/>
          </a:p>
        </p:txBody>
      </p:sp>
      <p:sp>
        <p:nvSpPr>
          <p:cNvPr id="8" name="Text 6"/>
          <p:cNvSpPr txBox="1"/>
          <p:nvPr/>
        </p:nvSpPr>
        <p:spPr>
          <a:xfrm>
            <a:off x="822960" y="2971800"/>
            <a:ext cx="4594723" cy="320040"/>
          </a:xfrm>
          <a:prstGeom prst="rect">
            <a:avLst/>
          </a:prstGeom>
          <a:noFill/>
          <a:ln/>
        </p:spPr>
        <p:txBody>
          <a:bodyPr wrap="square" lIns="0" tIns="0" rIns="0" bIns="0" rtlCol="0" anchor="ctr"/>
          <a:lstStyle/>
          <a:p>
            <a:pPr indent="0" marL="0">
              <a:buNone/>
            </a:pPr>
            <a:r>
              <a:rPr lang="en-US" sz="1200" dirty="0">
                <a:solidFill>
                  <a:srgbClr val="1F1F1F"/>
                </a:solidFill>
                <a:latin typeface="Yu Gothic" pitchFamily="34" charset="0"/>
                <a:ea typeface="Yu Gothic" pitchFamily="34" charset="-122"/>
                <a:cs typeface="Yu Gothic" pitchFamily="34" charset="-120"/>
              </a:rPr>
              <a:t>知らない</a:t>
            </a:r>
            <a:endParaRPr lang="en-US" sz="1200" dirty="0"/>
          </a:p>
        </p:txBody>
      </p:sp>
      <p:sp>
        <p:nvSpPr>
          <p:cNvPr id="9" name="Shape 7"/>
          <p:cNvSpPr/>
          <p:nvPr/>
        </p:nvSpPr>
        <p:spPr>
          <a:xfrm>
            <a:off x="5554843" y="2011680"/>
            <a:ext cx="4068356" cy="1417320"/>
          </a:xfrm>
          <a:prstGeom prst="rect">
            <a:avLst/>
          </a:prstGeom>
          <a:solidFill>
            <a:srgbClr val="C0462B"/>
          </a:solidFill>
          <a:ln w="12700">
            <a:solidFill>
              <a:srgbClr val="C0462B"/>
            </a:solidFill>
            <a:prstDash val="solid"/>
          </a:ln>
        </p:spPr>
      </p:sp>
      <p:sp>
        <p:nvSpPr>
          <p:cNvPr id="10" name="Text 8"/>
          <p:cNvSpPr txBox="1"/>
          <p:nvPr/>
        </p:nvSpPr>
        <p:spPr>
          <a:xfrm>
            <a:off x="5692003" y="2121408"/>
            <a:ext cx="3794036" cy="779526"/>
          </a:xfrm>
          <a:prstGeom prst="rect">
            <a:avLst/>
          </a:prstGeom>
          <a:noFill/>
          <a:ln/>
        </p:spPr>
        <p:txBody>
          <a:bodyPr wrap="square" lIns="0" tIns="0" rIns="0" bIns="0" rtlCol="0" anchor="t"/>
          <a:lstStyle/>
          <a:p>
            <a:pPr indent="0" marL="0">
              <a:buNone/>
            </a:pPr>
            <a:r>
              <a:rPr lang="en-US" sz="3000" b="1" dirty="0">
                <a:solidFill>
                  <a:srgbClr val="FFFFFF"/>
                </a:solidFill>
                <a:latin typeface="Yu Mincho" pitchFamily="34" charset="0"/>
                <a:ea typeface="Yu Mincho" pitchFamily="34" charset="-122"/>
                <a:cs typeface="Yu Mincho" pitchFamily="34" charset="-120"/>
              </a:rPr>
              <a:t>37.6%</a:t>
            </a:r>
            <a:endParaRPr lang="en-US" sz="3000" dirty="0"/>
          </a:p>
        </p:txBody>
      </p:sp>
      <p:sp>
        <p:nvSpPr>
          <p:cNvPr id="11" name="Text 9"/>
          <p:cNvSpPr txBox="1"/>
          <p:nvPr/>
        </p:nvSpPr>
        <p:spPr>
          <a:xfrm>
            <a:off x="5692003" y="2971800"/>
            <a:ext cx="3794036" cy="320040"/>
          </a:xfrm>
          <a:prstGeom prst="rect">
            <a:avLst/>
          </a:prstGeom>
          <a:noFill/>
          <a:ln/>
        </p:spPr>
        <p:txBody>
          <a:bodyPr wrap="square" lIns="0" tIns="0" rIns="0" bIns="0" rtlCol="0" anchor="ctr"/>
          <a:lstStyle/>
          <a:p>
            <a:pPr indent="0" marL="0">
              <a:buNone/>
            </a:pPr>
            <a:r>
              <a:rPr lang="en-US" sz="1200" dirty="0">
                <a:solidFill>
                  <a:srgbClr val="FFFFFF"/>
                </a:solidFill>
                <a:latin typeface="Yu Gothic" pitchFamily="34" charset="0"/>
                <a:ea typeface="Yu Gothic" pitchFamily="34" charset="-122"/>
                <a:cs typeface="Yu Gothic" pitchFamily="34" charset="-120"/>
              </a:rPr>
              <a:t>名前だけ知っている</a:t>
            </a:r>
            <a:endParaRPr lang="en-US" sz="1200" dirty="0"/>
          </a:p>
        </p:txBody>
      </p:sp>
      <p:sp>
        <p:nvSpPr>
          <p:cNvPr id="12" name="Shape 10"/>
          <p:cNvSpPr/>
          <p:nvPr/>
        </p:nvSpPr>
        <p:spPr>
          <a:xfrm>
            <a:off x="9623199" y="2011680"/>
            <a:ext cx="1882697" cy="1417320"/>
          </a:xfrm>
          <a:prstGeom prst="rect">
            <a:avLst/>
          </a:prstGeom>
          <a:solidFill>
            <a:srgbClr val="1F1F1F"/>
          </a:solidFill>
          <a:ln w="12700">
            <a:solidFill>
              <a:srgbClr val="1F1F1F"/>
            </a:solidFill>
            <a:prstDash val="solid"/>
          </a:ln>
        </p:spPr>
      </p:sp>
      <p:sp>
        <p:nvSpPr>
          <p:cNvPr id="13" name="Text 11"/>
          <p:cNvSpPr txBox="1"/>
          <p:nvPr/>
        </p:nvSpPr>
        <p:spPr>
          <a:xfrm>
            <a:off x="9760359" y="2121408"/>
            <a:ext cx="1608377" cy="779526"/>
          </a:xfrm>
          <a:prstGeom prst="rect">
            <a:avLst/>
          </a:prstGeom>
          <a:noFill/>
          <a:ln/>
        </p:spPr>
        <p:txBody>
          <a:bodyPr wrap="square" lIns="0" tIns="0" rIns="0" bIns="0" rtlCol="0" anchor="t"/>
          <a:lstStyle/>
          <a:p>
            <a:pPr indent="0" marL="0">
              <a:buNone/>
            </a:pPr>
            <a:r>
              <a:rPr lang="en-US" sz="3000" b="1" dirty="0">
                <a:solidFill>
                  <a:srgbClr val="FFFFFF"/>
                </a:solidFill>
                <a:latin typeface="Yu Mincho" pitchFamily="34" charset="0"/>
                <a:ea typeface="Yu Mincho" pitchFamily="34" charset="-122"/>
                <a:cs typeface="Yu Mincho" pitchFamily="34" charset="-120"/>
              </a:rPr>
              <a:t>17.4%</a:t>
            </a:r>
            <a:endParaRPr lang="en-US" sz="3000" dirty="0"/>
          </a:p>
        </p:txBody>
      </p:sp>
      <p:sp>
        <p:nvSpPr>
          <p:cNvPr id="14" name="Text 12"/>
          <p:cNvSpPr txBox="1"/>
          <p:nvPr/>
        </p:nvSpPr>
        <p:spPr>
          <a:xfrm>
            <a:off x="9760359" y="2971800"/>
            <a:ext cx="1608377" cy="320040"/>
          </a:xfrm>
          <a:prstGeom prst="rect">
            <a:avLst/>
          </a:prstGeom>
          <a:noFill/>
          <a:ln/>
        </p:spPr>
        <p:txBody>
          <a:bodyPr wrap="square" lIns="0" tIns="0" rIns="0" bIns="0" rtlCol="0" anchor="ctr"/>
          <a:lstStyle/>
          <a:p>
            <a:pPr indent="0" marL="0">
              <a:buNone/>
            </a:pPr>
            <a:r>
              <a:rPr lang="en-US" sz="1200" dirty="0">
                <a:solidFill>
                  <a:srgbClr val="FFFFFF"/>
                </a:solidFill>
                <a:latin typeface="Yu Gothic" pitchFamily="34" charset="0"/>
                <a:ea typeface="Yu Gothic" pitchFamily="34" charset="-122"/>
                <a:cs typeface="Yu Gothic" pitchFamily="34" charset="-120"/>
              </a:rPr>
              <a:t>役割まで知っている</a:t>
            </a:r>
            <a:endParaRPr lang="en-US" sz="1200" dirty="0"/>
          </a:p>
        </p:txBody>
      </p:sp>
      <p:sp>
        <p:nvSpPr>
          <p:cNvPr id="15" name="Shape 13"/>
          <p:cNvSpPr/>
          <p:nvPr/>
        </p:nvSpPr>
        <p:spPr>
          <a:xfrm>
            <a:off x="5554843" y="3657600"/>
            <a:ext cx="5951052" cy="0"/>
          </a:xfrm>
          <a:prstGeom prst="line">
            <a:avLst/>
          </a:prstGeom>
          <a:noFill/>
          <a:ln w="9525">
            <a:solidFill>
              <a:srgbClr val="1F1F1F"/>
            </a:solidFill>
            <a:prstDash val="solid"/>
          </a:ln>
        </p:spPr>
      </p:sp>
      <p:sp>
        <p:nvSpPr>
          <p:cNvPr id="16" name="Shape 14"/>
          <p:cNvSpPr/>
          <p:nvPr/>
        </p:nvSpPr>
        <p:spPr>
          <a:xfrm>
            <a:off x="5554843" y="3520440"/>
            <a:ext cx="0" cy="137160"/>
          </a:xfrm>
          <a:prstGeom prst="line">
            <a:avLst/>
          </a:prstGeom>
          <a:noFill/>
          <a:ln w="9525">
            <a:solidFill>
              <a:srgbClr val="1F1F1F"/>
            </a:solidFill>
            <a:prstDash val="solid"/>
          </a:ln>
        </p:spPr>
      </p:sp>
      <p:sp>
        <p:nvSpPr>
          <p:cNvPr id="17" name="Shape 15"/>
          <p:cNvSpPr/>
          <p:nvPr/>
        </p:nvSpPr>
        <p:spPr>
          <a:xfrm>
            <a:off x="11505895" y="3520440"/>
            <a:ext cx="0" cy="137160"/>
          </a:xfrm>
          <a:prstGeom prst="line">
            <a:avLst/>
          </a:prstGeom>
          <a:noFill/>
          <a:ln w="9525">
            <a:solidFill>
              <a:srgbClr val="1F1F1F"/>
            </a:solidFill>
            <a:prstDash val="solid"/>
          </a:ln>
        </p:spPr>
      </p:sp>
      <p:sp>
        <p:nvSpPr>
          <p:cNvPr id="18" name="Text 16"/>
          <p:cNvSpPr txBox="1"/>
          <p:nvPr/>
        </p:nvSpPr>
        <p:spPr>
          <a:xfrm>
            <a:off x="5554843" y="3749040"/>
            <a:ext cx="5951052" cy="320040"/>
          </a:xfrm>
          <a:prstGeom prst="rect">
            <a:avLst/>
          </a:prstGeom>
          <a:noFill/>
          <a:ln/>
        </p:spPr>
        <p:txBody>
          <a:bodyPr wrap="square" lIns="0" tIns="0" rIns="0" bIns="0" rtlCol="0" anchor="t"/>
          <a:lstStyle/>
          <a:p>
            <a:pPr algn="ctr" indent="0" marL="0">
              <a:lnSpc>
                <a:spcPct val="125000"/>
              </a:lnSpc>
              <a:buNone/>
            </a:pPr>
            <a:r>
              <a:rPr lang="en-US" sz="1200" dirty="0">
                <a:solidFill>
                  <a:srgbClr val="1F1F1F"/>
                </a:solidFill>
                <a:latin typeface="Yu Gothic" pitchFamily="34" charset="0"/>
                <a:ea typeface="Yu Gothic" pitchFamily="34" charset="-122"/>
                <a:cs typeface="Yu Gothic" pitchFamily="34" charset="-120"/>
              </a:rPr>
              <a:t>名前を知っている人　55.0%</a:t>
            </a:r>
            <a:endParaRPr lang="en-US" sz="1200" dirty="0"/>
          </a:p>
        </p:txBody>
      </p:sp>
      <p:sp>
        <p:nvSpPr>
          <p:cNvPr id="19" name="Text 17"/>
          <p:cNvSpPr txBox="1"/>
          <p:nvPr/>
        </p:nvSpPr>
        <p:spPr>
          <a:xfrm>
            <a:off x="685800" y="4526280"/>
            <a:ext cx="5669280" cy="457200"/>
          </a:xfrm>
          <a:prstGeom prst="rect">
            <a:avLst/>
          </a:prstGeom>
          <a:noFill/>
          <a:ln/>
        </p:spPr>
        <p:txBody>
          <a:bodyPr wrap="square" lIns="0" tIns="0" rIns="0" bIns="0" rtlCol="0" anchor="t"/>
          <a:lstStyle/>
          <a:p>
            <a:pPr indent="0" marL="0">
              <a:lnSpc>
                <a:spcPct val="125000"/>
              </a:lnSpc>
              <a:buNone/>
            </a:pPr>
            <a:r>
              <a:rPr lang="en-US" sz="1600" b="1" dirty="0">
                <a:solidFill>
                  <a:srgbClr val="1F1F1F"/>
                </a:solidFill>
                <a:latin typeface="Yu Gothic" pitchFamily="34" charset="0"/>
                <a:ea typeface="Yu Gothic" pitchFamily="34" charset="-122"/>
                <a:cs typeface="Yu Gothic" pitchFamily="34" charset="-120"/>
              </a:rPr>
              <a:t>私たちが注目しているのは、真ん中の 37.6% です。</a:t>
            </a:r>
            <a:endParaRPr lang="en-US" sz="1600" dirty="0"/>
          </a:p>
        </p:txBody>
      </p:sp>
      <p:sp>
        <p:nvSpPr>
          <p:cNvPr id="20" name="Text 18"/>
          <p:cNvSpPr txBox="1"/>
          <p:nvPr/>
        </p:nvSpPr>
        <p:spPr>
          <a:xfrm>
            <a:off x="685800" y="4983480"/>
            <a:ext cx="5669280" cy="1097280"/>
          </a:xfrm>
          <a:prstGeom prst="rect">
            <a:avLst/>
          </a:prstGeom>
          <a:noFill/>
          <a:ln/>
        </p:spPr>
        <p:txBody>
          <a:bodyPr wrap="square" lIns="0" tIns="0" rIns="0" bIns="0" rtlCol="0" anchor="t"/>
          <a:lstStyle/>
          <a:p>
            <a:pPr indent="0" marL="0">
              <a:lnSpc>
                <a:spcPct val="125000"/>
              </a:lnSpc>
              <a:buNone/>
            </a:pPr>
            <a:r>
              <a:rPr lang="en-US" sz="1300" dirty="0">
                <a:solidFill>
                  <a:srgbClr val="6B6B6B"/>
                </a:solidFill>
                <a:latin typeface="Yu Gothic" pitchFamily="34" charset="0"/>
                <a:ea typeface="Yu Gothic" pitchFamily="34" charset="-122"/>
                <a:cs typeface="Yu Gothic" pitchFamily="34" charset="-120"/>
              </a:rPr>
              <a:t>まったく知らない人に名前を届けるより、すでに名前を知っている人に「どんなときに頼れる所か」を伝えるほうが、少ない手数で動く可能性があります。</a:t>
            </a:r>
            <a:endParaRPr lang="en-US" sz="1300" dirty="0"/>
          </a:p>
        </p:txBody>
      </p:sp>
      <p:sp>
        <p:nvSpPr>
          <p:cNvPr id="21" name="Text 19"/>
          <p:cNvSpPr txBox="1"/>
          <p:nvPr/>
        </p:nvSpPr>
        <p:spPr>
          <a:xfrm>
            <a:off x="6675120" y="5029200"/>
            <a:ext cx="4846320" cy="914400"/>
          </a:xfrm>
          <a:prstGeom prst="rect">
            <a:avLst/>
          </a:prstGeom>
          <a:noFill/>
          <a:ln/>
        </p:spPr>
        <p:txBody>
          <a:bodyPr wrap="square" lIns="0" tIns="0" rIns="0" bIns="0" rtlCol="0" anchor="t"/>
          <a:lstStyle/>
          <a:p>
            <a:pPr indent="0" marL="0">
              <a:lnSpc>
                <a:spcPct val="135000"/>
              </a:lnSpc>
              <a:buNone/>
            </a:pPr>
            <a:r>
              <a:rPr lang="en-US" sz="1000" dirty="0">
                <a:solidFill>
                  <a:srgbClr val="6B6B6B"/>
                </a:solidFill>
                <a:latin typeface="Yu Gothic" pitchFamily="34" charset="0"/>
                <a:ea typeface="Yu Gothic" pitchFamily="34" charset="-122"/>
                <a:cs typeface="Yu Gothic" pitchFamily="34" charset="-120"/>
              </a:rPr>
              <a:t>※「役割まで知っている」は、「サービスをある程度知っている」11.2%と「利用したことがある」6.2%の合計。</a:t>
            </a:r>
            <a:endParaRPr lang="en-US" sz="1000" dirty="0"/>
          </a:p>
          <a:p>
            <a:pPr indent="0" marL="0">
              <a:lnSpc>
                <a:spcPct val="135000"/>
              </a:lnSpc>
              <a:buNone/>
            </a:pPr>
            <a:r>
              <a:rPr lang="en-US" sz="1000" dirty="0">
                <a:solidFill>
                  <a:srgbClr val="6B6B6B"/>
                </a:solidFill>
                <a:latin typeface="Yu Gothic" pitchFamily="34" charset="0"/>
                <a:ea typeface="Yu Gothic" pitchFamily="34" charset="-122"/>
                <a:cs typeface="Yu Gothic" pitchFamily="34" charset="-120"/>
              </a:rPr>
              <a:t>※ 過年度の参考値です。今回の分析は2026年12月調査の結果をもとに行います。</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4</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現時点での、私たちの見立て。</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12月の調査結果を見る前の仮説です。当たっているかどうかを、分析で確かめます。</a:t>
            </a:r>
            <a:endParaRPr lang="en-US" sz="1400" dirty="0"/>
          </a:p>
        </p:txBody>
      </p:sp>
      <p:sp>
        <p:nvSpPr>
          <p:cNvPr id="6" name="Text 4"/>
          <p:cNvSpPr txBox="1"/>
          <p:nvPr/>
        </p:nvSpPr>
        <p:spPr>
          <a:xfrm>
            <a:off x="685800" y="2240280"/>
            <a:ext cx="1828800" cy="365760"/>
          </a:xfrm>
          <a:prstGeom prst="rect">
            <a:avLst/>
          </a:prstGeom>
          <a:noFill/>
          <a:ln/>
        </p:spPr>
        <p:txBody>
          <a:bodyPr wrap="square" lIns="0" tIns="0" rIns="0" bIns="0" rtlCol="0" anchor="t"/>
          <a:lstStyle/>
          <a:p>
            <a:pPr indent="0" marL="0">
              <a:buNone/>
            </a:pPr>
            <a:r>
              <a:rPr lang="en-US" sz="1600" b="1" dirty="0">
                <a:solidFill>
                  <a:srgbClr val="C0462B"/>
                </a:solidFill>
                <a:latin typeface="Yu Mincho" pitchFamily="34" charset="0"/>
                <a:ea typeface="Yu Mincho" pitchFamily="34" charset="-122"/>
                <a:cs typeface="Yu Mincho" pitchFamily="34" charset="-120"/>
              </a:rPr>
              <a:t>仮説 1</a:t>
            </a:r>
            <a:endParaRPr lang="en-US" sz="1600" dirty="0"/>
          </a:p>
        </p:txBody>
      </p:sp>
      <p:sp>
        <p:nvSpPr>
          <p:cNvPr id="7" name="Text 5"/>
          <p:cNvSpPr txBox="1"/>
          <p:nvPr/>
        </p:nvSpPr>
        <p:spPr>
          <a:xfrm>
            <a:off x="685800" y="2743200"/>
            <a:ext cx="3401568" cy="914400"/>
          </a:xfrm>
          <a:prstGeom prst="rect">
            <a:avLst/>
          </a:prstGeom>
          <a:noFill/>
          <a:ln/>
        </p:spPr>
        <p:txBody>
          <a:bodyPr wrap="square" lIns="0" tIns="0" rIns="0" bIns="0" rtlCol="0" anchor="t"/>
          <a:lstStyle/>
          <a:p>
            <a:pPr indent="0" marL="0">
              <a:lnSpc>
                <a:spcPct val="130000"/>
              </a:lnSpc>
              <a:buNone/>
            </a:pPr>
            <a:r>
              <a:rPr lang="en-US" sz="1650" b="1" dirty="0">
                <a:solidFill>
                  <a:srgbClr val="1F1F1F"/>
                </a:solidFill>
                <a:latin typeface="Yu Gothic" pitchFamily="34" charset="0"/>
                <a:ea typeface="Yu Gothic" pitchFamily="34" charset="-122"/>
                <a:cs typeface="Yu Gothic" pitchFamily="34" charset="-120"/>
              </a:rPr>
              <a:t>足りないのは知名度より、</a:t>
            </a:r>
            <a:endParaRPr lang="en-US" sz="1650" dirty="0"/>
          </a:p>
          <a:p>
            <a:pPr indent="0" marL="0">
              <a:lnSpc>
                <a:spcPct val="130000"/>
              </a:lnSpc>
              <a:buNone/>
            </a:pPr>
            <a:r>
              <a:rPr lang="en-US" sz="1650" b="1" dirty="0">
                <a:solidFill>
                  <a:srgbClr val="1F1F1F"/>
                </a:solidFill>
                <a:latin typeface="Yu Gothic" pitchFamily="34" charset="0"/>
                <a:ea typeface="Yu Gothic" pitchFamily="34" charset="-122"/>
                <a:cs typeface="Yu Gothic" pitchFamily="34" charset="-120"/>
              </a:rPr>
              <a:t>「自分に関係がある」という感覚。</a:t>
            </a:r>
            <a:endParaRPr lang="en-US" sz="1650" dirty="0"/>
          </a:p>
        </p:txBody>
      </p:sp>
      <p:sp>
        <p:nvSpPr>
          <p:cNvPr id="8" name="Text 6"/>
          <p:cNvSpPr txBox="1"/>
          <p:nvPr/>
        </p:nvSpPr>
        <p:spPr>
          <a:xfrm>
            <a:off x="685800" y="3886200"/>
            <a:ext cx="3401568" cy="2103120"/>
          </a:xfrm>
          <a:prstGeom prst="rect">
            <a:avLst/>
          </a:prstGeom>
          <a:noFill/>
          <a:ln/>
        </p:spPr>
        <p:txBody>
          <a:bodyPr wrap="square" lIns="0" tIns="0" rIns="0" bIns="0" rtlCol="0" anchor="t"/>
          <a:lstStyle/>
          <a:p>
            <a:pPr indent="0" marL="0">
              <a:lnSpc>
                <a:spcPct val="155000"/>
              </a:lnSpc>
              <a:buNone/>
            </a:pPr>
            <a:r>
              <a:rPr lang="en-US" sz="1300" dirty="0">
                <a:solidFill>
                  <a:srgbClr val="6B6B6B"/>
                </a:solidFill>
                <a:latin typeface="Yu Gothic" pitchFamily="34" charset="0"/>
                <a:ea typeface="Yu Gothic" pitchFamily="34" charset="-122"/>
                <a:cs typeface="Yu Gothic" pitchFamily="34" charset="-120"/>
              </a:rPr>
              <a:t>法律の窓口は、困るまで自分ごとになりにくい。名前を覚えていても、借金、離婚、相続、職場のトラブルといった場面と結びついていなければ、困ったときに思い出されません。</a:t>
            </a:r>
            <a:endParaRPr lang="en-US" sz="1300" dirty="0"/>
          </a:p>
        </p:txBody>
      </p:sp>
      <p:sp>
        <p:nvSpPr>
          <p:cNvPr id="9" name="Text 7"/>
          <p:cNvSpPr txBox="1"/>
          <p:nvPr/>
        </p:nvSpPr>
        <p:spPr>
          <a:xfrm>
            <a:off x="4453128" y="2240280"/>
            <a:ext cx="1828800" cy="365760"/>
          </a:xfrm>
          <a:prstGeom prst="rect">
            <a:avLst/>
          </a:prstGeom>
          <a:noFill/>
          <a:ln/>
        </p:spPr>
        <p:txBody>
          <a:bodyPr wrap="square" lIns="0" tIns="0" rIns="0" bIns="0" rtlCol="0" anchor="t"/>
          <a:lstStyle/>
          <a:p>
            <a:pPr indent="0" marL="0">
              <a:buNone/>
            </a:pPr>
            <a:r>
              <a:rPr lang="en-US" sz="1600" b="1" dirty="0">
                <a:solidFill>
                  <a:srgbClr val="C0462B"/>
                </a:solidFill>
                <a:latin typeface="Yu Mincho" pitchFamily="34" charset="0"/>
                <a:ea typeface="Yu Mincho" pitchFamily="34" charset="-122"/>
                <a:cs typeface="Yu Mincho" pitchFamily="34" charset="-120"/>
              </a:rPr>
              <a:t>仮説 2</a:t>
            </a:r>
            <a:endParaRPr lang="en-US" sz="1600" dirty="0"/>
          </a:p>
        </p:txBody>
      </p:sp>
      <p:sp>
        <p:nvSpPr>
          <p:cNvPr id="10" name="Text 8"/>
          <p:cNvSpPr txBox="1"/>
          <p:nvPr/>
        </p:nvSpPr>
        <p:spPr>
          <a:xfrm>
            <a:off x="4453128" y="2743200"/>
            <a:ext cx="3401568" cy="914400"/>
          </a:xfrm>
          <a:prstGeom prst="rect">
            <a:avLst/>
          </a:prstGeom>
          <a:noFill/>
          <a:ln/>
        </p:spPr>
        <p:txBody>
          <a:bodyPr wrap="square" lIns="0" tIns="0" rIns="0" bIns="0" rtlCol="0" anchor="t"/>
          <a:lstStyle/>
          <a:p>
            <a:pPr indent="0" marL="0">
              <a:lnSpc>
                <a:spcPct val="130000"/>
              </a:lnSpc>
              <a:buNone/>
            </a:pPr>
            <a:r>
              <a:rPr lang="en-US" sz="1650" b="1" dirty="0">
                <a:solidFill>
                  <a:srgbClr val="1F1F1F"/>
                </a:solidFill>
                <a:latin typeface="Yu Gothic" pitchFamily="34" charset="0"/>
                <a:ea typeface="Yu Gothic" pitchFamily="34" charset="-122"/>
                <a:cs typeface="Yu Gothic" pitchFamily="34" charset="-120"/>
              </a:rPr>
              <a:t>広告は見られている。</a:t>
            </a:r>
            <a:endParaRPr lang="en-US" sz="1650" dirty="0"/>
          </a:p>
          <a:p>
            <a:pPr indent="0" marL="0">
              <a:lnSpc>
                <a:spcPct val="130000"/>
              </a:lnSpc>
              <a:buNone/>
            </a:pPr>
            <a:r>
              <a:rPr lang="en-US" sz="1650" b="1" dirty="0">
                <a:solidFill>
                  <a:srgbClr val="1F1F1F"/>
                </a:solidFill>
                <a:latin typeface="Yu Gothic" pitchFamily="34" charset="0"/>
                <a:ea typeface="Yu Gothic" pitchFamily="34" charset="-122"/>
                <a:cs typeface="Yu Gothic" pitchFamily="34" charset="-120"/>
              </a:rPr>
              <a:t>でも、見たあとに何も残っていない。</a:t>
            </a:r>
            <a:endParaRPr lang="en-US" sz="1650" dirty="0"/>
          </a:p>
        </p:txBody>
      </p:sp>
      <p:sp>
        <p:nvSpPr>
          <p:cNvPr id="11" name="Text 9"/>
          <p:cNvSpPr txBox="1"/>
          <p:nvPr/>
        </p:nvSpPr>
        <p:spPr>
          <a:xfrm>
            <a:off x="4453128" y="3886200"/>
            <a:ext cx="3401568" cy="2103120"/>
          </a:xfrm>
          <a:prstGeom prst="rect">
            <a:avLst/>
          </a:prstGeom>
          <a:noFill/>
          <a:ln/>
        </p:spPr>
        <p:txBody>
          <a:bodyPr wrap="square" lIns="0" tIns="0" rIns="0" bIns="0" rtlCol="0" anchor="t"/>
          <a:lstStyle/>
          <a:p>
            <a:pPr indent="0" marL="0">
              <a:lnSpc>
                <a:spcPct val="155000"/>
              </a:lnSpc>
              <a:buNone/>
            </a:pPr>
            <a:r>
              <a:rPr lang="en-US" sz="1300" dirty="0">
                <a:solidFill>
                  <a:srgbClr val="6B6B6B"/>
                </a:solidFill>
                <a:latin typeface="Yu Gothic" pitchFamily="34" charset="0"/>
                <a:ea typeface="Yu Gothic" pitchFamily="34" charset="-122"/>
                <a:cs typeface="Yu Gothic" pitchFamily="34" charset="-120"/>
              </a:rPr>
              <a:t>毎年のネット広告・SNS広告で名前には触れている。ただ短い接触では「法テラス＝何をする所」までは残りにくい。見せ方と、クリック後のページの問題かもしれません。</a:t>
            </a:r>
            <a:endParaRPr lang="en-US" sz="1300" dirty="0"/>
          </a:p>
        </p:txBody>
      </p:sp>
      <p:sp>
        <p:nvSpPr>
          <p:cNvPr id="12" name="Text 10"/>
          <p:cNvSpPr txBox="1"/>
          <p:nvPr/>
        </p:nvSpPr>
        <p:spPr>
          <a:xfrm>
            <a:off x="8220456" y="2240280"/>
            <a:ext cx="1828800" cy="365760"/>
          </a:xfrm>
          <a:prstGeom prst="rect">
            <a:avLst/>
          </a:prstGeom>
          <a:noFill/>
          <a:ln/>
        </p:spPr>
        <p:txBody>
          <a:bodyPr wrap="square" lIns="0" tIns="0" rIns="0" bIns="0" rtlCol="0" anchor="t"/>
          <a:lstStyle/>
          <a:p>
            <a:pPr indent="0" marL="0">
              <a:buNone/>
            </a:pPr>
            <a:r>
              <a:rPr lang="en-US" sz="1600" b="1" dirty="0">
                <a:solidFill>
                  <a:srgbClr val="C0462B"/>
                </a:solidFill>
                <a:latin typeface="Yu Mincho" pitchFamily="34" charset="0"/>
                <a:ea typeface="Yu Mincho" pitchFamily="34" charset="-122"/>
                <a:cs typeface="Yu Mincho" pitchFamily="34" charset="-120"/>
              </a:rPr>
              <a:t>仮説 3</a:t>
            </a:r>
            <a:endParaRPr lang="en-US" sz="1600" dirty="0"/>
          </a:p>
        </p:txBody>
      </p:sp>
      <p:sp>
        <p:nvSpPr>
          <p:cNvPr id="13" name="Text 11"/>
          <p:cNvSpPr txBox="1"/>
          <p:nvPr/>
        </p:nvSpPr>
        <p:spPr>
          <a:xfrm>
            <a:off x="8220456" y="2743200"/>
            <a:ext cx="3401568" cy="914400"/>
          </a:xfrm>
          <a:prstGeom prst="rect">
            <a:avLst/>
          </a:prstGeom>
          <a:noFill/>
          <a:ln/>
        </p:spPr>
        <p:txBody>
          <a:bodyPr wrap="square" lIns="0" tIns="0" rIns="0" bIns="0" rtlCol="0" anchor="t"/>
          <a:lstStyle/>
          <a:p>
            <a:pPr indent="0" marL="0">
              <a:lnSpc>
                <a:spcPct val="130000"/>
              </a:lnSpc>
              <a:buNone/>
            </a:pPr>
            <a:r>
              <a:rPr lang="en-US" sz="1650" b="1" dirty="0">
                <a:solidFill>
                  <a:srgbClr val="1F1F1F"/>
                </a:solidFill>
                <a:latin typeface="Yu Gothic" pitchFamily="34" charset="0"/>
                <a:ea typeface="Yu Gothic" pitchFamily="34" charset="-122"/>
                <a:cs typeface="Yu Gothic" pitchFamily="34" charset="-120"/>
              </a:rPr>
              <a:t>本人より先に、</a:t>
            </a:r>
            <a:endParaRPr lang="en-US" sz="1650" dirty="0"/>
          </a:p>
          <a:p>
            <a:pPr indent="0" marL="0">
              <a:lnSpc>
                <a:spcPct val="130000"/>
              </a:lnSpc>
              <a:buNone/>
            </a:pPr>
            <a:r>
              <a:rPr lang="en-US" sz="1650" b="1" dirty="0">
                <a:solidFill>
                  <a:srgbClr val="1F1F1F"/>
                </a:solidFill>
                <a:latin typeface="Yu Gothic" pitchFamily="34" charset="0"/>
                <a:ea typeface="Yu Gothic" pitchFamily="34" charset="-122"/>
                <a:cs typeface="Yu Gothic" pitchFamily="34" charset="-120"/>
              </a:rPr>
              <a:t>周りの人に知ってもらう。</a:t>
            </a:r>
            <a:endParaRPr lang="en-US" sz="1650" dirty="0"/>
          </a:p>
        </p:txBody>
      </p:sp>
      <p:sp>
        <p:nvSpPr>
          <p:cNvPr id="14" name="Text 12"/>
          <p:cNvSpPr txBox="1"/>
          <p:nvPr/>
        </p:nvSpPr>
        <p:spPr>
          <a:xfrm>
            <a:off x="8220456" y="3886200"/>
            <a:ext cx="3401568" cy="2103120"/>
          </a:xfrm>
          <a:prstGeom prst="rect">
            <a:avLst/>
          </a:prstGeom>
          <a:noFill/>
          <a:ln/>
        </p:spPr>
        <p:txBody>
          <a:bodyPr wrap="square" lIns="0" tIns="0" rIns="0" bIns="0" rtlCol="0" anchor="t"/>
          <a:lstStyle/>
          <a:p>
            <a:pPr indent="0" marL="0">
              <a:lnSpc>
                <a:spcPct val="155000"/>
              </a:lnSpc>
              <a:buNone/>
            </a:pPr>
            <a:r>
              <a:rPr lang="en-US" sz="1300" dirty="0">
                <a:solidFill>
                  <a:srgbClr val="6B6B6B"/>
                </a:solidFill>
                <a:latin typeface="Yu Gothic" pitchFamily="34" charset="0"/>
                <a:ea typeface="Yu Gothic" pitchFamily="34" charset="-122"/>
                <a:cs typeface="Yu Gothic" pitchFamily="34" charset="-120"/>
              </a:rPr>
              <a:t>困っている本人ほど自分で調べる余裕がない。家族や自治体・福祉の窓口の人が「法テラスに聞いてみたら」と言える状態をつくるほうが届く層があると考えています。</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5</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どこで止まっているかを、4つの段階で見ます。</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「認知度が低い」を一つの数字で見ると、打ち手がぼやけます。止まっている段階ごとに、効く手は違います。</a:t>
            </a:r>
            <a:endParaRPr lang="en-US" sz="1400" dirty="0"/>
          </a:p>
        </p:txBody>
      </p:sp>
      <p:sp>
        <p:nvSpPr>
          <p:cNvPr id="6" name="Shape 4"/>
          <p:cNvSpPr/>
          <p:nvPr/>
        </p:nvSpPr>
        <p:spPr>
          <a:xfrm>
            <a:off x="685800" y="2148840"/>
            <a:ext cx="2542032" cy="2697480"/>
          </a:xfrm>
          <a:prstGeom prst="rect">
            <a:avLst/>
          </a:prstGeom>
          <a:solidFill>
            <a:srgbClr val="1F1F1F"/>
          </a:solidFill>
          <a:ln w="12700">
            <a:solidFill>
              <a:srgbClr val="1F1F1F"/>
            </a:solidFill>
            <a:prstDash val="solid"/>
          </a:ln>
        </p:spPr>
      </p:sp>
      <p:sp>
        <p:nvSpPr>
          <p:cNvPr id="7" name="Text 5"/>
          <p:cNvSpPr txBox="1"/>
          <p:nvPr/>
        </p:nvSpPr>
        <p:spPr>
          <a:xfrm>
            <a:off x="914400" y="2350008"/>
            <a:ext cx="2084832" cy="457200"/>
          </a:xfrm>
          <a:prstGeom prst="rect">
            <a:avLst/>
          </a:prstGeom>
          <a:noFill/>
          <a:ln/>
        </p:spPr>
        <p:txBody>
          <a:bodyPr wrap="square" lIns="0" tIns="0" rIns="0" bIns="0" rtlCol="0" anchor="ctr"/>
          <a:lstStyle/>
          <a:p>
            <a:pPr indent="0" marL="0">
              <a:buNone/>
            </a:pPr>
            <a:r>
              <a:rPr lang="en-US" sz="2200" b="1" dirty="0">
                <a:solidFill>
                  <a:srgbClr val="FFFFFF"/>
                </a:solidFill>
                <a:latin typeface="Yu Mincho" pitchFamily="34" charset="0"/>
                <a:ea typeface="Yu Mincho" pitchFamily="34" charset="-122"/>
                <a:cs typeface="Yu Mincho" pitchFamily="34" charset="-120"/>
              </a:rPr>
              <a:t>知っている</a:t>
            </a:r>
            <a:endParaRPr lang="en-US" sz="2200" dirty="0"/>
          </a:p>
        </p:txBody>
      </p:sp>
      <p:sp>
        <p:nvSpPr>
          <p:cNvPr id="8" name="Text 6"/>
          <p:cNvSpPr txBox="1"/>
          <p:nvPr/>
        </p:nvSpPr>
        <p:spPr>
          <a:xfrm>
            <a:off x="914400" y="2880360"/>
            <a:ext cx="2084832" cy="548640"/>
          </a:xfrm>
          <a:prstGeom prst="rect">
            <a:avLst/>
          </a:prstGeom>
          <a:noFill/>
          <a:ln/>
        </p:spPr>
        <p:txBody>
          <a:bodyPr wrap="square" lIns="0" tIns="0" rIns="0" bIns="0" rtlCol="0" anchor="t"/>
          <a:lstStyle/>
          <a:p>
            <a:pPr indent="0" marL="0">
              <a:lnSpc>
                <a:spcPct val="125000"/>
              </a:lnSpc>
              <a:buNone/>
            </a:pPr>
            <a:r>
              <a:rPr lang="en-US" sz="1200" dirty="0">
                <a:solidFill>
                  <a:srgbClr val="FFFFFF"/>
                </a:solidFill>
                <a:latin typeface="Yu Gothic" pitchFamily="34" charset="0"/>
                <a:ea typeface="Yu Gothic" pitchFamily="34" charset="-122"/>
                <a:cs typeface="Yu Gothic" pitchFamily="34" charset="-120"/>
              </a:rPr>
              <a:t>名前を聞いたことがある</a:t>
            </a:r>
            <a:endParaRPr lang="en-US" sz="1200" dirty="0"/>
          </a:p>
        </p:txBody>
      </p:sp>
      <p:sp>
        <p:nvSpPr>
          <p:cNvPr id="9" name="Text 7"/>
          <p:cNvSpPr txBox="1"/>
          <p:nvPr/>
        </p:nvSpPr>
        <p:spPr>
          <a:xfrm>
            <a:off x="914400" y="3246120"/>
            <a:ext cx="2084832" cy="274320"/>
          </a:xfrm>
          <a:prstGeom prst="rect">
            <a:avLst/>
          </a:prstGeom>
          <a:noFill/>
          <a:ln/>
        </p:spPr>
        <p:txBody>
          <a:bodyPr wrap="square" lIns="0" tIns="0" rIns="0" bIns="0" rtlCol="0" anchor="t"/>
          <a:lstStyle/>
          <a:p>
            <a:pPr indent="0" marL="0">
              <a:lnSpc>
                <a:spcPct val="125000"/>
              </a:lnSpc>
              <a:buNone/>
            </a:pPr>
            <a:r>
              <a:rPr lang="en-US" sz="1050" dirty="0">
                <a:solidFill>
                  <a:srgbClr val="FFFFFF"/>
                </a:solidFill>
                <a:latin typeface="Yu Gothic" pitchFamily="34" charset="0"/>
                <a:ea typeface="Yu Gothic" pitchFamily="34" charset="-122"/>
                <a:cs typeface="Yu Gothic" pitchFamily="34" charset="-120"/>
              </a:rPr>
              <a:t>名称認知</a:t>
            </a:r>
            <a:endParaRPr lang="en-US" sz="1050" dirty="0"/>
          </a:p>
        </p:txBody>
      </p:sp>
      <p:sp>
        <p:nvSpPr>
          <p:cNvPr id="10" name="Text 8"/>
          <p:cNvSpPr txBox="1"/>
          <p:nvPr/>
        </p:nvSpPr>
        <p:spPr>
          <a:xfrm>
            <a:off x="685800" y="5029200"/>
            <a:ext cx="2542032" cy="365760"/>
          </a:xfrm>
          <a:prstGeom prst="rect">
            <a:avLst/>
          </a:prstGeom>
          <a:noFill/>
          <a:ln/>
        </p:spPr>
        <p:txBody>
          <a:bodyPr wrap="square" lIns="0" tIns="0" rIns="0" bIns="0" rtlCol="0" anchor="t"/>
          <a:lstStyle/>
          <a:p>
            <a:pPr indent="0" marL="0">
              <a:lnSpc>
                <a:spcPct val="125000"/>
              </a:lnSpc>
              <a:buNone/>
            </a:pPr>
            <a:r>
              <a:rPr lang="en-US" sz="1300" b="1" dirty="0">
                <a:solidFill>
                  <a:srgbClr val="1F1F1F"/>
                </a:solidFill>
                <a:latin typeface="Yu Gothic" pitchFamily="34" charset="0"/>
                <a:ea typeface="Yu Gothic" pitchFamily="34" charset="-122"/>
                <a:cs typeface="Yu Gothic" pitchFamily="34" charset="-120"/>
              </a:rPr>
              <a:t>そもそも届いていない？</a:t>
            </a:r>
            <a:endParaRPr lang="en-US" sz="1300" dirty="0"/>
          </a:p>
        </p:txBody>
      </p:sp>
      <p:sp>
        <p:nvSpPr>
          <p:cNvPr id="11" name="Shape 9"/>
          <p:cNvSpPr/>
          <p:nvPr/>
        </p:nvSpPr>
        <p:spPr>
          <a:xfrm>
            <a:off x="3337560" y="2514600"/>
            <a:ext cx="2542032" cy="2331720"/>
          </a:xfrm>
          <a:prstGeom prst="rect">
            <a:avLst/>
          </a:prstGeom>
          <a:solidFill>
            <a:srgbClr val="C0462B"/>
          </a:solidFill>
          <a:ln w="12700">
            <a:solidFill>
              <a:srgbClr val="C0462B"/>
            </a:solidFill>
            <a:prstDash val="solid"/>
          </a:ln>
        </p:spPr>
      </p:sp>
      <p:sp>
        <p:nvSpPr>
          <p:cNvPr id="12" name="Text 10"/>
          <p:cNvSpPr txBox="1"/>
          <p:nvPr/>
        </p:nvSpPr>
        <p:spPr>
          <a:xfrm>
            <a:off x="3566160" y="2715768"/>
            <a:ext cx="2084832" cy="457200"/>
          </a:xfrm>
          <a:prstGeom prst="rect">
            <a:avLst/>
          </a:prstGeom>
          <a:noFill/>
          <a:ln/>
        </p:spPr>
        <p:txBody>
          <a:bodyPr wrap="square" lIns="0" tIns="0" rIns="0" bIns="0" rtlCol="0" anchor="ctr"/>
          <a:lstStyle/>
          <a:p>
            <a:pPr indent="0" marL="0">
              <a:buNone/>
            </a:pPr>
            <a:r>
              <a:rPr lang="en-US" sz="2200" b="1" dirty="0">
                <a:solidFill>
                  <a:srgbClr val="FFFFFF"/>
                </a:solidFill>
                <a:latin typeface="Yu Mincho" pitchFamily="34" charset="0"/>
                <a:ea typeface="Yu Mincho" pitchFamily="34" charset="-122"/>
                <a:cs typeface="Yu Mincho" pitchFamily="34" charset="-120"/>
              </a:rPr>
              <a:t>わかる</a:t>
            </a:r>
            <a:endParaRPr lang="en-US" sz="2200" dirty="0"/>
          </a:p>
        </p:txBody>
      </p:sp>
      <p:sp>
        <p:nvSpPr>
          <p:cNvPr id="13" name="Text 11"/>
          <p:cNvSpPr txBox="1"/>
          <p:nvPr/>
        </p:nvSpPr>
        <p:spPr>
          <a:xfrm>
            <a:off x="3566160" y="3246120"/>
            <a:ext cx="2084832" cy="548640"/>
          </a:xfrm>
          <a:prstGeom prst="rect">
            <a:avLst/>
          </a:prstGeom>
          <a:noFill/>
          <a:ln/>
        </p:spPr>
        <p:txBody>
          <a:bodyPr wrap="square" lIns="0" tIns="0" rIns="0" bIns="0" rtlCol="0" anchor="t"/>
          <a:lstStyle/>
          <a:p>
            <a:pPr indent="0" marL="0">
              <a:lnSpc>
                <a:spcPct val="125000"/>
              </a:lnSpc>
              <a:buNone/>
            </a:pPr>
            <a:r>
              <a:rPr lang="en-US" sz="1200" dirty="0">
                <a:solidFill>
                  <a:srgbClr val="FFFFFF"/>
                </a:solidFill>
                <a:latin typeface="Yu Gothic" pitchFamily="34" charset="0"/>
                <a:ea typeface="Yu Gothic" pitchFamily="34" charset="-122"/>
                <a:cs typeface="Yu Gothic" pitchFamily="34" charset="-120"/>
              </a:rPr>
              <a:t>何をする所か知っている</a:t>
            </a:r>
            <a:endParaRPr lang="en-US" sz="1200" dirty="0"/>
          </a:p>
        </p:txBody>
      </p:sp>
      <p:sp>
        <p:nvSpPr>
          <p:cNvPr id="14" name="Text 12"/>
          <p:cNvSpPr txBox="1"/>
          <p:nvPr/>
        </p:nvSpPr>
        <p:spPr>
          <a:xfrm>
            <a:off x="3566160" y="3611880"/>
            <a:ext cx="2084832" cy="274320"/>
          </a:xfrm>
          <a:prstGeom prst="rect">
            <a:avLst/>
          </a:prstGeom>
          <a:noFill/>
          <a:ln/>
        </p:spPr>
        <p:txBody>
          <a:bodyPr wrap="square" lIns="0" tIns="0" rIns="0" bIns="0" rtlCol="0" anchor="t"/>
          <a:lstStyle/>
          <a:p>
            <a:pPr indent="0" marL="0">
              <a:lnSpc>
                <a:spcPct val="125000"/>
              </a:lnSpc>
              <a:buNone/>
            </a:pPr>
            <a:r>
              <a:rPr lang="en-US" sz="1050" dirty="0">
                <a:solidFill>
                  <a:srgbClr val="FFFFFF"/>
                </a:solidFill>
                <a:latin typeface="Yu Gothic" pitchFamily="34" charset="0"/>
                <a:ea typeface="Yu Gothic" pitchFamily="34" charset="-122"/>
                <a:cs typeface="Yu Gothic" pitchFamily="34" charset="-120"/>
              </a:rPr>
              <a:t>業務認知</a:t>
            </a:r>
            <a:endParaRPr lang="en-US" sz="1050" dirty="0"/>
          </a:p>
        </p:txBody>
      </p:sp>
      <p:sp>
        <p:nvSpPr>
          <p:cNvPr id="15" name="Text 13"/>
          <p:cNvSpPr txBox="1"/>
          <p:nvPr/>
        </p:nvSpPr>
        <p:spPr>
          <a:xfrm>
            <a:off x="3337560" y="5029200"/>
            <a:ext cx="2542032" cy="36576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説明が伝わっていない？</a:t>
            </a:r>
            <a:endParaRPr lang="en-US" sz="1300" dirty="0"/>
          </a:p>
        </p:txBody>
      </p:sp>
      <p:sp>
        <p:nvSpPr>
          <p:cNvPr id="16" name="Shape 14"/>
          <p:cNvSpPr/>
          <p:nvPr/>
        </p:nvSpPr>
        <p:spPr>
          <a:xfrm>
            <a:off x="5989320" y="2880360"/>
            <a:ext cx="2542032" cy="1965960"/>
          </a:xfrm>
          <a:prstGeom prst="rect">
            <a:avLst/>
          </a:prstGeom>
          <a:solidFill>
            <a:srgbClr val="F2F2F0"/>
          </a:solidFill>
          <a:ln w="12700">
            <a:solidFill>
              <a:srgbClr val="F2F2F0"/>
            </a:solidFill>
            <a:prstDash val="solid"/>
          </a:ln>
        </p:spPr>
      </p:sp>
      <p:sp>
        <p:nvSpPr>
          <p:cNvPr id="17" name="Text 15"/>
          <p:cNvSpPr txBox="1"/>
          <p:nvPr/>
        </p:nvSpPr>
        <p:spPr>
          <a:xfrm>
            <a:off x="6217920" y="3081528"/>
            <a:ext cx="2084832" cy="457200"/>
          </a:xfrm>
          <a:prstGeom prst="rect">
            <a:avLst/>
          </a:prstGeom>
          <a:noFill/>
          <a:ln/>
        </p:spPr>
        <p:txBody>
          <a:bodyPr wrap="square" lIns="0" tIns="0" rIns="0" bIns="0" rtlCol="0" anchor="ctr"/>
          <a:lstStyle/>
          <a:p>
            <a:pPr indent="0" marL="0">
              <a:buNone/>
            </a:pPr>
            <a:r>
              <a:rPr lang="en-US" sz="2200" b="1" dirty="0">
                <a:solidFill>
                  <a:srgbClr val="1F1F1F"/>
                </a:solidFill>
                <a:latin typeface="Yu Mincho" pitchFamily="34" charset="0"/>
                <a:ea typeface="Yu Mincho" pitchFamily="34" charset="-122"/>
                <a:cs typeface="Yu Mincho" pitchFamily="34" charset="-120"/>
              </a:rPr>
              <a:t>思い出す</a:t>
            </a:r>
            <a:endParaRPr lang="en-US" sz="2200" dirty="0"/>
          </a:p>
        </p:txBody>
      </p:sp>
      <p:sp>
        <p:nvSpPr>
          <p:cNvPr id="18" name="Text 16"/>
          <p:cNvSpPr txBox="1"/>
          <p:nvPr/>
        </p:nvSpPr>
        <p:spPr>
          <a:xfrm>
            <a:off x="6217920" y="3611880"/>
            <a:ext cx="2084832" cy="548640"/>
          </a:xfrm>
          <a:prstGeom prst="rect">
            <a:avLst/>
          </a:prstGeom>
          <a:noFill/>
          <a:ln/>
        </p:spPr>
        <p:txBody>
          <a:bodyPr wrap="square" lIns="0" tIns="0" rIns="0" bIns="0" rtlCol="0" anchor="t"/>
          <a:lstStyle/>
          <a:p>
            <a:pPr indent="0" marL="0">
              <a:lnSpc>
                <a:spcPct val="125000"/>
              </a:lnSpc>
              <a:buNone/>
            </a:pPr>
            <a:r>
              <a:rPr lang="en-US" sz="1200" dirty="0">
                <a:solidFill>
                  <a:srgbClr val="1F1F1F"/>
                </a:solidFill>
                <a:latin typeface="Yu Gothic" pitchFamily="34" charset="0"/>
                <a:ea typeface="Yu Gothic" pitchFamily="34" charset="-122"/>
                <a:cs typeface="Yu Gothic" pitchFamily="34" charset="-120"/>
              </a:rPr>
              <a:t>困ったときに頭に浮かぶ</a:t>
            </a:r>
            <a:endParaRPr lang="en-US" sz="1200" dirty="0"/>
          </a:p>
        </p:txBody>
      </p:sp>
      <p:sp>
        <p:nvSpPr>
          <p:cNvPr id="19" name="Text 17"/>
          <p:cNvSpPr txBox="1"/>
          <p:nvPr/>
        </p:nvSpPr>
        <p:spPr>
          <a:xfrm>
            <a:off x="6217920" y="3977640"/>
            <a:ext cx="2084832"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設問の有無を確認</a:t>
            </a:r>
            <a:endParaRPr lang="en-US" sz="1050" dirty="0"/>
          </a:p>
        </p:txBody>
      </p:sp>
      <p:sp>
        <p:nvSpPr>
          <p:cNvPr id="20" name="Text 18"/>
          <p:cNvSpPr txBox="1"/>
          <p:nvPr/>
        </p:nvSpPr>
        <p:spPr>
          <a:xfrm>
            <a:off x="5989320" y="5029200"/>
            <a:ext cx="2542032" cy="365760"/>
          </a:xfrm>
          <a:prstGeom prst="rect">
            <a:avLst/>
          </a:prstGeom>
          <a:noFill/>
          <a:ln/>
        </p:spPr>
        <p:txBody>
          <a:bodyPr wrap="square" lIns="0" tIns="0" rIns="0" bIns="0" rtlCol="0" anchor="t"/>
          <a:lstStyle/>
          <a:p>
            <a:pPr indent="0" marL="0">
              <a:lnSpc>
                <a:spcPct val="125000"/>
              </a:lnSpc>
              <a:buNone/>
            </a:pPr>
            <a:r>
              <a:rPr lang="en-US" sz="1300" b="1" dirty="0">
                <a:solidFill>
                  <a:srgbClr val="1F1F1F"/>
                </a:solidFill>
                <a:latin typeface="Yu Gothic" pitchFamily="34" charset="0"/>
                <a:ea typeface="Yu Gothic" pitchFamily="34" charset="-122"/>
                <a:cs typeface="Yu Gothic" pitchFamily="34" charset="-120"/>
              </a:rPr>
              <a:t>自分ごとになっていない？</a:t>
            </a:r>
            <a:endParaRPr lang="en-US" sz="1300" dirty="0"/>
          </a:p>
        </p:txBody>
      </p:sp>
      <p:sp>
        <p:nvSpPr>
          <p:cNvPr id="21" name="Shape 19"/>
          <p:cNvSpPr/>
          <p:nvPr/>
        </p:nvSpPr>
        <p:spPr>
          <a:xfrm>
            <a:off x="8641080" y="3246120"/>
            <a:ext cx="2542032" cy="1600200"/>
          </a:xfrm>
          <a:prstGeom prst="rect">
            <a:avLst/>
          </a:prstGeom>
          <a:solidFill>
            <a:srgbClr val="F2F2F0"/>
          </a:solidFill>
          <a:ln w="12700">
            <a:solidFill>
              <a:srgbClr val="F2F2F0"/>
            </a:solidFill>
            <a:prstDash val="solid"/>
          </a:ln>
        </p:spPr>
      </p:sp>
      <p:sp>
        <p:nvSpPr>
          <p:cNvPr id="22" name="Text 20"/>
          <p:cNvSpPr txBox="1"/>
          <p:nvPr/>
        </p:nvSpPr>
        <p:spPr>
          <a:xfrm>
            <a:off x="8869680" y="3447288"/>
            <a:ext cx="2084832" cy="457200"/>
          </a:xfrm>
          <a:prstGeom prst="rect">
            <a:avLst/>
          </a:prstGeom>
          <a:noFill/>
          <a:ln/>
        </p:spPr>
        <p:txBody>
          <a:bodyPr wrap="square" lIns="0" tIns="0" rIns="0" bIns="0" rtlCol="0" anchor="ctr"/>
          <a:lstStyle/>
          <a:p>
            <a:pPr indent="0" marL="0">
              <a:buNone/>
            </a:pPr>
            <a:r>
              <a:rPr lang="en-US" sz="2200" b="1" dirty="0">
                <a:solidFill>
                  <a:srgbClr val="1F1F1F"/>
                </a:solidFill>
                <a:latin typeface="Yu Mincho" pitchFamily="34" charset="0"/>
                <a:ea typeface="Yu Mincho" pitchFamily="34" charset="-122"/>
                <a:cs typeface="Yu Mincho" pitchFamily="34" charset="-120"/>
              </a:rPr>
              <a:t>たどり着く</a:t>
            </a:r>
            <a:endParaRPr lang="en-US" sz="2200" dirty="0"/>
          </a:p>
        </p:txBody>
      </p:sp>
      <p:sp>
        <p:nvSpPr>
          <p:cNvPr id="23" name="Text 21"/>
          <p:cNvSpPr txBox="1"/>
          <p:nvPr/>
        </p:nvSpPr>
        <p:spPr>
          <a:xfrm>
            <a:off x="8869680" y="3977640"/>
            <a:ext cx="2084832" cy="548640"/>
          </a:xfrm>
          <a:prstGeom prst="rect">
            <a:avLst/>
          </a:prstGeom>
          <a:noFill/>
          <a:ln/>
        </p:spPr>
        <p:txBody>
          <a:bodyPr wrap="square" lIns="0" tIns="0" rIns="0" bIns="0" rtlCol="0" anchor="t"/>
          <a:lstStyle/>
          <a:p>
            <a:pPr indent="0" marL="0">
              <a:lnSpc>
                <a:spcPct val="125000"/>
              </a:lnSpc>
              <a:buNone/>
            </a:pPr>
            <a:r>
              <a:rPr lang="en-US" sz="1200" dirty="0">
                <a:solidFill>
                  <a:srgbClr val="1F1F1F"/>
                </a:solidFill>
                <a:latin typeface="Yu Gothic" pitchFamily="34" charset="0"/>
                <a:ea typeface="Yu Gothic" pitchFamily="34" charset="-122"/>
                <a:cs typeface="Yu Gothic" pitchFamily="34" charset="-120"/>
              </a:rPr>
              <a:t>電話やサイトまで来られる</a:t>
            </a:r>
            <a:endParaRPr lang="en-US" sz="1200" dirty="0"/>
          </a:p>
        </p:txBody>
      </p:sp>
      <p:sp>
        <p:nvSpPr>
          <p:cNvPr id="24" name="Text 22"/>
          <p:cNvSpPr txBox="1"/>
          <p:nvPr/>
        </p:nvSpPr>
        <p:spPr>
          <a:xfrm>
            <a:off x="8869680" y="4343400"/>
            <a:ext cx="2084832"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設問の有無を確認</a:t>
            </a:r>
            <a:endParaRPr lang="en-US" sz="1050" dirty="0"/>
          </a:p>
        </p:txBody>
      </p:sp>
      <p:sp>
        <p:nvSpPr>
          <p:cNvPr id="25" name="Text 23"/>
          <p:cNvSpPr txBox="1"/>
          <p:nvPr/>
        </p:nvSpPr>
        <p:spPr>
          <a:xfrm>
            <a:off x="8641080" y="5029200"/>
            <a:ext cx="2542032" cy="365760"/>
          </a:xfrm>
          <a:prstGeom prst="rect">
            <a:avLst/>
          </a:prstGeom>
          <a:noFill/>
          <a:ln/>
        </p:spPr>
        <p:txBody>
          <a:bodyPr wrap="square" lIns="0" tIns="0" rIns="0" bIns="0" rtlCol="0" anchor="t"/>
          <a:lstStyle/>
          <a:p>
            <a:pPr indent="0" marL="0">
              <a:lnSpc>
                <a:spcPct val="125000"/>
              </a:lnSpc>
              <a:buNone/>
            </a:pPr>
            <a:r>
              <a:rPr lang="en-US" sz="1300" b="1" dirty="0">
                <a:solidFill>
                  <a:srgbClr val="1F1F1F"/>
                </a:solidFill>
                <a:latin typeface="Yu Gothic" pitchFamily="34" charset="0"/>
                <a:ea typeface="Yu Gothic" pitchFamily="34" charset="-122"/>
                <a:cs typeface="Yu Gothic" pitchFamily="34" charset="-120"/>
              </a:rPr>
              <a:t>使い方がわからない？</a:t>
            </a:r>
            <a:endParaRPr lang="en-US" sz="1300" dirty="0"/>
          </a:p>
        </p:txBody>
      </p:sp>
      <p:sp>
        <p:nvSpPr>
          <p:cNvPr id="26" name="Text 24"/>
          <p:cNvSpPr txBox="1"/>
          <p:nvPr/>
        </p:nvSpPr>
        <p:spPr>
          <a:xfrm>
            <a:off x="685800" y="5715000"/>
            <a:ext cx="10515600" cy="36576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※「思い出す」「たどり着く」が現在の調査で測れていない場合は、推測で埋めずに、次回調査に入れる設問として提案します。</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6</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調査の数字だけで、原因を決めつけません。</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数字・発信物・現場の声の3つを突き合わせて、「なぜ」を掘り下げます。</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011680"/>
          <a:ext cx="10820095" cy="914400"/>
        </p:xfrm>
        <a:graphic>
          <a:graphicData uri="http://schemas.openxmlformats.org/drawingml/2006/table">
            <a:tbl>
              <a:tblPr/>
              <a:tblGrid>
                <a:gridCol w="2651760"/>
                <a:gridCol w="5120640"/>
                <a:gridCol w="3044952"/>
              </a:tblGrid>
              <a:tr h="411480">
                <a:tc>
                  <a:txBody>
                    <a:bodyPr/>
                    <a:lstStyle/>
                    <a:p>
                      <a:pPr indent="0" marL="0">
                        <a:buNone/>
                      </a:pPr>
                      <a:r>
                        <a:rPr lang="en-US" sz="1200" b="1" dirty="0">
                          <a:solidFill>
                            <a:srgbClr val="6B6B6B"/>
                          </a:solidFill>
                          <a:latin typeface="Yu Gothic" pitchFamily="34" charset="0"/>
                          <a:ea typeface="Yu Gothic" pitchFamily="34" charset="-122"/>
                          <a:cs typeface="Yu Gothic" pitchFamily="34" charset="-120"/>
                        </a:rPr>
                        <a:t>材料</a:t>
                      </a:r>
                      <a:endParaRPr lang="en-US" sz="1200" dirty="0">
                        <a:latin typeface="Yu Gothic" charset="0"/>
                        <a:ea typeface="Yu Gothic" charset="0"/>
                        <a:cs typeface="Yu Gothic" charset="0"/>
                      </a:endParaRPr>
                    </a:p>
                  </a:txBody>
                  <a:tcPr marL="0" marR="91440" marT="73152" marB="73152">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solidFill>
                      <a:srgbClr val="FFFFFF"/>
                    </a:solidFill>
                  </a:tcPr>
                </a:tc>
                <a:tc>
                  <a:txBody>
                    <a:bodyPr/>
                    <a:lstStyle/>
                    <a:p>
                      <a:pPr indent="0" marL="0">
                        <a:buNone/>
                      </a:pPr>
                      <a:r>
                        <a:rPr lang="en-US" sz="1200" b="1" dirty="0">
                          <a:solidFill>
                            <a:srgbClr val="6B6B6B"/>
                          </a:solidFill>
                          <a:latin typeface="Yu Gothic" pitchFamily="34" charset="0"/>
                          <a:ea typeface="Yu Gothic" pitchFamily="34" charset="-122"/>
                          <a:cs typeface="Yu Gothic" pitchFamily="34" charset="-120"/>
                        </a:rPr>
                        <a:t>見ること</a:t>
                      </a:r>
                      <a:endParaRPr lang="en-US" sz="1200" dirty="0">
                        <a:latin typeface="Yu Gothic" charset="0"/>
                        <a:ea typeface="Yu Gothic" charset="0"/>
                        <a:cs typeface="Yu Gothic" charset="0"/>
                      </a:endParaRPr>
                    </a:p>
                  </a:txBody>
                  <a:tcPr marL="0" marR="91440" marT="73152" marB="73152">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solidFill>
                      <a:srgbClr val="FFFFFF"/>
                    </a:solidFill>
                  </a:tcPr>
                </a:tc>
                <a:tc>
                  <a:txBody>
                    <a:bodyPr/>
                    <a:lstStyle/>
                    <a:p>
                      <a:pPr indent="0" marL="0">
                        <a:buNone/>
                      </a:pPr>
                      <a:r>
                        <a:rPr lang="en-US" sz="1200" b="1" dirty="0">
                          <a:solidFill>
                            <a:srgbClr val="6B6B6B"/>
                          </a:solidFill>
                          <a:latin typeface="Yu Gothic" pitchFamily="34" charset="0"/>
                          <a:ea typeface="Yu Gothic" pitchFamily="34" charset="-122"/>
                          <a:cs typeface="Yu Gothic" pitchFamily="34" charset="-120"/>
                        </a:rPr>
                        <a:t>そこからわかること</a:t>
                      </a:r>
                      <a:endParaRPr lang="en-US" sz="1200" dirty="0">
                        <a:latin typeface="Yu Gothic" charset="0"/>
                        <a:ea typeface="Yu Gothic" charset="0"/>
                        <a:cs typeface="Yu Gothic" charset="0"/>
                      </a:endParaRPr>
                    </a:p>
                  </a:txBody>
                  <a:tcPr marL="0" marR="91440" marT="73152" marB="73152">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solidFill>
                      <a:srgbClr val="FFFFFF"/>
                    </a:solidFill>
                  </a:tcPr>
                </a:tc>
              </a:tr>
              <a:tr h="960120">
                <a:tc>
                  <a:txBody>
                    <a:bodyPr/>
                    <a:lstStyle/>
                    <a:p>
                      <a:pPr indent="0" marL="0">
                        <a:buNone/>
                      </a:pPr>
                      <a:r>
                        <a:rPr lang="en-US" sz="1600" b="1" dirty="0">
                          <a:solidFill>
                            <a:srgbClr val="1F1F1F"/>
                          </a:solidFill>
                          <a:latin typeface="Yu Mincho" pitchFamily="34" charset="0"/>
                          <a:ea typeface="Yu Mincho" pitchFamily="34" charset="-122"/>
                          <a:cs typeface="Yu Mincho" pitchFamily="34" charset="-120"/>
                        </a:rPr>
                        <a:t>認知度調査</a:t>
                      </a:r>
                      <a:endParaRPr lang="en-US" sz="1600" dirty="0">
                        <a:latin typeface="Yu Mincho" charset="0"/>
                        <a:ea typeface="Yu Mincho" charset="0"/>
                        <a:cs typeface="Yu Mincho"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12月調査と、比較できる過去2回分程度。年代・性別・地域・どこで知ったか、で比べる</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どの層の、どの段階で止まっているか</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960120">
                <a:tc>
                  <a:txBody>
                    <a:bodyPr/>
                    <a:lstStyle/>
                    <a:p>
                      <a:pPr indent="0" marL="0">
                        <a:buNone/>
                      </a:pPr>
                      <a:r>
                        <a:rPr lang="en-US" sz="1600" b="1" dirty="0">
                          <a:solidFill>
                            <a:srgbClr val="1F1F1F"/>
                          </a:solidFill>
                          <a:latin typeface="Yu Mincho" pitchFamily="34" charset="0"/>
                          <a:ea typeface="Yu Mincho" pitchFamily="34" charset="-122"/>
                          <a:cs typeface="Yu Mincho" pitchFamily="34" charset="-120"/>
                        </a:rPr>
                        <a:t>いま出している情報</a:t>
                      </a:r>
                      <a:endParaRPr lang="en-US" sz="1600" dirty="0">
                        <a:latin typeface="Yu Mincho" charset="0"/>
                        <a:ea typeface="Yu Mincho" charset="0"/>
                        <a:cs typeface="Yu Mincho"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ネット広告、LP、SNS、公式サイト、刊行物など代表的なもの20点ほど。言葉・順番・クリック後の流れを点検</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伝わりにくい言い回しや、誤解されやすい入口</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960120">
                <a:tc>
                  <a:txBody>
                    <a:bodyPr/>
                    <a:lstStyle/>
                    <a:p>
                      <a:pPr indent="0" marL="0">
                        <a:buNone/>
                      </a:pPr>
                      <a:r>
                        <a:rPr lang="en-US" sz="1600" b="1" dirty="0">
                          <a:solidFill>
                            <a:srgbClr val="1F1F1F"/>
                          </a:solidFill>
                          <a:latin typeface="Yu Mincho" pitchFamily="34" charset="0"/>
                          <a:ea typeface="Yu Mincho" pitchFamily="34" charset="-122"/>
                          <a:cs typeface="Yu Mincho" pitchFamily="34" charset="-120"/>
                        </a:rPr>
                        <a:t>職員の方のお話</a:t>
                      </a:r>
                      <a:endParaRPr lang="en-US" sz="1600" dirty="0">
                        <a:latin typeface="Yu Mincho" charset="0"/>
                        <a:ea typeface="Yu Mincho" charset="0"/>
                        <a:cs typeface="Yu Mincho"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広報ご担当・関係部署の方に45分×2回ほどヒアリング</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実際にできること・できないこと、利用者がつまずく所</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bl>
          </a:graphicData>
        </a:graphic>
      </p:graphicFrame>
      <p:sp>
        <p:nvSpPr>
          <p:cNvPr id="7" name="Text 4"/>
          <p:cNvSpPr txBox="1"/>
          <p:nvPr/>
        </p:nvSpPr>
        <p:spPr>
          <a:xfrm>
            <a:off x="685800" y="5577840"/>
            <a:ext cx="10515600" cy="36576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提言はすべて「確認できた事実 → 私たちの解釈 → 打ち手 → 次に確かめること」の順で書きます。</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7</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たとえば、こんな伝え方。</a:t>
            </a:r>
            <a:endParaRPr lang="en-US" sz="2800" dirty="0"/>
          </a:p>
        </p:txBody>
      </p:sp>
      <p:sp>
        <p:nvSpPr>
          <p:cNvPr id="5" name="Text 3"/>
          <p:cNvSpPr txBox="1"/>
          <p:nvPr/>
        </p:nvSpPr>
        <p:spPr>
          <a:xfrm>
            <a:off x="685800" y="1325880"/>
            <a:ext cx="5669280" cy="82296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名前ではなく「困りごと」から入り、最後に法テラスにつなげる。</a:t>
            </a:r>
            <a:endParaRPr lang="en-US" sz="1400" dirty="0"/>
          </a:p>
          <a:p>
            <a:pPr indent="0" marL="0">
              <a:buNone/>
            </a:pPr>
            <a:r>
              <a:rPr lang="en-US" sz="1400" dirty="0">
                <a:solidFill>
                  <a:srgbClr val="6B6B6B"/>
                </a:solidFill>
                <a:latin typeface="Yu Gothic" pitchFamily="34" charset="0"/>
                <a:ea typeface="Yu Gothic" pitchFamily="34" charset="-122"/>
                <a:cs typeface="Yu Gothic" pitchFamily="34" charset="-120"/>
              </a:rPr>
              <a:t>メディアや生活情報サイト向けの企画の例です。</a:t>
            </a:r>
            <a:endParaRPr lang="en-US" sz="1400" dirty="0"/>
          </a:p>
        </p:txBody>
      </p:sp>
      <p:sp>
        <p:nvSpPr>
          <p:cNvPr id="6" name="Shape 4"/>
          <p:cNvSpPr/>
          <p:nvPr/>
        </p:nvSpPr>
        <p:spPr>
          <a:xfrm>
            <a:off x="6720840" y="685800"/>
            <a:ext cx="4782312" cy="5394960"/>
          </a:xfrm>
          <a:prstGeom prst="roundRect">
            <a:avLst>
              <a:gd name="adj" fmla="val 2294"/>
            </a:avLst>
          </a:prstGeom>
          <a:solidFill>
            <a:srgbClr val="FFFFFF"/>
          </a:solidFill>
          <a:ln w="12700">
            <a:solidFill>
              <a:srgbClr val="D6D6D3"/>
            </a:solidFill>
            <a:prstDash val="solid"/>
          </a:ln>
          <a:effectLst>
            <a:outerShdw sx="100000" sy="100000" kx="0" ky="0" algn="bl" rotWithShape="0" blurRad="127000" dist="38100" dir="5400000">
              <a:srgbClr val="000000">
                <a:alpha val="8000"/>
              </a:srgbClr>
            </a:outerShdw>
          </a:effectLst>
        </p:spPr>
      </p:sp>
      <p:sp>
        <p:nvSpPr>
          <p:cNvPr id="7" name="Text 5"/>
          <p:cNvSpPr txBox="1"/>
          <p:nvPr/>
        </p:nvSpPr>
        <p:spPr>
          <a:xfrm>
            <a:off x="7086600" y="1005840"/>
            <a:ext cx="2743200" cy="274320"/>
          </a:xfrm>
          <a:prstGeom prst="rect">
            <a:avLst/>
          </a:prstGeom>
          <a:noFill/>
          <a:ln/>
        </p:spPr>
        <p:txBody>
          <a:bodyPr wrap="square" lIns="0" tIns="0" rIns="0" bIns="0" rtlCol="0" anchor="t"/>
          <a:lstStyle/>
          <a:p>
            <a:pPr indent="0" marL="0">
              <a:lnSpc>
                <a:spcPct val="125000"/>
              </a:lnSpc>
              <a:buNone/>
            </a:pPr>
            <a:r>
              <a:rPr lang="en-US" sz="1000" dirty="0">
                <a:solidFill>
                  <a:srgbClr val="6B6B6B"/>
                </a:solidFill>
                <a:latin typeface="Yu Gothic" pitchFamily="34" charset="0"/>
                <a:ea typeface="Yu Gothic" pitchFamily="34" charset="-122"/>
                <a:cs typeface="Yu Gothic" pitchFamily="34" charset="-120"/>
              </a:rPr>
              <a:t>くらし ・ 生活情報</a:t>
            </a:r>
            <a:endParaRPr lang="en-US" sz="1000" dirty="0"/>
          </a:p>
        </p:txBody>
      </p:sp>
      <p:sp>
        <p:nvSpPr>
          <p:cNvPr id="8" name="Text 6"/>
          <p:cNvSpPr txBox="1"/>
          <p:nvPr/>
        </p:nvSpPr>
        <p:spPr>
          <a:xfrm>
            <a:off x="7086600" y="1371600"/>
            <a:ext cx="4050792" cy="1188720"/>
          </a:xfrm>
          <a:prstGeom prst="rect">
            <a:avLst/>
          </a:prstGeom>
          <a:noFill/>
          <a:ln/>
        </p:spPr>
        <p:txBody>
          <a:bodyPr wrap="square" lIns="0" tIns="0" rIns="0" bIns="0" rtlCol="0" anchor="t"/>
          <a:lstStyle/>
          <a:p>
            <a:pPr indent="0" marL="0">
              <a:lnSpc>
                <a:spcPct val="115000"/>
              </a:lnSpc>
              <a:buNone/>
            </a:pPr>
            <a:r>
              <a:rPr lang="en-US" sz="2600" b="1" dirty="0">
                <a:solidFill>
                  <a:srgbClr val="1F1F1F"/>
                </a:solidFill>
                <a:latin typeface="Yu Mincho" pitchFamily="34" charset="0"/>
                <a:ea typeface="Yu Mincho" pitchFamily="34" charset="-122"/>
                <a:cs typeface="Yu Mincho" pitchFamily="34" charset="-120"/>
              </a:rPr>
              <a:t>その困りごと、</a:t>
            </a:r>
            <a:endParaRPr lang="en-US" sz="2600" dirty="0"/>
          </a:p>
          <a:p>
            <a:pPr indent="0" marL="0">
              <a:lnSpc>
                <a:spcPct val="115000"/>
              </a:lnSpc>
              <a:buNone/>
            </a:pPr>
            <a:r>
              <a:rPr lang="en-US" sz="2600" b="1" dirty="0">
                <a:solidFill>
                  <a:srgbClr val="1F1F1F"/>
                </a:solidFill>
                <a:latin typeface="Yu Mincho" pitchFamily="34" charset="0"/>
                <a:ea typeface="Yu Mincho" pitchFamily="34" charset="-122"/>
                <a:cs typeface="Yu Mincho" pitchFamily="34" charset="-120"/>
              </a:rPr>
              <a:t>どこに聞けばいい？</a:t>
            </a:r>
            <a:endParaRPr lang="en-US" sz="2600" dirty="0"/>
          </a:p>
        </p:txBody>
      </p:sp>
      <p:sp>
        <p:nvSpPr>
          <p:cNvPr id="9" name="Shape 7"/>
          <p:cNvSpPr/>
          <p:nvPr/>
        </p:nvSpPr>
        <p:spPr>
          <a:xfrm>
            <a:off x="7086600" y="2834640"/>
            <a:ext cx="4050792" cy="512064"/>
          </a:xfrm>
          <a:prstGeom prst="roundRect">
            <a:avLst>
              <a:gd name="adj" fmla="val 14286"/>
            </a:avLst>
          </a:prstGeom>
          <a:solidFill>
            <a:srgbClr val="F2F2F0"/>
          </a:solidFill>
          <a:ln w="12700">
            <a:solidFill>
              <a:srgbClr val="F2F2F0"/>
            </a:solidFill>
            <a:prstDash val="solid"/>
          </a:ln>
        </p:spPr>
      </p:sp>
      <p:sp>
        <p:nvSpPr>
          <p:cNvPr id="10" name="Text 8"/>
          <p:cNvSpPr txBox="1"/>
          <p:nvPr/>
        </p:nvSpPr>
        <p:spPr>
          <a:xfrm>
            <a:off x="7269480" y="2971800"/>
            <a:ext cx="3685032" cy="274320"/>
          </a:xfrm>
          <a:prstGeom prst="rect">
            <a:avLst/>
          </a:prstGeom>
          <a:noFill/>
          <a:ln/>
        </p:spPr>
        <p:txBody>
          <a:bodyPr wrap="square" lIns="0" tIns="0" rIns="0" bIns="0" rtlCol="0" anchor="t"/>
          <a:lstStyle/>
          <a:p>
            <a:pPr indent="0" marL="0">
              <a:lnSpc>
                <a:spcPct val="125000"/>
              </a:lnSpc>
              <a:buNone/>
            </a:pPr>
            <a:r>
              <a:rPr lang="en-US" sz="1250" dirty="0">
                <a:solidFill>
                  <a:srgbClr val="1F1F1F"/>
                </a:solidFill>
                <a:latin typeface="Yu Gothic" pitchFamily="34" charset="0"/>
                <a:ea typeface="Yu Gothic" pitchFamily="34" charset="-122"/>
                <a:cs typeface="Yu Gothic" pitchFamily="34" charset="-120"/>
              </a:rPr>
              <a:t>「退去のとき、敷金が返ってこない」</a:t>
            </a:r>
            <a:endParaRPr lang="en-US" sz="1250" dirty="0"/>
          </a:p>
        </p:txBody>
      </p:sp>
      <p:sp>
        <p:nvSpPr>
          <p:cNvPr id="11" name="Shape 9"/>
          <p:cNvSpPr/>
          <p:nvPr/>
        </p:nvSpPr>
        <p:spPr>
          <a:xfrm>
            <a:off x="7086600" y="3493008"/>
            <a:ext cx="4050792" cy="512064"/>
          </a:xfrm>
          <a:prstGeom prst="roundRect">
            <a:avLst>
              <a:gd name="adj" fmla="val 14286"/>
            </a:avLst>
          </a:prstGeom>
          <a:solidFill>
            <a:srgbClr val="F2F2F0"/>
          </a:solidFill>
          <a:ln w="12700">
            <a:solidFill>
              <a:srgbClr val="F2F2F0"/>
            </a:solidFill>
            <a:prstDash val="solid"/>
          </a:ln>
        </p:spPr>
      </p:sp>
      <p:sp>
        <p:nvSpPr>
          <p:cNvPr id="12" name="Text 10"/>
          <p:cNvSpPr txBox="1"/>
          <p:nvPr/>
        </p:nvSpPr>
        <p:spPr>
          <a:xfrm>
            <a:off x="7269480" y="3630168"/>
            <a:ext cx="3685032" cy="274320"/>
          </a:xfrm>
          <a:prstGeom prst="rect">
            <a:avLst/>
          </a:prstGeom>
          <a:noFill/>
          <a:ln/>
        </p:spPr>
        <p:txBody>
          <a:bodyPr wrap="square" lIns="0" tIns="0" rIns="0" bIns="0" rtlCol="0" anchor="t"/>
          <a:lstStyle/>
          <a:p>
            <a:pPr indent="0" marL="0">
              <a:lnSpc>
                <a:spcPct val="125000"/>
              </a:lnSpc>
              <a:buNone/>
            </a:pPr>
            <a:r>
              <a:rPr lang="en-US" sz="1250" dirty="0">
                <a:solidFill>
                  <a:srgbClr val="1F1F1F"/>
                </a:solidFill>
                <a:latin typeface="Yu Gothic" pitchFamily="34" charset="0"/>
                <a:ea typeface="Yu Gothic" pitchFamily="34" charset="-122"/>
                <a:cs typeface="Yu Gothic" pitchFamily="34" charset="-120"/>
              </a:rPr>
              <a:t>「辞めた会社から、最後の給料が振り込まれない」</a:t>
            </a:r>
            <a:endParaRPr lang="en-US" sz="1250" dirty="0"/>
          </a:p>
        </p:txBody>
      </p:sp>
      <p:sp>
        <p:nvSpPr>
          <p:cNvPr id="13" name="Shape 11"/>
          <p:cNvSpPr/>
          <p:nvPr/>
        </p:nvSpPr>
        <p:spPr>
          <a:xfrm>
            <a:off x="7086600" y="4151376"/>
            <a:ext cx="4050792" cy="512064"/>
          </a:xfrm>
          <a:prstGeom prst="roundRect">
            <a:avLst>
              <a:gd name="adj" fmla="val 14286"/>
            </a:avLst>
          </a:prstGeom>
          <a:solidFill>
            <a:srgbClr val="F2F2F0"/>
          </a:solidFill>
          <a:ln w="12700">
            <a:solidFill>
              <a:srgbClr val="F2F2F0"/>
            </a:solidFill>
            <a:prstDash val="solid"/>
          </a:ln>
        </p:spPr>
      </p:sp>
      <p:sp>
        <p:nvSpPr>
          <p:cNvPr id="14" name="Text 12"/>
          <p:cNvSpPr txBox="1"/>
          <p:nvPr/>
        </p:nvSpPr>
        <p:spPr>
          <a:xfrm>
            <a:off x="7269480" y="4288536"/>
            <a:ext cx="3685032" cy="274320"/>
          </a:xfrm>
          <a:prstGeom prst="rect">
            <a:avLst/>
          </a:prstGeom>
          <a:noFill/>
          <a:ln/>
        </p:spPr>
        <p:txBody>
          <a:bodyPr wrap="square" lIns="0" tIns="0" rIns="0" bIns="0" rtlCol="0" anchor="t"/>
          <a:lstStyle/>
          <a:p>
            <a:pPr indent="0" marL="0">
              <a:lnSpc>
                <a:spcPct val="125000"/>
              </a:lnSpc>
              <a:buNone/>
            </a:pPr>
            <a:r>
              <a:rPr lang="en-US" sz="1250" dirty="0">
                <a:solidFill>
                  <a:srgbClr val="1F1F1F"/>
                </a:solidFill>
                <a:latin typeface="Yu Gothic" pitchFamily="34" charset="0"/>
                <a:ea typeface="Yu Gothic" pitchFamily="34" charset="-122"/>
                <a:cs typeface="Yu Gothic" pitchFamily="34" charset="-120"/>
              </a:rPr>
              <a:t>「離婚後の養育費が、途中から止まった」</a:t>
            </a:r>
            <a:endParaRPr lang="en-US" sz="1250" dirty="0"/>
          </a:p>
        </p:txBody>
      </p:sp>
      <p:sp>
        <p:nvSpPr>
          <p:cNvPr id="15" name="Shape 13"/>
          <p:cNvSpPr/>
          <p:nvPr/>
        </p:nvSpPr>
        <p:spPr>
          <a:xfrm>
            <a:off x="7086600" y="4937760"/>
            <a:ext cx="4050792" cy="0"/>
          </a:xfrm>
          <a:prstGeom prst="line">
            <a:avLst/>
          </a:prstGeom>
          <a:noFill/>
          <a:ln w="9525">
            <a:solidFill>
              <a:srgbClr val="D6D6D3"/>
            </a:solidFill>
            <a:prstDash val="solid"/>
          </a:ln>
        </p:spPr>
      </p:sp>
      <p:sp>
        <p:nvSpPr>
          <p:cNvPr id="16" name="Text 14"/>
          <p:cNvSpPr txBox="1"/>
          <p:nvPr/>
        </p:nvSpPr>
        <p:spPr>
          <a:xfrm>
            <a:off x="7086600" y="5074920"/>
            <a:ext cx="4050792" cy="731520"/>
          </a:xfrm>
          <a:prstGeom prst="rect">
            <a:avLst/>
          </a:prstGeom>
          <a:noFill/>
          <a:ln/>
        </p:spPr>
        <p:txBody>
          <a:bodyPr wrap="square" lIns="0" tIns="0" rIns="0" bIns="0" rtlCol="0" anchor="t"/>
          <a:lstStyle/>
          <a:p>
            <a:pPr indent="0" marL="0">
              <a:lnSpc>
                <a:spcPct val="140000"/>
              </a:lnSpc>
              <a:buNone/>
            </a:pPr>
            <a:r>
              <a:rPr lang="en-US" sz="1150" dirty="0">
                <a:solidFill>
                  <a:srgbClr val="6B6B6B"/>
                </a:solidFill>
                <a:latin typeface="Yu Gothic" pitchFamily="34" charset="0"/>
                <a:ea typeface="Yu Gothic" pitchFamily="34" charset="-122"/>
                <a:cs typeface="Yu Gothic" pitchFamily="34" charset="-120"/>
              </a:rPr>
              <a:t>こうした相談先に迷うとき、法テラスでは内容に合った窓口や制度を無料で案内しています。</a:t>
            </a:r>
            <a:endParaRPr lang="en-US" sz="1150" dirty="0"/>
          </a:p>
        </p:txBody>
      </p:sp>
      <p:sp>
        <p:nvSpPr>
          <p:cNvPr id="17" name="Shape 15"/>
          <p:cNvSpPr/>
          <p:nvPr/>
        </p:nvSpPr>
        <p:spPr>
          <a:xfrm>
            <a:off x="685800" y="2350008"/>
            <a:ext cx="384048" cy="384048"/>
          </a:xfrm>
          <a:prstGeom prst="ellipse">
            <a:avLst/>
          </a:prstGeom>
          <a:solidFill>
            <a:srgbClr val="1F1F1F"/>
          </a:solidFill>
          <a:ln w="12700">
            <a:solidFill>
              <a:srgbClr val="1F1F1F"/>
            </a:solidFill>
            <a:prstDash val="solid"/>
          </a:ln>
        </p:spPr>
      </p:sp>
      <p:sp>
        <p:nvSpPr>
          <p:cNvPr id="18" name="Text 16"/>
          <p:cNvSpPr txBox="1"/>
          <p:nvPr/>
        </p:nvSpPr>
        <p:spPr>
          <a:xfrm>
            <a:off x="685800" y="23500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9" name="Text 17"/>
          <p:cNvSpPr txBox="1"/>
          <p:nvPr/>
        </p:nvSpPr>
        <p:spPr>
          <a:xfrm>
            <a:off x="1280160" y="2331720"/>
            <a:ext cx="4572000" cy="320040"/>
          </a:xfrm>
          <a:prstGeom prst="rect">
            <a:avLst/>
          </a:prstGeom>
          <a:noFill/>
          <a:ln/>
        </p:spPr>
        <p:txBody>
          <a:bodyPr wrap="square" lIns="0" tIns="0" rIns="0" bIns="0" rtlCol="0" anchor="t"/>
          <a:lstStyle/>
          <a:p>
            <a:pPr indent="0" marL="0">
              <a:lnSpc>
                <a:spcPct val="125000"/>
              </a:lnSpc>
              <a:buNone/>
            </a:pPr>
            <a:r>
              <a:rPr lang="en-US" sz="1450" b="1" dirty="0">
                <a:solidFill>
                  <a:srgbClr val="1F1F1F"/>
                </a:solidFill>
                <a:latin typeface="Yu Gothic" pitchFamily="34" charset="0"/>
                <a:ea typeface="Yu Gothic" pitchFamily="34" charset="-122"/>
                <a:cs typeface="Yu Gothic" pitchFamily="34" charset="-120"/>
              </a:rPr>
              <a:t>身近な出来事</a:t>
            </a:r>
            <a:endParaRPr lang="en-US" sz="1450" dirty="0"/>
          </a:p>
        </p:txBody>
      </p:sp>
      <p:sp>
        <p:nvSpPr>
          <p:cNvPr id="20" name="Text 18"/>
          <p:cNvSpPr txBox="1"/>
          <p:nvPr/>
        </p:nvSpPr>
        <p:spPr>
          <a:xfrm>
            <a:off x="1280160" y="2660904"/>
            <a:ext cx="50292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誰にでも起こりうる場面から始める</a:t>
            </a:r>
            <a:endParaRPr lang="en-US" sz="1200" dirty="0"/>
          </a:p>
        </p:txBody>
      </p:sp>
      <p:sp>
        <p:nvSpPr>
          <p:cNvPr id="21" name="Shape 19"/>
          <p:cNvSpPr/>
          <p:nvPr/>
        </p:nvSpPr>
        <p:spPr>
          <a:xfrm>
            <a:off x="685800" y="3127248"/>
            <a:ext cx="384048" cy="384048"/>
          </a:xfrm>
          <a:prstGeom prst="ellipse">
            <a:avLst/>
          </a:prstGeom>
          <a:solidFill>
            <a:srgbClr val="1F1F1F"/>
          </a:solidFill>
          <a:ln w="12700">
            <a:solidFill>
              <a:srgbClr val="1F1F1F"/>
            </a:solidFill>
            <a:prstDash val="solid"/>
          </a:ln>
        </p:spPr>
      </p:sp>
      <p:sp>
        <p:nvSpPr>
          <p:cNvPr id="22" name="Text 20"/>
          <p:cNvSpPr txBox="1"/>
          <p:nvPr/>
        </p:nvSpPr>
        <p:spPr>
          <a:xfrm>
            <a:off x="685800"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23" name="Text 21"/>
          <p:cNvSpPr txBox="1"/>
          <p:nvPr/>
        </p:nvSpPr>
        <p:spPr>
          <a:xfrm>
            <a:off x="1280160" y="3108960"/>
            <a:ext cx="4572000" cy="320040"/>
          </a:xfrm>
          <a:prstGeom prst="rect">
            <a:avLst/>
          </a:prstGeom>
          <a:noFill/>
          <a:ln/>
        </p:spPr>
        <p:txBody>
          <a:bodyPr wrap="square" lIns="0" tIns="0" rIns="0" bIns="0" rtlCol="0" anchor="t"/>
          <a:lstStyle/>
          <a:p>
            <a:pPr indent="0" marL="0">
              <a:lnSpc>
                <a:spcPct val="125000"/>
              </a:lnSpc>
              <a:buNone/>
            </a:pPr>
            <a:r>
              <a:rPr lang="en-US" sz="1450" b="1" dirty="0">
                <a:solidFill>
                  <a:srgbClr val="1F1F1F"/>
                </a:solidFill>
                <a:latin typeface="Yu Gothic" pitchFamily="34" charset="0"/>
                <a:ea typeface="Yu Gothic" pitchFamily="34" charset="-122"/>
                <a:cs typeface="Yu Gothic" pitchFamily="34" charset="-120"/>
              </a:rPr>
              <a:t>迷う気持ち</a:t>
            </a:r>
            <a:endParaRPr lang="en-US" sz="1450" dirty="0"/>
          </a:p>
        </p:txBody>
      </p:sp>
      <p:sp>
        <p:nvSpPr>
          <p:cNvPr id="24" name="Text 22"/>
          <p:cNvSpPr txBox="1"/>
          <p:nvPr/>
        </p:nvSpPr>
        <p:spPr>
          <a:xfrm>
            <a:off x="1280160" y="3438144"/>
            <a:ext cx="50292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「どこに聞けば」の迷いを言葉にする</a:t>
            </a:r>
            <a:endParaRPr lang="en-US" sz="1200" dirty="0"/>
          </a:p>
        </p:txBody>
      </p:sp>
      <p:sp>
        <p:nvSpPr>
          <p:cNvPr id="25" name="Shape 23"/>
          <p:cNvSpPr/>
          <p:nvPr/>
        </p:nvSpPr>
        <p:spPr>
          <a:xfrm>
            <a:off x="685800" y="3904488"/>
            <a:ext cx="384048" cy="384048"/>
          </a:xfrm>
          <a:prstGeom prst="ellipse">
            <a:avLst/>
          </a:prstGeom>
          <a:solidFill>
            <a:srgbClr val="C0462B"/>
          </a:solidFill>
          <a:ln w="12700">
            <a:solidFill>
              <a:srgbClr val="C0462B"/>
            </a:solidFill>
            <a:prstDash val="solid"/>
          </a:ln>
        </p:spPr>
      </p:sp>
      <p:sp>
        <p:nvSpPr>
          <p:cNvPr id="26" name="Text 24"/>
          <p:cNvSpPr txBox="1"/>
          <p:nvPr/>
        </p:nvSpPr>
        <p:spPr>
          <a:xfrm>
            <a:off x="685800" y="3904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7" name="Text 25"/>
          <p:cNvSpPr txBox="1"/>
          <p:nvPr/>
        </p:nvSpPr>
        <p:spPr>
          <a:xfrm>
            <a:off x="1280160" y="3886200"/>
            <a:ext cx="4572000" cy="320040"/>
          </a:xfrm>
          <a:prstGeom prst="rect">
            <a:avLst/>
          </a:prstGeom>
          <a:noFill/>
          <a:ln/>
        </p:spPr>
        <p:txBody>
          <a:bodyPr wrap="square" lIns="0" tIns="0" rIns="0" bIns="0" rtlCol="0" anchor="t"/>
          <a:lstStyle/>
          <a:p>
            <a:pPr indent="0" marL="0">
              <a:lnSpc>
                <a:spcPct val="125000"/>
              </a:lnSpc>
              <a:buNone/>
            </a:pPr>
            <a:r>
              <a:rPr lang="en-US" sz="1450" b="1" dirty="0">
                <a:solidFill>
                  <a:srgbClr val="1F1F1F"/>
                </a:solidFill>
                <a:latin typeface="Yu Gothic" pitchFamily="34" charset="0"/>
                <a:ea typeface="Yu Gothic" pitchFamily="34" charset="-122"/>
                <a:cs typeface="Yu Gothic" pitchFamily="34" charset="-120"/>
              </a:rPr>
              <a:t>法テラスの役割</a:t>
            </a:r>
            <a:endParaRPr lang="en-US" sz="1450" dirty="0"/>
          </a:p>
        </p:txBody>
      </p:sp>
      <p:sp>
        <p:nvSpPr>
          <p:cNvPr id="28" name="Text 26"/>
          <p:cNvSpPr txBox="1"/>
          <p:nvPr/>
        </p:nvSpPr>
        <p:spPr>
          <a:xfrm>
            <a:off x="1280160" y="4215384"/>
            <a:ext cx="50292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ここで初めて名前と「できること」を出す</a:t>
            </a:r>
            <a:endParaRPr lang="en-US" sz="1200" dirty="0"/>
          </a:p>
        </p:txBody>
      </p:sp>
      <p:sp>
        <p:nvSpPr>
          <p:cNvPr id="29" name="Shape 27"/>
          <p:cNvSpPr/>
          <p:nvPr/>
        </p:nvSpPr>
        <p:spPr>
          <a:xfrm>
            <a:off x="685800" y="4681728"/>
            <a:ext cx="384048" cy="384048"/>
          </a:xfrm>
          <a:prstGeom prst="ellipse">
            <a:avLst/>
          </a:prstGeom>
          <a:solidFill>
            <a:srgbClr val="1F1F1F"/>
          </a:solidFill>
          <a:ln w="12700">
            <a:solidFill>
              <a:srgbClr val="1F1F1F"/>
            </a:solidFill>
            <a:prstDash val="solid"/>
          </a:ln>
        </p:spPr>
      </p:sp>
      <p:sp>
        <p:nvSpPr>
          <p:cNvPr id="30" name="Text 28"/>
          <p:cNvSpPr txBox="1"/>
          <p:nvPr/>
        </p:nvSpPr>
        <p:spPr>
          <a:xfrm>
            <a:off x="685800" y="46817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4</a:t>
            </a:r>
            <a:endParaRPr lang="en-US" sz="1300" dirty="0"/>
          </a:p>
        </p:txBody>
      </p:sp>
      <p:sp>
        <p:nvSpPr>
          <p:cNvPr id="31" name="Text 29"/>
          <p:cNvSpPr txBox="1"/>
          <p:nvPr/>
        </p:nvSpPr>
        <p:spPr>
          <a:xfrm>
            <a:off x="1280160" y="4663440"/>
            <a:ext cx="4572000" cy="320040"/>
          </a:xfrm>
          <a:prstGeom prst="rect">
            <a:avLst/>
          </a:prstGeom>
          <a:noFill/>
          <a:ln/>
        </p:spPr>
        <p:txBody>
          <a:bodyPr wrap="square" lIns="0" tIns="0" rIns="0" bIns="0" rtlCol="0" anchor="t"/>
          <a:lstStyle/>
          <a:p>
            <a:pPr indent="0" marL="0">
              <a:lnSpc>
                <a:spcPct val="125000"/>
              </a:lnSpc>
              <a:buNone/>
            </a:pPr>
            <a:r>
              <a:rPr lang="en-US" sz="1450" b="1" dirty="0">
                <a:solidFill>
                  <a:srgbClr val="1F1F1F"/>
                </a:solidFill>
                <a:latin typeface="Yu Gothic" pitchFamily="34" charset="0"/>
                <a:ea typeface="Yu Gothic" pitchFamily="34" charset="-122"/>
                <a:cs typeface="Yu Gothic" pitchFamily="34" charset="-120"/>
              </a:rPr>
              <a:t>次の一歩</a:t>
            </a:r>
            <a:endParaRPr lang="en-US" sz="1450" dirty="0"/>
          </a:p>
        </p:txBody>
      </p:sp>
      <p:sp>
        <p:nvSpPr>
          <p:cNvPr id="32" name="Text 30"/>
          <p:cNvSpPr txBox="1"/>
          <p:nvPr/>
        </p:nvSpPr>
        <p:spPr>
          <a:xfrm>
            <a:off x="1280160" y="4992624"/>
            <a:ext cx="50292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公式の案内・窓口へつなぐ</a:t>
            </a:r>
            <a:endParaRPr lang="en-US" sz="1200" dirty="0"/>
          </a:p>
        </p:txBody>
      </p:sp>
      <p:sp>
        <p:nvSpPr>
          <p:cNvPr id="33" name="Text 31"/>
          <p:cNvSpPr txBox="1"/>
          <p:nvPr/>
        </p:nvSpPr>
        <p:spPr>
          <a:xfrm>
            <a:off x="685800" y="5669280"/>
            <a:ext cx="5669280" cy="36576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 検討用の例です。取り上げる困りごとや対象は、調査結果を見てから決めます。</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8</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ほかにも、たとえばこんなこと。</a:t>
            </a:r>
            <a:endParaRPr lang="en-US" sz="2800" dirty="0"/>
          </a:p>
        </p:txBody>
      </p:sp>
      <p:sp>
        <p:nvSpPr>
          <p:cNvPr id="5" name="Text 3"/>
          <p:cNvSpPr txBox="1"/>
          <p:nvPr/>
        </p:nvSpPr>
        <p:spPr>
          <a:xfrm>
            <a:off x="685800" y="1417320"/>
            <a:ext cx="5148072"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広告から来た人の入口を、困りごとの言葉にする</a:t>
            </a:r>
            <a:endParaRPr lang="en-US" sz="1600" dirty="0"/>
          </a:p>
        </p:txBody>
      </p:sp>
      <p:sp>
        <p:nvSpPr>
          <p:cNvPr id="6" name="Text 4"/>
          <p:cNvSpPr txBox="1"/>
          <p:nvPr/>
        </p:nvSpPr>
        <p:spPr>
          <a:xfrm>
            <a:off x="685800" y="1920240"/>
            <a:ext cx="5148072" cy="1280160"/>
          </a:xfrm>
          <a:prstGeom prst="rect">
            <a:avLst/>
          </a:prstGeom>
          <a:noFill/>
          <a:ln/>
        </p:spPr>
        <p:txBody>
          <a:bodyPr wrap="square" lIns="0" tIns="0" rIns="0" bIns="0" rtlCol="0" anchor="t"/>
          <a:lstStyle/>
          <a:p>
            <a:pPr indent="0" marL="0">
              <a:lnSpc>
                <a:spcPct val="150000"/>
              </a:lnSpc>
              <a:buNone/>
            </a:pPr>
            <a:r>
              <a:rPr lang="en-US" sz="1250" dirty="0">
                <a:solidFill>
                  <a:srgbClr val="6B6B6B"/>
                </a:solidFill>
                <a:latin typeface="Yu Gothic" pitchFamily="34" charset="0"/>
                <a:ea typeface="Yu Gothic" pitchFamily="34" charset="-122"/>
                <a:cs typeface="Yu Gothic" pitchFamily="34" charset="-120"/>
              </a:rPr>
              <a:t>「無料」だけを強く打ち出すと、無料法律相談の条件に合わない方が戸惑うことも。「情報提供は誰でも無料」「弁護士への相談は条件あり」の違いが、最初の画面でわかるかを点検します。</a:t>
            </a:r>
            <a:endParaRPr lang="en-US" sz="1250" dirty="0"/>
          </a:p>
        </p:txBody>
      </p:sp>
      <p:sp>
        <p:nvSpPr>
          <p:cNvPr id="7" name="Shape 5"/>
          <p:cNvSpPr/>
          <p:nvPr/>
        </p:nvSpPr>
        <p:spPr>
          <a:xfrm>
            <a:off x="685800" y="3611880"/>
            <a:ext cx="5148072" cy="2331720"/>
          </a:xfrm>
          <a:prstGeom prst="rect">
            <a:avLst/>
          </a:prstGeom>
          <a:solidFill>
            <a:srgbClr val="F2F2F0"/>
          </a:solidFill>
          <a:ln w="12700">
            <a:solidFill>
              <a:srgbClr val="F2F2F0"/>
            </a:solidFill>
            <a:prstDash val="solid"/>
          </a:ln>
        </p:spPr>
      </p:sp>
      <p:sp>
        <p:nvSpPr>
          <p:cNvPr id="8" name="Text 6"/>
          <p:cNvSpPr txBox="1"/>
          <p:nvPr/>
        </p:nvSpPr>
        <p:spPr>
          <a:xfrm>
            <a:off x="960120" y="3840480"/>
            <a:ext cx="4599432" cy="365760"/>
          </a:xfrm>
          <a:prstGeom prst="rect">
            <a:avLst/>
          </a:prstGeom>
          <a:noFill/>
          <a:ln/>
        </p:spPr>
        <p:txBody>
          <a:bodyPr wrap="square" lIns="0" tIns="0" rIns="0" bIns="0" rtlCol="0" anchor="t"/>
          <a:lstStyle/>
          <a:p>
            <a:pPr indent="0" marL="0">
              <a:lnSpc>
                <a:spcPct val="125000"/>
              </a:lnSpc>
              <a:buNone/>
            </a:pPr>
            <a:r>
              <a:rPr lang="en-US" sz="1300" b="1" dirty="0">
                <a:solidFill>
                  <a:srgbClr val="1F1F1F"/>
                </a:solidFill>
                <a:latin typeface="Yu Mincho" pitchFamily="34" charset="0"/>
                <a:ea typeface="Yu Mincho" pitchFamily="34" charset="-122"/>
                <a:cs typeface="Yu Mincho" pitchFamily="34" charset="-120"/>
              </a:rPr>
              <a:t>法律のことかどうか、わからなくても大丈夫です。</a:t>
            </a:r>
            <a:endParaRPr lang="en-US" sz="1300" dirty="0"/>
          </a:p>
        </p:txBody>
      </p:sp>
      <p:sp>
        <p:nvSpPr>
          <p:cNvPr id="9" name="Shape 7"/>
          <p:cNvSpPr/>
          <p:nvPr/>
        </p:nvSpPr>
        <p:spPr>
          <a:xfrm>
            <a:off x="960120" y="4343400"/>
            <a:ext cx="4599432" cy="475488"/>
          </a:xfrm>
          <a:prstGeom prst="roundRect">
            <a:avLst>
              <a:gd name="adj" fmla="val 15385"/>
            </a:avLst>
          </a:prstGeom>
          <a:solidFill>
            <a:srgbClr val="FFFFFF"/>
          </a:solidFill>
          <a:ln w="9525">
            <a:solidFill>
              <a:srgbClr val="D6D6D3"/>
            </a:solidFill>
            <a:prstDash val="solid"/>
          </a:ln>
        </p:spPr>
      </p:sp>
      <p:sp>
        <p:nvSpPr>
          <p:cNvPr id="10" name="Text 8"/>
          <p:cNvSpPr txBox="1"/>
          <p:nvPr/>
        </p:nvSpPr>
        <p:spPr>
          <a:xfrm>
            <a:off x="1143000" y="4471416"/>
            <a:ext cx="4233672" cy="274320"/>
          </a:xfrm>
          <a:prstGeom prst="rect">
            <a:avLst/>
          </a:prstGeom>
          <a:noFill/>
          <a:ln/>
        </p:spPr>
        <p:txBody>
          <a:bodyPr wrap="square" lIns="0" tIns="0" rIns="0" bIns="0" rtlCol="0" anchor="t"/>
          <a:lstStyle/>
          <a:p>
            <a:pPr indent="0" marL="0">
              <a:lnSpc>
                <a:spcPct val="125000"/>
              </a:lnSpc>
              <a:buNone/>
            </a:pPr>
            <a:r>
              <a:rPr lang="en-US" sz="1200" dirty="0">
                <a:solidFill>
                  <a:srgbClr val="1F1F1F"/>
                </a:solidFill>
                <a:latin typeface="Yu Gothic" pitchFamily="34" charset="0"/>
                <a:ea typeface="Yu Gothic" pitchFamily="34" charset="-122"/>
                <a:cs typeface="Yu Gothic" pitchFamily="34" charset="-120"/>
              </a:rPr>
              <a:t>どこに相談すればいいか知りたい　→ 誰でも無料</a:t>
            </a:r>
            <a:endParaRPr lang="en-US" sz="1200" dirty="0"/>
          </a:p>
        </p:txBody>
      </p:sp>
      <p:sp>
        <p:nvSpPr>
          <p:cNvPr id="11" name="Shape 9"/>
          <p:cNvSpPr/>
          <p:nvPr/>
        </p:nvSpPr>
        <p:spPr>
          <a:xfrm>
            <a:off x="960120" y="4937760"/>
            <a:ext cx="4599432" cy="475488"/>
          </a:xfrm>
          <a:prstGeom prst="roundRect">
            <a:avLst>
              <a:gd name="adj" fmla="val 15385"/>
            </a:avLst>
          </a:prstGeom>
          <a:solidFill>
            <a:srgbClr val="FFFFFF"/>
          </a:solidFill>
          <a:ln w="9525">
            <a:solidFill>
              <a:srgbClr val="D6D6D3"/>
            </a:solidFill>
            <a:prstDash val="solid"/>
          </a:ln>
        </p:spPr>
      </p:sp>
      <p:sp>
        <p:nvSpPr>
          <p:cNvPr id="12" name="Text 10"/>
          <p:cNvSpPr txBox="1"/>
          <p:nvPr/>
        </p:nvSpPr>
        <p:spPr>
          <a:xfrm>
            <a:off x="1143000" y="5065776"/>
            <a:ext cx="4233672" cy="274320"/>
          </a:xfrm>
          <a:prstGeom prst="rect">
            <a:avLst/>
          </a:prstGeom>
          <a:noFill/>
          <a:ln/>
        </p:spPr>
        <p:txBody>
          <a:bodyPr wrap="square" lIns="0" tIns="0" rIns="0" bIns="0" rtlCol="0" anchor="t"/>
          <a:lstStyle/>
          <a:p>
            <a:pPr indent="0" marL="0">
              <a:lnSpc>
                <a:spcPct val="125000"/>
              </a:lnSpc>
              <a:buNone/>
            </a:pPr>
            <a:r>
              <a:rPr lang="en-US" sz="1200" dirty="0">
                <a:solidFill>
                  <a:srgbClr val="1F1F1F"/>
                </a:solidFill>
                <a:latin typeface="Yu Gothic" pitchFamily="34" charset="0"/>
                <a:ea typeface="Yu Gothic" pitchFamily="34" charset="-122"/>
                <a:cs typeface="Yu Gothic" pitchFamily="34" charset="-120"/>
              </a:rPr>
              <a:t>弁護士・司法書士に相談したい　→ 利用条件を確認</a:t>
            </a:r>
            <a:endParaRPr lang="en-US" sz="1200" dirty="0"/>
          </a:p>
        </p:txBody>
      </p:sp>
      <p:sp>
        <p:nvSpPr>
          <p:cNvPr id="13" name="Text 11"/>
          <p:cNvSpPr txBox="1"/>
          <p:nvPr/>
        </p:nvSpPr>
        <p:spPr>
          <a:xfrm>
            <a:off x="960120" y="5532120"/>
            <a:ext cx="4599432" cy="274320"/>
          </a:xfrm>
          <a:prstGeom prst="rect">
            <a:avLst/>
          </a:prstGeom>
          <a:noFill/>
          <a:ln/>
        </p:spPr>
        <p:txBody>
          <a:bodyPr wrap="square" lIns="0" tIns="0" rIns="0" bIns="0" rtlCol="0" anchor="t"/>
          <a:lstStyle/>
          <a:p>
            <a:pPr indent="0" marL="0">
              <a:lnSpc>
                <a:spcPct val="125000"/>
              </a:lnSpc>
              <a:buNone/>
            </a:pPr>
            <a:r>
              <a:rPr lang="en-US" sz="950" dirty="0">
                <a:solidFill>
                  <a:srgbClr val="6B6B6B"/>
                </a:solidFill>
                <a:latin typeface="Yu Gothic" pitchFamily="34" charset="0"/>
                <a:ea typeface="Yu Gothic" pitchFamily="34" charset="-122"/>
                <a:cs typeface="Yu Gothic" pitchFamily="34" charset="-120"/>
              </a:rPr>
              <a:t>ページ構成の例（現行サイトの良し悪しを判断したものではありません）</a:t>
            </a:r>
            <a:endParaRPr lang="en-US" sz="950" dirty="0"/>
          </a:p>
        </p:txBody>
      </p:sp>
      <p:sp>
        <p:nvSpPr>
          <p:cNvPr id="14" name="Text 12"/>
          <p:cNvSpPr txBox="1"/>
          <p:nvPr/>
        </p:nvSpPr>
        <p:spPr>
          <a:xfrm>
            <a:off x="6355080" y="1417320"/>
            <a:ext cx="5148072"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周りの人が、紹介しやすい一言を用意する</a:t>
            </a:r>
            <a:endParaRPr lang="en-US" sz="1600" dirty="0"/>
          </a:p>
        </p:txBody>
      </p:sp>
      <p:sp>
        <p:nvSpPr>
          <p:cNvPr id="15" name="Text 13"/>
          <p:cNvSpPr txBox="1"/>
          <p:nvPr/>
        </p:nvSpPr>
        <p:spPr>
          <a:xfrm>
            <a:off x="6355080" y="1920240"/>
            <a:ext cx="5148072" cy="1280160"/>
          </a:xfrm>
          <a:prstGeom prst="rect">
            <a:avLst/>
          </a:prstGeom>
          <a:noFill/>
          <a:ln/>
        </p:spPr>
        <p:txBody>
          <a:bodyPr wrap="square" lIns="0" tIns="0" rIns="0" bIns="0" rtlCol="0" anchor="t"/>
          <a:lstStyle/>
          <a:p>
            <a:pPr indent="0" marL="0">
              <a:lnSpc>
                <a:spcPct val="150000"/>
              </a:lnSpc>
              <a:buNone/>
            </a:pPr>
            <a:r>
              <a:rPr lang="en-US" sz="1250" dirty="0">
                <a:solidFill>
                  <a:srgbClr val="6B6B6B"/>
                </a:solidFill>
                <a:latin typeface="Yu Gothic" pitchFamily="34" charset="0"/>
                <a:ea typeface="Yu Gothic" pitchFamily="34" charset="-122"/>
                <a:cs typeface="Yu Gothic" pitchFamily="34" charset="-120"/>
              </a:rPr>
              <a:t>自治体や福祉の窓口、家族。困っている人の近くにいる人が、迷わず案内できる短い紹介文と、既存のリーフレットの使い方を整えます。</a:t>
            </a:r>
            <a:endParaRPr lang="en-US" sz="1250" dirty="0"/>
          </a:p>
        </p:txBody>
      </p:sp>
      <p:sp>
        <p:nvSpPr>
          <p:cNvPr id="16" name="Shape 14"/>
          <p:cNvSpPr/>
          <p:nvPr/>
        </p:nvSpPr>
        <p:spPr>
          <a:xfrm>
            <a:off x="6355080" y="3703320"/>
            <a:ext cx="5148072" cy="1325880"/>
          </a:xfrm>
          <a:prstGeom prst="wedgeRoundRectCallout">
            <a:avLst/>
          </a:prstGeom>
          <a:solidFill>
            <a:srgbClr val="F6E3DE"/>
          </a:solidFill>
          <a:ln w="12700">
            <a:solidFill>
              <a:srgbClr val="F6E3DE"/>
            </a:solidFill>
            <a:prstDash val="solid"/>
          </a:ln>
        </p:spPr>
      </p:sp>
      <p:sp>
        <p:nvSpPr>
          <p:cNvPr id="17" name="Text 15"/>
          <p:cNvSpPr txBox="1"/>
          <p:nvPr/>
        </p:nvSpPr>
        <p:spPr>
          <a:xfrm>
            <a:off x="6629400" y="3840480"/>
            <a:ext cx="4599432" cy="1005840"/>
          </a:xfrm>
          <a:prstGeom prst="rect">
            <a:avLst/>
          </a:prstGeom>
          <a:noFill/>
          <a:ln/>
        </p:spPr>
        <p:txBody>
          <a:bodyPr wrap="square" lIns="0" tIns="0" rIns="0" bIns="0" rtlCol="0" anchor="ctr"/>
          <a:lstStyle/>
          <a:p>
            <a:pPr indent="0" marL="0">
              <a:lnSpc>
                <a:spcPct val="135000"/>
              </a:lnSpc>
              <a:buNone/>
            </a:pPr>
            <a:r>
              <a:rPr lang="en-US" sz="1500" b="1" dirty="0">
                <a:solidFill>
                  <a:srgbClr val="1F1F1F"/>
                </a:solidFill>
                <a:latin typeface="Yu Mincho" pitchFamily="34" charset="0"/>
                <a:ea typeface="Yu Mincho" pitchFamily="34" charset="-122"/>
                <a:cs typeface="Yu Mincho" pitchFamily="34" charset="-120"/>
              </a:rPr>
              <a:t>「その件なら、法テラスに電話すると、</a:t>
            </a:r>
            <a:endParaRPr lang="en-US" sz="1500" dirty="0"/>
          </a:p>
          <a:p>
            <a:pPr indent="0" marL="0">
              <a:lnSpc>
                <a:spcPct val="135000"/>
              </a:lnSpc>
              <a:buNone/>
            </a:pPr>
            <a:r>
              <a:rPr lang="en-US" sz="1500" b="1" dirty="0">
                <a:solidFill>
                  <a:srgbClr val="1F1F1F"/>
                </a:solidFill>
                <a:latin typeface="Yu Mincho" pitchFamily="34" charset="0"/>
                <a:ea typeface="Yu Mincho" pitchFamily="34" charset="-122"/>
                <a:cs typeface="Yu Mincho" pitchFamily="34" charset="-120"/>
              </a:rPr>
              <a:t>合った相談先を無料で教えてもらえますよ」</a:t>
            </a:r>
            <a:endParaRPr lang="en-US" sz="1500" dirty="0"/>
          </a:p>
        </p:txBody>
      </p:sp>
      <p:sp>
        <p:nvSpPr>
          <p:cNvPr id="18" name="Text 16"/>
          <p:cNvSpPr txBox="1"/>
          <p:nvPr/>
        </p:nvSpPr>
        <p:spPr>
          <a:xfrm>
            <a:off x="6355080" y="5303520"/>
            <a:ext cx="5148072"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窓口の職員さん・ご家族が言えるようにしたい一言（例）</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9</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3回の打合せで、「診断 → 選ぶ → 決める」。</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2027年1月に着手、3月31日までに納品します。打合せは本部に伺い、各回90分ほどを想定しています。</a:t>
            </a:r>
            <a:endParaRPr lang="en-US" sz="1400" dirty="0"/>
          </a:p>
        </p:txBody>
      </p:sp>
      <p:sp>
        <p:nvSpPr>
          <p:cNvPr id="6" name="Shape 4"/>
          <p:cNvSpPr/>
          <p:nvPr/>
        </p:nvSpPr>
        <p:spPr>
          <a:xfrm>
            <a:off x="3246120" y="1874520"/>
            <a:ext cx="2753258" cy="3108960"/>
          </a:xfrm>
          <a:prstGeom prst="rect">
            <a:avLst/>
          </a:prstGeom>
          <a:solidFill>
            <a:srgbClr val="F7F7F6"/>
          </a:solidFill>
          <a:ln w="12700">
            <a:solidFill>
              <a:srgbClr val="F7F7F6"/>
            </a:solidFill>
            <a:prstDash val="solid"/>
          </a:ln>
        </p:spPr>
      </p:sp>
      <p:sp>
        <p:nvSpPr>
          <p:cNvPr id="7" name="Text 5"/>
          <p:cNvSpPr txBox="1"/>
          <p:nvPr/>
        </p:nvSpPr>
        <p:spPr>
          <a:xfrm>
            <a:off x="3246120" y="1920240"/>
            <a:ext cx="2753258" cy="365760"/>
          </a:xfrm>
          <a:prstGeom prst="rect">
            <a:avLst/>
          </a:prstGeom>
          <a:noFill/>
          <a:ln/>
        </p:spPr>
        <p:txBody>
          <a:bodyPr wrap="square" lIns="0" tIns="0" rIns="0" bIns="0" rtlCol="0" anchor="ctr"/>
          <a:lstStyle/>
          <a:p>
            <a:pPr algn="ctr" indent="0" marL="0">
              <a:buNone/>
            </a:pPr>
            <a:r>
              <a:rPr lang="en-US" sz="1600" b="1" dirty="0">
                <a:solidFill>
                  <a:srgbClr val="1F1F1F"/>
                </a:solidFill>
                <a:latin typeface="Yu Mincho" pitchFamily="34" charset="0"/>
                <a:ea typeface="Yu Mincho" pitchFamily="34" charset="-122"/>
                <a:cs typeface="Yu Mincho" pitchFamily="34" charset="-120"/>
              </a:rPr>
              <a:t>1月</a:t>
            </a:r>
            <a:endParaRPr lang="en-US" sz="1600" dirty="0"/>
          </a:p>
        </p:txBody>
      </p:sp>
      <p:sp>
        <p:nvSpPr>
          <p:cNvPr id="8" name="Text 6"/>
          <p:cNvSpPr txBox="1"/>
          <p:nvPr/>
        </p:nvSpPr>
        <p:spPr>
          <a:xfrm>
            <a:off x="5999378" y="1920240"/>
            <a:ext cx="2753258" cy="365760"/>
          </a:xfrm>
          <a:prstGeom prst="rect">
            <a:avLst/>
          </a:prstGeom>
          <a:noFill/>
          <a:ln/>
        </p:spPr>
        <p:txBody>
          <a:bodyPr wrap="square" lIns="0" tIns="0" rIns="0" bIns="0" rtlCol="0" anchor="ctr"/>
          <a:lstStyle/>
          <a:p>
            <a:pPr algn="ctr" indent="0" marL="0">
              <a:buNone/>
            </a:pPr>
            <a:r>
              <a:rPr lang="en-US" sz="1600" b="1" dirty="0">
                <a:solidFill>
                  <a:srgbClr val="1F1F1F"/>
                </a:solidFill>
                <a:latin typeface="Yu Mincho" pitchFamily="34" charset="0"/>
                <a:ea typeface="Yu Mincho" pitchFamily="34" charset="-122"/>
                <a:cs typeface="Yu Mincho" pitchFamily="34" charset="-120"/>
              </a:rPr>
              <a:t>2月</a:t>
            </a:r>
            <a:endParaRPr lang="en-US" sz="1600" dirty="0"/>
          </a:p>
        </p:txBody>
      </p:sp>
      <p:sp>
        <p:nvSpPr>
          <p:cNvPr id="9" name="Shape 7"/>
          <p:cNvSpPr/>
          <p:nvPr/>
        </p:nvSpPr>
        <p:spPr>
          <a:xfrm>
            <a:off x="8752637" y="1874520"/>
            <a:ext cx="2753258" cy="3108960"/>
          </a:xfrm>
          <a:prstGeom prst="rect">
            <a:avLst/>
          </a:prstGeom>
          <a:solidFill>
            <a:srgbClr val="F7F7F6"/>
          </a:solidFill>
          <a:ln w="12700">
            <a:solidFill>
              <a:srgbClr val="F7F7F6"/>
            </a:solidFill>
            <a:prstDash val="solid"/>
          </a:ln>
        </p:spPr>
      </p:sp>
      <p:sp>
        <p:nvSpPr>
          <p:cNvPr id="10" name="Text 8"/>
          <p:cNvSpPr txBox="1"/>
          <p:nvPr/>
        </p:nvSpPr>
        <p:spPr>
          <a:xfrm>
            <a:off x="8752637" y="1920240"/>
            <a:ext cx="2753258" cy="365760"/>
          </a:xfrm>
          <a:prstGeom prst="rect">
            <a:avLst/>
          </a:prstGeom>
          <a:noFill/>
          <a:ln/>
        </p:spPr>
        <p:txBody>
          <a:bodyPr wrap="square" lIns="0" tIns="0" rIns="0" bIns="0" rtlCol="0" anchor="ctr"/>
          <a:lstStyle/>
          <a:p>
            <a:pPr algn="ctr" indent="0" marL="0">
              <a:buNone/>
            </a:pPr>
            <a:r>
              <a:rPr lang="en-US" sz="1600" b="1" dirty="0">
                <a:solidFill>
                  <a:srgbClr val="1F1F1F"/>
                </a:solidFill>
                <a:latin typeface="Yu Mincho" pitchFamily="34" charset="0"/>
                <a:ea typeface="Yu Mincho" pitchFamily="34" charset="-122"/>
                <a:cs typeface="Yu Mincho" pitchFamily="34" charset="-120"/>
              </a:rPr>
              <a:t>3月</a:t>
            </a:r>
            <a:endParaRPr lang="en-US" sz="1600" dirty="0"/>
          </a:p>
        </p:txBody>
      </p:sp>
      <p:sp>
        <p:nvSpPr>
          <p:cNvPr id="11" name="Text 9"/>
          <p:cNvSpPr txBox="1"/>
          <p:nvPr/>
        </p:nvSpPr>
        <p:spPr>
          <a:xfrm>
            <a:off x="685800" y="2395728"/>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資料の受け取り・調査条件の確認</a:t>
            </a:r>
            <a:endParaRPr lang="en-US" sz="1150" dirty="0"/>
          </a:p>
        </p:txBody>
      </p:sp>
      <p:sp>
        <p:nvSpPr>
          <p:cNvPr id="12" name="Shape 10"/>
          <p:cNvSpPr/>
          <p:nvPr/>
        </p:nvSpPr>
        <p:spPr>
          <a:xfrm>
            <a:off x="3246120" y="2432304"/>
            <a:ext cx="1238966" cy="182880"/>
          </a:xfrm>
          <a:prstGeom prst="roundRect">
            <a:avLst>
              <a:gd name="adj" fmla="val 50000"/>
            </a:avLst>
          </a:prstGeom>
          <a:solidFill>
            <a:srgbClr val="9A9A96"/>
          </a:solidFill>
          <a:ln w="12700">
            <a:solidFill>
              <a:srgbClr val="9A9A96"/>
            </a:solidFill>
            <a:prstDash val="solid"/>
          </a:ln>
        </p:spPr>
      </p:sp>
      <p:sp>
        <p:nvSpPr>
          <p:cNvPr id="13" name="Text 11"/>
          <p:cNvSpPr txBox="1"/>
          <p:nvPr/>
        </p:nvSpPr>
        <p:spPr>
          <a:xfrm>
            <a:off x="685800" y="2743200"/>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調査データの分析</a:t>
            </a:r>
            <a:endParaRPr lang="en-US" sz="1150" dirty="0"/>
          </a:p>
        </p:txBody>
      </p:sp>
      <p:sp>
        <p:nvSpPr>
          <p:cNvPr id="14" name="Shape 12"/>
          <p:cNvSpPr/>
          <p:nvPr/>
        </p:nvSpPr>
        <p:spPr>
          <a:xfrm>
            <a:off x="3659109" y="2779776"/>
            <a:ext cx="2890921" cy="182880"/>
          </a:xfrm>
          <a:prstGeom prst="roundRect">
            <a:avLst>
              <a:gd name="adj" fmla="val 50000"/>
            </a:avLst>
          </a:prstGeom>
          <a:solidFill>
            <a:srgbClr val="9A9A96"/>
          </a:solidFill>
          <a:ln w="12700">
            <a:solidFill>
              <a:srgbClr val="9A9A96"/>
            </a:solidFill>
            <a:prstDash val="solid"/>
          </a:ln>
        </p:spPr>
      </p:sp>
      <p:sp>
        <p:nvSpPr>
          <p:cNvPr id="15" name="Text 13"/>
          <p:cNvSpPr txBox="1"/>
          <p:nvPr/>
        </p:nvSpPr>
        <p:spPr>
          <a:xfrm>
            <a:off x="685800" y="3090672"/>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発信物の点検・職員ヒアリング</a:t>
            </a:r>
            <a:endParaRPr lang="en-US" sz="1150" dirty="0"/>
          </a:p>
        </p:txBody>
      </p:sp>
      <p:sp>
        <p:nvSpPr>
          <p:cNvPr id="16" name="Shape 14"/>
          <p:cNvSpPr/>
          <p:nvPr/>
        </p:nvSpPr>
        <p:spPr>
          <a:xfrm>
            <a:off x="4209760" y="3127248"/>
            <a:ext cx="2202607" cy="182880"/>
          </a:xfrm>
          <a:prstGeom prst="roundRect">
            <a:avLst>
              <a:gd name="adj" fmla="val 50000"/>
            </a:avLst>
          </a:prstGeom>
          <a:solidFill>
            <a:srgbClr val="9A9A96"/>
          </a:solidFill>
          <a:ln w="12700">
            <a:solidFill>
              <a:srgbClr val="9A9A96"/>
            </a:solidFill>
            <a:prstDash val="solid"/>
          </a:ln>
        </p:spPr>
      </p:sp>
      <p:sp>
        <p:nvSpPr>
          <p:cNvPr id="17" name="Text 15"/>
          <p:cNvSpPr txBox="1"/>
          <p:nvPr/>
        </p:nvSpPr>
        <p:spPr>
          <a:xfrm>
            <a:off x="685800" y="3438144"/>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誰に・何を・どこで の決定</a:t>
            </a:r>
            <a:endParaRPr lang="en-US" sz="1150" dirty="0"/>
          </a:p>
        </p:txBody>
      </p:sp>
      <p:sp>
        <p:nvSpPr>
          <p:cNvPr id="18" name="Shape 16"/>
          <p:cNvSpPr/>
          <p:nvPr/>
        </p:nvSpPr>
        <p:spPr>
          <a:xfrm>
            <a:off x="5999378" y="3474720"/>
            <a:ext cx="2202607" cy="182880"/>
          </a:xfrm>
          <a:prstGeom prst="roundRect">
            <a:avLst>
              <a:gd name="adj" fmla="val 50000"/>
            </a:avLst>
          </a:prstGeom>
          <a:solidFill>
            <a:srgbClr val="9A9A96"/>
          </a:solidFill>
          <a:ln w="12700">
            <a:solidFill>
              <a:srgbClr val="9A9A96"/>
            </a:solidFill>
            <a:prstDash val="solid"/>
          </a:ln>
        </p:spPr>
      </p:sp>
      <p:sp>
        <p:nvSpPr>
          <p:cNvPr id="19" name="Text 17"/>
          <p:cNvSpPr txBox="1"/>
          <p:nvPr/>
        </p:nvSpPr>
        <p:spPr>
          <a:xfrm>
            <a:off x="685800" y="3785616"/>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改善案6つの比較 → 重点3つ</a:t>
            </a:r>
            <a:endParaRPr lang="en-US" sz="1150" dirty="0"/>
          </a:p>
        </p:txBody>
      </p:sp>
      <p:sp>
        <p:nvSpPr>
          <p:cNvPr id="20" name="Shape 18"/>
          <p:cNvSpPr/>
          <p:nvPr/>
        </p:nvSpPr>
        <p:spPr>
          <a:xfrm>
            <a:off x="6825356" y="3822192"/>
            <a:ext cx="2202607" cy="182880"/>
          </a:xfrm>
          <a:prstGeom prst="roundRect">
            <a:avLst>
              <a:gd name="adj" fmla="val 50000"/>
            </a:avLst>
          </a:prstGeom>
          <a:solidFill>
            <a:srgbClr val="9A9A96"/>
          </a:solidFill>
          <a:ln w="12700">
            <a:solidFill>
              <a:srgbClr val="9A9A96"/>
            </a:solidFill>
            <a:prstDash val="solid"/>
          </a:ln>
        </p:spPr>
      </p:sp>
      <p:sp>
        <p:nvSpPr>
          <p:cNvPr id="21" name="Text 19"/>
          <p:cNvSpPr txBox="1"/>
          <p:nvPr/>
        </p:nvSpPr>
        <p:spPr>
          <a:xfrm>
            <a:off x="685800" y="4133088"/>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重点3案の具体化・年間計画</a:t>
            </a:r>
            <a:endParaRPr lang="en-US" sz="1150" dirty="0"/>
          </a:p>
        </p:txBody>
      </p:sp>
      <p:sp>
        <p:nvSpPr>
          <p:cNvPr id="22" name="Shape 20"/>
          <p:cNvSpPr/>
          <p:nvPr/>
        </p:nvSpPr>
        <p:spPr>
          <a:xfrm>
            <a:off x="8477311" y="4169664"/>
            <a:ext cx="2615595" cy="182880"/>
          </a:xfrm>
          <a:prstGeom prst="roundRect">
            <a:avLst>
              <a:gd name="adj" fmla="val 50000"/>
            </a:avLst>
          </a:prstGeom>
          <a:solidFill>
            <a:srgbClr val="9A9A96"/>
          </a:solidFill>
          <a:ln w="12700">
            <a:solidFill>
              <a:srgbClr val="9A9A96"/>
            </a:solidFill>
            <a:prstDash val="solid"/>
          </a:ln>
        </p:spPr>
      </p:sp>
      <p:sp>
        <p:nvSpPr>
          <p:cNvPr id="23" name="Text 21"/>
          <p:cNvSpPr txBox="1"/>
          <p:nvPr/>
        </p:nvSpPr>
        <p:spPr>
          <a:xfrm>
            <a:off x="685800" y="4480560"/>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評価シート・次回調査への提案</a:t>
            </a:r>
            <a:endParaRPr lang="en-US" sz="1150" dirty="0"/>
          </a:p>
        </p:txBody>
      </p:sp>
      <p:sp>
        <p:nvSpPr>
          <p:cNvPr id="24" name="Shape 22"/>
          <p:cNvSpPr/>
          <p:nvPr/>
        </p:nvSpPr>
        <p:spPr>
          <a:xfrm>
            <a:off x="9303288" y="4517136"/>
            <a:ext cx="2064944" cy="182880"/>
          </a:xfrm>
          <a:prstGeom prst="roundRect">
            <a:avLst>
              <a:gd name="adj" fmla="val 50000"/>
            </a:avLst>
          </a:prstGeom>
          <a:solidFill>
            <a:srgbClr val="9A9A96"/>
          </a:solidFill>
          <a:ln w="12700">
            <a:solidFill>
              <a:srgbClr val="9A9A96"/>
            </a:solidFill>
            <a:prstDash val="solid"/>
          </a:ln>
        </p:spPr>
      </p:sp>
      <p:sp>
        <p:nvSpPr>
          <p:cNvPr id="25" name="Shape 23"/>
          <p:cNvSpPr/>
          <p:nvPr/>
        </p:nvSpPr>
        <p:spPr>
          <a:xfrm>
            <a:off x="4760412" y="2331720"/>
            <a:ext cx="0" cy="2606040"/>
          </a:xfrm>
          <a:prstGeom prst="line">
            <a:avLst/>
          </a:prstGeom>
          <a:noFill/>
          <a:ln w="15875">
            <a:solidFill>
              <a:srgbClr val="C0462B"/>
            </a:solidFill>
            <a:prstDash val="dash"/>
          </a:ln>
        </p:spPr>
      </p:sp>
      <p:sp>
        <p:nvSpPr>
          <p:cNvPr id="26" name="Shape 24"/>
          <p:cNvSpPr/>
          <p:nvPr/>
        </p:nvSpPr>
        <p:spPr>
          <a:xfrm>
            <a:off x="4659828" y="4864608"/>
            <a:ext cx="201168" cy="201168"/>
          </a:xfrm>
          <a:prstGeom prst="ellipse">
            <a:avLst/>
          </a:prstGeom>
          <a:solidFill>
            <a:srgbClr val="C0462B"/>
          </a:solidFill>
          <a:ln w="12700">
            <a:solidFill>
              <a:srgbClr val="C0462B"/>
            </a:solidFill>
            <a:prstDash val="solid"/>
          </a:ln>
        </p:spPr>
      </p:sp>
      <p:sp>
        <p:nvSpPr>
          <p:cNvPr id="27" name="Text 25"/>
          <p:cNvSpPr txBox="1"/>
          <p:nvPr/>
        </p:nvSpPr>
        <p:spPr>
          <a:xfrm>
            <a:off x="3754572" y="5166360"/>
            <a:ext cx="2011680" cy="274320"/>
          </a:xfrm>
          <a:prstGeom prst="rect">
            <a:avLst/>
          </a:prstGeom>
          <a:noFill/>
          <a:ln/>
        </p:spPr>
        <p:txBody>
          <a:bodyPr wrap="square" lIns="0" tIns="0" rIns="0" bIns="0" rtlCol="0" anchor="t"/>
          <a:lstStyle/>
          <a:p>
            <a:pPr algn="ct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第1回</a:t>
            </a:r>
            <a:endParaRPr lang="en-US" sz="1300" dirty="0"/>
          </a:p>
        </p:txBody>
      </p:sp>
      <p:sp>
        <p:nvSpPr>
          <p:cNvPr id="28" name="Text 26"/>
          <p:cNvSpPr txBox="1"/>
          <p:nvPr/>
        </p:nvSpPr>
        <p:spPr>
          <a:xfrm>
            <a:off x="3617412" y="5468112"/>
            <a:ext cx="2286000" cy="548640"/>
          </a:xfrm>
          <a:prstGeom prst="rect">
            <a:avLst/>
          </a:prstGeom>
          <a:noFill/>
          <a:ln/>
        </p:spPr>
        <p:txBody>
          <a:bodyPr wrap="square" lIns="0" tIns="0" rIns="0" bIns="0" rtlCol="0" anchor="t"/>
          <a:lstStyle/>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分析の進め方と、</a:t>
            </a:r>
            <a:endParaRPr lang="en-US" sz="1100" dirty="0"/>
          </a:p>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ゴールのすり合わせ</a:t>
            </a:r>
            <a:endParaRPr lang="en-US" sz="1100" dirty="0"/>
          </a:p>
        </p:txBody>
      </p:sp>
      <p:sp>
        <p:nvSpPr>
          <p:cNvPr id="29" name="Shape 27"/>
          <p:cNvSpPr/>
          <p:nvPr/>
        </p:nvSpPr>
        <p:spPr>
          <a:xfrm>
            <a:off x="7376008" y="2331720"/>
            <a:ext cx="0" cy="2606040"/>
          </a:xfrm>
          <a:prstGeom prst="line">
            <a:avLst/>
          </a:prstGeom>
          <a:noFill/>
          <a:ln w="15875">
            <a:solidFill>
              <a:srgbClr val="C0462B"/>
            </a:solidFill>
            <a:prstDash val="dash"/>
          </a:ln>
        </p:spPr>
      </p:sp>
      <p:sp>
        <p:nvSpPr>
          <p:cNvPr id="30" name="Shape 28"/>
          <p:cNvSpPr/>
          <p:nvPr/>
        </p:nvSpPr>
        <p:spPr>
          <a:xfrm>
            <a:off x="7275424" y="4864608"/>
            <a:ext cx="201168" cy="201168"/>
          </a:xfrm>
          <a:prstGeom prst="ellipse">
            <a:avLst/>
          </a:prstGeom>
          <a:solidFill>
            <a:srgbClr val="C0462B"/>
          </a:solidFill>
          <a:ln w="12700">
            <a:solidFill>
              <a:srgbClr val="C0462B"/>
            </a:solidFill>
            <a:prstDash val="solid"/>
          </a:ln>
        </p:spPr>
      </p:sp>
      <p:sp>
        <p:nvSpPr>
          <p:cNvPr id="31" name="Text 29"/>
          <p:cNvSpPr txBox="1"/>
          <p:nvPr/>
        </p:nvSpPr>
        <p:spPr>
          <a:xfrm>
            <a:off x="6370168" y="5166360"/>
            <a:ext cx="2011680" cy="274320"/>
          </a:xfrm>
          <a:prstGeom prst="rect">
            <a:avLst/>
          </a:prstGeom>
          <a:noFill/>
          <a:ln/>
        </p:spPr>
        <p:txBody>
          <a:bodyPr wrap="square" lIns="0" tIns="0" rIns="0" bIns="0" rtlCol="0" anchor="t"/>
          <a:lstStyle/>
          <a:p>
            <a:pPr algn="ct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第2回</a:t>
            </a:r>
            <a:endParaRPr lang="en-US" sz="1300" dirty="0"/>
          </a:p>
        </p:txBody>
      </p:sp>
      <p:sp>
        <p:nvSpPr>
          <p:cNvPr id="32" name="Text 30"/>
          <p:cNvSpPr txBox="1"/>
          <p:nvPr/>
        </p:nvSpPr>
        <p:spPr>
          <a:xfrm>
            <a:off x="6233008" y="5468112"/>
            <a:ext cx="2286000" cy="548640"/>
          </a:xfrm>
          <a:prstGeom prst="rect">
            <a:avLst/>
          </a:prstGeom>
          <a:noFill/>
          <a:ln/>
        </p:spPr>
        <p:txBody>
          <a:bodyPr wrap="square" lIns="0" tIns="0" rIns="0" bIns="0" rtlCol="0" anchor="t"/>
          <a:lstStyle/>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診断結果の共有、</a:t>
            </a:r>
            <a:endParaRPr lang="en-US" sz="1100" dirty="0"/>
          </a:p>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重点3案を選ぶ</a:t>
            </a:r>
            <a:endParaRPr lang="en-US" sz="1100" dirty="0"/>
          </a:p>
        </p:txBody>
      </p:sp>
      <p:sp>
        <p:nvSpPr>
          <p:cNvPr id="33" name="Shape 31"/>
          <p:cNvSpPr/>
          <p:nvPr/>
        </p:nvSpPr>
        <p:spPr>
          <a:xfrm>
            <a:off x="10404592" y="2331720"/>
            <a:ext cx="0" cy="2606040"/>
          </a:xfrm>
          <a:prstGeom prst="line">
            <a:avLst/>
          </a:prstGeom>
          <a:noFill/>
          <a:ln w="15875">
            <a:solidFill>
              <a:srgbClr val="C0462B"/>
            </a:solidFill>
            <a:prstDash val="dash"/>
          </a:ln>
        </p:spPr>
      </p:sp>
      <p:sp>
        <p:nvSpPr>
          <p:cNvPr id="34" name="Shape 32"/>
          <p:cNvSpPr/>
          <p:nvPr/>
        </p:nvSpPr>
        <p:spPr>
          <a:xfrm>
            <a:off x="10304008" y="4864608"/>
            <a:ext cx="201168" cy="201168"/>
          </a:xfrm>
          <a:prstGeom prst="ellipse">
            <a:avLst/>
          </a:prstGeom>
          <a:solidFill>
            <a:srgbClr val="C0462B"/>
          </a:solidFill>
          <a:ln w="12700">
            <a:solidFill>
              <a:srgbClr val="C0462B"/>
            </a:solidFill>
            <a:prstDash val="solid"/>
          </a:ln>
        </p:spPr>
      </p:sp>
      <p:sp>
        <p:nvSpPr>
          <p:cNvPr id="35" name="Text 33"/>
          <p:cNvSpPr txBox="1"/>
          <p:nvPr/>
        </p:nvSpPr>
        <p:spPr>
          <a:xfrm>
            <a:off x="9398752" y="5166360"/>
            <a:ext cx="2011680" cy="274320"/>
          </a:xfrm>
          <a:prstGeom prst="rect">
            <a:avLst/>
          </a:prstGeom>
          <a:noFill/>
          <a:ln/>
        </p:spPr>
        <p:txBody>
          <a:bodyPr wrap="square" lIns="0" tIns="0" rIns="0" bIns="0" rtlCol="0" anchor="t"/>
          <a:lstStyle/>
          <a:p>
            <a:pPr algn="ct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第3回</a:t>
            </a:r>
            <a:endParaRPr lang="en-US" sz="1300" dirty="0"/>
          </a:p>
        </p:txBody>
      </p:sp>
      <p:sp>
        <p:nvSpPr>
          <p:cNvPr id="36" name="Text 34"/>
          <p:cNvSpPr txBox="1"/>
          <p:nvPr/>
        </p:nvSpPr>
        <p:spPr>
          <a:xfrm>
            <a:off x="9261592" y="5468112"/>
            <a:ext cx="2286000" cy="548640"/>
          </a:xfrm>
          <a:prstGeom prst="rect">
            <a:avLst/>
          </a:prstGeom>
          <a:noFill/>
          <a:ln/>
        </p:spPr>
        <p:txBody>
          <a:bodyPr wrap="square" lIns="0" tIns="0" rIns="0" bIns="0" rtlCol="0" anchor="t"/>
          <a:lstStyle/>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最終案の合意</a:t>
            </a:r>
            <a:endParaRPr lang="en-US" sz="1100" dirty="0"/>
          </a:p>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 納品</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10</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3月末にお渡しするもの。</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今年度の報告書で終わらせず、来年度の計画と、次の調査にそのまま使える形にします。</a:t>
            </a:r>
            <a:endParaRPr lang="en-US" sz="1400" dirty="0"/>
          </a:p>
        </p:txBody>
      </p:sp>
      <p:sp>
        <p:nvSpPr>
          <p:cNvPr id="6" name="Shape 4"/>
          <p:cNvSpPr/>
          <p:nvPr/>
        </p:nvSpPr>
        <p:spPr>
          <a:xfrm>
            <a:off x="685800" y="2011680"/>
            <a:ext cx="10820095" cy="0"/>
          </a:xfrm>
          <a:prstGeom prst="line">
            <a:avLst/>
          </a:prstGeom>
          <a:noFill/>
          <a:ln w="9525">
            <a:solidFill>
              <a:srgbClr val="D6D6D3"/>
            </a:solidFill>
            <a:prstDash val="solid"/>
          </a:ln>
        </p:spPr>
      </p:sp>
      <p:sp>
        <p:nvSpPr>
          <p:cNvPr id="7" name="Text 5"/>
          <p:cNvSpPr txBox="1"/>
          <p:nvPr/>
        </p:nvSpPr>
        <p:spPr>
          <a:xfrm>
            <a:off x="685800" y="2139696"/>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1</a:t>
            </a:r>
            <a:endParaRPr lang="en-US" sz="2200" dirty="0"/>
          </a:p>
        </p:txBody>
      </p:sp>
      <p:sp>
        <p:nvSpPr>
          <p:cNvPr id="8" name="Text 6"/>
          <p:cNvSpPr txBox="1"/>
          <p:nvPr/>
        </p:nvSpPr>
        <p:spPr>
          <a:xfrm>
            <a:off x="1280160" y="2194560"/>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認知度の診断レポート</a:t>
            </a:r>
            <a:endParaRPr lang="en-US" sz="1500" dirty="0"/>
          </a:p>
        </p:txBody>
      </p:sp>
      <p:sp>
        <p:nvSpPr>
          <p:cNvPr id="9" name="Text 7"/>
          <p:cNvSpPr txBox="1"/>
          <p:nvPr/>
        </p:nvSpPr>
        <p:spPr>
          <a:xfrm>
            <a:off x="5120640" y="2194560"/>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どの層の、どの段階で止まっているか。その理由の仮説と、データで言えること・言えないこと。</a:t>
            </a:r>
            <a:endParaRPr lang="en-US" sz="1250" dirty="0"/>
          </a:p>
        </p:txBody>
      </p:sp>
      <p:sp>
        <p:nvSpPr>
          <p:cNvPr id="10" name="Shape 8"/>
          <p:cNvSpPr/>
          <p:nvPr/>
        </p:nvSpPr>
        <p:spPr>
          <a:xfrm>
            <a:off x="685800" y="2779776"/>
            <a:ext cx="10820095" cy="0"/>
          </a:xfrm>
          <a:prstGeom prst="line">
            <a:avLst/>
          </a:prstGeom>
          <a:noFill/>
          <a:ln w="9525">
            <a:solidFill>
              <a:srgbClr val="D6D6D3"/>
            </a:solidFill>
            <a:prstDash val="solid"/>
          </a:ln>
        </p:spPr>
      </p:sp>
      <p:sp>
        <p:nvSpPr>
          <p:cNvPr id="11" name="Text 9"/>
          <p:cNvSpPr txBox="1"/>
          <p:nvPr/>
        </p:nvSpPr>
        <p:spPr>
          <a:xfrm>
            <a:off x="685800" y="2907792"/>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2</a:t>
            </a:r>
            <a:endParaRPr lang="en-US" sz="2200" dirty="0"/>
          </a:p>
        </p:txBody>
      </p:sp>
      <p:sp>
        <p:nvSpPr>
          <p:cNvPr id="12" name="Text 10"/>
          <p:cNvSpPr txBox="1"/>
          <p:nvPr/>
        </p:nvSpPr>
        <p:spPr>
          <a:xfrm>
            <a:off x="1280160" y="2962656"/>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対象・メッセージ・接点の整理</a:t>
            </a:r>
            <a:endParaRPr lang="en-US" sz="1500" dirty="0"/>
          </a:p>
        </p:txBody>
      </p:sp>
      <p:sp>
        <p:nvSpPr>
          <p:cNvPr id="13" name="Text 11"/>
          <p:cNvSpPr txBox="1"/>
          <p:nvPr/>
        </p:nvSpPr>
        <p:spPr>
          <a:xfrm>
            <a:off x="5120640" y="2962656"/>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誰に、何を、どこで伝えるか。なぜそれを選んだか。</a:t>
            </a:r>
            <a:endParaRPr lang="en-US" sz="1250" dirty="0"/>
          </a:p>
        </p:txBody>
      </p:sp>
      <p:sp>
        <p:nvSpPr>
          <p:cNvPr id="14" name="Shape 12"/>
          <p:cNvSpPr/>
          <p:nvPr/>
        </p:nvSpPr>
        <p:spPr>
          <a:xfrm>
            <a:off x="685800" y="3547872"/>
            <a:ext cx="10820095" cy="0"/>
          </a:xfrm>
          <a:prstGeom prst="line">
            <a:avLst/>
          </a:prstGeom>
          <a:noFill/>
          <a:ln w="9525">
            <a:solidFill>
              <a:srgbClr val="D6D6D3"/>
            </a:solidFill>
            <a:prstDash val="solid"/>
          </a:ln>
        </p:spPr>
      </p:sp>
      <p:sp>
        <p:nvSpPr>
          <p:cNvPr id="15" name="Text 13"/>
          <p:cNvSpPr txBox="1"/>
          <p:nvPr/>
        </p:nvSpPr>
        <p:spPr>
          <a:xfrm>
            <a:off x="685800" y="3675888"/>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3</a:t>
            </a:r>
            <a:endParaRPr lang="en-US" sz="2200" dirty="0"/>
          </a:p>
        </p:txBody>
      </p:sp>
      <p:sp>
        <p:nvSpPr>
          <p:cNvPr id="16" name="Text 14"/>
          <p:cNvSpPr txBox="1"/>
          <p:nvPr/>
        </p:nvSpPr>
        <p:spPr>
          <a:xfrm>
            <a:off x="1280160" y="3730752"/>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改善策 6案（うち重点3案は詳細まで）</a:t>
            </a:r>
            <a:endParaRPr lang="en-US" sz="1500" dirty="0"/>
          </a:p>
        </p:txBody>
      </p:sp>
      <p:sp>
        <p:nvSpPr>
          <p:cNvPr id="17" name="Text 15"/>
          <p:cNvSpPr txBox="1"/>
          <p:nvPr/>
        </p:nvSpPr>
        <p:spPr>
          <a:xfrm>
            <a:off x="5120640" y="3730752"/>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重点3案は、構成・作業の手順・確認事項まで。内部の検討にそのまま回せる粒度にします。</a:t>
            </a:r>
            <a:endParaRPr lang="en-US" sz="1250" dirty="0"/>
          </a:p>
        </p:txBody>
      </p:sp>
      <p:sp>
        <p:nvSpPr>
          <p:cNvPr id="18" name="Shape 16"/>
          <p:cNvSpPr/>
          <p:nvPr/>
        </p:nvSpPr>
        <p:spPr>
          <a:xfrm>
            <a:off x="685800" y="4315968"/>
            <a:ext cx="10820095" cy="0"/>
          </a:xfrm>
          <a:prstGeom prst="line">
            <a:avLst/>
          </a:prstGeom>
          <a:noFill/>
          <a:ln w="9525">
            <a:solidFill>
              <a:srgbClr val="D6D6D3"/>
            </a:solidFill>
            <a:prstDash val="solid"/>
          </a:ln>
        </p:spPr>
      </p:sp>
      <p:sp>
        <p:nvSpPr>
          <p:cNvPr id="19" name="Text 17"/>
          <p:cNvSpPr txBox="1"/>
          <p:nvPr/>
        </p:nvSpPr>
        <p:spPr>
          <a:xfrm>
            <a:off x="685800" y="4443984"/>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4</a:t>
            </a:r>
            <a:endParaRPr lang="en-US" sz="2200" dirty="0"/>
          </a:p>
        </p:txBody>
      </p:sp>
      <p:sp>
        <p:nvSpPr>
          <p:cNvPr id="20" name="Text 18"/>
          <p:cNvSpPr txBox="1"/>
          <p:nvPr/>
        </p:nvSpPr>
        <p:spPr>
          <a:xfrm>
            <a:off x="1280160" y="4498848"/>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来年度の広報ロードマップ</a:t>
            </a:r>
            <a:endParaRPr lang="en-US" sz="1500" dirty="0"/>
          </a:p>
        </p:txBody>
      </p:sp>
      <p:sp>
        <p:nvSpPr>
          <p:cNvPr id="21" name="Text 19"/>
          <p:cNvSpPr txBox="1"/>
          <p:nvPr/>
        </p:nvSpPr>
        <p:spPr>
          <a:xfrm>
            <a:off x="5120640" y="4498848"/>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四半期ごとの優先施策。今ある予算でできることと、追加費用がかかることを分けて記載。</a:t>
            </a:r>
            <a:endParaRPr lang="en-US" sz="1250" dirty="0"/>
          </a:p>
        </p:txBody>
      </p:sp>
      <p:sp>
        <p:nvSpPr>
          <p:cNvPr id="22" name="Shape 20"/>
          <p:cNvSpPr/>
          <p:nvPr/>
        </p:nvSpPr>
        <p:spPr>
          <a:xfrm>
            <a:off x="685800" y="5084064"/>
            <a:ext cx="10820095" cy="0"/>
          </a:xfrm>
          <a:prstGeom prst="line">
            <a:avLst/>
          </a:prstGeom>
          <a:noFill/>
          <a:ln w="9525">
            <a:solidFill>
              <a:srgbClr val="D6D6D3"/>
            </a:solidFill>
            <a:prstDash val="solid"/>
          </a:ln>
        </p:spPr>
      </p:sp>
      <p:sp>
        <p:nvSpPr>
          <p:cNvPr id="23" name="Text 21"/>
          <p:cNvSpPr txBox="1"/>
          <p:nvPr/>
        </p:nvSpPr>
        <p:spPr>
          <a:xfrm>
            <a:off x="685800" y="5212080"/>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5</a:t>
            </a:r>
            <a:endParaRPr lang="en-US" sz="2200" dirty="0"/>
          </a:p>
        </p:txBody>
      </p:sp>
      <p:sp>
        <p:nvSpPr>
          <p:cNvPr id="24" name="Text 22"/>
          <p:cNvSpPr txBox="1"/>
          <p:nvPr/>
        </p:nvSpPr>
        <p:spPr>
          <a:xfrm>
            <a:off x="1280160" y="5266944"/>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評価シートと、次回調査への提案</a:t>
            </a:r>
            <a:endParaRPr lang="en-US" sz="1500" dirty="0"/>
          </a:p>
        </p:txBody>
      </p:sp>
      <p:sp>
        <p:nvSpPr>
          <p:cNvPr id="25" name="Text 23"/>
          <p:cNvSpPr txBox="1"/>
          <p:nvPr/>
        </p:nvSpPr>
        <p:spPr>
          <a:xfrm>
            <a:off x="5120640" y="5266944"/>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何をいつ見れば効いたとわかるか。12月調査に足すとよい設問の案。</a:t>
            </a:r>
            <a:endParaRPr lang="en-US" sz="1250" dirty="0"/>
          </a:p>
        </p:txBody>
      </p:sp>
      <p:sp>
        <p:nvSpPr>
          <p:cNvPr id="26" name="Shape 24"/>
          <p:cNvSpPr/>
          <p:nvPr/>
        </p:nvSpPr>
        <p:spPr>
          <a:xfrm>
            <a:off x="685800" y="5852160"/>
            <a:ext cx="10820095" cy="0"/>
          </a:xfrm>
          <a:prstGeom prst="line">
            <a:avLst/>
          </a:prstGeom>
          <a:noFill/>
          <a:ln w="9525">
            <a:solidFill>
              <a:srgbClr val="D6D6D3"/>
            </a:solidFill>
            <a:prstDash val="solid"/>
          </a:ln>
        </p:spPr>
      </p:sp>
      <p:sp>
        <p:nvSpPr>
          <p:cNvPr id="27" name="Text 25"/>
          <p:cNvSpPr txBox="1"/>
          <p:nvPr/>
        </p:nvSpPr>
        <p:spPr>
          <a:xfrm>
            <a:off x="685800" y="5943600"/>
            <a:ext cx="7315200" cy="274320"/>
          </a:xfrm>
          <a:prstGeom prst="rect">
            <a:avLst/>
          </a:prstGeom>
          <a:noFill/>
          <a:ln/>
        </p:spPr>
        <p:txBody>
          <a:bodyPr wrap="square" lIns="0" tIns="0" rIns="0" bIns="0" rtlCol="0" anchor="t"/>
          <a:lstStyle/>
          <a:p>
            <a:pP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PowerPoint・Excelなど編集できる形式とPDFで納品します。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11</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少人数で、最初から最後まで同じメンバーが担当します。</a:t>
            </a:r>
            <a:endParaRPr lang="en-US" sz="2800" dirty="0"/>
          </a:p>
        </p:txBody>
      </p:sp>
      <p:sp>
        <p:nvSpPr>
          <p:cNvPr id="5" name="Shape 3"/>
          <p:cNvSpPr/>
          <p:nvPr/>
        </p:nvSpPr>
        <p:spPr>
          <a:xfrm>
            <a:off x="685800" y="1600200"/>
            <a:ext cx="822960" cy="822960"/>
          </a:xfrm>
          <a:prstGeom prst="ellipse">
            <a:avLst/>
          </a:prstGeom>
          <a:solidFill>
            <a:srgbClr val="F2F2F0"/>
          </a:solidFill>
          <a:ln w="12700">
            <a:solidFill>
              <a:srgbClr val="F2F2F0"/>
            </a:solidFill>
            <a:prstDash val="solid"/>
          </a:ln>
        </p:spPr>
      </p:sp>
      <p:sp>
        <p:nvSpPr>
          <p:cNvPr id="6" name="Text 4"/>
          <p:cNvSpPr txBox="1"/>
          <p:nvPr/>
        </p:nvSpPr>
        <p:spPr>
          <a:xfrm>
            <a:off x="685800" y="160020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全体</a:t>
            </a:r>
            <a:endParaRPr lang="en-US" sz="1500" dirty="0"/>
          </a:p>
        </p:txBody>
      </p:sp>
      <p:sp>
        <p:nvSpPr>
          <p:cNvPr id="7" name="Text 5"/>
          <p:cNvSpPr txBox="1"/>
          <p:nvPr/>
        </p:nvSpPr>
        <p:spPr>
          <a:xfrm>
            <a:off x="1783080" y="164592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全体統括</a:t>
            </a:r>
            <a:endParaRPr lang="en-US" sz="1500" dirty="0"/>
          </a:p>
        </p:txBody>
      </p:sp>
      <p:sp>
        <p:nvSpPr>
          <p:cNvPr id="8" name="Text 6"/>
          <p:cNvSpPr txBox="1"/>
          <p:nvPr/>
        </p:nvSpPr>
        <p:spPr>
          <a:xfrm>
            <a:off x="1783080" y="201168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論点と優先順位を管理し、窓口を一本化します。打合せには毎回出席します。</a:t>
            </a:r>
            <a:endParaRPr lang="en-US" sz="1200" dirty="0"/>
          </a:p>
        </p:txBody>
      </p:sp>
      <p:sp>
        <p:nvSpPr>
          <p:cNvPr id="9" name="Shape 7"/>
          <p:cNvSpPr/>
          <p:nvPr/>
        </p:nvSpPr>
        <p:spPr>
          <a:xfrm>
            <a:off x="685800" y="2788920"/>
            <a:ext cx="822960" cy="822960"/>
          </a:xfrm>
          <a:prstGeom prst="ellipse">
            <a:avLst/>
          </a:prstGeom>
          <a:solidFill>
            <a:srgbClr val="F2F2F0"/>
          </a:solidFill>
          <a:ln w="12700">
            <a:solidFill>
              <a:srgbClr val="F2F2F0"/>
            </a:solidFill>
            <a:prstDash val="solid"/>
          </a:ln>
        </p:spPr>
      </p:sp>
      <p:sp>
        <p:nvSpPr>
          <p:cNvPr id="10" name="Text 8"/>
          <p:cNvSpPr txBox="1"/>
          <p:nvPr/>
        </p:nvSpPr>
        <p:spPr>
          <a:xfrm>
            <a:off x="685800" y="278892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分析</a:t>
            </a:r>
            <a:endParaRPr lang="en-US" sz="1500" dirty="0"/>
          </a:p>
        </p:txBody>
      </p:sp>
      <p:sp>
        <p:nvSpPr>
          <p:cNvPr id="11" name="Text 9"/>
          <p:cNvSpPr txBox="1"/>
          <p:nvPr/>
        </p:nvSpPr>
        <p:spPr>
          <a:xfrm>
            <a:off x="1783080" y="283464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分析・戦略設計</a:t>
            </a:r>
            <a:endParaRPr lang="en-US" sz="1500" dirty="0"/>
          </a:p>
        </p:txBody>
      </p:sp>
      <p:sp>
        <p:nvSpPr>
          <p:cNvPr id="12" name="Text 10"/>
          <p:cNvSpPr txBox="1"/>
          <p:nvPr/>
        </p:nvSpPr>
        <p:spPr>
          <a:xfrm>
            <a:off x="1783080" y="320040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調査データと発信物を突き合わせ、根拠のある改善案を組み立てます。</a:t>
            </a:r>
            <a:endParaRPr lang="en-US" sz="1200" dirty="0"/>
          </a:p>
        </p:txBody>
      </p:sp>
      <p:sp>
        <p:nvSpPr>
          <p:cNvPr id="13" name="Shape 11"/>
          <p:cNvSpPr/>
          <p:nvPr/>
        </p:nvSpPr>
        <p:spPr>
          <a:xfrm>
            <a:off x="685800" y="3977640"/>
            <a:ext cx="822960" cy="822960"/>
          </a:xfrm>
          <a:prstGeom prst="ellipse">
            <a:avLst/>
          </a:prstGeom>
          <a:solidFill>
            <a:srgbClr val="F2F2F0"/>
          </a:solidFill>
          <a:ln w="12700">
            <a:solidFill>
              <a:srgbClr val="F2F2F0"/>
            </a:solidFill>
            <a:prstDash val="solid"/>
          </a:ln>
        </p:spPr>
      </p:sp>
      <p:sp>
        <p:nvSpPr>
          <p:cNvPr id="14" name="Text 12"/>
          <p:cNvSpPr txBox="1"/>
          <p:nvPr/>
        </p:nvSpPr>
        <p:spPr>
          <a:xfrm>
            <a:off x="685800" y="397764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編集</a:t>
            </a:r>
            <a:endParaRPr lang="en-US" sz="1500" dirty="0"/>
          </a:p>
        </p:txBody>
      </p:sp>
      <p:sp>
        <p:nvSpPr>
          <p:cNvPr id="15" name="Text 13"/>
          <p:cNvSpPr txBox="1"/>
          <p:nvPr/>
        </p:nvSpPr>
        <p:spPr>
          <a:xfrm>
            <a:off x="1783080" y="402336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編集レビュー</a:t>
            </a:r>
            <a:endParaRPr lang="en-US" sz="1500" dirty="0"/>
          </a:p>
        </p:txBody>
      </p:sp>
      <p:sp>
        <p:nvSpPr>
          <p:cNvPr id="16" name="Text 14"/>
          <p:cNvSpPr txBox="1"/>
          <p:nvPr/>
        </p:nvSpPr>
        <p:spPr>
          <a:xfrm>
            <a:off x="1783080" y="438912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テレビ・Webの制作現場の目線で、伝わり方と実現性を点検します。</a:t>
            </a:r>
            <a:endParaRPr lang="en-US" sz="1200" dirty="0"/>
          </a:p>
        </p:txBody>
      </p:sp>
      <p:sp>
        <p:nvSpPr>
          <p:cNvPr id="17" name="Shape 15"/>
          <p:cNvSpPr/>
          <p:nvPr/>
        </p:nvSpPr>
        <p:spPr>
          <a:xfrm>
            <a:off x="6766560" y="1600200"/>
            <a:ext cx="4739335" cy="4343400"/>
          </a:xfrm>
          <a:prstGeom prst="rect">
            <a:avLst/>
          </a:prstGeom>
          <a:solidFill>
            <a:srgbClr val="F2F2F0"/>
          </a:solidFill>
          <a:ln w="12700">
            <a:solidFill>
              <a:srgbClr val="F2F2F0"/>
            </a:solidFill>
            <a:prstDash val="solid"/>
          </a:ln>
        </p:spPr>
      </p:sp>
      <p:sp>
        <p:nvSpPr>
          <p:cNvPr id="18" name="Text 16"/>
          <p:cNvSpPr txBox="1"/>
          <p:nvPr/>
        </p:nvSpPr>
        <p:spPr>
          <a:xfrm>
            <a:off x="7132320" y="1828800"/>
            <a:ext cx="4007815"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almaについて</a:t>
            </a:r>
            <a:endParaRPr lang="en-US" sz="1300" dirty="0"/>
          </a:p>
        </p:txBody>
      </p:sp>
      <p:sp>
        <p:nvSpPr>
          <p:cNvPr id="19" name="Text 17"/>
          <p:cNvSpPr txBox="1"/>
          <p:nvPr/>
        </p:nvSpPr>
        <p:spPr>
          <a:xfrm>
            <a:off x="7132320" y="2240280"/>
            <a:ext cx="4007815" cy="822960"/>
          </a:xfrm>
          <a:prstGeom prst="rect">
            <a:avLst/>
          </a:prstGeom>
          <a:noFill/>
          <a:ln/>
        </p:spPr>
        <p:txBody>
          <a:bodyPr wrap="square" lIns="0" tIns="0" rIns="0" bIns="0" rtlCol="0" anchor="t"/>
          <a:lstStyle/>
          <a:p>
            <a:pPr indent="0" marL="0">
              <a:lnSpc>
                <a:spcPct val="135000"/>
              </a:lnSpc>
              <a:buNone/>
            </a:pPr>
            <a:r>
              <a:rPr lang="en-US" sz="1600" b="1" dirty="0">
                <a:solidFill>
                  <a:srgbClr val="1F1F1F"/>
                </a:solidFill>
                <a:latin typeface="Yu Mincho" pitchFamily="34" charset="0"/>
                <a:ea typeface="Yu Mincho" pitchFamily="34" charset="-122"/>
                <a:cs typeface="Yu Mincho" pitchFamily="34" charset="-120"/>
              </a:rPr>
              <a:t>専門的な情報を、一般の人に正しく伝わる形にするPRを続けてきました。</a:t>
            </a:r>
            <a:endParaRPr lang="en-US" sz="1600" dirty="0"/>
          </a:p>
        </p:txBody>
      </p:sp>
      <p:sp>
        <p:nvSpPr>
          <p:cNvPr id="20" name="Text 18"/>
          <p:cNvSpPr txBox="1"/>
          <p:nvPr/>
        </p:nvSpPr>
        <p:spPr>
          <a:xfrm>
            <a:off x="7132320" y="3246120"/>
            <a:ext cx="4007815" cy="1554480"/>
          </a:xfrm>
          <a:prstGeom prst="rect">
            <a:avLst/>
          </a:prstGeom>
          <a:noFill/>
          <a:ln/>
        </p:spPr>
        <p:txBody>
          <a:bodyPr wrap="square" lIns="0" tIns="0" rIns="0" bIns="0" rtlCol="0" anchor="t"/>
          <a:lstStyle/>
          <a:p>
            <a:pPr marL="342900" indent="-342900">
              <a:lnSpc>
                <a:spcPct val="130000"/>
              </a:lnSpc>
              <a:spcAft>
                <a:spcPts val="800"/>
              </a:spcAft>
              <a:buSzPct val="100000"/>
              <a:buChar char="•"/>
            </a:pPr>
            <a:r>
              <a:rPr lang="en-US" sz="1250" dirty="0">
                <a:solidFill>
                  <a:srgbClr val="1F1F1F"/>
                </a:solidFill>
                <a:latin typeface="Yu Gothic" pitchFamily="34" charset="0"/>
                <a:ea typeface="Yu Gothic" pitchFamily="34" charset="-122"/>
                <a:cs typeface="Yu Gothic" pitchFamily="34" charset="-120"/>
              </a:rPr>
              <a:t>医療・健康など、正確さが求められる分野のPR経験</a:t>
            </a:r>
            <a:endParaRPr lang="en-US" sz="1250" dirty="0"/>
          </a:p>
          <a:p>
            <a:pPr marL="342900" indent="-342900">
              <a:lnSpc>
                <a:spcPct val="130000"/>
              </a:lnSpc>
              <a:spcAft>
                <a:spcPts val="800"/>
              </a:spcAft>
              <a:buSzPct val="100000"/>
              <a:buChar char="•"/>
            </a:pPr>
            <a:r>
              <a:rPr lang="en-US" sz="1250" dirty="0">
                <a:solidFill>
                  <a:srgbClr val="1F1F1F"/>
                </a:solidFill>
                <a:latin typeface="Yu Gothic" pitchFamily="34" charset="0"/>
                <a:ea typeface="Yu Gothic" pitchFamily="34" charset="-122"/>
                <a:cs typeface="Yu Gothic" pitchFamily="34" charset="-120"/>
              </a:rPr>
              <a:t>元NHKの番組制作者を含む、編集・取材の視点</a:t>
            </a:r>
            <a:endParaRPr lang="en-US" sz="1250" dirty="0"/>
          </a:p>
          <a:p>
            <a:pPr marL="342900" indent="-342900">
              <a:lnSpc>
                <a:spcPct val="130000"/>
              </a:lnSpc>
              <a:spcAft>
                <a:spcPts val="800"/>
              </a:spcAft>
              <a:buSzPct val="100000"/>
              <a:buChar char="•"/>
            </a:pPr>
            <a:r>
              <a:rPr lang="en-US" sz="1250" dirty="0">
                <a:solidFill>
                  <a:srgbClr val="1F1F1F"/>
                </a:solidFill>
                <a:latin typeface="Yu Gothic" pitchFamily="34" charset="0"/>
                <a:ea typeface="Yu Gothic" pitchFamily="34" charset="-122"/>
                <a:cs typeface="Yu Gothic" pitchFamily="34" charset="-120"/>
              </a:rPr>
              <a:t>テレビ・新聞・Webを横断した企画づくり</a:t>
            </a:r>
            <a:endParaRPr lang="en-US" sz="1250" dirty="0"/>
          </a:p>
        </p:txBody>
      </p:sp>
      <p:sp>
        <p:nvSpPr>
          <p:cNvPr id="21" name="Text 19"/>
          <p:cNvSpPr txBox="1"/>
          <p:nvPr/>
        </p:nvSpPr>
        <p:spPr>
          <a:xfrm>
            <a:off x="7132320" y="4937760"/>
            <a:ext cx="4007815" cy="822960"/>
          </a:xfrm>
          <a:prstGeom prst="rect">
            <a:avLst/>
          </a:prstGeom>
          <a:noFill/>
          <a:ln/>
        </p:spPr>
        <p:txBody>
          <a:bodyPr wrap="square" lIns="0" tIns="0" rIns="0" bIns="0" rtlCol="0" anchor="t"/>
          <a:lstStyle/>
          <a:p>
            <a:pPr indent="0" marL="0">
              <a:lnSpc>
                <a:spcPct val="135000"/>
              </a:lnSpc>
              <a:buNone/>
            </a:pPr>
            <a:r>
              <a:rPr lang="en-US" sz="1100" dirty="0">
                <a:solidFill>
                  <a:srgbClr val="6B6B6B"/>
                </a:solidFill>
                <a:latin typeface="Yu Gothic" pitchFamily="34" charset="0"/>
                <a:ea typeface="Yu Gothic" pitchFamily="34" charset="-122"/>
                <a:cs typeface="Yu Gothic" pitchFamily="34" charset="-120"/>
              </a:rPr>
              <a:t>法律の内容の正確さは御センターに最終確認いただき、私たちは「正しく伝わる言葉と順番」に責任を持ちます。</a:t>
            </a:r>
            <a:endParaRPr lang="en-US" sz="1100" dirty="0"/>
          </a:p>
        </p:txBody>
      </p:sp>
      <p:sp>
        <p:nvSpPr>
          <p:cNvPr id="22" name="Text 20"/>
          <p:cNvSpPr txBox="1"/>
          <p:nvPr/>
        </p:nvSpPr>
        <p:spPr>
          <a:xfrm>
            <a:off x="685800" y="5349240"/>
            <a:ext cx="457200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担当者名は契約時に確定します。</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12</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費用：3か月一式で 180万円（税抜）</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税込198万円。ご予算の200万円以内に収めています。</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965960"/>
          <a:ext cx="6035040" cy="914400"/>
        </p:xfrm>
        <a:graphic>
          <a:graphicData uri="http://schemas.openxmlformats.org/drawingml/2006/table">
            <a:tbl>
              <a:tblPr/>
              <a:tblGrid>
                <a:gridCol w="4023360"/>
                <a:gridCol w="2011680"/>
              </a:tblGrid>
              <a:tr h="457200">
                <a:tc>
                  <a:txBody>
                    <a:bodyPr/>
                    <a:lstStyle/>
                    <a:p>
                      <a:pPr indent="0" marL="0">
                        <a:buNone/>
                      </a:pPr>
                      <a:r>
                        <a:rPr lang="en-US" sz="1150" b="1" dirty="0">
                          <a:solidFill>
                            <a:srgbClr val="6B6B6B"/>
                          </a:solidFill>
                          <a:latin typeface="Yu Gothic" pitchFamily="34" charset="0"/>
                          <a:ea typeface="Yu Gothic" pitchFamily="34" charset="-122"/>
                          <a:cs typeface="Yu Gothic" pitchFamily="34" charset="-120"/>
                        </a:rPr>
                        <a:t>内容</a:t>
                      </a:r>
                      <a:endParaRPr lang="en-US" sz="1150" dirty="0">
                        <a:latin typeface="Yu Gothic" charset="0"/>
                        <a:ea typeface="Yu Gothic" charset="0"/>
                        <a:cs typeface="Yu Gothic" charset="0"/>
                      </a:endParaRPr>
                    </a:p>
                  </a:txBody>
                  <a:tcPr marL="0" marR="91440" marT="54864" marB="54864">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algn="r" indent="0" marL="0">
                        <a:buNone/>
                      </a:pPr>
                      <a:r>
                        <a:rPr lang="en-US" sz="1150" b="1" dirty="0">
                          <a:solidFill>
                            <a:srgbClr val="6B6B6B"/>
                          </a:solidFill>
                          <a:latin typeface="Yu Gothic" pitchFamily="34" charset="0"/>
                          <a:ea typeface="Yu Gothic" pitchFamily="34" charset="-122"/>
                          <a:cs typeface="Yu Gothic" pitchFamily="34" charset="-120"/>
                        </a:rPr>
                        <a:t>金額（税抜）</a:t>
                      </a:r>
                      <a:endParaRPr lang="en-US" sz="1150" dirty="0">
                        <a:latin typeface="Yu Gothic" charset="0"/>
                        <a:ea typeface="Yu Gothic" charset="0"/>
                        <a:cs typeface="Yu Gothic" charset="0"/>
                      </a:endParaRPr>
                    </a:p>
                  </a:txBody>
                  <a:tcPr marL="0" marR="91440" marT="54864" marB="54864">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調査レビュー・現状の診断</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500,000円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戦略設計（誰に・何を・どこで）</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400,000円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改善案6つの作成・重点3案の詳細化</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450,000円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年間計画・評価方法の設計</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300,000円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打合せ3回・進行管理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150,000円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b="1" dirty="0">
                          <a:solidFill>
                            <a:srgbClr val="1F1F1F"/>
                          </a:solidFill>
                          <a:latin typeface="Yu Gothic" pitchFamily="34" charset="0"/>
                          <a:ea typeface="Yu Gothic" pitchFamily="34" charset="-122"/>
                          <a:cs typeface="Yu Gothic" pitchFamily="34" charset="-120"/>
                        </a:rPr>
                        <a:t>合計</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600" b="1" dirty="0">
                          <a:solidFill>
                            <a:srgbClr val="1F1F1F"/>
                          </a:solidFill>
                          <a:latin typeface="Yu Mincho" pitchFamily="34" charset="0"/>
                          <a:ea typeface="Yu Mincho" pitchFamily="34" charset="-122"/>
                          <a:cs typeface="Yu Mincho" pitchFamily="34" charset="-120"/>
                        </a:rPr>
                        <a:t>1,800,000円</a:t>
                      </a:r>
                      <a:endParaRPr lang="en-US" sz="1600" dirty="0">
                        <a:latin typeface="Yu Mincho" charset="0"/>
                        <a:ea typeface="Yu Mincho" charset="0"/>
                        <a:cs typeface="Yu Mincho"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6B6B6B"/>
                          </a:solidFill>
                          <a:latin typeface="Yu Gothic" pitchFamily="34" charset="0"/>
                          <a:ea typeface="Yu Gothic" pitchFamily="34" charset="-122"/>
                          <a:cs typeface="Yu Gothic" pitchFamily="34" charset="-120"/>
                        </a:rPr>
                        <a:t>消費税（10%）</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6B6B6B"/>
                          </a:solidFill>
                          <a:latin typeface="Yu Gothic" pitchFamily="34" charset="0"/>
                          <a:ea typeface="Yu Gothic" pitchFamily="34" charset="-122"/>
                          <a:cs typeface="Yu Gothic" pitchFamily="34" charset="-120"/>
                        </a:rPr>
                        <a:t>180,000円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bl>
          </a:graphicData>
        </a:graphic>
      </p:graphicFrame>
      <p:sp>
        <p:nvSpPr>
          <p:cNvPr id="7" name="Text 4"/>
          <p:cNvSpPr txBox="1"/>
          <p:nvPr/>
        </p:nvSpPr>
        <p:spPr>
          <a:xfrm>
            <a:off x="7315200" y="2011680"/>
            <a:ext cx="4190695" cy="274320"/>
          </a:xfrm>
          <a:prstGeom prst="rect">
            <a:avLst/>
          </a:prstGeom>
          <a:noFill/>
          <a:ln/>
        </p:spPr>
        <p:txBody>
          <a:bodyPr wrap="square" lIns="0" tIns="0" rIns="0" bIns="0" rtlCol="0" anchor="t"/>
          <a:lstStyle/>
          <a:p>
            <a:pPr indent="0" marL="0">
              <a:lnSpc>
                <a:spcPct val="125000"/>
              </a:lnSpc>
              <a:buNone/>
            </a:pPr>
            <a:r>
              <a:rPr lang="en-US" sz="1250" b="1" dirty="0">
                <a:solidFill>
                  <a:srgbClr val="C0462B"/>
                </a:solidFill>
                <a:latin typeface="Yu Gothic" pitchFamily="34" charset="0"/>
                <a:ea typeface="Yu Gothic" pitchFamily="34" charset="-122"/>
                <a:cs typeface="Yu Gothic" pitchFamily="34" charset="-120"/>
              </a:rPr>
              <a:t>含むもの</a:t>
            </a:r>
            <a:endParaRPr lang="en-US" sz="1250" dirty="0"/>
          </a:p>
        </p:txBody>
      </p:sp>
      <p:sp>
        <p:nvSpPr>
          <p:cNvPr id="8" name="Text 5"/>
          <p:cNvSpPr txBox="1"/>
          <p:nvPr/>
        </p:nvSpPr>
        <p:spPr>
          <a:xfrm>
            <a:off x="7315200" y="2377440"/>
            <a:ext cx="4190695" cy="1463040"/>
          </a:xfrm>
          <a:prstGeom prst="rect">
            <a:avLst/>
          </a:prstGeom>
          <a:noFill/>
          <a:ln/>
        </p:spPr>
        <p:txBody>
          <a:bodyPr wrap="square" lIns="0" tIns="0" rIns="0" bIns="0" rtlCol="0" anchor="t"/>
          <a:lstStyle/>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本部への訪問3回（都内交通費）</a:t>
            </a:r>
            <a:endParaRPr lang="en-US" sz="1200" dirty="0"/>
          </a:p>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職員の方へのヒアリング（45分×2回）</a:t>
            </a:r>
            <a:endParaRPr lang="en-US" sz="1200" dirty="0"/>
          </a:p>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資料作成一式</a:t>
            </a:r>
            <a:endParaRPr lang="en-US" sz="1200" dirty="0"/>
          </a:p>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最終報告後の修正1回</a:t>
            </a:r>
            <a:endParaRPr lang="en-US" sz="1200" dirty="0"/>
          </a:p>
        </p:txBody>
      </p:sp>
      <p:sp>
        <p:nvSpPr>
          <p:cNvPr id="9" name="Text 6"/>
          <p:cNvSpPr txBox="1"/>
          <p:nvPr/>
        </p:nvSpPr>
        <p:spPr>
          <a:xfrm>
            <a:off x="7315200" y="4069080"/>
            <a:ext cx="4190695" cy="274320"/>
          </a:xfrm>
          <a:prstGeom prst="rect">
            <a:avLst/>
          </a:prstGeom>
          <a:noFill/>
          <a:ln/>
        </p:spPr>
        <p:txBody>
          <a:bodyPr wrap="square" lIns="0" tIns="0" rIns="0" bIns="0" rtlCol="0" anchor="t"/>
          <a:lstStyle/>
          <a:p>
            <a:pPr indent="0" marL="0">
              <a:lnSpc>
                <a:spcPct val="125000"/>
              </a:lnSpc>
              <a:buNone/>
            </a:pPr>
            <a:r>
              <a:rPr lang="en-US" sz="1250" b="1" dirty="0">
                <a:solidFill>
                  <a:srgbClr val="6B6B6B"/>
                </a:solidFill>
                <a:latin typeface="Yu Gothic" pitchFamily="34" charset="0"/>
                <a:ea typeface="Yu Gothic" pitchFamily="34" charset="-122"/>
                <a:cs typeface="Yu Gothic" pitchFamily="34" charset="-120"/>
              </a:rPr>
              <a:t>含まないもの</a:t>
            </a:r>
            <a:endParaRPr lang="en-US" sz="1250" dirty="0"/>
          </a:p>
        </p:txBody>
      </p:sp>
      <p:sp>
        <p:nvSpPr>
          <p:cNvPr id="10" name="Text 7"/>
          <p:cNvSpPr txBox="1"/>
          <p:nvPr/>
        </p:nvSpPr>
        <p:spPr>
          <a:xfrm>
            <a:off x="7315200" y="4434840"/>
            <a:ext cx="4190695" cy="1188720"/>
          </a:xfrm>
          <a:prstGeom prst="rect">
            <a:avLst/>
          </a:prstGeom>
          <a:noFill/>
          <a:ln/>
        </p:spPr>
        <p:txBody>
          <a:bodyPr wrap="square" lIns="0" tIns="0" rIns="0" bIns="0" rtlCol="0" anchor="t"/>
          <a:lstStyle/>
          <a:p>
            <a:pPr marL="342900" indent="-342900">
              <a:lnSpc>
                <a:spcPct val="125000"/>
              </a:lnSpc>
              <a:spcAft>
                <a:spcPts val="400"/>
              </a:spcAft>
              <a:buSzPct val="100000"/>
              <a:buChar char="•"/>
            </a:pPr>
            <a:r>
              <a:rPr lang="en-US" sz="1200" dirty="0">
                <a:solidFill>
                  <a:srgbClr val="6B6B6B"/>
                </a:solidFill>
                <a:latin typeface="Yu Gothic" pitchFamily="34" charset="0"/>
                <a:ea typeface="Yu Gothic" pitchFamily="34" charset="-122"/>
                <a:cs typeface="Yu Gothic" pitchFamily="34" charset="-120"/>
              </a:rPr>
              <a:t>新たなアンケート調査</a:t>
            </a:r>
            <a:endParaRPr lang="en-US" sz="1200" dirty="0"/>
          </a:p>
          <a:p>
            <a:pPr marL="342900" indent="-342900">
              <a:lnSpc>
                <a:spcPct val="125000"/>
              </a:lnSpc>
              <a:spcAft>
                <a:spcPts val="400"/>
              </a:spcAft>
              <a:buSzPct val="100000"/>
              <a:buChar char="•"/>
            </a:pPr>
            <a:r>
              <a:rPr lang="en-US" sz="1200" dirty="0">
                <a:solidFill>
                  <a:srgbClr val="6B6B6B"/>
                </a:solidFill>
                <a:latin typeface="Yu Gothic" pitchFamily="34" charset="0"/>
                <a:ea typeface="Yu Gothic" pitchFamily="34" charset="-122"/>
                <a:cs typeface="Yu Gothic" pitchFamily="34" charset="-120"/>
              </a:rPr>
              <a:t>調査会社への追加集計の実費</a:t>
            </a:r>
            <a:endParaRPr lang="en-US" sz="1200" dirty="0"/>
          </a:p>
          <a:p>
            <a:pPr marL="342900" indent="-342900">
              <a:lnSpc>
                <a:spcPct val="125000"/>
              </a:lnSpc>
              <a:spcAft>
                <a:spcPts val="400"/>
              </a:spcAft>
              <a:buSzPct val="100000"/>
              <a:buChar char="•"/>
            </a:pPr>
            <a:r>
              <a:rPr lang="en-US" sz="1200" dirty="0">
                <a:solidFill>
                  <a:srgbClr val="6B6B6B"/>
                </a:solidFill>
                <a:latin typeface="Yu Gothic" pitchFamily="34" charset="0"/>
                <a:ea typeface="Yu Gothic" pitchFamily="34" charset="-122"/>
                <a:cs typeface="Yu Gothic" pitchFamily="34" charset="-120"/>
              </a:rPr>
              <a:t>制作・印刷・広告出稿・施策の実行</a:t>
            </a:r>
            <a:endParaRPr lang="en-US" sz="1200" dirty="0"/>
          </a:p>
        </p:txBody>
      </p:sp>
      <p:sp>
        <p:nvSpPr>
          <p:cNvPr id="11" name="Text 8"/>
          <p:cNvSpPr txBox="1"/>
          <p:nvPr/>
        </p:nvSpPr>
        <p:spPr>
          <a:xfrm>
            <a:off x="685800" y="5943600"/>
            <a:ext cx="1005840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見積有効期限：2026年10月31日。追加費用が生じる場合は、必ず事前にご相談します。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13</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本日、教えていただきたいこと。</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ご提案の精度を上げるために、差し支えない範囲で伺えれば幸いです。</a:t>
            </a:r>
            <a:endParaRPr lang="en-US" sz="1400" dirty="0"/>
          </a:p>
        </p:txBody>
      </p:sp>
      <p:sp>
        <p:nvSpPr>
          <p:cNvPr id="6" name="Text 4"/>
          <p:cNvSpPr txBox="1"/>
          <p:nvPr/>
        </p:nvSpPr>
        <p:spPr>
          <a:xfrm>
            <a:off x="685800" y="1984248"/>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7" name="Text 5"/>
          <p:cNvSpPr txBox="1"/>
          <p:nvPr/>
        </p:nvSpPr>
        <p:spPr>
          <a:xfrm>
            <a:off x="1234440" y="1965960"/>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12月調査の結果は、いつ頃・どの形でいただけそうですか。</a:t>
            </a:r>
            <a:endParaRPr lang="en-US" sz="1500" dirty="0"/>
          </a:p>
        </p:txBody>
      </p:sp>
      <p:sp>
        <p:nvSpPr>
          <p:cNvPr id="8" name="Text 6"/>
          <p:cNvSpPr txBox="1"/>
          <p:nvPr/>
        </p:nvSpPr>
        <p:spPr>
          <a:xfrm>
            <a:off x="1234440" y="2331720"/>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ローデータか、クロス集計表か。1月の動き出しがここで変わります。</a:t>
            </a:r>
            <a:endParaRPr lang="en-US" sz="1200" dirty="0"/>
          </a:p>
        </p:txBody>
      </p:sp>
      <p:sp>
        <p:nvSpPr>
          <p:cNvPr id="9" name="Text 7"/>
          <p:cNvSpPr txBox="1"/>
          <p:nvPr/>
        </p:nvSpPr>
        <p:spPr>
          <a:xfrm>
            <a:off x="685800" y="2770632"/>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0" name="Text 8"/>
          <p:cNvSpPr txBox="1"/>
          <p:nvPr/>
        </p:nvSpPr>
        <p:spPr>
          <a:xfrm>
            <a:off x="1234440" y="2752344"/>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過去の調査結果も、比較に使わせていただけますか。</a:t>
            </a:r>
            <a:endParaRPr lang="en-US" sz="1500" dirty="0"/>
          </a:p>
        </p:txBody>
      </p:sp>
      <p:sp>
        <p:nvSpPr>
          <p:cNvPr id="11" name="Text 9"/>
          <p:cNvSpPr txBox="1"/>
          <p:nvPr/>
        </p:nvSpPr>
        <p:spPr>
          <a:xfrm>
            <a:off x="1234440" y="3118104"/>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設問や調査方法が変わった年があれば、あわせて教えてください。</a:t>
            </a:r>
            <a:endParaRPr lang="en-US" sz="1200" dirty="0"/>
          </a:p>
        </p:txBody>
      </p:sp>
      <p:sp>
        <p:nvSpPr>
          <p:cNvPr id="12" name="Text 10"/>
          <p:cNvSpPr txBox="1"/>
          <p:nvPr/>
        </p:nvSpPr>
        <p:spPr>
          <a:xfrm>
            <a:off x="685800" y="3557016"/>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3" name="Text 11"/>
          <p:cNvSpPr txBox="1"/>
          <p:nvPr/>
        </p:nvSpPr>
        <p:spPr>
          <a:xfrm>
            <a:off x="1234440" y="3538728"/>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ネット広告・SNS広告の中身を見せていただけますか。</a:t>
            </a:r>
            <a:endParaRPr lang="en-US" sz="1500" dirty="0"/>
          </a:p>
        </p:txBody>
      </p:sp>
      <p:sp>
        <p:nvSpPr>
          <p:cNvPr id="14" name="Text 12"/>
          <p:cNvSpPr txBox="1"/>
          <p:nvPr/>
        </p:nvSpPr>
        <p:spPr>
          <a:xfrm>
            <a:off x="1234440" y="3904488"/>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配信の対象・期間・クリエイティブ・クリック先のページ。</a:t>
            </a:r>
            <a:endParaRPr lang="en-US" sz="1200" dirty="0"/>
          </a:p>
        </p:txBody>
      </p:sp>
      <p:sp>
        <p:nvSpPr>
          <p:cNvPr id="15" name="Text 13"/>
          <p:cNvSpPr txBox="1"/>
          <p:nvPr/>
        </p:nvSpPr>
        <p:spPr>
          <a:xfrm>
            <a:off x="685800" y="4343400"/>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6" name="Text 14"/>
          <p:cNvSpPr txBox="1"/>
          <p:nvPr/>
        </p:nvSpPr>
        <p:spPr>
          <a:xfrm>
            <a:off x="1234440" y="4325112"/>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来年度の広報予算と体制の見通しは。</a:t>
            </a:r>
            <a:endParaRPr lang="en-US" sz="1500" dirty="0"/>
          </a:p>
        </p:txBody>
      </p:sp>
      <p:sp>
        <p:nvSpPr>
          <p:cNvPr id="17" name="Text 15"/>
          <p:cNvSpPr txBox="1"/>
          <p:nvPr/>
        </p:nvSpPr>
        <p:spPr>
          <a:xfrm>
            <a:off x="1234440" y="4690872"/>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実行できる範囲に合わせて、提言の現実的な大きさを決めたいためです。</a:t>
            </a:r>
            <a:endParaRPr lang="en-US" sz="1200" dirty="0"/>
          </a:p>
        </p:txBody>
      </p:sp>
      <p:sp>
        <p:nvSpPr>
          <p:cNvPr id="18" name="Text 16"/>
          <p:cNvSpPr txBox="1"/>
          <p:nvPr/>
        </p:nvSpPr>
        <p:spPr>
          <a:xfrm>
            <a:off x="685800" y="5129784"/>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9" name="Text 17"/>
          <p:cNvSpPr txBox="1"/>
          <p:nvPr/>
        </p:nvSpPr>
        <p:spPr>
          <a:xfrm>
            <a:off x="1234440" y="5111496"/>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今回の提言は、どなたが・どの場で使われますか。</a:t>
            </a:r>
            <a:endParaRPr lang="en-US" sz="1500" dirty="0"/>
          </a:p>
        </p:txBody>
      </p:sp>
      <p:sp>
        <p:nvSpPr>
          <p:cNvPr id="20" name="Text 18"/>
          <p:cNvSpPr txBox="1"/>
          <p:nvPr/>
        </p:nvSpPr>
        <p:spPr>
          <a:xfrm>
            <a:off x="1234440" y="5477256"/>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内部で説明しやすい形に、資料のつくりを合わせます。</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828800"/>
            <a:ext cx="10058400" cy="1737360"/>
          </a:xfrm>
          <a:prstGeom prst="rect">
            <a:avLst/>
          </a:prstGeom>
          <a:noFill/>
          <a:ln/>
        </p:spPr>
        <p:txBody>
          <a:bodyPr wrap="square" lIns="0" tIns="0" rIns="0" bIns="0" rtlCol="0" anchor="t"/>
          <a:lstStyle/>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調査の数字を、</a:t>
            </a:r>
            <a:endParaRPr lang="en-US" sz="3800" dirty="0"/>
          </a:p>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来年の打ち手に。</a:t>
            </a:r>
            <a:endParaRPr lang="en-US" sz="3800" dirty="0"/>
          </a:p>
        </p:txBody>
      </p:sp>
      <p:sp>
        <p:nvSpPr>
          <p:cNvPr id="3" name="Text 1"/>
          <p:cNvSpPr txBox="1"/>
          <p:nvPr/>
        </p:nvSpPr>
        <p:spPr>
          <a:xfrm>
            <a:off x="685800" y="3703320"/>
            <a:ext cx="10058400" cy="457200"/>
          </a:xfrm>
          <a:prstGeom prst="rect">
            <a:avLst/>
          </a:prstGeom>
          <a:noFill/>
          <a:ln/>
        </p:spPr>
        <p:txBody>
          <a:bodyPr wrap="square" lIns="0" tIns="0" rIns="0" bIns="0" rtlCol="0" anchor="t"/>
          <a:lstStyle/>
          <a:p>
            <a:pPr indent="0" marL="0">
              <a:lnSpc>
                <a:spcPct val="125000"/>
              </a:lnSpc>
              <a:buNone/>
            </a:pPr>
            <a:r>
              <a:rPr lang="en-US" sz="1600" dirty="0">
                <a:solidFill>
                  <a:srgbClr val="6B6B6B"/>
                </a:solidFill>
                <a:latin typeface="Yu Gothic" pitchFamily="34" charset="0"/>
                <a:ea typeface="Yu Gothic" pitchFamily="34" charset="-122"/>
                <a:cs typeface="Yu Gothic" pitchFamily="34" charset="-120"/>
              </a:rPr>
              <a:t>ご検討のほど、よろしくお願いいたします。</a:t>
            </a:r>
            <a:endParaRPr lang="en-US" sz="1600" dirty="0"/>
          </a:p>
        </p:txBody>
      </p:sp>
      <p:sp>
        <p:nvSpPr>
          <p:cNvPr id="4" name="Shape 2"/>
          <p:cNvSpPr/>
          <p:nvPr/>
        </p:nvSpPr>
        <p:spPr>
          <a:xfrm>
            <a:off x="685800" y="5074920"/>
            <a:ext cx="4869043" cy="146304"/>
          </a:xfrm>
          <a:prstGeom prst="rect">
            <a:avLst/>
          </a:prstGeom>
          <a:solidFill>
            <a:srgbClr val="D9D9D6"/>
          </a:solidFill>
          <a:ln w="12700">
            <a:solidFill>
              <a:srgbClr val="D9D9D6"/>
            </a:solidFill>
            <a:prstDash val="solid"/>
          </a:ln>
        </p:spPr>
      </p:sp>
      <p:sp>
        <p:nvSpPr>
          <p:cNvPr id="5" name="Shape 3"/>
          <p:cNvSpPr/>
          <p:nvPr/>
        </p:nvSpPr>
        <p:spPr>
          <a:xfrm>
            <a:off x="5554843" y="5074920"/>
            <a:ext cx="4068356" cy="146304"/>
          </a:xfrm>
          <a:prstGeom prst="rect">
            <a:avLst/>
          </a:prstGeom>
          <a:solidFill>
            <a:srgbClr val="C0462B"/>
          </a:solidFill>
          <a:ln w="12700">
            <a:solidFill>
              <a:srgbClr val="C0462B"/>
            </a:solidFill>
            <a:prstDash val="solid"/>
          </a:ln>
        </p:spPr>
      </p:sp>
      <p:sp>
        <p:nvSpPr>
          <p:cNvPr id="6" name="Shape 4"/>
          <p:cNvSpPr/>
          <p:nvPr/>
        </p:nvSpPr>
        <p:spPr>
          <a:xfrm>
            <a:off x="9623199" y="5074920"/>
            <a:ext cx="1882697" cy="146304"/>
          </a:xfrm>
          <a:prstGeom prst="rect">
            <a:avLst/>
          </a:prstGeom>
          <a:solidFill>
            <a:srgbClr val="1F1F1F"/>
          </a:solidFill>
          <a:ln w="12700">
            <a:solidFill>
              <a:srgbClr val="1F1F1F"/>
            </a:solidFill>
            <a:prstDash val="solid"/>
          </a:ln>
        </p:spPr>
      </p:sp>
      <p:sp>
        <p:nvSpPr>
          <p:cNvPr id="7" name="Text 5"/>
          <p:cNvSpPr txBox="1"/>
          <p:nvPr/>
        </p:nvSpPr>
        <p:spPr>
          <a:xfrm>
            <a:off x="7848295" y="5852160"/>
            <a:ext cx="3657600" cy="365760"/>
          </a:xfrm>
          <a:prstGeom prst="rect">
            <a:avLst/>
          </a:prstGeom>
          <a:noFill/>
          <a:ln/>
        </p:spPr>
        <p:txBody>
          <a:bodyPr wrap="square" lIns="0" tIns="0" rIns="0" bIns="0" rtlCol="0" anchor="ctr"/>
          <a:lstStyle/>
          <a:p>
            <a:pPr algn="r" indent="0" marL="0">
              <a:buNone/>
            </a:pPr>
            <a:r>
              <a:rPr lang="en-US" sz="1600" b="1" dirty="0">
                <a:solidFill>
                  <a:srgbClr val="1F1F1F"/>
                </a:solidFill>
                <a:latin typeface="Yu Mincho" pitchFamily="34" charset="0"/>
                <a:ea typeface="Yu Mincho" pitchFamily="34" charset="-122"/>
                <a:cs typeface="Yu Mincho" pitchFamily="34" charset="-120"/>
              </a:rPr>
              <a:t>株式会社alma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法テラス 認知度向上 戦略立案のご提案</dc:title>
  <dc:subject>PptxGenJS Presentation</dc:subject>
  <dc:creator>株式会社alma</dc:creator>
  <cp:lastModifiedBy>株式会社alma</cp:lastModifiedBy>
  <cp:revision>1</cp:revision>
  <dcterms:created xsi:type="dcterms:W3CDTF">2026-09-29T11:37:23Z</dcterms:created>
  <dcterms:modified xsi:type="dcterms:W3CDTF">2026-09-29T11:37:23Z</dcterms:modified>
</cp:coreProperties>
</file>