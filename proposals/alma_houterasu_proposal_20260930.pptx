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本日はお時間をいただきありがとうございます。株式会社almaの〇〇です。
12月の認知度調査の結果をもとに、認知度が伸びない要因を分析し、来年度の広報戦略と具体的な改善策をご提言する、3か月のアドバイザリーのご提案です。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まず、ご相談の内容をこう理解しています、という確認です。ずれていたら、ぜひこの場でご指摘ください。
調査は毎年きちんとされている。ただ、結果を読み解いて次の打ち手を決めるところまでは手が回っていない。実行は御センターでされるので、私たちは運用代行ではなく、判断材料と優先順位をお渡しする役割だと考えています。
右側の『やらないこと』は、あえて書きました。広告を増やしましょう、という提案にはしません。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最初に、今回の『認知度向上』をどう捉えているかを共有させてください。
認知度を上げるには2つの方向があります。一つは『広げる』。まだ法テラスを知らない方に、名前を知ってもらうこと。もう一つは『深める』。名前は知っている方に、何をする所かを知ってもらい、困ったときに思い出して、相談してもらうこと。
どちらか一方ではなく、両方が対象です。ただ、限られた予算と体制の中で、どちらにどれだけ力を配分するかは決めなければいけません。その判断を、12月の調査結果をもとに根拠をもって行えるようにするのが、今回のプロジェクトのゴールです。
※ここで『御センターとして、どちらをより重視されていますか』と伺ってもよい。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今回のプロジェクトで答える問いを、先に決めておきたいと考えています。
大きな問いは『来年度、認知度を上げるために何に注力すべきか』。これを4つに分けます。
どこで低いのか。どの段階、どの層で止まっているのか。ここで『広げる』と『深める』のどちらが課題かが見えます。
なぜ低いのか。届いていないのか、伝わっていないのか、たどり着けないのか。
何をすべきか。限られた予算と体制の中で、優先順位をつけます。新しいことより、まず今の施策の見直しを優先します。
どう測るか。次の調査で効いたかどうかを確かめる方法まで決めます。
第1回の打合せで、この問いの立て方自体を御センターとすり合わせたいと考えています。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『認知度が低い』とよく言いますが、何と比べて低いのかを決めないと、判断がぶれてしまいます。
物差しは4つ考えています。過去の推移と比べる。計画上の目標と比べる。年代や地域など層ごとに比べる。そして、法的な支援を必要としやすい方にちゃんと届いているかを見る。
右側は公表されている過年度の数値で、名前を知っている方が55%、業務内容まで知っている方が17.4%です。ただ、この数字だけでは高いとも低いとも言えません。12月の結果が出る前に結論は出さず、まずこの物差しを第1回の打合せで合意したいと考えています。
※目標値があるかどうかを、ここで伺う。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『なぜ低いのか』について、考えられる要因の候補を並べました。繰り返しになりますが、これは結論ではなく、検証する候補です。
『広げる』側では、そもそも接点が足りないのか、接点はあるけれど記憶に残っていないのか、あるいは重点とすべき層と媒体が合っていないのか。
『深める』側では、何をする所か伝わっていないのか、自分に関係がないと思われているのか、使い方がわかりにくいのか、周りの人から紹介されていないのか。
それぞれ、右側のデータで確かめます。今の調査票で確かめられない要因は、推測で結論づけず、次回の調査に入れる設問として提案します。
※現場の感覚で『これは当たっていそう』『これは違う』というものがあれば、ぜひ伺いたい。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分析の材料は3つです。調査の数字だけを見て『若い人が低いからSNSを』という結論にはしたくありません。
実際に出している広告やページを見て、言葉や順番に引っかかりがないかを点検します。そして、職員の方に実際の相談現場の感覚を伺います。
提言は、事実と私たちの解釈を分けて書きます。内部で説明するときにも、根拠を示しやすい形にします。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分析から改善案を出したあと、どう優先順位をつけるかです。
縦軸が効果、横軸が実行しやすさです。効果は、動かせる人数の大きさ、支援を必要とする人に届くか、次の調査で確かめられるか、で見ます。実行しやすさは、今の予算や既存施策の枠内でできるか、御センターの体制と承認手続きで回せるか、で見ます。
右上の『優先して着手』に入るものを重点案として詳細化し、左上の『効果は大きいが準備が必要』なものは中期の計画に入れます。
実行は御センターでされるので、実行しやすさの判断には、ヒアリングで伺う実際の体制や手続きを反映させます。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最終的にお渡しする提言が、どういう形になるかのイメージです。
一つの提言ごとに、確認した事実、私たちの解釈、打ち手、誰がいつやるか、費用、そして効いたかどうかの確かめ方を1枚にまとめます。
右側の記入内容はあくまで書式を見ていただくための架空の例で、実際の中身は分析の結果で決まります。
大事にしているのは3つで、事実と推測を混ぜないこと、実行する人と時期まで書くこと、次の調査で確かめられるようにすることです。内部でご説明いただくときにも、この1枚で根拠まで示せるよう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進め方です。月1回、計3回の打合せを軸にしています。
1月は診断をつくる月。資料をいただいて調査の条件を確認し、分析とヒアリングを進めます。第1回で、分析の進め方と『3月末に何ができていれば成功か』をすり合わせます。
2月は選ぶ月。第2回で診断結果を共有し、6つの改善案から重点の3つを一緒に選びます。
3月は決める月。重点案を具体化して年間計画に落とし、第3回で合意して納品します。
12月調査の結果がいつ頃いただけるかで1月の動きが変わるので、そこは後ほど伺わせてください。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お渡しするものは5つです。
特にお伝えしたいのは4番と5番で、来年度そのまま使える計画と、次の12月調査で何を見れば効果がわかるかまでお渡しします。1年で終わる報告書ではなく、毎年の調査と広報が回っていく形にしたいと考えています。
重点の3案は、担当の方がそのまま内部で検討に回せるところまで具体化します。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体制です。少人数ですが、最初から最後まで同じメンバーで担当します。途中で担当が替わって話が戻る、ということはありません。
私たちは、医療や健康など、正確さが求められる専門分野の情報を一般の方に伝わる形にするPRを続けてきました。法律も同じで、正確さを崩さずに『自分ごと』に感じてもらう言葉づくりが肝だと考えています。
法律の内容の正確さは御センターに確認いただき、私たちは伝わり方に責任を持つ、という役割分担を想定しています。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費用です。3か月一式で180万円、税込で198万円です。ご予算の200万円以内に収めています。
内訳の中で一番比重が大きいのは最初の診断です。ここの精度で後の提案の質が決まるので、厚めにしています。
新しいアンケートや調査会社への追加集計は含んでいません。既存の集計表で分析するのが前提で、追加が必要になりそうな場合は必ず事前にご相談します。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最後に、こちらから伺いたいことです。今日すべてお答えいただく必要はありません。
一番大事なのは1つ目で、12月調査の結果がいつ頃、どういう形でいただけるか。ここで1月のスケジュールが決まります。
あとは過去の調査、広告の中身、来年度の予算感、そしてこの提言を社内のどなたがどこで使われるか。最後の質問は、報告書の書き方を合わせたいので伺っています。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本日はありがとうございました。毎年の調査の数字を、来年の具体的な打ち手に変える。そのお手伝いができればと思っています。ご検討のほど、よろしくお願いいたします。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5486400" cy="365760"/>
          </a:xfrm>
          <a:prstGeom prst="rect">
            <a:avLst/>
          </a:prstGeom>
          <a:noFill/>
          <a:ln/>
        </p:spPr>
        <p:txBody>
          <a:bodyPr wrap="square" lIns="0" tIns="0" rIns="0" bIns="0" rtlCol="0" anchor="t"/>
          <a:lstStyle/>
          <a:p>
            <a:pPr indent="0" marL="0">
              <a:lnSpc>
                <a:spcPct val="125000"/>
              </a:lnSpc>
              <a:buNone/>
            </a:pPr>
            <a:r>
              <a:rPr lang="en-US" sz="1400" dirty="0">
                <a:solidFill>
                  <a:srgbClr val="6B6B6B"/>
                </a:solidFill>
                <a:latin typeface="Yu Gothic" pitchFamily="34" charset="0"/>
                <a:ea typeface="Yu Gothic" pitchFamily="34" charset="-122"/>
                <a:cs typeface="Yu Gothic" pitchFamily="34" charset="-120"/>
              </a:rPr>
              <a:t>日本司法支援センター 御中</a:t>
            </a:r>
            <a:endParaRPr lang="en-US" sz="1400" dirty="0"/>
          </a:p>
        </p:txBody>
      </p:sp>
      <p:sp>
        <p:nvSpPr>
          <p:cNvPr id="3" name="Text 1"/>
          <p:cNvSpPr txBox="1"/>
          <p:nvPr/>
        </p:nvSpPr>
        <p:spPr>
          <a:xfrm>
            <a:off x="685800" y="1737360"/>
            <a:ext cx="10515600" cy="1737360"/>
          </a:xfrm>
          <a:prstGeom prst="rect">
            <a:avLst/>
          </a:prstGeom>
          <a:noFill/>
          <a:ln/>
        </p:spPr>
        <p:txBody>
          <a:bodyPr wrap="square" lIns="0" tIns="0" rIns="0" bIns="0" rtlCol="0" anchor="t"/>
          <a:lstStyle/>
          <a:p>
            <a:pPr indent="0" marL="0">
              <a:lnSpc>
                <a:spcPct val="120000"/>
              </a:lnSpc>
              <a:buNone/>
            </a:pPr>
            <a:r>
              <a:rPr lang="en-US" sz="3800" b="1" dirty="0">
                <a:solidFill>
                  <a:srgbClr val="1F1F1F"/>
                </a:solidFill>
                <a:latin typeface="Yu Mincho" pitchFamily="34" charset="0"/>
                <a:ea typeface="Yu Mincho" pitchFamily="34" charset="-122"/>
                <a:cs typeface="Yu Mincho" pitchFamily="34" charset="-120"/>
              </a:rPr>
              <a:t>認知度向上に向けた</a:t>
            </a:r>
            <a:endParaRPr lang="en-US" sz="3800" dirty="0"/>
          </a:p>
          <a:p>
            <a:pPr indent="0" marL="0">
              <a:lnSpc>
                <a:spcPct val="120000"/>
              </a:lnSpc>
              <a:buNone/>
            </a:pPr>
            <a:r>
              <a:rPr lang="en-US" sz="3800" b="1" dirty="0">
                <a:solidFill>
                  <a:srgbClr val="1F1F1F"/>
                </a:solidFill>
                <a:latin typeface="Yu Mincho" pitchFamily="34" charset="0"/>
                <a:ea typeface="Yu Mincho" pitchFamily="34" charset="-122"/>
                <a:cs typeface="Yu Mincho" pitchFamily="34" charset="-120"/>
              </a:rPr>
              <a:t>要因分析・戦略立案のご提案</a:t>
            </a:r>
            <a:endParaRPr lang="en-US" sz="3800" dirty="0"/>
          </a:p>
        </p:txBody>
      </p:sp>
      <p:sp>
        <p:nvSpPr>
          <p:cNvPr id="4" name="Text 2"/>
          <p:cNvSpPr txBox="1"/>
          <p:nvPr/>
        </p:nvSpPr>
        <p:spPr>
          <a:xfrm>
            <a:off x="685800" y="3703320"/>
            <a:ext cx="10058400" cy="457200"/>
          </a:xfrm>
          <a:prstGeom prst="rect">
            <a:avLst/>
          </a:prstGeom>
          <a:noFill/>
          <a:ln/>
        </p:spPr>
        <p:txBody>
          <a:bodyPr wrap="square" lIns="0" tIns="0" rIns="0" bIns="0" rtlCol="0" anchor="t"/>
          <a:lstStyle/>
          <a:p>
            <a:pPr indent="0" marL="0">
              <a:lnSpc>
                <a:spcPct val="125000"/>
              </a:lnSpc>
              <a:buNone/>
            </a:pPr>
            <a:r>
              <a:rPr lang="en-US" sz="1600" dirty="0">
                <a:solidFill>
                  <a:srgbClr val="6B6B6B"/>
                </a:solidFill>
                <a:latin typeface="Yu Gothic" pitchFamily="34" charset="0"/>
                <a:ea typeface="Yu Gothic" pitchFamily="34" charset="-122"/>
                <a:cs typeface="Yu Gothic" pitchFamily="34" charset="-120"/>
              </a:rPr>
              <a:t>2026年12月 認知度調査を起点としたアドバイザリー（2027年1月〜3月）</a:t>
            </a:r>
            <a:endParaRPr lang="en-US" sz="1600" dirty="0"/>
          </a:p>
        </p:txBody>
      </p:sp>
      <p:sp>
        <p:nvSpPr>
          <p:cNvPr id="5" name="Shape 3"/>
          <p:cNvSpPr/>
          <p:nvPr/>
        </p:nvSpPr>
        <p:spPr>
          <a:xfrm>
            <a:off x="685800" y="5120640"/>
            <a:ext cx="10820095" cy="0"/>
          </a:xfrm>
          <a:prstGeom prst="line">
            <a:avLst/>
          </a:prstGeom>
          <a:noFill/>
          <a:ln w="9525">
            <a:solidFill>
              <a:srgbClr val="1F1F1F"/>
            </a:solidFill>
            <a:prstDash val="solid"/>
          </a:ln>
        </p:spPr>
      </p:sp>
      <p:sp>
        <p:nvSpPr>
          <p:cNvPr id="6" name="Text 4"/>
          <p:cNvSpPr txBox="1"/>
          <p:nvPr/>
        </p:nvSpPr>
        <p:spPr>
          <a:xfrm>
            <a:off x="685800" y="5897880"/>
            <a:ext cx="3657600" cy="3200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2026年9月30日</a:t>
            </a:r>
            <a:endParaRPr lang="en-US" sz="1200" dirty="0"/>
          </a:p>
        </p:txBody>
      </p:sp>
      <p:sp>
        <p:nvSpPr>
          <p:cNvPr id="7" name="Text 5"/>
          <p:cNvSpPr txBox="1"/>
          <p:nvPr/>
        </p:nvSpPr>
        <p:spPr>
          <a:xfrm>
            <a:off x="7848295" y="5852160"/>
            <a:ext cx="3657600" cy="365760"/>
          </a:xfrm>
          <a:prstGeom prst="rect">
            <a:avLst/>
          </a:prstGeom>
          <a:noFill/>
          <a:ln/>
        </p:spPr>
        <p:txBody>
          <a:bodyPr wrap="square" lIns="0" tIns="0" rIns="0" bIns="0" rtlCol="0" anchor="ctr"/>
          <a:lstStyle/>
          <a:p>
            <a:pPr algn="r" indent="0" marL="0">
              <a:buNone/>
            </a:pPr>
            <a:r>
              <a:rPr lang="en-US" sz="1600" b="1" dirty="0">
                <a:solidFill>
                  <a:srgbClr val="1F1F1F"/>
                </a:solidFill>
                <a:latin typeface="Yu Mincho" pitchFamily="34" charset="0"/>
                <a:ea typeface="Yu Mincho" pitchFamily="34" charset="-122"/>
                <a:cs typeface="Yu Mincho" pitchFamily="34" charset="-120"/>
              </a:rPr>
              <a:t>株式会社alma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2</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ご相談を、こう受け止めました。</a:t>
            </a:r>
            <a:endParaRPr lang="en-US" sz="2800" dirty="0"/>
          </a:p>
        </p:txBody>
      </p:sp>
      <p:sp>
        <p:nvSpPr>
          <p:cNvPr id="5" name="Text 3"/>
          <p:cNvSpPr txBox="1"/>
          <p:nvPr/>
        </p:nvSpPr>
        <p:spPr>
          <a:xfrm>
            <a:off x="685800" y="1554480"/>
            <a:ext cx="5760720" cy="2926080"/>
          </a:xfrm>
          <a:prstGeom prst="rect">
            <a:avLst/>
          </a:prstGeom>
          <a:noFill/>
          <a:ln/>
        </p:spPr>
        <p:txBody>
          <a:bodyPr wrap="square" lIns="0" tIns="0" rIns="0" bIns="0" rtlCol="0" anchor="t"/>
          <a:lstStyle/>
          <a:p>
            <a:pPr indent="0" marL="0">
              <a:lnSpc>
                <a:spcPct val="155000"/>
              </a:lnSpc>
              <a:buNone/>
            </a:pPr>
            <a:r>
              <a:rPr lang="en-US" sz="1700" dirty="0">
                <a:solidFill>
                  <a:srgbClr val="1F1F1F"/>
                </a:solidFill>
                <a:latin typeface="Yu Gothic" pitchFamily="34" charset="0"/>
                <a:ea typeface="Yu Gothic" pitchFamily="34" charset="-122"/>
                <a:cs typeface="Yu Gothic" pitchFamily="34" charset="-120"/>
              </a:rPr>
              <a:t>毎年12月に認知度調査をされていて、</a:t>
            </a:r>
            <a:endParaRPr lang="en-US" sz="1700" dirty="0"/>
          </a:p>
          <a:p>
            <a:pPr indent="0" marL="0">
              <a:lnSpc>
                <a:spcPct val="155000"/>
              </a:lnSpc>
              <a:buNone/>
            </a:pPr>
            <a:r>
              <a:rPr lang="en-US" sz="1700" dirty="0">
                <a:solidFill>
                  <a:srgbClr val="1F1F1F"/>
                </a:solidFill>
                <a:latin typeface="Yu Gothic" pitchFamily="34" charset="0"/>
                <a:ea typeface="Yu Gothic" pitchFamily="34" charset="-122"/>
                <a:cs typeface="Yu Gothic" pitchFamily="34" charset="-120"/>
              </a:rPr>
              <a:t>数字は毎年出ている。</a:t>
            </a:r>
            <a:endParaRPr lang="en-US" sz="1700" dirty="0"/>
          </a:p>
          <a:p>
            <a:pPr indent="0" marL="0">
              <a:lnSpc>
                <a:spcPct val="155000"/>
              </a:lnSpc>
              <a:buNone/>
            </a:pPr>
            <a:r>
              <a:rPr lang="en-US" sz="1700" dirty="0">
                <a:solidFill>
                  <a:srgbClr val="1F1F1F"/>
                </a:solidFill>
                <a:latin typeface="Yu Gothic" pitchFamily="34" charset="0"/>
                <a:ea typeface="Yu Gothic" pitchFamily="34" charset="-122"/>
                <a:cs typeface="Yu Gothic" pitchFamily="34" charset="-120"/>
              </a:rPr>
              <a:t>ただ、「なぜその数字なのか」「来年は何を変えるのか」</a:t>
            </a:r>
            <a:endParaRPr lang="en-US" sz="1700" dirty="0"/>
          </a:p>
          <a:p>
            <a:pPr indent="0" marL="0">
              <a:lnSpc>
                <a:spcPct val="155000"/>
              </a:lnSpc>
              <a:buNone/>
            </a:pPr>
            <a:r>
              <a:rPr lang="en-US" sz="1700" dirty="0">
                <a:solidFill>
                  <a:srgbClr val="1F1F1F"/>
                </a:solidFill>
                <a:latin typeface="Yu Gothic" pitchFamily="34" charset="0"/>
                <a:ea typeface="Yu Gothic" pitchFamily="34" charset="-122"/>
                <a:cs typeface="Yu Gothic" pitchFamily="34" charset="-120"/>
              </a:rPr>
              <a:t>まで検討する時間と材料が足りていない。</a:t>
            </a:r>
            <a:endParaRPr lang="en-US" sz="1700" dirty="0"/>
          </a:p>
          <a:p>
            <a:pPr indent="0" marL="0">
              <a:lnSpc>
                <a:spcPct val="155000"/>
              </a:lnSpc>
              <a:buNone/>
            </a:pPr>
            <a:r>
              <a:rPr lang="en-US" sz="1700" dirty="0">
                <a:solidFill>
                  <a:srgbClr val="1F1F1F"/>
                </a:solidFill>
                <a:latin typeface="Yu Gothic" pitchFamily="34" charset="0"/>
                <a:ea typeface="Yu Gothic" pitchFamily="34" charset="-122"/>
                <a:cs typeface="Yu Gothic" pitchFamily="34" charset="-120"/>
              </a:rPr>
              <a:t> </a:t>
            </a:r>
            <a:endParaRPr lang="en-US" sz="1700" dirty="0"/>
          </a:p>
          <a:p>
            <a:pPr indent="0" marL="0">
              <a:lnSpc>
                <a:spcPct val="155000"/>
              </a:lnSpc>
              <a:buNone/>
            </a:pPr>
            <a:r>
              <a:rPr lang="en-US" sz="1700" dirty="0">
                <a:solidFill>
                  <a:srgbClr val="1F1F1F"/>
                </a:solidFill>
                <a:latin typeface="Yu Gothic" pitchFamily="34" charset="0"/>
                <a:ea typeface="Yu Gothic" pitchFamily="34" charset="-122"/>
                <a:cs typeface="Yu Gothic" pitchFamily="34" charset="-120"/>
              </a:rPr>
              <a:t>施策はご自身たちで動かすので、欲しいのは</a:t>
            </a:r>
            <a:endParaRPr lang="en-US" sz="1700" dirty="0"/>
          </a:p>
          <a:p>
            <a:pPr indent="0" marL="0">
              <a:lnSpc>
                <a:spcPct val="155000"/>
              </a:lnSpc>
              <a:buNone/>
            </a:pPr>
            <a:r>
              <a:rPr lang="en-US" sz="1700" b="1" dirty="0">
                <a:solidFill>
                  <a:srgbClr val="C0462B"/>
                </a:solidFill>
                <a:latin typeface="Yu Gothic" pitchFamily="34" charset="0"/>
                <a:ea typeface="Yu Gothic" pitchFamily="34" charset="-122"/>
                <a:cs typeface="Yu Gothic" pitchFamily="34" charset="-120"/>
              </a:rPr>
              <a:t>判断の根拠と、優先順位のついた打ち手</a:t>
            </a:r>
            <a:pPr indent="0" marL="0">
              <a:lnSpc>
                <a:spcPct val="155000"/>
              </a:lnSpc>
              <a:buNone/>
            </a:pPr>
            <a:r>
              <a:rPr lang="en-US" sz="1700" dirty="0">
                <a:solidFill>
                  <a:srgbClr val="1F1F1F"/>
                </a:solidFill>
                <a:latin typeface="Yu Gothic" pitchFamily="34" charset="0"/>
                <a:ea typeface="Yu Gothic" pitchFamily="34" charset="-122"/>
                <a:cs typeface="Yu Gothic" pitchFamily="34" charset="-120"/>
              </a:rPr>
              <a:t>。</a:t>
            </a:r>
            <a:endParaRPr lang="en-US" sz="1700" dirty="0"/>
          </a:p>
        </p:txBody>
      </p:sp>
      <p:sp>
        <p:nvSpPr>
          <p:cNvPr id="6" name="Shape 4"/>
          <p:cNvSpPr/>
          <p:nvPr/>
        </p:nvSpPr>
        <p:spPr>
          <a:xfrm>
            <a:off x="6903720" y="1554480"/>
            <a:ext cx="4599432" cy="2331720"/>
          </a:xfrm>
          <a:prstGeom prst="rect">
            <a:avLst/>
          </a:prstGeom>
          <a:solidFill>
            <a:srgbClr val="F2F2F0"/>
          </a:solidFill>
          <a:ln w="12700">
            <a:solidFill>
              <a:srgbClr val="F2F2F0"/>
            </a:solidFill>
            <a:prstDash val="solid"/>
          </a:ln>
        </p:spPr>
      </p:sp>
      <p:sp>
        <p:nvSpPr>
          <p:cNvPr id="7" name="Text 5"/>
          <p:cNvSpPr txBox="1"/>
          <p:nvPr/>
        </p:nvSpPr>
        <p:spPr>
          <a:xfrm>
            <a:off x="7223760" y="1783080"/>
            <a:ext cx="3657600" cy="320040"/>
          </a:xfrm>
          <a:prstGeom prst="rect">
            <a:avLst/>
          </a:prstGeom>
          <a:noFill/>
          <a:ln/>
        </p:spPr>
        <p:txBody>
          <a:bodyPr wrap="square" lIns="0" tIns="0" rIns="0" bIns="0" rtlCol="0" anchor="t"/>
          <a:lstStyle/>
          <a:p>
            <a:pP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今回やること</a:t>
            </a:r>
            <a:endParaRPr lang="en-US" sz="1300" dirty="0"/>
          </a:p>
        </p:txBody>
      </p:sp>
      <p:sp>
        <p:nvSpPr>
          <p:cNvPr id="8" name="Text 6"/>
          <p:cNvSpPr txBox="1"/>
          <p:nvPr/>
        </p:nvSpPr>
        <p:spPr>
          <a:xfrm>
            <a:off x="7223760" y="2194560"/>
            <a:ext cx="4050792" cy="155448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350" dirty="0">
                <a:solidFill>
                  <a:srgbClr val="1F1F1F"/>
                </a:solidFill>
                <a:latin typeface="Yu Gothic" pitchFamily="34" charset="0"/>
                <a:ea typeface="Yu Gothic" pitchFamily="34" charset="-122"/>
                <a:cs typeface="Yu Gothic" pitchFamily="34" charset="-120"/>
              </a:rPr>
              <a:t>12月調査の結果から、認知が伸びない理由を分析する</a:t>
            </a:r>
            <a:endParaRPr lang="en-US" sz="1350" dirty="0"/>
          </a:p>
          <a:p>
            <a:pPr marL="342900" indent="-342900">
              <a:lnSpc>
                <a:spcPct val="125000"/>
              </a:lnSpc>
              <a:spcAft>
                <a:spcPts val="600"/>
              </a:spcAft>
              <a:buSzPct val="100000"/>
              <a:buChar char="•"/>
            </a:pPr>
            <a:r>
              <a:rPr lang="en-US" sz="1350" dirty="0">
                <a:solidFill>
                  <a:srgbClr val="1F1F1F"/>
                </a:solidFill>
                <a:latin typeface="Yu Gothic" pitchFamily="34" charset="0"/>
                <a:ea typeface="Yu Gothic" pitchFamily="34" charset="-122"/>
                <a:cs typeface="Yu Gothic" pitchFamily="34" charset="-120"/>
              </a:rPr>
              <a:t>誰に・何を・どこで伝えるかの戦略を決める</a:t>
            </a:r>
            <a:endParaRPr lang="en-US" sz="1350" dirty="0"/>
          </a:p>
          <a:p>
            <a:pPr marL="342900" indent="-342900">
              <a:lnSpc>
                <a:spcPct val="125000"/>
              </a:lnSpc>
              <a:spcAft>
                <a:spcPts val="600"/>
              </a:spcAft>
              <a:buSzPct val="100000"/>
              <a:buChar char="•"/>
            </a:pPr>
            <a:r>
              <a:rPr lang="en-US" sz="1350" dirty="0">
                <a:solidFill>
                  <a:srgbClr val="1F1F1F"/>
                </a:solidFill>
                <a:latin typeface="Yu Gothic" pitchFamily="34" charset="0"/>
                <a:ea typeface="Yu Gothic" pitchFamily="34" charset="-122"/>
                <a:cs typeface="Yu Gothic" pitchFamily="34" charset="-120"/>
              </a:rPr>
              <a:t>担当の方がそのまま動ける改善策にまで落とす</a:t>
            </a:r>
            <a:endParaRPr lang="en-US" sz="1350" dirty="0"/>
          </a:p>
        </p:txBody>
      </p:sp>
      <p:sp>
        <p:nvSpPr>
          <p:cNvPr id="9" name="Shape 7"/>
          <p:cNvSpPr/>
          <p:nvPr/>
        </p:nvSpPr>
        <p:spPr>
          <a:xfrm>
            <a:off x="6903720" y="4114800"/>
            <a:ext cx="4599432" cy="1600200"/>
          </a:xfrm>
          <a:prstGeom prst="rect">
            <a:avLst/>
          </a:prstGeom>
          <a:solidFill>
            <a:srgbClr val="FFFFFF"/>
          </a:solidFill>
          <a:ln w="12700">
            <a:solidFill>
              <a:srgbClr val="D6D6D3"/>
            </a:solidFill>
            <a:prstDash val="solid"/>
          </a:ln>
        </p:spPr>
      </p:sp>
      <p:sp>
        <p:nvSpPr>
          <p:cNvPr id="10" name="Text 8"/>
          <p:cNvSpPr txBox="1"/>
          <p:nvPr/>
        </p:nvSpPr>
        <p:spPr>
          <a:xfrm>
            <a:off x="7223760" y="4315968"/>
            <a:ext cx="3657600" cy="320040"/>
          </a:xfrm>
          <a:prstGeom prst="rect">
            <a:avLst/>
          </a:prstGeom>
          <a:noFill/>
          <a:ln/>
        </p:spPr>
        <p:txBody>
          <a:bodyPr wrap="square" lIns="0" tIns="0" rIns="0" bIns="0" rtlCol="0" anchor="t"/>
          <a:lstStyle/>
          <a:p>
            <a:pPr indent="0" marL="0">
              <a:lnSpc>
                <a:spcPct val="125000"/>
              </a:lnSpc>
              <a:buNone/>
            </a:pPr>
            <a:r>
              <a:rPr lang="en-US" sz="1300" b="1" dirty="0">
                <a:solidFill>
                  <a:srgbClr val="6B6B6B"/>
                </a:solidFill>
                <a:latin typeface="Yu Gothic" pitchFamily="34" charset="0"/>
                <a:ea typeface="Yu Gothic" pitchFamily="34" charset="-122"/>
                <a:cs typeface="Yu Gothic" pitchFamily="34" charset="-120"/>
              </a:rPr>
              <a:t>今回やらないこと</a:t>
            </a:r>
            <a:endParaRPr lang="en-US" sz="1300" dirty="0"/>
          </a:p>
        </p:txBody>
      </p:sp>
      <p:sp>
        <p:nvSpPr>
          <p:cNvPr id="11" name="Text 9"/>
          <p:cNvSpPr txBox="1"/>
          <p:nvPr/>
        </p:nvSpPr>
        <p:spPr>
          <a:xfrm>
            <a:off x="7223760" y="4709160"/>
            <a:ext cx="4050792" cy="91440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350" dirty="0">
                <a:solidFill>
                  <a:srgbClr val="6B6B6B"/>
                </a:solidFill>
                <a:latin typeface="Yu Gothic" pitchFamily="34" charset="0"/>
                <a:ea typeface="Yu Gothic" pitchFamily="34" charset="-122"/>
                <a:cs typeface="Yu Gothic" pitchFamily="34" charset="-120"/>
              </a:rPr>
              <a:t>SNS運用やネット広告運用の代行</a:t>
            </a:r>
            <a:endParaRPr lang="en-US" sz="1350" dirty="0"/>
          </a:p>
          <a:p>
            <a:pPr marL="342900" indent="-342900">
              <a:lnSpc>
                <a:spcPct val="125000"/>
              </a:lnSpc>
              <a:spcAft>
                <a:spcPts val="600"/>
              </a:spcAft>
              <a:buSzPct val="100000"/>
              <a:buChar char="•"/>
            </a:pPr>
            <a:r>
              <a:rPr lang="en-US" sz="1350" dirty="0">
                <a:solidFill>
                  <a:srgbClr val="6B6B6B"/>
                </a:solidFill>
                <a:latin typeface="Yu Gothic" pitchFamily="34" charset="0"/>
                <a:ea typeface="Yu Gothic" pitchFamily="34" charset="-122"/>
                <a:cs typeface="Yu Gothic" pitchFamily="34" charset="-120"/>
              </a:rPr>
              <a:t>新しい広告出稿を前提にした提案</a:t>
            </a:r>
            <a:endParaRPr lang="en-US" sz="1350" dirty="0"/>
          </a:p>
        </p:txBody>
      </p:sp>
      <p:sp>
        <p:nvSpPr>
          <p:cNvPr id="12" name="Text 10"/>
          <p:cNvSpPr txBox="1"/>
          <p:nvPr/>
        </p:nvSpPr>
        <p:spPr>
          <a:xfrm>
            <a:off x="685800" y="5623560"/>
            <a:ext cx="5760720" cy="36576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期間　2027年1月〜3月31日　／　本部での打合せ　月1回・計3回</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3</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認知度向上には、2つの方向があります。</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知っている人を増やすこと。知っている人に、困ったときに頼ってもらうこと。本プロジェクトでは両方を対象にします。</a:t>
            </a:r>
            <a:endParaRPr lang="en-US" sz="1400" dirty="0"/>
          </a:p>
        </p:txBody>
      </p:sp>
      <p:sp>
        <p:nvSpPr>
          <p:cNvPr id="6" name="Shape 4"/>
          <p:cNvSpPr/>
          <p:nvPr/>
        </p:nvSpPr>
        <p:spPr>
          <a:xfrm>
            <a:off x="685800" y="3063240"/>
            <a:ext cx="2032345" cy="1143000"/>
          </a:xfrm>
          <a:prstGeom prst="rect">
            <a:avLst/>
          </a:prstGeom>
          <a:solidFill>
            <a:srgbClr val="FFFFFF"/>
          </a:solidFill>
          <a:ln w="12700">
            <a:solidFill>
              <a:srgbClr val="D6D6D3"/>
            </a:solidFill>
            <a:prstDash val="solid"/>
          </a:ln>
        </p:spPr>
      </p:sp>
      <p:sp>
        <p:nvSpPr>
          <p:cNvPr id="7" name="Text 5"/>
          <p:cNvSpPr txBox="1"/>
          <p:nvPr/>
        </p:nvSpPr>
        <p:spPr>
          <a:xfrm>
            <a:off x="685800" y="3063240"/>
            <a:ext cx="2032345" cy="1143000"/>
          </a:xfrm>
          <a:prstGeom prst="rect">
            <a:avLst/>
          </a:prstGeom>
          <a:noFill/>
          <a:ln/>
        </p:spPr>
        <p:txBody>
          <a:bodyPr wrap="square" lIns="0" tIns="0" rIns="0" bIns="0" rtlCol="0" anchor="ctr"/>
          <a:lstStyle/>
          <a:p>
            <a:pPr algn="ctr" indent="0" marL="0">
              <a:lnSpc>
                <a:spcPct val="120000"/>
              </a:lnSpc>
              <a:buNone/>
            </a:pPr>
            <a:r>
              <a:rPr lang="en-US" sz="1600" b="1" dirty="0">
                <a:solidFill>
                  <a:srgbClr val="6B6B6B"/>
                </a:solidFill>
                <a:latin typeface="Yu Mincho" pitchFamily="34" charset="0"/>
                <a:ea typeface="Yu Mincho" pitchFamily="34" charset="-122"/>
                <a:cs typeface="Yu Mincho" pitchFamily="34" charset="-120"/>
              </a:rPr>
              <a:t>知らない</a:t>
            </a:r>
            <a:endParaRPr lang="en-US" sz="1600" dirty="0"/>
          </a:p>
        </p:txBody>
      </p:sp>
      <p:sp>
        <p:nvSpPr>
          <p:cNvPr id="8" name="Text 6"/>
          <p:cNvSpPr txBox="1"/>
          <p:nvPr/>
        </p:nvSpPr>
        <p:spPr>
          <a:xfrm>
            <a:off x="2718145" y="3063240"/>
            <a:ext cx="164592" cy="1143000"/>
          </a:xfrm>
          <a:prstGeom prst="rect">
            <a:avLst/>
          </a:prstGeom>
          <a:noFill/>
          <a:ln/>
        </p:spPr>
        <p:txBody>
          <a:bodyPr wrap="square" lIns="0" tIns="0" rIns="0" bIns="0" rtlCol="0" anchor="ctr"/>
          <a:lstStyle/>
          <a:p>
            <a:pPr algn="ctr" indent="0" marL="0">
              <a:buNone/>
            </a:pPr>
            <a:r>
              <a:rPr lang="en-US" sz="1600" dirty="0">
                <a:solidFill>
                  <a:srgbClr val="6B6B6B"/>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2882737" y="3063240"/>
            <a:ext cx="2032345" cy="1143000"/>
          </a:xfrm>
          <a:prstGeom prst="rect">
            <a:avLst/>
          </a:prstGeom>
          <a:solidFill>
            <a:srgbClr val="F2F2F0"/>
          </a:solidFill>
          <a:ln w="12700">
            <a:solidFill>
              <a:srgbClr val="F2F2F0"/>
            </a:solidFill>
            <a:prstDash val="solid"/>
          </a:ln>
        </p:spPr>
      </p:sp>
      <p:sp>
        <p:nvSpPr>
          <p:cNvPr id="10" name="Text 8"/>
          <p:cNvSpPr txBox="1"/>
          <p:nvPr/>
        </p:nvSpPr>
        <p:spPr>
          <a:xfrm>
            <a:off x="2882737" y="3063240"/>
            <a:ext cx="2032345" cy="1143000"/>
          </a:xfrm>
          <a:prstGeom prst="rect">
            <a:avLst/>
          </a:prstGeom>
          <a:noFill/>
          <a:ln/>
        </p:spPr>
        <p:txBody>
          <a:bodyPr wrap="square" lIns="0" tIns="0" rIns="0" bIns="0" rtlCol="0" anchor="ctr"/>
          <a:lstStyle/>
          <a:p>
            <a:pPr algn="ctr" indent="0" marL="0">
              <a:lnSpc>
                <a:spcPct val="120000"/>
              </a:lnSpc>
              <a:buNone/>
            </a:pPr>
            <a:r>
              <a:rPr lang="en-US" sz="1600" b="1" dirty="0">
                <a:solidFill>
                  <a:srgbClr val="1F1F1F"/>
                </a:solidFill>
                <a:latin typeface="Yu Mincho" pitchFamily="34" charset="0"/>
                <a:ea typeface="Yu Mincho" pitchFamily="34" charset="-122"/>
                <a:cs typeface="Yu Mincho" pitchFamily="34" charset="-120"/>
              </a:rPr>
              <a:t>名前を</a:t>
            </a:r>
            <a:endParaRPr lang="en-US" sz="1600" dirty="0"/>
          </a:p>
          <a:p>
            <a:pPr algn="ctr" indent="0" marL="0">
              <a:lnSpc>
                <a:spcPct val="120000"/>
              </a:lnSpc>
              <a:buNone/>
            </a:pPr>
            <a:r>
              <a:rPr lang="en-US" sz="1600" b="1" dirty="0">
                <a:solidFill>
                  <a:srgbClr val="1F1F1F"/>
                </a:solidFill>
                <a:latin typeface="Yu Mincho" pitchFamily="34" charset="0"/>
                <a:ea typeface="Yu Mincho" pitchFamily="34" charset="-122"/>
                <a:cs typeface="Yu Mincho" pitchFamily="34" charset="-120"/>
              </a:rPr>
              <a:t>知っている</a:t>
            </a:r>
            <a:endParaRPr lang="en-US" sz="1600" dirty="0"/>
          </a:p>
        </p:txBody>
      </p:sp>
      <p:sp>
        <p:nvSpPr>
          <p:cNvPr id="11" name="Text 9"/>
          <p:cNvSpPr txBox="1"/>
          <p:nvPr/>
        </p:nvSpPr>
        <p:spPr>
          <a:xfrm>
            <a:off x="4915083" y="3063240"/>
            <a:ext cx="164592" cy="1143000"/>
          </a:xfrm>
          <a:prstGeom prst="rect">
            <a:avLst/>
          </a:prstGeom>
          <a:noFill/>
          <a:ln/>
        </p:spPr>
        <p:txBody>
          <a:bodyPr wrap="square" lIns="0" tIns="0" rIns="0" bIns="0" rtlCol="0" anchor="ctr"/>
          <a:lstStyle/>
          <a:p>
            <a:pPr algn="ctr" indent="0" marL="0">
              <a:buNone/>
            </a:pPr>
            <a:r>
              <a:rPr lang="en-US" sz="1600" dirty="0">
                <a:solidFill>
                  <a:srgbClr val="6B6B6B"/>
                </a:solidFill>
                <a:latin typeface="Yu Gothic" pitchFamily="34" charset="0"/>
                <a:ea typeface="Yu Gothic" pitchFamily="34" charset="-122"/>
                <a:cs typeface="Yu Gothic" pitchFamily="34" charset="-120"/>
              </a:rPr>
              <a:t>›</a:t>
            </a:r>
            <a:endParaRPr lang="en-US" sz="1600" dirty="0"/>
          </a:p>
        </p:txBody>
      </p:sp>
      <p:sp>
        <p:nvSpPr>
          <p:cNvPr id="12" name="Shape 10"/>
          <p:cNvSpPr/>
          <p:nvPr/>
        </p:nvSpPr>
        <p:spPr>
          <a:xfrm>
            <a:off x="5079675" y="3063240"/>
            <a:ext cx="2032345" cy="1143000"/>
          </a:xfrm>
          <a:prstGeom prst="rect">
            <a:avLst/>
          </a:prstGeom>
          <a:solidFill>
            <a:srgbClr val="F2F2F0"/>
          </a:solidFill>
          <a:ln w="12700">
            <a:solidFill>
              <a:srgbClr val="F2F2F0"/>
            </a:solidFill>
            <a:prstDash val="solid"/>
          </a:ln>
        </p:spPr>
      </p:sp>
      <p:sp>
        <p:nvSpPr>
          <p:cNvPr id="13" name="Text 11"/>
          <p:cNvSpPr txBox="1"/>
          <p:nvPr/>
        </p:nvSpPr>
        <p:spPr>
          <a:xfrm>
            <a:off x="5079675" y="3063240"/>
            <a:ext cx="2032345" cy="1143000"/>
          </a:xfrm>
          <a:prstGeom prst="rect">
            <a:avLst/>
          </a:prstGeom>
          <a:noFill/>
          <a:ln/>
        </p:spPr>
        <p:txBody>
          <a:bodyPr wrap="square" lIns="0" tIns="0" rIns="0" bIns="0" rtlCol="0" anchor="ctr"/>
          <a:lstStyle/>
          <a:p>
            <a:pPr algn="ctr" indent="0" marL="0">
              <a:lnSpc>
                <a:spcPct val="120000"/>
              </a:lnSpc>
              <a:buNone/>
            </a:pPr>
            <a:r>
              <a:rPr lang="en-US" sz="1600" b="1" dirty="0">
                <a:solidFill>
                  <a:srgbClr val="1F1F1F"/>
                </a:solidFill>
                <a:latin typeface="Yu Mincho" pitchFamily="34" charset="0"/>
                <a:ea typeface="Yu Mincho" pitchFamily="34" charset="-122"/>
                <a:cs typeface="Yu Mincho" pitchFamily="34" charset="-120"/>
              </a:rPr>
              <a:t>何をする所か</a:t>
            </a:r>
            <a:endParaRPr lang="en-US" sz="1600" dirty="0"/>
          </a:p>
          <a:p>
            <a:pPr algn="ctr" indent="0" marL="0">
              <a:lnSpc>
                <a:spcPct val="120000"/>
              </a:lnSpc>
              <a:buNone/>
            </a:pPr>
            <a:r>
              <a:rPr lang="en-US" sz="1600" b="1" dirty="0">
                <a:solidFill>
                  <a:srgbClr val="1F1F1F"/>
                </a:solidFill>
                <a:latin typeface="Yu Mincho" pitchFamily="34" charset="0"/>
                <a:ea typeface="Yu Mincho" pitchFamily="34" charset="-122"/>
                <a:cs typeface="Yu Mincho" pitchFamily="34" charset="-120"/>
              </a:rPr>
              <a:t>わかる</a:t>
            </a:r>
            <a:endParaRPr lang="en-US" sz="1600" dirty="0"/>
          </a:p>
        </p:txBody>
      </p:sp>
      <p:sp>
        <p:nvSpPr>
          <p:cNvPr id="14" name="Text 12"/>
          <p:cNvSpPr txBox="1"/>
          <p:nvPr/>
        </p:nvSpPr>
        <p:spPr>
          <a:xfrm>
            <a:off x="7112020" y="3063240"/>
            <a:ext cx="164592" cy="1143000"/>
          </a:xfrm>
          <a:prstGeom prst="rect">
            <a:avLst/>
          </a:prstGeom>
          <a:noFill/>
          <a:ln/>
        </p:spPr>
        <p:txBody>
          <a:bodyPr wrap="square" lIns="0" tIns="0" rIns="0" bIns="0" rtlCol="0" anchor="ctr"/>
          <a:lstStyle/>
          <a:p>
            <a:pPr algn="ctr" indent="0" marL="0">
              <a:buNone/>
            </a:pPr>
            <a:r>
              <a:rPr lang="en-US" sz="1600" dirty="0">
                <a:solidFill>
                  <a:srgbClr val="6B6B6B"/>
                </a:solidFill>
                <a:latin typeface="Yu Gothic" pitchFamily="34" charset="0"/>
                <a:ea typeface="Yu Gothic" pitchFamily="34" charset="-122"/>
                <a:cs typeface="Yu Gothic" pitchFamily="34" charset="-120"/>
              </a:rPr>
              <a:t>›</a:t>
            </a:r>
            <a:endParaRPr lang="en-US" sz="1600" dirty="0"/>
          </a:p>
        </p:txBody>
      </p:sp>
      <p:sp>
        <p:nvSpPr>
          <p:cNvPr id="15" name="Shape 13"/>
          <p:cNvSpPr/>
          <p:nvPr/>
        </p:nvSpPr>
        <p:spPr>
          <a:xfrm>
            <a:off x="7276612" y="3063240"/>
            <a:ext cx="2032345" cy="1143000"/>
          </a:xfrm>
          <a:prstGeom prst="rect">
            <a:avLst/>
          </a:prstGeom>
          <a:solidFill>
            <a:srgbClr val="F2F2F0"/>
          </a:solidFill>
          <a:ln w="12700">
            <a:solidFill>
              <a:srgbClr val="F2F2F0"/>
            </a:solidFill>
            <a:prstDash val="solid"/>
          </a:ln>
        </p:spPr>
      </p:sp>
      <p:sp>
        <p:nvSpPr>
          <p:cNvPr id="16" name="Text 14"/>
          <p:cNvSpPr txBox="1"/>
          <p:nvPr/>
        </p:nvSpPr>
        <p:spPr>
          <a:xfrm>
            <a:off x="7276612" y="3063240"/>
            <a:ext cx="2032345" cy="1143000"/>
          </a:xfrm>
          <a:prstGeom prst="rect">
            <a:avLst/>
          </a:prstGeom>
          <a:noFill/>
          <a:ln/>
        </p:spPr>
        <p:txBody>
          <a:bodyPr wrap="square" lIns="0" tIns="0" rIns="0" bIns="0" rtlCol="0" anchor="ctr"/>
          <a:lstStyle/>
          <a:p>
            <a:pPr algn="ctr" indent="0" marL="0">
              <a:lnSpc>
                <a:spcPct val="120000"/>
              </a:lnSpc>
              <a:buNone/>
            </a:pPr>
            <a:r>
              <a:rPr lang="en-US" sz="1600" b="1" dirty="0">
                <a:solidFill>
                  <a:srgbClr val="1F1F1F"/>
                </a:solidFill>
                <a:latin typeface="Yu Mincho" pitchFamily="34" charset="0"/>
                <a:ea typeface="Yu Mincho" pitchFamily="34" charset="-122"/>
                <a:cs typeface="Yu Mincho" pitchFamily="34" charset="-120"/>
              </a:rPr>
              <a:t>困ったときに</a:t>
            </a:r>
            <a:endParaRPr lang="en-US" sz="1600" dirty="0"/>
          </a:p>
          <a:p>
            <a:pPr algn="ctr" indent="0" marL="0">
              <a:lnSpc>
                <a:spcPct val="120000"/>
              </a:lnSpc>
              <a:buNone/>
            </a:pPr>
            <a:r>
              <a:rPr lang="en-US" sz="1600" b="1" dirty="0">
                <a:solidFill>
                  <a:srgbClr val="1F1F1F"/>
                </a:solidFill>
                <a:latin typeface="Yu Mincho" pitchFamily="34" charset="0"/>
                <a:ea typeface="Yu Mincho" pitchFamily="34" charset="-122"/>
                <a:cs typeface="Yu Mincho" pitchFamily="34" charset="-120"/>
              </a:rPr>
              <a:t>思い出す</a:t>
            </a:r>
            <a:endParaRPr lang="en-US" sz="1600" dirty="0"/>
          </a:p>
        </p:txBody>
      </p:sp>
      <p:sp>
        <p:nvSpPr>
          <p:cNvPr id="17" name="Text 15"/>
          <p:cNvSpPr txBox="1"/>
          <p:nvPr/>
        </p:nvSpPr>
        <p:spPr>
          <a:xfrm>
            <a:off x="9308958" y="3063240"/>
            <a:ext cx="164592" cy="1143000"/>
          </a:xfrm>
          <a:prstGeom prst="rect">
            <a:avLst/>
          </a:prstGeom>
          <a:noFill/>
          <a:ln/>
        </p:spPr>
        <p:txBody>
          <a:bodyPr wrap="square" lIns="0" tIns="0" rIns="0" bIns="0" rtlCol="0" anchor="ctr"/>
          <a:lstStyle/>
          <a:p>
            <a:pPr algn="ctr" indent="0" marL="0">
              <a:buNone/>
            </a:pPr>
            <a:r>
              <a:rPr lang="en-US" sz="1600" dirty="0">
                <a:solidFill>
                  <a:srgbClr val="6B6B6B"/>
                </a:solidFill>
                <a:latin typeface="Yu Gothic" pitchFamily="34" charset="0"/>
                <a:ea typeface="Yu Gothic" pitchFamily="34" charset="-122"/>
                <a:cs typeface="Yu Gothic" pitchFamily="34" charset="-120"/>
              </a:rPr>
              <a:t>›</a:t>
            </a:r>
            <a:endParaRPr lang="en-US" sz="1600" dirty="0"/>
          </a:p>
        </p:txBody>
      </p:sp>
      <p:sp>
        <p:nvSpPr>
          <p:cNvPr id="18" name="Shape 16"/>
          <p:cNvSpPr/>
          <p:nvPr/>
        </p:nvSpPr>
        <p:spPr>
          <a:xfrm>
            <a:off x="9473550" y="3063240"/>
            <a:ext cx="2032345" cy="1143000"/>
          </a:xfrm>
          <a:prstGeom prst="rect">
            <a:avLst/>
          </a:prstGeom>
          <a:solidFill>
            <a:srgbClr val="F2F2F0"/>
          </a:solidFill>
          <a:ln w="12700">
            <a:solidFill>
              <a:srgbClr val="F2F2F0"/>
            </a:solidFill>
            <a:prstDash val="solid"/>
          </a:ln>
        </p:spPr>
      </p:sp>
      <p:sp>
        <p:nvSpPr>
          <p:cNvPr id="19" name="Text 17"/>
          <p:cNvSpPr txBox="1"/>
          <p:nvPr/>
        </p:nvSpPr>
        <p:spPr>
          <a:xfrm>
            <a:off x="9473550" y="3063240"/>
            <a:ext cx="2032345" cy="1143000"/>
          </a:xfrm>
          <a:prstGeom prst="rect">
            <a:avLst/>
          </a:prstGeom>
          <a:noFill/>
          <a:ln/>
        </p:spPr>
        <p:txBody>
          <a:bodyPr wrap="square" lIns="0" tIns="0" rIns="0" bIns="0" rtlCol="0" anchor="ctr"/>
          <a:lstStyle/>
          <a:p>
            <a:pPr algn="ctr" indent="0" marL="0">
              <a:lnSpc>
                <a:spcPct val="120000"/>
              </a:lnSpc>
              <a:buNone/>
            </a:pPr>
            <a:r>
              <a:rPr lang="en-US" sz="1600" b="1" dirty="0">
                <a:solidFill>
                  <a:srgbClr val="1F1F1F"/>
                </a:solidFill>
                <a:latin typeface="Yu Mincho" pitchFamily="34" charset="0"/>
                <a:ea typeface="Yu Mincho" pitchFamily="34" charset="-122"/>
                <a:cs typeface="Yu Mincho" pitchFamily="34" charset="-120"/>
              </a:rPr>
              <a:t>相談する</a:t>
            </a:r>
            <a:endParaRPr lang="en-US" sz="1600" dirty="0"/>
          </a:p>
        </p:txBody>
      </p:sp>
      <p:sp>
        <p:nvSpPr>
          <p:cNvPr id="20" name="Shape 18"/>
          <p:cNvSpPr/>
          <p:nvPr/>
        </p:nvSpPr>
        <p:spPr>
          <a:xfrm>
            <a:off x="1701973" y="2788920"/>
            <a:ext cx="2196937" cy="0"/>
          </a:xfrm>
          <a:prstGeom prst="line">
            <a:avLst/>
          </a:prstGeom>
          <a:noFill/>
          <a:ln w="9525">
            <a:solidFill>
              <a:srgbClr val="1F1F1F"/>
            </a:solidFill>
            <a:prstDash val="solid"/>
          </a:ln>
        </p:spPr>
      </p:sp>
      <p:sp>
        <p:nvSpPr>
          <p:cNvPr id="21" name="Shape 19"/>
          <p:cNvSpPr/>
          <p:nvPr/>
        </p:nvSpPr>
        <p:spPr>
          <a:xfrm>
            <a:off x="1701973" y="2788920"/>
            <a:ext cx="0" cy="164592"/>
          </a:xfrm>
          <a:prstGeom prst="line">
            <a:avLst/>
          </a:prstGeom>
          <a:noFill/>
          <a:ln w="9525">
            <a:solidFill>
              <a:srgbClr val="1F1F1F"/>
            </a:solidFill>
            <a:prstDash val="solid"/>
          </a:ln>
        </p:spPr>
      </p:sp>
      <p:sp>
        <p:nvSpPr>
          <p:cNvPr id="22" name="Shape 20"/>
          <p:cNvSpPr/>
          <p:nvPr/>
        </p:nvSpPr>
        <p:spPr>
          <a:xfrm>
            <a:off x="3898910" y="2788920"/>
            <a:ext cx="0" cy="164592"/>
          </a:xfrm>
          <a:prstGeom prst="line">
            <a:avLst/>
          </a:prstGeom>
          <a:noFill/>
          <a:ln w="9525">
            <a:solidFill>
              <a:srgbClr val="1F1F1F"/>
            </a:solidFill>
            <a:prstDash val="solid"/>
          </a:ln>
        </p:spPr>
      </p:sp>
      <p:sp>
        <p:nvSpPr>
          <p:cNvPr id="23" name="Text 21"/>
          <p:cNvSpPr txBox="1"/>
          <p:nvPr/>
        </p:nvSpPr>
        <p:spPr>
          <a:xfrm>
            <a:off x="1701973" y="2103120"/>
            <a:ext cx="2196937" cy="365760"/>
          </a:xfrm>
          <a:prstGeom prst="rect">
            <a:avLst/>
          </a:prstGeom>
          <a:noFill/>
          <a:ln/>
        </p:spPr>
        <p:txBody>
          <a:bodyPr wrap="square" lIns="0" tIns="0" rIns="0" bIns="0" rtlCol="0" anchor="ctr"/>
          <a:lstStyle/>
          <a:p>
            <a:pPr algn="ctr" indent="0" marL="0">
              <a:buNone/>
            </a:pPr>
            <a:r>
              <a:rPr lang="en-US" sz="2000" b="1" dirty="0">
                <a:solidFill>
                  <a:srgbClr val="1F1F1F"/>
                </a:solidFill>
                <a:latin typeface="Yu Mincho" pitchFamily="34" charset="0"/>
                <a:ea typeface="Yu Mincho" pitchFamily="34" charset="-122"/>
                <a:cs typeface="Yu Mincho" pitchFamily="34" charset="-120"/>
              </a:rPr>
              <a:t>広げる</a:t>
            </a:r>
            <a:endParaRPr lang="en-US" sz="2000" dirty="0"/>
          </a:p>
        </p:txBody>
      </p:sp>
      <p:sp>
        <p:nvSpPr>
          <p:cNvPr id="24" name="Text 22"/>
          <p:cNvSpPr txBox="1"/>
          <p:nvPr/>
        </p:nvSpPr>
        <p:spPr>
          <a:xfrm>
            <a:off x="1701973" y="2450592"/>
            <a:ext cx="2196937" cy="274320"/>
          </a:xfrm>
          <a:prstGeom prst="rect">
            <a:avLst/>
          </a:prstGeom>
          <a:noFill/>
          <a:ln/>
        </p:spPr>
        <p:txBody>
          <a:bodyPr wrap="square" lIns="0" tIns="0" rIns="0" bIns="0" rtlCol="0" anchor="t"/>
          <a:lstStyle/>
          <a:p>
            <a:pPr algn="ctr" indent="0" marL="0">
              <a:lnSpc>
                <a:spcPct val="125000"/>
              </a:lnSpc>
              <a:buNone/>
            </a:pPr>
            <a:r>
              <a:rPr lang="en-US" sz="1100" dirty="0">
                <a:solidFill>
                  <a:srgbClr val="6B6B6B"/>
                </a:solidFill>
                <a:latin typeface="Yu Gothic" pitchFamily="34" charset="0"/>
                <a:ea typeface="Yu Gothic" pitchFamily="34" charset="-122"/>
                <a:cs typeface="Yu Gothic" pitchFamily="34" charset="-120"/>
              </a:rPr>
              <a:t>知っている人を増やす</a:t>
            </a:r>
            <a:endParaRPr lang="en-US" sz="1100" dirty="0"/>
          </a:p>
        </p:txBody>
      </p:sp>
      <p:sp>
        <p:nvSpPr>
          <p:cNvPr id="25" name="Shape 23"/>
          <p:cNvSpPr/>
          <p:nvPr/>
        </p:nvSpPr>
        <p:spPr>
          <a:xfrm>
            <a:off x="4036070" y="2788920"/>
            <a:ext cx="6453652" cy="0"/>
          </a:xfrm>
          <a:prstGeom prst="line">
            <a:avLst/>
          </a:prstGeom>
          <a:noFill/>
          <a:ln w="9525">
            <a:solidFill>
              <a:srgbClr val="C0462B"/>
            </a:solidFill>
            <a:prstDash val="solid"/>
          </a:ln>
        </p:spPr>
      </p:sp>
      <p:sp>
        <p:nvSpPr>
          <p:cNvPr id="26" name="Shape 24"/>
          <p:cNvSpPr/>
          <p:nvPr/>
        </p:nvSpPr>
        <p:spPr>
          <a:xfrm>
            <a:off x="4036070" y="2788920"/>
            <a:ext cx="0" cy="164592"/>
          </a:xfrm>
          <a:prstGeom prst="line">
            <a:avLst/>
          </a:prstGeom>
          <a:noFill/>
          <a:ln w="9525">
            <a:solidFill>
              <a:srgbClr val="C0462B"/>
            </a:solidFill>
            <a:prstDash val="solid"/>
          </a:ln>
        </p:spPr>
      </p:sp>
      <p:sp>
        <p:nvSpPr>
          <p:cNvPr id="27" name="Shape 25"/>
          <p:cNvSpPr/>
          <p:nvPr/>
        </p:nvSpPr>
        <p:spPr>
          <a:xfrm>
            <a:off x="10489722" y="2788920"/>
            <a:ext cx="0" cy="164592"/>
          </a:xfrm>
          <a:prstGeom prst="line">
            <a:avLst/>
          </a:prstGeom>
          <a:noFill/>
          <a:ln w="9525">
            <a:solidFill>
              <a:srgbClr val="C0462B"/>
            </a:solidFill>
            <a:prstDash val="solid"/>
          </a:ln>
        </p:spPr>
      </p:sp>
      <p:sp>
        <p:nvSpPr>
          <p:cNvPr id="28" name="Text 26"/>
          <p:cNvSpPr txBox="1"/>
          <p:nvPr/>
        </p:nvSpPr>
        <p:spPr>
          <a:xfrm>
            <a:off x="4036070" y="2103120"/>
            <a:ext cx="6453652" cy="365760"/>
          </a:xfrm>
          <a:prstGeom prst="rect">
            <a:avLst/>
          </a:prstGeom>
          <a:noFill/>
          <a:ln/>
        </p:spPr>
        <p:txBody>
          <a:bodyPr wrap="square" lIns="0" tIns="0" rIns="0" bIns="0" rtlCol="0" anchor="ctr"/>
          <a:lstStyle/>
          <a:p>
            <a:pPr algn="ctr" indent="0" marL="0">
              <a:buNone/>
            </a:pPr>
            <a:r>
              <a:rPr lang="en-US" sz="2000" b="1" dirty="0">
                <a:solidFill>
                  <a:srgbClr val="C0462B"/>
                </a:solidFill>
                <a:latin typeface="Yu Mincho" pitchFamily="34" charset="0"/>
                <a:ea typeface="Yu Mincho" pitchFamily="34" charset="-122"/>
                <a:cs typeface="Yu Mincho" pitchFamily="34" charset="-120"/>
              </a:rPr>
              <a:t>深める</a:t>
            </a:r>
            <a:endParaRPr lang="en-US" sz="2000" dirty="0"/>
          </a:p>
        </p:txBody>
      </p:sp>
      <p:sp>
        <p:nvSpPr>
          <p:cNvPr id="29" name="Text 27"/>
          <p:cNvSpPr txBox="1"/>
          <p:nvPr/>
        </p:nvSpPr>
        <p:spPr>
          <a:xfrm>
            <a:off x="4036070" y="2450592"/>
            <a:ext cx="6453652" cy="274320"/>
          </a:xfrm>
          <a:prstGeom prst="rect">
            <a:avLst/>
          </a:prstGeom>
          <a:noFill/>
          <a:ln/>
        </p:spPr>
        <p:txBody>
          <a:bodyPr wrap="square" lIns="0" tIns="0" rIns="0" bIns="0" rtlCol="0" anchor="t"/>
          <a:lstStyle/>
          <a:p>
            <a:pPr algn="ctr" indent="0" marL="0">
              <a:lnSpc>
                <a:spcPct val="125000"/>
              </a:lnSpc>
              <a:buNone/>
            </a:pPr>
            <a:r>
              <a:rPr lang="en-US" sz="1100" dirty="0">
                <a:solidFill>
                  <a:srgbClr val="6B6B6B"/>
                </a:solidFill>
                <a:latin typeface="Yu Gothic" pitchFamily="34" charset="0"/>
                <a:ea typeface="Yu Gothic" pitchFamily="34" charset="-122"/>
                <a:cs typeface="Yu Gothic" pitchFamily="34" charset="-120"/>
              </a:rPr>
              <a:t>知っている人に、頼ってもらう</a:t>
            </a:r>
            <a:endParaRPr lang="en-US" sz="1100" dirty="0"/>
          </a:p>
        </p:txBody>
      </p:sp>
      <p:sp>
        <p:nvSpPr>
          <p:cNvPr id="30" name="Shape 28"/>
          <p:cNvSpPr/>
          <p:nvPr/>
        </p:nvSpPr>
        <p:spPr>
          <a:xfrm>
            <a:off x="685800" y="4572000"/>
            <a:ext cx="10820095" cy="1325880"/>
          </a:xfrm>
          <a:prstGeom prst="rect">
            <a:avLst/>
          </a:prstGeom>
          <a:solidFill>
            <a:srgbClr val="FFFFFF"/>
          </a:solidFill>
          <a:ln w="12700">
            <a:solidFill>
              <a:srgbClr val="1F1F1F"/>
            </a:solidFill>
            <a:prstDash val="solid"/>
          </a:ln>
        </p:spPr>
      </p:sp>
      <p:sp>
        <p:nvSpPr>
          <p:cNvPr id="31" name="Text 29"/>
          <p:cNvSpPr txBox="1"/>
          <p:nvPr/>
        </p:nvSpPr>
        <p:spPr>
          <a:xfrm>
            <a:off x="1005840" y="4754880"/>
            <a:ext cx="3657600" cy="320040"/>
          </a:xfrm>
          <a:prstGeom prst="rect">
            <a:avLst/>
          </a:prstGeom>
          <a:noFill/>
          <a:ln/>
        </p:spPr>
        <p:txBody>
          <a:bodyPr wrap="square" lIns="0" tIns="0" rIns="0" bIns="0" rtlCol="0" anchor="t"/>
          <a:lstStyle/>
          <a:p>
            <a:pPr indent="0" marL="0">
              <a:lnSpc>
                <a:spcPct val="125000"/>
              </a:lnSpc>
              <a:buNone/>
            </a:pPr>
            <a:r>
              <a:rPr lang="en-US" sz="1200" b="1" dirty="0">
                <a:solidFill>
                  <a:srgbClr val="6B6B6B"/>
                </a:solidFill>
                <a:latin typeface="Yu Gothic" pitchFamily="34" charset="0"/>
                <a:ea typeface="Yu Gothic" pitchFamily="34" charset="-122"/>
                <a:cs typeface="Yu Gothic" pitchFamily="34" charset="-120"/>
              </a:rPr>
              <a:t>本プロジェクトで決めること</a:t>
            </a:r>
            <a:endParaRPr lang="en-US" sz="1200" dirty="0"/>
          </a:p>
        </p:txBody>
      </p:sp>
      <p:sp>
        <p:nvSpPr>
          <p:cNvPr id="32" name="Text 30"/>
          <p:cNvSpPr txBox="1"/>
          <p:nvPr/>
        </p:nvSpPr>
        <p:spPr>
          <a:xfrm>
            <a:off x="1005840" y="5074920"/>
            <a:ext cx="10180015" cy="731520"/>
          </a:xfrm>
          <a:prstGeom prst="rect">
            <a:avLst/>
          </a:prstGeom>
          <a:noFill/>
          <a:ln/>
        </p:spPr>
        <p:txBody>
          <a:bodyPr wrap="square" lIns="0" tIns="0" rIns="0" bIns="0" rtlCol="0" anchor="t"/>
          <a:lstStyle/>
          <a:p>
            <a:pPr indent="0" marL="0">
              <a:lnSpc>
                <a:spcPct val="135000"/>
              </a:lnSpc>
              <a:buNone/>
            </a:pPr>
            <a:r>
              <a:rPr lang="en-US" sz="1450" b="1" dirty="0">
                <a:solidFill>
                  <a:srgbClr val="1F1F1F"/>
                </a:solidFill>
                <a:latin typeface="Yu Gothic" pitchFamily="34" charset="0"/>
                <a:ea typeface="Yu Gothic" pitchFamily="34" charset="-122"/>
                <a:cs typeface="Yu Gothic" pitchFamily="34" charset="-120"/>
              </a:rPr>
              <a:t>来年度、「広げる」と「深める」のどちらに、どの層で、どれだけ力を配分するか。</a:t>
            </a:r>
            <a:endParaRPr lang="en-US" sz="1450" dirty="0"/>
          </a:p>
          <a:p>
            <a:pPr indent="0" marL="0">
              <a:lnSpc>
                <a:spcPct val="135000"/>
              </a:lnSpc>
              <a:buNone/>
            </a:pPr>
            <a:r>
              <a:rPr lang="en-US" sz="1450" b="1" dirty="0">
                <a:solidFill>
                  <a:srgbClr val="1F1F1F"/>
                </a:solidFill>
                <a:latin typeface="Yu Gothic" pitchFamily="34" charset="0"/>
                <a:ea typeface="Yu Gothic" pitchFamily="34" charset="-122"/>
                <a:cs typeface="Yu Gothic" pitchFamily="34" charset="-120"/>
              </a:rPr>
              <a:t>その答えは、12月調査の結果と既存施策の点検から導きます。</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4</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3か月で答える問いを、先に決めておきます。</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「調査結果を見て考える」ではなく、答えるべき問いを最初に置き、そこから逆算して分析します。</a:t>
            </a:r>
            <a:endParaRPr lang="en-US" sz="1400" dirty="0"/>
          </a:p>
        </p:txBody>
      </p:sp>
      <p:sp>
        <p:nvSpPr>
          <p:cNvPr id="6" name="Shape 4"/>
          <p:cNvSpPr/>
          <p:nvPr/>
        </p:nvSpPr>
        <p:spPr>
          <a:xfrm>
            <a:off x="685800" y="2148840"/>
            <a:ext cx="3200400" cy="3383280"/>
          </a:xfrm>
          <a:prstGeom prst="rect">
            <a:avLst/>
          </a:prstGeom>
          <a:solidFill>
            <a:srgbClr val="1F1F1F"/>
          </a:solidFill>
          <a:ln w="12700">
            <a:solidFill>
              <a:srgbClr val="1F1F1F"/>
            </a:solidFill>
            <a:prstDash val="solid"/>
          </a:ln>
        </p:spPr>
      </p:sp>
      <p:sp>
        <p:nvSpPr>
          <p:cNvPr id="7" name="Text 5"/>
          <p:cNvSpPr txBox="1"/>
          <p:nvPr/>
        </p:nvSpPr>
        <p:spPr>
          <a:xfrm>
            <a:off x="960120" y="2423160"/>
            <a:ext cx="1828800" cy="274320"/>
          </a:xfrm>
          <a:prstGeom prst="rect">
            <a:avLst/>
          </a:prstGeom>
          <a:noFill/>
          <a:ln/>
        </p:spPr>
        <p:txBody>
          <a:bodyPr wrap="square" lIns="0" tIns="0" rIns="0" bIns="0" rtlCol="0" anchor="t"/>
          <a:lstStyle/>
          <a:p>
            <a:pPr indent="0" marL="0">
              <a:lnSpc>
                <a:spcPct val="125000"/>
              </a:lnSpc>
              <a:buNone/>
            </a:pPr>
            <a:r>
              <a:rPr lang="en-US" sz="1100" b="1" dirty="0">
                <a:solidFill>
                  <a:srgbClr val="BBBBBB"/>
                </a:solidFill>
                <a:latin typeface="Yu Gothic" pitchFamily="34" charset="0"/>
                <a:ea typeface="Yu Gothic" pitchFamily="34" charset="-122"/>
                <a:cs typeface="Yu Gothic" pitchFamily="34" charset="-120"/>
              </a:rPr>
              <a:t>問い</a:t>
            </a:r>
            <a:endParaRPr lang="en-US" sz="1100" dirty="0"/>
          </a:p>
        </p:txBody>
      </p:sp>
      <p:sp>
        <p:nvSpPr>
          <p:cNvPr id="8" name="Text 6"/>
          <p:cNvSpPr txBox="1"/>
          <p:nvPr/>
        </p:nvSpPr>
        <p:spPr>
          <a:xfrm>
            <a:off x="960120" y="2834640"/>
            <a:ext cx="2651760" cy="2194560"/>
          </a:xfrm>
          <a:prstGeom prst="rect">
            <a:avLst/>
          </a:prstGeom>
          <a:noFill/>
          <a:ln/>
        </p:spPr>
        <p:txBody>
          <a:bodyPr wrap="square" lIns="0" tIns="0" rIns="0" bIns="0" rtlCol="0" anchor="t"/>
          <a:lstStyle/>
          <a:p>
            <a:pPr indent="0" marL="0">
              <a:lnSpc>
                <a:spcPct val="135000"/>
              </a:lnSpc>
              <a:buNone/>
            </a:pPr>
            <a:r>
              <a:rPr lang="en-US" sz="2100" b="1" dirty="0">
                <a:solidFill>
                  <a:srgbClr val="FFFFFF"/>
                </a:solidFill>
                <a:latin typeface="Yu Mincho" pitchFamily="34" charset="0"/>
                <a:ea typeface="Yu Mincho" pitchFamily="34" charset="-122"/>
                <a:cs typeface="Yu Mincho" pitchFamily="34" charset="-120"/>
              </a:rPr>
              <a:t>来年度、認知度を上げるために、何に注力すべきか</a:t>
            </a:r>
            <a:endParaRPr lang="en-US" sz="2100" dirty="0"/>
          </a:p>
        </p:txBody>
      </p:sp>
      <p:sp>
        <p:nvSpPr>
          <p:cNvPr id="9" name="Shape 7"/>
          <p:cNvSpPr/>
          <p:nvPr/>
        </p:nvSpPr>
        <p:spPr>
          <a:xfrm>
            <a:off x="3886200" y="3840480"/>
            <a:ext cx="320040" cy="0"/>
          </a:xfrm>
          <a:prstGeom prst="line">
            <a:avLst/>
          </a:prstGeom>
          <a:noFill/>
          <a:ln w="9525">
            <a:solidFill>
              <a:srgbClr val="1F1F1F"/>
            </a:solidFill>
            <a:prstDash val="solid"/>
          </a:ln>
        </p:spPr>
      </p:sp>
      <p:sp>
        <p:nvSpPr>
          <p:cNvPr id="10" name="Shape 8"/>
          <p:cNvSpPr/>
          <p:nvPr/>
        </p:nvSpPr>
        <p:spPr>
          <a:xfrm>
            <a:off x="4206240" y="2514600"/>
            <a:ext cx="0" cy="2633472"/>
          </a:xfrm>
          <a:prstGeom prst="line">
            <a:avLst/>
          </a:prstGeom>
          <a:noFill/>
          <a:ln w="9525">
            <a:solidFill>
              <a:srgbClr val="1F1F1F"/>
            </a:solidFill>
            <a:prstDash val="solid"/>
          </a:ln>
        </p:spPr>
      </p:sp>
      <p:sp>
        <p:nvSpPr>
          <p:cNvPr id="11" name="Text 9"/>
          <p:cNvSpPr txBox="1"/>
          <p:nvPr/>
        </p:nvSpPr>
        <p:spPr>
          <a:xfrm>
            <a:off x="5852160" y="1828800"/>
            <a:ext cx="3657600" cy="274320"/>
          </a:xfrm>
          <a:prstGeom prst="rect">
            <a:avLst/>
          </a:prstGeom>
          <a:noFill/>
          <a:ln/>
        </p:spPr>
        <p:txBody>
          <a:bodyPr wrap="square" lIns="0" tIns="0" rIns="0" bIns="0" rtlCol="0" anchor="t"/>
          <a:lstStyle/>
          <a:p>
            <a:pPr indent="0" marL="0">
              <a:lnSpc>
                <a:spcPct val="125000"/>
              </a:lnSpc>
              <a:buNone/>
            </a:pPr>
            <a:r>
              <a:rPr lang="en-US" sz="1050" b="1" dirty="0">
                <a:solidFill>
                  <a:srgbClr val="6B6B6B"/>
                </a:solidFill>
                <a:latin typeface="Yu Gothic" pitchFamily="34" charset="0"/>
                <a:ea typeface="Yu Gothic" pitchFamily="34" charset="-122"/>
                <a:cs typeface="Yu Gothic" pitchFamily="34" charset="-120"/>
              </a:rPr>
              <a:t>サブの問い</a:t>
            </a:r>
            <a:endParaRPr lang="en-US" sz="1050" dirty="0"/>
          </a:p>
        </p:txBody>
      </p:sp>
      <p:sp>
        <p:nvSpPr>
          <p:cNvPr id="12" name="Text 10"/>
          <p:cNvSpPr txBox="1"/>
          <p:nvPr/>
        </p:nvSpPr>
        <p:spPr>
          <a:xfrm>
            <a:off x="9372600" y="1828800"/>
            <a:ext cx="2743200" cy="274320"/>
          </a:xfrm>
          <a:prstGeom prst="rect">
            <a:avLst/>
          </a:prstGeom>
          <a:noFill/>
          <a:ln/>
        </p:spPr>
        <p:txBody>
          <a:bodyPr wrap="square" lIns="0" tIns="0" rIns="0" bIns="0" rtlCol="0" anchor="t"/>
          <a:lstStyle/>
          <a:p>
            <a:pPr indent="0" marL="0">
              <a:lnSpc>
                <a:spcPct val="125000"/>
              </a:lnSpc>
              <a:buNone/>
            </a:pPr>
            <a:r>
              <a:rPr lang="en-US" sz="1050" b="1" dirty="0">
                <a:solidFill>
                  <a:srgbClr val="6B6B6B"/>
                </a:solidFill>
                <a:latin typeface="Yu Gothic" pitchFamily="34" charset="0"/>
                <a:ea typeface="Yu Gothic" pitchFamily="34" charset="-122"/>
                <a:cs typeface="Yu Gothic" pitchFamily="34" charset="-120"/>
              </a:rPr>
              <a:t>答えが決めること</a:t>
            </a:r>
            <a:endParaRPr lang="en-US" sz="1050" dirty="0"/>
          </a:p>
        </p:txBody>
      </p:sp>
      <p:sp>
        <p:nvSpPr>
          <p:cNvPr id="13" name="Shape 11"/>
          <p:cNvSpPr/>
          <p:nvPr/>
        </p:nvSpPr>
        <p:spPr>
          <a:xfrm>
            <a:off x="4206240" y="2514600"/>
            <a:ext cx="365760" cy="0"/>
          </a:xfrm>
          <a:prstGeom prst="line">
            <a:avLst/>
          </a:prstGeom>
          <a:noFill/>
          <a:ln w="9525">
            <a:solidFill>
              <a:srgbClr val="1F1F1F"/>
            </a:solidFill>
            <a:prstDash val="solid"/>
          </a:ln>
        </p:spPr>
      </p:sp>
      <p:sp>
        <p:nvSpPr>
          <p:cNvPr id="14" name="Shape 12"/>
          <p:cNvSpPr/>
          <p:nvPr/>
        </p:nvSpPr>
        <p:spPr>
          <a:xfrm>
            <a:off x="4572000" y="2148840"/>
            <a:ext cx="6933895" cy="731520"/>
          </a:xfrm>
          <a:prstGeom prst="rect">
            <a:avLst/>
          </a:prstGeom>
          <a:solidFill>
            <a:srgbClr val="F2F2F0"/>
          </a:solidFill>
          <a:ln w="12700">
            <a:solidFill>
              <a:srgbClr val="F2F2F0"/>
            </a:solidFill>
            <a:prstDash val="solid"/>
          </a:ln>
        </p:spPr>
      </p:sp>
      <p:sp>
        <p:nvSpPr>
          <p:cNvPr id="15" name="Text 13"/>
          <p:cNvSpPr txBox="1"/>
          <p:nvPr/>
        </p:nvSpPr>
        <p:spPr>
          <a:xfrm>
            <a:off x="4800600" y="2148840"/>
            <a:ext cx="1005840" cy="731520"/>
          </a:xfrm>
          <a:prstGeom prst="rect">
            <a:avLst/>
          </a:prstGeom>
          <a:noFill/>
          <a:ln/>
        </p:spPr>
        <p:txBody>
          <a:bodyPr wrap="square" lIns="0" tIns="0" rIns="0" bIns="0" rtlCol="0" anchor="ctr"/>
          <a:lstStyle/>
          <a:p>
            <a:pPr indent="0" marL="0">
              <a:buNone/>
            </a:pPr>
            <a:r>
              <a:rPr lang="en-US" sz="1700" b="1" dirty="0">
                <a:solidFill>
                  <a:srgbClr val="C0462B"/>
                </a:solidFill>
                <a:latin typeface="Yu Mincho" pitchFamily="34" charset="0"/>
                <a:ea typeface="Yu Mincho" pitchFamily="34" charset="-122"/>
                <a:cs typeface="Yu Mincho" pitchFamily="34" charset="-120"/>
              </a:rPr>
              <a:t>どこで</a:t>
            </a:r>
            <a:endParaRPr lang="en-US" sz="1700" dirty="0"/>
          </a:p>
        </p:txBody>
      </p:sp>
      <p:sp>
        <p:nvSpPr>
          <p:cNvPr id="16" name="Text 14"/>
          <p:cNvSpPr txBox="1"/>
          <p:nvPr/>
        </p:nvSpPr>
        <p:spPr>
          <a:xfrm>
            <a:off x="5852160" y="2148840"/>
            <a:ext cx="3429000" cy="731520"/>
          </a:xfrm>
          <a:prstGeom prst="rect">
            <a:avLst/>
          </a:prstGeom>
          <a:noFill/>
          <a:ln/>
        </p:spPr>
        <p:txBody>
          <a:bodyPr wrap="square" lIns="0" tIns="0" rIns="0" bIns="0" rtlCol="0" anchor="ctr"/>
          <a:lstStyle/>
          <a:p>
            <a:pPr indent="0" marL="0">
              <a:buNone/>
            </a:pPr>
            <a:r>
              <a:rPr lang="en-US" sz="1350" b="1" dirty="0">
                <a:solidFill>
                  <a:srgbClr val="1F1F1F"/>
                </a:solidFill>
                <a:latin typeface="Yu Gothic" pitchFamily="34" charset="0"/>
                <a:ea typeface="Yu Gothic" pitchFamily="34" charset="-122"/>
                <a:cs typeface="Yu Gothic" pitchFamily="34" charset="-120"/>
              </a:rPr>
              <a:t>どの段階・どの層で、認知が低いのか</a:t>
            </a:r>
            <a:endParaRPr lang="en-US" sz="1350" dirty="0"/>
          </a:p>
        </p:txBody>
      </p:sp>
      <p:sp>
        <p:nvSpPr>
          <p:cNvPr id="17" name="Text 15"/>
          <p:cNvSpPr txBox="1"/>
          <p:nvPr/>
        </p:nvSpPr>
        <p:spPr>
          <a:xfrm>
            <a:off x="9372600" y="2148840"/>
            <a:ext cx="1996135" cy="731520"/>
          </a:xfrm>
          <a:prstGeom prst="rect">
            <a:avLst/>
          </a:prstGeom>
          <a:noFill/>
          <a:ln/>
        </p:spPr>
        <p:txBody>
          <a:bodyPr wrap="square" lIns="0" tIns="0" rIns="0" bIns="0" rtlCol="0" anchor="ctr"/>
          <a:lstStyle/>
          <a:p>
            <a:pPr indent="0" marL="0">
              <a:buNone/>
            </a:pPr>
            <a:r>
              <a:rPr lang="en-US" sz="1150" dirty="0">
                <a:solidFill>
                  <a:srgbClr val="6B6B6B"/>
                </a:solidFill>
                <a:latin typeface="Yu Gothic" pitchFamily="34" charset="0"/>
                <a:ea typeface="Yu Gothic" pitchFamily="34" charset="-122"/>
                <a:cs typeface="Yu Gothic" pitchFamily="34" charset="-120"/>
              </a:rPr>
              <a:t>「広げる」「深める」のどちらが課題か／重点対象</a:t>
            </a:r>
            <a:endParaRPr lang="en-US" sz="1150" dirty="0"/>
          </a:p>
        </p:txBody>
      </p:sp>
      <p:sp>
        <p:nvSpPr>
          <p:cNvPr id="18" name="Shape 16"/>
          <p:cNvSpPr/>
          <p:nvPr/>
        </p:nvSpPr>
        <p:spPr>
          <a:xfrm>
            <a:off x="4206240" y="3392424"/>
            <a:ext cx="365760" cy="0"/>
          </a:xfrm>
          <a:prstGeom prst="line">
            <a:avLst/>
          </a:prstGeom>
          <a:noFill/>
          <a:ln w="9525">
            <a:solidFill>
              <a:srgbClr val="1F1F1F"/>
            </a:solidFill>
            <a:prstDash val="solid"/>
          </a:ln>
        </p:spPr>
      </p:sp>
      <p:sp>
        <p:nvSpPr>
          <p:cNvPr id="19" name="Shape 17"/>
          <p:cNvSpPr/>
          <p:nvPr/>
        </p:nvSpPr>
        <p:spPr>
          <a:xfrm>
            <a:off x="4572000" y="3026664"/>
            <a:ext cx="6933895" cy="731520"/>
          </a:xfrm>
          <a:prstGeom prst="rect">
            <a:avLst/>
          </a:prstGeom>
          <a:solidFill>
            <a:srgbClr val="F2F2F0"/>
          </a:solidFill>
          <a:ln w="12700">
            <a:solidFill>
              <a:srgbClr val="F2F2F0"/>
            </a:solidFill>
            <a:prstDash val="solid"/>
          </a:ln>
        </p:spPr>
      </p:sp>
      <p:sp>
        <p:nvSpPr>
          <p:cNvPr id="20" name="Text 18"/>
          <p:cNvSpPr txBox="1"/>
          <p:nvPr/>
        </p:nvSpPr>
        <p:spPr>
          <a:xfrm>
            <a:off x="4800600" y="3026664"/>
            <a:ext cx="1005840" cy="731520"/>
          </a:xfrm>
          <a:prstGeom prst="rect">
            <a:avLst/>
          </a:prstGeom>
          <a:noFill/>
          <a:ln/>
        </p:spPr>
        <p:txBody>
          <a:bodyPr wrap="square" lIns="0" tIns="0" rIns="0" bIns="0" rtlCol="0" anchor="ctr"/>
          <a:lstStyle/>
          <a:p>
            <a:pPr indent="0" marL="0">
              <a:buNone/>
            </a:pPr>
            <a:r>
              <a:rPr lang="en-US" sz="1700" b="1" dirty="0">
                <a:solidFill>
                  <a:srgbClr val="C0462B"/>
                </a:solidFill>
                <a:latin typeface="Yu Mincho" pitchFamily="34" charset="0"/>
                <a:ea typeface="Yu Mincho" pitchFamily="34" charset="-122"/>
                <a:cs typeface="Yu Mincho" pitchFamily="34" charset="-120"/>
              </a:rPr>
              <a:t>なぜ</a:t>
            </a:r>
            <a:endParaRPr lang="en-US" sz="1700" dirty="0"/>
          </a:p>
        </p:txBody>
      </p:sp>
      <p:sp>
        <p:nvSpPr>
          <p:cNvPr id="21" name="Text 19"/>
          <p:cNvSpPr txBox="1"/>
          <p:nvPr/>
        </p:nvSpPr>
        <p:spPr>
          <a:xfrm>
            <a:off x="5852160" y="3026664"/>
            <a:ext cx="3429000" cy="731520"/>
          </a:xfrm>
          <a:prstGeom prst="rect">
            <a:avLst/>
          </a:prstGeom>
          <a:noFill/>
          <a:ln/>
        </p:spPr>
        <p:txBody>
          <a:bodyPr wrap="square" lIns="0" tIns="0" rIns="0" bIns="0" rtlCol="0" anchor="ctr"/>
          <a:lstStyle/>
          <a:p>
            <a:pPr indent="0" marL="0">
              <a:buNone/>
            </a:pPr>
            <a:r>
              <a:rPr lang="en-US" sz="1350" b="1" dirty="0">
                <a:solidFill>
                  <a:srgbClr val="1F1F1F"/>
                </a:solidFill>
                <a:latin typeface="Yu Gothic" pitchFamily="34" charset="0"/>
                <a:ea typeface="Yu Gothic" pitchFamily="34" charset="-122"/>
                <a:cs typeface="Yu Gothic" pitchFamily="34" charset="-120"/>
              </a:rPr>
              <a:t>その段階で止まっている原因は何か</a:t>
            </a:r>
            <a:endParaRPr lang="en-US" sz="1350" dirty="0"/>
          </a:p>
        </p:txBody>
      </p:sp>
      <p:sp>
        <p:nvSpPr>
          <p:cNvPr id="22" name="Text 20"/>
          <p:cNvSpPr txBox="1"/>
          <p:nvPr/>
        </p:nvSpPr>
        <p:spPr>
          <a:xfrm>
            <a:off x="9372600" y="3026664"/>
            <a:ext cx="1996135" cy="731520"/>
          </a:xfrm>
          <a:prstGeom prst="rect">
            <a:avLst/>
          </a:prstGeom>
          <a:noFill/>
          <a:ln/>
        </p:spPr>
        <p:txBody>
          <a:bodyPr wrap="square" lIns="0" tIns="0" rIns="0" bIns="0" rtlCol="0" anchor="ctr"/>
          <a:lstStyle/>
          <a:p>
            <a:pPr indent="0" marL="0">
              <a:buNone/>
            </a:pPr>
            <a:r>
              <a:rPr lang="en-US" sz="1150" dirty="0">
                <a:solidFill>
                  <a:srgbClr val="6B6B6B"/>
                </a:solidFill>
                <a:latin typeface="Yu Gothic" pitchFamily="34" charset="0"/>
                <a:ea typeface="Yu Gothic" pitchFamily="34" charset="-122"/>
                <a:cs typeface="Yu Gothic" pitchFamily="34" charset="-120"/>
              </a:rPr>
              <a:t>接点・伝える内容・導線のどこを直すか</a:t>
            </a:r>
            <a:endParaRPr lang="en-US" sz="1150" dirty="0"/>
          </a:p>
        </p:txBody>
      </p:sp>
      <p:sp>
        <p:nvSpPr>
          <p:cNvPr id="23" name="Shape 21"/>
          <p:cNvSpPr/>
          <p:nvPr/>
        </p:nvSpPr>
        <p:spPr>
          <a:xfrm>
            <a:off x="4206240" y="4270248"/>
            <a:ext cx="365760" cy="0"/>
          </a:xfrm>
          <a:prstGeom prst="line">
            <a:avLst/>
          </a:prstGeom>
          <a:noFill/>
          <a:ln w="9525">
            <a:solidFill>
              <a:srgbClr val="1F1F1F"/>
            </a:solidFill>
            <a:prstDash val="solid"/>
          </a:ln>
        </p:spPr>
      </p:sp>
      <p:sp>
        <p:nvSpPr>
          <p:cNvPr id="24" name="Shape 22"/>
          <p:cNvSpPr/>
          <p:nvPr/>
        </p:nvSpPr>
        <p:spPr>
          <a:xfrm>
            <a:off x="4572000" y="3904488"/>
            <a:ext cx="6933895" cy="731520"/>
          </a:xfrm>
          <a:prstGeom prst="rect">
            <a:avLst/>
          </a:prstGeom>
          <a:solidFill>
            <a:srgbClr val="F2F2F0"/>
          </a:solidFill>
          <a:ln w="12700">
            <a:solidFill>
              <a:srgbClr val="F2F2F0"/>
            </a:solidFill>
            <a:prstDash val="solid"/>
          </a:ln>
        </p:spPr>
      </p:sp>
      <p:sp>
        <p:nvSpPr>
          <p:cNvPr id="25" name="Text 23"/>
          <p:cNvSpPr txBox="1"/>
          <p:nvPr/>
        </p:nvSpPr>
        <p:spPr>
          <a:xfrm>
            <a:off x="4800600" y="3904488"/>
            <a:ext cx="1005840" cy="731520"/>
          </a:xfrm>
          <a:prstGeom prst="rect">
            <a:avLst/>
          </a:prstGeom>
          <a:noFill/>
          <a:ln/>
        </p:spPr>
        <p:txBody>
          <a:bodyPr wrap="square" lIns="0" tIns="0" rIns="0" bIns="0" rtlCol="0" anchor="ctr"/>
          <a:lstStyle/>
          <a:p>
            <a:pPr indent="0" marL="0">
              <a:buNone/>
            </a:pPr>
            <a:r>
              <a:rPr lang="en-US" sz="1700" b="1" dirty="0">
                <a:solidFill>
                  <a:srgbClr val="C0462B"/>
                </a:solidFill>
                <a:latin typeface="Yu Mincho" pitchFamily="34" charset="0"/>
                <a:ea typeface="Yu Mincho" pitchFamily="34" charset="-122"/>
                <a:cs typeface="Yu Mincho" pitchFamily="34" charset="-120"/>
              </a:rPr>
              <a:t>何を</a:t>
            </a:r>
            <a:endParaRPr lang="en-US" sz="1700" dirty="0"/>
          </a:p>
        </p:txBody>
      </p:sp>
      <p:sp>
        <p:nvSpPr>
          <p:cNvPr id="26" name="Text 24"/>
          <p:cNvSpPr txBox="1"/>
          <p:nvPr/>
        </p:nvSpPr>
        <p:spPr>
          <a:xfrm>
            <a:off x="5852160" y="3904488"/>
            <a:ext cx="3429000" cy="731520"/>
          </a:xfrm>
          <a:prstGeom prst="rect">
            <a:avLst/>
          </a:prstGeom>
          <a:noFill/>
          <a:ln/>
        </p:spPr>
        <p:txBody>
          <a:bodyPr wrap="square" lIns="0" tIns="0" rIns="0" bIns="0" rtlCol="0" anchor="ctr"/>
          <a:lstStyle/>
          <a:p>
            <a:pPr indent="0" marL="0">
              <a:buNone/>
            </a:pPr>
            <a:r>
              <a:rPr lang="en-US" sz="1350" b="1" dirty="0">
                <a:solidFill>
                  <a:srgbClr val="1F1F1F"/>
                </a:solidFill>
                <a:latin typeface="Yu Gothic" pitchFamily="34" charset="0"/>
                <a:ea typeface="Yu Gothic" pitchFamily="34" charset="-122"/>
                <a:cs typeface="Yu Gothic" pitchFamily="34" charset="-120"/>
              </a:rPr>
              <a:t>限られた予算と体制で、何をすれば動くか</a:t>
            </a:r>
            <a:endParaRPr lang="en-US" sz="1350" dirty="0"/>
          </a:p>
        </p:txBody>
      </p:sp>
      <p:sp>
        <p:nvSpPr>
          <p:cNvPr id="27" name="Text 25"/>
          <p:cNvSpPr txBox="1"/>
          <p:nvPr/>
        </p:nvSpPr>
        <p:spPr>
          <a:xfrm>
            <a:off x="9372600" y="3904488"/>
            <a:ext cx="1996135" cy="731520"/>
          </a:xfrm>
          <a:prstGeom prst="rect">
            <a:avLst/>
          </a:prstGeom>
          <a:noFill/>
          <a:ln/>
        </p:spPr>
        <p:txBody>
          <a:bodyPr wrap="square" lIns="0" tIns="0" rIns="0" bIns="0" rtlCol="0" anchor="ctr"/>
          <a:lstStyle/>
          <a:p>
            <a:pPr indent="0" marL="0">
              <a:buNone/>
            </a:pPr>
            <a:r>
              <a:rPr lang="en-US" sz="1150" dirty="0">
                <a:solidFill>
                  <a:srgbClr val="6B6B6B"/>
                </a:solidFill>
                <a:latin typeface="Yu Gothic" pitchFamily="34" charset="0"/>
                <a:ea typeface="Yu Gothic" pitchFamily="34" charset="-122"/>
                <a:cs typeface="Yu Gothic" pitchFamily="34" charset="-120"/>
              </a:rPr>
              <a:t>改善策の優先順位（既存施策の見直しを優先）</a:t>
            </a:r>
            <a:endParaRPr lang="en-US" sz="1150" dirty="0"/>
          </a:p>
        </p:txBody>
      </p:sp>
      <p:sp>
        <p:nvSpPr>
          <p:cNvPr id="28" name="Shape 26"/>
          <p:cNvSpPr/>
          <p:nvPr/>
        </p:nvSpPr>
        <p:spPr>
          <a:xfrm>
            <a:off x="4206240" y="5148072"/>
            <a:ext cx="365760" cy="0"/>
          </a:xfrm>
          <a:prstGeom prst="line">
            <a:avLst/>
          </a:prstGeom>
          <a:noFill/>
          <a:ln w="9525">
            <a:solidFill>
              <a:srgbClr val="1F1F1F"/>
            </a:solidFill>
            <a:prstDash val="solid"/>
          </a:ln>
        </p:spPr>
      </p:sp>
      <p:sp>
        <p:nvSpPr>
          <p:cNvPr id="29" name="Shape 27"/>
          <p:cNvSpPr/>
          <p:nvPr/>
        </p:nvSpPr>
        <p:spPr>
          <a:xfrm>
            <a:off x="4572000" y="4782312"/>
            <a:ext cx="6933895" cy="731520"/>
          </a:xfrm>
          <a:prstGeom prst="rect">
            <a:avLst/>
          </a:prstGeom>
          <a:solidFill>
            <a:srgbClr val="F2F2F0"/>
          </a:solidFill>
          <a:ln w="12700">
            <a:solidFill>
              <a:srgbClr val="F2F2F0"/>
            </a:solidFill>
            <a:prstDash val="solid"/>
          </a:ln>
        </p:spPr>
      </p:sp>
      <p:sp>
        <p:nvSpPr>
          <p:cNvPr id="30" name="Text 28"/>
          <p:cNvSpPr txBox="1"/>
          <p:nvPr/>
        </p:nvSpPr>
        <p:spPr>
          <a:xfrm>
            <a:off x="4800600" y="4782312"/>
            <a:ext cx="1005840" cy="731520"/>
          </a:xfrm>
          <a:prstGeom prst="rect">
            <a:avLst/>
          </a:prstGeom>
          <a:noFill/>
          <a:ln/>
        </p:spPr>
        <p:txBody>
          <a:bodyPr wrap="square" lIns="0" tIns="0" rIns="0" bIns="0" rtlCol="0" anchor="ctr"/>
          <a:lstStyle/>
          <a:p>
            <a:pPr indent="0" marL="0">
              <a:buNone/>
            </a:pPr>
            <a:r>
              <a:rPr lang="en-US" sz="1700" b="1" dirty="0">
                <a:solidFill>
                  <a:srgbClr val="C0462B"/>
                </a:solidFill>
                <a:latin typeface="Yu Mincho" pitchFamily="34" charset="0"/>
                <a:ea typeface="Yu Mincho" pitchFamily="34" charset="-122"/>
                <a:cs typeface="Yu Mincho" pitchFamily="34" charset="-120"/>
              </a:rPr>
              <a:t>どう測る</a:t>
            </a:r>
            <a:endParaRPr lang="en-US" sz="1700" dirty="0"/>
          </a:p>
        </p:txBody>
      </p:sp>
      <p:sp>
        <p:nvSpPr>
          <p:cNvPr id="31" name="Text 29"/>
          <p:cNvSpPr txBox="1"/>
          <p:nvPr/>
        </p:nvSpPr>
        <p:spPr>
          <a:xfrm>
            <a:off x="5852160" y="4782312"/>
            <a:ext cx="3429000" cy="731520"/>
          </a:xfrm>
          <a:prstGeom prst="rect">
            <a:avLst/>
          </a:prstGeom>
          <a:noFill/>
          <a:ln/>
        </p:spPr>
        <p:txBody>
          <a:bodyPr wrap="square" lIns="0" tIns="0" rIns="0" bIns="0" rtlCol="0" anchor="ctr"/>
          <a:lstStyle/>
          <a:p>
            <a:pPr indent="0" marL="0">
              <a:buNone/>
            </a:pPr>
            <a:r>
              <a:rPr lang="en-US" sz="1350" b="1" dirty="0">
                <a:solidFill>
                  <a:srgbClr val="1F1F1F"/>
                </a:solidFill>
                <a:latin typeface="Yu Gothic" pitchFamily="34" charset="0"/>
                <a:ea typeface="Yu Gothic" pitchFamily="34" charset="-122"/>
                <a:cs typeface="Yu Gothic" pitchFamily="34" charset="-120"/>
              </a:rPr>
              <a:t>効いたかどうかを、何で確かめるか</a:t>
            </a:r>
            <a:endParaRPr lang="en-US" sz="1350" dirty="0"/>
          </a:p>
        </p:txBody>
      </p:sp>
      <p:sp>
        <p:nvSpPr>
          <p:cNvPr id="32" name="Text 30"/>
          <p:cNvSpPr txBox="1"/>
          <p:nvPr/>
        </p:nvSpPr>
        <p:spPr>
          <a:xfrm>
            <a:off x="9372600" y="4782312"/>
            <a:ext cx="1996135" cy="731520"/>
          </a:xfrm>
          <a:prstGeom prst="rect">
            <a:avLst/>
          </a:prstGeom>
          <a:noFill/>
          <a:ln/>
        </p:spPr>
        <p:txBody>
          <a:bodyPr wrap="square" lIns="0" tIns="0" rIns="0" bIns="0" rtlCol="0" anchor="ctr"/>
          <a:lstStyle/>
          <a:p>
            <a:pPr indent="0" marL="0">
              <a:buNone/>
            </a:pPr>
            <a:r>
              <a:rPr lang="en-US" sz="1150" dirty="0">
                <a:solidFill>
                  <a:srgbClr val="6B6B6B"/>
                </a:solidFill>
                <a:latin typeface="Yu Gothic" pitchFamily="34" charset="0"/>
                <a:ea typeface="Yu Gothic" pitchFamily="34" charset="-122"/>
                <a:cs typeface="Yu Gothic" pitchFamily="34" charset="-120"/>
              </a:rPr>
              <a:t>次回調査の見方・追加すべき設問</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5</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「低い」かどうかは、何と比べるかを決めてから判断します。</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12月調査の結果が出る前に、結論は出しません。まず判断の物差しを御センターと合意します。</a:t>
            </a:r>
            <a:endParaRPr lang="en-US" sz="1400" dirty="0"/>
          </a:p>
        </p:txBody>
      </p:sp>
      <p:sp>
        <p:nvSpPr>
          <p:cNvPr id="6" name="Shape 4"/>
          <p:cNvSpPr/>
          <p:nvPr/>
        </p:nvSpPr>
        <p:spPr>
          <a:xfrm>
            <a:off x="685800" y="2057400"/>
            <a:ext cx="6949440" cy="0"/>
          </a:xfrm>
          <a:prstGeom prst="line">
            <a:avLst/>
          </a:prstGeom>
          <a:noFill/>
          <a:ln w="9525">
            <a:solidFill>
              <a:srgbClr val="D6D6D3"/>
            </a:solidFill>
            <a:prstDash val="solid"/>
          </a:ln>
        </p:spPr>
      </p:sp>
      <p:sp>
        <p:nvSpPr>
          <p:cNvPr id="7" name="Text 5"/>
          <p:cNvSpPr txBox="1"/>
          <p:nvPr/>
        </p:nvSpPr>
        <p:spPr>
          <a:xfrm>
            <a:off x="685800" y="2221992"/>
            <a:ext cx="2103120" cy="411480"/>
          </a:xfrm>
          <a:prstGeom prst="rect">
            <a:avLst/>
          </a:prstGeom>
          <a:noFill/>
          <a:ln/>
        </p:spPr>
        <p:txBody>
          <a:bodyPr wrap="square" lIns="0" tIns="0" rIns="0" bIns="0" rtlCol="0" anchor="t"/>
          <a:lstStyle/>
          <a:p>
            <a:pPr indent="0" marL="0">
              <a:buNone/>
            </a:pPr>
            <a:r>
              <a:rPr lang="en-US" sz="1700" b="1" dirty="0">
                <a:solidFill>
                  <a:srgbClr val="1F1F1F"/>
                </a:solidFill>
                <a:latin typeface="Yu Mincho" pitchFamily="34" charset="0"/>
                <a:ea typeface="Yu Mincho" pitchFamily="34" charset="-122"/>
                <a:cs typeface="Yu Mincho" pitchFamily="34" charset="-120"/>
              </a:rPr>
              <a:t>過去と比べる</a:t>
            </a:r>
            <a:endParaRPr lang="en-US" sz="1700" dirty="0"/>
          </a:p>
        </p:txBody>
      </p:sp>
      <p:sp>
        <p:nvSpPr>
          <p:cNvPr id="8" name="Text 6"/>
          <p:cNvSpPr txBox="1"/>
          <p:nvPr/>
        </p:nvSpPr>
        <p:spPr>
          <a:xfrm>
            <a:off x="2880360" y="2240280"/>
            <a:ext cx="1737360" cy="548640"/>
          </a:xfrm>
          <a:prstGeom prst="rect">
            <a:avLst/>
          </a:prstGeom>
          <a:noFill/>
          <a:ln/>
        </p:spPr>
        <p:txBody>
          <a:bodyPr wrap="square" lIns="0" tIns="0" rIns="0" bIns="0" rtlCol="0" anchor="t"/>
          <a:lstStyle/>
          <a:p>
            <a:pPr indent="0" marL="0">
              <a:lnSpc>
                <a:spcPct val="125000"/>
              </a:lnSpc>
              <a:buNone/>
            </a:pPr>
            <a:r>
              <a:rPr lang="en-US" sz="1200" b="1" dirty="0">
                <a:solidFill>
                  <a:srgbClr val="C0462B"/>
                </a:solidFill>
                <a:latin typeface="Yu Gothic" pitchFamily="34" charset="0"/>
                <a:ea typeface="Yu Gothic" pitchFamily="34" charset="-122"/>
                <a:cs typeface="Yu Gothic" pitchFamily="34" charset="-120"/>
              </a:rPr>
              <a:t>経年の推移</a:t>
            </a:r>
            <a:endParaRPr lang="en-US" sz="1200" dirty="0"/>
          </a:p>
        </p:txBody>
      </p:sp>
      <p:sp>
        <p:nvSpPr>
          <p:cNvPr id="9" name="Text 7"/>
          <p:cNvSpPr txBox="1"/>
          <p:nvPr/>
        </p:nvSpPr>
        <p:spPr>
          <a:xfrm>
            <a:off x="4663440" y="2240280"/>
            <a:ext cx="2971800" cy="640080"/>
          </a:xfrm>
          <a:prstGeom prst="rect">
            <a:avLst/>
          </a:prstGeom>
          <a:noFill/>
          <a:ln/>
        </p:spPr>
        <p:txBody>
          <a:bodyPr wrap="square" lIns="0" tIns="0" rIns="0" bIns="0" rtlCol="0" anchor="t"/>
          <a:lstStyle/>
          <a:p>
            <a:pPr indent="0" marL="0">
              <a:lnSpc>
                <a:spcPct val="135000"/>
              </a:lnSpc>
              <a:buNone/>
            </a:pPr>
            <a:r>
              <a:rPr lang="en-US" sz="1200" dirty="0">
                <a:solidFill>
                  <a:srgbClr val="6B6B6B"/>
                </a:solidFill>
                <a:latin typeface="Yu Gothic" pitchFamily="34" charset="0"/>
                <a:ea typeface="Yu Gothic" pitchFamily="34" charset="-122"/>
                <a:cs typeface="Yu Gothic" pitchFamily="34" charset="-120"/>
              </a:rPr>
              <a:t>伸びているのか、横ばいか、下がっているのか。調査方法の変更も確認</a:t>
            </a:r>
            <a:endParaRPr lang="en-US" sz="1200" dirty="0"/>
          </a:p>
        </p:txBody>
      </p:sp>
      <p:sp>
        <p:nvSpPr>
          <p:cNvPr id="10" name="Shape 8"/>
          <p:cNvSpPr/>
          <p:nvPr/>
        </p:nvSpPr>
        <p:spPr>
          <a:xfrm>
            <a:off x="685800" y="2926080"/>
            <a:ext cx="6949440" cy="0"/>
          </a:xfrm>
          <a:prstGeom prst="line">
            <a:avLst/>
          </a:prstGeom>
          <a:noFill/>
          <a:ln w="9525">
            <a:solidFill>
              <a:srgbClr val="D6D6D3"/>
            </a:solidFill>
            <a:prstDash val="solid"/>
          </a:ln>
        </p:spPr>
      </p:sp>
      <p:sp>
        <p:nvSpPr>
          <p:cNvPr id="11" name="Text 9"/>
          <p:cNvSpPr txBox="1"/>
          <p:nvPr/>
        </p:nvSpPr>
        <p:spPr>
          <a:xfrm>
            <a:off x="685800" y="3090672"/>
            <a:ext cx="2103120" cy="411480"/>
          </a:xfrm>
          <a:prstGeom prst="rect">
            <a:avLst/>
          </a:prstGeom>
          <a:noFill/>
          <a:ln/>
        </p:spPr>
        <p:txBody>
          <a:bodyPr wrap="square" lIns="0" tIns="0" rIns="0" bIns="0" rtlCol="0" anchor="t"/>
          <a:lstStyle/>
          <a:p>
            <a:pPr indent="0" marL="0">
              <a:buNone/>
            </a:pPr>
            <a:r>
              <a:rPr lang="en-US" sz="1700" b="1" dirty="0">
                <a:solidFill>
                  <a:srgbClr val="1F1F1F"/>
                </a:solidFill>
                <a:latin typeface="Yu Mincho" pitchFamily="34" charset="0"/>
                <a:ea typeface="Yu Mincho" pitchFamily="34" charset="-122"/>
                <a:cs typeface="Yu Mincho" pitchFamily="34" charset="-120"/>
              </a:rPr>
              <a:t>目標と比べる</a:t>
            </a:r>
            <a:endParaRPr lang="en-US" sz="1700" dirty="0"/>
          </a:p>
        </p:txBody>
      </p:sp>
      <p:sp>
        <p:nvSpPr>
          <p:cNvPr id="12" name="Text 10"/>
          <p:cNvSpPr txBox="1"/>
          <p:nvPr/>
        </p:nvSpPr>
        <p:spPr>
          <a:xfrm>
            <a:off x="2880360" y="3108960"/>
            <a:ext cx="1737360" cy="548640"/>
          </a:xfrm>
          <a:prstGeom prst="rect">
            <a:avLst/>
          </a:prstGeom>
          <a:noFill/>
          <a:ln/>
        </p:spPr>
        <p:txBody>
          <a:bodyPr wrap="square" lIns="0" tIns="0" rIns="0" bIns="0" rtlCol="0" anchor="t"/>
          <a:lstStyle/>
          <a:p>
            <a:pPr indent="0" marL="0">
              <a:lnSpc>
                <a:spcPct val="125000"/>
              </a:lnSpc>
              <a:buNone/>
            </a:pPr>
            <a:r>
              <a:rPr lang="en-US" sz="1200" b="1" dirty="0">
                <a:solidFill>
                  <a:srgbClr val="C0462B"/>
                </a:solidFill>
                <a:latin typeface="Yu Gothic" pitchFamily="34" charset="0"/>
                <a:ea typeface="Yu Gothic" pitchFamily="34" charset="-122"/>
                <a:cs typeface="Yu Gothic" pitchFamily="34" charset="-120"/>
              </a:rPr>
              <a:t>計画上の目標値</a:t>
            </a:r>
            <a:endParaRPr lang="en-US" sz="1200" dirty="0"/>
          </a:p>
        </p:txBody>
      </p:sp>
      <p:sp>
        <p:nvSpPr>
          <p:cNvPr id="13" name="Text 11"/>
          <p:cNvSpPr txBox="1"/>
          <p:nvPr/>
        </p:nvSpPr>
        <p:spPr>
          <a:xfrm>
            <a:off x="4663440" y="3108960"/>
            <a:ext cx="2971800" cy="640080"/>
          </a:xfrm>
          <a:prstGeom prst="rect">
            <a:avLst/>
          </a:prstGeom>
          <a:noFill/>
          <a:ln/>
        </p:spPr>
        <p:txBody>
          <a:bodyPr wrap="square" lIns="0" tIns="0" rIns="0" bIns="0" rtlCol="0" anchor="t"/>
          <a:lstStyle/>
          <a:p>
            <a:pPr indent="0" marL="0">
              <a:lnSpc>
                <a:spcPct val="135000"/>
              </a:lnSpc>
              <a:buNone/>
            </a:pPr>
            <a:r>
              <a:rPr lang="en-US" sz="1200" dirty="0">
                <a:solidFill>
                  <a:srgbClr val="6B6B6B"/>
                </a:solidFill>
                <a:latin typeface="Yu Gothic" pitchFamily="34" charset="0"/>
                <a:ea typeface="Yu Gothic" pitchFamily="34" charset="-122"/>
                <a:cs typeface="Yu Gothic" pitchFamily="34" charset="-120"/>
              </a:rPr>
              <a:t>目標があれば、どれだけ差があるか。なければ目標の置き方から提案</a:t>
            </a:r>
            <a:endParaRPr lang="en-US" sz="1200" dirty="0"/>
          </a:p>
        </p:txBody>
      </p:sp>
      <p:sp>
        <p:nvSpPr>
          <p:cNvPr id="14" name="Shape 12"/>
          <p:cNvSpPr/>
          <p:nvPr/>
        </p:nvSpPr>
        <p:spPr>
          <a:xfrm>
            <a:off x="685800" y="3794760"/>
            <a:ext cx="6949440" cy="0"/>
          </a:xfrm>
          <a:prstGeom prst="line">
            <a:avLst/>
          </a:prstGeom>
          <a:noFill/>
          <a:ln w="9525">
            <a:solidFill>
              <a:srgbClr val="D6D6D3"/>
            </a:solidFill>
            <a:prstDash val="solid"/>
          </a:ln>
        </p:spPr>
      </p:sp>
      <p:sp>
        <p:nvSpPr>
          <p:cNvPr id="15" name="Text 13"/>
          <p:cNvSpPr txBox="1"/>
          <p:nvPr/>
        </p:nvSpPr>
        <p:spPr>
          <a:xfrm>
            <a:off x="685800" y="3959352"/>
            <a:ext cx="2103120" cy="411480"/>
          </a:xfrm>
          <a:prstGeom prst="rect">
            <a:avLst/>
          </a:prstGeom>
          <a:noFill/>
          <a:ln/>
        </p:spPr>
        <p:txBody>
          <a:bodyPr wrap="square" lIns="0" tIns="0" rIns="0" bIns="0" rtlCol="0" anchor="t"/>
          <a:lstStyle/>
          <a:p>
            <a:pPr indent="0" marL="0">
              <a:buNone/>
            </a:pPr>
            <a:r>
              <a:rPr lang="en-US" sz="1700" b="1" dirty="0">
                <a:solidFill>
                  <a:srgbClr val="1F1F1F"/>
                </a:solidFill>
                <a:latin typeface="Yu Mincho" pitchFamily="34" charset="0"/>
                <a:ea typeface="Yu Mincho" pitchFamily="34" charset="-122"/>
                <a:cs typeface="Yu Mincho" pitchFamily="34" charset="-120"/>
              </a:rPr>
              <a:t>層で比べる</a:t>
            </a:r>
            <a:endParaRPr lang="en-US" sz="1700" dirty="0"/>
          </a:p>
        </p:txBody>
      </p:sp>
      <p:sp>
        <p:nvSpPr>
          <p:cNvPr id="16" name="Text 14"/>
          <p:cNvSpPr txBox="1"/>
          <p:nvPr/>
        </p:nvSpPr>
        <p:spPr>
          <a:xfrm>
            <a:off x="2880360" y="3977640"/>
            <a:ext cx="1737360" cy="548640"/>
          </a:xfrm>
          <a:prstGeom prst="rect">
            <a:avLst/>
          </a:prstGeom>
          <a:noFill/>
          <a:ln/>
        </p:spPr>
        <p:txBody>
          <a:bodyPr wrap="square" lIns="0" tIns="0" rIns="0" bIns="0" rtlCol="0" anchor="t"/>
          <a:lstStyle/>
          <a:p>
            <a:pPr indent="0" marL="0">
              <a:lnSpc>
                <a:spcPct val="125000"/>
              </a:lnSpc>
              <a:buNone/>
            </a:pPr>
            <a:r>
              <a:rPr lang="en-US" sz="1200" b="1" dirty="0">
                <a:solidFill>
                  <a:srgbClr val="C0462B"/>
                </a:solidFill>
                <a:latin typeface="Yu Gothic" pitchFamily="34" charset="0"/>
                <a:ea typeface="Yu Gothic" pitchFamily="34" charset="-122"/>
                <a:cs typeface="Yu Gothic" pitchFamily="34" charset="-120"/>
              </a:rPr>
              <a:t>年代・性別・地域など</a:t>
            </a:r>
            <a:endParaRPr lang="en-US" sz="1200" dirty="0"/>
          </a:p>
        </p:txBody>
      </p:sp>
      <p:sp>
        <p:nvSpPr>
          <p:cNvPr id="17" name="Text 15"/>
          <p:cNvSpPr txBox="1"/>
          <p:nvPr/>
        </p:nvSpPr>
        <p:spPr>
          <a:xfrm>
            <a:off x="4663440" y="3977640"/>
            <a:ext cx="2971800" cy="640080"/>
          </a:xfrm>
          <a:prstGeom prst="rect">
            <a:avLst/>
          </a:prstGeom>
          <a:noFill/>
          <a:ln/>
        </p:spPr>
        <p:txBody>
          <a:bodyPr wrap="square" lIns="0" tIns="0" rIns="0" bIns="0" rtlCol="0" anchor="t"/>
          <a:lstStyle/>
          <a:p>
            <a:pPr indent="0" marL="0">
              <a:lnSpc>
                <a:spcPct val="135000"/>
              </a:lnSpc>
              <a:buNone/>
            </a:pPr>
            <a:r>
              <a:rPr lang="en-US" sz="1200" dirty="0">
                <a:solidFill>
                  <a:srgbClr val="6B6B6B"/>
                </a:solidFill>
                <a:latin typeface="Yu Gothic" pitchFamily="34" charset="0"/>
                <a:ea typeface="Yu Gothic" pitchFamily="34" charset="-122"/>
                <a:cs typeface="Yu Gothic" pitchFamily="34" charset="-120"/>
              </a:rPr>
              <a:t>全体の平均では見えない、特に低い層があるか</a:t>
            </a:r>
            <a:endParaRPr lang="en-US" sz="1200" dirty="0"/>
          </a:p>
        </p:txBody>
      </p:sp>
      <p:sp>
        <p:nvSpPr>
          <p:cNvPr id="18" name="Shape 16"/>
          <p:cNvSpPr/>
          <p:nvPr/>
        </p:nvSpPr>
        <p:spPr>
          <a:xfrm>
            <a:off x="685800" y="4663440"/>
            <a:ext cx="6949440" cy="0"/>
          </a:xfrm>
          <a:prstGeom prst="line">
            <a:avLst/>
          </a:prstGeom>
          <a:noFill/>
          <a:ln w="9525">
            <a:solidFill>
              <a:srgbClr val="D6D6D3"/>
            </a:solidFill>
            <a:prstDash val="solid"/>
          </a:ln>
        </p:spPr>
      </p:sp>
      <p:sp>
        <p:nvSpPr>
          <p:cNvPr id="19" name="Text 17"/>
          <p:cNvSpPr txBox="1"/>
          <p:nvPr/>
        </p:nvSpPr>
        <p:spPr>
          <a:xfrm>
            <a:off x="685800" y="4828032"/>
            <a:ext cx="2103120" cy="411480"/>
          </a:xfrm>
          <a:prstGeom prst="rect">
            <a:avLst/>
          </a:prstGeom>
          <a:noFill/>
          <a:ln/>
        </p:spPr>
        <p:txBody>
          <a:bodyPr wrap="square" lIns="0" tIns="0" rIns="0" bIns="0" rtlCol="0" anchor="t"/>
          <a:lstStyle/>
          <a:p>
            <a:pPr indent="0" marL="0">
              <a:buNone/>
            </a:pPr>
            <a:r>
              <a:rPr lang="en-US" sz="1700" b="1" dirty="0">
                <a:solidFill>
                  <a:srgbClr val="1F1F1F"/>
                </a:solidFill>
                <a:latin typeface="Yu Mincho" pitchFamily="34" charset="0"/>
                <a:ea typeface="Yu Mincho" pitchFamily="34" charset="-122"/>
                <a:cs typeface="Yu Mincho" pitchFamily="34" charset="-120"/>
              </a:rPr>
              <a:t>必要な人で見る</a:t>
            </a:r>
            <a:endParaRPr lang="en-US" sz="1700" dirty="0"/>
          </a:p>
        </p:txBody>
      </p:sp>
      <p:sp>
        <p:nvSpPr>
          <p:cNvPr id="20" name="Text 18"/>
          <p:cNvSpPr txBox="1"/>
          <p:nvPr/>
        </p:nvSpPr>
        <p:spPr>
          <a:xfrm>
            <a:off x="2880360" y="4846320"/>
            <a:ext cx="1737360" cy="548640"/>
          </a:xfrm>
          <a:prstGeom prst="rect">
            <a:avLst/>
          </a:prstGeom>
          <a:noFill/>
          <a:ln/>
        </p:spPr>
        <p:txBody>
          <a:bodyPr wrap="square" lIns="0" tIns="0" rIns="0" bIns="0" rtlCol="0" anchor="t"/>
          <a:lstStyle/>
          <a:p>
            <a:pPr indent="0" marL="0">
              <a:lnSpc>
                <a:spcPct val="125000"/>
              </a:lnSpc>
              <a:buNone/>
            </a:pPr>
            <a:r>
              <a:rPr lang="en-US" sz="1200" b="1" dirty="0">
                <a:solidFill>
                  <a:srgbClr val="C0462B"/>
                </a:solidFill>
                <a:latin typeface="Yu Gothic" pitchFamily="34" charset="0"/>
                <a:ea typeface="Yu Gothic" pitchFamily="34" charset="-122"/>
                <a:cs typeface="Yu Gothic" pitchFamily="34" charset="-120"/>
              </a:rPr>
              <a:t>支援を必要としやすい層</a:t>
            </a:r>
            <a:endParaRPr lang="en-US" sz="1200" dirty="0"/>
          </a:p>
        </p:txBody>
      </p:sp>
      <p:sp>
        <p:nvSpPr>
          <p:cNvPr id="21" name="Text 19"/>
          <p:cNvSpPr txBox="1"/>
          <p:nvPr/>
        </p:nvSpPr>
        <p:spPr>
          <a:xfrm>
            <a:off x="4663440" y="4846320"/>
            <a:ext cx="2971800" cy="640080"/>
          </a:xfrm>
          <a:prstGeom prst="rect">
            <a:avLst/>
          </a:prstGeom>
          <a:noFill/>
          <a:ln/>
        </p:spPr>
        <p:txBody>
          <a:bodyPr wrap="square" lIns="0" tIns="0" rIns="0" bIns="0" rtlCol="0" anchor="t"/>
          <a:lstStyle/>
          <a:p>
            <a:pPr indent="0" marL="0">
              <a:lnSpc>
                <a:spcPct val="135000"/>
              </a:lnSpc>
              <a:buNone/>
            </a:pPr>
            <a:r>
              <a:rPr lang="en-US" sz="1200" dirty="0">
                <a:solidFill>
                  <a:srgbClr val="6B6B6B"/>
                </a:solidFill>
                <a:latin typeface="Yu Gothic" pitchFamily="34" charset="0"/>
                <a:ea typeface="Yu Gothic" pitchFamily="34" charset="-122"/>
                <a:cs typeface="Yu Gothic" pitchFamily="34" charset="-120"/>
              </a:rPr>
              <a:t>法的支援を必要としやすい人に、届いているかどうか</a:t>
            </a:r>
            <a:endParaRPr lang="en-US" sz="1200" dirty="0"/>
          </a:p>
        </p:txBody>
      </p:sp>
      <p:sp>
        <p:nvSpPr>
          <p:cNvPr id="22" name="Shape 20"/>
          <p:cNvSpPr/>
          <p:nvPr/>
        </p:nvSpPr>
        <p:spPr>
          <a:xfrm>
            <a:off x="685800" y="5532120"/>
            <a:ext cx="6949440" cy="0"/>
          </a:xfrm>
          <a:prstGeom prst="line">
            <a:avLst/>
          </a:prstGeom>
          <a:noFill/>
          <a:ln w="9525">
            <a:solidFill>
              <a:srgbClr val="D6D6D3"/>
            </a:solidFill>
            <a:prstDash val="solid"/>
          </a:ln>
        </p:spPr>
      </p:sp>
      <p:sp>
        <p:nvSpPr>
          <p:cNvPr id="23" name="Shape 21"/>
          <p:cNvSpPr/>
          <p:nvPr/>
        </p:nvSpPr>
        <p:spPr>
          <a:xfrm>
            <a:off x="8229600" y="2057400"/>
            <a:ext cx="3276295" cy="3474720"/>
          </a:xfrm>
          <a:prstGeom prst="rect">
            <a:avLst/>
          </a:prstGeom>
          <a:solidFill>
            <a:srgbClr val="F2F2F0"/>
          </a:solidFill>
          <a:ln w="12700">
            <a:solidFill>
              <a:srgbClr val="F2F2F0"/>
            </a:solidFill>
            <a:prstDash val="solid"/>
          </a:ln>
        </p:spPr>
      </p:sp>
      <p:sp>
        <p:nvSpPr>
          <p:cNvPr id="24" name="Text 22"/>
          <p:cNvSpPr txBox="1"/>
          <p:nvPr/>
        </p:nvSpPr>
        <p:spPr>
          <a:xfrm>
            <a:off x="8503920" y="2240280"/>
            <a:ext cx="2727655" cy="274320"/>
          </a:xfrm>
          <a:prstGeom prst="rect">
            <a:avLst/>
          </a:prstGeom>
          <a:noFill/>
          <a:ln/>
        </p:spPr>
        <p:txBody>
          <a:bodyPr wrap="square" lIns="0" tIns="0" rIns="0" bIns="0" rtlCol="0" anchor="t"/>
          <a:lstStyle/>
          <a:p>
            <a:pPr indent="0" marL="0">
              <a:lnSpc>
                <a:spcPct val="125000"/>
              </a:lnSpc>
              <a:buNone/>
            </a:pPr>
            <a:r>
              <a:rPr lang="en-US" sz="1100" b="1" dirty="0">
                <a:solidFill>
                  <a:srgbClr val="6B6B6B"/>
                </a:solidFill>
                <a:latin typeface="Yu Gothic" pitchFamily="34" charset="0"/>
                <a:ea typeface="Yu Gothic" pitchFamily="34" charset="-122"/>
                <a:cs typeface="Yu Gothic" pitchFamily="34" charset="-120"/>
              </a:rPr>
              <a:t>参考：公表されている過年度の数値</a:t>
            </a:r>
            <a:endParaRPr lang="en-US" sz="1100" dirty="0"/>
          </a:p>
        </p:txBody>
      </p:sp>
      <p:sp>
        <p:nvSpPr>
          <p:cNvPr id="25" name="Text 23"/>
          <p:cNvSpPr txBox="1"/>
          <p:nvPr/>
        </p:nvSpPr>
        <p:spPr>
          <a:xfrm>
            <a:off x="8503920" y="2560320"/>
            <a:ext cx="2727655" cy="274320"/>
          </a:xfrm>
          <a:prstGeom prst="rect">
            <a:avLst/>
          </a:prstGeom>
          <a:noFill/>
          <a:ln/>
        </p:spPr>
        <p:txBody>
          <a:bodyPr wrap="square" lIns="0" tIns="0" rIns="0" bIns="0" rtlCol="0" anchor="t"/>
          <a:lstStyle/>
          <a:p>
            <a:pPr indent="0" marL="0">
              <a:lnSpc>
                <a:spcPct val="125000"/>
              </a:lnSpc>
              <a:buNone/>
            </a:pPr>
            <a:r>
              <a:rPr lang="en-US" sz="1000" dirty="0">
                <a:solidFill>
                  <a:srgbClr val="6B6B6B"/>
                </a:solidFill>
                <a:latin typeface="Yu Gothic" pitchFamily="34" charset="0"/>
                <a:ea typeface="Yu Gothic" pitchFamily="34" charset="-122"/>
                <a:cs typeface="Yu Gothic" pitchFamily="34" charset="-120"/>
              </a:rPr>
              <a:t>令和6年度（法テラス白書 令和6年度版）</a:t>
            </a:r>
            <a:endParaRPr lang="en-US" sz="1000" dirty="0"/>
          </a:p>
        </p:txBody>
      </p:sp>
      <p:sp>
        <p:nvSpPr>
          <p:cNvPr id="26" name="Text 24"/>
          <p:cNvSpPr txBox="1"/>
          <p:nvPr/>
        </p:nvSpPr>
        <p:spPr>
          <a:xfrm>
            <a:off x="8503920" y="3017520"/>
            <a:ext cx="2727655" cy="274320"/>
          </a:xfrm>
          <a:prstGeom prst="rect">
            <a:avLst/>
          </a:prstGeom>
          <a:noFill/>
          <a:ln/>
        </p:spPr>
        <p:txBody>
          <a:bodyPr wrap="square" lIns="0" tIns="0" rIns="0" bIns="0" rtlCol="0" anchor="t"/>
          <a:lstStyle/>
          <a:p>
            <a:pPr indent="0" marL="0">
              <a:lnSpc>
                <a:spcPct val="125000"/>
              </a:lnSpc>
              <a:buNone/>
            </a:pPr>
            <a:r>
              <a:rPr lang="en-US" sz="1100" dirty="0">
                <a:solidFill>
                  <a:srgbClr val="1F1F1F"/>
                </a:solidFill>
                <a:latin typeface="Yu Gothic" pitchFamily="34" charset="0"/>
                <a:ea typeface="Yu Gothic" pitchFamily="34" charset="-122"/>
                <a:cs typeface="Yu Gothic" pitchFamily="34" charset="-120"/>
              </a:rPr>
              <a:t>名前を知っている</a:t>
            </a:r>
            <a:endParaRPr lang="en-US" sz="1100" dirty="0"/>
          </a:p>
        </p:txBody>
      </p:sp>
      <p:sp>
        <p:nvSpPr>
          <p:cNvPr id="27" name="Shape 25"/>
          <p:cNvSpPr/>
          <p:nvPr/>
        </p:nvSpPr>
        <p:spPr>
          <a:xfrm>
            <a:off x="8503920" y="3337560"/>
            <a:ext cx="1813255" cy="274320"/>
          </a:xfrm>
          <a:prstGeom prst="rect">
            <a:avLst/>
          </a:prstGeom>
          <a:solidFill>
            <a:srgbClr val="FFFFFF"/>
          </a:solidFill>
          <a:ln w="12700">
            <a:solidFill>
              <a:srgbClr val="FFFFFF"/>
            </a:solidFill>
            <a:prstDash val="solid"/>
          </a:ln>
        </p:spPr>
      </p:sp>
      <p:sp>
        <p:nvSpPr>
          <p:cNvPr id="28" name="Shape 26"/>
          <p:cNvSpPr/>
          <p:nvPr/>
        </p:nvSpPr>
        <p:spPr>
          <a:xfrm>
            <a:off x="8503920" y="3337560"/>
            <a:ext cx="997290" cy="274320"/>
          </a:xfrm>
          <a:prstGeom prst="rect">
            <a:avLst/>
          </a:prstGeom>
          <a:solidFill>
            <a:srgbClr val="1F1F1F"/>
          </a:solidFill>
          <a:ln w="12700">
            <a:solidFill>
              <a:srgbClr val="1F1F1F"/>
            </a:solidFill>
            <a:prstDash val="solid"/>
          </a:ln>
        </p:spPr>
      </p:sp>
      <p:sp>
        <p:nvSpPr>
          <p:cNvPr id="29" name="Text 27"/>
          <p:cNvSpPr txBox="1"/>
          <p:nvPr/>
        </p:nvSpPr>
        <p:spPr>
          <a:xfrm>
            <a:off x="10390327" y="3291840"/>
            <a:ext cx="914400" cy="365760"/>
          </a:xfrm>
          <a:prstGeom prst="rect">
            <a:avLst/>
          </a:prstGeom>
          <a:noFill/>
          <a:ln/>
        </p:spPr>
        <p:txBody>
          <a:bodyPr wrap="square" lIns="0" tIns="0" rIns="0" bIns="0" rtlCol="0" anchor="ctr"/>
          <a:lstStyle/>
          <a:p>
            <a:pPr indent="0" marL="0">
              <a:buNone/>
            </a:pPr>
            <a:r>
              <a:rPr lang="en-US" sz="1300" b="1" dirty="0">
                <a:solidFill>
                  <a:srgbClr val="1F1F1F"/>
                </a:solidFill>
                <a:latin typeface="Yu Gothic" pitchFamily="34" charset="0"/>
                <a:ea typeface="Yu Gothic" pitchFamily="34" charset="-122"/>
                <a:cs typeface="Yu Gothic" pitchFamily="34" charset="-120"/>
              </a:rPr>
              <a:t>55.0%</a:t>
            </a:r>
            <a:endParaRPr lang="en-US" sz="1300" dirty="0"/>
          </a:p>
        </p:txBody>
      </p:sp>
      <p:sp>
        <p:nvSpPr>
          <p:cNvPr id="30" name="Text 28"/>
          <p:cNvSpPr txBox="1"/>
          <p:nvPr/>
        </p:nvSpPr>
        <p:spPr>
          <a:xfrm>
            <a:off x="8503920" y="3886200"/>
            <a:ext cx="2727655" cy="274320"/>
          </a:xfrm>
          <a:prstGeom prst="rect">
            <a:avLst/>
          </a:prstGeom>
          <a:noFill/>
          <a:ln/>
        </p:spPr>
        <p:txBody>
          <a:bodyPr wrap="square" lIns="0" tIns="0" rIns="0" bIns="0" rtlCol="0" anchor="t"/>
          <a:lstStyle/>
          <a:p>
            <a:pPr indent="0" marL="0">
              <a:lnSpc>
                <a:spcPct val="125000"/>
              </a:lnSpc>
              <a:buNone/>
            </a:pPr>
            <a:r>
              <a:rPr lang="en-US" sz="1100" dirty="0">
                <a:solidFill>
                  <a:srgbClr val="1F1F1F"/>
                </a:solidFill>
                <a:latin typeface="Yu Gothic" pitchFamily="34" charset="0"/>
                <a:ea typeface="Yu Gothic" pitchFamily="34" charset="-122"/>
                <a:cs typeface="Yu Gothic" pitchFamily="34" charset="-120"/>
              </a:rPr>
              <a:t>うち、業務内容まで知っている</a:t>
            </a:r>
            <a:endParaRPr lang="en-US" sz="1100" dirty="0"/>
          </a:p>
        </p:txBody>
      </p:sp>
      <p:sp>
        <p:nvSpPr>
          <p:cNvPr id="31" name="Shape 29"/>
          <p:cNvSpPr/>
          <p:nvPr/>
        </p:nvSpPr>
        <p:spPr>
          <a:xfrm>
            <a:off x="8503920" y="4206240"/>
            <a:ext cx="1813255" cy="274320"/>
          </a:xfrm>
          <a:prstGeom prst="rect">
            <a:avLst/>
          </a:prstGeom>
          <a:solidFill>
            <a:srgbClr val="FFFFFF"/>
          </a:solidFill>
          <a:ln w="12700">
            <a:solidFill>
              <a:srgbClr val="FFFFFF"/>
            </a:solidFill>
            <a:prstDash val="solid"/>
          </a:ln>
        </p:spPr>
      </p:sp>
      <p:sp>
        <p:nvSpPr>
          <p:cNvPr id="32" name="Shape 30"/>
          <p:cNvSpPr/>
          <p:nvPr/>
        </p:nvSpPr>
        <p:spPr>
          <a:xfrm>
            <a:off x="8503920" y="4206240"/>
            <a:ext cx="315506" cy="274320"/>
          </a:xfrm>
          <a:prstGeom prst="rect">
            <a:avLst/>
          </a:prstGeom>
          <a:solidFill>
            <a:srgbClr val="C0462B"/>
          </a:solidFill>
          <a:ln w="12700">
            <a:solidFill>
              <a:srgbClr val="C0462B"/>
            </a:solidFill>
            <a:prstDash val="solid"/>
          </a:ln>
        </p:spPr>
      </p:sp>
      <p:sp>
        <p:nvSpPr>
          <p:cNvPr id="33" name="Text 31"/>
          <p:cNvSpPr txBox="1"/>
          <p:nvPr/>
        </p:nvSpPr>
        <p:spPr>
          <a:xfrm>
            <a:off x="10390327" y="4160520"/>
            <a:ext cx="914400" cy="365760"/>
          </a:xfrm>
          <a:prstGeom prst="rect">
            <a:avLst/>
          </a:prstGeom>
          <a:noFill/>
          <a:ln/>
        </p:spPr>
        <p:txBody>
          <a:bodyPr wrap="square" lIns="0" tIns="0" rIns="0" bIns="0" rtlCol="0" anchor="ctr"/>
          <a:lstStyle/>
          <a:p>
            <a:pPr indent="0" marL="0">
              <a:buNone/>
            </a:pPr>
            <a:r>
              <a:rPr lang="en-US" sz="1300" b="1" dirty="0">
                <a:solidFill>
                  <a:srgbClr val="1F1F1F"/>
                </a:solidFill>
                <a:latin typeface="Yu Gothic" pitchFamily="34" charset="0"/>
                <a:ea typeface="Yu Gothic" pitchFamily="34" charset="-122"/>
                <a:cs typeface="Yu Gothic" pitchFamily="34" charset="-120"/>
              </a:rPr>
              <a:t>17.4%</a:t>
            </a:r>
            <a:endParaRPr lang="en-US" sz="1300" dirty="0"/>
          </a:p>
        </p:txBody>
      </p:sp>
      <p:sp>
        <p:nvSpPr>
          <p:cNvPr id="34" name="Text 32"/>
          <p:cNvSpPr txBox="1"/>
          <p:nvPr/>
        </p:nvSpPr>
        <p:spPr>
          <a:xfrm>
            <a:off x="8503920" y="4754880"/>
            <a:ext cx="2727655" cy="731520"/>
          </a:xfrm>
          <a:prstGeom prst="rect">
            <a:avLst/>
          </a:prstGeom>
          <a:noFill/>
          <a:ln/>
        </p:spPr>
        <p:txBody>
          <a:bodyPr wrap="square" lIns="0" tIns="0" rIns="0" bIns="0" rtlCol="0" anchor="t"/>
          <a:lstStyle/>
          <a:p>
            <a:pPr indent="0" marL="0">
              <a:lnSpc>
                <a:spcPct val="135000"/>
              </a:lnSpc>
              <a:buNone/>
            </a:pPr>
            <a:r>
              <a:rPr lang="en-US" sz="1050" dirty="0">
                <a:solidFill>
                  <a:srgbClr val="6B6B6B"/>
                </a:solidFill>
                <a:latin typeface="Yu Gothic" pitchFamily="34" charset="0"/>
                <a:ea typeface="Yu Gothic" pitchFamily="34" charset="-122"/>
                <a:cs typeface="Yu Gothic" pitchFamily="34" charset="-120"/>
              </a:rPr>
              <a:t>この数字だけでは「低い」とも「高い」とも言えません。今年度の結果を、左の4つの物差しで読み解きます。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6</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考えられる要因を洗い出し、データで一つずつ確かめます。</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以下は結論ではなく、検証する候補です。調査結果と照らして、当てはまるものと当てはまらないものを切り分けます。</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2011680"/>
          <a:ext cx="10820095" cy="914400"/>
        </p:xfrm>
        <a:graphic>
          <a:graphicData uri="http://schemas.openxmlformats.org/drawingml/2006/table">
            <a:tbl>
              <a:tblPr/>
              <a:tblGrid>
                <a:gridCol w="1463040"/>
                <a:gridCol w="4937760"/>
                <a:gridCol w="4416552"/>
              </a:tblGrid>
              <a:tr h="365760">
                <a:tc>
                  <a:txBody>
                    <a:bodyPr/>
                    <a:lstStyle/>
                    <a:p>
                      <a:pPr indent="0" marL="0">
                        <a:buNone/>
                      </a:pPr>
                      <a:r>
                        <a:rPr lang="en-US" sz="1100" b="1" dirty="0">
                          <a:solidFill>
                            <a:srgbClr val="6B6B6B"/>
                          </a:solidFill>
                          <a:latin typeface="Yu Gothic" pitchFamily="34" charset="0"/>
                          <a:ea typeface="Yu Gothic" pitchFamily="34" charset="-122"/>
                          <a:cs typeface="Yu Gothic" pitchFamily="34" charset="-120"/>
                        </a:rPr>
                        <a:t>方向</a:t>
                      </a:r>
                      <a:endParaRPr lang="en-US" sz="1100" dirty="0">
                        <a:latin typeface="Yu Gothic" charset="0"/>
                        <a:ea typeface="Yu Gothic" charset="0"/>
                        <a:cs typeface="Yu Gothic" charset="0"/>
                      </a:endParaRPr>
                    </a:p>
                  </a:txBody>
                  <a:tcPr marL="0" marR="73152" marT="45720" marB="45720">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indent="0" marL="0">
                        <a:buNone/>
                      </a:pPr>
                      <a:r>
                        <a:rPr lang="en-US" sz="1100" b="1" dirty="0">
                          <a:solidFill>
                            <a:srgbClr val="6B6B6B"/>
                          </a:solidFill>
                          <a:latin typeface="Yu Gothic" pitchFamily="34" charset="0"/>
                          <a:ea typeface="Yu Gothic" pitchFamily="34" charset="-122"/>
                          <a:cs typeface="Yu Gothic" pitchFamily="34" charset="-120"/>
                        </a:rPr>
                        <a:t>要因の候補</a:t>
                      </a:r>
                      <a:endParaRPr lang="en-US" sz="1100" dirty="0">
                        <a:latin typeface="Yu Gothic" charset="0"/>
                        <a:ea typeface="Yu Gothic" charset="0"/>
                        <a:cs typeface="Yu Gothic" charset="0"/>
                      </a:endParaRPr>
                    </a:p>
                  </a:txBody>
                  <a:tcPr marL="0" marR="73152" marT="45720" marB="45720">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indent="0" marL="0">
                        <a:buNone/>
                      </a:pPr>
                      <a:r>
                        <a:rPr lang="en-US" sz="1100" b="1" dirty="0">
                          <a:solidFill>
                            <a:srgbClr val="6B6B6B"/>
                          </a:solidFill>
                          <a:latin typeface="Yu Gothic" pitchFamily="34" charset="0"/>
                          <a:ea typeface="Yu Gothic" pitchFamily="34" charset="-122"/>
                          <a:cs typeface="Yu Gothic" pitchFamily="34" charset="-120"/>
                        </a:rPr>
                        <a:t>確かめ方</a:t>
                      </a:r>
                      <a:endParaRPr lang="en-US" sz="1100" dirty="0">
                        <a:latin typeface="Yu Gothic" charset="0"/>
                        <a:ea typeface="Yu Gothic" charset="0"/>
                        <a:cs typeface="Yu Gothic" charset="0"/>
                      </a:endParaRPr>
                    </a:p>
                  </a:txBody>
                  <a:tcPr marL="0" marR="73152" marT="45720" marB="45720">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r>
              <a:tr h="457200">
                <a:tc rowSpan="3">
                  <a:txBody>
                    <a:bodyPr/>
                    <a:lstStyle/>
                    <a:p>
                      <a:pPr indent="0" marL="0">
                        <a:buNone/>
                      </a:pPr>
                      <a:r>
                        <a:rPr lang="en-US" sz="1700" b="1" dirty="0">
                          <a:solidFill>
                            <a:srgbClr val="1F1F1F"/>
                          </a:solidFill>
                          <a:latin typeface="Yu Mincho" pitchFamily="34" charset="0"/>
                          <a:ea typeface="Yu Mincho" pitchFamily="34" charset="-122"/>
                          <a:cs typeface="Yu Mincho" pitchFamily="34" charset="-120"/>
                        </a:rPr>
                        <a:t>広げる</a:t>
                      </a:r>
                      <a:endParaRPr lang="en-US" sz="1700" dirty="0">
                        <a:latin typeface="Yu Mincho" charset="0"/>
                        <a:ea typeface="Yu Mincho" charset="0"/>
                        <a:cs typeface="Yu Mincho"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そもそも接点が足りず、名前に触れていない</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認知経路 × 層別の認知率／広告の配信対象・量</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vMerge="1">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接点はあるが、名前が記憶に残っていない</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広告・発信物の表現の点検／接触と認知の関係</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vMerge="1">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重点とすべき層と、使っている媒体が合っていない</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層別の認知率 × 配信対象・媒体</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r>
              <a:tr h="457200">
                <a:tc rowSpan="4">
                  <a:txBody>
                    <a:bodyPr/>
                    <a:lstStyle/>
                    <a:p>
                      <a:pPr indent="0" marL="0">
                        <a:buNone/>
                      </a:pPr>
                      <a:r>
                        <a:rPr lang="en-US" sz="1700" b="1" dirty="0">
                          <a:solidFill>
                            <a:srgbClr val="C0462B"/>
                          </a:solidFill>
                          <a:latin typeface="Yu Mincho" pitchFamily="34" charset="0"/>
                          <a:ea typeface="Yu Mincho" pitchFamily="34" charset="-122"/>
                          <a:cs typeface="Yu Mincho" pitchFamily="34" charset="-120"/>
                        </a:rPr>
                        <a:t>深める</a:t>
                      </a:r>
                      <a:endParaRPr lang="en-US" sz="1700" dirty="0">
                        <a:latin typeface="Yu Mincho" charset="0"/>
                        <a:ea typeface="Yu Mincho" charset="0"/>
                        <a:cs typeface="Yu Mincho"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名前は知っていても、何をする所か伝わっていない</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名称認知と業務認知の差（層別）</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vMerge="1">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自分に関係のある所だと思われていない</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想起に関する設問の有無・自由回答／職員ヒアリング</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vMerge="1">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利用の条件や窓口がわかりにくい</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公式サイト・LPの導線点検／問い合わせ傾向</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vMerge="1">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周囲の人（家族・支援機関）から紹介されていない</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indent="0" marL="0">
                        <a:buNone/>
                      </a:pPr>
                      <a:r>
                        <a:rPr lang="en-US" sz="1200" dirty="0">
                          <a:solidFill>
                            <a:srgbClr val="1F1F1F"/>
                          </a:solidFill>
                          <a:latin typeface="Yu Gothic" pitchFamily="34" charset="0"/>
                          <a:ea typeface="Yu Gothic" pitchFamily="34" charset="-122"/>
                          <a:cs typeface="Yu Gothic" pitchFamily="34" charset="-120"/>
                        </a:rPr>
                        <a:t>認知経路の内訳／関係機関向け発信の点検</a:t>
                      </a:r>
                      <a:endParaRPr lang="en-US" sz="1200" dirty="0">
                        <a:latin typeface="Yu Gothic" charset="0"/>
                        <a:ea typeface="Yu Gothic" charset="0"/>
                        <a:cs typeface="Yu Gothic"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r>
            </a:tbl>
          </a:graphicData>
        </a:graphic>
      </p:graphicFrame>
      <p:sp>
        <p:nvSpPr>
          <p:cNvPr id="7" name="Text 4"/>
          <p:cNvSpPr txBox="1"/>
          <p:nvPr/>
        </p:nvSpPr>
        <p:spPr>
          <a:xfrm>
            <a:off x="685800" y="5760720"/>
            <a:ext cx="10515600" cy="274320"/>
          </a:xfrm>
          <a:prstGeom prst="rect">
            <a:avLst/>
          </a:prstGeom>
          <a:noFill/>
          <a:ln/>
        </p:spPr>
        <p:txBody>
          <a:bodyPr wrap="square" lIns="0" tIns="0" rIns="0" bIns="0" rtlCol="0" anchor="t"/>
          <a:lstStyle/>
          <a:p>
            <a:pPr indent="0" marL="0">
              <a:lnSpc>
                <a:spcPct val="125000"/>
              </a:lnSpc>
              <a:buNone/>
            </a:pPr>
            <a:r>
              <a:rPr lang="en-US" sz="1050" dirty="0">
                <a:solidFill>
                  <a:srgbClr val="6B6B6B"/>
                </a:solidFill>
                <a:latin typeface="Yu Gothic" pitchFamily="34" charset="0"/>
                <a:ea typeface="Yu Gothic" pitchFamily="34" charset="-122"/>
                <a:cs typeface="Yu Gothic" pitchFamily="34" charset="-120"/>
              </a:rPr>
              <a:t>※ 今の調査票で確かめられない要因は、推測で結論づけず、次回調査への追加設問として提案します。</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7</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調査の数字だけで、原因を決めつけません。</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数字・発信物・現場の声の3つを突き合わせて、「なぜ」を掘り下げます。</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2011680"/>
          <a:ext cx="10820095" cy="914400"/>
        </p:xfrm>
        <a:graphic>
          <a:graphicData uri="http://schemas.openxmlformats.org/drawingml/2006/table">
            <a:tbl>
              <a:tblPr/>
              <a:tblGrid>
                <a:gridCol w="2651760"/>
                <a:gridCol w="5120640"/>
                <a:gridCol w="3044952"/>
              </a:tblGrid>
              <a:tr h="411480">
                <a:tc>
                  <a:txBody>
                    <a:bodyPr/>
                    <a:lstStyle/>
                    <a:p>
                      <a:pPr indent="0" marL="0">
                        <a:buNone/>
                      </a:pPr>
                      <a:r>
                        <a:rPr lang="en-US" sz="1200" b="1" dirty="0">
                          <a:solidFill>
                            <a:srgbClr val="6B6B6B"/>
                          </a:solidFill>
                          <a:latin typeface="Yu Gothic" pitchFamily="34" charset="0"/>
                          <a:ea typeface="Yu Gothic" pitchFamily="34" charset="-122"/>
                          <a:cs typeface="Yu Gothic" pitchFamily="34" charset="-120"/>
                        </a:rPr>
                        <a:t>材料</a:t>
                      </a:r>
                      <a:endParaRPr lang="en-US" sz="1200" dirty="0">
                        <a:latin typeface="Yu Gothic" charset="0"/>
                        <a:ea typeface="Yu Gothic" charset="0"/>
                        <a:cs typeface="Yu Gothic" charset="0"/>
                      </a:endParaRPr>
                    </a:p>
                  </a:txBody>
                  <a:tcPr marL="0" marR="91440" marT="73152" marB="73152">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solidFill>
                      <a:srgbClr val="FFFFFF"/>
                    </a:solidFill>
                  </a:tcPr>
                </a:tc>
                <a:tc>
                  <a:txBody>
                    <a:bodyPr/>
                    <a:lstStyle/>
                    <a:p>
                      <a:pPr indent="0" marL="0">
                        <a:buNone/>
                      </a:pPr>
                      <a:r>
                        <a:rPr lang="en-US" sz="1200" b="1" dirty="0">
                          <a:solidFill>
                            <a:srgbClr val="6B6B6B"/>
                          </a:solidFill>
                          <a:latin typeface="Yu Gothic" pitchFamily="34" charset="0"/>
                          <a:ea typeface="Yu Gothic" pitchFamily="34" charset="-122"/>
                          <a:cs typeface="Yu Gothic" pitchFamily="34" charset="-120"/>
                        </a:rPr>
                        <a:t>見ること</a:t>
                      </a:r>
                      <a:endParaRPr lang="en-US" sz="1200" dirty="0">
                        <a:latin typeface="Yu Gothic" charset="0"/>
                        <a:ea typeface="Yu Gothic" charset="0"/>
                        <a:cs typeface="Yu Gothic" charset="0"/>
                      </a:endParaRPr>
                    </a:p>
                  </a:txBody>
                  <a:tcPr marL="0" marR="91440" marT="73152" marB="73152">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solidFill>
                      <a:srgbClr val="FFFFFF"/>
                    </a:solidFill>
                  </a:tcPr>
                </a:tc>
                <a:tc>
                  <a:txBody>
                    <a:bodyPr/>
                    <a:lstStyle/>
                    <a:p>
                      <a:pPr indent="0" marL="0">
                        <a:buNone/>
                      </a:pPr>
                      <a:r>
                        <a:rPr lang="en-US" sz="1200" b="1" dirty="0">
                          <a:solidFill>
                            <a:srgbClr val="6B6B6B"/>
                          </a:solidFill>
                          <a:latin typeface="Yu Gothic" pitchFamily="34" charset="0"/>
                          <a:ea typeface="Yu Gothic" pitchFamily="34" charset="-122"/>
                          <a:cs typeface="Yu Gothic" pitchFamily="34" charset="-120"/>
                        </a:rPr>
                        <a:t>そこからわかること</a:t>
                      </a:r>
                      <a:endParaRPr lang="en-US" sz="1200" dirty="0">
                        <a:latin typeface="Yu Gothic" charset="0"/>
                        <a:ea typeface="Yu Gothic" charset="0"/>
                        <a:cs typeface="Yu Gothic" charset="0"/>
                      </a:endParaRPr>
                    </a:p>
                  </a:txBody>
                  <a:tcPr marL="0" marR="91440" marT="73152" marB="73152">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solidFill>
                      <a:srgbClr val="FFFFFF"/>
                    </a:solidFill>
                  </a:tcPr>
                </a:tc>
              </a:tr>
              <a:tr h="960120">
                <a:tc>
                  <a:txBody>
                    <a:bodyPr/>
                    <a:lstStyle/>
                    <a:p>
                      <a:pPr indent="0" marL="0">
                        <a:buNone/>
                      </a:pPr>
                      <a:r>
                        <a:rPr lang="en-US" sz="1600" b="1" dirty="0">
                          <a:solidFill>
                            <a:srgbClr val="1F1F1F"/>
                          </a:solidFill>
                          <a:latin typeface="Yu Mincho" pitchFamily="34" charset="0"/>
                          <a:ea typeface="Yu Mincho" pitchFamily="34" charset="-122"/>
                          <a:cs typeface="Yu Mincho" pitchFamily="34" charset="-120"/>
                        </a:rPr>
                        <a:t>認知度調査</a:t>
                      </a:r>
                      <a:endParaRPr lang="en-US" sz="1600" dirty="0">
                        <a:latin typeface="Yu Mincho" charset="0"/>
                        <a:ea typeface="Yu Mincho" charset="0"/>
                        <a:cs typeface="Yu Mincho"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12月調査と、比較できる過去2回分程度。年代・性別・地域・どこで知ったか、で比べる</a:t>
                      </a:r>
                      <a:endParaRPr lang="en-US" sz="1300" dirty="0">
                        <a:latin typeface="Yu Gothic" charset="0"/>
                        <a:ea typeface="Yu Gothic" charset="0"/>
                        <a:cs typeface="Yu Gothic"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どの層の、どの段階で止まっているか</a:t>
                      </a:r>
                      <a:endParaRPr lang="en-US" sz="1300" dirty="0">
                        <a:latin typeface="Yu Gothic" charset="0"/>
                        <a:ea typeface="Yu Gothic" charset="0"/>
                        <a:cs typeface="Yu Gothic"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960120">
                <a:tc>
                  <a:txBody>
                    <a:bodyPr/>
                    <a:lstStyle/>
                    <a:p>
                      <a:pPr indent="0" marL="0">
                        <a:buNone/>
                      </a:pPr>
                      <a:r>
                        <a:rPr lang="en-US" sz="1600" b="1" dirty="0">
                          <a:solidFill>
                            <a:srgbClr val="1F1F1F"/>
                          </a:solidFill>
                          <a:latin typeface="Yu Mincho" pitchFamily="34" charset="0"/>
                          <a:ea typeface="Yu Mincho" pitchFamily="34" charset="-122"/>
                          <a:cs typeface="Yu Mincho" pitchFamily="34" charset="-120"/>
                        </a:rPr>
                        <a:t>いま出している情報</a:t>
                      </a:r>
                      <a:endParaRPr lang="en-US" sz="1600" dirty="0">
                        <a:latin typeface="Yu Mincho" charset="0"/>
                        <a:ea typeface="Yu Mincho" charset="0"/>
                        <a:cs typeface="Yu Mincho"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ネット広告、LP、SNS、公式サイト、刊行物など代表的なもの20点ほど。言葉・順番・クリック後の流れを点検</a:t>
                      </a:r>
                      <a:endParaRPr lang="en-US" sz="1300" dirty="0">
                        <a:latin typeface="Yu Gothic" charset="0"/>
                        <a:ea typeface="Yu Gothic" charset="0"/>
                        <a:cs typeface="Yu Gothic"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伝わりにくい言い回しや、誤解されやすい入口</a:t>
                      </a:r>
                      <a:endParaRPr lang="en-US" sz="1300" dirty="0">
                        <a:latin typeface="Yu Gothic" charset="0"/>
                        <a:ea typeface="Yu Gothic" charset="0"/>
                        <a:cs typeface="Yu Gothic"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960120">
                <a:tc>
                  <a:txBody>
                    <a:bodyPr/>
                    <a:lstStyle/>
                    <a:p>
                      <a:pPr indent="0" marL="0">
                        <a:buNone/>
                      </a:pPr>
                      <a:r>
                        <a:rPr lang="en-US" sz="1600" b="1" dirty="0">
                          <a:solidFill>
                            <a:srgbClr val="1F1F1F"/>
                          </a:solidFill>
                          <a:latin typeface="Yu Mincho" pitchFamily="34" charset="0"/>
                          <a:ea typeface="Yu Mincho" pitchFamily="34" charset="-122"/>
                          <a:cs typeface="Yu Mincho" pitchFamily="34" charset="-120"/>
                        </a:rPr>
                        <a:t>職員の方のお話</a:t>
                      </a:r>
                      <a:endParaRPr lang="en-US" sz="1600" dirty="0">
                        <a:latin typeface="Yu Mincho" charset="0"/>
                        <a:ea typeface="Yu Mincho" charset="0"/>
                        <a:cs typeface="Yu Mincho"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広報ご担当・関係部署の方に45分×2回ほどヒアリング</a:t>
                      </a:r>
                      <a:endParaRPr lang="en-US" sz="1300" dirty="0">
                        <a:latin typeface="Yu Gothic" charset="0"/>
                        <a:ea typeface="Yu Gothic" charset="0"/>
                        <a:cs typeface="Yu Gothic"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実際にできること・できないこと、利用者がつまずく所</a:t>
                      </a:r>
                      <a:endParaRPr lang="en-US" sz="1300" dirty="0">
                        <a:latin typeface="Yu Gothic" charset="0"/>
                        <a:ea typeface="Yu Gothic" charset="0"/>
                        <a:cs typeface="Yu Gothic" charset="0"/>
                      </a:endParaRPr>
                    </a:p>
                  </a:txBody>
                  <a:tcPr marL="0" marR="91440" marT="164592" marB="164592" anchor="t">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bl>
          </a:graphicData>
        </a:graphic>
      </p:graphicFrame>
      <p:sp>
        <p:nvSpPr>
          <p:cNvPr id="7" name="Text 4"/>
          <p:cNvSpPr txBox="1"/>
          <p:nvPr/>
        </p:nvSpPr>
        <p:spPr>
          <a:xfrm>
            <a:off x="685800" y="5577840"/>
            <a:ext cx="10515600" cy="365760"/>
          </a:xfrm>
          <a:prstGeom prst="rect">
            <a:avLst/>
          </a:prstGeom>
          <a:noFill/>
          <a:ln/>
        </p:spPr>
        <p:txBody>
          <a:bodyPr wrap="square" lIns="0" tIns="0" rIns="0" bIns="0" rtlCol="0" anchor="t"/>
          <a:lstStyle/>
          <a:p>
            <a:pP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提言はすべて「確認できた事実 → 私たちの解釈 → 打ち手 → 次に確かめること」の順で書きます。</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8</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打ち手は、効果と実行しやすさで優先順位をつけます。</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改善案を並べるだけでは、実行する側が選べません。同じ物差しで評価して、優先順位までお渡しします。</a:t>
            </a:r>
            <a:endParaRPr lang="en-US" sz="1400" dirty="0"/>
          </a:p>
        </p:txBody>
      </p:sp>
      <p:sp>
        <p:nvSpPr>
          <p:cNvPr id="6" name="Shape 4"/>
          <p:cNvSpPr/>
          <p:nvPr/>
        </p:nvSpPr>
        <p:spPr>
          <a:xfrm>
            <a:off x="1143000" y="2103120"/>
            <a:ext cx="2743200" cy="1783080"/>
          </a:xfrm>
          <a:prstGeom prst="rect">
            <a:avLst/>
          </a:prstGeom>
          <a:solidFill>
            <a:srgbClr val="F2F2F0"/>
          </a:solidFill>
          <a:ln w="9525">
            <a:solidFill>
              <a:srgbClr val="D6D6D3"/>
            </a:solidFill>
            <a:prstDash val="solid"/>
          </a:ln>
        </p:spPr>
      </p:sp>
      <p:sp>
        <p:nvSpPr>
          <p:cNvPr id="7" name="Text 5"/>
          <p:cNvSpPr txBox="1"/>
          <p:nvPr/>
        </p:nvSpPr>
        <p:spPr>
          <a:xfrm>
            <a:off x="1371600" y="2377440"/>
            <a:ext cx="2286000" cy="36576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Mincho" pitchFamily="34" charset="0"/>
                <a:ea typeface="Yu Mincho" pitchFamily="34" charset="-122"/>
                <a:cs typeface="Yu Mincho" pitchFamily="34" charset="-120"/>
              </a:rPr>
              <a:t>準備して中期で実行</a:t>
            </a:r>
            <a:endParaRPr lang="en-US" sz="1500" dirty="0"/>
          </a:p>
        </p:txBody>
      </p:sp>
      <p:sp>
        <p:nvSpPr>
          <p:cNvPr id="8" name="Text 6"/>
          <p:cNvSpPr txBox="1"/>
          <p:nvPr/>
        </p:nvSpPr>
        <p:spPr>
          <a:xfrm>
            <a:off x="1371600" y="2834640"/>
            <a:ext cx="2286000" cy="640080"/>
          </a:xfrm>
          <a:prstGeom prst="rect">
            <a:avLst/>
          </a:prstGeom>
          <a:noFill/>
          <a:ln/>
        </p:spPr>
        <p:txBody>
          <a:bodyPr wrap="square" lIns="0" tIns="0" rIns="0" bIns="0" rtlCol="0" anchor="t"/>
          <a:lstStyle/>
          <a:p>
            <a:pPr indent="0" marL="0">
              <a:lnSpc>
                <a:spcPct val="130000"/>
              </a:lnSpc>
              <a:buNone/>
            </a:pPr>
            <a:r>
              <a:rPr lang="en-US" sz="1150" dirty="0">
                <a:solidFill>
                  <a:srgbClr val="6B6B6B"/>
                </a:solidFill>
                <a:latin typeface="Yu Gothic" pitchFamily="34" charset="0"/>
                <a:ea typeface="Yu Gothic" pitchFamily="34" charset="-122"/>
                <a:cs typeface="Yu Gothic" pitchFamily="34" charset="-120"/>
              </a:rPr>
              <a:t>効果は大きいが、予算や調整が必要</a:t>
            </a:r>
            <a:endParaRPr lang="en-US" sz="1150" dirty="0"/>
          </a:p>
        </p:txBody>
      </p:sp>
      <p:sp>
        <p:nvSpPr>
          <p:cNvPr id="9" name="Shape 7"/>
          <p:cNvSpPr/>
          <p:nvPr/>
        </p:nvSpPr>
        <p:spPr>
          <a:xfrm>
            <a:off x="3886200" y="2103120"/>
            <a:ext cx="2743200" cy="1783080"/>
          </a:xfrm>
          <a:prstGeom prst="rect">
            <a:avLst/>
          </a:prstGeom>
          <a:solidFill>
            <a:srgbClr val="C0462B"/>
          </a:solidFill>
          <a:ln w="9525">
            <a:solidFill>
              <a:srgbClr val="D6D6D3"/>
            </a:solidFill>
            <a:prstDash val="solid"/>
          </a:ln>
        </p:spPr>
      </p:sp>
      <p:sp>
        <p:nvSpPr>
          <p:cNvPr id="10" name="Text 8"/>
          <p:cNvSpPr txBox="1"/>
          <p:nvPr/>
        </p:nvSpPr>
        <p:spPr>
          <a:xfrm>
            <a:off x="4114800" y="2377440"/>
            <a:ext cx="2286000" cy="365760"/>
          </a:xfrm>
          <a:prstGeom prst="rect">
            <a:avLst/>
          </a:prstGeom>
          <a:noFill/>
          <a:ln/>
        </p:spPr>
        <p:txBody>
          <a:bodyPr wrap="square" lIns="0" tIns="0" rIns="0" bIns="0" rtlCol="0" anchor="t"/>
          <a:lstStyle/>
          <a:p>
            <a:pPr indent="0" marL="0">
              <a:lnSpc>
                <a:spcPct val="125000"/>
              </a:lnSpc>
              <a:buNone/>
            </a:pPr>
            <a:r>
              <a:rPr lang="en-US" sz="1500" b="1" dirty="0">
                <a:solidFill>
                  <a:srgbClr val="FFFFFF"/>
                </a:solidFill>
                <a:latin typeface="Yu Mincho" pitchFamily="34" charset="0"/>
                <a:ea typeface="Yu Mincho" pitchFamily="34" charset="-122"/>
                <a:cs typeface="Yu Mincho" pitchFamily="34" charset="-120"/>
              </a:rPr>
              <a:t>優先して着手</a:t>
            </a:r>
            <a:endParaRPr lang="en-US" sz="1500" dirty="0"/>
          </a:p>
        </p:txBody>
      </p:sp>
      <p:sp>
        <p:nvSpPr>
          <p:cNvPr id="11" name="Text 9"/>
          <p:cNvSpPr txBox="1"/>
          <p:nvPr/>
        </p:nvSpPr>
        <p:spPr>
          <a:xfrm>
            <a:off x="4114800" y="2834640"/>
            <a:ext cx="2286000" cy="640080"/>
          </a:xfrm>
          <a:prstGeom prst="rect">
            <a:avLst/>
          </a:prstGeom>
          <a:noFill/>
          <a:ln/>
        </p:spPr>
        <p:txBody>
          <a:bodyPr wrap="square" lIns="0" tIns="0" rIns="0" bIns="0" rtlCol="0" anchor="t"/>
          <a:lstStyle/>
          <a:p>
            <a:pPr indent="0" marL="0">
              <a:lnSpc>
                <a:spcPct val="130000"/>
              </a:lnSpc>
              <a:buNone/>
            </a:pPr>
            <a:r>
              <a:rPr lang="en-US" sz="1150" dirty="0">
                <a:solidFill>
                  <a:srgbClr val="FFFFFF"/>
                </a:solidFill>
                <a:latin typeface="Yu Gothic" pitchFamily="34" charset="0"/>
                <a:ea typeface="Yu Gothic" pitchFamily="34" charset="-122"/>
                <a:cs typeface="Yu Gothic" pitchFamily="34" charset="-120"/>
              </a:rPr>
              <a:t>効果が大きく、今の体制で動ける</a:t>
            </a:r>
            <a:endParaRPr lang="en-US" sz="1150" dirty="0"/>
          </a:p>
        </p:txBody>
      </p:sp>
      <p:sp>
        <p:nvSpPr>
          <p:cNvPr id="12" name="Shape 10"/>
          <p:cNvSpPr/>
          <p:nvPr/>
        </p:nvSpPr>
        <p:spPr>
          <a:xfrm>
            <a:off x="1143000" y="3886200"/>
            <a:ext cx="2743200" cy="1783080"/>
          </a:xfrm>
          <a:prstGeom prst="rect">
            <a:avLst/>
          </a:prstGeom>
          <a:solidFill>
            <a:srgbClr val="FFFFFF"/>
          </a:solidFill>
          <a:ln w="9525">
            <a:solidFill>
              <a:srgbClr val="D6D6D3"/>
            </a:solidFill>
            <a:prstDash val="solid"/>
          </a:ln>
        </p:spPr>
      </p:sp>
      <p:sp>
        <p:nvSpPr>
          <p:cNvPr id="13" name="Text 11"/>
          <p:cNvSpPr txBox="1"/>
          <p:nvPr/>
        </p:nvSpPr>
        <p:spPr>
          <a:xfrm>
            <a:off x="1371600" y="4160520"/>
            <a:ext cx="2286000" cy="365760"/>
          </a:xfrm>
          <a:prstGeom prst="rect">
            <a:avLst/>
          </a:prstGeom>
          <a:noFill/>
          <a:ln/>
        </p:spPr>
        <p:txBody>
          <a:bodyPr wrap="square" lIns="0" tIns="0" rIns="0" bIns="0" rtlCol="0" anchor="t"/>
          <a:lstStyle/>
          <a:p>
            <a:pPr indent="0" marL="0">
              <a:lnSpc>
                <a:spcPct val="125000"/>
              </a:lnSpc>
              <a:buNone/>
            </a:pPr>
            <a:r>
              <a:rPr lang="en-US" sz="1500" b="1" dirty="0">
                <a:solidFill>
                  <a:srgbClr val="6B6B6B"/>
                </a:solidFill>
                <a:latin typeface="Yu Mincho" pitchFamily="34" charset="0"/>
                <a:ea typeface="Yu Mincho" pitchFamily="34" charset="-122"/>
                <a:cs typeface="Yu Mincho" pitchFamily="34" charset="-120"/>
              </a:rPr>
              <a:t>見送り・再検討</a:t>
            </a:r>
            <a:endParaRPr lang="en-US" sz="1500" dirty="0"/>
          </a:p>
        </p:txBody>
      </p:sp>
      <p:sp>
        <p:nvSpPr>
          <p:cNvPr id="14" name="Text 12"/>
          <p:cNvSpPr txBox="1"/>
          <p:nvPr/>
        </p:nvSpPr>
        <p:spPr>
          <a:xfrm>
            <a:off x="1371600" y="4617720"/>
            <a:ext cx="2286000" cy="640080"/>
          </a:xfrm>
          <a:prstGeom prst="rect">
            <a:avLst/>
          </a:prstGeom>
          <a:noFill/>
          <a:ln/>
        </p:spPr>
        <p:txBody>
          <a:bodyPr wrap="square" lIns="0" tIns="0" rIns="0" bIns="0" rtlCol="0" anchor="t"/>
          <a:lstStyle/>
          <a:p>
            <a:pPr indent="0" marL="0">
              <a:lnSpc>
                <a:spcPct val="130000"/>
              </a:lnSpc>
              <a:buNone/>
            </a:pPr>
            <a:r>
              <a:rPr lang="en-US" sz="1150" dirty="0">
                <a:solidFill>
                  <a:srgbClr val="6B6B6B"/>
                </a:solidFill>
                <a:latin typeface="Yu Gothic" pitchFamily="34" charset="0"/>
                <a:ea typeface="Yu Gothic" pitchFamily="34" charset="-122"/>
                <a:cs typeface="Yu Gothic" pitchFamily="34" charset="-120"/>
              </a:rPr>
              <a:t>効果が小さく、手間もかかる</a:t>
            </a:r>
            <a:endParaRPr lang="en-US" sz="1150" dirty="0"/>
          </a:p>
        </p:txBody>
      </p:sp>
      <p:sp>
        <p:nvSpPr>
          <p:cNvPr id="15" name="Shape 13"/>
          <p:cNvSpPr/>
          <p:nvPr/>
        </p:nvSpPr>
        <p:spPr>
          <a:xfrm>
            <a:off x="3886200" y="3886200"/>
            <a:ext cx="2743200" cy="1783080"/>
          </a:xfrm>
          <a:prstGeom prst="rect">
            <a:avLst/>
          </a:prstGeom>
          <a:solidFill>
            <a:srgbClr val="F2F2F0"/>
          </a:solidFill>
          <a:ln w="9525">
            <a:solidFill>
              <a:srgbClr val="D6D6D3"/>
            </a:solidFill>
            <a:prstDash val="solid"/>
          </a:ln>
        </p:spPr>
      </p:sp>
      <p:sp>
        <p:nvSpPr>
          <p:cNvPr id="16" name="Text 14"/>
          <p:cNvSpPr txBox="1"/>
          <p:nvPr/>
        </p:nvSpPr>
        <p:spPr>
          <a:xfrm>
            <a:off x="4114800" y="4160520"/>
            <a:ext cx="2286000" cy="36576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Mincho" pitchFamily="34" charset="0"/>
                <a:ea typeface="Yu Mincho" pitchFamily="34" charset="-122"/>
                <a:cs typeface="Yu Mincho" pitchFamily="34" charset="-120"/>
              </a:rPr>
              <a:t>すぐできる小さな改善</a:t>
            </a:r>
            <a:endParaRPr lang="en-US" sz="1500" dirty="0"/>
          </a:p>
        </p:txBody>
      </p:sp>
      <p:sp>
        <p:nvSpPr>
          <p:cNvPr id="17" name="Text 15"/>
          <p:cNvSpPr txBox="1"/>
          <p:nvPr/>
        </p:nvSpPr>
        <p:spPr>
          <a:xfrm>
            <a:off x="4114800" y="4617720"/>
            <a:ext cx="2286000" cy="640080"/>
          </a:xfrm>
          <a:prstGeom prst="rect">
            <a:avLst/>
          </a:prstGeom>
          <a:noFill/>
          <a:ln/>
        </p:spPr>
        <p:txBody>
          <a:bodyPr wrap="square" lIns="0" tIns="0" rIns="0" bIns="0" rtlCol="0" anchor="t"/>
          <a:lstStyle/>
          <a:p>
            <a:pPr indent="0" marL="0">
              <a:lnSpc>
                <a:spcPct val="130000"/>
              </a:lnSpc>
              <a:buNone/>
            </a:pPr>
            <a:r>
              <a:rPr lang="en-US" sz="1150" dirty="0">
                <a:solidFill>
                  <a:srgbClr val="6B6B6B"/>
                </a:solidFill>
                <a:latin typeface="Yu Gothic" pitchFamily="34" charset="0"/>
                <a:ea typeface="Yu Gothic" pitchFamily="34" charset="-122"/>
                <a:cs typeface="Yu Gothic" pitchFamily="34" charset="-120"/>
              </a:rPr>
              <a:t>効果は限定的だが、すぐ直せる</a:t>
            </a:r>
            <a:endParaRPr lang="en-US" sz="1150" dirty="0"/>
          </a:p>
        </p:txBody>
      </p:sp>
      <p:sp>
        <p:nvSpPr>
          <p:cNvPr id="18" name="Text 16"/>
          <p:cNvSpPr txBox="1"/>
          <p:nvPr/>
        </p:nvSpPr>
        <p:spPr>
          <a:xfrm>
            <a:off x="502920" y="2103120"/>
            <a:ext cx="548640" cy="1783080"/>
          </a:xfrm>
          <a:prstGeom prst="rect">
            <a:avLst/>
          </a:prstGeom>
          <a:noFill/>
          <a:ln/>
        </p:spPr>
        <p:txBody>
          <a:bodyPr wrap="square" lIns="0" tIns="0" rIns="0" bIns="0" rtlCol="0" anchor="ctr"/>
          <a:lstStyle/>
          <a:p>
            <a:pPr algn="ctr" indent="0" marL="0">
              <a:buNone/>
            </a:pPr>
            <a:r>
              <a:rPr lang="en-US" sz="1100" dirty="0">
                <a:solidFill>
                  <a:srgbClr val="6B6B6B"/>
                </a:solidFill>
                <a:latin typeface="Yu Gothic" pitchFamily="34" charset="0"/>
                <a:ea typeface="Yu Gothic" pitchFamily="34" charset="-122"/>
                <a:cs typeface="Yu Gothic" pitchFamily="34" charset="-120"/>
              </a:rPr>
              <a:t>効果</a:t>
            </a:r>
            <a:endParaRPr lang="en-US" sz="1100" dirty="0"/>
          </a:p>
          <a:p>
            <a:pPr algn="ctr" indent="0" marL="0">
              <a:buNone/>
            </a:pPr>
            <a:r>
              <a:rPr lang="en-US" sz="1100" dirty="0">
                <a:solidFill>
                  <a:srgbClr val="6B6B6B"/>
                </a:solidFill>
                <a:latin typeface="Yu Gothic" pitchFamily="34" charset="0"/>
                <a:ea typeface="Yu Gothic" pitchFamily="34" charset="-122"/>
                <a:cs typeface="Yu Gothic" pitchFamily="34" charset="-120"/>
              </a:rPr>
              <a:t>大</a:t>
            </a:r>
            <a:endParaRPr lang="en-US" sz="1100" dirty="0"/>
          </a:p>
        </p:txBody>
      </p:sp>
      <p:sp>
        <p:nvSpPr>
          <p:cNvPr id="19" name="Text 17"/>
          <p:cNvSpPr txBox="1"/>
          <p:nvPr/>
        </p:nvSpPr>
        <p:spPr>
          <a:xfrm>
            <a:off x="502920" y="3886200"/>
            <a:ext cx="548640" cy="1783080"/>
          </a:xfrm>
          <a:prstGeom prst="rect">
            <a:avLst/>
          </a:prstGeom>
          <a:noFill/>
          <a:ln/>
        </p:spPr>
        <p:txBody>
          <a:bodyPr wrap="square" lIns="0" tIns="0" rIns="0" bIns="0" rtlCol="0" anchor="ctr"/>
          <a:lstStyle/>
          <a:p>
            <a:pPr algn="ctr" indent="0" marL="0">
              <a:buNone/>
            </a:pPr>
            <a:r>
              <a:rPr lang="en-US" sz="1100" dirty="0">
                <a:solidFill>
                  <a:srgbClr val="6B6B6B"/>
                </a:solidFill>
                <a:latin typeface="Yu Gothic" pitchFamily="34" charset="0"/>
                <a:ea typeface="Yu Gothic" pitchFamily="34" charset="-122"/>
                <a:cs typeface="Yu Gothic" pitchFamily="34" charset="-120"/>
              </a:rPr>
              <a:t>効果</a:t>
            </a:r>
            <a:endParaRPr lang="en-US" sz="1100" dirty="0"/>
          </a:p>
          <a:p>
            <a:pPr algn="ctr" indent="0" marL="0">
              <a:buNone/>
            </a:pPr>
            <a:r>
              <a:rPr lang="en-US" sz="1100" dirty="0">
                <a:solidFill>
                  <a:srgbClr val="6B6B6B"/>
                </a:solidFill>
                <a:latin typeface="Yu Gothic" pitchFamily="34" charset="0"/>
                <a:ea typeface="Yu Gothic" pitchFamily="34" charset="-122"/>
                <a:cs typeface="Yu Gothic" pitchFamily="34" charset="-120"/>
              </a:rPr>
              <a:t>小</a:t>
            </a:r>
            <a:endParaRPr lang="en-US" sz="1100" dirty="0"/>
          </a:p>
        </p:txBody>
      </p:sp>
      <p:sp>
        <p:nvSpPr>
          <p:cNvPr id="20" name="Text 18"/>
          <p:cNvSpPr txBox="1"/>
          <p:nvPr/>
        </p:nvSpPr>
        <p:spPr>
          <a:xfrm>
            <a:off x="1143000" y="5760720"/>
            <a:ext cx="2743200" cy="274320"/>
          </a:xfrm>
          <a:prstGeom prst="rect">
            <a:avLst/>
          </a:prstGeom>
          <a:noFill/>
          <a:ln/>
        </p:spPr>
        <p:txBody>
          <a:bodyPr wrap="square" lIns="0" tIns="0" rIns="0" bIns="0" rtlCol="0" anchor="t"/>
          <a:lstStyle/>
          <a:p>
            <a:pPr algn="ctr" indent="0" marL="0">
              <a:lnSpc>
                <a:spcPct val="125000"/>
              </a:lnSpc>
              <a:buNone/>
            </a:pPr>
            <a:r>
              <a:rPr lang="en-US" sz="1100" dirty="0">
                <a:solidFill>
                  <a:srgbClr val="6B6B6B"/>
                </a:solidFill>
                <a:latin typeface="Yu Gothic" pitchFamily="34" charset="0"/>
                <a:ea typeface="Yu Gothic" pitchFamily="34" charset="-122"/>
                <a:cs typeface="Yu Gothic" pitchFamily="34" charset="-120"/>
              </a:rPr>
              <a:t>実行しにくい</a:t>
            </a:r>
            <a:endParaRPr lang="en-US" sz="1100" dirty="0"/>
          </a:p>
        </p:txBody>
      </p:sp>
      <p:sp>
        <p:nvSpPr>
          <p:cNvPr id="21" name="Text 19"/>
          <p:cNvSpPr txBox="1"/>
          <p:nvPr/>
        </p:nvSpPr>
        <p:spPr>
          <a:xfrm>
            <a:off x="3886200" y="5760720"/>
            <a:ext cx="2743200" cy="274320"/>
          </a:xfrm>
          <a:prstGeom prst="rect">
            <a:avLst/>
          </a:prstGeom>
          <a:noFill/>
          <a:ln/>
        </p:spPr>
        <p:txBody>
          <a:bodyPr wrap="square" lIns="0" tIns="0" rIns="0" bIns="0" rtlCol="0" anchor="t"/>
          <a:lstStyle/>
          <a:p>
            <a:pPr algn="ctr" indent="0" marL="0">
              <a:lnSpc>
                <a:spcPct val="125000"/>
              </a:lnSpc>
              <a:buNone/>
            </a:pPr>
            <a:r>
              <a:rPr lang="en-US" sz="1100" dirty="0">
                <a:solidFill>
                  <a:srgbClr val="6B6B6B"/>
                </a:solidFill>
                <a:latin typeface="Yu Gothic" pitchFamily="34" charset="0"/>
                <a:ea typeface="Yu Gothic" pitchFamily="34" charset="-122"/>
                <a:cs typeface="Yu Gothic" pitchFamily="34" charset="-120"/>
              </a:rPr>
              <a:t>実行しやすい</a:t>
            </a:r>
            <a:endParaRPr lang="en-US" sz="1100" dirty="0"/>
          </a:p>
        </p:txBody>
      </p:sp>
      <p:sp>
        <p:nvSpPr>
          <p:cNvPr id="22" name="Text 20"/>
          <p:cNvSpPr txBox="1"/>
          <p:nvPr/>
        </p:nvSpPr>
        <p:spPr>
          <a:xfrm>
            <a:off x="7223760" y="2103120"/>
            <a:ext cx="4282135" cy="320040"/>
          </a:xfrm>
          <a:prstGeom prst="rect">
            <a:avLst/>
          </a:prstGeom>
          <a:noFill/>
          <a:ln/>
        </p:spPr>
        <p:txBody>
          <a:bodyPr wrap="square" lIns="0" tIns="0" rIns="0" bIns="0" rtlCol="0" anchor="t"/>
          <a:lstStyle/>
          <a:p>
            <a:pP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「効果」を見る観点</a:t>
            </a:r>
            <a:endParaRPr lang="en-US" sz="1300" dirty="0"/>
          </a:p>
        </p:txBody>
      </p:sp>
      <p:sp>
        <p:nvSpPr>
          <p:cNvPr id="23" name="Text 21"/>
          <p:cNvSpPr txBox="1"/>
          <p:nvPr/>
        </p:nvSpPr>
        <p:spPr>
          <a:xfrm>
            <a:off x="7223760" y="2468880"/>
            <a:ext cx="4282135" cy="1188720"/>
          </a:xfrm>
          <a:prstGeom prst="rect">
            <a:avLst/>
          </a:prstGeom>
          <a:noFill/>
          <a:ln/>
        </p:spPr>
        <p:txBody>
          <a:bodyPr wrap="square" lIns="0" tIns="0" rIns="0" bIns="0" rtlCol="0" anchor="t"/>
          <a:lstStyle/>
          <a:p>
            <a:pPr marL="342900" indent="-342900">
              <a:lnSpc>
                <a:spcPct val="125000"/>
              </a:lnSpc>
              <a:spcAft>
                <a:spcPts val="500"/>
              </a:spcAft>
              <a:buSzPct val="100000"/>
              <a:buChar char="•"/>
            </a:pPr>
            <a:r>
              <a:rPr lang="en-US" sz="1250" dirty="0">
                <a:solidFill>
                  <a:srgbClr val="1F1F1F"/>
                </a:solidFill>
                <a:latin typeface="Yu Gothic" pitchFamily="34" charset="0"/>
                <a:ea typeface="Yu Gothic" pitchFamily="34" charset="-122"/>
                <a:cs typeface="Yu Gothic" pitchFamily="34" charset="-120"/>
              </a:rPr>
              <a:t>動かせる人数（その層の大きさ × 伸びしろ）</a:t>
            </a:r>
            <a:endParaRPr lang="en-US" sz="1250" dirty="0"/>
          </a:p>
          <a:p>
            <a:pPr marL="342900" indent="-342900">
              <a:lnSpc>
                <a:spcPct val="125000"/>
              </a:lnSpc>
              <a:spcAft>
                <a:spcPts val="500"/>
              </a:spcAft>
              <a:buSzPct val="100000"/>
              <a:buChar char="•"/>
            </a:pPr>
            <a:r>
              <a:rPr lang="en-US" sz="1250" dirty="0">
                <a:solidFill>
                  <a:srgbClr val="1F1F1F"/>
                </a:solidFill>
                <a:latin typeface="Yu Gothic" pitchFamily="34" charset="0"/>
                <a:ea typeface="Yu Gothic" pitchFamily="34" charset="-122"/>
                <a:cs typeface="Yu Gothic" pitchFamily="34" charset="-120"/>
              </a:rPr>
              <a:t>法的支援を必要とする人に届くか</a:t>
            </a:r>
            <a:endParaRPr lang="en-US" sz="1250" dirty="0"/>
          </a:p>
          <a:p>
            <a:pPr marL="342900" indent="-342900">
              <a:lnSpc>
                <a:spcPct val="125000"/>
              </a:lnSpc>
              <a:spcAft>
                <a:spcPts val="500"/>
              </a:spcAft>
              <a:buSzPct val="100000"/>
              <a:buChar char="•"/>
            </a:pPr>
            <a:r>
              <a:rPr lang="en-US" sz="1250" dirty="0">
                <a:solidFill>
                  <a:srgbClr val="1F1F1F"/>
                </a:solidFill>
                <a:latin typeface="Yu Gothic" pitchFamily="34" charset="0"/>
                <a:ea typeface="Yu Gothic" pitchFamily="34" charset="-122"/>
                <a:cs typeface="Yu Gothic" pitchFamily="34" charset="-120"/>
              </a:rPr>
              <a:t>次回調査で効果を確かめられるか</a:t>
            </a:r>
            <a:endParaRPr lang="en-US" sz="1250" dirty="0"/>
          </a:p>
        </p:txBody>
      </p:sp>
      <p:sp>
        <p:nvSpPr>
          <p:cNvPr id="24" name="Text 22"/>
          <p:cNvSpPr txBox="1"/>
          <p:nvPr/>
        </p:nvSpPr>
        <p:spPr>
          <a:xfrm>
            <a:off x="7223760" y="3886200"/>
            <a:ext cx="4282135" cy="320040"/>
          </a:xfrm>
          <a:prstGeom prst="rect">
            <a:avLst/>
          </a:prstGeom>
          <a:noFill/>
          <a:ln/>
        </p:spPr>
        <p:txBody>
          <a:bodyPr wrap="square" lIns="0" tIns="0" rIns="0" bIns="0" rtlCol="0" anchor="t"/>
          <a:lstStyle/>
          <a:p>
            <a:pP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「実行しやすさ」を見る観点</a:t>
            </a:r>
            <a:endParaRPr lang="en-US" sz="1300" dirty="0"/>
          </a:p>
        </p:txBody>
      </p:sp>
      <p:sp>
        <p:nvSpPr>
          <p:cNvPr id="25" name="Text 23"/>
          <p:cNvSpPr txBox="1"/>
          <p:nvPr/>
        </p:nvSpPr>
        <p:spPr>
          <a:xfrm>
            <a:off x="7223760" y="4251960"/>
            <a:ext cx="4282135" cy="1188720"/>
          </a:xfrm>
          <a:prstGeom prst="rect">
            <a:avLst/>
          </a:prstGeom>
          <a:noFill/>
          <a:ln/>
        </p:spPr>
        <p:txBody>
          <a:bodyPr wrap="square" lIns="0" tIns="0" rIns="0" bIns="0" rtlCol="0" anchor="t"/>
          <a:lstStyle/>
          <a:p>
            <a:pPr marL="342900" indent="-342900">
              <a:lnSpc>
                <a:spcPct val="125000"/>
              </a:lnSpc>
              <a:spcAft>
                <a:spcPts val="500"/>
              </a:spcAft>
              <a:buSzPct val="100000"/>
              <a:buChar char="•"/>
            </a:pPr>
            <a:r>
              <a:rPr lang="en-US" sz="1250" dirty="0">
                <a:solidFill>
                  <a:srgbClr val="1F1F1F"/>
                </a:solidFill>
                <a:latin typeface="Yu Gothic" pitchFamily="34" charset="0"/>
                <a:ea typeface="Yu Gothic" pitchFamily="34" charset="-122"/>
                <a:cs typeface="Yu Gothic" pitchFamily="34" charset="-120"/>
              </a:rPr>
              <a:t>今の予算・既存施策の枠内でできるか</a:t>
            </a:r>
            <a:endParaRPr lang="en-US" sz="1250" dirty="0"/>
          </a:p>
          <a:p>
            <a:pPr marL="342900" indent="-342900">
              <a:lnSpc>
                <a:spcPct val="125000"/>
              </a:lnSpc>
              <a:spcAft>
                <a:spcPts val="500"/>
              </a:spcAft>
              <a:buSzPct val="100000"/>
              <a:buChar char="•"/>
            </a:pPr>
            <a:r>
              <a:rPr lang="en-US" sz="1250" dirty="0">
                <a:solidFill>
                  <a:srgbClr val="1F1F1F"/>
                </a:solidFill>
                <a:latin typeface="Yu Gothic" pitchFamily="34" charset="0"/>
                <a:ea typeface="Yu Gothic" pitchFamily="34" charset="-122"/>
                <a:cs typeface="Yu Gothic" pitchFamily="34" charset="-120"/>
              </a:rPr>
              <a:t>御センター内の体制と承認手続きで回せるか</a:t>
            </a:r>
            <a:endParaRPr lang="en-US" sz="1250" dirty="0"/>
          </a:p>
          <a:p>
            <a:pPr marL="342900" indent="-342900">
              <a:lnSpc>
                <a:spcPct val="125000"/>
              </a:lnSpc>
              <a:spcAft>
                <a:spcPts val="500"/>
              </a:spcAft>
              <a:buSzPct val="100000"/>
              <a:buChar char="•"/>
            </a:pPr>
            <a:r>
              <a:rPr lang="en-US" sz="1250" dirty="0">
                <a:solidFill>
                  <a:srgbClr val="1F1F1F"/>
                </a:solidFill>
                <a:latin typeface="Yu Gothic" pitchFamily="34" charset="0"/>
                <a:ea typeface="Yu Gothic" pitchFamily="34" charset="-122"/>
                <a:cs typeface="Yu Gothic" pitchFamily="34" charset="-120"/>
              </a:rPr>
              <a:t>来年度中に着手できるか</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9</a:t>
            </a:r>
            <a:endParaRPr lang="en-US" sz="900" dirty="0"/>
          </a:p>
        </p:txBody>
      </p:sp>
      <p:sp>
        <p:nvSpPr>
          <p:cNvPr id="4" name="Text 2"/>
          <p:cNvSpPr txBox="1"/>
          <p:nvPr/>
        </p:nvSpPr>
        <p:spPr>
          <a:xfrm>
            <a:off x="685800" y="502920"/>
            <a:ext cx="5394960" cy="822960"/>
          </a:xfrm>
          <a:prstGeom prst="rect">
            <a:avLst/>
          </a:prstGeom>
          <a:noFill/>
          <a:ln/>
        </p:spPr>
        <p:txBody>
          <a:bodyPr wrap="square" lIns="0" tIns="0" rIns="0" bIns="0" rtlCol="0" anchor="t"/>
          <a:lstStyle/>
          <a:p>
            <a:pPr indent="0" marL="0">
              <a:buNone/>
            </a:pPr>
            <a:r>
              <a:rPr lang="en-US" sz="2600" b="1" dirty="0">
                <a:solidFill>
                  <a:srgbClr val="1F1F1F"/>
                </a:solidFill>
                <a:latin typeface="Yu Mincho" pitchFamily="34" charset="0"/>
                <a:ea typeface="Yu Mincho" pitchFamily="34" charset="-122"/>
                <a:cs typeface="Yu Mincho" pitchFamily="34" charset="-120"/>
              </a:rPr>
              <a:t>提言は、この形でお渡しします。</a:t>
            </a:r>
            <a:endParaRPr lang="en-US" sz="2600" dirty="0"/>
          </a:p>
        </p:txBody>
      </p:sp>
      <p:sp>
        <p:nvSpPr>
          <p:cNvPr id="5" name="Text 3"/>
          <p:cNvSpPr txBox="1"/>
          <p:nvPr/>
        </p:nvSpPr>
        <p:spPr>
          <a:xfrm>
            <a:off x="685800" y="1325880"/>
            <a:ext cx="5120640" cy="82296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根拠から打ち手、評価方法までを1枚にまとめ、内部の検討や説明にそのまま使える形にします。</a:t>
            </a:r>
            <a:endParaRPr lang="en-US" sz="1400" dirty="0"/>
          </a:p>
        </p:txBody>
      </p:sp>
      <p:sp>
        <p:nvSpPr>
          <p:cNvPr id="6" name="Shape 4"/>
          <p:cNvSpPr/>
          <p:nvPr/>
        </p:nvSpPr>
        <p:spPr>
          <a:xfrm>
            <a:off x="6263640" y="640080"/>
            <a:ext cx="5242255" cy="5486400"/>
          </a:xfrm>
          <a:prstGeom prst="rect">
            <a:avLst/>
          </a:prstGeom>
          <a:solidFill>
            <a:srgbClr val="FFFFFF"/>
          </a:solidFill>
          <a:ln w="12700">
            <a:solidFill>
              <a:srgbClr val="D6D6D3"/>
            </a:solidFill>
            <a:prstDash val="solid"/>
          </a:ln>
          <a:effectLst>
            <a:outerShdw sx="100000" sy="100000" kx="0" ky="0" algn="bl" rotWithShape="0" blurRad="127000" dist="38100" dir="5400000">
              <a:srgbClr val="000000">
                <a:alpha val="8000"/>
              </a:srgbClr>
            </a:outerShdw>
          </a:effectLst>
        </p:spPr>
      </p:sp>
      <p:sp>
        <p:nvSpPr>
          <p:cNvPr id="7" name="Text 5"/>
          <p:cNvSpPr txBox="1"/>
          <p:nvPr/>
        </p:nvSpPr>
        <p:spPr>
          <a:xfrm>
            <a:off x="6583680" y="868680"/>
            <a:ext cx="3657600" cy="274320"/>
          </a:xfrm>
          <a:prstGeom prst="rect">
            <a:avLst/>
          </a:prstGeom>
          <a:noFill/>
          <a:ln/>
        </p:spPr>
        <p:txBody>
          <a:bodyPr wrap="square" lIns="0" tIns="0" rIns="0" bIns="0" rtlCol="0" anchor="t"/>
          <a:lstStyle/>
          <a:p>
            <a:pPr indent="0" marL="0">
              <a:lnSpc>
                <a:spcPct val="125000"/>
              </a:lnSpc>
              <a:buNone/>
            </a:pPr>
            <a:r>
              <a:rPr lang="en-US" sz="1050" dirty="0">
                <a:solidFill>
                  <a:srgbClr val="6B6B6B"/>
                </a:solidFill>
                <a:latin typeface="Yu Gothic" pitchFamily="34" charset="0"/>
                <a:ea typeface="Yu Gothic" pitchFamily="34" charset="-122"/>
                <a:cs typeface="Yu Gothic" pitchFamily="34" charset="-120"/>
              </a:rPr>
              <a:t>提言シート（記入イメージ）</a:t>
            </a:r>
            <a:endParaRPr lang="en-US" sz="1050" dirty="0"/>
          </a:p>
        </p:txBody>
      </p:sp>
      <p:sp>
        <p:nvSpPr>
          <p:cNvPr id="8" name="Text 6"/>
          <p:cNvSpPr txBox="1"/>
          <p:nvPr/>
        </p:nvSpPr>
        <p:spPr>
          <a:xfrm>
            <a:off x="6583680" y="1143000"/>
            <a:ext cx="4602175" cy="411480"/>
          </a:xfrm>
          <a:prstGeom prst="rect">
            <a:avLst/>
          </a:prstGeom>
          <a:noFill/>
          <a:ln/>
        </p:spPr>
        <p:txBody>
          <a:bodyPr wrap="square" lIns="0" tIns="0" rIns="0" bIns="0" rtlCol="0" anchor="ctr"/>
          <a:lstStyle/>
          <a:p>
            <a:pPr indent="0" marL="0">
              <a:buNone/>
            </a:pPr>
            <a:r>
              <a:rPr lang="en-US" sz="1600" b="1" dirty="0">
                <a:solidFill>
                  <a:srgbClr val="1F1F1F"/>
                </a:solidFill>
                <a:latin typeface="Yu Mincho" pitchFamily="34" charset="0"/>
                <a:ea typeface="Yu Mincho" pitchFamily="34" charset="-122"/>
                <a:cs typeface="Yu Mincho" pitchFamily="34" charset="-120"/>
              </a:rPr>
              <a:t>提言 3　公式サイト入口の案内の見直し</a:t>
            </a:r>
            <a:endParaRPr lang="en-US" sz="1600" dirty="0"/>
          </a:p>
        </p:txBody>
      </p:sp>
      <p:sp>
        <p:nvSpPr>
          <p:cNvPr id="9" name="Shape 7"/>
          <p:cNvSpPr/>
          <p:nvPr/>
        </p:nvSpPr>
        <p:spPr>
          <a:xfrm>
            <a:off x="6583680" y="1737360"/>
            <a:ext cx="4602175" cy="0"/>
          </a:xfrm>
          <a:prstGeom prst="line">
            <a:avLst/>
          </a:prstGeom>
          <a:noFill/>
          <a:ln w="9525">
            <a:solidFill>
              <a:srgbClr val="D6D6D3"/>
            </a:solidFill>
            <a:prstDash val="solid"/>
          </a:ln>
        </p:spPr>
      </p:sp>
      <p:sp>
        <p:nvSpPr>
          <p:cNvPr id="10" name="Text 8"/>
          <p:cNvSpPr txBox="1"/>
          <p:nvPr/>
        </p:nvSpPr>
        <p:spPr>
          <a:xfrm>
            <a:off x="6583680" y="1865376"/>
            <a:ext cx="1463040" cy="457200"/>
          </a:xfrm>
          <a:prstGeom prst="rect">
            <a:avLst/>
          </a:prstGeom>
          <a:noFill/>
          <a:ln/>
        </p:spPr>
        <p:txBody>
          <a:bodyPr wrap="square" lIns="0" tIns="0" rIns="0" bIns="0" rtlCol="0" anchor="t"/>
          <a:lstStyle/>
          <a:p>
            <a:pPr indent="0" marL="0">
              <a:lnSpc>
                <a:spcPct val="125000"/>
              </a:lnSpc>
              <a:buNone/>
            </a:pPr>
            <a:r>
              <a:rPr lang="en-US" sz="1150" b="1" dirty="0">
                <a:solidFill>
                  <a:srgbClr val="C0462B"/>
                </a:solidFill>
                <a:latin typeface="Yu Gothic" pitchFamily="34" charset="0"/>
                <a:ea typeface="Yu Gothic" pitchFamily="34" charset="-122"/>
                <a:cs typeface="Yu Gothic" pitchFamily="34" charset="-120"/>
              </a:rPr>
              <a:t>確認した事実</a:t>
            </a:r>
            <a:endParaRPr lang="en-US" sz="1150" dirty="0"/>
          </a:p>
        </p:txBody>
      </p:sp>
      <p:sp>
        <p:nvSpPr>
          <p:cNvPr id="11" name="Text 9"/>
          <p:cNvSpPr txBox="1"/>
          <p:nvPr/>
        </p:nvSpPr>
        <p:spPr>
          <a:xfrm>
            <a:off x="8092440" y="1865376"/>
            <a:ext cx="3093415" cy="548640"/>
          </a:xfrm>
          <a:prstGeom prst="rect">
            <a:avLst/>
          </a:prstGeom>
          <a:noFill/>
          <a:ln/>
        </p:spPr>
        <p:txBody>
          <a:bodyPr wrap="square" lIns="0" tIns="0" rIns="0" bIns="0" rtlCol="0" anchor="t"/>
          <a:lstStyle/>
          <a:p>
            <a:pPr indent="0" marL="0">
              <a:lnSpc>
                <a:spcPct val="130000"/>
              </a:lnSpc>
              <a:buNone/>
            </a:pPr>
            <a:r>
              <a:rPr lang="en-US" sz="1100" dirty="0">
                <a:solidFill>
                  <a:srgbClr val="6B6B6B"/>
                </a:solidFill>
                <a:latin typeface="Yu Gothic" pitchFamily="34" charset="0"/>
                <a:ea typeface="Yu Gothic" pitchFamily="34" charset="-122"/>
                <a:cs typeface="Yu Gothic" pitchFamily="34" charset="-120"/>
              </a:rPr>
              <a:t>（例）名前を知っている層のうち、業務内容まで知る割合が特に低い層がある</a:t>
            </a:r>
            <a:endParaRPr lang="en-US" sz="1100" dirty="0"/>
          </a:p>
        </p:txBody>
      </p:sp>
      <p:sp>
        <p:nvSpPr>
          <p:cNvPr id="12" name="Shape 10"/>
          <p:cNvSpPr/>
          <p:nvPr/>
        </p:nvSpPr>
        <p:spPr>
          <a:xfrm>
            <a:off x="6583680" y="2441448"/>
            <a:ext cx="4602175" cy="0"/>
          </a:xfrm>
          <a:prstGeom prst="line">
            <a:avLst/>
          </a:prstGeom>
          <a:noFill/>
          <a:ln w="9525">
            <a:solidFill>
              <a:srgbClr val="D6D6D3"/>
            </a:solidFill>
            <a:prstDash val="solid"/>
          </a:ln>
        </p:spPr>
      </p:sp>
      <p:sp>
        <p:nvSpPr>
          <p:cNvPr id="13" name="Text 11"/>
          <p:cNvSpPr txBox="1"/>
          <p:nvPr/>
        </p:nvSpPr>
        <p:spPr>
          <a:xfrm>
            <a:off x="6583680" y="2569464"/>
            <a:ext cx="1463040" cy="457200"/>
          </a:xfrm>
          <a:prstGeom prst="rect">
            <a:avLst/>
          </a:prstGeom>
          <a:noFill/>
          <a:ln/>
        </p:spPr>
        <p:txBody>
          <a:bodyPr wrap="square" lIns="0" tIns="0" rIns="0" bIns="0" rtlCol="0" anchor="t"/>
          <a:lstStyle/>
          <a:p>
            <a:pPr indent="0" marL="0">
              <a:lnSpc>
                <a:spcPct val="125000"/>
              </a:lnSpc>
              <a:buNone/>
            </a:pPr>
            <a:r>
              <a:rPr lang="en-US" sz="1150" b="1" dirty="0">
                <a:solidFill>
                  <a:srgbClr val="C0462B"/>
                </a:solidFill>
                <a:latin typeface="Yu Gothic" pitchFamily="34" charset="0"/>
                <a:ea typeface="Yu Gothic" pitchFamily="34" charset="-122"/>
                <a:cs typeface="Yu Gothic" pitchFamily="34" charset="-120"/>
              </a:rPr>
              <a:t>解釈</a:t>
            </a:r>
            <a:endParaRPr lang="en-US" sz="1150" dirty="0"/>
          </a:p>
        </p:txBody>
      </p:sp>
      <p:sp>
        <p:nvSpPr>
          <p:cNvPr id="14" name="Text 12"/>
          <p:cNvSpPr txBox="1"/>
          <p:nvPr/>
        </p:nvSpPr>
        <p:spPr>
          <a:xfrm>
            <a:off x="8092440" y="2569464"/>
            <a:ext cx="3093415" cy="548640"/>
          </a:xfrm>
          <a:prstGeom prst="rect">
            <a:avLst/>
          </a:prstGeom>
          <a:noFill/>
          <a:ln/>
        </p:spPr>
        <p:txBody>
          <a:bodyPr wrap="square" lIns="0" tIns="0" rIns="0" bIns="0" rtlCol="0" anchor="t"/>
          <a:lstStyle/>
          <a:p>
            <a:pPr indent="0" marL="0">
              <a:lnSpc>
                <a:spcPct val="130000"/>
              </a:lnSpc>
              <a:buNone/>
            </a:pPr>
            <a:r>
              <a:rPr lang="en-US" sz="1100" dirty="0">
                <a:solidFill>
                  <a:srgbClr val="6B6B6B"/>
                </a:solidFill>
                <a:latin typeface="Yu Gothic" pitchFamily="34" charset="0"/>
                <a:ea typeface="Yu Gothic" pitchFamily="34" charset="-122"/>
                <a:cs typeface="Yu Gothic" pitchFamily="34" charset="-120"/>
              </a:rPr>
              <a:t>（例）広告は届いているが、クリック後のページで役割が伝わっていない可能性</a:t>
            </a:r>
            <a:endParaRPr lang="en-US" sz="1100" dirty="0"/>
          </a:p>
        </p:txBody>
      </p:sp>
      <p:sp>
        <p:nvSpPr>
          <p:cNvPr id="15" name="Shape 13"/>
          <p:cNvSpPr/>
          <p:nvPr/>
        </p:nvSpPr>
        <p:spPr>
          <a:xfrm>
            <a:off x="6583680" y="3145536"/>
            <a:ext cx="4602175" cy="0"/>
          </a:xfrm>
          <a:prstGeom prst="line">
            <a:avLst/>
          </a:prstGeom>
          <a:noFill/>
          <a:ln w="9525">
            <a:solidFill>
              <a:srgbClr val="D6D6D3"/>
            </a:solidFill>
            <a:prstDash val="solid"/>
          </a:ln>
        </p:spPr>
      </p:sp>
      <p:sp>
        <p:nvSpPr>
          <p:cNvPr id="16" name="Text 14"/>
          <p:cNvSpPr txBox="1"/>
          <p:nvPr/>
        </p:nvSpPr>
        <p:spPr>
          <a:xfrm>
            <a:off x="6583680" y="3273552"/>
            <a:ext cx="1463040" cy="457200"/>
          </a:xfrm>
          <a:prstGeom prst="rect">
            <a:avLst/>
          </a:prstGeom>
          <a:noFill/>
          <a:ln/>
        </p:spPr>
        <p:txBody>
          <a:bodyPr wrap="square" lIns="0" tIns="0" rIns="0" bIns="0" rtlCol="0" anchor="t"/>
          <a:lstStyle/>
          <a:p>
            <a:pPr indent="0" marL="0">
              <a:lnSpc>
                <a:spcPct val="125000"/>
              </a:lnSpc>
              <a:buNone/>
            </a:pPr>
            <a:r>
              <a:rPr lang="en-US" sz="1150" b="1" dirty="0">
                <a:solidFill>
                  <a:srgbClr val="C0462B"/>
                </a:solidFill>
                <a:latin typeface="Yu Gothic" pitchFamily="34" charset="0"/>
                <a:ea typeface="Yu Gothic" pitchFamily="34" charset="-122"/>
                <a:cs typeface="Yu Gothic" pitchFamily="34" charset="-120"/>
              </a:rPr>
              <a:t>打ち手</a:t>
            </a:r>
            <a:endParaRPr lang="en-US" sz="1150" dirty="0"/>
          </a:p>
        </p:txBody>
      </p:sp>
      <p:sp>
        <p:nvSpPr>
          <p:cNvPr id="17" name="Text 15"/>
          <p:cNvSpPr txBox="1"/>
          <p:nvPr/>
        </p:nvSpPr>
        <p:spPr>
          <a:xfrm>
            <a:off x="8092440" y="3273552"/>
            <a:ext cx="3093415" cy="548640"/>
          </a:xfrm>
          <a:prstGeom prst="rect">
            <a:avLst/>
          </a:prstGeom>
          <a:noFill/>
          <a:ln/>
        </p:spPr>
        <p:txBody>
          <a:bodyPr wrap="square" lIns="0" tIns="0" rIns="0" bIns="0" rtlCol="0" anchor="t"/>
          <a:lstStyle/>
          <a:p>
            <a:pPr indent="0" marL="0">
              <a:lnSpc>
                <a:spcPct val="130000"/>
              </a:lnSpc>
              <a:buNone/>
            </a:pPr>
            <a:r>
              <a:rPr lang="en-US" sz="1100" dirty="0">
                <a:solidFill>
                  <a:srgbClr val="6B6B6B"/>
                </a:solidFill>
                <a:latin typeface="Yu Gothic" pitchFamily="34" charset="0"/>
                <a:ea typeface="Yu Gothic" pitchFamily="34" charset="-122"/>
                <a:cs typeface="Yu Gothic" pitchFamily="34" charset="-120"/>
              </a:rPr>
              <a:t>（例）入口ページの冒頭で「何を相談できる所か」を困りごと別に示す</a:t>
            </a:r>
            <a:endParaRPr lang="en-US" sz="1100" dirty="0"/>
          </a:p>
        </p:txBody>
      </p:sp>
      <p:sp>
        <p:nvSpPr>
          <p:cNvPr id="18" name="Shape 16"/>
          <p:cNvSpPr/>
          <p:nvPr/>
        </p:nvSpPr>
        <p:spPr>
          <a:xfrm>
            <a:off x="6583680" y="3849624"/>
            <a:ext cx="4602175" cy="0"/>
          </a:xfrm>
          <a:prstGeom prst="line">
            <a:avLst/>
          </a:prstGeom>
          <a:noFill/>
          <a:ln w="9525">
            <a:solidFill>
              <a:srgbClr val="D6D6D3"/>
            </a:solidFill>
            <a:prstDash val="solid"/>
          </a:ln>
        </p:spPr>
      </p:sp>
      <p:sp>
        <p:nvSpPr>
          <p:cNvPr id="19" name="Text 17"/>
          <p:cNvSpPr txBox="1"/>
          <p:nvPr/>
        </p:nvSpPr>
        <p:spPr>
          <a:xfrm>
            <a:off x="6583680" y="3977640"/>
            <a:ext cx="1463040" cy="457200"/>
          </a:xfrm>
          <a:prstGeom prst="rect">
            <a:avLst/>
          </a:prstGeom>
          <a:noFill/>
          <a:ln/>
        </p:spPr>
        <p:txBody>
          <a:bodyPr wrap="square" lIns="0" tIns="0" rIns="0" bIns="0" rtlCol="0" anchor="t"/>
          <a:lstStyle/>
          <a:p>
            <a:pPr indent="0" marL="0">
              <a:lnSpc>
                <a:spcPct val="125000"/>
              </a:lnSpc>
              <a:buNone/>
            </a:pPr>
            <a:r>
              <a:rPr lang="en-US" sz="1150" b="1" dirty="0">
                <a:solidFill>
                  <a:srgbClr val="C0462B"/>
                </a:solidFill>
                <a:latin typeface="Yu Gothic" pitchFamily="34" charset="0"/>
                <a:ea typeface="Yu Gothic" pitchFamily="34" charset="-122"/>
                <a:cs typeface="Yu Gothic" pitchFamily="34" charset="-120"/>
              </a:rPr>
              <a:t>実行主体・時期</a:t>
            </a:r>
            <a:endParaRPr lang="en-US" sz="1150" dirty="0"/>
          </a:p>
        </p:txBody>
      </p:sp>
      <p:sp>
        <p:nvSpPr>
          <p:cNvPr id="20" name="Text 18"/>
          <p:cNvSpPr txBox="1"/>
          <p:nvPr/>
        </p:nvSpPr>
        <p:spPr>
          <a:xfrm>
            <a:off x="8092440" y="3977640"/>
            <a:ext cx="3093415" cy="548640"/>
          </a:xfrm>
          <a:prstGeom prst="rect">
            <a:avLst/>
          </a:prstGeom>
          <a:noFill/>
          <a:ln/>
        </p:spPr>
        <p:txBody>
          <a:bodyPr wrap="square" lIns="0" tIns="0" rIns="0" bIns="0" rtlCol="0" anchor="t"/>
          <a:lstStyle/>
          <a:p>
            <a:pPr indent="0" marL="0">
              <a:lnSpc>
                <a:spcPct val="130000"/>
              </a:lnSpc>
              <a:buNone/>
            </a:pPr>
            <a:r>
              <a:rPr lang="en-US" sz="1100" dirty="0">
                <a:solidFill>
                  <a:srgbClr val="6B6B6B"/>
                </a:solidFill>
                <a:latin typeface="Yu Gothic" pitchFamily="34" charset="0"/>
                <a:ea typeface="Yu Gothic" pitchFamily="34" charset="-122"/>
                <a:cs typeface="Yu Gothic" pitchFamily="34" charset="-120"/>
              </a:rPr>
              <a:t>（例）広報担当＋Web担当／来年度第1四半期</a:t>
            </a:r>
            <a:endParaRPr lang="en-US" sz="1100" dirty="0"/>
          </a:p>
        </p:txBody>
      </p:sp>
      <p:sp>
        <p:nvSpPr>
          <p:cNvPr id="21" name="Shape 19"/>
          <p:cNvSpPr/>
          <p:nvPr/>
        </p:nvSpPr>
        <p:spPr>
          <a:xfrm>
            <a:off x="6583680" y="4553712"/>
            <a:ext cx="4602175" cy="0"/>
          </a:xfrm>
          <a:prstGeom prst="line">
            <a:avLst/>
          </a:prstGeom>
          <a:noFill/>
          <a:ln w="9525">
            <a:solidFill>
              <a:srgbClr val="D6D6D3"/>
            </a:solidFill>
            <a:prstDash val="solid"/>
          </a:ln>
        </p:spPr>
      </p:sp>
      <p:sp>
        <p:nvSpPr>
          <p:cNvPr id="22" name="Text 20"/>
          <p:cNvSpPr txBox="1"/>
          <p:nvPr/>
        </p:nvSpPr>
        <p:spPr>
          <a:xfrm>
            <a:off x="6583680" y="4681728"/>
            <a:ext cx="1463040" cy="457200"/>
          </a:xfrm>
          <a:prstGeom prst="rect">
            <a:avLst/>
          </a:prstGeom>
          <a:noFill/>
          <a:ln/>
        </p:spPr>
        <p:txBody>
          <a:bodyPr wrap="square" lIns="0" tIns="0" rIns="0" bIns="0" rtlCol="0" anchor="t"/>
          <a:lstStyle/>
          <a:p>
            <a:pPr indent="0" marL="0">
              <a:lnSpc>
                <a:spcPct val="125000"/>
              </a:lnSpc>
              <a:buNone/>
            </a:pPr>
            <a:r>
              <a:rPr lang="en-US" sz="1150" b="1" dirty="0">
                <a:solidFill>
                  <a:srgbClr val="C0462B"/>
                </a:solidFill>
                <a:latin typeface="Yu Gothic" pitchFamily="34" charset="0"/>
                <a:ea typeface="Yu Gothic" pitchFamily="34" charset="-122"/>
                <a:cs typeface="Yu Gothic" pitchFamily="34" charset="-120"/>
              </a:rPr>
              <a:t>費用</a:t>
            </a:r>
            <a:endParaRPr lang="en-US" sz="1150" dirty="0"/>
          </a:p>
        </p:txBody>
      </p:sp>
      <p:sp>
        <p:nvSpPr>
          <p:cNvPr id="23" name="Text 21"/>
          <p:cNvSpPr txBox="1"/>
          <p:nvPr/>
        </p:nvSpPr>
        <p:spPr>
          <a:xfrm>
            <a:off x="8092440" y="4681728"/>
            <a:ext cx="3093415" cy="548640"/>
          </a:xfrm>
          <a:prstGeom prst="rect">
            <a:avLst/>
          </a:prstGeom>
          <a:noFill/>
          <a:ln/>
        </p:spPr>
        <p:txBody>
          <a:bodyPr wrap="square" lIns="0" tIns="0" rIns="0" bIns="0" rtlCol="0" anchor="t"/>
          <a:lstStyle/>
          <a:p>
            <a:pPr indent="0" marL="0">
              <a:lnSpc>
                <a:spcPct val="130000"/>
              </a:lnSpc>
              <a:buNone/>
            </a:pPr>
            <a:r>
              <a:rPr lang="en-US" sz="1100" dirty="0">
                <a:solidFill>
                  <a:srgbClr val="6B6B6B"/>
                </a:solidFill>
                <a:latin typeface="Yu Gothic" pitchFamily="34" charset="0"/>
                <a:ea typeface="Yu Gothic" pitchFamily="34" charset="-122"/>
                <a:cs typeface="Yu Gothic" pitchFamily="34" charset="-120"/>
              </a:rPr>
              <a:t>（例）既存のサイト改修の枠内</a:t>
            </a:r>
            <a:endParaRPr lang="en-US" sz="1100" dirty="0"/>
          </a:p>
        </p:txBody>
      </p:sp>
      <p:sp>
        <p:nvSpPr>
          <p:cNvPr id="24" name="Shape 22"/>
          <p:cNvSpPr/>
          <p:nvPr/>
        </p:nvSpPr>
        <p:spPr>
          <a:xfrm>
            <a:off x="6583680" y="5257800"/>
            <a:ext cx="4602175" cy="0"/>
          </a:xfrm>
          <a:prstGeom prst="line">
            <a:avLst/>
          </a:prstGeom>
          <a:noFill/>
          <a:ln w="9525">
            <a:solidFill>
              <a:srgbClr val="D6D6D3"/>
            </a:solidFill>
            <a:prstDash val="solid"/>
          </a:ln>
        </p:spPr>
      </p:sp>
      <p:sp>
        <p:nvSpPr>
          <p:cNvPr id="25" name="Text 23"/>
          <p:cNvSpPr txBox="1"/>
          <p:nvPr/>
        </p:nvSpPr>
        <p:spPr>
          <a:xfrm>
            <a:off x="6583680" y="5385816"/>
            <a:ext cx="1463040" cy="457200"/>
          </a:xfrm>
          <a:prstGeom prst="rect">
            <a:avLst/>
          </a:prstGeom>
          <a:noFill/>
          <a:ln/>
        </p:spPr>
        <p:txBody>
          <a:bodyPr wrap="square" lIns="0" tIns="0" rIns="0" bIns="0" rtlCol="0" anchor="t"/>
          <a:lstStyle/>
          <a:p>
            <a:pPr indent="0" marL="0">
              <a:lnSpc>
                <a:spcPct val="125000"/>
              </a:lnSpc>
              <a:buNone/>
            </a:pPr>
            <a:r>
              <a:rPr lang="en-US" sz="1150" b="1" dirty="0">
                <a:solidFill>
                  <a:srgbClr val="C0462B"/>
                </a:solidFill>
                <a:latin typeface="Yu Gothic" pitchFamily="34" charset="0"/>
                <a:ea typeface="Yu Gothic" pitchFamily="34" charset="-122"/>
                <a:cs typeface="Yu Gothic" pitchFamily="34" charset="-120"/>
              </a:rPr>
              <a:t>確かめ方</a:t>
            </a:r>
            <a:endParaRPr lang="en-US" sz="1150" dirty="0"/>
          </a:p>
        </p:txBody>
      </p:sp>
      <p:sp>
        <p:nvSpPr>
          <p:cNvPr id="26" name="Text 24"/>
          <p:cNvSpPr txBox="1"/>
          <p:nvPr/>
        </p:nvSpPr>
        <p:spPr>
          <a:xfrm>
            <a:off x="8092440" y="5385816"/>
            <a:ext cx="3093415" cy="548640"/>
          </a:xfrm>
          <a:prstGeom prst="rect">
            <a:avLst/>
          </a:prstGeom>
          <a:noFill/>
          <a:ln/>
        </p:spPr>
        <p:txBody>
          <a:bodyPr wrap="square" lIns="0" tIns="0" rIns="0" bIns="0" rtlCol="0" anchor="t"/>
          <a:lstStyle/>
          <a:p>
            <a:pPr indent="0" marL="0">
              <a:lnSpc>
                <a:spcPct val="130000"/>
              </a:lnSpc>
              <a:buNone/>
            </a:pPr>
            <a:r>
              <a:rPr lang="en-US" sz="1100" dirty="0">
                <a:solidFill>
                  <a:srgbClr val="6B6B6B"/>
                </a:solidFill>
                <a:latin typeface="Yu Gothic" pitchFamily="34" charset="0"/>
                <a:ea typeface="Yu Gothic" pitchFamily="34" charset="-122"/>
                <a:cs typeface="Yu Gothic" pitchFamily="34" charset="-120"/>
              </a:rPr>
              <a:t>（例）次回調査の業務認知率／該当ページからの相談窓口への遷移</a:t>
            </a:r>
            <a:endParaRPr lang="en-US" sz="1100" dirty="0"/>
          </a:p>
        </p:txBody>
      </p:sp>
      <p:sp>
        <p:nvSpPr>
          <p:cNvPr id="27" name="Shape 25"/>
          <p:cNvSpPr/>
          <p:nvPr/>
        </p:nvSpPr>
        <p:spPr>
          <a:xfrm>
            <a:off x="685800" y="2258568"/>
            <a:ext cx="329184" cy="329184"/>
          </a:xfrm>
          <a:prstGeom prst="ellipse">
            <a:avLst/>
          </a:prstGeom>
          <a:solidFill>
            <a:srgbClr val="1F1F1F"/>
          </a:solidFill>
          <a:ln w="12700">
            <a:solidFill>
              <a:srgbClr val="1F1F1F"/>
            </a:solidFill>
            <a:prstDash val="solid"/>
          </a:ln>
        </p:spPr>
      </p:sp>
      <p:sp>
        <p:nvSpPr>
          <p:cNvPr id="28" name="Text 26"/>
          <p:cNvSpPr txBox="1"/>
          <p:nvPr/>
        </p:nvSpPr>
        <p:spPr>
          <a:xfrm>
            <a:off x="685800" y="2258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9" name="Text 27"/>
          <p:cNvSpPr txBox="1"/>
          <p:nvPr/>
        </p:nvSpPr>
        <p:spPr>
          <a:xfrm>
            <a:off x="1188720" y="2240280"/>
            <a:ext cx="4754880" cy="36576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事実と解釈を分ける</a:t>
            </a:r>
            <a:endParaRPr lang="en-US" sz="1500" dirty="0"/>
          </a:p>
        </p:txBody>
      </p:sp>
      <p:sp>
        <p:nvSpPr>
          <p:cNvPr id="30" name="Text 28"/>
          <p:cNvSpPr txBox="1"/>
          <p:nvPr/>
        </p:nvSpPr>
        <p:spPr>
          <a:xfrm>
            <a:off x="1188720" y="2624328"/>
            <a:ext cx="4754880" cy="5486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データで言えることと、私たちの推測を混ぜません。</a:t>
            </a:r>
            <a:endParaRPr lang="en-US" sz="1200" dirty="0"/>
          </a:p>
        </p:txBody>
      </p:sp>
      <p:sp>
        <p:nvSpPr>
          <p:cNvPr id="31" name="Shape 29"/>
          <p:cNvSpPr/>
          <p:nvPr/>
        </p:nvSpPr>
        <p:spPr>
          <a:xfrm>
            <a:off x="685800" y="3355848"/>
            <a:ext cx="329184" cy="329184"/>
          </a:xfrm>
          <a:prstGeom prst="ellipse">
            <a:avLst/>
          </a:prstGeom>
          <a:solidFill>
            <a:srgbClr val="1F1F1F"/>
          </a:solidFill>
          <a:ln w="12700">
            <a:solidFill>
              <a:srgbClr val="1F1F1F"/>
            </a:solidFill>
            <a:prstDash val="solid"/>
          </a:ln>
        </p:spPr>
      </p:sp>
      <p:sp>
        <p:nvSpPr>
          <p:cNvPr id="32" name="Text 30"/>
          <p:cNvSpPr txBox="1"/>
          <p:nvPr/>
        </p:nvSpPr>
        <p:spPr>
          <a:xfrm>
            <a:off x="685800" y="3355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3" name="Text 31"/>
          <p:cNvSpPr txBox="1"/>
          <p:nvPr/>
        </p:nvSpPr>
        <p:spPr>
          <a:xfrm>
            <a:off x="1188720" y="3337560"/>
            <a:ext cx="4754880" cy="36576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実行する人と時期まで書く</a:t>
            </a:r>
            <a:endParaRPr lang="en-US" sz="1500" dirty="0"/>
          </a:p>
        </p:txBody>
      </p:sp>
      <p:sp>
        <p:nvSpPr>
          <p:cNvPr id="34" name="Text 32"/>
          <p:cNvSpPr txBox="1"/>
          <p:nvPr/>
        </p:nvSpPr>
        <p:spPr>
          <a:xfrm>
            <a:off x="1188720" y="3721608"/>
            <a:ext cx="4754880" cy="5486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「誰が・いつ・どの予算で」がない提言は動きません。</a:t>
            </a:r>
            <a:endParaRPr lang="en-US" sz="1200" dirty="0"/>
          </a:p>
        </p:txBody>
      </p:sp>
      <p:sp>
        <p:nvSpPr>
          <p:cNvPr id="35" name="Shape 33"/>
          <p:cNvSpPr/>
          <p:nvPr/>
        </p:nvSpPr>
        <p:spPr>
          <a:xfrm>
            <a:off x="685800" y="4453128"/>
            <a:ext cx="329184" cy="329184"/>
          </a:xfrm>
          <a:prstGeom prst="ellipse">
            <a:avLst/>
          </a:prstGeom>
          <a:solidFill>
            <a:srgbClr val="1F1F1F"/>
          </a:solidFill>
          <a:ln w="12700">
            <a:solidFill>
              <a:srgbClr val="1F1F1F"/>
            </a:solidFill>
            <a:prstDash val="solid"/>
          </a:ln>
        </p:spPr>
      </p:sp>
      <p:sp>
        <p:nvSpPr>
          <p:cNvPr id="36" name="Text 34"/>
          <p:cNvSpPr txBox="1"/>
          <p:nvPr/>
        </p:nvSpPr>
        <p:spPr>
          <a:xfrm>
            <a:off x="685800" y="44531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37" name="Text 35"/>
          <p:cNvSpPr txBox="1"/>
          <p:nvPr/>
        </p:nvSpPr>
        <p:spPr>
          <a:xfrm>
            <a:off x="1188720" y="4434840"/>
            <a:ext cx="4754880" cy="36576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確かめ方までセットにする</a:t>
            </a:r>
            <a:endParaRPr lang="en-US" sz="1500" dirty="0"/>
          </a:p>
        </p:txBody>
      </p:sp>
      <p:sp>
        <p:nvSpPr>
          <p:cNvPr id="38" name="Text 36"/>
          <p:cNvSpPr txBox="1"/>
          <p:nvPr/>
        </p:nvSpPr>
        <p:spPr>
          <a:xfrm>
            <a:off x="1188720" y="4818888"/>
            <a:ext cx="4754880" cy="5486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次の調査で、効いたかどうかを判断できるようにします。</a:t>
            </a:r>
            <a:endParaRPr lang="en-US" sz="1200" dirty="0"/>
          </a:p>
        </p:txBody>
      </p:sp>
      <p:sp>
        <p:nvSpPr>
          <p:cNvPr id="39" name="Text 37"/>
          <p:cNvSpPr txBox="1"/>
          <p:nvPr/>
        </p:nvSpPr>
        <p:spPr>
          <a:xfrm>
            <a:off x="685800" y="5760720"/>
            <a:ext cx="5120640" cy="274320"/>
          </a:xfrm>
          <a:prstGeom prst="rect">
            <a:avLst/>
          </a:prstGeom>
          <a:noFill/>
          <a:ln/>
        </p:spPr>
        <p:txBody>
          <a:bodyPr wrap="square" lIns="0" tIns="0" rIns="0" bIns="0" rtlCol="0" anchor="t"/>
          <a:lstStyle/>
          <a:p>
            <a:pPr indent="0" marL="0">
              <a:lnSpc>
                <a:spcPct val="125000"/>
              </a:lnSpc>
              <a:buNone/>
            </a:pPr>
            <a:r>
              <a:rPr lang="en-US" sz="1050" dirty="0">
                <a:solidFill>
                  <a:srgbClr val="6B6B6B"/>
                </a:solidFill>
                <a:latin typeface="Yu Gothic" pitchFamily="34" charset="0"/>
                <a:ea typeface="Yu Gothic" pitchFamily="34" charset="-122"/>
                <a:cs typeface="Yu Gothic" pitchFamily="34" charset="-120"/>
              </a:rPr>
              <a:t>※ 右の記入内容は書式を示すための架空の例です。</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10</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3回の打合せで、「診断 → 選ぶ → 決める」。</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2027年1月に着手、3月31日までに納品します。打合せは本部に伺い、各回90分ほどを想定しています。</a:t>
            </a:r>
            <a:endParaRPr lang="en-US" sz="1400" dirty="0"/>
          </a:p>
        </p:txBody>
      </p:sp>
      <p:sp>
        <p:nvSpPr>
          <p:cNvPr id="6" name="Shape 4"/>
          <p:cNvSpPr/>
          <p:nvPr/>
        </p:nvSpPr>
        <p:spPr>
          <a:xfrm>
            <a:off x="3246120" y="1874520"/>
            <a:ext cx="2753258" cy="3108960"/>
          </a:xfrm>
          <a:prstGeom prst="rect">
            <a:avLst/>
          </a:prstGeom>
          <a:solidFill>
            <a:srgbClr val="F7F7F6"/>
          </a:solidFill>
          <a:ln w="12700">
            <a:solidFill>
              <a:srgbClr val="F7F7F6"/>
            </a:solidFill>
            <a:prstDash val="solid"/>
          </a:ln>
        </p:spPr>
      </p:sp>
      <p:sp>
        <p:nvSpPr>
          <p:cNvPr id="7" name="Text 5"/>
          <p:cNvSpPr txBox="1"/>
          <p:nvPr/>
        </p:nvSpPr>
        <p:spPr>
          <a:xfrm>
            <a:off x="3246120" y="1920240"/>
            <a:ext cx="2753258" cy="365760"/>
          </a:xfrm>
          <a:prstGeom prst="rect">
            <a:avLst/>
          </a:prstGeom>
          <a:noFill/>
          <a:ln/>
        </p:spPr>
        <p:txBody>
          <a:bodyPr wrap="square" lIns="0" tIns="0" rIns="0" bIns="0" rtlCol="0" anchor="ctr"/>
          <a:lstStyle/>
          <a:p>
            <a:pPr algn="ctr" indent="0" marL="0">
              <a:buNone/>
            </a:pPr>
            <a:r>
              <a:rPr lang="en-US" sz="1600" b="1" dirty="0">
                <a:solidFill>
                  <a:srgbClr val="1F1F1F"/>
                </a:solidFill>
                <a:latin typeface="Yu Mincho" pitchFamily="34" charset="0"/>
                <a:ea typeface="Yu Mincho" pitchFamily="34" charset="-122"/>
                <a:cs typeface="Yu Mincho" pitchFamily="34" charset="-120"/>
              </a:rPr>
              <a:t>1月</a:t>
            </a:r>
            <a:endParaRPr lang="en-US" sz="1600" dirty="0"/>
          </a:p>
        </p:txBody>
      </p:sp>
      <p:sp>
        <p:nvSpPr>
          <p:cNvPr id="8" name="Text 6"/>
          <p:cNvSpPr txBox="1"/>
          <p:nvPr/>
        </p:nvSpPr>
        <p:spPr>
          <a:xfrm>
            <a:off x="5999378" y="1920240"/>
            <a:ext cx="2753258" cy="365760"/>
          </a:xfrm>
          <a:prstGeom prst="rect">
            <a:avLst/>
          </a:prstGeom>
          <a:noFill/>
          <a:ln/>
        </p:spPr>
        <p:txBody>
          <a:bodyPr wrap="square" lIns="0" tIns="0" rIns="0" bIns="0" rtlCol="0" anchor="ctr"/>
          <a:lstStyle/>
          <a:p>
            <a:pPr algn="ctr" indent="0" marL="0">
              <a:buNone/>
            </a:pPr>
            <a:r>
              <a:rPr lang="en-US" sz="1600" b="1" dirty="0">
                <a:solidFill>
                  <a:srgbClr val="1F1F1F"/>
                </a:solidFill>
                <a:latin typeface="Yu Mincho" pitchFamily="34" charset="0"/>
                <a:ea typeface="Yu Mincho" pitchFamily="34" charset="-122"/>
                <a:cs typeface="Yu Mincho" pitchFamily="34" charset="-120"/>
              </a:rPr>
              <a:t>2月</a:t>
            </a:r>
            <a:endParaRPr lang="en-US" sz="1600" dirty="0"/>
          </a:p>
        </p:txBody>
      </p:sp>
      <p:sp>
        <p:nvSpPr>
          <p:cNvPr id="9" name="Shape 7"/>
          <p:cNvSpPr/>
          <p:nvPr/>
        </p:nvSpPr>
        <p:spPr>
          <a:xfrm>
            <a:off x="8752637" y="1874520"/>
            <a:ext cx="2753258" cy="3108960"/>
          </a:xfrm>
          <a:prstGeom prst="rect">
            <a:avLst/>
          </a:prstGeom>
          <a:solidFill>
            <a:srgbClr val="F7F7F6"/>
          </a:solidFill>
          <a:ln w="12700">
            <a:solidFill>
              <a:srgbClr val="F7F7F6"/>
            </a:solidFill>
            <a:prstDash val="solid"/>
          </a:ln>
        </p:spPr>
      </p:sp>
      <p:sp>
        <p:nvSpPr>
          <p:cNvPr id="10" name="Text 8"/>
          <p:cNvSpPr txBox="1"/>
          <p:nvPr/>
        </p:nvSpPr>
        <p:spPr>
          <a:xfrm>
            <a:off x="8752637" y="1920240"/>
            <a:ext cx="2753258" cy="365760"/>
          </a:xfrm>
          <a:prstGeom prst="rect">
            <a:avLst/>
          </a:prstGeom>
          <a:noFill/>
          <a:ln/>
        </p:spPr>
        <p:txBody>
          <a:bodyPr wrap="square" lIns="0" tIns="0" rIns="0" bIns="0" rtlCol="0" anchor="ctr"/>
          <a:lstStyle/>
          <a:p>
            <a:pPr algn="ctr" indent="0" marL="0">
              <a:buNone/>
            </a:pPr>
            <a:r>
              <a:rPr lang="en-US" sz="1600" b="1" dirty="0">
                <a:solidFill>
                  <a:srgbClr val="1F1F1F"/>
                </a:solidFill>
                <a:latin typeface="Yu Mincho" pitchFamily="34" charset="0"/>
                <a:ea typeface="Yu Mincho" pitchFamily="34" charset="-122"/>
                <a:cs typeface="Yu Mincho" pitchFamily="34" charset="-120"/>
              </a:rPr>
              <a:t>3月</a:t>
            </a:r>
            <a:endParaRPr lang="en-US" sz="1600" dirty="0"/>
          </a:p>
        </p:txBody>
      </p:sp>
      <p:sp>
        <p:nvSpPr>
          <p:cNvPr id="11" name="Text 9"/>
          <p:cNvSpPr txBox="1"/>
          <p:nvPr/>
        </p:nvSpPr>
        <p:spPr>
          <a:xfrm>
            <a:off x="685800" y="2395728"/>
            <a:ext cx="2423160" cy="274320"/>
          </a:xfrm>
          <a:prstGeom prst="rect">
            <a:avLst/>
          </a:prstGeom>
          <a:noFill/>
          <a:ln/>
        </p:spPr>
        <p:txBody>
          <a:bodyPr wrap="square" lIns="0" tIns="0" rIns="0" bIns="0" rtlCol="0" anchor="t"/>
          <a:lstStyle/>
          <a:p>
            <a:pPr indent="0" marL="0">
              <a:lnSpc>
                <a:spcPct val="125000"/>
              </a:lnSpc>
              <a:buNone/>
            </a:pPr>
            <a:r>
              <a:rPr lang="en-US" sz="1150" dirty="0">
                <a:solidFill>
                  <a:srgbClr val="1F1F1F"/>
                </a:solidFill>
                <a:latin typeface="Yu Gothic" pitchFamily="34" charset="0"/>
                <a:ea typeface="Yu Gothic" pitchFamily="34" charset="-122"/>
                <a:cs typeface="Yu Gothic" pitchFamily="34" charset="-120"/>
              </a:rPr>
              <a:t>資料の受け取り・調査条件の確認</a:t>
            </a:r>
            <a:endParaRPr lang="en-US" sz="1150" dirty="0"/>
          </a:p>
        </p:txBody>
      </p:sp>
      <p:sp>
        <p:nvSpPr>
          <p:cNvPr id="12" name="Shape 10"/>
          <p:cNvSpPr/>
          <p:nvPr/>
        </p:nvSpPr>
        <p:spPr>
          <a:xfrm>
            <a:off x="3246120" y="2432304"/>
            <a:ext cx="1238966" cy="182880"/>
          </a:xfrm>
          <a:prstGeom prst="roundRect">
            <a:avLst>
              <a:gd name="adj" fmla="val 50000"/>
            </a:avLst>
          </a:prstGeom>
          <a:solidFill>
            <a:srgbClr val="9A9A96"/>
          </a:solidFill>
          <a:ln w="12700">
            <a:solidFill>
              <a:srgbClr val="9A9A96"/>
            </a:solidFill>
            <a:prstDash val="solid"/>
          </a:ln>
        </p:spPr>
      </p:sp>
      <p:sp>
        <p:nvSpPr>
          <p:cNvPr id="13" name="Text 11"/>
          <p:cNvSpPr txBox="1"/>
          <p:nvPr/>
        </p:nvSpPr>
        <p:spPr>
          <a:xfrm>
            <a:off x="685800" y="2743200"/>
            <a:ext cx="2423160" cy="274320"/>
          </a:xfrm>
          <a:prstGeom prst="rect">
            <a:avLst/>
          </a:prstGeom>
          <a:noFill/>
          <a:ln/>
        </p:spPr>
        <p:txBody>
          <a:bodyPr wrap="square" lIns="0" tIns="0" rIns="0" bIns="0" rtlCol="0" anchor="t"/>
          <a:lstStyle/>
          <a:p>
            <a:pPr indent="0" marL="0">
              <a:lnSpc>
                <a:spcPct val="125000"/>
              </a:lnSpc>
              <a:buNone/>
            </a:pPr>
            <a:r>
              <a:rPr lang="en-US" sz="1150" dirty="0">
                <a:solidFill>
                  <a:srgbClr val="1F1F1F"/>
                </a:solidFill>
                <a:latin typeface="Yu Gothic" pitchFamily="34" charset="0"/>
                <a:ea typeface="Yu Gothic" pitchFamily="34" charset="-122"/>
                <a:cs typeface="Yu Gothic" pitchFamily="34" charset="-120"/>
              </a:rPr>
              <a:t>調査データの分析</a:t>
            </a:r>
            <a:endParaRPr lang="en-US" sz="1150" dirty="0"/>
          </a:p>
        </p:txBody>
      </p:sp>
      <p:sp>
        <p:nvSpPr>
          <p:cNvPr id="14" name="Shape 12"/>
          <p:cNvSpPr/>
          <p:nvPr/>
        </p:nvSpPr>
        <p:spPr>
          <a:xfrm>
            <a:off x="3659109" y="2779776"/>
            <a:ext cx="2890921" cy="182880"/>
          </a:xfrm>
          <a:prstGeom prst="roundRect">
            <a:avLst>
              <a:gd name="adj" fmla="val 50000"/>
            </a:avLst>
          </a:prstGeom>
          <a:solidFill>
            <a:srgbClr val="9A9A96"/>
          </a:solidFill>
          <a:ln w="12700">
            <a:solidFill>
              <a:srgbClr val="9A9A96"/>
            </a:solidFill>
            <a:prstDash val="solid"/>
          </a:ln>
        </p:spPr>
      </p:sp>
      <p:sp>
        <p:nvSpPr>
          <p:cNvPr id="15" name="Text 13"/>
          <p:cNvSpPr txBox="1"/>
          <p:nvPr/>
        </p:nvSpPr>
        <p:spPr>
          <a:xfrm>
            <a:off x="685800" y="3090672"/>
            <a:ext cx="2423160" cy="274320"/>
          </a:xfrm>
          <a:prstGeom prst="rect">
            <a:avLst/>
          </a:prstGeom>
          <a:noFill/>
          <a:ln/>
        </p:spPr>
        <p:txBody>
          <a:bodyPr wrap="square" lIns="0" tIns="0" rIns="0" bIns="0" rtlCol="0" anchor="t"/>
          <a:lstStyle/>
          <a:p>
            <a:pPr indent="0" marL="0">
              <a:lnSpc>
                <a:spcPct val="125000"/>
              </a:lnSpc>
              <a:buNone/>
            </a:pPr>
            <a:r>
              <a:rPr lang="en-US" sz="1150" dirty="0">
                <a:solidFill>
                  <a:srgbClr val="1F1F1F"/>
                </a:solidFill>
                <a:latin typeface="Yu Gothic" pitchFamily="34" charset="0"/>
                <a:ea typeface="Yu Gothic" pitchFamily="34" charset="-122"/>
                <a:cs typeface="Yu Gothic" pitchFamily="34" charset="-120"/>
              </a:rPr>
              <a:t>発信物の点検・職員ヒアリング</a:t>
            </a:r>
            <a:endParaRPr lang="en-US" sz="1150" dirty="0"/>
          </a:p>
        </p:txBody>
      </p:sp>
      <p:sp>
        <p:nvSpPr>
          <p:cNvPr id="16" name="Shape 14"/>
          <p:cNvSpPr/>
          <p:nvPr/>
        </p:nvSpPr>
        <p:spPr>
          <a:xfrm>
            <a:off x="4209760" y="3127248"/>
            <a:ext cx="2202607" cy="182880"/>
          </a:xfrm>
          <a:prstGeom prst="roundRect">
            <a:avLst>
              <a:gd name="adj" fmla="val 50000"/>
            </a:avLst>
          </a:prstGeom>
          <a:solidFill>
            <a:srgbClr val="9A9A96"/>
          </a:solidFill>
          <a:ln w="12700">
            <a:solidFill>
              <a:srgbClr val="9A9A96"/>
            </a:solidFill>
            <a:prstDash val="solid"/>
          </a:ln>
        </p:spPr>
      </p:sp>
      <p:sp>
        <p:nvSpPr>
          <p:cNvPr id="17" name="Text 15"/>
          <p:cNvSpPr txBox="1"/>
          <p:nvPr/>
        </p:nvSpPr>
        <p:spPr>
          <a:xfrm>
            <a:off x="685800" y="3438144"/>
            <a:ext cx="2423160" cy="274320"/>
          </a:xfrm>
          <a:prstGeom prst="rect">
            <a:avLst/>
          </a:prstGeom>
          <a:noFill/>
          <a:ln/>
        </p:spPr>
        <p:txBody>
          <a:bodyPr wrap="square" lIns="0" tIns="0" rIns="0" bIns="0" rtlCol="0" anchor="t"/>
          <a:lstStyle/>
          <a:p>
            <a:pPr indent="0" marL="0">
              <a:lnSpc>
                <a:spcPct val="125000"/>
              </a:lnSpc>
              <a:buNone/>
            </a:pPr>
            <a:r>
              <a:rPr lang="en-US" sz="1150" dirty="0">
                <a:solidFill>
                  <a:srgbClr val="1F1F1F"/>
                </a:solidFill>
                <a:latin typeface="Yu Gothic" pitchFamily="34" charset="0"/>
                <a:ea typeface="Yu Gothic" pitchFamily="34" charset="-122"/>
                <a:cs typeface="Yu Gothic" pitchFamily="34" charset="-120"/>
              </a:rPr>
              <a:t>広げる／深めるの配分を決める</a:t>
            </a:r>
            <a:endParaRPr lang="en-US" sz="1150" dirty="0"/>
          </a:p>
        </p:txBody>
      </p:sp>
      <p:sp>
        <p:nvSpPr>
          <p:cNvPr id="18" name="Shape 16"/>
          <p:cNvSpPr/>
          <p:nvPr/>
        </p:nvSpPr>
        <p:spPr>
          <a:xfrm>
            <a:off x="5999378" y="3474720"/>
            <a:ext cx="2202607" cy="182880"/>
          </a:xfrm>
          <a:prstGeom prst="roundRect">
            <a:avLst>
              <a:gd name="adj" fmla="val 50000"/>
            </a:avLst>
          </a:prstGeom>
          <a:solidFill>
            <a:srgbClr val="9A9A96"/>
          </a:solidFill>
          <a:ln w="12700">
            <a:solidFill>
              <a:srgbClr val="9A9A96"/>
            </a:solidFill>
            <a:prstDash val="solid"/>
          </a:ln>
        </p:spPr>
      </p:sp>
      <p:sp>
        <p:nvSpPr>
          <p:cNvPr id="19" name="Text 17"/>
          <p:cNvSpPr txBox="1"/>
          <p:nvPr/>
        </p:nvSpPr>
        <p:spPr>
          <a:xfrm>
            <a:off x="685800" y="3785616"/>
            <a:ext cx="2423160" cy="274320"/>
          </a:xfrm>
          <a:prstGeom prst="rect">
            <a:avLst/>
          </a:prstGeom>
          <a:noFill/>
          <a:ln/>
        </p:spPr>
        <p:txBody>
          <a:bodyPr wrap="square" lIns="0" tIns="0" rIns="0" bIns="0" rtlCol="0" anchor="t"/>
          <a:lstStyle/>
          <a:p>
            <a:pPr indent="0" marL="0">
              <a:lnSpc>
                <a:spcPct val="125000"/>
              </a:lnSpc>
              <a:buNone/>
            </a:pPr>
            <a:r>
              <a:rPr lang="en-US" sz="1150" dirty="0">
                <a:solidFill>
                  <a:srgbClr val="1F1F1F"/>
                </a:solidFill>
                <a:latin typeface="Yu Gothic" pitchFamily="34" charset="0"/>
                <a:ea typeface="Yu Gothic" pitchFamily="34" charset="-122"/>
                <a:cs typeface="Yu Gothic" pitchFamily="34" charset="-120"/>
              </a:rPr>
              <a:t>改善案6つの評価 → 重点3つ</a:t>
            </a:r>
            <a:endParaRPr lang="en-US" sz="1150" dirty="0"/>
          </a:p>
        </p:txBody>
      </p:sp>
      <p:sp>
        <p:nvSpPr>
          <p:cNvPr id="20" name="Shape 18"/>
          <p:cNvSpPr/>
          <p:nvPr/>
        </p:nvSpPr>
        <p:spPr>
          <a:xfrm>
            <a:off x="6825356" y="3822192"/>
            <a:ext cx="2202607" cy="182880"/>
          </a:xfrm>
          <a:prstGeom prst="roundRect">
            <a:avLst>
              <a:gd name="adj" fmla="val 50000"/>
            </a:avLst>
          </a:prstGeom>
          <a:solidFill>
            <a:srgbClr val="9A9A96"/>
          </a:solidFill>
          <a:ln w="12700">
            <a:solidFill>
              <a:srgbClr val="9A9A96"/>
            </a:solidFill>
            <a:prstDash val="solid"/>
          </a:ln>
        </p:spPr>
      </p:sp>
      <p:sp>
        <p:nvSpPr>
          <p:cNvPr id="21" name="Text 19"/>
          <p:cNvSpPr txBox="1"/>
          <p:nvPr/>
        </p:nvSpPr>
        <p:spPr>
          <a:xfrm>
            <a:off x="685800" y="4133088"/>
            <a:ext cx="2423160" cy="274320"/>
          </a:xfrm>
          <a:prstGeom prst="rect">
            <a:avLst/>
          </a:prstGeom>
          <a:noFill/>
          <a:ln/>
        </p:spPr>
        <p:txBody>
          <a:bodyPr wrap="square" lIns="0" tIns="0" rIns="0" bIns="0" rtlCol="0" anchor="t"/>
          <a:lstStyle/>
          <a:p>
            <a:pPr indent="0" marL="0">
              <a:lnSpc>
                <a:spcPct val="125000"/>
              </a:lnSpc>
              <a:buNone/>
            </a:pPr>
            <a:r>
              <a:rPr lang="en-US" sz="1150" dirty="0">
                <a:solidFill>
                  <a:srgbClr val="1F1F1F"/>
                </a:solidFill>
                <a:latin typeface="Yu Gothic" pitchFamily="34" charset="0"/>
                <a:ea typeface="Yu Gothic" pitchFamily="34" charset="-122"/>
                <a:cs typeface="Yu Gothic" pitchFamily="34" charset="-120"/>
              </a:rPr>
              <a:t>重点3案の具体化・年間計画</a:t>
            </a:r>
            <a:endParaRPr lang="en-US" sz="1150" dirty="0"/>
          </a:p>
        </p:txBody>
      </p:sp>
      <p:sp>
        <p:nvSpPr>
          <p:cNvPr id="22" name="Shape 20"/>
          <p:cNvSpPr/>
          <p:nvPr/>
        </p:nvSpPr>
        <p:spPr>
          <a:xfrm>
            <a:off x="8477311" y="4169664"/>
            <a:ext cx="2615595" cy="182880"/>
          </a:xfrm>
          <a:prstGeom prst="roundRect">
            <a:avLst>
              <a:gd name="adj" fmla="val 50000"/>
            </a:avLst>
          </a:prstGeom>
          <a:solidFill>
            <a:srgbClr val="9A9A96"/>
          </a:solidFill>
          <a:ln w="12700">
            <a:solidFill>
              <a:srgbClr val="9A9A96"/>
            </a:solidFill>
            <a:prstDash val="solid"/>
          </a:ln>
        </p:spPr>
      </p:sp>
      <p:sp>
        <p:nvSpPr>
          <p:cNvPr id="23" name="Text 21"/>
          <p:cNvSpPr txBox="1"/>
          <p:nvPr/>
        </p:nvSpPr>
        <p:spPr>
          <a:xfrm>
            <a:off x="685800" y="4480560"/>
            <a:ext cx="2423160" cy="274320"/>
          </a:xfrm>
          <a:prstGeom prst="rect">
            <a:avLst/>
          </a:prstGeom>
          <a:noFill/>
          <a:ln/>
        </p:spPr>
        <p:txBody>
          <a:bodyPr wrap="square" lIns="0" tIns="0" rIns="0" bIns="0" rtlCol="0" anchor="t"/>
          <a:lstStyle/>
          <a:p>
            <a:pPr indent="0" marL="0">
              <a:lnSpc>
                <a:spcPct val="125000"/>
              </a:lnSpc>
              <a:buNone/>
            </a:pPr>
            <a:r>
              <a:rPr lang="en-US" sz="1150" dirty="0">
                <a:solidFill>
                  <a:srgbClr val="1F1F1F"/>
                </a:solidFill>
                <a:latin typeface="Yu Gothic" pitchFamily="34" charset="0"/>
                <a:ea typeface="Yu Gothic" pitchFamily="34" charset="-122"/>
                <a:cs typeface="Yu Gothic" pitchFamily="34" charset="-120"/>
              </a:rPr>
              <a:t>評価シート・次回調査への提案</a:t>
            </a:r>
            <a:endParaRPr lang="en-US" sz="1150" dirty="0"/>
          </a:p>
        </p:txBody>
      </p:sp>
      <p:sp>
        <p:nvSpPr>
          <p:cNvPr id="24" name="Shape 22"/>
          <p:cNvSpPr/>
          <p:nvPr/>
        </p:nvSpPr>
        <p:spPr>
          <a:xfrm>
            <a:off x="9303288" y="4517136"/>
            <a:ext cx="2064944" cy="182880"/>
          </a:xfrm>
          <a:prstGeom prst="roundRect">
            <a:avLst>
              <a:gd name="adj" fmla="val 50000"/>
            </a:avLst>
          </a:prstGeom>
          <a:solidFill>
            <a:srgbClr val="9A9A96"/>
          </a:solidFill>
          <a:ln w="12700">
            <a:solidFill>
              <a:srgbClr val="9A9A96"/>
            </a:solidFill>
            <a:prstDash val="solid"/>
          </a:ln>
        </p:spPr>
      </p:sp>
      <p:sp>
        <p:nvSpPr>
          <p:cNvPr id="25" name="Shape 23"/>
          <p:cNvSpPr/>
          <p:nvPr/>
        </p:nvSpPr>
        <p:spPr>
          <a:xfrm>
            <a:off x="4760412" y="2331720"/>
            <a:ext cx="0" cy="2606040"/>
          </a:xfrm>
          <a:prstGeom prst="line">
            <a:avLst/>
          </a:prstGeom>
          <a:noFill/>
          <a:ln w="15875">
            <a:solidFill>
              <a:srgbClr val="C0462B"/>
            </a:solidFill>
            <a:prstDash val="dash"/>
          </a:ln>
        </p:spPr>
      </p:sp>
      <p:sp>
        <p:nvSpPr>
          <p:cNvPr id="26" name="Shape 24"/>
          <p:cNvSpPr/>
          <p:nvPr/>
        </p:nvSpPr>
        <p:spPr>
          <a:xfrm>
            <a:off x="4659828" y="4864608"/>
            <a:ext cx="201168" cy="201168"/>
          </a:xfrm>
          <a:prstGeom prst="ellipse">
            <a:avLst/>
          </a:prstGeom>
          <a:solidFill>
            <a:srgbClr val="C0462B"/>
          </a:solidFill>
          <a:ln w="12700">
            <a:solidFill>
              <a:srgbClr val="C0462B"/>
            </a:solidFill>
            <a:prstDash val="solid"/>
          </a:ln>
        </p:spPr>
      </p:sp>
      <p:sp>
        <p:nvSpPr>
          <p:cNvPr id="27" name="Text 25"/>
          <p:cNvSpPr txBox="1"/>
          <p:nvPr/>
        </p:nvSpPr>
        <p:spPr>
          <a:xfrm>
            <a:off x="3754572" y="5166360"/>
            <a:ext cx="2011680" cy="274320"/>
          </a:xfrm>
          <a:prstGeom prst="rect">
            <a:avLst/>
          </a:prstGeom>
          <a:noFill/>
          <a:ln/>
        </p:spPr>
        <p:txBody>
          <a:bodyPr wrap="square" lIns="0" tIns="0" rIns="0" bIns="0" rtlCol="0" anchor="t"/>
          <a:lstStyle/>
          <a:p>
            <a:pPr algn="ct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第1回</a:t>
            </a:r>
            <a:endParaRPr lang="en-US" sz="1300" dirty="0"/>
          </a:p>
        </p:txBody>
      </p:sp>
      <p:sp>
        <p:nvSpPr>
          <p:cNvPr id="28" name="Text 26"/>
          <p:cNvSpPr txBox="1"/>
          <p:nvPr/>
        </p:nvSpPr>
        <p:spPr>
          <a:xfrm>
            <a:off x="3617412" y="5468112"/>
            <a:ext cx="2286000" cy="548640"/>
          </a:xfrm>
          <a:prstGeom prst="rect">
            <a:avLst/>
          </a:prstGeom>
          <a:noFill/>
          <a:ln/>
        </p:spPr>
        <p:txBody>
          <a:bodyPr wrap="square" lIns="0" tIns="0" rIns="0" bIns="0" rtlCol="0" anchor="t"/>
          <a:lstStyle/>
          <a:p>
            <a:pPr algn="ctr" indent="0" marL="0">
              <a:lnSpc>
                <a:spcPct val="120000"/>
              </a:lnSpc>
              <a:buNone/>
            </a:pPr>
            <a:r>
              <a:rPr lang="en-US" sz="1100" dirty="0">
                <a:solidFill>
                  <a:srgbClr val="6B6B6B"/>
                </a:solidFill>
                <a:latin typeface="Yu Gothic" pitchFamily="34" charset="0"/>
                <a:ea typeface="Yu Gothic" pitchFamily="34" charset="-122"/>
                <a:cs typeface="Yu Gothic" pitchFamily="34" charset="-120"/>
              </a:rPr>
              <a:t>問いと「低い」の</a:t>
            </a:r>
            <a:endParaRPr lang="en-US" sz="1100" dirty="0"/>
          </a:p>
          <a:p>
            <a:pPr algn="ctr" indent="0" marL="0">
              <a:lnSpc>
                <a:spcPct val="120000"/>
              </a:lnSpc>
              <a:buNone/>
            </a:pPr>
            <a:r>
              <a:rPr lang="en-US" sz="1100" dirty="0">
                <a:solidFill>
                  <a:srgbClr val="6B6B6B"/>
                </a:solidFill>
                <a:latin typeface="Yu Gothic" pitchFamily="34" charset="0"/>
                <a:ea typeface="Yu Gothic" pitchFamily="34" charset="-122"/>
                <a:cs typeface="Yu Gothic" pitchFamily="34" charset="-120"/>
              </a:rPr>
              <a:t>物差しを合意</a:t>
            </a:r>
            <a:endParaRPr lang="en-US" sz="1100" dirty="0"/>
          </a:p>
        </p:txBody>
      </p:sp>
      <p:sp>
        <p:nvSpPr>
          <p:cNvPr id="29" name="Shape 27"/>
          <p:cNvSpPr/>
          <p:nvPr/>
        </p:nvSpPr>
        <p:spPr>
          <a:xfrm>
            <a:off x="7376008" y="2331720"/>
            <a:ext cx="0" cy="2606040"/>
          </a:xfrm>
          <a:prstGeom prst="line">
            <a:avLst/>
          </a:prstGeom>
          <a:noFill/>
          <a:ln w="15875">
            <a:solidFill>
              <a:srgbClr val="C0462B"/>
            </a:solidFill>
            <a:prstDash val="dash"/>
          </a:ln>
        </p:spPr>
      </p:sp>
      <p:sp>
        <p:nvSpPr>
          <p:cNvPr id="30" name="Shape 28"/>
          <p:cNvSpPr/>
          <p:nvPr/>
        </p:nvSpPr>
        <p:spPr>
          <a:xfrm>
            <a:off x="7275424" y="4864608"/>
            <a:ext cx="201168" cy="201168"/>
          </a:xfrm>
          <a:prstGeom prst="ellipse">
            <a:avLst/>
          </a:prstGeom>
          <a:solidFill>
            <a:srgbClr val="C0462B"/>
          </a:solidFill>
          <a:ln w="12700">
            <a:solidFill>
              <a:srgbClr val="C0462B"/>
            </a:solidFill>
            <a:prstDash val="solid"/>
          </a:ln>
        </p:spPr>
      </p:sp>
      <p:sp>
        <p:nvSpPr>
          <p:cNvPr id="31" name="Text 29"/>
          <p:cNvSpPr txBox="1"/>
          <p:nvPr/>
        </p:nvSpPr>
        <p:spPr>
          <a:xfrm>
            <a:off x="6370168" y="5166360"/>
            <a:ext cx="2011680" cy="274320"/>
          </a:xfrm>
          <a:prstGeom prst="rect">
            <a:avLst/>
          </a:prstGeom>
          <a:noFill/>
          <a:ln/>
        </p:spPr>
        <p:txBody>
          <a:bodyPr wrap="square" lIns="0" tIns="0" rIns="0" bIns="0" rtlCol="0" anchor="t"/>
          <a:lstStyle/>
          <a:p>
            <a:pPr algn="ct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第2回</a:t>
            </a:r>
            <a:endParaRPr lang="en-US" sz="1300" dirty="0"/>
          </a:p>
        </p:txBody>
      </p:sp>
      <p:sp>
        <p:nvSpPr>
          <p:cNvPr id="32" name="Text 30"/>
          <p:cNvSpPr txBox="1"/>
          <p:nvPr/>
        </p:nvSpPr>
        <p:spPr>
          <a:xfrm>
            <a:off x="6233008" y="5468112"/>
            <a:ext cx="2286000" cy="548640"/>
          </a:xfrm>
          <a:prstGeom prst="rect">
            <a:avLst/>
          </a:prstGeom>
          <a:noFill/>
          <a:ln/>
        </p:spPr>
        <p:txBody>
          <a:bodyPr wrap="square" lIns="0" tIns="0" rIns="0" bIns="0" rtlCol="0" anchor="t"/>
          <a:lstStyle/>
          <a:p>
            <a:pPr algn="ctr" indent="0" marL="0">
              <a:lnSpc>
                <a:spcPct val="120000"/>
              </a:lnSpc>
              <a:buNone/>
            </a:pPr>
            <a:r>
              <a:rPr lang="en-US" sz="1100" dirty="0">
                <a:solidFill>
                  <a:srgbClr val="6B6B6B"/>
                </a:solidFill>
                <a:latin typeface="Yu Gothic" pitchFamily="34" charset="0"/>
                <a:ea typeface="Yu Gothic" pitchFamily="34" charset="-122"/>
                <a:cs typeface="Yu Gothic" pitchFamily="34" charset="-120"/>
              </a:rPr>
              <a:t>診断結果の共有、</a:t>
            </a:r>
            <a:endParaRPr lang="en-US" sz="1100" dirty="0"/>
          </a:p>
          <a:p>
            <a:pPr algn="ctr" indent="0" marL="0">
              <a:lnSpc>
                <a:spcPct val="120000"/>
              </a:lnSpc>
              <a:buNone/>
            </a:pPr>
            <a:r>
              <a:rPr lang="en-US" sz="1100" dirty="0">
                <a:solidFill>
                  <a:srgbClr val="6B6B6B"/>
                </a:solidFill>
                <a:latin typeface="Yu Gothic" pitchFamily="34" charset="0"/>
                <a:ea typeface="Yu Gothic" pitchFamily="34" charset="-122"/>
                <a:cs typeface="Yu Gothic" pitchFamily="34" charset="-120"/>
              </a:rPr>
              <a:t>重点3案を選ぶ</a:t>
            </a:r>
            <a:endParaRPr lang="en-US" sz="1100" dirty="0"/>
          </a:p>
        </p:txBody>
      </p:sp>
      <p:sp>
        <p:nvSpPr>
          <p:cNvPr id="33" name="Shape 31"/>
          <p:cNvSpPr/>
          <p:nvPr/>
        </p:nvSpPr>
        <p:spPr>
          <a:xfrm>
            <a:off x="10404592" y="2331720"/>
            <a:ext cx="0" cy="2606040"/>
          </a:xfrm>
          <a:prstGeom prst="line">
            <a:avLst/>
          </a:prstGeom>
          <a:noFill/>
          <a:ln w="15875">
            <a:solidFill>
              <a:srgbClr val="C0462B"/>
            </a:solidFill>
            <a:prstDash val="dash"/>
          </a:ln>
        </p:spPr>
      </p:sp>
      <p:sp>
        <p:nvSpPr>
          <p:cNvPr id="34" name="Shape 32"/>
          <p:cNvSpPr/>
          <p:nvPr/>
        </p:nvSpPr>
        <p:spPr>
          <a:xfrm>
            <a:off x="10304008" y="4864608"/>
            <a:ext cx="201168" cy="201168"/>
          </a:xfrm>
          <a:prstGeom prst="ellipse">
            <a:avLst/>
          </a:prstGeom>
          <a:solidFill>
            <a:srgbClr val="C0462B"/>
          </a:solidFill>
          <a:ln w="12700">
            <a:solidFill>
              <a:srgbClr val="C0462B"/>
            </a:solidFill>
            <a:prstDash val="solid"/>
          </a:ln>
        </p:spPr>
      </p:sp>
      <p:sp>
        <p:nvSpPr>
          <p:cNvPr id="35" name="Text 33"/>
          <p:cNvSpPr txBox="1"/>
          <p:nvPr/>
        </p:nvSpPr>
        <p:spPr>
          <a:xfrm>
            <a:off x="9398752" y="5166360"/>
            <a:ext cx="2011680" cy="274320"/>
          </a:xfrm>
          <a:prstGeom prst="rect">
            <a:avLst/>
          </a:prstGeom>
          <a:noFill/>
          <a:ln/>
        </p:spPr>
        <p:txBody>
          <a:bodyPr wrap="square" lIns="0" tIns="0" rIns="0" bIns="0" rtlCol="0" anchor="t"/>
          <a:lstStyle/>
          <a:p>
            <a:pPr algn="ct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第3回</a:t>
            </a:r>
            <a:endParaRPr lang="en-US" sz="1300" dirty="0"/>
          </a:p>
        </p:txBody>
      </p:sp>
      <p:sp>
        <p:nvSpPr>
          <p:cNvPr id="36" name="Text 34"/>
          <p:cNvSpPr txBox="1"/>
          <p:nvPr/>
        </p:nvSpPr>
        <p:spPr>
          <a:xfrm>
            <a:off x="9261592" y="5468112"/>
            <a:ext cx="2286000" cy="548640"/>
          </a:xfrm>
          <a:prstGeom prst="rect">
            <a:avLst/>
          </a:prstGeom>
          <a:noFill/>
          <a:ln/>
        </p:spPr>
        <p:txBody>
          <a:bodyPr wrap="square" lIns="0" tIns="0" rIns="0" bIns="0" rtlCol="0" anchor="t"/>
          <a:lstStyle/>
          <a:p>
            <a:pPr algn="ctr" indent="0" marL="0">
              <a:lnSpc>
                <a:spcPct val="120000"/>
              </a:lnSpc>
              <a:buNone/>
            </a:pPr>
            <a:r>
              <a:rPr lang="en-US" sz="1100" dirty="0">
                <a:solidFill>
                  <a:srgbClr val="6B6B6B"/>
                </a:solidFill>
                <a:latin typeface="Yu Gothic" pitchFamily="34" charset="0"/>
                <a:ea typeface="Yu Gothic" pitchFamily="34" charset="-122"/>
                <a:cs typeface="Yu Gothic" pitchFamily="34" charset="-120"/>
              </a:rPr>
              <a:t>最終案の合意</a:t>
            </a:r>
            <a:endParaRPr lang="en-US" sz="1100" dirty="0"/>
          </a:p>
          <a:p>
            <a:pPr algn="ctr" indent="0" marL="0">
              <a:lnSpc>
                <a:spcPct val="120000"/>
              </a:lnSpc>
              <a:buNone/>
            </a:pPr>
            <a:r>
              <a:rPr lang="en-US" sz="1100" dirty="0">
                <a:solidFill>
                  <a:srgbClr val="6B6B6B"/>
                </a:solidFill>
                <a:latin typeface="Yu Gothic" pitchFamily="34" charset="0"/>
                <a:ea typeface="Yu Gothic" pitchFamily="34" charset="-122"/>
                <a:cs typeface="Yu Gothic" pitchFamily="34" charset="-120"/>
              </a:rPr>
              <a:t>→ 納品</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11</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3月末にお渡しするもの。</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今年度の報告書で終わらせず、来年度の計画と、次の調査にそのまま使える形にします。</a:t>
            </a:r>
            <a:endParaRPr lang="en-US" sz="1400" dirty="0"/>
          </a:p>
        </p:txBody>
      </p:sp>
      <p:sp>
        <p:nvSpPr>
          <p:cNvPr id="6" name="Shape 4"/>
          <p:cNvSpPr/>
          <p:nvPr/>
        </p:nvSpPr>
        <p:spPr>
          <a:xfrm>
            <a:off x="685800" y="2011680"/>
            <a:ext cx="10820095" cy="0"/>
          </a:xfrm>
          <a:prstGeom prst="line">
            <a:avLst/>
          </a:prstGeom>
          <a:noFill/>
          <a:ln w="9525">
            <a:solidFill>
              <a:srgbClr val="D6D6D3"/>
            </a:solidFill>
            <a:prstDash val="solid"/>
          </a:ln>
        </p:spPr>
      </p:sp>
      <p:sp>
        <p:nvSpPr>
          <p:cNvPr id="7" name="Text 5"/>
          <p:cNvSpPr txBox="1"/>
          <p:nvPr/>
        </p:nvSpPr>
        <p:spPr>
          <a:xfrm>
            <a:off x="685800" y="2139696"/>
            <a:ext cx="457200" cy="457200"/>
          </a:xfrm>
          <a:prstGeom prst="rect">
            <a:avLst/>
          </a:prstGeom>
          <a:noFill/>
          <a:ln/>
        </p:spPr>
        <p:txBody>
          <a:bodyPr wrap="square" lIns="0" tIns="0" rIns="0" bIns="0" rtlCol="0" anchor="t"/>
          <a:lstStyle/>
          <a:p>
            <a:pPr indent="0" marL="0">
              <a:buNone/>
            </a:pPr>
            <a:r>
              <a:rPr lang="en-US" sz="2200" b="1" dirty="0">
                <a:solidFill>
                  <a:srgbClr val="C0462B"/>
                </a:solidFill>
                <a:latin typeface="Yu Mincho" pitchFamily="34" charset="0"/>
                <a:ea typeface="Yu Mincho" pitchFamily="34" charset="-122"/>
                <a:cs typeface="Yu Mincho" pitchFamily="34" charset="-120"/>
              </a:rPr>
              <a:t>1</a:t>
            </a:r>
            <a:endParaRPr lang="en-US" sz="2200" dirty="0"/>
          </a:p>
        </p:txBody>
      </p:sp>
      <p:sp>
        <p:nvSpPr>
          <p:cNvPr id="8" name="Text 6"/>
          <p:cNvSpPr txBox="1"/>
          <p:nvPr/>
        </p:nvSpPr>
        <p:spPr>
          <a:xfrm>
            <a:off x="1280160" y="2194560"/>
            <a:ext cx="4206240" cy="45720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認知度の診断レポート</a:t>
            </a:r>
            <a:endParaRPr lang="en-US" sz="1500" dirty="0"/>
          </a:p>
        </p:txBody>
      </p:sp>
      <p:sp>
        <p:nvSpPr>
          <p:cNvPr id="9" name="Text 7"/>
          <p:cNvSpPr txBox="1"/>
          <p:nvPr/>
        </p:nvSpPr>
        <p:spPr>
          <a:xfrm>
            <a:off x="5120640" y="2194560"/>
            <a:ext cx="6385255" cy="548640"/>
          </a:xfrm>
          <a:prstGeom prst="rect">
            <a:avLst/>
          </a:prstGeom>
          <a:noFill/>
          <a:ln/>
        </p:spPr>
        <p:txBody>
          <a:bodyPr wrap="square" lIns="0" tIns="0" rIns="0" bIns="0" rtlCol="0" anchor="t"/>
          <a:lstStyle/>
          <a:p>
            <a:pPr indent="0" marL="0">
              <a:lnSpc>
                <a:spcPct val="135000"/>
              </a:lnSpc>
              <a:buNone/>
            </a:pPr>
            <a:r>
              <a:rPr lang="en-US" sz="1250" dirty="0">
                <a:solidFill>
                  <a:srgbClr val="6B6B6B"/>
                </a:solidFill>
                <a:latin typeface="Yu Gothic" pitchFamily="34" charset="0"/>
                <a:ea typeface="Yu Gothic" pitchFamily="34" charset="-122"/>
                <a:cs typeface="Yu Gothic" pitchFamily="34" charset="-120"/>
              </a:rPr>
              <a:t>どの層の、どの段階で止まっているか。その理由の仮説と、データで言えること・言えないこと。</a:t>
            </a:r>
            <a:endParaRPr lang="en-US" sz="1250" dirty="0"/>
          </a:p>
        </p:txBody>
      </p:sp>
      <p:sp>
        <p:nvSpPr>
          <p:cNvPr id="10" name="Shape 8"/>
          <p:cNvSpPr/>
          <p:nvPr/>
        </p:nvSpPr>
        <p:spPr>
          <a:xfrm>
            <a:off x="685800" y="2779776"/>
            <a:ext cx="10820095" cy="0"/>
          </a:xfrm>
          <a:prstGeom prst="line">
            <a:avLst/>
          </a:prstGeom>
          <a:noFill/>
          <a:ln w="9525">
            <a:solidFill>
              <a:srgbClr val="D6D6D3"/>
            </a:solidFill>
            <a:prstDash val="solid"/>
          </a:ln>
        </p:spPr>
      </p:sp>
      <p:sp>
        <p:nvSpPr>
          <p:cNvPr id="11" name="Text 9"/>
          <p:cNvSpPr txBox="1"/>
          <p:nvPr/>
        </p:nvSpPr>
        <p:spPr>
          <a:xfrm>
            <a:off x="685800" y="2907792"/>
            <a:ext cx="457200" cy="457200"/>
          </a:xfrm>
          <a:prstGeom prst="rect">
            <a:avLst/>
          </a:prstGeom>
          <a:noFill/>
          <a:ln/>
        </p:spPr>
        <p:txBody>
          <a:bodyPr wrap="square" lIns="0" tIns="0" rIns="0" bIns="0" rtlCol="0" anchor="t"/>
          <a:lstStyle/>
          <a:p>
            <a:pPr indent="0" marL="0">
              <a:buNone/>
            </a:pPr>
            <a:r>
              <a:rPr lang="en-US" sz="2200" b="1" dirty="0">
                <a:solidFill>
                  <a:srgbClr val="C0462B"/>
                </a:solidFill>
                <a:latin typeface="Yu Mincho" pitchFamily="34" charset="0"/>
                <a:ea typeface="Yu Mincho" pitchFamily="34" charset="-122"/>
                <a:cs typeface="Yu Mincho" pitchFamily="34" charset="-120"/>
              </a:rPr>
              <a:t>2</a:t>
            </a:r>
            <a:endParaRPr lang="en-US" sz="2200" dirty="0"/>
          </a:p>
        </p:txBody>
      </p:sp>
      <p:sp>
        <p:nvSpPr>
          <p:cNvPr id="12" name="Text 10"/>
          <p:cNvSpPr txBox="1"/>
          <p:nvPr/>
        </p:nvSpPr>
        <p:spPr>
          <a:xfrm>
            <a:off x="1280160" y="2962656"/>
            <a:ext cx="4206240" cy="45720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広報戦略（広げる／深めるの配分）</a:t>
            </a:r>
            <a:endParaRPr lang="en-US" sz="1500" dirty="0"/>
          </a:p>
        </p:txBody>
      </p:sp>
      <p:sp>
        <p:nvSpPr>
          <p:cNvPr id="13" name="Text 11"/>
          <p:cNvSpPr txBox="1"/>
          <p:nvPr/>
        </p:nvSpPr>
        <p:spPr>
          <a:xfrm>
            <a:off x="5120640" y="2962656"/>
            <a:ext cx="6385255" cy="548640"/>
          </a:xfrm>
          <a:prstGeom prst="rect">
            <a:avLst/>
          </a:prstGeom>
          <a:noFill/>
          <a:ln/>
        </p:spPr>
        <p:txBody>
          <a:bodyPr wrap="square" lIns="0" tIns="0" rIns="0" bIns="0" rtlCol="0" anchor="t"/>
          <a:lstStyle/>
          <a:p>
            <a:pPr indent="0" marL="0">
              <a:lnSpc>
                <a:spcPct val="135000"/>
              </a:lnSpc>
              <a:buNone/>
            </a:pPr>
            <a:r>
              <a:rPr lang="en-US" sz="1250" dirty="0">
                <a:solidFill>
                  <a:srgbClr val="6B6B6B"/>
                </a:solidFill>
                <a:latin typeface="Yu Gothic" pitchFamily="34" charset="0"/>
                <a:ea typeface="Yu Gothic" pitchFamily="34" charset="-122"/>
                <a:cs typeface="Yu Gothic" pitchFamily="34" charset="-120"/>
              </a:rPr>
              <a:t>どちらに、どの層で、どれだけ力を配分するか。誰に・何を・どこで伝えるか。その根拠。</a:t>
            </a:r>
            <a:endParaRPr lang="en-US" sz="1250" dirty="0"/>
          </a:p>
        </p:txBody>
      </p:sp>
      <p:sp>
        <p:nvSpPr>
          <p:cNvPr id="14" name="Shape 12"/>
          <p:cNvSpPr/>
          <p:nvPr/>
        </p:nvSpPr>
        <p:spPr>
          <a:xfrm>
            <a:off x="685800" y="3547872"/>
            <a:ext cx="10820095" cy="0"/>
          </a:xfrm>
          <a:prstGeom prst="line">
            <a:avLst/>
          </a:prstGeom>
          <a:noFill/>
          <a:ln w="9525">
            <a:solidFill>
              <a:srgbClr val="D6D6D3"/>
            </a:solidFill>
            <a:prstDash val="solid"/>
          </a:ln>
        </p:spPr>
      </p:sp>
      <p:sp>
        <p:nvSpPr>
          <p:cNvPr id="15" name="Text 13"/>
          <p:cNvSpPr txBox="1"/>
          <p:nvPr/>
        </p:nvSpPr>
        <p:spPr>
          <a:xfrm>
            <a:off x="685800" y="3675888"/>
            <a:ext cx="457200" cy="457200"/>
          </a:xfrm>
          <a:prstGeom prst="rect">
            <a:avLst/>
          </a:prstGeom>
          <a:noFill/>
          <a:ln/>
        </p:spPr>
        <p:txBody>
          <a:bodyPr wrap="square" lIns="0" tIns="0" rIns="0" bIns="0" rtlCol="0" anchor="t"/>
          <a:lstStyle/>
          <a:p>
            <a:pPr indent="0" marL="0">
              <a:buNone/>
            </a:pPr>
            <a:r>
              <a:rPr lang="en-US" sz="2200" b="1" dirty="0">
                <a:solidFill>
                  <a:srgbClr val="C0462B"/>
                </a:solidFill>
                <a:latin typeface="Yu Mincho" pitchFamily="34" charset="0"/>
                <a:ea typeface="Yu Mincho" pitchFamily="34" charset="-122"/>
                <a:cs typeface="Yu Mincho" pitchFamily="34" charset="-120"/>
              </a:rPr>
              <a:t>3</a:t>
            </a:r>
            <a:endParaRPr lang="en-US" sz="2200" dirty="0"/>
          </a:p>
        </p:txBody>
      </p:sp>
      <p:sp>
        <p:nvSpPr>
          <p:cNvPr id="16" name="Text 14"/>
          <p:cNvSpPr txBox="1"/>
          <p:nvPr/>
        </p:nvSpPr>
        <p:spPr>
          <a:xfrm>
            <a:off x="1280160" y="3730752"/>
            <a:ext cx="4206240" cy="45720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改善策 6案と優先順位（重点3案は詳細まで）</a:t>
            </a:r>
            <a:endParaRPr lang="en-US" sz="1500" dirty="0"/>
          </a:p>
        </p:txBody>
      </p:sp>
      <p:sp>
        <p:nvSpPr>
          <p:cNvPr id="17" name="Text 15"/>
          <p:cNvSpPr txBox="1"/>
          <p:nvPr/>
        </p:nvSpPr>
        <p:spPr>
          <a:xfrm>
            <a:off x="5120640" y="3730752"/>
            <a:ext cx="6385255" cy="548640"/>
          </a:xfrm>
          <a:prstGeom prst="rect">
            <a:avLst/>
          </a:prstGeom>
          <a:noFill/>
          <a:ln/>
        </p:spPr>
        <p:txBody>
          <a:bodyPr wrap="square" lIns="0" tIns="0" rIns="0" bIns="0" rtlCol="0" anchor="t"/>
          <a:lstStyle/>
          <a:p>
            <a:pPr indent="0" marL="0">
              <a:lnSpc>
                <a:spcPct val="135000"/>
              </a:lnSpc>
              <a:buNone/>
            </a:pPr>
            <a:r>
              <a:rPr lang="en-US" sz="1250" dirty="0">
                <a:solidFill>
                  <a:srgbClr val="6B6B6B"/>
                </a:solidFill>
                <a:latin typeface="Yu Gothic" pitchFamily="34" charset="0"/>
                <a:ea typeface="Yu Gothic" pitchFamily="34" charset="-122"/>
                <a:cs typeface="Yu Gothic" pitchFamily="34" charset="-120"/>
              </a:rPr>
              <a:t>効果×実行しやすさで評価。重点3案は提言シートの形で、内部の検討にそのまま回せる粒度にします。</a:t>
            </a:r>
            <a:endParaRPr lang="en-US" sz="1250" dirty="0"/>
          </a:p>
        </p:txBody>
      </p:sp>
      <p:sp>
        <p:nvSpPr>
          <p:cNvPr id="18" name="Shape 16"/>
          <p:cNvSpPr/>
          <p:nvPr/>
        </p:nvSpPr>
        <p:spPr>
          <a:xfrm>
            <a:off x="685800" y="4315968"/>
            <a:ext cx="10820095" cy="0"/>
          </a:xfrm>
          <a:prstGeom prst="line">
            <a:avLst/>
          </a:prstGeom>
          <a:noFill/>
          <a:ln w="9525">
            <a:solidFill>
              <a:srgbClr val="D6D6D3"/>
            </a:solidFill>
            <a:prstDash val="solid"/>
          </a:ln>
        </p:spPr>
      </p:sp>
      <p:sp>
        <p:nvSpPr>
          <p:cNvPr id="19" name="Text 17"/>
          <p:cNvSpPr txBox="1"/>
          <p:nvPr/>
        </p:nvSpPr>
        <p:spPr>
          <a:xfrm>
            <a:off x="685800" y="4443984"/>
            <a:ext cx="457200" cy="457200"/>
          </a:xfrm>
          <a:prstGeom prst="rect">
            <a:avLst/>
          </a:prstGeom>
          <a:noFill/>
          <a:ln/>
        </p:spPr>
        <p:txBody>
          <a:bodyPr wrap="square" lIns="0" tIns="0" rIns="0" bIns="0" rtlCol="0" anchor="t"/>
          <a:lstStyle/>
          <a:p>
            <a:pPr indent="0" marL="0">
              <a:buNone/>
            </a:pPr>
            <a:r>
              <a:rPr lang="en-US" sz="2200" b="1" dirty="0">
                <a:solidFill>
                  <a:srgbClr val="C0462B"/>
                </a:solidFill>
                <a:latin typeface="Yu Mincho" pitchFamily="34" charset="0"/>
                <a:ea typeface="Yu Mincho" pitchFamily="34" charset="-122"/>
                <a:cs typeface="Yu Mincho" pitchFamily="34" charset="-120"/>
              </a:rPr>
              <a:t>4</a:t>
            </a:r>
            <a:endParaRPr lang="en-US" sz="2200" dirty="0"/>
          </a:p>
        </p:txBody>
      </p:sp>
      <p:sp>
        <p:nvSpPr>
          <p:cNvPr id="20" name="Text 18"/>
          <p:cNvSpPr txBox="1"/>
          <p:nvPr/>
        </p:nvSpPr>
        <p:spPr>
          <a:xfrm>
            <a:off x="1280160" y="4498848"/>
            <a:ext cx="4206240" cy="45720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来年度の広報ロードマップ</a:t>
            </a:r>
            <a:endParaRPr lang="en-US" sz="1500" dirty="0"/>
          </a:p>
        </p:txBody>
      </p:sp>
      <p:sp>
        <p:nvSpPr>
          <p:cNvPr id="21" name="Text 19"/>
          <p:cNvSpPr txBox="1"/>
          <p:nvPr/>
        </p:nvSpPr>
        <p:spPr>
          <a:xfrm>
            <a:off x="5120640" y="4498848"/>
            <a:ext cx="6385255" cy="548640"/>
          </a:xfrm>
          <a:prstGeom prst="rect">
            <a:avLst/>
          </a:prstGeom>
          <a:noFill/>
          <a:ln/>
        </p:spPr>
        <p:txBody>
          <a:bodyPr wrap="square" lIns="0" tIns="0" rIns="0" bIns="0" rtlCol="0" anchor="t"/>
          <a:lstStyle/>
          <a:p>
            <a:pPr indent="0" marL="0">
              <a:lnSpc>
                <a:spcPct val="135000"/>
              </a:lnSpc>
              <a:buNone/>
            </a:pPr>
            <a:r>
              <a:rPr lang="en-US" sz="1250" dirty="0">
                <a:solidFill>
                  <a:srgbClr val="6B6B6B"/>
                </a:solidFill>
                <a:latin typeface="Yu Gothic" pitchFamily="34" charset="0"/>
                <a:ea typeface="Yu Gothic" pitchFamily="34" charset="-122"/>
                <a:cs typeface="Yu Gothic" pitchFamily="34" charset="-120"/>
              </a:rPr>
              <a:t>四半期ごとの優先施策。今ある予算でできることと、追加費用がかかることを分けて記載。</a:t>
            </a:r>
            <a:endParaRPr lang="en-US" sz="1250" dirty="0"/>
          </a:p>
        </p:txBody>
      </p:sp>
      <p:sp>
        <p:nvSpPr>
          <p:cNvPr id="22" name="Shape 20"/>
          <p:cNvSpPr/>
          <p:nvPr/>
        </p:nvSpPr>
        <p:spPr>
          <a:xfrm>
            <a:off x="685800" y="5084064"/>
            <a:ext cx="10820095" cy="0"/>
          </a:xfrm>
          <a:prstGeom prst="line">
            <a:avLst/>
          </a:prstGeom>
          <a:noFill/>
          <a:ln w="9525">
            <a:solidFill>
              <a:srgbClr val="D6D6D3"/>
            </a:solidFill>
            <a:prstDash val="solid"/>
          </a:ln>
        </p:spPr>
      </p:sp>
      <p:sp>
        <p:nvSpPr>
          <p:cNvPr id="23" name="Text 21"/>
          <p:cNvSpPr txBox="1"/>
          <p:nvPr/>
        </p:nvSpPr>
        <p:spPr>
          <a:xfrm>
            <a:off x="685800" y="5212080"/>
            <a:ext cx="457200" cy="457200"/>
          </a:xfrm>
          <a:prstGeom prst="rect">
            <a:avLst/>
          </a:prstGeom>
          <a:noFill/>
          <a:ln/>
        </p:spPr>
        <p:txBody>
          <a:bodyPr wrap="square" lIns="0" tIns="0" rIns="0" bIns="0" rtlCol="0" anchor="t"/>
          <a:lstStyle/>
          <a:p>
            <a:pPr indent="0" marL="0">
              <a:buNone/>
            </a:pPr>
            <a:r>
              <a:rPr lang="en-US" sz="2200" b="1" dirty="0">
                <a:solidFill>
                  <a:srgbClr val="C0462B"/>
                </a:solidFill>
                <a:latin typeface="Yu Mincho" pitchFamily="34" charset="0"/>
                <a:ea typeface="Yu Mincho" pitchFamily="34" charset="-122"/>
                <a:cs typeface="Yu Mincho" pitchFamily="34" charset="-120"/>
              </a:rPr>
              <a:t>5</a:t>
            </a:r>
            <a:endParaRPr lang="en-US" sz="2200" dirty="0"/>
          </a:p>
        </p:txBody>
      </p:sp>
      <p:sp>
        <p:nvSpPr>
          <p:cNvPr id="24" name="Text 22"/>
          <p:cNvSpPr txBox="1"/>
          <p:nvPr/>
        </p:nvSpPr>
        <p:spPr>
          <a:xfrm>
            <a:off x="1280160" y="5266944"/>
            <a:ext cx="4206240" cy="45720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評価シートと、次回調査への提案</a:t>
            </a:r>
            <a:endParaRPr lang="en-US" sz="1500" dirty="0"/>
          </a:p>
        </p:txBody>
      </p:sp>
      <p:sp>
        <p:nvSpPr>
          <p:cNvPr id="25" name="Text 23"/>
          <p:cNvSpPr txBox="1"/>
          <p:nvPr/>
        </p:nvSpPr>
        <p:spPr>
          <a:xfrm>
            <a:off x="5120640" y="5266944"/>
            <a:ext cx="6385255" cy="548640"/>
          </a:xfrm>
          <a:prstGeom prst="rect">
            <a:avLst/>
          </a:prstGeom>
          <a:noFill/>
          <a:ln/>
        </p:spPr>
        <p:txBody>
          <a:bodyPr wrap="square" lIns="0" tIns="0" rIns="0" bIns="0" rtlCol="0" anchor="t"/>
          <a:lstStyle/>
          <a:p>
            <a:pPr indent="0" marL="0">
              <a:lnSpc>
                <a:spcPct val="135000"/>
              </a:lnSpc>
              <a:buNone/>
            </a:pPr>
            <a:r>
              <a:rPr lang="en-US" sz="1250" dirty="0">
                <a:solidFill>
                  <a:srgbClr val="6B6B6B"/>
                </a:solidFill>
                <a:latin typeface="Yu Gothic" pitchFamily="34" charset="0"/>
                <a:ea typeface="Yu Gothic" pitchFamily="34" charset="-122"/>
                <a:cs typeface="Yu Gothic" pitchFamily="34" charset="-120"/>
              </a:rPr>
              <a:t>何をいつ見れば効いたとわかるか。12月調査に足すとよい設問の案。</a:t>
            </a:r>
            <a:endParaRPr lang="en-US" sz="1250" dirty="0"/>
          </a:p>
        </p:txBody>
      </p:sp>
      <p:sp>
        <p:nvSpPr>
          <p:cNvPr id="26" name="Shape 24"/>
          <p:cNvSpPr/>
          <p:nvPr/>
        </p:nvSpPr>
        <p:spPr>
          <a:xfrm>
            <a:off x="685800" y="5852160"/>
            <a:ext cx="10820095" cy="0"/>
          </a:xfrm>
          <a:prstGeom prst="line">
            <a:avLst/>
          </a:prstGeom>
          <a:noFill/>
          <a:ln w="9525">
            <a:solidFill>
              <a:srgbClr val="D6D6D3"/>
            </a:solidFill>
            <a:prstDash val="solid"/>
          </a:ln>
        </p:spPr>
      </p:sp>
      <p:sp>
        <p:nvSpPr>
          <p:cNvPr id="27" name="Text 25"/>
          <p:cNvSpPr txBox="1"/>
          <p:nvPr/>
        </p:nvSpPr>
        <p:spPr>
          <a:xfrm>
            <a:off x="685800" y="5943600"/>
            <a:ext cx="7315200" cy="274320"/>
          </a:xfrm>
          <a:prstGeom prst="rect">
            <a:avLst/>
          </a:prstGeom>
          <a:noFill/>
          <a:ln/>
        </p:spPr>
        <p:txBody>
          <a:bodyPr wrap="square" lIns="0" tIns="0" rIns="0" bIns="0" rtlCol="0" anchor="t"/>
          <a:lstStyle/>
          <a:p>
            <a:pPr indent="0" marL="0">
              <a:lnSpc>
                <a:spcPct val="125000"/>
              </a:lnSpc>
              <a:buNone/>
            </a:pPr>
            <a:r>
              <a:rPr lang="en-US" sz="1100" dirty="0">
                <a:solidFill>
                  <a:srgbClr val="6B6B6B"/>
                </a:solidFill>
                <a:latin typeface="Yu Gothic" pitchFamily="34" charset="0"/>
                <a:ea typeface="Yu Gothic" pitchFamily="34" charset="-122"/>
                <a:cs typeface="Yu Gothic" pitchFamily="34" charset="-120"/>
              </a:rPr>
              <a:t>PowerPoint・Excelなど編集できる形式とPDFで納品します。</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12</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少人数で、最初から最後まで同じメンバーが担当します。</a:t>
            </a:r>
            <a:endParaRPr lang="en-US" sz="2800" dirty="0"/>
          </a:p>
        </p:txBody>
      </p:sp>
      <p:sp>
        <p:nvSpPr>
          <p:cNvPr id="5" name="Shape 3"/>
          <p:cNvSpPr/>
          <p:nvPr/>
        </p:nvSpPr>
        <p:spPr>
          <a:xfrm>
            <a:off x="685800" y="1600200"/>
            <a:ext cx="822960" cy="822960"/>
          </a:xfrm>
          <a:prstGeom prst="ellipse">
            <a:avLst/>
          </a:prstGeom>
          <a:solidFill>
            <a:srgbClr val="F2F2F0"/>
          </a:solidFill>
          <a:ln w="12700">
            <a:solidFill>
              <a:srgbClr val="F2F2F0"/>
            </a:solidFill>
            <a:prstDash val="solid"/>
          </a:ln>
        </p:spPr>
      </p:sp>
      <p:sp>
        <p:nvSpPr>
          <p:cNvPr id="6" name="Text 4"/>
          <p:cNvSpPr txBox="1"/>
          <p:nvPr/>
        </p:nvSpPr>
        <p:spPr>
          <a:xfrm>
            <a:off x="685800" y="1600200"/>
            <a:ext cx="822960" cy="822960"/>
          </a:xfrm>
          <a:prstGeom prst="rect">
            <a:avLst/>
          </a:prstGeom>
          <a:noFill/>
          <a:ln/>
        </p:spPr>
        <p:txBody>
          <a:bodyPr wrap="square" lIns="0" tIns="0" rIns="0" bIns="0" rtlCol="0" anchor="ctr"/>
          <a:lstStyle/>
          <a:p>
            <a:pPr algn="ctr" indent="0" marL="0">
              <a:buNone/>
            </a:pPr>
            <a:r>
              <a:rPr lang="en-US" sz="1500" b="1" dirty="0">
                <a:solidFill>
                  <a:srgbClr val="1F1F1F"/>
                </a:solidFill>
                <a:latin typeface="Yu Mincho" pitchFamily="34" charset="0"/>
                <a:ea typeface="Yu Mincho" pitchFamily="34" charset="-122"/>
                <a:cs typeface="Yu Mincho" pitchFamily="34" charset="-120"/>
              </a:rPr>
              <a:t>全体</a:t>
            </a:r>
            <a:endParaRPr lang="en-US" sz="1500" dirty="0"/>
          </a:p>
        </p:txBody>
      </p:sp>
      <p:sp>
        <p:nvSpPr>
          <p:cNvPr id="7" name="Text 5"/>
          <p:cNvSpPr txBox="1"/>
          <p:nvPr/>
        </p:nvSpPr>
        <p:spPr>
          <a:xfrm>
            <a:off x="1783080" y="1645920"/>
            <a:ext cx="41148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全体統括</a:t>
            </a:r>
            <a:endParaRPr lang="en-US" sz="1500" dirty="0"/>
          </a:p>
        </p:txBody>
      </p:sp>
      <p:sp>
        <p:nvSpPr>
          <p:cNvPr id="8" name="Text 6"/>
          <p:cNvSpPr txBox="1"/>
          <p:nvPr/>
        </p:nvSpPr>
        <p:spPr>
          <a:xfrm>
            <a:off x="1783080" y="2011680"/>
            <a:ext cx="4389120" cy="640080"/>
          </a:xfrm>
          <a:prstGeom prst="rect">
            <a:avLst/>
          </a:prstGeom>
          <a:noFill/>
          <a:ln/>
        </p:spPr>
        <p:txBody>
          <a:bodyPr wrap="square" lIns="0" tIns="0" rIns="0" bIns="0" rtlCol="0" anchor="t"/>
          <a:lstStyle/>
          <a:p>
            <a:pPr indent="0" marL="0">
              <a:lnSpc>
                <a:spcPct val="135000"/>
              </a:lnSpc>
              <a:buNone/>
            </a:pPr>
            <a:r>
              <a:rPr lang="en-US" sz="1200" dirty="0">
                <a:solidFill>
                  <a:srgbClr val="6B6B6B"/>
                </a:solidFill>
                <a:latin typeface="Yu Gothic" pitchFamily="34" charset="0"/>
                <a:ea typeface="Yu Gothic" pitchFamily="34" charset="-122"/>
                <a:cs typeface="Yu Gothic" pitchFamily="34" charset="-120"/>
              </a:rPr>
              <a:t>論点と優先順位を管理し、窓口を一本化します。打合せには毎回出席します。</a:t>
            </a:r>
            <a:endParaRPr lang="en-US" sz="1200" dirty="0"/>
          </a:p>
        </p:txBody>
      </p:sp>
      <p:sp>
        <p:nvSpPr>
          <p:cNvPr id="9" name="Shape 7"/>
          <p:cNvSpPr/>
          <p:nvPr/>
        </p:nvSpPr>
        <p:spPr>
          <a:xfrm>
            <a:off x="685800" y="2788920"/>
            <a:ext cx="822960" cy="822960"/>
          </a:xfrm>
          <a:prstGeom prst="ellipse">
            <a:avLst/>
          </a:prstGeom>
          <a:solidFill>
            <a:srgbClr val="F2F2F0"/>
          </a:solidFill>
          <a:ln w="12700">
            <a:solidFill>
              <a:srgbClr val="F2F2F0"/>
            </a:solidFill>
            <a:prstDash val="solid"/>
          </a:ln>
        </p:spPr>
      </p:sp>
      <p:sp>
        <p:nvSpPr>
          <p:cNvPr id="10" name="Text 8"/>
          <p:cNvSpPr txBox="1"/>
          <p:nvPr/>
        </p:nvSpPr>
        <p:spPr>
          <a:xfrm>
            <a:off x="685800" y="2788920"/>
            <a:ext cx="822960" cy="822960"/>
          </a:xfrm>
          <a:prstGeom prst="rect">
            <a:avLst/>
          </a:prstGeom>
          <a:noFill/>
          <a:ln/>
        </p:spPr>
        <p:txBody>
          <a:bodyPr wrap="square" lIns="0" tIns="0" rIns="0" bIns="0" rtlCol="0" anchor="ctr"/>
          <a:lstStyle/>
          <a:p>
            <a:pPr algn="ctr" indent="0" marL="0">
              <a:buNone/>
            </a:pPr>
            <a:r>
              <a:rPr lang="en-US" sz="1500" b="1" dirty="0">
                <a:solidFill>
                  <a:srgbClr val="1F1F1F"/>
                </a:solidFill>
                <a:latin typeface="Yu Mincho" pitchFamily="34" charset="0"/>
                <a:ea typeface="Yu Mincho" pitchFamily="34" charset="-122"/>
                <a:cs typeface="Yu Mincho" pitchFamily="34" charset="-120"/>
              </a:rPr>
              <a:t>分析</a:t>
            </a:r>
            <a:endParaRPr lang="en-US" sz="1500" dirty="0"/>
          </a:p>
        </p:txBody>
      </p:sp>
      <p:sp>
        <p:nvSpPr>
          <p:cNvPr id="11" name="Text 9"/>
          <p:cNvSpPr txBox="1"/>
          <p:nvPr/>
        </p:nvSpPr>
        <p:spPr>
          <a:xfrm>
            <a:off x="1783080" y="2834640"/>
            <a:ext cx="41148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分析・戦略設計</a:t>
            </a:r>
            <a:endParaRPr lang="en-US" sz="1500" dirty="0"/>
          </a:p>
        </p:txBody>
      </p:sp>
      <p:sp>
        <p:nvSpPr>
          <p:cNvPr id="12" name="Text 10"/>
          <p:cNvSpPr txBox="1"/>
          <p:nvPr/>
        </p:nvSpPr>
        <p:spPr>
          <a:xfrm>
            <a:off x="1783080" y="3200400"/>
            <a:ext cx="4389120" cy="640080"/>
          </a:xfrm>
          <a:prstGeom prst="rect">
            <a:avLst/>
          </a:prstGeom>
          <a:noFill/>
          <a:ln/>
        </p:spPr>
        <p:txBody>
          <a:bodyPr wrap="square" lIns="0" tIns="0" rIns="0" bIns="0" rtlCol="0" anchor="t"/>
          <a:lstStyle/>
          <a:p>
            <a:pPr indent="0" marL="0">
              <a:lnSpc>
                <a:spcPct val="135000"/>
              </a:lnSpc>
              <a:buNone/>
            </a:pPr>
            <a:r>
              <a:rPr lang="en-US" sz="1200" dirty="0">
                <a:solidFill>
                  <a:srgbClr val="6B6B6B"/>
                </a:solidFill>
                <a:latin typeface="Yu Gothic" pitchFamily="34" charset="0"/>
                <a:ea typeface="Yu Gothic" pitchFamily="34" charset="-122"/>
                <a:cs typeface="Yu Gothic" pitchFamily="34" charset="-120"/>
              </a:rPr>
              <a:t>調査データと発信物を突き合わせ、根拠のある改善案を組み立てます。</a:t>
            </a:r>
            <a:endParaRPr lang="en-US" sz="1200" dirty="0"/>
          </a:p>
        </p:txBody>
      </p:sp>
      <p:sp>
        <p:nvSpPr>
          <p:cNvPr id="13" name="Shape 11"/>
          <p:cNvSpPr/>
          <p:nvPr/>
        </p:nvSpPr>
        <p:spPr>
          <a:xfrm>
            <a:off x="685800" y="3977640"/>
            <a:ext cx="822960" cy="822960"/>
          </a:xfrm>
          <a:prstGeom prst="ellipse">
            <a:avLst/>
          </a:prstGeom>
          <a:solidFill>
            <a:srgbClr val="F2F2F0"/>
          </a:solidFill>
          <a:ln w="12700">
            <a:solidFill>
              <a:srgbClr val="F2F2F0"/>
            </a:solidFill>
            <a:prstDash val="solid"/>
          </a:ln>
        </p:spPr>
      </p:sp>
      <p:sp>
        <p:nvSpPr>
          <p:cNvPr id="14" name="Text 12"/>
          <p:cNvSpPr txBox="1"/>
          <p:nvPr/>
        </p:nvSpPr>
        <p:spPr>
          <a:xfrm>
            <a:off x="685800" y="3977640"/>
            <a:ext cx="822960" cy="822960"/>
          </a:xfrm>
          <a:prstGeom prst="rect">
            <a:avLst/>
          </a:prstGeom>
          <a:noFill/>
          <a:ln/>
        </p:spPr>
        <p:txBody>
          <a:bodyPr wrap="square" lIns="0" tIns="0" rIns="0" bIns="0" rtlCol="0" anchor="ctr"/>
          <a:lstStyle/>
          <a:p>
            <a:pPr algn="ctr" indent="0" marL="0">
              <a:buNone/>
            </a:pPr>
            <a:r>
              <a:rPr lang="en-US" sz="1500" b="1" dirty="0">
                <a:solidFill>
                  <a:srgbClr val="1F1F1F"/>
                </a:solidFill>
                <a:latin typeface="Yu Mincho" pitchFamily="34" charset="0"/>
                <a:ea typeface="Yu Mincho" pitchFamily="34" charset="-122"/>
                <a:cs typeface="Yu Mincho" pitchFamily="34" charset="-120"/>
              </a:rPr>
              <a:t>編集</a:t>
            </a:r>
            <a:endParaRPr lang="en-US" sz="1500" dirty="0"/>
          </a:p>
        </p:txBody>
      </p:sp>
      <p:sp>
        <p:nvSpPr>
          <p:cNvPr id="15" name="Text 13"/>
          <p:cNvSpPr txBox="1"/>
          <p:nvPr/>
        </p:nvSpPr>
        <p:spPr>
          <a:xfrm>
            <a:off x="1783080" y="4023360"/>
            <a:ext cx="41148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編集レビュー</a:t>
            </a:r>
            <a:endParaRPr lang="en-US" sz="1500" dirty="0"/>
          </a:p>
        </p:txBody>
      </p:sp>
      <p:sp>
        <p:nvSpPr>
          <p:cNvPr id="16" name="Text 14"/>
          <p:cNvSpPr txBox="1"/>
          <p:nvPr/>
        </p:nvSpPr>
        <p:spPr>
          <a:xfrm>
            <a:off x="1783080" y="4389120"/>
            <a:ext cx="4389120" cy="640080"/>
          </a:xfrm>
          <a:prstGeom prst="rect">
            <a:avLst/>
          </a:prstGeom>
          <a:noFill/>
          <a:ln/>
        </p:spPr>
        <p:txBody>
          <a:bodyPr wrap="square" lIns="0" tIns="0" rIns="0" bIns="0" rtlCol="0" anchor="t"/>
          <a:lstStyle/>
          <a:p>
            <a:pPr indent="0" marL="0">
              <a:lnSpc>
                <a:spcPct val="135000"/>
              </a:lnSpc>
              <a:buNone/>
            </a:pPr>
            <a:r>
              <a:rPr lang="en-US" sz="1200" dirty="0">
                <a:solidFill>
                  <a:srgbClr val="6B6B6B"/>
                </a:solidFill>
                <a:latin typeface="Yu Gothic" pitchFamily="34" charset="0"/>
                <a:ea typeface="Yu Gothic" pitchFamily="34" charset="-122"/>
                <a:cs typeface="Yu Gothic" pitchFamily="34" charset="-120"/>
              </a:rPr>
              <a:t>テレビ・Webの制作現場の目線で、伝わり方と実現性を点検します。</a:t>
            </a:r>
            <a:endParaRPr lang="en-US" sz="1200" dirty="0"/>
          </a:p>
        </p:txBody>
      </p:sp>
      <p:sp>
        <p:nvSpPr>
          <p:cNvPr id="17" name="Shape 15"/>
          <p:cNvSpPr/>
          <p:nvPr/>
        </p:nvSpPr>
        <p:spPr>
          <a:xfrm>
            <a:off x="6766560" y="1600200"/>
            <a:ext cx="4739335" cy="4343400"/>
          </a:xfrm>
          <a:prstGeom prst="rect">
            <a:avLst/>
          </a:prstGeom>
          <a:solidFill>
            <a:srgbClr val="F2F2F0"/>
          </a:solidFill>
          <a:ln w="12700">
            <a:solidFill>
              <a:srgbClr val="F2F2F0"/>
            </a:solidFill>
            <a:prstDash val="solid"/>
          </a:ln>
        </p:spPr>
      </p:sp>
      <p:sp>
        <p:nvSpPr>
          <p:cNvPr id="18" name="Text 16"/>
          <p:cNvSpPr txBox="1"/>
          <p:nvPr/>
        </p:nvSpPr>
        <p:spPr>
          <a:xfrm>
            <a:off x="7132320" y="1828800"/>
            <a:ext cx="4007815" cy="320040"/>
          </a:xfrm>
          <a:prstGeom prst="rect">
            <a:avLst/>
          </a:prstGeom>
          <a:noFill/>
          <a:ln/>
        </p:spPr>
        <p:txBody>
          <a:bodyPr wrap="square" lIns="0" tIns="0" rIns="0" bIns="0" rtlCol="0" anchor="t"/>
          <a:lstStyle/>
          <a:p>
            <a:pPr indent="0" marL="0">
              <a:lnSpc>
                <a:spcPct val="125000"/>
              </a:lnSpc>
              <a:buNone/>
            </a:pPr>
            <a:r>
              <a:rPr lang="en-US" sz="1300" b="1" dirty="0">
                <a:solidFill>
                  <a:srgbClr val="C0462B"/>
                </a:solidFill>
                <a:latin typeface="Yu Gothic" pitchFamily="34" charset="0"/>
                <a:ea typeface="Yu Gothic" pitchFamily="34" charset="-122"/>
                <a:cs typeface="Yu Gothic" pitchFamily="34" charset="-120"/>
              </a:rPr>
              <a:t>almaについて</a:t>
            </a:r>
            <a:endParaRPr lang="en-US" sz="1300" dirty="0"/>
          </a:p>
        </p:txBody>
      </p:sp>
      <p:sp>
        <p:nvSpPr>
          <p:cNvPr id="19" name="Text 17"/>
          <p:cNvSpPr txBox="1"/>
          <p:nvPr/>
        </p:nvSpPr>
        <p:spPr>
          <a:xfrm>
            <a:off x="7132320" y="2240280"/>
            <a:ext cx="4007815" cy="822960"/>
          </a:xfrm>
          <a:prstGeom prst="rect">
            <a:avLst/>
          </a:prstGeom>
          <a:noFill/>
          <a:ln/>
        </p:spPr>
        <p:txBody>
          <a:bodyPr wrap="square" lIns="0" tIns="0" rIns="0" bIns="0" rtlCol="0" anchor="t"/>
          <a:lstStyle/>
          <a:p>
            <a:pPr indent="0" marL="0">
              <a:lnSpc>
                <a:spcPct val="135000"/>
              </a:lnSpc>
              <a:buNone/>
            </a:pPr>
            <a:r>
              <a:rPr lang="en-US" sz="1600" b="1" dirty="0">
                <a:solidFill>
                  <a:srgbClr val="1F1F1F"/>
                </a:solidFill>
                <a:latin typeface="Yu Mincho" pitchFamily="34" charset="0"/>
                <a:ea typeface="Yu Mincho" pitchFamily="34" charset="-122"/>
                <a:cs typeface="Yu Mincho" pitchFamily="34" charset="-120"/>
              </a:rPr>
              <a:t>専門的な情報を、一般の人に正しく伝わる形にするPRを続けてきました。</a:t>
            </a:r>
            <a:endParaRPr lang="en-US" sz="1600" dirty="0"/>
          </a:p>
        </p:txBody>
      </p:sp>
      <p:sp>
        <p:nvSpPr>
          <p:cNvPr id="20" name="Text 18"/>
          <p:cNvSpPr txBox="1"/>
          <p:nvPr/>
        </p:nvSpPr>
        <p:spPr>
          <a:xfrm>
            <a:off x="7132320" y="3246120"/>
            <a:ext cx="4007815" cy="1554480"/>
          </a:xfrm>
          <a:prstGeom prst="rect">
            <a:avLst/>
          </a:prstGeom>
          <a:noFill/>
          <a:ln/>
        </p:spPr>
        <p:txBody>
          <a:bodyPr wrap="square" lIns="0" tIns="0" rIns="0" bIns="0" rtlCol="0" anchor="t"/>
          <a:lstStyle/>
          <a:p>
            <a:pPr marL="342900" indent="-342900">
              <a:lnSpc>
                <a:spcPct val="130000"/>
              </a:lnSpc>
              <a:spcAft>
                <a:spcPts val="800"/>
              </a:spcAft>
              <a:buSzPct val="100000"/>
              <a:buChar char="•"/>
            </a:pPr>
            <a:r>
              <a:rPr lang="en-US" sz="1250" dirty="0">
                <a:solidFill>
                  <a:srgbClr val="1F1F1F"/>
                </a:solidFill>
                <a:latin typeface="Yu Gothic" pitchFamily="34" charset="0"/>
                <a:ea typeface="Yu Gothic" pitchFamily="34" charset="-122"/>
                <a:cs typeface="Yu Gothic" pitchFamily="34" charset="-120"/>
              </a:rPr>
              <a:t>医療・健康など、正確さが求められる分野のPR経験</a:t>
            </a:r>
            <a:endParaRPr lang="en-US" sz="1250" dirty="0"/>
          </a:p>
          <a:p>
            <a:pPr marL="342900" indent="-342900">
              <a:lnSpc>
                <a:spcPct val="130000"/>
              </a:lnSpc>
              <a:spcAft>
                <a:spcPts val="800"/>
              </a:spcAft>
              <a:buSzPct val="100000"/>
              <a:buChar char="•"/>
            </a:pPr>
            <a:r>
              <a:rPr lang="en-US" sz="1250" dirty="0">
                <a:solidFill>
                  <a:srgbClr val="1F1F1F"/>
                </a:solidFill>
                <a:latin typeface="Yu Gothic" pitchFamily="34" charset="0"/>
                <a:ea typeface="Yu Gothic" pitchFamily="34" charset="-122"/>
                <a:cs typeface="Yu Gothic" pitchFamily="34" charset="-120"/>
              </a:rPr>
              <a:t>元NHKの番組制作者を含む、編集・取材の視点</a:t>
            </a:r>
            <a:endParaRPr lang="en-US" sz="1250" dirty="0"/>
          </a:p>
          <a:p>
            <a:pPr marL="342900" indent="-342900">
              <a:lnSpc>
                <a:spcPct val="130000"/>
              </a:lnSpc>
              <a:spcAft>
                <a:spcPts val="800"/>
              </a:spcAft>
              <a:buSzPct val="100000"/>
              <a:buChar char="•"/>
            </a:pPr>
            <a:r>
              <a:rPr lang="en-US" sz="1250" dirty="0">
                <a:solidFill>
                  <a:srgbClr val="1F1F1F"/>
                </a:solidFill>
                <a:latin typeface="Yu Gothic" pitchFamily="34" charset="0"/>
                <a:ea typeface="Yu Gothic" pitchFamily="34" charset="-122"/>
                <a:cs typeface="Yu Gothic" pitchFamily="34" charset="-120"/>
              </a:rPr>
              <a:t>テレビ・新聞・Webを横断した企画づくり</a:t>
            </a:r>
            <a:endParaRPr lang="en-US" sz="1250" dirty="0"/>
          </a:p>
        </p:txBody>
      </p:sp>
      <p:sp>
        <p:nvSpPr>
          <p:cNvPr id="21" name="Text 19"/>
          <p:cNvSpPr txBox="1"/>
          <p:nvPr/>
        </p:nvSpPr>
        <p:spPr>
          <a:xfrm>
            <a:off x="7132320" y="4937760"/>
            <a:ext cx="4007815" cy="822960"/>
          </a:xfrm>
          <a:prstGeom prst="rect">
            <a:avLst/>
          </a:prstGeom>
          <a:noFill/>
          <a:ln/>
        </p:spPr>
        <p:txBody>
          <a:bodyPr wrap="square" lIns="0" tIns="0" rIns="0" bIns="0" rtlCol="0" anchor="t"/>
          <a:lstStyle/>
          <a:p>
            <a:pPr indent="0" marL="0">
              <a:lnSpc>
                <a:spcPct val="135000"/>
              </a:lnSpc>
              <a:buNone/>
            </a:pPr>
            <a:r>
              <a:rPr lang="en-US" sz="1100" dirty="0">
                <a:solidFill>
                  <a:srgbClr val="6B6B6B"/>
                </a:solidFill>
                <a:latin typeface="Yu Gothic" pitchFamily="34" charset="0"/>
                <a:ea typeface="Yu Gothic" pitchFamily="34" charset="-122"/>
                <a:cs typeface="Yu Gothic" pitchFamily="34" charset="-120"/>
              </a:rPr>
              <a:t>法律の内容の正確さは御センターに最終確認いただき、私たちは「正しく伝わる言葉と順番」に責任を持ちます。</a:t>
            </a:r>
            <a:endParaRPr lang="en-US" sz="1100" dirty="0"/>
          </a:p>
        </p:txBody>
      </p:sp>
      <p:sp>
        <p:nvSpPr>
          <p:cNvPr id="22" name="Text 20"/>
          <p:cNvSpPr txBox="1"/>
          <p:nvPr/>
        </p:nvSpPr>
        <p:spPr>
          <a:xfrm>
            <a:off x="685800" y="5349240"/>
            <a:ext cx="4572000" cy="274320"/>
          </a:xfrm>
          <a:prstGeom prst="rect">
            <a:avLst/>
          </a:prstGeom>
          <a:noFill/>
          <a:ln/>
        </p:spPr>
        <p:txBody>
          <a:bodyPr wrap="square" lIns="0" tIns="0" rIns="0" bIns="0" rtlCol="0" anchor="t"/>
          <a:lstStyle/>
          <a:p>
            <a:pPr indent="0" marL="0">
              <a:lnSpc>
                <a:spcPct val="125000"/>
              </a:lnSpc>
              <a:buNone/>
            </a:pPr>
            <a:r>
              <a:rPr lang="en-US" sz="1050" dirty="0">
                <a:solidFill>
                  <a:srgbClr val="6B6B6B"/>
                </a:solidFill>
                <a:latin typeface="Yu Gothic" pitchFamily="34" charset="0"/>
                <a:ea typeface="Yu Gothic" pitchFamily="34" charset="-122"/>
                <a:cs typeface="Yu Gothic" pitchFamily="34" charset="-120"/>
              </a:rPr>
              <a:t>担当者名は契約時に確定します。</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13</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費用：3か月一式で 180万円（税抜）</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税込198万円。ご予算の200万円以内に収めています。</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965960"/>
          <a:ext cx="6035040" cy="914400"/>
        </p:xfrm>
        <a:graphic>
          <a:graphicData uri="http://schemas.openxmlformats.org/drawingml/2006/table">
            <a:tbl>
              <a:tblPr/>
              <a:tblGrid>
                <a:gridCol w="4023360"/>
                <a:gridCol w="2011680"/>
              </a:tblGrid>
              <a:tr h="457200">
                <a:tc>
                  <a:txBody>
                    <a:bodyPr/>
                    <a:lstStyle/>
                    <a:p>
                      <a:pPr indent="0" marL="0">
                        <a:buNone/>
                      </a:pPr>
                      <a:r>
                        <a:rPr lang="en-US" sz="1150" b="1" dirty="0">
                          <a:solidFill>
                            <a:srgbClr val="6B6B6B"/>
                          </a:solidFill>
                          <a:latin typeface="Yu Gothic" pitchFamily="34" charset="0"/>
                          <a:ea typeface="Yu Gothic" pitchFamily="34" charset="-122"/>
                          <a:cs typeface="Yu Gothic" pitchFamily="34" charset="-120"/>
                        </a:rPr>
                        <a:t>内容</a:t>
                      </a:r>
                      <a:endParaRPr lang="en-US" sz="1150" dirty="0">
                        <a:latin typeface="Yu Gothic" charset="0"/>
                        <a:ea typeface="Yu Gothic" charset="0"/>
                        <a:cs typeface="Yu Gothic" charset="0"/>
                      </a:endParaRPr>
                    </a:p>
                  </a:txBody>
                  <a:tcPr marL="0" marR="91440" marT="54864" marB="54864">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algn="r" indent="0" marL="0">
                        <a:buNone/>
                      </a:pPr>
                      <a:r>
                        <a:rPr lang="en-US" sz="1150" b="1" dirty="0">
                          <a:solidFill>
                            <a:srgbClr val="6B6B6B"/>
                          </a:solidFill>
                          <a:latin typeface="Yu Gothic" pitchFamily="34" charset="0"/>
                          <a:ea typeface="Yu Gothic" pitchFamily="34" charset="-122"/>
                          <a:cs typeface="Yu Gothic" pitchFamily="34" charset="-120"/>
                        </a:rPr>
                        <a:t>金額（税抜）</a:t>
                      </a:r>
                      <a:endParaRPr lang="en-US" sz="1150" dirty="0">
                        <a:latin typeface="Yu Gothic" charset="0"/>
                        <a:ea typeface="Yu Gothic" charset="0"/>
                        <a:cs typeface="Yu Gothic" charset="0"/>
                      </a:endParaRPr>
                    </a:p>
                  </a:txBody>
                  <a:tcPr marL="0" marR="91440" marT="54864" marB="54864">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r>
              <a:tr h="457200">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調査レビュー・現状の診断</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algn="r" indent="0" marL="0">
                        <a:buNone/>
                      </a:pPr>
                      <a:r>
                        <a:rPr lang="en-US" sz="1300" dirty="0">
                          <a:solidFill>
                            <a:srgbClr val="1F1F1F"/>
                          </a:solidFill>
                          <a:latin typeface="Yu Gothic" pitchFamily="34" charset="0"/>
                          <a:ea typeface="Yu Gothic" pitchFamily="34" charset="-122"/>
                          <a:cs typeface="Yu Gothic" pitchFamily="34" charset="-120"/>
                        </a:rPr>
                        <a:t>500,000円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広報戦略の設計（広げる／深めるの配分）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algn="r" indent="0" marL="0">
                        <a:buNone/>
                      </a:pPr>
                      <a:r>
                        <a:rPr lang="en-US" sz="1300" dirty="0">
                          <a:solidFill>
                            <a:srgbClr val="1F1F1F"/>
                          </a:solidFill>
                          <a:latin typeface="Yu Gothic" pitchFamily="34" charset="0"/>
                          <a:ea typeface="Yu Gothic" pitchFamily="34" charset="-122"/>
                          <a:cs typeface="Yu Gothic" pitchFamily="34" charset="-120"/>
                        </a:rPr>
                        <a:t>400,000円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改善案6つの作成・重点3案の詳細化</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algn="r" indent="0" marL="0">
                        <a:buNone/>
                      </a:pPr>
                      <a:r>
                        <a:rPr lang="en-US" sz="1300" dirty="0">
                          <a:solidFill>
                            <a:srgbClr val="1F1F1F"/>
                          </a:solidFill>
                          <a:latin typeface="Yu Gothic" pitchFamily="34" charset="0"/>
                          <a:ea typeface="Yu Gothic" pitchFamily="34" charset="-122"/>
                          <a:cs typeface="Yu Gothic" pitchFamily="34" charset="-120"/>
                        </a:rPr>
                        <a:t>450,000円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年間計画・評価方法の設計</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algn="r" indent="0" marL="0">
                        <a:buNone/>
                      </a:pPr>
                      <a:r>
                        <a:rPr lang="en-US" sz="1300" dirty="0">
                          <a:solidFill>
                            <a:srgbClr val="1F1F1F"/>
                          </a:solidFill>
                          <a:latin typeface="Yu Gothic" pitchFamily="34" charset="0"/>
                          <a:ea typeface="Yu Gothic" pitchFamily="34" charset="-122"/>
                          <a:cs typeface="Yu Gothic" pitchFamily="34" charset="-120"/>
                        </a:rPr>
                        <a:t>300,000円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a:txBody>
                    <a:bodyPr/>
                    <a:lstStyle/>
                    <a:p>
                      <a:pPr indent="0" marL="0">
                        <a:buNone/>
                      </a:pPr>
                      <a:r>
                        <a:rPr lang="en-US" sz="1300" dirty="0">
                          <a:solidFill>
                            <a:srgbClr val="1F1F1F"/>
                          </a:solidFill>
                          <a:latin typeface="Yu Gothic" pitchFamily="34" charset="0"/>
                          <a:ea typeface="Yu Gothic" pitchFamily="34" charset="-122"/>
                          <a:cs typeface="Yu Gothic" pitchFamily="34" charset="-120"/>
                        </a:rPr>
                        <a:t>打合せ3回・進行管理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algn="r" indent="0" marL="0">
                        <a:buNone/>
                      </a:pPr>
                      <a:r>
                        <a:rPr lang="en-US" sz="1300" dirty="0">
                          <a:solidFill>
                            <a:srgbClr val="1F1F1F"/>
                          </a:solidFill>
                          <a:latin typeface="Yu Gothic" pitchFamily="34" charset="0"/>
                          <a:ea typeface="Yu Gothic" pitchFamily="34" charset="-122"/>
                          <a:cs typeface="Yu Gothic" pitchFamily="34" charset="-120"/>
                        </a:rPr>
                        <a:t>150,000円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a:txBody>
                    <a:bodyPr/>
                    <a:lstStyle/>
                    <a:p>
                      <a:pPr indent="0" marL="0">
                        <a:buNone/>
                      </a:pPr>
                      <a:r>
                        <a:rPr lang="en-US" sz="1300" b="1" dirty="0">
                          <a:solidFill>
                            <a:srgbClr val="1F1F1F"/>
                          </a:solidFill>
                          <a:latin typeface="Yu Gothic" pitchFamily="34" charset="0"/>
                          <a:ea typeface="Yu Gothic" pitchFamily="34" charset="-122"/>
                          <a:cs typeface="Yu Gothic" pitchFamily="34" charset="-120"/>
                        </a:rPr>
                        <a:t>合計</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algn="r" indent="0" marL="0">
                        <a:buNone/>
                      </a:pPr>
                      <a:r>
                        <a:rPr lang="en-US" sz="1600" b="1" dirty="0">
                          <a:solidFill>
                            <a:srgbClr val="1F1F1F"/>
                          </a:solidFill>
                          <a:latin typeface="Yu Mincho" pitchFamily="34" charset="0"/>
                          <a:ea typeface="Yu Mincho" pitchFamily="34" charset="-122"/>
                          <a:cs typeface="Yu Mincho" pitchFamily="34" charset="-120"/>
                        </a:rPr>
                        <a:t>1,800,000円</a:t>
                      </a:r>
                      <a:endParaRPr lang="en-US" sz="1600" dirty="0">
                        <a:latin typeface="Yu Mincho" charset="0"/>
                        <a:ea typeface="Yu Mincho" charset="0"/>
                        <a:cs typeface="Yu Mincho"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r h="457200">
                <a:tc>
                  <a:txBody>
                    <a:bodyPr/>
                    <a:lstStyle/>
                    <a:p>
                      <a:pPr indent="0" marL="0">
                        <a:buNone/>
                      </a:pPr>
                      <a:r>
                        <a:rPr lang="en-US" sz="1300" dirty="0">
                          <a:solidFill>
                            <a:srgbClr val="6B6B6B"/>
                          </a:solidFill>
                          <a:latin typeface="Yu Gothic" pitchFamily="34" charset="0"/>
                          <a:ea typeface="Yu Gothic" pitchFamily="34" charset="-122"/>
                          <a:cs typeface="Yu Gothic" pitchFamily="34" charset="-120"/>
                        </a:rPr>
                        <a:t>消費税（10%）</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c>
                  <a:txBody>
                    <a:bodyPr/>
                    <a:lstStyle/>
                    <a:p>
                      <a:pPr algn="r" indent="0" marL="0">
                        <a:buNone/>
                      </a:pPr>
                      <a:r>
                        <a:rPr lang="en-US" sz="1300" dirty="0">
                          <a:solidFill>
                            <a:srgbClr val="6B6B6B"/>
                          </a:solidFill>
                          <a:latin typeface="Yu Gothic" pitchFamily="34" charset="0"/>
                          <a:ea typeface="Yu Gothic" pitchFamily="34" charset="-122"/>
                          <a:cs typeface="Yu Gothic" pitchFamily="34" charset="-120"/>
                        </a:rPr>
                        <a:t>180,000円</a:t>
                      </a:r>
                      <a:endParaRPr lang="en-US" sz="1300" dirty="0">
                        <a:latin typeface="Yu Gothic" charset="0"/>
                        <a:ea typeface="Yu Gothic" charset="0"/>
                        <a:cs typeface="Yu Gothic" charset="0"/>
                      </a:endParaRPr>
                    </a:p>
                  </a:txBody>
                  <a:tcPr marL="0" marR="91440" marT="45720" marB="45720" anchor="ctr">
                    <a:lnL w="0" cap="flat" cmpd="sng" algn="ctr">
                      <a:noFill/>
                    </a:lnL>
                    <a:lnR w="0" cap="flat" cmpd="sng" algn="ctr">
                      <a:noFill/>
                    </a:lnR>
                    <a:lnT w="0" cap="flat" cmpd="sng" algn="ctr">
                      <a:noFill/>
                    </a:lnT>
                    <a:lnB w="9525" cap="flat" cmpd="sng" algn="ctr">
                      <a:solidFill>
                        <a:srgbClr val="D6D6D3"/>
                      </a:solidFill>
                      <a:prstDash val="solid"/>
                      <a:round/>
                      <a:headEnd type="none" w="med" len="med"/>
                      <a:tailEnd type="none" w="med" len="med"/>
                    </a:lnB>
                  </a:tcPr>
                </a:tc>
              </a:tr>
            </a:tbl>
          </a:graphicData>
        </a:graphic>
      </p:graphicFrame>
      <p:sp>
        <p:nvSpPr>
          <p:cNvPr id="7" name="Text 4"/>
          <p:cNvSpPr txBox="1"/>
          <p:nvPr/>
        </p:nvSpPr>
        <p:spPr>
          <a:xfrm>
            <a:off x="7315200" y="2011680"/>
            <a:ext cx="4190695" cy="274320"/>
          </a:xfrm>
          <a:prstGeom prst="rect">
            <a:avLst/>
          </a:prstGeom>
          <a:noFill/>
          <a:ln/>
        </p:spPr>
        <p:txBody>
          <a:bodyPr wrap="square" lIns="0" tIns="0" rIns="0" bIns="0" rtlCol="0" anchor="t"/>
          <a:lstStyle/>
          <a:p>
            <a:pPr indent="0" marL="0">
              <a:lnSpc>
                <a:spcPct val="125000"/>
              </a:lnSpc>
              <a:buNone/>
            </a:pPr>
            <a:r>
              <a:rPr lang="en-US" sz="1250" b="1" dirty="0">
                <a:solidFill>
                  <a:srgbClr val="C0462B"/>
                </a:solidFill>
                <a:latin typeface="Yu Gothic" pitchFamily="34" charset="0"/>
                <a:ea typeface="Yu Gothic" pitchFamily="34" charset="-122"/>
                <a:cs typeface="Yu Gothic" pitchFamily="34" charset="-120"/>
              </a:rPr>
              <a:t>含むもの</a:t>
            </a:r>
            <a:endParaRPr lang="en-US" sz="1250" dirty="0"/>
          </a:p>
        </p:txBody>
      </p:sp>
      <p:sp>
        <p:nvSpPr>
          <p:cNvPr id="8" name="Text 5"/>
          <p:cNvSpPr txBox="1"/>
          <p:nvPr/>
        </p:nvSpPr>
        <p:spPr>
          <a:xfrm>
            <a:off x="7315200" y="2377440"/>
            <a:ext cx="4190695" cy="1463040"/>
          </a:xfrm>
          <a:prstGeom prst="rect">
            <a:avLst/>
          </a:prstGeom>
          <a:noFill/>
          <a:ln/>
        </p:spPr>
        <p:txBody>
          <a:bodyPr wrap="square" lIns="0" tIns="0" rIns="0" bIns="0" rtlCol="0" anchor="t"/>
          <a:lstStyle/>
          <a:p>
            <a:pPr marL="342900" indent="-342900">
              <a:lnSpc>
                <a:spcPct val="125000"/>
              </a:lnSpc>
              <a:spcAft>
                <a:spcPts val="400"/>
              </a:spcAft>
              <a:buSzPct val="100000"/>
              <a:buChar char="•"/>
            </a:pPr>
            <a:r>
              <a:rPr lang="en-US" sz="1200" dirty="0">
                <a:solidFill>
                  <a:srgbClr val="1F1F1F"/>
                </a:solidFill>
                <a:latin typeface="Yu Gothic" pitchFamily="34" charset="0"/>
                <a:ea typeface="Yu Gothic" pitchFamily="34" charset="-122"/>
                <a:cs typeface="Yu Gothic" pitchFamily="34" charset="-120"/>
              </a:rPr>
              <a:t>本部への訪問3回（都内交通費）</a:t>
            </a:r>
            <a:endParaRPr lang="en-US" sz="1200" dirty="0"/>
          </a:p>
          <a:p>
            <a:pPr marL="342900" indent="-342900">
              <a:lnSpc>
                <a:spcPct val="125000"/>
              </a:lnSpc>
              <a:spcAft>
                <a:spcPts val="400"/>
              </a:spcAft>
              <a:buSzPct val="100000"/>
              <a:buChar char="•"/>
            </a:pPr>
            <a:r>
              <a:rPr lang="en-US" sz="1200" dirty="0">
                <a:solidFill>
                  <a:srgbClr val="1F1F1F"/>
                </a:solidFill>
                <a:latin typeface="Yu Gothic" pitchFamily="34" charset="0"/>
                <a:ea typeface="Yu Gothic" pitchFamily="34" charset="-122"/>
                <a:cs typeface="Yu Gothic" pitchFamily="34" charset="-120"/>
              </a:rPr>
              <a:t>職員の方へのヒアリング（45分×2回）</a:t>
            </a:r>
            <a:endParaRPr lang="en-US" sz="1200" dirty="0"/>
          </a:p>
          <a:p>
            <a:pPr marL="342900" indent="-342900">
              <a:lnSpc>
                <a:spcPct val="125000"/>
              </a:lnSpc>
              <a:spcAft>
                <a:spcPts val="400"/>
              </a:spcAft>
              <a:buSzPct val="100000"/>
              <a:buChar char="•"/>
            </a:pPr>
            <a:r>
              <a:rPr lang="en-US" sz="1200" dirty="0">
                <a:solidFill>
                  <a:srgbClr val="1F1F1F"/>
                </a:solidFill>
                <a:latin typeface="Yu Gothic" pitchFamily="34" charset="0"/>
                <a:ea typeface="Yu Gothic" pitchFamily="34" charset="-122"/>
                <a:cs typeface="Yu Gothic" pitchFamily="34" charset="-120"/>
              </a:rPr>
              <a:t>資料作成一式</a:t>
            </a:r>
            <a:endParaRPr lang="en-US" sz="1200" dirty="0"/>
          </a:p>
          <a:p>
            <a:pPr marL="342900" indent="-342900">
              <a:lnSpc>
                <a:spcPct val="125000"/>
              </a:lnSpc>
              <a:spcAft>
                <a:spcPts val="400"/>
              </a:spcAft>
              <a:buSzPct val="100000"/>
              <a:buChar char="•"/>
            </a:pPr>
            <a:r>
              <a:rPr lang="en-US" sz="1200" dirty="0">
                <a:solidFill>
                  <a:srgbClr val="1F1F1F"/>
                </a:solidFill>
                <a:latin typeface="Yu Gothic" pitchFamily="34" charset="0"/>
                <a:ea typeface="Yu Gothic" pitchFamily="34" charset="-122"/>
                <a:cs typeface="Yu Gothic" pitchFamily="34" charset="-120"/>
              </a:rPr>
              <a:t>最終報告後の修正1回</a:t>
            </a:r>
            <a:endParaRPr lang="en-US" sz="1200" dirty="0"/>
          </a:p>
        </p:txBody>
      </p:sp>
      <p:sp>
        <p:nvSpPr>
          <p:cNvPr id="9" name="Text 6"/>
          <p:cNvSpPr txBox="1"/>
          <p:nvPr/>
        </p:nvSpPr>
        <p:spPr>
          <a:xfrm>
            <a:off x="7315200" y="4069080"/>
            <a:ext cx="4190695" cy="274320"/>
          </a:xfrm>
          <a:prstGeom prst="rect">
            <a:avLst/>
          </a:prstGeom>
          <a:noFill/>
          <a:ln/>
        </p:spPr>
        <p:txBody>
          <a:bodyPr wrap="square" lIns="0" tIns="0" rIns="0" bIns="0" rtlCol="0" anchor="t"/>
          <a:lstStyle/>
          <a:p>
            <a:pPr indent="0" marL="0">
              <a:lnSpc>
                <a:spcPct val="125000"/>
              </a:lnSpc>
              <a:buNone/>
            </a:pPr>
            <a:r>
              <a:rPr lang="en-US" sz="1250" b="1" dirty="0">
                <a:solidFill>
                  <a:srgbClr val="6B6B6B"/>
                </a:solidFill>
                <a:latin typeface="Yu Gothic" pitchFamily="34" charset="0"/>
                <a:ea typeface="Yu Gothic" pitchFamily="34" charset="-122"/>
                <a:cs typeface="Yu Gothic" pitchFamily="34" charset="-120"/>
              </a:rPr>
              <a:t>含まないもの</a:t>
            </a:r>
            <a:endParaRPr lang="en-US" sz="1250" dirty="0"/>
          </a:p>
        </p:txBody>
      </p:sp>
      <p:sp>
        <p:nvSpPr>
          <p:cNvPr id="10" name="Text 7"/>
          <p:cNvSpPr txBox="1"/>
          <p:nvPr/>
        </p:nvSpPr>
        <p:spPr>
          <a:xfrm>
            <a:off x="7315200" y="4434840"/>
            <a:ext cx="4190695" cy="1188720"/>
          </a:xfrm>
          <a:prstGeom prst="rect">
            <a:avLst/>
          </a:prstGeom>
          <a:noFill/>
          <a:ln/>
        </p:spPr>
        <p:txBody>
          <a:bodyPr wrap="square" lIns="0" tIns="0" rIns="0" bIns="0" rtlCol="0" anchor="t"/>
          <a:lstStyle/>
          <a:p>
            <a:pPr marL="342900" indent="-342900">
              <a:lnSpc>
                <a:spcPct val="125000"/>
              </a:lnSpc>
              <a:spcAft>
                <a:spcPts val="400"/>
              </a:spcAft>
              <a:buSzPct val="100000"/>
              <a:buChar char="•"/>
            </a:pPr>
            <a:r>
              <a:rPr lang="en-US" sz="1200" dirty="0">
                <a:solidFill>
                  <a:srgbClr val="6B6B6B"/>
                </a:solidFill>
                <a:latin typeface="Yu Gothic" pitchFamily="34" charset="0"/>
                <a:ea typeface="Yu Gothic" pitchFamily="34" charset="-122"/>
                <a:cs typeface="Yu Gothic" pitchFamily="34" charset="-120"/>
              </a:rPr>
              <a:t>新たなアンケート調査</a:t>
            </a:r>
            <a:endParaRPr lang="en-US" sz="1200" dirty="0"/>
          </a:p>
          <a:p>
            <a:pPr marL="342900" indent="-342900">
              <a:lnSpc>
                <a:spcPct val="125000"/>
              </a:lnSpc>
              <a:spcAft>
                <a:spcPts val="400"/>
              </a:spcAft>
              <a:buSzPct val="100000"/>
              <a:buChar char="•"/>
            </a:pPr>
            <a:r>
              <a:rPr lang="en-US" sz="1200" dirty="0">
                <a:solidFill>
                  <a:srgbClr val="6B6B6B"/>
                </a:solidFill>
                <a:latin typeface="Yu Gothic" pitchFamily="34" charset="0"/>
                <a:ea typeface="Yu Gothic" pitchFamily="34" charset="-122"/>
                <a:cs typeface="Yu Gothic" pitchFamily="34" charset="-120"/>
              </a:rPr>
              <a:t>調査会社への追加集計の実費</a:t>
            </a:r>
            <a:endParaRPr lang="en-US" sz="1200" dirty="0"/>
          </a:p>
          <a:p>
            <a:pPr marL="342900" indent="-342900">
              <a:lnSpc>
                <a:spcPct val="125000"/>
              </a:lnSpc>
              <a:spcAft>
                <a:spcPts val="400"/>
              </a:spcAft>
              <a:buSzPct val="100000"/>
              <a:buChar char="•"/>
            </a:pPr>
            <a:r>
              <a:rPr lang="en-US" sz="1200" dirty="0">
                <a:solidFill>
                  <a:srgbClr val="6B6B6B"/>
                </a:solidFill>
                <a:latin typeface="Yu Gothic" pitchFamily="34" charset="0"/>
                <a:ea typeface="Yu Gothic" pitchFamily="34" charset="-122"/>
                <a:cs typeface="Yu Gothic" pitchFamily="34" charset="-120"/>
              </a:rPr>
              <a:t>制作・印刷・広告出稿・施策の実行</a:t>
            </a:r>
            <a:endParaRPr lang="en-US" sz="1200" dirty="0"/>
          </a:p>
        </p:txBody>
      </p:sp>
      <p:sp>
        <p:nvSpPr>
          <p:cNvPr id="11" name="Text 8"/>
          <p:cNvSpPr txBox="1"/>
          <p:nvPr/>
        </p:nvSpPr>
        <p:spPr>
          <a:xfrm>
            <a:off x="685800" y="5943600"/>
            <a:ext cx="10058400" cy="274320"/>
          </a:xfrm>
          <a:prstGeom prst="rect">
            <a:avLst/>
          </a:prstGeom>
          <a:noFill/>
          <a:ln/>
        </p:spPr>
        <p:txBody>
          <a:bodyPr wrap="square" lIns="0" tIns="0" rIns="0" bIns="0" rtlCol="0" anchor="t"/>
          <a:lstStyle/>
          <a:p>
            <a:pPr indent="0" marL="0">
              <a:lnSpc>
                <a:spcPct val="125000"/>
              </a:lnSpc>
              <a:buNone/>
            </a:pPr>
            <a:r>
              <a:rPr lang="en-US" sz="1050" dirty="0">
                <a:solidFill>
                  <a:srgbClr val="6B6B6B"/>
                </a:solidFill>
                <a:latin typeface="Yu Gothic" pitchFamily="34" charset="0"/>
                <a:ea typeface="Yu Gothic" pitchFamily="34" charset="-122"/>
                <a:cs typeface="Yu Gothic" pitchFamily="34" charset="-120"/>
              </a:rPr>
              <a:t>見積有効期限：2026年10月31日。追加費用が生じる場合は、必ず事前にご相談します。</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6400800"/>
            <a:ext cx="1005840" cy="274320"/>
          </a:xfrm>
          <a:prstGeom prst="rect">
            <a:avLst/>
          </a:prstGeom>
          <a:noFill/>
          <a:ln/>
        </p:spPr>
        <p:txBody>
          <a:bodyPr wrap="square" lIns="0" tIns="0" rIns="0" bIns="0" rtlCol="0" anchor="ctr"/>
          <a:lstStyle/>
          <a:p>
            <a:pPr algn="r" indent="0" marL="0">
              <a:buNone/>
            </a:pPr>
            <a:r>
              <a:rPr lang="en-US" sz="1100" dirty="0">
                <a:solidFill>
                  <a:srgbClr val="6B6B6B"/>
                </a:solidFill>
                <a:latin typeface="Yu Mincho" pitchFamily="34" charset="0"/>
                <a:ea typeface="Yu Mincho" pitchFamily="34" charset="-122"/>
                <a:cs typeface="Yu Mincho" pitchFamily="34" charset="-120"/>
              </a:rPr>
              <a:t>alma</a:t>
            </a:r>
            <a:endParaRPr lang="en-US" sz="1100" dirty="0"/>
          </a:p>
        </p:txBody>
      </p:sp>
      <p:sp>
        <p:nvSpPr>
          <p:cNvPr id="3" name="Text 1"/>
          <p:cNvSpPr txBox="1"/>
          <p:nvPr/>
        </p:nvSpPr>
        <p:spPr>
          <a:xfrm>
            <a:off x="11140135"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Yu Gothic" pitchFamily="34" charset="0"/>
                <a:ea typeface="Yu Gothic" pitchFamily="34" charset="-122"/>
                <a:cs typeface="Yu Gothic" pitchFamily="34" charset="-120"/>
              </a:rPr>
              <a:t>14</a:t>
            </a:r>
            <a:endParaRPr lang="en-US" sz="900" dirty="0"/>
          </a:p>
        </p:txBody>
      </p:sp>
      <p:sp>
        <p:nvSpPr>
          <p:cNvPr id="4" name="Text 2"/>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2800" b="1" dirty="0">
                <a:solidFill>
                  <a:srgbClr val="1F1F1F"/>
                </a:solidFill>
                <a:latin typeface="Yu Mincho" pitchFamily="34" charset="0"/>
                <a:ea typeface="Yu Mincho" pitchFamily="34" charset="-122"/>
                <a:cs typeface="Yu Mincho" pitchFamily="34" charset="-120"/>
              </a:rPr>
              <a:t>本日、教えていただきたいこと。</a:t>
            </a:r>
            <a:endParaRPr lang="en-US" sz="2800" dirty="0"/>
          </a:p>
        </p:txBody>
      </p:sp>
      <p:sp>
        <p:nvSpPr>
          <p:cNvPr id="5" name="Text 3"/>
          <p:cNvSpPr txBox="1"/>
          <p:nvPr/>
        </p:nvSpPr>
        <p:spPr>
          <a:xfrm>
            <a:off x="685800" y="1325880"/>
            <a:ext cx="10820095" cy="457200"/>
          </a:xfrm>
          <a:prstGeom prst="rect">
            <a:avLst/>
          </a:prstGeom>
          <a:noFill/>
          <a:ln/>
        </p:spPr>
        <p:txBody>
          <a:bodyPr wrap="square" lIns="0" tIns="0" rIns="0" bIns="0" rtlCol="0" anchor="t"/>
          <a:lstStyle/>
          <a:p>
            <a:pPr indent="0" marL="0">
              <a:buNone/>
            </a:pPr>
            <a:r>
              <a:rPr lang="en-US" sz="1400" dirty="0">
                <a:solidFill>
                  <a:srgbClr val="6B6B6B"/>
                </a:solidFill>
                <a:latin typeface="Yu Gothic" pitchFamily="34" charset="0"/>
                <a:ea typeface="Yu Gothic" pitchFamily="34" charset="-122"/>
                <a:cs typeface="Yu Gothic" pitchFamily="34" charset="-120"/>
              </a:rPr>
              <a:t>ご提案の精度を上げるために、差し支えない範囲で伺えれば幸いです。</a:t>
            </a:r>
            <a:endParaRPr lang="en-US" sz="1400" dirty="0"/>
          </a:p>
        </p:txBody>
      </p:sp>
      <p:sp>
        <p:nvSpPr>
          <p:cNvPr id="6" name="Text 4"/>
          <p:cNvSpPr txBox="1"/>
          <p:nvPr/>
        </p:nvSpPr>
        <p:spPr>
          <a:xfrm>
            <a:off x="685800" y="1892808"/>
            <a:ext cx="411480" cy="411480"/>
          </a:xfrm>
          <a:prstGeom prst="rect">
            <a:avLst/>
          </a:prstGeom>
          <a:noFill/>
          <a:ln/>
        </p:spPr>
        <p:txBody>
          <a:bodyPr wrap="square" lIns="0" tIns="0" rIns="0" bIns="0" rtlCol="0" anchor="t"/>
          <a:lstStyle/>
          <a:p>
            <a:pPr indent="0" marL="0">
              <a:buNone/>
            </a:pPr>
            <a:r>
              <a:rPr lang="en-US" sz="2000" b="1" dirty="0">
                <a:solidFill>
                  <a:srgbClr val="C0462B"/>
                </a:solidFill>
                <a:latin typeface="Yu Mincho" pitchFamily="34" charset="0"/>
                <a:ea typeface="Yu Mincho" pitchFamily="34" charset="-122"/>
                <a:cs typeface="Yu Mincho" pitchFamily="34" charset="-120"/>
              </a:rPr>
              <a:t>Q</a:t>
            </a:r>
            <a:endParaRPr lang="en-US" sz="2000" dirty="0"/>
          </a:p>
        </p:txBody>
      </p:sp>
      <p:sp>
        <p:nvSpPr>
          <p:cNvPr id="7" name="Text 5"/>
          <p:cNvSpPr txBox="1"/>
          <p:nvPr/>
        </p:nvSpPr>
        <p:spPr>
          <a:xfrm>
            <a:off x="1234440" y="1874520"/>
            <a:ext cx="100584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12月調査の結果は、いつ頃・どの形でいただけそうですか。</a:t>
            </a:r>
            <a:endParaRPr lang="en-US" sz="1500" dirty="0"/>
          </a:p>
        </p:txBody>
      </p:sp>
      <p:sp>
        <p:nvSpPr>
          <p:cNvPr id="8" name="Text 6"/>
          <p:cNvSpPr txBox="1"/>
          <p:nvPr/>
        </p:nvSpPr>
        <p:spPr>
          <a:xfrm>
            <a:off x="1234440" y="2240280"/>
            <a:ext cx="10058400" cy="3200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ローデータか、クロス集計表か。1月の動き出しがここで変わります。</a:t>
            </a:r>
            <a:endParaRPr lang="en-US" sz="1200" dirty="0"/>
          </a:p>
        </p:txBody>
      </p:sp>
      <p:sp>
        <p:nvSpPr>
          <p:cNvPr id="9" name="Text 7"/>
          <p:cNvSpPr txBox="1"/>
          <p:nvPr/>
        </p:nvSpPr>
        <p:spPr>
          <a:xfrm>
            <a:off x="685800" y="2587752"/>
            <a:ext cx="411480" cy="411480"/>
          </a:xfrm>
          <a:prstGeom prst="rect">
            <a:avLst/>
          </a:prstGeom>
          <a:noFill/>
          <a:ln/>
        </p:spPr>
        <p:txBody>
          <a:bodyPr wrap="square" lIns="0" tIns="0" rIns="0" bIns="0" rtlCol="0" anchor="t"/>
          <a:lstStyle/>
          <a:p>
            <a:pPr indent="0" marL="0">
              <a:buNone/>
            </a:pPr>
            <a:r>
              <a:rPr lang="en-US" sz="2000" b="1" dirty="0">
                <a:solidFill>
                  <a:srgbClr val="C0462B"/>
                </a:solidFill>
                <a:latin typeface="Yu Mincho" pitchFamily="34" charset="0"/>
                <a:ea typeface="Yu Mincho" pitchFamily="34" charset="-122"/>
                <a:cs typeface="Yu Mincho" pitchFamily="34" charset="-120"/>
              </a:rPr>
              <a:t>Q</a:t>
            </a:r>
            <a:endParaRPr lang="en-US" sz="2000" dirty="0"/>
          </a:p>
        </p:txBody>
      </p:sp>
      <p:sp>
        <p:nvSpPr>
          <p:cNvPr id="10" name="Text 8"/>
          <p:cNvSpPr txBox="1"/>
          <p:nvPr/>
        </p:nvSpPr>
        <p:spPr>
          <a:xfrm>
            <a:off x="1234440" y="2569464"/>
            <a:ext cx="100584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過去の調査結果も、比較に使わせていただけますか。</a:t>
            </a:r>
            <a:endParaRPr lang="en-US" sz="1500" dirty="0"/>
          </a:p>
        </p:txBody>
      </p:sp>
      <p:sp>
        <p:nvSpPr>
          <p:cNvPr id="11" name="Text 9"/>
          <p:cNvSpPr txBox="1"/>
          <p:nvPr/>
        </p:nvSpPr>
        <p:spPr>
          <a:xfrm>
            <a:off x="1234440" y="2935224"/>
            <a:ext cx="10058400" cy="3200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設問や調査方法が変わった年があれば、あわせて教えてください。</a:t>
            </a:r>
            <a:endParaRPr lang="en-US" sz="1200" dirty="0"/>
          </a:p>
        </p:txBody>
      </p:sp>
      <p:sp>
        <p:nvSpPr>
          <p:cNvPr id="12" name="Text 10"/>
          <p:cNvSpPr txBox="1"/>
          <p:nvPr/>
        </p:nvSpPr>
        <p:spPr>
          <a:xfrm>
            <a:off x="685800" y="3282696"/>
            <a:ext cx="411480" cy="411480"/>
          </a:xfrm>
          <a:prstGeom prst="rect">
            <a:avLst/>
          </a:prstGeom>
          <a:noFill/>
          <a:ln/>
        </p:spPr>
        <p:txBody>
          <a:bodyPr wrap="square" lIns="0" tIns="0" rIns="0" bIns="0" rtlCol="0" anchor="t"/>
          <a:lstStyle/>
          <a:p>
            <a:pPr indent="0" marL="0">
              <a:buNone/>
            </a:pPr>
            <a:r>
              <a:rPr lang="en-US" sz="2000" b="1" dirty="0">
                <a:solidFill>
                  <a:srgbClr val="C0462B"/>
                </a:solidFill>
                <a:latin typeface="Yu Mincho" pitchFamily="34" charset="0"/>
                <a:ea typeface="Yu Mincho" pitchFamily="34" charset="-122"/>
                <a:cs typeface="Yu Mincho" pitchFamily="34" charset="-120"/>
              </a:rPr>
              <a:t>Q</a:t>
            </a:r>
            <a:endParaRPr lang="en-US" sz="2000" dirty="0"/>
          </a:p>
        </p:txBody>
      </p:sp>
      <p:sp>
        <p:nvSpPr>
          <p:cNvPr id="13" name="Text 11"/>
          <p:cNvSpPr txBox="1"/>
          <p:nvPr/>
        </p:nvSpPr>
        <p:spPr>
          <a:xfrm>
            <a:off x="1234440" y="3264408"/>
            <a:ext cx="100584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ネット広告・SNS広告の中身を見せていただけますか。</a:t>
            </a:r>
            <a:endParaRPr lang="en-US" sz="1500" dirty="0"/>
          </a:p>
        </p:txBody>
      </p:sp>
      <p:sp>
        <p:nvSpPr>
          <p:cNvPr id="14" name="Text 12"/>
          <p:cNvSpPr txBox="1"/>
          <p:nvPr/>
        </p:nvSpPr>
        <p:spPr>
          <a:xfrm>
            <a:off x="1234440" y="3630168"/>
            <a:ext cx="10058400" cy="3200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配信の対象・期間・クリエイティブ・クリック先のページ。</a:t>
            </a:r>
            <a:endParaRPr lang="en-US" sz="1200" dirty="0"/>
          </a:p>
        </p:txBody>
      </p:sp>
      <p:sp>
        <p:nvSpPr>
          <p:cNvPr id="15" name="Text 13"/>
          <p:cNvSpPr txBox="1"/>
          <p:nvPr/>
        </p:nvSpPr>
        <p:spPr>
          <a:xfrm>
            <a:off x="685800" y="3977640"/>
            <a:ext cx="411480" cy="411480"/>
          </a:xfrm>
          <a:prstGeom prst="rect">
            <a:avLst/>
          </a:prstGeom>
          <a:noFill/>
          <a:ln/>
        </p:spPr>
        <p:txBody>
          <a:bodyPr wrap="square" lIns="0" tIns="0" rIns="0" bIns="0" rtlCol="0" anchor="t"/>
          <a:lstStyle/>
          <a:p>
            <a:pPr indent="0" marL="0">
              <a:buNone/>
            </a:pPr>
            <a:r>
              <a:rPr lang="en-US" sz="2000" b="1" dirty="0">
                <a:solidFill>
                  <a:srgbClr val="C0462B"/>
                </a:solidFill>
                <a:latin typeface="Yu Mincho" pitchFamily="34" charset="0"/>
                <a:ea typeface="Yu Mincho" pitchFamily="34" charset="-122"/>
                <a:cs typeface="Yu Mincho" pitchFamily="34" charset="-120"/>
              </a:rPr>
              <a:t>Q</a:t>
            </a:r>
            <a:endParaRPr lang="en-US" sz="2000" dirty="0"/>
          </a:p>
        </p:txBody>
      </p:sp>
      <p:sp>
        <p:nvSpPr>
          <p:cNvPr id="16" name="Text 14"/>
          <p:cNvSpPr txBox="1"/>
          <p:nvPr/>
        </p:nvSpPr>
        <p:spPr>
          <a:xfrm>
            <a:off x="1234440" y="3959352"/>
            <a:ext cx="100584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認知度に、目標値や重視している層はありますか。</a:t>
            </a:r>
            <a:endParaRPr lang="en-US" sz="1500" dirty="0"/>
          </a:p>
        </p:txBody>
      </p:sp>
      <p:sp>
        <p:nvSpPr>
          <p:cNvPr id="17" name="Text 15"/>
          <p:cNvSpPr txBox="1"/>
          <p:nvPr/>
        </p:nvSpPr>
        <p:spPr>
          <a:xfrm>
            <a:off x="1234440" y="4325112"/>
            <a:ext cx="10058400" cy="3200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「低い」を判断する物差しを、最初にすり合わせたいためです。</a:t>
            </a:r>
            <a:endParaRPr lang="en-US" sz="1200" dirty="0"/>
          </a:p>
        </p:txBody>
      </p:sp>
      <p:sp>
        <p:nvSpPr>
          <p:cNvPr id="18" name="Text 16"/>
          <p:cNvSpPr txBox="1"/>
          <p:nvPr/>
        </p:nvSpPr>
        <p:spPr>
          <a:xfrm>
            <a:off x="685800" y="4672584"/>
            <a:ext cx="411480" cy="411480"/>
          </a:xfrm>
          <a:prstGeom prst="rect">
            <a:avLst/>
          </a:prstGeom>
          <a:noFill/>
          <a:ln/>
        </p:spPr>
        <p:txBody>
          <a:bodyPr wrap="square" lIns="0" tIns="0" rIns="0" bIns="0" rtlCol="0" anchor="t"/>
          <a:lstStyle/>
          <a:p>
            <a:pPr indent="0" marL="0">
              <a:buNone/>
            </a:pPr>
            <a:r>
              <a:rPr lang="en-US" sz="2000" b="1" dirty="0">
                <a:solidFill>
                  <a:srgbClr val="C0462B"/>
                </a:solidFill>
                <a:latin typeface="Yu Mincho" pitchFamily="34" charset="0"/>
                <a:ea typeface="Yu Mincho" pitchFamily="34" charset="-122"/>
                <a:cs typeface="Yu Mincho" pitchFamily="34" charset="-120"/>
              </a:rPr>
              <a:t>Q</a:t>
            </a:r>
            <a:endParaRPr lang="en-US" sz="2000" dirty="0"/>
          </a:p>
        </p:txBody>
      </p:sp>
      <p:sp>
        <p:nvSpPr>
          <p:cNvPr id="19" name="Text 17"/>
          <p:cNvSpPr txBox="1"/>
          <p:nvPr/>
        </p:nvSpPr>
        <p:spPr>
          <a:xfrm>
            <a:off x="1234440" y="4654296"/>
            <a:ext cx="100584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来年度の広報予算と体制の見通しは。</a:t>
            </a:r>
            <a:endParaRPr lang="en-US" sz="1500" dirty="0"/>
          </a:p>
        </p:txBody>
      </p:sp>
      <p:sp>
        <p:nvSpPr>
          <p:cNvPr id="20" name="Text 18"/>
          <p:cNvSpPr txBox="1"/>
          <p:nvPr/>
        </p:nvSpPr>
        <p:spPr>
          <a:xfrm>
            <a:off x="1234440" y="5020056"/>
            <a:ext cx="10058400" cy="3200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実行できる範囲に合わせて、提言の現実的な大きさを決めたいためです。</a:t>
            </a:r>
            <a:endParaRPr lang="en-US" sz="1200" dirty="0"/>
          </a:p>
        </p:txBody>
      </p:sp>
      <p:sp>
        <p:nvSpPr>
          <p:cNvPr id="21" name="Text 19"/>
          <p:cNvSpPr txBox="1"/>
          <p:nvPr/>
        </p:nvSpPr>
        <p:spPr>
          <a:xfrm>
            <a:off x="685800" y="5367528"/>
            <a:ext cx="411480" cy="411480"/>
          </a:xfrm>
          <a:prstGeom prst="rect">
            <a:avLst/>
          </a:prstGeom>
          <a:noFill/>
          <a:ln/>
        </p:spPr>
        <p:txBody>
          <a:bodyPr wrap="square" lIns="0" tIns="0" rIns="0" bIns="0" rtlCol="0" anchor="t"/>
          <a:lstStyle/>
          <a:p>
            <a:pPr indent="0" marL="0">
              <a:buNone/>
            </a:pPr>
            <a:r>
              <a:rPr lang="en-US" sz="2000" b="1" dirty="0">
                <a:solidFill>
                  <a:srgbClr val="C0462B"/>
                </a:solidFill>
                <a:latin typeface="Yu Mincho" pitchFamily="34" charset="0"/>
                <a:ea typeface="Yu Mincho" pitchFamily="34" charset="-122"/>
                <a:cs typeface="Yu Mincho" pitchFamily="34" charset="-120"/>
              </a:rPr>
              <a:t>Q</a:t>
            </a:r>
            <a:endParaRPr lang="en-US" sz="2000" dirty="0"/>
          </a:p>
        </p:txBody>
      </p:sp>
      <p:sp>
        <p:nvSpPr>
          <p:cNvPr id="22" name="Text 20"/>
          <p:cNvSpPr txBox="1"/>
          <p:nvPr/>
        </p:nvSpPr>
        <p:spPr>
          <a:xfrm>
            <a:off x="1234440" y="5349240"/>
            <a:ext cx="10058400" cy="320040"/>
          </a:xfrm>
          <a:prstGeom prst="rect">
            <a:avLst/>
          </a:prstGeom>
          <a:noFill/>
          <a:ln/>
        </p:spPr>
        <p:txBody>
          <a:bodyPr wrap="square" lIns="0" tIns="0" rIns="0" bIns="0" rtlCol="0" anchor="t"/>
          <a:lstStyle/>
          <a:p>
            <a:pPr indent="0" marL="0">
              <a:lnSpc>
                <a:spcPct val="125000"/>
              </a:lnSpc>
              <a:buNone/>
            </a:pPr>
            <a:r>
              <a:rPr lang="en-US" sz="1500" b="1" dirty="0">
                <a:solidFill>
                  <a:srgbClr val="1F1F1F"/>
                </a:solidFill>
                <a:latin typeface="Yu Gothic" pitchFamily="34" charset="0"/>
                <a:ea typeface="Yu Gothic" pitchFamily="34" charset="-122"/>
                <a:cs typeface="Yu Gothic" pitchFamily="34" charset="-120"/>
              </a:rPr>
              <a:t>今回の提言は、どなたが・どの場で使われますか。</a:t>
            </a:r>
            <a:endParaRPr lang="en-US" sz="1500" dirty="0"/>
          </a:p>
        </p:txBody>
      </p:sp>
      <p:sp>
        <p:nvSpPr>
          <p:cNvPr id="23" name="Text 21"/>
          <p:cNvSpPr txBox="1"/>
          <p:nvPr/>
        </p:nvSpPr>
        <p:spPr>
          <a:xfrm>
            <a:off x="1234440" y="5715000"/>
            <a:ext cx="10058400" cy="320040"/>
          </a:xfrm>
          <a:prstGeom prst="rect">
            <a:avLst/>
          </a:prstGeom>
          <a:noFill/>
          <a:ln/>
        </p:spPr>
        <p:txBody>
          <a:bodyPr wrap="square" lIns="0" tIns="0" rIns="0" bIns="0" rtlCol="0" anchor="t"/>
          <a:lstStyle/>
          <a:p>
            <a:pPr indent="0" marL="0">
              <a:lnSpc>
                <a:spcPct val="125000"/>
              </a:lnSpc>
              <a:buNone/>
            </a:pPr>
            <a:r>
              <a:rPr lang="en-US" sz="1200" dirty="0">
                <a:solidFill>
                  <a:srgbClr val="6B6B6B"/>
                </a:solidFill>
                <a:latin typeface="Yu Gothic" pitchFamily="34" charset="0"/>
                <a:ea typeface="Yu Gothic" pitchFamily="34" charset="-122"/>
                <a:cs typeface="Yu Gothic" pitchFamily="34" charset="-120"/>
              </a:rPr>
              <a:t>内部で説明しやすい形に、資料のつくりを合わせます。</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828800"/>
            <a:ext cx="10058400" cy="1737360"/>
          </a:xfrm>
          <a:prstGeom prst="rect">
            <a:avLst/>
          </a:prstGeom>
          <a:noFill/>
          <a:ln/>
        </p:spPr>
        <p:txBody>
          <a:bodyPr wrap="square" lIns="0" tIns="0" rIns="0" bIns="0" rtlCol="0" anchor="t"/>
          <a:lstStyle/>
          <a:p>
            <a:pPr indent="0" marL="0">
              <a:lnSpc>
                <a:spcPct val="120000"/>
              </a:lnSpc>
              <a:buNone/>
            </a:pPr>
            <a:r>
              <a:rPr lang="en-US" sz="3800" b="1" dirty="0">
                <a:solidFill>
                  <a:srgbClr val="1F1F1F"/>
                </a:solidFill>
                <a:latin typeface="Yu Mincho" pitchFamily="34" charset="0"/>
                <a:ea typeface="Yu Mincho" pitchFamily="34" charset="-122"/>
                <a:cs typeface="Yu Mincho" pitchFamily="34" charset="-120"/>
              </a:rPr>
              <a:t>12月の数字を、</a:t>
            </a:r>
            <a:endParaRPr lang="en-US" sz="3800" dirty="0"/>
          </a:p>
          <a:p>
            <a:pPr indent="0" marL="0">
              <a:lnSpc>
                <a:spcPct val="120000"/>
              </a:lnSpc>
              <a:buNone/>
            </a:pPr>
            <a:r>
              <a:rPr lang="en-US" sz="3800" b="1" dirty="0">
                <a:solidFill>
                  <a:srgbClr val="1F1F1F"/>
                </a:solidFill>
                <a:latin typeface="Yu Mincho" pitchFamily="34" charset="0"/>
                <a:ea typeface="Yu Mincho" pitchFamily="34" charset="-122"/>
                <a:cs typeface="Yu Mincho" pitchFamily="34" charset="-120"/>
              </a:rPr>
              <a:t>来年度の判断に。</a:t>
            </a:r>
            <a:endParaRPr lang="en-US" sz="3800" dirty="0"/>
          </a:p>
        </p:txBody>
      </p:sp>
      <p:sp>
        <p:nvSpPr>
          <p:cNvPr id="3" name="Text 1"/>
          <p:cNvSpPr txBox="1"/>
          <p:nvPr/>
        </p:nvSpPr>
        <p:spPr>
          <a:xfrm>
            <a:off x="685800" y="3703320"/>
            <a:ext cx="10058400" cy="457200"/>
          </a:xfrm>
          <a:prstGeom prst="rect">
            <a:avLst/>
          </a:prstGeom>
          <a:noFill/>
          <a:ln/>
        </p:spPr>
        <p:txBody>
          <a:bodyPr wrap="square" lIns="0" tIns="0" rIns="0" bIns="0" rtlCol="0" anchor="t"/>
          <a:lstStyle/>
          <a:p>
            <a:pPr indent="0" marL="0">
              <a:lnSpc>
                <a:spcPct val="125000"/>
              </a:lnSpc>
              <a:buNone/>
            </a:pPr>
            <a:r>
              <a:rPr lang="en-US" sz="1600" dirty="0">
                <a:solidFill>
                  <a:srgbClr val="6B6B6B"/>
                </a:solidFill>
                <a:latin typeface="Yu Gothic" pitchFamily="34" charset="0"/>
                <a:ea typeface="Yu Gothic" pitchFamily="34" charset="-122"/>
                <a:cs typeface="Yu Gothic" pitchFamily="34" charset="-120"/>
              </a:rPr>
              <a:t>ご検討のほど、よろしくお願いいたします。</a:t>
            </a:r>
            <a:endParaRPr lang="en-US" sz="1600" dirty="0"/>
          </a:p>
        </p:txBody>
      </p:sp>
      <p:sp>
        <p:nvSpPr>
          <p:cNvPr id="4" name="Shape 2"/>
          <p:cNvSpPr/>
          <p:nvPr/>
        </p:nvSpPr>
        <p:spPr>
          <a:xfrm>
            <a:off x="685800" y="5120640"/>
            <a:ext cx="10820095" cy="0"/>
          </a:xfrm>
          <a:prstGeom prst="line">
            <a:avLst/>
          </a:prstGeom>
          <a:noFill/>
          <a:ln w="9525">
            <a:solidFill>
              <a:srgbClr val="1F1F1F"/>
            </a:solidFill>
            <a:prstDash val="solid"/>
          </a:ln>
        </p:spPr>
      </p:sp>
      <p:sp>
        <p:nvSpPr>
          <p:cNvPr id="5" name="Text 3"/>
          <p:cNvSpPr txBox="1"/>
          <p:nvPr/>
        </p:nvSpPr>
        <p:spPr>
          <a:xfrm>
            <a:off x="7848295" y="5852160"/>
            <a:ext cx="3657600" cy="365760"/>
          </a:xfrm>
          <a:prstGeom prst="rect">
            <a:avLst/>
          </a:prstGeom>
          <a:noFill/>
          <a:ln/>
        </p:spPr>
        <p:txBody>
          <a:bodyPr wrap="square" lIns="0" tIns="0" rIns="0" bIns="0" rtlCol="0" anchor="ctr"/>
          <a:lstStyle/>
          <a:p>
            <a:pPr algn="r" indent="0" marL="0">
              <a:buNone/>
            </a:pPr>
            <a:r>
              <a:rPr lang="en-US" sz="1600" b="1" dirty="0">
                <a:solidFill>
                  <a:srgbClr val="1F1F1F"/>
                </a:solidFill>
                <a:latin typeface="Yu Mincho" pitchFamily="34" charset="0"/>
                <a:ea typeface="Yu Mincho" pitchFamily="34" charset="-122"/>
                <a:cs typeface="Yu Mincho" pitchFamily="34" charset="-120"/>
              </a:rPr>
              <a:t>株式会社alma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法テラス 認知度向上 戦略立案のご提案</dc:title>
  <dc:subject>PptxGenJS Presentation</dc:subject>
  <dc:creator>株式会社alma</dc:creator>
  <cp:lastModifiedBy>株式会社alma</cp:lastModifiedBy>
  <cp:revision>1</cp:revision>
  <dcterms:created xsi:type="dcterms:W3CDTF">2026-09-29T11:50:07Z</dcterms:created>
  <dcterms:modified xsi:type="dcterms:W3CDTF">2026-09-29T11:50:07Z</dcterms:modified>
</cp:coreProperties>
</file>