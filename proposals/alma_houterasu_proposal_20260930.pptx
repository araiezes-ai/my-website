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6" r:id="rId1"/>
  </p:sldMasterIdLst>
  <p:notesMasterIdLst>
    <p:notesMasterId r:id="rId4"/>
  </p:notesMasterIdLst>
  <p:sldIdLst>
    <p:sldId id="294" r:id="rId9"/>
    <p:sldId id="286" r:id="rId2"/>
    <p:sldId id="293" r:id="rId3"/>
    <p:sldId id="295" r:id="rId10"/>
    <p:sldId id="296" r:id="rId11"/>
    <p:sldId id="297" r:id="rId12"/>
    <p:sldId id="298" r:id="rId13"/>
    <p:sldId id="299" r:id="rId14"/>
    <p:sldId id="300" r:id="rId15"/>
    <p:sldId id="301" r:id="rId16"/>
    <p:sldId id="302" r:id="rId17"/>
    <p:sldId id="303" r:id="rId18"/>
  </p:sldIdLst>
  <p:sldSz cx="13444538" cy="7562850"/>
  <p:notesSz cx="10693400" cy="7562850"/>
  <p:defaultTextStyle>
    <a:defPPr>
      <a:defRPr kern="0"/>
    </a:defPPr>
  </p:defaultTextStyle>
  <p:extLst>
    <p:ext uri="{521415D9-36F7-43E2-AB2F-B90AF26B5E84}">
      <p14:sectionLst xmlns:p14="http://schemas.microsoft.com/office/powerpoint/2010/main">
        <p14:section name="subject" id="{B78396A7-AB8C-461D-B377-EC94B9ABE8E9}">
          <p14:sldIdLst>
            <p14:sldId id="286"/>
            <p14:sldId id="293"/>
          </p14:sldIdLst>
        </p14:section>
      </p14:sectionLst>
    </p:ext>
    <p:ext uri="{EFAFB233-063F-42B5-8137-9DF3F51BA10A}">
      <p15:sldGuideLst xmlns:p15="http://schemas.microsoft.com/office/powerpoint/2012/main">
        <p15:guide id="1" orient="horz" pos="2880" userDrawn="1">
          <p15:clr>
            <a:srgbClr val="A4A3A4"/>
          </p15:clr>
        </p15:guide>
        <p15:guide id="2" pos="271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462F"/>
    <a:srgbClr val="126612"/>
    <a:srgbClr val="D0DAD5"/>
    <a:srgbClr val="E5A810"/>
    <a:srgbClr val="F9EDCC"/>
    <a:srgbClr val="D3A001"/>
    <a:srgbClr val="F7F3EA"/>
    <a:srgbClr val="FCF7E8"/>
    <a:srgbClr val="E6E4DE"/>
    <a:srgbClr val="FAF1D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43" autoAdjust="0"/>
    <p:restoredTop sz="81333" autoAdjust="0"/>
  </p:normalViewPr>
  <p:slideViewPr>
    <p:cSldViewPr>
      <p:cViewPr varScale="1">
        <p:scale>
          <a:sx n="95" d="100"/>
          <a:sy n="95" d="100"/>
        </p:scale>
        <p:origin x="84" y="324"/>
      </p:cViewPr>
      <p:guideLst>
        <p:guide orient="horz" pos="2880"/>
        <p:guide pos="2716"/>
      </p:guideLst>
    </p:cSldViewPr>
  </p:slideViewPr>
  <p:notesTextViewPr>
    <p:cViewPr>
      <p:scale>
        <a:sx n="75" d="100"/>
        <a:sy n="7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4633913" cy="379413"/>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6057900" y="0"/>
            <a:ext cx="4632325" cy="379413"/>
          </a:xfrm>
          <a:prstGeom prst="rect">
            <a:avLst/>
          </a:prstGeom>
        </p:spPr>
        <p:txBody>
          <a:bodyPr vert="horz" lIns="91440" tIns="45720" rIns="91440" bIns="45720" rtlCol="0"/>
          <a:lstStyle>
            <a:lvl1pPr algn="r">
              <a:defRPr sz="1200"/>
            </a:lvl1pPr>
          </a:lstStyle>
          <a:p>
            <a:fld id="{14D0DB2D-6863-45A3-B0F1-567D9B7B4681}" type="datetimeFigureOut">
              <a:rPr kumimoji="1" lang="ja-JP" altLang="en-US" smtClean="0"/>
              <a:t>2026/9/29</a:t>
            </a:fld>
            <a:endParaRPr kumimoji="1" lang="ja-JP" altLang="en-US"/>
          </a:p>
        </p:txBody>
      </p:sp>
      <p:sp>
        <p:nvSpPr>
          <p:cNvPr id="4" name="スライド イメージ プレースホルダー 3"/>
          <p:cNvSpPr>
            <a:spLocks noGrp="1" noRot="1" noChangeAspect="1"/>
          </p:cNvSpPr>
          <p:nvPr>
            <p:ph type="sldImg" idx="2"/>
          </p:nvPr>
        </p:nvSpPr>
        <p:spPr>
          <a:xfrm>
            <a:off x="3079750" y="946150"/>
            <a:ext cx="4533900" cy="2551113"/>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1069975" y="3640138"/>
            <a:ext cx="8553450" cy="29781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7183438"/>
            <a:ext cx="4633913" cy="379412"/>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6057900" y="7183438"/>
            <a:ext cx="4632325" cy="379412"/>
          </a:xfrm>
          <a:prstGeom prst="rect">
            <a:avLst/>
          </a:prstGeom>
        </p:spPr>
        <p:txBody>
          <a:bodyPr vert="horz" lIns="91440" tIns="45720" rIns="91440" bIns="45720" rtlCol="0" anchor="b"/>
          <a:lstStyle>
            <a:lvl1pPr algn="r">
              <a:defRPr sz="1200"/>
            </a:lvl1pPr>
          </a:lstStyle>
          <a:p>
            <a:fld id="{1A6EDBBE-17BA-496B-8062-39D137A14D3B}" type="slidenum">
              <a:rPr kumimoji="1" lang="ja-JP" altLang="en-US" smtClean="0"/>
              <a:t>‹#›</a:t>
            </a:fld>
            <a:endParaRPr kumimoji="1" lang="ja-JP" altLang="en-US"/>
          </a:p>
        </p:txBody>
      </p:sp>
    </p:spTree>
    <p:extLst>
      <p:ext uri="{BB962C8B-B14F-4D97-AF65-F5344CB8AC3E}">
        <p14:creationId xmlns:p14="http://schemas.microsoft.com/office/powerpoint/2010/main" val="268437920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会社概要です。私たちは総合PR会社で、テレビPR、マーケティング、PR、危機管理広報などを手がけています。</a:t>
            </a:r>
          </a:p>
          <a:p>
            <a:r>
              <a:t>（会社の考え方を一言で）クライアントと同じ目線で、伝えるべき価値を見つけ、成果が出るところまで伴走することを大切にしています。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主な実績です。（今回の案件に近いもの：コンサルティング、コミュニケーション戦略策定、自治体案件などを中心に紹介する）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本日はお時間をいただきありがとうございます。株式会社almaの〇〇です。</a:t>
            </a:r>
          </a:p>
          <a:p>
            <a:r>
              <a:t>今日は完成した提案をお持ちしたというより、ご相談の内容をしっかり伺って、正式なご提案に反映させたいと思って参りました。</a:t>
            </a:r>
          </a:p>
          <a:p>
            <a:r>
              <a:t>まず簡単に、私たちの会社についてご紹介させてください。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今日の進め方です。まずご相談内容の理解が合っているかを確認させてください。そのうえで、時間の大半を使って、いくつか質問をさせていただきたいと思っています。</a:t>
            </a:r>
          </a:p>
          <a:p>
            <a:r>
              <a:t>12月の調査結果を見る前に私たちが答えを決めてしまうのは違うと考えていて、今日伺ったことをもとに、10月中に正式なご提案をお持ちします。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まず、ご相談の内容をこう理解しています、という確認です。ずれていたら、ぜひこの場でご指摘ください。</a:t>
            </a:r>
          </a:p>
          <a:p>
            <a:r>
              <a:t>調査は毎年きちんとされている。ただ、結果を読み解いて次の打ち手を決めるところまでは手が回っていない。実行は御センターでされるので、私たちは運用代行ではなく、判断材料と優先順位をお渡しする役割だと考えています。</a:t>
            </a:r>
          </a:p>
          <a:p>
            <a:r>
              <a:t>右下の『やらないこと』は、あえて書きました。広告を増やしましょう、という提案にはしません。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今回の『認知度向上』をどう捉えているかを共有させてください。</a:t>
            </a:r>
          </a:p>
          <a:p>
            <a:r>
              <a:t>認知度を上げるには2つの方向があります。一つは『広げる』。まだ法テラスを知らない方に、名前を知ってもらうこと。もう一つは『深める』。名前は知っている方に、何をする所かを知ってもらい、困ったときに思い出して、相談してもらうこと。</a:t>
            </a:r>
          </a:p>
          <a:p>
            <a:r>
              <a:t>どちらか一方ではなく、両方が対象です。ただ、限られた予算と体制の中で、どちらにどれだけ力を配分するかは決めなければいけません。その判断を、12月の調査結果をもとに根拠をもって行えるようにするのが、今回のゴールです。</a:t>
            </a:r>
          </a:p>
          <a:p>
            <a:r>
              <a:t>そのために、このあといくつか伺わせてください。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ここから質問させてください。4つのテーマに分けています。</a:t>
            </a:r>
          </a:p>
          <a:p>
            <a:r>
              <a:t>最初は、目指している姿です。一番伺いたいのは、認知度が上がったときに、法テラスにとって何が変わってほしいか。相談件数が増えることなのか、困っている方が適切な窓口にたどり着けることなのか。ここで分析の切り口が変わります。</a:t>
            </a:r>
          </a:p>
          <a:p>
            <a:r>
              <a:t>また、『低い』と感じられているのは何と比べてなのか。過去なのか、目標なのか、現場の実感なのか。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次に、調査とデータについてです。</a:t>
            </a:r>
          </a:p>
          <a:p>
            <a:r>
              <a:t>毎年調査を見ていらっしゃる方だからこそ感じている『この数字が気になる』というものがあれば、ぜひ伺いたいです。そこに一番のヒントがあることが多いので。</a:t>
            </a:r>
          </a:p>
          <a:p>
            <a:r>
              <a:t>あとは実務的なところで、12月調査の結果がいつ頃どんな形でいただけるか、調査以外に見られるデータがあるか、を確認させてください。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3つ目は、いまの取り組みと体制です。</a:t>
            </a:r>
          </a:p>
          <a:p>
            <a:r>
              <a:t>毎年されているネット広告やSNS広告について、手応えのあるもの、ないものを率直に伺えればと思います。広告以外で効いていると感じるものもあれば。</a:t>
            </a:r>
          </a:p>
          <a:p>
            <a:r>
              <a:t>実行されるのは御センターなので、予算や承認の流れも伺って、現実に動かせる提言にしたいと考えています。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最後に、今回のご依頼そのものについてです。</a:t>
            </a:r>
          </a:p>
          <a:p>
            <a:r>
              <a:t>以前は調査会社さんに提言まで依頼されていたと伺いました。そのときに良かった点、物足りなかった点、そして今回依頼先を分けられた理由を伺えると、私たちが何を期待されているのかがはっきりします。</a:t>
            </a:r>
          </a:p>
          <a:p>
            <a:r>
              <a:t>それから、提言をどなたがどういう場で使われるのか。そして、3月末にどうなっていれば『頼んでよかった』と思っていただけるか。ここを伺って、正式なご提案に反映させます。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今後の進め方です。今日伺ったことをもとに、分析の進め方、体制、お見積りを具体化して、10月中に正式なご提案をお持ちします。費用はご予算の200万円以内で考えています。</a:t>
            </a:r>
          </a:p>
          <a:p>
            <a:r>
              <a:t>12月の調査については、もし可能であれば、調査票や集計の仕様を事前に共有いただけると、1月からすぐに分析に入れます。</a:t>
            </a:r>
          </a:p>
          <a:p>
            <a:r>
              <a:t>3月末には、12月の結果から『なぜ伸びないのか』を説明でき、来年度どこに力を入れるかを根拠をもって決められている状態を目指します。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本日はありがとうございました。毎年の調査の数字を、来年の具体的な打ち手に変える。そのお手伝いができればと思っています。ご検討のほど、よろしくお願いいたします。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04171" y="1566258"/>
            <a:ext cx="5713929" cy="1080741"/>
          </a:xfrm>
        </p:spPr>
        <p:txBody>
          <a:bodyPr/>
          <a:lstStyle/>
          <a:p>
            <a:r>
              <a:rPr lang="en-US"/>
              <a:t>Click to edit Master title style</a:t>
            </a:r>
          </a:p>
        </p:txBody>
      </p:sp>
      <p:sp>
        <p:nvSpPr>
          <p:cNvPr id="3" name="Subtitle 2"/>
          <p:cNvSpPr>
            <a:spLocks noGrp="1"/>
          </p:cNvSpPr>
          <p:nvPr>
            <p:ph type="subTitle" idx="1"/>
          </p:nvPr>
        </p:nvSpPr>
        <p:spPr>
          <a:xfrm>
            <a:off x="1008341" y="2857076"/>
            <a:ext cx="4705588" cy="1288486"/>
          </a:xfrm>
        </p:spPr>
        <p:txBody>
          <a:bodyPr/>
          <a:lstStyle>
            <a:lvl1pPr marL="0" indent="0" algn="ctr">
              <a:buNone/>
              <a:defRPr>
                <a:solidFill>
                  <a:schemeClr val="tx1">
                    <a:tint val="75000"/>
                  </a:schemeClr>
                </a:solidFill>
              </a:defRPr>
            </a:lvl1pPr>
            <a:lvl2pPr marL="336108" indent="0" algn="ctr">
              <a:buNone/>
              <a:defRPr>
                <a:solidFill>
                  <a:schemeClr val="tx1">
                    <a:tint val="75000"/>
                  </a:schemeClr>
                </a:solidFill>
              </a:defRPr>
            </a:lvl2pPr>
            <a:lvl3pPr marL="672215" indent="0" algn="ctr">
              <a:buNone/>
              <a:defRPr>
                <a:solidFill>
                  <a:schemeClr val="tx1">
                    <a:tint val="75000"/>
                  </a:schemeClr>
                </a:solidFill>
              </a:defRPr>
            </a:lvl3pPr>
            <a:lvl4pPr marL="1008323" indent="0" algn="ctr">
              <a:buNone/>
              <a:defRPr>
                <a:solidFill>
                  <a:schemeClr val="tx1">
                    <a:tint val="75000"/>
                  </a:schemeClr>
                </a:solidFill>
              </a:defRPr>
            </a:lvl4pPr>
            <a:lvl5pPr marL="1344430" indent="0" algn="ctr">
              <a:buNone/>
              <a:defRPr>
                <a:solidFill>
                  <a:schemeClr val="tx1">
                    <a:tint val="75000"/>
                  </a:schemeClr>
                </a:solidFill>
              </a:defRPr>
            </a:lvl5pPr>
            <a:lvl6pPr marL="1680537" indent="0" algn="ctr">
              <a:buNone/>
              <a:defRPr>
                <a:solidFill>
                  <a:schemeClr val="tx1">
                    <a:tint val="75000"/>
                  </a:schemeClr>
                </a:solidFill>
              </a:defRPr>
            </a:lvl6pPr>
            <a:lvl7pPr marL="2016645" indent="0" algn="ctr">
              <a:buNone/>
              <a:defRPr>
                <a:solidFill>
                  <a:schemeClr val="tx1">
                    <a:tint val="75000"/>
                  </a:schemeClr>
                </a:solidFill>
              </a:defRPr>
            </a:lvl7pPr>
            <a:lvl8pPr marL="2352753" indent="0" algn="ctr">
              <a:buNone/>
              <a:defRPr>
                <a:solidFill>
                  <a:schemeClr val="tx1">
                    <a:tint val="75000"/>
                  </a:schemeClr>
                </a:solidFill>
              </a:defRPr>
            </a:lvl8pPr>
            <a:lvl9pPr marL="2688861"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2757527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8163703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31013" y="3239889"/>
            <a:ext cx="5713929" cy="1001377"/>
          </a:xfrm>
        </p:spPr>
        <p:txBody>
          <a:bodyPr anchor="t"/>
          <a:lstStyle>
            <a:lvl1pPr algn="l">
              <a:defRPr sz="2941" b="1" cap="all"/>
            </a:lvl1pPr>
          </a:lstStyle>
          <a:p>
            <a:r>
              <a:rPr lang="en-US"/>
              <a:t>Click to edit Master title style</a:t>
            </a:r>
          </a:p>
        </p:txBody>
      </p:sp>
      <p:sp>
        <p:nvSpPr>
          <p:cNvPr id="3" name="Text Placeholder 2"/>
          <p:cNvSpPr>
            <a:spLocks noGrp="1"/>
          </p:cNvSpPr>
          <p:nvPr>
            <p:ph type="body" idx="1"/>
          </p:nvPr>
        </p:nvSpPr>
        <p:spPr>
          <a:xfrm>
            <a:off x="531013" y="2136974"/>
            <a:ext cx="5713929" cy="1102915"/>
          </a:xfrm>
        </p:spPr>
        <p:txBody>
          <a:bodyPr anchor="b"/>
          <a:lstStyle>
            <a:lvl1pPr marL="0" indent="0">
              <a:buNone/>
              <a:defRPr sz="1470">
                <a:solidFill>
                  <a:schemeClr val="tx1">
                    <a:tint val="75000"/>
                  </a:schemeClr>
                </a:solidFill>
              </a:defRPr>
            </a:lvl1pPr>
            <a:lvl2pPr marL="336108" indent="0">
              <a:buNone/>
              <a:defRPr sz="1323">
                <a:solidFill>
                  <a:schemeClr val="tx1">
                    <a:tint val="75000"/>
                  </a:schemeClr>
                </a:solidFill>
              </a:defRPr>
            </a:lvl2pPr>
            <a:lvl3pPr marL="672215" indent="0">
              <a:buNone/>
              <a:defRPr sz="1177">
                <a:solidFill>
                  <a:schemeClr val="tx1">
                    <a:tint val="75000"/>
                  </a:schemeClr>
                </a:solidFill>
              </a:defRPr>
            </a:lvl3pPr>
            <a:lvl4pPr marL="1008323" indent="0">
              <a:buNone/>
              <a:defRPr sz="1030">
                <a:solidFill>
                  <a:schemeClr val="tx1">
                    <a:tint val="75000"/>
                  </a:schemeClr>
                </a:solidFill>
              </a:defRPr>
            </a:lvl4pPr>
            <a:lvl5pPr marL="1344430" indent="0">
              <a:buNone/>
              <a:defRPr sz="1030">
                <a:solidFill>
                  <a:schemeClr val="tx1">
                    <a:tint val="75000"/>
                  </a:schemeClr>
                </a:solidFill>
              </a:defRPr>
            </a:lvl5pPr>
            <a:lvl6pPr marL="1680537" indent="0">
              <a:buNone/>
              <a:defRPr sz="1030">
                <a:solidFill>
                  <a:schemeClr val="tx1">
                    <a:tint val="75000"/>
                  </a:schemeClr>
                </a:solidFill>
              </a:defRPr>
            </a:lvl6pPr>
            <a:lvl7pPr marL="2016645" indent="0">
              <a:buNone/>
              <a:defRPr sz="1030">
                <a:solidFill>
                  <a:schemeClr val="tx1">
                    <a:tint val="75000"/>
                  </a:schemeClr>
                </a:solidFill>
              </a:defRPr>
            </a:lvl7pPr>
            <a:lvl8pPr marL="2352753" indent="0">
              <a:buNone/>
              <a:defRPr sz="1030">
                <a:solidFill>
                  <a:schemeClr val="tx1">
                    <a:tint val="75000"/>
                  </a:schemeClr>
                </a:solidFill>
              </a:defRPr>
            </a:lvl8pPr>
            <a:lvl9pPr marL="2688861" indent="0">
              <a:buNone/>
              <a:defRPr sz="103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42918350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336114" y="1176445"/>
            <a:ext cx="2969002" cy="3327421"/>
          </a:xfrm>
        </p:spPr>
        <p:txBody>
          <a:bodyPr/>
          <a:lstStyle>
            <a:lvl1pPr>
              <a:defRPr sz="2058"/>
            </a:lvl1pPr>
            <a:lvl2pPr>
              <a:defRPr sz="1764"/>
            </a:lvl2pPr>
            <a:lvl3pPr>
              <a:defRPr sz="1470"/>
            </a:lvl3pPr>
            <a:lvl4pPr>
              <a:defRPr sz="1323"/>
            </a:lvl4pPr>
            <a:lvl5pPr>
              <a:defRPr sz="1323"/>
            </a:lvl5pPr>
            <a:lvl6pPr>
              <a:defRPr sz="1323"/>
            </a:lvl6pPr>
            <a:lvl7pPr>
              <a:defRPr sz="1323"/>
            </a:lvl7pPr>
            <a:lvl8pPr>
              <a:defRPr sz="1323"/>
            </a:lvl8pPr>
            <a:lvl9pPr>
              <a:defRPr sz="132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417154" y="1176445"/>
            <a:ext cx="2969002" cy="3327421"/>
          </a:xfrm>
        </p:spPr>
        <p:txBody>
          <a:bodyPr/>
          <a:lstStyle>
            <a:lvl1pPr>
              <a:defRPr sz="2058"/>
            </a:lvl1pPr>
            <a:lvl2pPr>
              <a:defRPr sz="1764"/>
            </a:lvl2pPr>
            <a:lvl3pPr>
              <a:defRPr sz="1470"/>
            </a:lvl3pPr>
            <a:lvl4pPr>
              <a:defRPr sz="1323"/>
            </a:lvl4pPr>
            <a:lvl5pPr>
              <a:defRPr sz="1323"/>
            </a:lvl5pPr>
            <a:lvl6pPr>
              <a:defRPr sz="1323"/>
            </a:lvl6pPr>
            <a:lvl7pPr>
              <a:defRPr sz="1323"/>
            </a:lvl7pPr>
            <a:lvl8pPr>
              <a:defRPr sz="1323"/>
            </a:lvl8pPr>
            <a:lvl9pPr>
              <a:defRPr sz="1323"/>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8159544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336113" y="1128592"/>
            <a:ext cx="2970170" cy="470344"/>
          </a:xfrm>
        </p:spPr>
        <p:txBody>
          <a:bodyPr anchor="b"/>
          <a:lstStyle>
            <a:lvl1pPr marL="0" indent="0">
              <a:buNone/>
              <a:defRPr sz="1764" b="1"/>
            </a:lvl1pPr>
            <a:lvl2pPr marL="336108" indent="0">
              <a:buNone/>
              <a:defRPr sz="1470" b="1"/>
            </a:lvl2pPr>
            <a:lvl3pPr marL="672215" indent="0">
              <a:buNone/>
              <a:defRPr sz="1323" b="1"/>
            </a:lvl3pPr>
            <a:lvl4pPr marL="1008323" indent="0">
              <a:buNone/>
              <a:defRPr sz="1177" b="1"/>
            </a:lvl4pPr>
            <a:lvl5pPr marL="1344430" indent="0">
              <a:buNone/>
              <a:defRPr sz="1177" b="1"/>
            </a:lvl5pPr>
            <a:lvl6pPr marL="1680537" indent="0">
              <a:buNone/>
              <a:defRPr sz="1177" b="1"/>
            </a:lvl6pPr>
            <a:lvl7pPr marL="2016645" indent="0">
              <a:buNone/>
              <a:defRPr sz="1177" b="1"/>
            </a:lvl7pPr>
            <a:lvl8pPr marL="2352753" indent="0">
              <a:buNone/>
              <a:defRPr sz="1177" b="1"/>
            </a:lvl8pPr>
            <a:lvl9pPr marL="2688861" indent="0">
              <a:buNone/>
              <a:defRPr sz="1177" b="1"/>
            </a:lvl9pPr>
          </a:lstStyle>
          <a:p>
            <a:pPr lvl="0"/>
            <a:r>
              <a:rPr lang="en-US"/>
              <a:t>Click to edit Master text styles</a:t>
            </a:r>
          </a:p>
        </p:txBody>
      </p:sp>
      <p:sp>
        <p:nvSpPr>
          <p:cNvPr id="4" name="Content Placeholder 3"/>
          <p:cNvSpPr>
            <a:spLocks noGrp="1"/>
          </p:cNvSpPr>
          <p:nvPr>
            <p:ph sz="half" idx="2"/>
          </p:nvPr>
        </p:nvSpPr>
        <p:spPr>
          <a:xfrm>
            <a:off x="336113" y="1598936"/>
            <a:ext cx="2970170" cy="2904928"/>
          </a:xfrm>
        </p:spPr>
        <p:txBody>
          <a:bodyPr/>
          <a:lstStyle>
            <a:lvl1pPr>
              <a:defRPr sz="1764"/>
            </a:lvl1pPr>
            <a:lvl2pPr>
              <a:defRPr sz="1470"/>
            </a:lvl2pPr>
            <a:lvl3pPr>
              <a:defRPr sz="1323"/>
            </a:lvl3pPr>
            <a:lvl4pPr>
              <a:defRPr sz="1177"/>
            </a:lvl4pPr>
            <a:lvl5pPr>
              <a:defRPr sz="1177"/>
            </a:lvl5pPr>
            <a:lvl6pPr>
              <a:defRPr sz="1177"/>
            </a:lvl6pPr>
            <a:lvl7pPr>
              <a:defRPr sz="1177"/>
            </a:lvl7pPr>
            <a:lvl8pPr>
              <a:defRPr sz="1177"/>
            </a:lvl8pPr>
            <a:lvl9pPr>
              <a:defRPr sz="117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414819" y="1128592"/>
            <a:ext cx="2971337" cy="470344"/>
          </a:xfrm>
        </p:spPr>
        <p:txBody>
          <a:bodyPr anchor="b"/>
          <a:lstStyle>
            <a:lvl1pPr marL="0" indent="0">
              <a:buNone/>
              <a:defRPr sz="1764" b="1"/>
            </a:lvl1pPr>
            <a:lvl2pPr marL="336108" indent="0">
              <a:buNone/>
              <a:defRPr sz="1470" b="1"/>
            </a:lvl2pPr>
            <a:lvl3pPr marL="672215" indent="0">
              <a:buNone/>
              <a:defRPr sz="1323" b="1"/>
            </a:lvl3pPr>
            <a:lvl4pPr marL="1008323" indent="0">
              <a:buNone/>
              <a:defRPr sz="1177" b="1"/>
            </a:lvl4pPr>
            <a:lvl5pPr marL="1344430" indent="0">
              <a:buNone/>
              <a:defRPr sz="1177" b="1"/>
            </a:lvl5pPr>
            <a:lvl6pPr marL="1680537" indent="0">
              <a:buNone/>
              <a:defRPr sz="1177" b="1"/>
            </a:lvl6pPr>
            <a:lvl7pPr marL="2016645" indent="0">
              <a:buNone/>
              <a:defRPr sz="1177" b="1"/>
            </a:lvl7pPr>
            <a:lvl8pPr marL="2352753" indent="0">
              <a:buNone/>
              <a:defRPr sz="1177" b="1"/>
            </a:lvl8pPr>
            <a:lvl9pPr marL="2688861" indent="0">
              <a:buNone/>
              <a:defRPr sz="1177" b="1"/>
            </a:lvl9pPr>
          </a:lstStyle>
          <a:p>
            <a:pPr lvl="0"/>
            <a:r>
              <a:rPr lang="en-US"/>
              <a:t>Click to edit Master text styles</a:t>
            </a:r>
          </a:p>
        </p:txBody>
      </p:sp>
      <p:sp>
        <p:nvSpPr>
          <p:cNvPr id="6" name="Content Placeholder 5"/>
          <p:cNvSpPr>
            <a:spLocks noGrp="1"/>
          </p:cNvSpPr>
          <p:nvPr>
            <p:ph sz="quarter" idx="4"/>
          </p:nvPr>
        </p:nvSpPr>
        <p:spPr>
          <a:xfrm>
            <a:off x="3414819" y="1598936"/>
            <a:ext cx="2971337" cy="2904928"/>
          </a:xfrm>
        </p:spPr>
        <p:txBody>
          <a:bodyPr/>
          <a:lstStyle>
            <a:lvl1pPr>
              <a:defRPr sz="1764"/>
            </a:lvl1pPr>
            <a:lvl2pPr>
              <a:defRPr sz="1470"/>
            </a:lvl2pPr>
            <a:lvl3pPr>
              <a:defRPr sz="1323"/>
            </a:lvl3pPr>
            <a:lvl4pPr>
              <a:defRPr sz="1177"/>
            </a:lvl4pPr>
            <a:lvl5pPr>
              <a:defRPr sz="1177"/>
            </a:lvl5pPr>
            <a:lvl6pPr>
              <a:defRPr sz="1177"/>
            </a:lvl6pPr>
            <a:lvl7pPr>
              <a:defRPr sz="1177"/>
            </a:lvl7pPr>
            <a:lvl8pPr>
              <a:defRPr sz="1177"/>
            </a:lvl8pPr>
            <a:lvl9pPr>
              <a:defRPr sz="117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9/29/2026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83275782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9/29/2026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0965421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76710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36115" y="200742"/>
            <a:ext cx="2211580" cy="854322"/>
          </a:xfrm>
        </p:spPr>
        <p:txBody>
          <a:bodyPr anchor="b"/>
          <a:lstStyle>
            <a:lvl1pPr algn="l">
              <a:defRPr sz="1470" b="1"/>
            </a:lvl1pPr>
          </a:lstStyle>
          <a:p>
            <a:r>
              <a:rPr lang="en-US"/>
              <a:t>Click to edit Master title style</a:t>
            </a:r>
          </a:p>
        </p:txBody>
      </p:sp>
      <p:sp>
        <p:nvSpPr>
          <p:cNvPr id="3" name="Content Placeholder 2"/>
          <p:cNvSpPr>
            <a:spLocks noGrp="1"/>
          </p:cNvSpPr>
          <p:nvPr>
            <p:ph idx="1"/>
          </p:nvPr>
        </p:nvSpPr>
        <p:spPr>
          <a:xfrm>
            <a:off x="2628220" y="200743"/>
            <a:ext cx="3757935" cy="4303122"/>
          </a:xfrm>
        </p:spPr>
        <p:txBody>
          <a:bodyPr/>
          <a:lstStyle>
            <a:lvl1pPr>
              <a:defRPr sz="2352"/>
            </a:lvl1pPr>
            <a:lvl2pPr>
              <a:defRPr sz="2058"/>
            </a:lvl2pPr>
            <a:lvl3pPr>
              <a:defRPr sz="1764"/>
            </a:lvl3pPr>
            <a:lvl4pPr>
              <a:defRPr sz="1470"/>
            </a:lvl4pPr>
            <a:lvl5pPr>
              <a:defRPr sz="1470"/>
            </a:lvl5pPr>
            <a:lvl6pPr>
              <a:defRPr sz="1470"/>
            </a:lvl6pPr>
            <a:lvl7pPr>
              <a:defRPr sz="1470"/>
            </a:lvl7pPr>
            <a:lvl8pPr>
              <a:defRPr sz="1470"/>
            </a:lvl8pPr>
            <a:lvl9pPr>
              <a:defRPr sz="147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336115" y="1055065"/>
            <a:ext cx="2211580" cy="3448800"/>
          </a:xfrm>
        </p:spPr>
        <p:txBody>
          <a:bodyPr/>
          <a:lstStyle>
            <a:lvl1pPr marL="0" indent="0">
              <a:buNone/>
              <a:defRPr sz="1030"/>
            </a:lvl1pPr>
            <a:lvl2pPr marL="336108" indent="0">
              <a:buNone/>
              <a:defRPr sz="883"/>
            </a:lvl2pPr>
            <a:lvl3pPr marL="672215" indent="0">
              <a:buNone/>
              <a:defRPr sz="736"/>
            </a:lvl3pPr>
            <a:lvl4pPr marL="1008323" indent="0">
              <a:buNone/>
              <a:defRPr sz="661"/>
            </a:lvl4pPr>
            <a:lvl5pPr marL="1344430" indent="0">
              <a:buNone/>
              <a:defRPr sz="661"/>
            </a:lvl5pPr>
            <a:lvl6pPr marL="1680537" indent="0">
              <a:buNone/>
              <a:defRPr sz="661"/>
            </a:lvl6pPr>
            <a:lvl7pPr marL="2016645" indent="0">
              <a:buNone/>
              <a:defRPr sz="661"/>
            </a:lvl7pPr>
            <a:lvl8pPr marL="2352753" indent="0">
              <a:buNone/>
              <a:defRPr sz="661"/>
            </a:lvl8pPr>
            <a:lvl9pPr marL="2688861" indent="0">
              <a:buNone/>
              <a:defRPr sz="661"/>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37328971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317612" y="3529331"/>
            <a:ext cx="4033361" cy="416657"/>
          </a:xfrm>
        </p:spPr>
        <p:txBody>
          <a:bodyPr anchor="b"/>
          <a:lstStyle>
            <a:lvl1pPr algn="l">
              <a:defRPr sz="1470" b="1"/>
            </a:lvl1pPr>
          </a:lstStyle>
          <a:p>
            <a:r>
              <a:rPr lang="en-US"/>
              <a:t>Click to edit Master title style</a:t>
            </a:r>
          </a:p>
        </p:txBody>
      </p:sp>
      <p:sp>
        <p:nvSpPr>
          <p:cNvPr id="3" name="Picture Placeholder 2"/>
          <p:cNvSpPr>
            <a:spLocks noGrp="1"/>
          </p:cNvSpPr>
          <p:nvPr>
            <p:ph type="pic" idx="1"/>
          </p:nvPr>
        </p:nvSpPr>
        <p:spPr>
          <a:xfrm>
            <a:off x="1317612" y="450503"/>
            <a:ext cx="4033361" cy="3025140"/>
          </a:xfrm>
        </p:spPr>
        <p:txBody>
          <a:bodyPr/>
          <a:lstStyle>
            <a:lvl1pPr marL="0" indent="0">
              <a:buNone/>
              <a:defRPr sz="2352"/>
            </a:lvl1pPr>
            <a:lvl2pPr marL="336108" indent="0">
              <a:buNone/>
              <a:defRPr sz="2058"/>
            </a:lvl2pPr>
            <a:lvl3pPr marL="672215" indent="0">
              <a:buNone/>
              <a:defRPr sz="1764"/>
            </a:lvl3pPr>
            <a:lvl4pPr marL="1008323" indent="0">
              <a:buNone/>
              <a:defRPr sz="1470"/>
            </a:lvl4pPr>
            <a:lvl5pPr marL="1344430" indent="0">
              <a:buNone/>
              <a:defRPr sz="1470"/>
            </a:lvl5pPr>
            <a:lvl6pPr marL="1680537" indent="0">
              <a:buNone/>
              <a:defRPr sz="1470"/>
            </a:lvl6pPr>
            <a:lvl7pPr marL="2016645" indent="0">
              <a:buNone/>
              <a:defRPr sz="1470"/>
            </a:lvl7pPr>
            <a:lvl8pPr marL="2352753" indent="0">
              <a:buNone/>
              <a:defRPr sz="1470"/>
            </a:lvl8pPr>
            <a:lvl9pPr marL="2688861" indent="0">
              <a:buNone/>
              <a:defRPr sz="1470"/>
            </a:lvl9pPr>
          </a:lstStyle>
          <a:p>
            <a:endParaRPr lang="en-US"/>
          </a:p>
        </p:txBody>
      </p:sp>
      <p:sp>
        <p:nvSpPr>
          <p:cNvPr id="4" name="Text Placeholder 3"/>
          <p:cNvSpPr>
            <a:spLocks noGrp="1"/>
          </p:cNvSpPr>
          <p:nvPr>
            <p:ph type="body" sz="half" idx="2"/>
          </p:nvPr>
        </p:nvSpPr>
        <p:spPr>
          <a:xfrm>
            <a:off x="1317612" y="3945988"/>
            <a:ext cx="4033361" cy="591723"/>
          </a:xfrm>
        </p:spPr>
        <p:txBody>
          <a:bodyPr/>
          <a:lstStyle>
            <a:lvl1pPr marL="0" indent="0">
              <a:buNone/>
              <a:defRPr sz="1030"/>
            </a:lvl1pPr>
            <a:lvl2pPr marL="336108" indent="0">
              <a:buNone/>
              <a:defRPr sz="883"/>
            </a:lvl2pPr>
            <a:lvl3pPr marL="672215" indent="0">
              <a:buNone/>
              <a:defRPr sz="736"/>
            </a:lvl3pPr>
            <a:lvl4pPr marL="1008323" indent="0">
              <a:buNone/>
              <a:defRPr sz="661"/>
            </a:lvl4pPr>
            <a:lvl5pPr marL="1344430" indent="0">
              <a:buNone/>
              <a:defRPr sz="661"/>
            </a:lvl5pPr>
            <a:lvl6pPr marL="1680537" indent="0">
              <a:buNone/>
              <a:defRPr sz="661"/>
            </a:lvl6pPr>
            <a:lvl7pPr marL="2016645" indent="0">
              <a:buNone/>
              <a:defRPr sz="661"/>
            </a:lvl7pPr>
            <a:lvl8pPr marL="2352753" indent="0">
              <a:buNone/>
              <a:defRPr sz="661"/>
            </a:lvl8pPr>
            <a:lvl9pPr marL="2688861" indent="0">
              <a:buNone/>
              <a:defRPr sz="661"/>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9/29/2026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0697072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26960988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873644" y="201910"/>
            <a:ext cx="1512511" cy="430195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36114" y="201910"/>
            <a:ext cx="4425494" cy="430195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extLst>
      <p:ext uri="{BB962C8B-B14F-4D97-AF65-F5344CB8AC3E}">
        <p14:creationId xmlns:p14="http://schemas.microsoft.com/office/powerpoint/2010/main" val="182295093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6114" y="201911"/>
            <a:ext cx="6050042" cy="840317"/>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36114" y="1176445"/>
            <a:ext cx="6050042" cy="332742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36114" y="4673095"/>
            <a:ext cx="1568529" cy="268434"/>
          </a:xfrm>
          <a:prstGeom prst="rect">
            <a:avLst/>
          </a:prstGeom>
        </p:spPr>
        <p:txBody>
          <a:bodyPr vert="horz" lIns="91440" tIns="45720" rIns="91440" bIns="45720" rtlCol="0" anchor="ctr"/>
          <a:lstStyle>
            <a:lvl1pPr algn="l">
              <a:defRPr sz="883">
                <a:solidFill>
                  <a:schemeClr val="tx1">
                    <a:tint val="75000"/>
                  </a:schemeClr>
                </a:solidFill>
              </a:defRPr>
            </a:lvl1pPr>
          </a:lstStyle>
          <a:p>
            <a:fld id="{1D8BD707-D9CF-40AE-B4C6-C98DA3205C09}" type="datetimeFigureOut">
              <a:rPr lang="en-US" smtClean="0"/>
              <a:pPr/>
              <a:t>9/29/2026</a:t>
            </a:fld>
            <a:endParaRPr lang="en-US"/>
          </a:p>
        </p:txBody>
      </p:sp>
      <p:sp>
        <p:nvSpPr>
          <p:cNvPr id="5" name="Footer Placeholder 4"/>
          <p:cNvSpPr>
            <a:spLocks noGrp="1"/>
          </p:cNvSpPr>
          <p:nvPr>
            <p:ph type="ftr" sz="quarter" idx="3"/>
          </p:nvPr>
        </p:nvSpPr>
        <p:spPr>
          <a:xfrm>
            <a:off x="2296775" y="4673095"/>
            <a:ext cx="2128719" cy="268434"/>
          </a:xfrm>
          <a:prstGeom prst="rect">
            <a:avLst/>
          </a:prstGeom>
        </p:spPr>
        <p:txBody>
          <a:bodyPr vert="horz" lIns="91440" tIns="45720" rIns="91440" bIns="45720" rtlCol="0" anchor="ctr"/>
          <a:lstStyle>
            <a:lvl1pPr algn="ctr">
              <a:defRPr sz="883">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17627" y="4673095"/>
            <a:ext cx="1568529" cy="268434"/>
          </a:xfrm>
          <a:prstGeom prst="rect">
            <a:avLst/>
          </a:prstGeom>
        </p:spPr>
        <p:txBody>
          <a:bodyPr vert="horz" lIns="91440" tIns="45720" rIns="91440" bIns="45720" rtlCol="0" anchor="ctr"/>
          <a:lstStyle>
            <a:lvl1pPr algn="r">
              <a:defRPr sz="883">
                <a:solidFill>
                  <a:schemeClr val="tx1">
                    <a:tint val="75000"/>
                  </a:schemeClr>
                </a:solidFill>
              </a:defRPr>
            </a:lvl1pPr>
          </a:lstStyle>
          <a:p>
            <a:fld id="{B6F15528-21DE-4FAA-801E-634DDDAF4B2B}" type="slidenum">
              <a:rPr lang="en-US" smtClean="0"/>
              <a:pPr/>
              <a:t>‹#›</a:t>
            </a:fld>
            <a:endParaRPr lang="en-US"/>
          </a:p>
        </p:txBody>
      </p:sp>
    </p:spTree>
    <p:extLst>
      <p:ext uri="{BB962C8B-B14F-4D97-AF65-F5344CB8AC3E}">
        <p14:creationId xmlns:p14="http://schemas.microsoft.com/office/powerpoint/2010/main" val="1421176663"/>
      </p:ext>
    </p:extLst>
  </p:cSld>
  <p:clrMap bg1="lt1" tx1="dk1" bg2="lt2" tx2="dk2" accent1="accent1" accent2="accent2" accent3="accent3" accent4="accent4" accent5="accent5" accent6="accent6" hlink="hlink" folHlink="fol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Lst>
  <p:txStyles>
    <p:titleStyle>
      <a:lvl1pPr algn="ctr" defTabSz="672215" rtl="0" eaLnBrk="1" latinLnBrk="0" hangingPunct="1">
        <a:spcBef>
          <a:spcPct val="0"/>
        </a:spcBef>
        <a:buNone/>
        <a:defRPr sz="3235" kern="1200">
          <a:solidFill>
            <a:schemeClr val="tx1"/>
          </a:solidFill>
          <a:latin typeface="+mj-lt"/>
          <a:ea typeface="+mj-ea"/>
          <a:cs typeface="+mj-cs"/>
        </a:defRPr>
      </a:lvl1pPr>
    </p:titleStyle>
    <p:bodyStyle>
      <a:lvl1pPr marL="252081" indent="-252081" algn="l" defTabSz="672215" rtl="0" eaLnBrk="1" latinLnBrk="0" hangingPunct="1">
        <a:spcBef>
          <a:spcPct val="20000"/>
        </a:spcBef>
        <a:buFont typeface="Arial" pitchFamily="34" charset="0"/>
        <a:buChar char="•"/>
        <a:defRPr sz="2352" kern="1200">
          <a:solidFill>
            <a:schemeClr val="tx1"/>
          </a:solidFill>
          <a:latin typeface="+mn-lt"/>
          <a:ea typeface="+mn-ea"/>
          <a:cs typeface="+mn-cs"/>
        </a:defRPr>
      </a:lvl1pPr>
      <a:lvl2pPr marL="546175" indent="-210067" algn="l" defTabSz="672215" rtl="0" eaLnBrk="1" latinLnBrk="0" hangingPunct="1">
        <a:spcBef>
          <a:spcPct val="20000"/>
        </a:spcBef>
        <a:buFont typeface="Arial" pitchFamily="34" charset="0"/>
        <a:buChar char="–"/>
        <a:defRPr sz="2058" kern="1200">
          <a:solidFill>
            <a:schemeClr val="tx1"/>
          </a:solidFill>
          <a:latin typeface="+mn-lt"/>
          <a:ea typeface="+mn-ea"/>
          <a:cs typeface="+mn-cs"/>
        </a:defRPr>
      </a:lvl2pPr>
      <a:lvl3pPr marL="840269" indent="-168053" algn="l" defTabSz="672215" rtl="0" eaLnBrk="1" latinLnBrk="0" hangingPunct="1">
        <a:spcBef>
          <a:spcPct val="20000"/>
        </a:spcBef>
        <a:buFont typeface="Arial" pitchFamily="34" charset="0"/>
        <a:buChar char="•"/>
        <a:defRPr sz="1764" kern="1200">
          <a:solidFill>
            <a:schemeClr val="tx1"/>
          </a:solidFill>
          <a:latin typeface="+mn-lt"/>
          <a:ea typeface="+mn-ea"/>
          <a:cs typeface="+mn-cs"/>
        </a:defRPr>
      </a:lvl3pPr>
      <a:lvl4pPr marL="1176376" indent="-168053" algn="l" defTabSz="672215" rtl="0" eaLnBrk="1" latinLnBrk="0" hangingPunct="1">
        <a:spcBef>
          <a:spcPct val="20000"/>
        </a:spcBef>
        <a:buFont typeface="Arial" pitchFamily="34" charset="0"/>
        <a:buChar char="–"/>
        <a:defRPr sz="1470" kern="1200">
          <a:solidFill>
            <a:schemeClr val="tx1"/>
          </a:solidFill>
          <a:latin typeface="+mn-lt"/>
          <a:ea typeface="+mn-ea"/>
          <a:cs typeface="+mn-cs"/>
        </a:defRPr>
      </a:lvl4pPr>
      <a:lvl5pPr marL="1512484" indent="-168053" algn="l" defTabSz="672215" rtl="0" eaLnBrk="1" latinLnBrk="0" hangingPunct="1">
        <a:spcBef>
          <a:spcPct val="20000"/>
        </a:spcBef>
        <a:buFont typeface="Arial" pitchFamily="34" charset="0"/>
        <a:buChar char="»"/>
        <a:defRPr sz="1470" kern="1200">
          <a:solidFill>
            <a:schemeClr val="tx1"/>
          </a:solidFill>
          <a:latin typeface="+mn-lt"/>
          <a:ea typeface="+mn-ea"/>
          <a:cs typeface="+mn-cs"/>
        </a:defRPr>
      </a:lvl5pPr>
      <a:lvl6pPr marL="1848592" indent="-168053" algn="l" defTabSz="672215" rtl="0" eaLnBrk="1" latinLnBrk="0" hangingPunct="1">
        <a:spcBef>
          <a:spcPct val="20000"/>
        </a:spcBef>
        <a:buFont typeface="Arial" pitchFamily="34" charset="0"/>
        <a:buChar char="•"/>
        <a:defRPr sz="1470" kern="1200">
          <a:solidFill>
            <a:schemeClr val="tx1"/>
          </a:solidFill>
          <a:latin typeface="+mn-lt"/>
          <a:ea typeface="+mn-ea"/>
          <a:cs typeface="+mn-cs"/>
        </a:defRPr>
      </a:lvl6pPr>
      <a:lvl7pPr marL="2184698" indent="-168053" algn="l" defTabSz="672215" rtl="0" eaLnBrk="1" latinLnBrk="0" hangingPunct="1">
        <a:spcBef>
          <a:spcPct val="20000"/>
        </a:spcBef>
        <a:buFont typeface="Arial" pitchFamily="34" charset="0"/>
        <a:buChar char="•"/>
        <a:defRPr sz="1470" kern="1200">
          <a:solidFill>
            <a:schemeClr val="tx1"/>
          </a:solidFill>
          <a:latin typeface="+mn-lt"/>
          <a:ea typeface="+mn-ea"/>
          <a:cs typeface="+mn-cs"/>
        </a:defRPr>
      </a:lvl7pPr>
      <a:lvl8pPr marL="2520806" indent="-168053" algn="l" defTabSz="672215" rtl="0" eaLnBrk="1" latinLnBrk="0" hangingPunct="1">
        <a:spcBef>
          <a:spcPct val="20000"/>
        </a:spcBef>
        <a:buFont typeface="Arial" pitchFamily="34" charset="0"/>
        <a:buChar char="•"/>
        <a:defRPr sz="1470" kern="1200">
          <a:solidFill>
            <a:schemeClr val="tx1"/>
          </a:solidFill>
          <a:latin typeface="+mn-lt"/>
          <a:ea typeface="+mn-ea"/>
          <a:cs typeface="+mn-cs"/>
        </a:defRPr>
      </a:lvl8pPr>
      <a:lvl9pPr marL="2856914" indent="-168053" algn="l" defTabSz="672215" rtl="0" eaLnBrk="1" latinLnBrk="0" hangingPunct="1">
        <a:spcBef>
          <a:spcPct val="20000"/>
        </a:spcBef>
        <a:buFont typeface="Arial" pitchFamily="34" charset="0"/>
        <a:buChar char="•"/>
        <a:defRPr sz="1470" kern="1200">
          <a:solidFill>
            <a:schemeClr val="tx1"/>
          </a:solidFill>
          <a:latin typeface="+mn-lt"/>
          <a:ea typeface="+mn-ea"/>
          <a:cs typeface="+mn-cs"/>
        </a:defRPr>
      </a:lvl9pPr>
    </p:bodyStyle>
    <p:otherStyle>
      <a:defPPr>
        <a:defRPr lang="en-US"/>
      </a:defPPr>
      <a:lvl1pPr marL="0" algn="l" defTabSz="672215" rtl="0" eaLnBrk="1" latinLnBrk="0" hangingPunct="1">
        <a:defRPr sz="1323" kern="1200">
          <a:solidFill>
            <a:schemeClr val="tx1"/>
          </a:solidFill>
          <a:latin typeface="+mn-lt"/>
          <a:ea typeface="+mn-ea"/>
          <a:cs typeface="+mn-cs"/>
        </a:defRPr>
      </a:lvl1pPr>
      <a:lvl2pPr marL="336108" algn="l" defTabSz="672215" rtl="0" eaLnBrk="1" latinLnBrk="0" hangingPunct="1">
        <a:defRPr sz="1323" kern="1200">
          <a:solidFill>
            <a:schemeClr val="tx1"/>
          </a:solidFill>
          <a:latin typeface="+mn-lt"/>
          <a:ea typeface="+mn-ea"/>
          <a:cs typeface="+mn-cs"/>
        </a:defRPr>
      </a:lvl2pPr>
      <a:lvl3pPr marL="672215" algn="l" defTabSz="672215" rtl="0" eaLnBrk="1" latinLnBrk="0" hangingPunct="1">
        <a:defRPr sz="1323" kern="1200">
          <a:solidFill>
            <a:schemeClr val="tx1"/>
          </a:solidFill>
          <a:latin typeface="+mn-lt"/>
          <a:ea typeface="+mn-ea"/>
          <a:cs typeface="+mn-cs"/>
        </a:defRPr>
      </a:lvl3pPr>
      <a:lvl4pPr marL="1008323" algn="l" defTabSz="672215" rtl="0" eaLnBrk="1" latinLnBrk="0" hangingPunct="1">
        <a:defRPr sz="1323" kern="1200">
          <a:solidFill>
            <a:schemeClr val="tx1"/>
          </a:solidFill>
          <a:latin typeface="+mn-lt"/>
          <a:ea typeface="+mn-ea"/>
          <a:cs typeface="+mn-cs"/>
        </a:defRPr>
      </a:lvl4pPr>
      <a:lvl5pPr marL="1344430" algn="l" defTabSz="672215" rtl="0" eaLnBrk="1" latinLnBrk="0" hangingPunct="1">
        <a:defRPr sz="1323" kern="1200">
          <a:solidFill>
            <a:schemeClr val="tx1"/>
          </a:solidFill>
          <a:latin typeface="+mn-lt"/>
          <a:ea typeface="+mn-ea"/>
          <a:cs typeface="+mn-cs"/>
        </a:defRPr>
      </a:lvl5pPr>
      <a:lvl6pPr marL="1680537" algn="l" defTabSz="672215" rtl="0" eaLnBrk="1" latinLnBrk="0" hangingPunct="1">
        <a:defRPr sz="1323" kern="1200">
          <a:solidFill>
            <a:schemeClr val="tx1"/>
          </a:solidFill>
          <a:latin typeface="+mn-lt"/>
          <a:ea typeface="+mn-ea"/>
          <a:cs typeface="+mn-cs"/>
        </a:defRPr>
      </a:lvl6pPr>
      <a:lvl7pPr marL="2016645" algn="l" defTabSz="672215" rtl="0" eaLnBrk="1" latinLnBrk="0" hangingPunct="1">
        <a:defRPr sz="1323" kern="1200">
          <a:solidFill>
            <a:schemeClr val="tx1"/>
          </a:solidFill>
          <a:latin typeface="+mn-lt"/>
          <a:ea typeface="+mn-ea"/>
          <a:cs typeface="+mn-cs"/>
        </a:defRPr>
      </a:lvl7pPr>
      <a:lvl8pPr marL="2352753" algn="l" defTabSz="672215" rtl="0" eaLnBrk="1" latinLnBrk="0" hangingPunct="1">
        <a:defRPr sz="1323" kern="1200">
          <a:solidFill>
            <a:schemeClr val="tx1"/>
          </a:solidFill>
          <a:latin typeface="+mn-lt"/>
          <a:ea typeface="+mn-ea"/>
          <a:cs typeface="+mn-cs"/>
        </a:defRPr>
      </a:lvl8pPr>
      <a:lvl9pPr marL="2688861" algn="l" defTabSz="672215" rtl="0" eaLnBrk="1" latinLnBrk="0" hangingPunct="1">
        <a:defRPr sz="1323"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CB182C-D9C4-6263-9A43-1E402F81F2A0}"/>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09B8A85E-58F6-EF9F-5A7A-0660C8F0A4B2}"/>
              </a:ext>
            </a:extLst>
          </p:cNvPr>
          <p:cNvSpPr/>
          <p:nvPr/>
        </p:nvSpPr>
        <p:spPr>
          <a:xfrm>
            <a:off x="-7018" y="0"/>
            <a:ext cx="13444538" cy="756119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80E2B8C9-88BF-CD08-0A5C-F78C8BBD2826}"/>
              </a:ext>
            </a:extLst>
          </p:cNvPr>
          <p:cNvSpPr txBox="1"/>
          <p:nvPr/>
        </p:nvSpPr>
        <p:spPr>
          <a:xfrm>
            <a:off x="702469" y="428625"/>
            <a:ext cx="2356735" cy="646331"/>
          </a:xfrm>
          <a:prstGeom prst="rect">
            <a:avLst/>
          </a:prstGeom>
          <a:noFill/>
        </p:spPr>
        <p:txBody>
          <a:bodyPr wrap="none" rtlCol="0">
            <a:spAutoFit/>
          </a:bodyPr>
          <a:lstStyle/>
          <a:p>
            <a:r>
              <a:rPr kumimoji="1" lang="en-US" altLang="ja-JP" sz="3600" b="1" i="1">
                <a:solidFill>
                  <a:srgbClr val="04462F"/>
                </a:solidFill>
                <a:latin typeface="メイリオ" panose="020B0604030504040204" pitchFamily="50" charset="-128"/>
                <a:ea typeface="メイリオ" panose="020B0604030504040204" pitchFamily="50" charset="-128"/>
              </a:rPr>
              <a:t>About us</a:t>
            </a:r>
            <a:endParaRPr kumimoji="1" lang="ja-JP" altLang="en-US">
              <a:solidFill>
                <a:srgbClr val="04462F"/>
              </a:solidFill>
              <a:latin typeface="メイリオ" panose="020B0604030504040204" pitchFamily="50" charset="-128"/>
              <a:ea typeface="メイリオ" panose="020B0604030504040204" pitchFamily="50" charset="-128"/>
            </a:endParaRPr>
          </a:p>
        </p:txBody>
      </p:sp>
      <p:cxnSp>
        <p:nvCxnSpPr>
          <p:cNvPr id="6" name="直線コネクタ 5">
            <a:extLst>
              <a:ext uri="{FF2B5EF4-FFF2-40B4-BE49-F238E27FC236}">
                <a16:creationId xmlns:a16="http://schemas.microsoft.com/office/drawing/2014/main" id="{7BCDB7F4-1611-A21D-8FCF-9686570DA824}"/>
              </a:ext>
            </a:extLst>
          </p:cNvPr>
          <p:cNvCxnSpPr/>
          <p:nvPr/>
        </p:nvCxnSpPr>
        <p:spPr>
          <a:xfrm>
            <a:off x="817300" y="1164114"/>
            <a:ext cx="342369" cy="0"/>
          </a:xfrm>
          <a:prstGeom prst="line">
            <a:avLst/>
          </a:prstGeom>
          <a:ln>
            <a:solidFill>
              <a:srgbClr val="04462F"/>
            </a:solidFill>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EAC150B3-90FB-3D5C-FE2B-225EEDCE0578}"/>
              </a:ext>
            </a:extLst>
          </p:cNvPr>
          <p:cNvSpPr txBox="1"/>
          <p:nvPr/>
        </p:nvSpPr>
        <p:spPr>
          <a:xfrm>
            <a:off x="1159669" y="982623"/>
            <a:ext cx="1152412" cy="369332"/>
          </a:xfrm>
          <a:prstGeom prst="rect">
            <a:avLst/>
          </a:prstGeom>
          <a:noFill/>
        </p:spPr>
        <p:txBody>
          <a:bodyPr wrap="square">
            <a:spAutoFit/>
          </a:bodyPr>
          <a:lstStyle/>
          <a:p>
            <a:r>
              <a:rPr kumimoji="1" lang="ja-JP" altLang="en-US" sz="1800">
                <a:solidFill>
                  <a:srgbClr val="04462F"/>
                </a:solidFill>
                <a:latin typeface="メイリオ" panose="020B0604030504040204" pitchFamily="50" charset="-128"/>
                <a:ea typeface="メイリオ" panose="020B0604030504040204" pitchFamily="50" charset="-128"/>
              </a:rPr>
              <a:t>会社概要</a:t>
            </a:r>
            <a:endParaRPr lang="ja-JP" altLang="en-US">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21CC9B79-CDA5-02FB-49C4-D78A32AF62C6}"/>
              </a:ext>
            </a:extLst>
          </p:cNvPr>
          <p:cNvSpPr/>
          <p:nvPr/>
        </p:nvSpPr>
        <p:spPr>
          <a:xfrm>
            <a:off x="8081114" y="5538350"/>
            <a:ext cx="5015237" cy="1431161"/>
          </a:xfrm>
          <a:prstGeom prst="rect">
            <a:avLst/>
          </a:prstGeom>
          <a:noFill/>
        </p:spPr>
        <p:txBody>
          <a:bodyPr wrap="square" anchor="ctr">
            <a:spAutoFit/>
          </a:bodyPr>
          <a:lstStyle/>
          <a:p>
            <a:r>
              <a:rPr lang="ja-JP" altLang="en-US" sz="1100" dirty="0">
                <a:solidFill>
                  <a:srgbClr val="04462F"/>
                </a:solidFill>
                <a:latin typeface="メイリオ" panose="020B0604030504040204" pitchFamily="50" charset="-128"/>
                <a:ea typeface="メイリオ" panose="020B0604030504040204" pitchFamily="50" charset="-128"/>
              </a:rPr>
              <a:t>私たち</a:t>
            </a:r>
            <a:r>
              <a:rPr lang="en-US" altLang="ja-JP" sz="1100" dirty="0">
                <a:solidFill>
                  <a:srgbClr val="04462F"/>
                </a:solidFill>
                <a:latin typeface="メイリオ" panose="020B0604030504040204" pitchFamily="50" charset="-128"/>
                <a:ea typeface="メイリオ" panose="020B0604030504040204" pitchFamily="50" charset="-128"/>
              </a:rPr>
              <a:t>alma</a:t>
            </a:r>
            <a:r>
              <a:rPr lang="ja-JP" altLang="en-US" sz="1100" dirty="0">
                <a:solidFill>
                  <a:srgbClr val="04462F"/>
                </a:solidFill>
                <a:latin typeface="メイリオ" panose="020B0604030504040204" pitchFamily="50" charset="-128"/>
                <a:ea typeface="メイリオ" panose="020B0604030504040204" pitchFamily="50" charset="-128"/>
              </a:rPr>
              <a:t>は、クライアントと同じ目線に立ち、その商品・サービス・想いの中私にある</a:t>
            </a:r>
            <a:r>
              <a:rPr lang="ja-JP" altLang="en-US" sz="1100" b="1" dirty="0">
                <a:solidFill>
                  <a:srgbClr val="04462F"/>
                </a:solidFill>
                <a:latin typeface="メイリオ" panose="020B0604030504040204" pitchFamily="50" charset="-128"/>
                <a:ea typeface="メイリオ" panose="020B0604030504040204" pitchFamily="50" charset="-128"/>
              </a:rPr>
              <a:t>「本当の価値」を見つけ、社会に伝える会社</a:t>
            </a:r>
            <a:r>
              <a:rPr lang="ja-JP" altLang="en-US" sz="1100" dirty="0">
                <a:solidFill>
                  <a:srgbClr val="04462F"/>
                </a:solidFill>
                <a:latin typeface="メイリオ" panose="020B0604030504040204" pitchFamily="50" charset="-128"/>
                <a:ea typeface="メイリオ" panose="020B0604030504040204" pitchFamily="50" charset="-128"/>
              </a:rPr>
              <a:t>です。</a:t>
            </a:r>
          </a:p>
          <a:p>
            <a:r>
              <a:rPr lang="ja-JP" altLang="en-US" sz="1100" dirty="0">
                <a:solidFill>
                  <a:srgbClr val="04462F"/>
                </a:solidFill>
                <a:latin typeface="メイリオ" panose="020B0604030504040204" pitchFamily="50" charset="-128"/>
                <a:ea typeface="メイリオ" panose="020B0604030504040204" pitchFamily="50" charset="-128"/>
              </a:rPr>
              <a:t>マーケティングや</a:t>
            </a:r>
            <a:r>
              <a:rPr lang="en-US" altLang="ja-JP" sz="1100" dirty="0">
                <a:solidFill>
                  <a:srgbClr val="04462F"/>
                </a:solidFill>
                <a:latin typeface="メイリオ" panose="020B0604030504040204" pitchFamily="50" charset="-128"/>
                <a:ea typeface="メイリオ" panose="020B0604030504040204" pitchFamily="50" charset="-128"/>
              </a:rPr>
              <a:t>PR</a:t>
            </a:r>
            <a:r>
              <a:rPr lang="ja-JP" altLang="en-US" sz="1100" dirty="0">
                <a:solidFill>
                  <a:srgbClr val="04462F"/>
                </a:solidFill>
                <a:latin typeface="メイリオ" panose="020B0604030504040204" pitchFamily="50" charset="-128"/>
                <a:ea typeface="メイリオ" panose="020B0604030504040204" pitchFamily="50" charset="-128"/>
              </a:rPr>
              <a:t>は、単に広めるための手段ではありません。</a:t>
            </a:r>
          </a:p>
          <a:p>
            <a:r>
              <a:rPr lang="ja-JP" altLang="en-US" sz="1100" dirty="0">
                <a:solidFill>
                  <a:srgbClr val="04462F"/>
                </a:solidFill>
                <a:latin typeface="メイリオ" panose="020B0604030504040204" pitchFamily="50" charset="-128"/>
                <a:ea typeface="メイリオ" panose="020B0604030504040204" pitchFamily="50" charset="-128"/>
              </a:rPr>
              <a:t>誰に、どんな文脈で、どう伝えれば、人の心が動き、行動につながるのか。クライアントと共に考え、共に実行し、</a:t>
            </a:r>
            <a:r>
              <a:rPr lang="ja-JP" altLang="en-US" sz="1100" b="1" dirty="0">
                <a:solidFill>
                  <a:srgbClr val="04462F"/>
                </a:solidFill>
                <a:latin typeface="メイリオ" panose="020B0604030504040204" pitchFamily="50" charset="-128"/>
                <a:ea typeface="メイリオ" panose="020B0604030504040204" pitchFamily="50" charset="-128"/>
              </a:rPr>
              <a:t>成果が出るところまで伴走</a:t>
            </a:r>
            <a:r>
              <a:rPr lang="ja-JP" altLang="en-US" sz="1100" dirty="0">
                <a:solidFill>
                  <a:srgbClr val="04462F"/>
                </a:solidFill>
                <a:latin typeface="メイリオ" panose="020B0604030504040204" pitchFamily="50" charset="-128"/>
                <a:ea typeface="メイリオ" panose="020B0604030504040204" pitchFamily="50" charset="-128"/>
              </a:rPr>
              <a:t>します。</a:t>
            </a:r>
          </a:p>
          <a:p>
            <a:r>
              <a:rPr lang="ja-JP" altLang="en-US" sz="1100" dirty="0">
                <a:solidFill>
                  <a:srgbClr val="04462F"/>
                </a:solidFill>
                <a:latin typeface="メイリオ" panose="020B0604030504040204" pitchFamily="50" charset="-128"/>
                <a:ea typeface="メイリオ" panose="020B0604030504040204" pitchFamily="50" charset="-128"/>
              </a:rPr>
              <a:t>時代が変わっても、人の心に向き合う姿勢は変えず、社会に必要とされ、信頼されるパートナーであり続けます。</a:t>
            </a:r>
          </a:p>
          <a:p>
            <a:pPr marL="0" marR="0" lvl="0" indent="0" algn="l" defTabSz="914400" eaLnBrk="1" fontAlgn="auto" latinLnBrk="0" hangingPunct="1">
              <a:lnSpc>
                <a:spcPct val="100000"/>
              </a:lnSpc>
              <a:spcBef>
                <a:spcPts val="0"/>
              </a:spcBef>
              <a:spcAft>
                <a:spcPts val="0"/>
              </a:spcAft>
              <a:buClrTx/>
              <a:buSzTx/>
              <a:buFontTx/>
              <a:buNone/>
              <a:tabLst/>
              <a:defRPr/>
            </a:pPr>
            <a:endParaRPr kumimoji="1" lang="en-US" altLang="ja-JP" sz="1000" b="0" i="0" u="none" strike="noStrike" kern="0" cap="none" spc="0" normalizeH="0" baseline="0" noProof="0" dirty="0">
              <a:ln>
                <a:noFill/>
              </a:ln>
              <a:solidFill>
                <a:prstClr val="black"/>
              </a:solidFill>
              <a:effectLst/>
              <a:uLnTx/>
              <a:uFillTx/>
              <a:latin typeface="メイリオ" panose="020B0604030504040204" pitchFamily="50" charset="-128"/>
              <a:ea typeface="メイリオ" panose="020B0604030504040204" pitchFamily="50" charset="-128"/>
            </a:endParaRPr>
          </a:p>
        </p:txBody>
      </p:sp>
      <p:graphicFrame>
        <p:nvGraphicFramePr>
          <p:cNvPr id="58" name="表 57">
            <a:extLst>
              <a:ext uri="{FF2B5EF4-FFF2-40B4-BE49-F238E27FC236}">
                <a16:creationId xmlns:a16="http://schemas.microsoft.com/office/drawing/2014/main" id="{A7B36101-E80A-3C7F-9EA7-05369E0E2840}"/>
              </a:ext>
            </a:extLst>
          </p:cNvPr>
          <p:cNvGraphicFramePr>
            <a:graphicFrameLocks noGrp="1"/>
          </p:cNvGraphicFramePr>
          <p:nvPr>
            <p:extLst>
              <p:ext uri="{D42A27DB-BD31-4B8C-83A1-F6EECF244321}">
                <p14:modId xmlns:p14="http://schemas.microsoft.com/office/powerpoint/2010/main" val="274080535"/>
              </p:ext>
            </p:extLst>
          </p:nvPr>
        </p:nvGraphicFramePr>
        <p:xfrm>
          <a:off x="8081114" y="2897941"/>
          <a:ext cx="4889555" cy="2148840"/>
        </p:xfrm>
        <a:graphic>
          <a:graphicData uri="http://schemas.openxmlformats.org/drawingml/2006/table">
            <a:tbl>
              <a:tblPr firstRow="1" bandRow="1">
                <a:tableStyleId>{5C22544A-7EE6-4342-B048-85BDC9FD1C3A}</a:tableStyleId>
              </a:tblPr>
              <a:tblGrid>
                <a:gridCol w="1271305">
                  <a:extLst>
                    <a:ext uri="{9D8B030D-6E8A-4147-A177-3AD203B41FA5}">
                      <a16:colId xmlns:a16="http://schemas.microsoft.com/office/drawing/2014/main" val="2067032967"/>
                    </a:ext>
                  </a:extLst>
                </a:gridCol>
                <a:gridCol w="3618250">
                  <a:extLst>
                    <a:ext uri="{9D8B030D-6E8A-4147-A177-3AD203B41FA5}">
                      <a16:colId xmlns:a16="http://schemas.microsoft.com/office/drawing/2014/main" val="2686932869"/>
                    </a:ext>
                  </a:extLst>
                </a:gridCol>
              </a:tblGrid>
              <a:tr h="578125">
                <a:tc>
                  <a:txBody>
                    <a:bodyPr/>
                    <a:lstStyle/>
                    <a:p>
                      <a:pPr algn="l"/>
                      <a:r>
                        <a:rPr kumimoji="1" lang="ja-JP" altLang="en-US" sz="1100" b="0" dirty="0">
                          <a:solidFill>
                            <a:srgbClr val="262626"/>
                          </a:solidFill>
                          <a:latin typeface="メイリオ" panose="020B0604030504040204" pitchFamily="50" charset="-128"/>
                          <a:ea typeface="メイリオ" panose="020B0604030504040204" pitchFamily="50" charset="-128"/>
                        </a:rPr>
                        <a:t>所在地</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72215" rtl="0" eaLnBrk="1" fontAlgn="auto" latinLnBrk="0" hangingPunct="1">
                        <a:lnSpc>
                          <a:spcPct val="100000"/>
                        </a:lnSpc>
                        <a:spcBef>
                          <a:spcPts val="0"/>
                        </a:spcBef>
                        <a:spcAft>
                          <a:spcPts val="0"/>
                        </a:spcAft>
                        <a:buClrTx/>
                        <a:buSzTx/>
                        <a:buFontTx/>
                        <a:buNone/>
                        <a:tabLst/>
                        <a:defRPr/>
                      </a:pP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a:t>
                      </a:r>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105-6318</a:t>
                      </a:r>
                      <a:b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b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東京都港区虎ノ門一丁目</a:t>
                      </a:r>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23</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番</a:t>
                      </a:r>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1</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号 虎ノ門ヒルズ</a:t>
                      </a:r>
                      <a:endParaRPr lang="en-US" altLang="ja-JP" sz="1100" b="0" i="0" u="none" strike="noStrike" dirty="0">
                        <a:solidFill>
                          <a:srgbClr val="262626"/>
                        </a:solidFill>
                        <a:effectLst/>
                        <a:latin typeface="メイリオ" panose="020B0604030504040204" pitchFamily="50" charset="-128"/>
                        <a:ea typeface="メイリオ" panose="020B0604030504040204" pitchFamily="50" charset="-128"/>
                      </a:endParaRPr>
                    </a:p>
                    <a:p>
                      <a:pPr marL="0" marR="0" lvl="0" indent="0" algn="l" defTabSz="672215" rtl="0" eaLnBrk="1" fontAlgn="auto" latinLnBrk="0" hangingPunct="1">
                        <a:lnSpc>
                          <a:spcPct val="100000"/>
                        </a:lnSpc>
                        <a:spcBef>
                          <a:spcPts val="0"/>
                        </a:spcBef>
                        <a:spcAft>
                          <a:spcPts val="0"/>
                        </a:spcAft>
                        <a:buClrTx/>
                        <a:buSzTx/>
                        <a:buFontTx/>
                        <a:buNone/>
                        <a:tabLst/>
                        <a:defRPr/>
                      </a:pP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森タワー</a:t>
                      </a:r>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18</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階</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5856928"/>
                  </a:ext>
                </a:extLst>
              </a:tr>
              <a:tr h="247768">
                <a:tc>
                  <a:txBody>
                    <a:bodyPr/>
                    <a:lstStyle/>
                    <a:p>
                      <a:pPr algn="l"/>
                      <a:r>
                        <a:rPr kumimoji="1" lang="ja-JP" altLang="en-US" sz="1100" b="0">
                          <a:solidFill>
                            <a:srgbClr val="262626"/>
                          </a:solidFill>
                          <a:latin typeface="メイリオ" panose="020B0604030504040204" pitchFamily="50" charset="-128"/>
                          <a:ea typeface="メイリオ" panose="020B0604030504040204" pitchFamily="50" charset="-128"/>
                        </a:rPr>
                        <a:t>電話番号</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ja-JP" sz="1100" b="0" i="0" u="none" strike="noStrike">
                          <a:solidFill>
                            <a:srgbClr val="262626"/>
                          </a:solidFill>
                          <a:effectLst/>
                          <a:latin typeface="メイリオ" panose="020B0604030504040204" pitchFamily="50" charset="-128"/>
                          <a:ea typeface="メイリオ" panose="020B0604030504040204" pitchFamily="50" charset="-128"/>
                        </a:rPr>
                        <a:t>03-3519-3051</a:t>
                      </a:r>
                      <a:endParaRPr kumimoji="1" lang="ja-JP" altLang="en-US" sz="1100" b="0">
                        <a:solidFill>
                          <a:srgbClr val="262626"/>
                        </a:solidFill>
                        <a:latin typeface="メイリオ" panose="020B0604030504040204" pitchFamily="50" charset="-128"/>
                        <a:ea typeface="メイリオ" panose="020B0604030504040204" pitchFamily="50"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74806877"/>
                  </a:ext>
                </a:extLst>
              </a:tr>
              <a:tr h="247768">
                <a:tc>
                  <a:txBody>
                    <a:bodyPr/>
                    <a:lstStyle/>
                    <a:p>
                      <a:pPr algn="l"/>
                      <a:r>
                        <a:rPr kumimoji="1" lang="en-US" altLang="ja-JP" sz="1100" b="0">
                          <a:solidFill>
                            <a:srgbClr val="262626"/>
                          </a:solidFill>
                          <a:latin typeface="メイリオ" panose="020B0604030504040204" pitchFamily="50" charset="-128"/>
                          <a:ea typeface="メイリオ" panose="020B0604030504040204" pitchFamily="50" charset="-128"/>
                        </a:rPr>
                        <a:t>FAX</a:t>
                      </a:r>
                      <a:endParaRPr kumimoji="1" lang="ja-JP" altLang="en-US" sz="1100" b="0">
                        <a:solidFill>
                          <a:srgbClr val="262626"/>
                        </a:solidFill>
                        <a:latin typeface="メイリオ" panose="020B0604030504040204" pitchFamily="50" charset="-128"/>
                        <a:ea typeface="メイリオ" panose="020B0604030504040204" pitchFamily="50"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03-3519-3052</a:t>
                      </a:r>
                      <a:endParaRPr kumimoji="1" lang="ja-JP" altLang="en-US" sz="1100" b="0" dirty="0">
                        <a:solidFill>
                          <a:srgbClr val="262626"/>
                        </a:solidFill>
                        <a:latin typeface="メイリオ" panose="020B0604030504040204" pitchFamily="50" charset="-128"/>
                        <a:ea typeface="メイリオ" panose="020B0604030504040204" pitchFamily="50"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75392562"/>
                  </a:ext>
                </a:extLst>
              </a:tr>
              <a:tr h="247768">
                <a:tc>
                  <a:txBody>
                    <a:bodyPr/>
                    <a:lstStyle/>
                    <a:p>
                      <a:pPr algn="l"/>
                      <a:r>
                        <a:rPr kumimoji="1" lang="ja-JP" altLang="en-US" sz="1100" b="0">
                          <a:solidFill>
                            <a:srgbClr val="262626"/>
                          </a:solidFill>
                          <a:latin typeface="メイリオ" panose="020B0604030504040204" pitchFamily="50" charset="-128"/>
                          <a:ea typeface="メイリオ" panose="020B0604030504040204" pitchFamily="50" charset="-128"/>
                        </a:rPr>
                        <a:t>設立</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72215" rtl="0" eaLnBrk="1" fontAlgn="auto" latinLnBrk="0" hangingPunct="1">
                        <a:lnSpc>
                          <a:spcPct val="100000"/>
                        </a:lnSpc>
                        <a:spcBef>
                          <a:spcPts val="0"/>
                        </a:spcBef>
                        <a:spcAft>
                          <a:spcPts val="0"/>
                        </a:spcAft>
                        <a:buClrTx/>
                        <a:buSzTx/>
                        <a:buFontTx/>
                        <a:buNone/>
                        <a:tabLst/>
                        <a:defRPr/>
                      </a:pPr>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2018</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年</a:t>
                      </a:r>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11</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月</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84784839"/>
                  </a:ext>
                </a:extLst>
              </a:tr>
              <a:tr h="247768">
                <a:tc>
                  <a:txBody>
                    <a:bodyPr/>
                    <a:lstStyle/>
                    <a:p>
                      <a:pPr algn="l"/>
                      <a:r>
                        <a:rPr kumimoji="1" lang="ja-JP" altLang="en-US" sz="1100" b="0">
                          <a:solidFill>
                            <a:srgbClr val="262626"/>
                          </a:solidFill>
                          <a:latin typeface="メイリオ" panose="020B0604030504040204" pitchFamily="50" charset="-128"/>
                          <a:ea typeface="メイリオ" panose="020B0604030504040204" pitchFamily="50" charset="-128"/>
                        </a:rPr>
                        <a:t>代表取締役</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672215" rtl="0" eaLnBrk="1" fontAlgn="auto" latinLnBrk="0" hangingPunct="1">
                        <a:lnSpc>
                          <a:spcPct val="100000"/>
                        </a:lnSpc>
                        <a:spcBef>
                          <a:spcPts val="0"/>
                        </a:spcBef>
                        <a:spcAft>
                          <a:spcPts val="0"/>
                        </a:spcAft>
                        <a:buClrTx/>
                        <a:buSzTx/>
                        <a:buFontTx/>
                        <a:buNone/>
                        <a:tabLst/>
                        <a:defRPr/>
                      </a:pP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成田 貴雄</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7522291"/>
                  </a:ext>
                </a:extLst>
              </a:tr>
              <a:tr h="247768">
                <a:tc>
                  <a:txBody>
                    <a:bodyPr/>
                    <a:lstStyle/>
                    <a:p>
                      <a:pPr algn="l"/>
                      <a:r>
                        <a:rPr kumimoji="1" lang="ja-JP" altLang="en-US" sz="1100" b="0" dirty="0">
                          <a:solidFill>
                            <a:srgbClr val="262626"/>
                          </a:solidFill>
                          <a:latin typeface="メイリオ" panose="020B0604030504040204" pitchFamily="50" charset="-128"/>
                          <a:ea typeface="メイリオ" panose="020B0604030504040204" pitchFamily="50" charset="-128"/>
                        </a:rPr>
                        <a:t>従業員</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14</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名（</a:t>
                      </a:r>
                      <a:r>
                        <a:rPr lang="en-US" altLang="ja-JP" sz="1100" b="0" i="0" u="none" strike="noStrike" dirty="0">
                          <a:solidFill>
                            <a:srgbClr val="262626"/>
                          </a:solidFill>
                          <a:effectLst/>
                          <a:latin typeface="メイリオ" panose="020B0604030504040204" pitchFamily="50" charset="-128"/>
                          <a:ea typeface="メイリオ" panose="020B0604030504040204" pitchFamily="50" charset="-128"/>
                        </a:rPr>
                        <a:t>2026</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年</a:t>
                      </a:r>
                      <a:r>
                        <a:rPr lang="ja-JP" altLang="en-US" sz="1100" b="0" dirty="0">
                          <a:solidFill>
                            <a:srgbClr val="262626"/>
                          </a:solidFill>
                          <a:latin typeface="メイリオ" panose="020B0604030504040204" pitchFamily="50" charset="-128"/>
                          <a:ea typeface="メイリオ" panose="020B0604030504040204" pitchFamily="50" charset="-128"/>
                        </a:rPr>
                        <a:t>現在</a:t>
                      </a:r>
                      <a:r>
                        <a:rPr lang="ja-JP" altLang="en-US" sz="1100" b="0" i="0" u="none" strike="noStrike" dirty="0">
                          <a:solidFill>
                            <a:srgbClr val="262626"/>
                          </a:solidFill>
                          <a:effectLst/>
                          <a:latin typeface="メイリオ" panose="020B0604030504040204" pitchFamily="50" charset="-128"/>
                          <a:ea typeface="メイリオ" panose="020B0604030504040204" pitchFamily="50" charset="-128"/>
                        </a:rPr>
                        <a:t>）</a:t>
                      </a:r>
                      <a:endParaRPr kumimoji="1" lang="ja-JP" altLang="en-US" sz="1100" b="0" dirty="0">
                        <a:solidFill>
                          <a:srgbClr val="262626"/>
                        </a:solidFill>
                        <a:latin typeface="メイリオ" panose="020B0604030504040204" pitchFamily="50" charset="-128"/>
                        <a:ea typeface="メイリオ" panose="020B0604030504040204" pitchFamily="50"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52624805"/>
                  </a:ext>
                </a:extLst>
              </a:tr>
              <a:tr h="247768">
                <a:tc>
                  <a:txBody>
                    <a:bodyPr/>
                    <a:lstStyle/>
                    <a:p>
                      <a:pPr algn="l"/>
                      <a:endParaRPr kumimoji="1" lang="ja-JP" altLang="en-US" sz="1100" b="0" dirty="0">
                        <a:solidFill>
                          <a:srgbClr val="262626"/>
                        </a:solidFill>
                        <a:latin typeface="メイリオ" panose="020B0604030504040204" pitchFamily="50" charset="-128"/>
                        <a:ea typeface="メイリオ" panose="020B0604030504040204" pitchFamily="50"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kumimoji="1" lang="ja-JP" altLang="en-US" sz="1100" b="0" dirty="0">
                        <a:solidFill>
                          <a:srgbClr val="262626"/>
                        </a:solidFill>
                        <a:latin typeface="メイリオ" panose="020B0604030504040204" pitchFamily="50" charset="-128"/>
                        <a:ea typeface="メイリオ" panose="020B0604030504040204" pitchFamily="50" charset="-128"/>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253743"/>
                  </a:ext>
                </a:extLst>
              </a:tr>
            </a:tbl>
          </a:graphicData>
        </a:graphic>
      </p:graphicFrame>
      <p:sp>
        <p:nvSpPr>
          <p:cNvPr id="15" name="正方形/長方形 14">
            <a:extLst>
              <a:ext uri="{FF2B5EF4-FFF2-40B4-BE49-F238E27FC236}">
                <a16:creationId xmlns:a16="http://schemas.microsoft.com/office/drawing/2014/main" id="{C1E2320B-5EDA-E8F0-3826-8C1389226D12}"/>
              </a:ext>
            </a:extLst>
          </p:cNvPr>
          <p:cNvSpPr/>
          <p:nvPr/>
        </p:nvSpPr>
        <p:spPr>
          <a:xfrm>
            <a:off x="10980472" y="3551757"/>
            <a:ext cx="1990198" cy="1430561"/>
          </a:xfrm>
          <a:prstGeom prst="rect">
            <a:avLst/>
          </a:prstGeom>
          <a:solidFill>
            <a:srgbClr val="F1F0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59" name="Slide Number Placeholder 5">
            <a:extLst>
              <a:ext uri="{FF2B5EF4-FFF2-40B4-BE49-F238E27FC236}">
                <a16:creationId xmlns:a16="http://schemas.microsoft.com/office/drawing/2014/main" id="{CDA3ECF4-E904-E7BB-1380-FE0A31C9A59A}"/>
              </a:ext>
            </a:extLst>
          </p:cNvPr>
          <p:cNvSpPr>
            <a:spLocks noGrp="1"/>
          </p:cNvSpPr>
          <p:nvPr>
            <p:ph type="sldNum" sz="quarter" idx="12"/>
          </p:nvPr>
        </p:nvSpPr>
        <p:spPr>
          <a:xfrm>
            <a:off x="11670657" y="7100536"/>
            <a:ext cx="1568529" cy="268434"/>
          </a:xfrm>
        </p:spPr>
        <p:txBody>
          <a:bodyPr/>
          <a:lstStyle/>
          <a:p>
            <a:fld id="{B6F15528-21DE-4FAA-801E-634DDDAF4B2B}" type="slidenum">
              <a:rPr kumimoji="1" lang="en-US" sz="1800" i="1" smtClean="0">
                <a:solidFill>
                  <a:schemeClr val="tx1">
                    <a:lumMod val="85000"/>
                    <a:lumOff val="15000"/>
                  </a:schemeClr>
                </a:solidFill>
                <a:latin typeface="メイリオ" panose="020B0604030504040204" pitchFamily="50" charset="-128"/>
                <a:ea typeface="メイリオ" panose="020B0604030504040204" pitchFamily="50" charset="-128"/>
              </a:rPr>
              <a:pPr/>
              <a:t>1</a:t>
            </a:fld>
            <a:endParaRPr kumimoji="1" lang="en-US" sz="1800" i="1" dirty="0">
              <a:solidFill>
                <a:schemeClr val="tx1">
                  <a:lumMod val="85000"/>
                  <a:lumOff val="15000"/>
                </a:schemeClr>
              </a:solidFill>
              <a:latin typeface="メイリオ" panose="020B0604030504040204" pitchFamily="50" charset="-128"/>
              <a:ea typeface="メイリオ" panose="020B0604030504040204" pitchFamily="50" charset="-128"/>
            </a:endParaRPr>
          </a:p>
        </p:txBody>
      </p:sp>
      <p:grpSp>
        <p:nvGrpSpPr>
          <p:cNvPr id="75" name="グループ化 74">
            <a:extLst>
              <a:ext uri="{FF2B5EF4-FFF2-40B4-BE49-F238E27FC236}">
                <a16:creationId xmlns:a16="http://schemas.microsoft.com/office/drawing/2014/main" id="{6C89303C-EE84-C393-5252-1B684A5ED34D}"/>
              </a:ext>
            </a:extLst>
          </p:cNvPr>
          <p:cNvGrpSpPr/>
          <p:nvPr/>
        </p:nvGrpSpPr>
        <p:grpSpPr>
          <a:xfrm>
            <a:off x="10997140" y="3618318"/>
            <a:ext cx="1841787" cy="1297438"/>
            <a:chOff x="11239018" y="3211360"/>
            <a:chExt cx="1841787" cy="1297438"/>
          </a:xfrm>
        </p:grpSpPr>
        <p:pic>
          <p:nvPicPr>
            <p:cNvPr id="21" name="図 20">
              <a:extLst>
                <a:ext uri="{FF2B5EF4-FFF2-40B4-BE49-F238E27FC236}">
                  <a16:creationId xmlns:a16="http://schemas.microsoft.com/office/drawing/2014/main" id="{620E4916-DC28-DA9B-8D57-8935B17C3D5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1619912" y="3211360"/>
              <a:ext cx="1080000" cy="1080000"/>
            </a:xfrm>
            <a:prstGeom prst="rect">
              <a:avLst/>
            </a:prstGeom>
          </p:spPr>
        </p:pic>
        <p:sp>
          <p:nvSpPr>
            <p:cNvPr id="22" name="正方形/長方形 21">
              <a:extLst>
                <a:ext uri="{FF2B5EF4-FFF2-40B4-BE49-F238E27FC236}">
                  <a16:creationId xmlns:a16="http://schemas.microsoft.com/office/drawing/2014/main" id="{0AF2AD6A-29E1-B21E-3807-7B2F2BCA33DC}"/>
                </a:ext>
              </a:extLst>
            </p:cNvPr>
            <p:cNvSpPr/>
            <p:nvPr/>
          </p:nvSpPr>
          <p:spPr>
            <a:xfrm>
              <a:off x="11239018" y="4216410"/>
              <a:ext cx="1841787" cy="292388"/>
            </a:xfrm>
            <a:prstGeom prst="rect">
              <a:avLst/>
            </a:prstGeom>
            <a:noFill/>
          </p:spPr>
          <p:txBody>
            <a:bodyPr wrap="square" anchor="ctr">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sz="1300" b="1" i="0" u="none" strike="noStrike" kern="0" cap="none" spc="0" normalizeH="0" baseline="0" noProof="0">
                  <a:ln>
                    <a:noFill/>
                  </a:ln>
                  <a:solidFill>
                    <a:srgbClr val="04462F"/>
                  </a:solidFill>
                  <a:effectLst/>
                  <a:uLnTx/>
                  <a:uFillTx/>
                  <a:latin typeface="メイリオ" panose="020B0604030504040204" pitchFamily="50" charset="-128"/>
                  <a:ea typeface="メイリオ" panose="020B0604030504040204" pitchFamily="50" charset="-128"/>
                  <a:cs typeface="+mn-cs"/>
                </a:rPr>
                <a:t>alma11.com</a:t>
              </a:r>
            </a:p>
          </p:txBody>
        </p:sp>
      </p:grpSp>
      <p:sp>
        <p:nvSpPr>
          <p:cNvPr id="68" name="正方形/長方形 67">
            <a:extLst>
              <a:ext uri="{FF2B5EF4-FFF2-40B4-BE49-F238E27FC236}">
                <a16:creationId xmlns:a16="http://schemas.microsoft.com/office/drawing/2014/main" id="{9B2D13F7-BBCC-1E41-9DF2-F1D4D60564CF}"/>
              </a:ext>
            </a:extLst>
          </p:cNvPr>
          <p:cNvSpPr/>
          <p:nvPr/>
        </p:nvSpPr>
        <p:spPr>
          <a:xfrm>
            <a:off x="0" y="1482997"/>
            <a:ext cx="6569869" cy="698228"/>
          </a:xfrm>
          <a:prstGeom prst="rect">
            <a:avLst/>
          </a:prstGeom>
          <a:solidFill>
            <a:srgbClr val="04462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27F378F8-50B7-75E6-D608-221CD2C584DD}"/>
              </a:ext>
            </a:extLst>
          </p:cNvPr>
          <p:cNvSpPr txBox="1"/>
          <p:nvPr/>
        </p:nvSpPr>
        <p:spPr>
          <a:xfrm>
            <a:off x="702469" y="1626489"/>
            <a:ext cx="1858201" cy="461665"/>
          </a:xfrm>
          <a:prstGeom prst="rect">
            <a:avLst/>
          </a:prstGeom>
          <a:noFill/>
        </p:spPr>
        <p:txBody>
          <a:bodyPr wrap="none" rtlCol="0">
            <a:spAutoFit/>
          </a:bodyPr>
          <a:lstStyle/>
          <a:p>
            <a:r>
              <a:rPr kumimoji="1" lang="ja-JP" altLang="en-US" sz="2400" b="1" dirty="0">
                <a:solidFill>
                  <a:schemeClr val="bg1"/>
                </a:solidFill>
                <a:effectLst/>
                <a:latin typeface="メイリオ" panose="020B0604030504040204" pitchFamily="50" charset="-128"/>
                <a:ea typeface="メイリオ" panose="020B0604030504040204" pitchFamily="50" charset="-128"/>
              </a:rPr>
              <a:t>総合</a:t>
            </a:r>
            <a:r>
              <a:rPr kumimoji="1" lang="en-US" altLang="ja-JP" sz="2400" b="1" dirty="0">
                <a:solidFill>
                  <a:schemeClr val="bg1"/>
                </a:solidFill>
                <a:effectLst/>
                <a:latin typeface="メイリオ" panose="020B0604030504040204" pitchFamily="50" charset="-128"/>
                <a:ea typeface="メイリオ" panose="020B0604030504040204" pitchFamily="50" charset="-128"/>
              </a:rPr>
              <a:t>PR</a:t>
            </a:r>
            <a:r>
              <a:rPr kumimoji="1" lang="ja-JP" altLang="en-US" sz="2400" b="1" dirty="0">
                <a:solidFill>
                  <a:schemeClr val="bg1"/>
                </a:solidFill>
                <a:latin typeface="メイリオ" panose="020B0604030504040204" pitchFamily="50" charset="-128"/>
                <a:ea typeface="メイリオ" panose="020B0604030504040204" pitchFamily="50" charset="-128"/>
              </a:rPr>
              <a:t>会社</a:t>
            </a:r>
            <a:endParaRPr kumimoji="1" lang="ja-JP" altLang="en-US" sz="1200" dirty="0">
              <a:solidFill>
                <a:schemeClr val="bg1"/>
              </a:solidFill>
              <a:effectLst/>
              <a:latin typeface="メイリオ" panose="020B0604030504040204" pitchFamily="50" charset="-128"/>
              <a:ea typeface="メイリオ" panose="020B0604030504040204" pitchFamily="50" charset="-128"/>
            </a:endParaRPr>
          </a:p>
        </p:txBody>
      </p:sp>
      <p:sp>
        <p:nvSpPr>
          <p:cNvPr id="69" name="正方形/長方形 68">
            <a:extLst>
              <a:ext uri="{FF2B5EF4-FFF2-40B4-BE49-F238E27FC236}">
                <a16:creationId xmlns:a16="http://schemas.microsoft.com/office/drawing/2014/main" id="{27CD851A-6D45-FF68-7F67-C1A6716A4F34}"/>
              </a:ext>
            </a:extLst>
          </p:cNvPr>
          <p:cNvSpPr/>
          <p:nvPr/>
        </p:nvSpPr>
        <p:spPr>
          <a:xfrm>
            <a:off x="3217212" y="2437946"/>
            <a:ext cx="1992393" cy="400110"/>
          </a:xfrm>
          <a:prstGeom prst="rect">
            <a:avLst/>
          </a:prstGeom>
          <a:noFill/>
        </p:spPr>
        <p:txBody>
          <a:bodyPr wrap="square" anchor="ctr">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ja-JP" altLang="en-US" sz="2000" b="1" i="0" u="none" strike="noStrike" kern="0" cap="none" spc="0" normalizeH="0" baseline="0" noProof="0">
                <a:ln>
                  <a:noFill/>
                </a:ln>
                <a:solidFill>
                  <a:srgbClr val="04462F"/>
                </a:solidFill>
                <a:effectLst/>
                <a:uLnTx/>
                <a:uFillTx/>
                <a:latin typeface="メイリオ" panose="020B0604030504040204" pitchFamily="50" charset="-128"/>
                <a:ea typeface="メイリオ" panose="020B0604030504040204" pitchFamily="50" charset="-128"/>
                <a:cs typeface="+mn-cs"/>
              </a:rPr>
              <a:t>事業概要</a:t>
            </a:r>
            <a:endParaRPr kumimoji="1" lang="en-US" altLang="ja-JP" sz="2000" b="1" i="0" u="none" strike="noStrike" kern="0" cap="none" spc="0" normalizeH="0" baseline="0" noProof="0">
              <a:ln>
                <a:noFill/>
              </a:ln>
              <a:solidFill>
                <a:srgbClr val="04462F"/>
              </a:solidFill>
              <a:effectLst/>
              <a:uLnTx/>
              <a:uFillTx/>
              <a:latin typeface="メイリオ" panose="020B0604030504040204" pitchFamily="50" charset="-128"/>
              <a:ea typeface="メイリオ" panose="020B0604030504040204" pitchFamily="50" charset="-128"/>
              <a:cs typeface="+mn-cs"/>
            </a:endParaRPr>
          </a:p>
        </p:txBody>
      </p:sp>
      <p:pic>
        <p:nvPicPr>
          <p:cNvPr id="49" name="図 48">
            <a:extLst>
              <a:ext uri="{FF2B5EF4-FFF2-40B4-BE49-F238E27FC236}">
                <a16:creationId xmlns:a16="http://schemas.microsoft.com/office/drawing/2014/main" id="{C8533A42-8A2A-AB7A-A73A-1B6F67590774}"/>
              </a:ext>
            </a:extLst>
          </p:cNvPr>
          <p:cNvPicPr>
            <a:picLocks noChangeAspect="1"/>
          </p:cNvPicPr>
          <p:nvPr/>
        </p:nvPicPr>
        <p:blipFill>
          <a:blip r:embed="rId3"/>
          <a:stretch>
            <a:fillRect/>
          </a:stretch>
        </p:blipFill>
        <p:spPr>
          <a:xfrm>
            <a:off x="704944" y="2903052"/>
            <a:ext cx="2278570" cy="1926473"/>
          </a:xfrm>
          <a:prstGeom prst="rect">
            <a:avLst/>
          </a:prstGeom>
        </p:spPr>
      </p:pic>
      <p:pic>
        <p:nvPicPr>
          <p:cNvPr id="53" name="図 52">
            <a:extLst>
              <a:ext uri="{FF2B5EF4-FFF2-40B4-BE49-F238E27FC236}">
                <a16:creationId xmlns:a16="http://schemas.microsoft.com/office/drawing/2014/main" id="{0528FCF6-E77D-CE7C-551F-CDA6CF9074C7}"/>
              </a:ext>
            </a:extLst>
          </p:cNvPr>
          <p:cNvPicPr>
            <a:picLocks noChangeAspect="1"/>
          </p:cNvPicPr>
          <p:nvPr/>
        </p:nvPicPr>
        <p:blipFill>
          <a:blip r:embed="rId4"/>
          <a:stretch>
            <a:fillRect/>
          </a:stretch>
        </p:blipFill>
        <p:spPr>
          <a:xfrm>
            <a:off x="3081668" y="2903053"/>
            <a:ext cx="2263480" cy="1926473"/>
          </a:xfrm>
          <a:prstGeom prst="rect">
            <a:avLst/>
          </a:prstGeom>
        </p:spPr>
      </p:pic>
      <p:pic>
        <p:nvPicPr>
          <p:cNvPr id="57" name="図 56">
            <a:extLst>
              <a:ext uri="{FF2B5EF4-FFF2-40B4-BE49-F238E27FC236}">
                <a16:creationId xmlns:a16="http://schemas.microsoft.com/office/drawing/2014/main" id="{8B4D92A3-B03A-96B9-7EE5-75479610FEF7}"/>
              </a:ext>
            </a:extLst>
          </p:cNvPr>
          <p:cNvPicPr>
            <a:picLocks noChangeAspect="1"/>
          </p:cNvPicPr>
          <p:nvPr/>
        </p:nvPicPr>
        <p:blipFill>
          <a:blip r:embed="rId5"/>
          <a:stretch>
            <a:fillRect/>
          </a:stretch>
        </p:blipFill>
        <p:spPr>
          <a:xfrm>
            <a:off x="5443302" y="2903053"/>
            <a:ext cx="2253420" cy="1926472"/>
          </a:xfrm>
          <a:prstGeom prst="rect">
            <a:avLst/>
          </a:prstGeom>
        </p:spPr>
      </p:pic>
      <p:sp>
        <p:nvSpPr>
          <p:cNvPr id="76" name="正方形/長方形 75">
            <a:extLst>
              <a:ext uri="{FF2B5EF4-FFF2-40B4-BE49-F238E27FC236}">
                <a16:creationId xmlns:a16="http://schemas.microsoft.com/office/drawing/2014/main" id="{47D8AE4A-2841-A85D-5889-A53677AA5594}"/>
              </a:ext>
            </a:extLst>
          </p:cNvPr>
          <p:cNvSpPr/>
          <p:nvPr/>
        </p:nvSpPr>
        <p:spPr>
          <a:xfrm>
            <a:off x="8081115" y="2438196"/>
            <a:ext cx="1992393" cy="400110"/>
          </a:xfrm>
          <a:prstGeom prst="rect">
            <a:avLst/>
          </a:prstGeom>
          <a:noFill/>
        </p:spPr>
        <p:txBody>
          <a:bodyPr wrap="square" anchor="ctr">
            <a:spAutoFit/>
          </a:body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ja-JP" altLang="en-US" sz="2000" b="1" i="0" u="none" strike="noStrike" kern="0" cap="none" spc="0" normalizeH="0" baseline="0" noProof="0" dirty="0">
                <a:ln>
                  <a:noFill/>
                </a:ln>
                <a:solidFill>
                  <a:srgbClr val="04462F"/>
                </a:solidFill>
                <a:effectLst/>
                <a:uLnTx/>
                <a:uFillTx/>
                <a:latin typeface="メイリオ" panose="020B0604030504040204" pitchFamily="50" charset="-128"/>
                <a:ea typeface="メイリオ" panose="020B0604030504040204" pitchFamily="50" charset="-128"/>
                <a:cs typeface="+mn-cs"/>
              </a:rPr>
              <a:t>株式会社</a:t>
            </a:r>
            <a:r>
              <a:rPr kumimoji="1" lang="en-US" altLang="ja-JP" sz="2000" b="1" i="0" u="none" strike="noStrike" kern="0" cap="none" spc="0" normalizeH="0" baseline="0" noProof="0" dirty="0">
                <a:ln>
                  <a:noFill/>
                </a:ln>
                <a:solidFill>
                  <a:srgbClr val="04462F"/>
                </a:solidFill>
                <a:effectLst/>
                <a:uLnTx/>
                <a:uFillTx/>
                <a:latin typeface="メイリオ" panose="020B0604030504040204" pitchFamily="50" charset="-128"/>
                <a:ea typeface="メイリオ" panose="020B0604030504040204" pitchFamily="50" charset="-128"/>
                <a:cs typeface="+mn-cs"/>
              </a:rPr>
              <a:t>alma</a:t>
            </a:r>
          </a:p>
        </p:txBody>
      </p:sp>
      <p:pic>
        <p:nvPicPr>
          <p:cNvPr id="63" name="図 62">
            <a:extLst>
              <a:ext uri="{FF2B5EF4-FFF2-40B4-BE49-F238E27FC236}">
                <a16:creationId xmlns:a16="http://schemas.microsoft.com/office/drawing/2014/main" id="{344C549B-8377-8945-1810-F471D799C1A1}"/>
              </a:ext>
            </a:extLst>
          </p:cNvPr>
          <p:cNvPicPr>
            <a:picLocks noChangeAspect="1"/>
          </p:cNvPicPr>
          <p:nvPr/>
        </p:nvPicPr>
        <p:blipFill>
          <a:blip r:embed="rId6"/>
          <a:stretch>
            <a:fillRect/>
          </a:stretch>
        </p:blipFill>
        <p:spPr>
          <a:xfrm>
            <a:off x="748925" y="4973123"/>
            <a:ext cx="2283600" cy="1926473"/>
          </a:xfrm>
          <a:prstGeom prst="rect">
            <a:avLst/>
          </a:prstGeom>
        </p:spPr>
      </p:pic>
      <p:pic>
        <p:nvPicPr>
          <p:cNvPr id="67" name="図 66">
            <a:extLst>
              <a:ext uri="{FF2B5EF4-FFF2-40B4-BE49-F238E27FC236}">
                <a16:creationId xmlns:a16="http://schemas.microsoft.com/office/drawing/2014/main" id="{919D65B7-FD55-900B-F269-48E4A3A5C9A0}"/>
              </a:ext>
            </a:extLst>
          </p:cNvPr>
          <p:cNvPicPr>
            <a:picLocks noChangeAspect="1"/>
          </p:cNvPicPr>
          <p:nvPr/>
        </p:nvPicPr>
        <p:blipFill>
          <a:blip r:embed="rId7"/>
          <a:stretch>
            <a:fillRect/>
          </a:stretch>
        </p:blipFill>
        <p:spPr>
          <a:xfrm>
            <a:off x="3115035" y="4973123"/>
            <a:ext cx="2248390" cy="1931503"/>
          </a:xfrm>
          <a:prstGeom prst="rect">
            <a:avLst/>
          </a:prstGeom>
        </p:spPr>
      </p:pic>
      <p:pic>
        <p:nvPicPr>
          <p:cNvPr id="74" name="図 73">
            <a:extLst>
              <a:ext uri="{FF2B5EF4-FFF2-40B4-BE49-F238E27FC236}">
                <a16:creationId xmlns:a16="http://schemas.microsoft.com/office/drawing/2014/main" id="{8D3F41F5-2463-9028-F932-9C7FC34E36FC}"/>
              </a:ext>
            </a:extLst>
          </p:cNvPr>
          <p:cNvPicPr>
            <a:picLocks noChangeAspect="1"/>
          </p:cNvPicPr>
          <p:nvPr/>
        </p:nvPicPr>
        <p:blipFill>
          <a:blip r:embed="rId8"/>
          <a:stretch>
            <a:fillRect/>
          </a:stretch>
        </p:blipFill>
        <p:spPr>
          <a:xfrm>
            <a:off x="5463421" y="4980995"/>
            <a:ext cx="2233301" cy="1931503"/>
          </a:xfrm>
          <a:prstGeom prst="rect">
            <a:avLst/>
          </a:prstGeom>
        </p:spPr>
      </p:pic>
    </p:spTree>
    <p:extLst>
      <p:ext uri="{BB962C8B-B14F-4D97-AF65-F5344CB8AC3E}">
        <p14:creationId xmlns:p14="http://schemas.microsoft.com/office/powerpoint/2010/main" val="27815901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EB0873-EC6B-FDF1-1E56-0D86DEC561F7}"/>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0F0940D5-D235-6A13-B869-846A0DADDE97}"/>
              </a:ext>
            </a:extLst>
          </p:cNvPr>
          <p:cNvSpPr/>
          <p:nvPr/>
        </p:nvSpPr>
        <p:spPr>
          <a:xfrm>
            <a:off x="-7018" y="0"/>
            <a:ext cx="13444538" cy="756119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78D378CA-2A36-BC18-CEF3-A2F67AABC863}"/>
              </a:ext>
            </a:extLst>
          </p:cNvPr>
          <p:cNvSpPr/>
          <p:nvPr/>
        </p:nvSpPr>
        <p:spPr>
          <a:xfrm>
            <a:off x="817300" y="1571625"/>
            <a:ext cx="3695169" cy="1676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2" name="図 81" descr="テキスト&#10;&#10;自動的に生成された説明">
            <a:extLst>
              <a:ext uri="{FF2B5EF4-FFF2-40B4-BE49-F238E27FC236}">
                <a16:creationId xmlns:a16="http://schemas.microsoft.com/office/drawing/2014/main" id="{950FA1CF-ACCB-74BB-87CE-32C019C8E8E1}"/>
              </a:ext>
            </a:extLst>
          </p:cNvPr>
          <p:cNvPicPr>
            <a:picLocks noChangeAspect="1"/>
          </p:cNvPicPr>
          <p:nvPr/>
        </p:nvPicPr>
        <p:blipFill>
          <a:blip r:embed="rId2" cstate="print">
            <a:extLst>
              <a:ext uri="{28A0092B-C50C-407E-A947-70E740481C1C}">
                <a14:useLocalDpi xmlns:a14="http://schemas.microsoft.com/office/drawing/2010/main" val="0"/>
              </a:ext>
            </a:extLst>
          </a:blip>
          <a:srcRect r="78330"/>
          <a:stretch/>
        </p:blipFill>
        <p:spPr>
          <a:xfrm>
            <a:off x="3931780" y="1686916"/>
            <a:ext cx="472811" cy="442838"/>
          </a:xfrm>
          <a:prstGeom prst="rect">
            <a:avLst/>
          </a:prstGeom>
        </p:spPr>
      </p:pic>
      <p:sp>
        <p:nvSpPr>
          <p:cNvPr id="78" name="正方形/長方形 77">
            <a:extLst>
              <a:ext uri="{FF2B5EF4-FFF2-40B4-BE49-F238E27FC236}">
                <a16:creationId xmlns:a16="http://schemas.microsoft.com/office/drawing/2014/main" id="{28228F3B-A031-A6DB-3571-7F22D2A69232}"/>
              </a:ext>
            </a:extLst>
          </p:cNvPr>
          <p:cNvSpPr/>
          <p:nvPr/>
        </p:nvSpPr>
        <p:spPr>
          <a:xfrm>
            <a:off x="-7018" y="6147460"/>
            <a:ext cx="13451556" cy="1415390"/>
          </a:xfrm>
          <a:prstGeom prst="rect">
            <a:avLst/>
          </a:prstGeom>
          <a:solidFill>
            <a:srgbClr val="04462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A0CF5A98-E83E-AD42-FCB2-64A0DA8097A4}"/>
              </a:ext>
            </a:extLst>
          </p:cNvPr>
          <p:cNvSpPr txBox="1"/>
          <p:nvPr/>
        </p:nvSpPr>
        <p:spPr>
          <a:xfrm>
            <a:off x="702469" y="428625"/>
            <a:ext cx="3594254" cy="646331"/>
          </a:xfrm>
          <a:prstGeom prst="rect">
            <a:avLst/>
          </a:prstGeom>
          <a:noFill/>
        </p:spPr>
        <p:txBody>
          <a:bodyPr wrap="none" rtlCol="0">
            <a:spAutoFit/>
          </a:bodyPr>
          <a:lstStyle/>
          <a:p>
            <a:r>
              <a:rPr kumimoji="1" lang="en-US" altLang="ja-JP" sz="3600" b="1" i="1">
                <a:solidFill>
                  <a:srgbClr val="04462F"/>
                </a:solidFill>
                <a:latin typeface="メイリオ" panose="020B0604030504040204" pitchFamily="50" charset="-128"/>
                <a:ea typeface="メイリオ" panose="020B0604030504040204" pitchFamily="50" charset="-128"/>
              </a:rPr>
              <a:t>Achievements</a:t>
            </a:r>
            <a:endParaRPr kumimoji="1" lang="ja-JP" altLang="en-US">
              <a:solidFill>
                <a:srgbClr val="04462F"/>
              </a:solidFill>
              <a:latin typeface="メイリオ" panose="020B0604030504040204" pitchFamily="50" charset="-128"/>
              <a:ea typeface="メイリオ" panose="020B0604030504040204" pitchFamily="50" charset="-128"/>
            </a:endParaRPr>
          </a:p>
        </p:txBody>
      </p:sp>
      <p:cxnSp>
        <p:nvCxnSpPr>
          <p:cNvPr id="6" name="直線コネクタ 5">
            <a:extLst>
              <a:ext uri="{FF2B5EF4-FFF2-40B4-BE49-F238E27FC236}">
                <a16:creationId xmlns:a16="http://schemas.microsoft.com/office/drawing/2014/main" id="{BD7F732E-CFCC-6F2F-3321-F4144CC3ACFF}"/>
              </a:ext>
            </a:extLst>
          </p:cNvPr>
          <p:cNvCxnSpPr/>
          <p:nvPr/>
        </p:nvCxnSpPr>
        <p:spPr>
          <a:xfrm>
            <a:off x="817300" y="1164114"/>
            <a:ext cx="342369" cy="0"/>
          </a:xfrm>
          <a:prstGeom prst="line">
            <a:avLst/>
          </a:prstGeom>
          <a:ln>
            <a:solidFill>
              <a:srgbClr val="04462F"/>
            </a:solidFill>
          </a:ln>
        </p:spPr>
        <p:style>
          <a:lnRef idx="1">
            <a:schemeClr val="accent1"/>
          </a:lnRef>
          <a:fillRef idx="0">
            <a:schemeClr val="accent1"/>
          </a:fillRef>
          <a:effectRef idx="0">
            <a:schemeClr val="accent1"/>
          </a:effectRef>
          <a:fontRef idx="minor">
            <a:schemeClr val="tx1"/>
          </a:fontRef>
        </p:style>
      </p:cxnSp>
      <p:sp>
        <p:nvSpPr>
          <p:cNvPr id="8" name="テキスト ボックス 7">
            <a:extLst>
              <a:ext uri="{FF2B5EF4-FFF2-40B4-BE49-F238E27FC236}">
                <a16:creationId xmlns:a16="http://schemas.microsoft.com/office/drawing/2014/main" id="{92F423CB-5A6E-6414-5F41-F47FA535B875}"/>
              </a:ext>
            </a:extLst>
          </p:cNvPr>
          <p:cNvSpPr txBox="1"/>
          <p:nvPr/>
        </p:nvSpPr>
        <p:spPr>
          <a:xfrm>
            <a:off x="1159668" y="982623"/>
            <a:ext cx="1981201" cy="369332"/>
          </a:xfrm>
          <a:prstGeom prst="rect">
            <a:avLst/>
          </a:prstGeom>
          <a:noFill/>
        </p:spPr>
        <p:txBody>
          <a:bodyPr wrap="square">
            <a:spAutoFit/>
          </a:bodyPr>
          <a:lstStyle/>
          <a:p>
            <a:r>
              <a:rPr kumimoji="1" lang="ja-JP" altLang="en-US" sz="1800">
                <a:solidFill>
                  <a:srgbClr val="04462F"/>
                </a:solidFill>
                <a:latin typeface="メイリオ" panose="020B0604030504040204" pitchFamily="50" charset="-128"/>
                <a:ea typeface="メイリオ" panose="020B0604030504040204" pitchFamily="50" charset="-128"/>
              </a:rPr>
              <a:t>主な実績</a:t>
            </a:r>
            <a:endParaRPr lang="ja-JP" altLang="en-US">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2B0FA5A8-D169-2B2D-228F-5E876F3DAF4F}"/>
              </a:ext>
            </a:extLst>
          </p:cNvPr>
          <p:cNvSpPr/>
          <p:nvPr/>
        </p:nvSpPr>
        <p:spPr>
          <a:xfrm>
            <a:off x="4874684" y="1571625"/>
            <a:ext cx="3695169" cy="1676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995D1999-AF79-25B1-A424-EEE58CF177BF}"/>
              </a:ext>
            </a:extLst>
          </p:cNvPr>
          <p:cNvSpPr/>
          <p:nvPr/>
        </p:nvSpPr>
        <p:spPr>
          <a:xfrm>
            <a:off x="8932068" y="1571625"/>
            <a:ext cx="3695169" cy="1676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a:extLst>
              <a:ext uri="{FF2B5EF4-FFF2-40B4-BE49-F238E27FC236}">
                <a16:creationId xmlns:a16="http://schemas.microsoft.com/office/drawing/2014/main" id="{B1CFB3BC-4A9C-4F41-6EBF-0154482DBB0C}"/>
              </a:ext>
            </a:extLst>
          </p:cNvPr>
          <p:cNvSpPr/>
          <p:nvPr/>
        </p:nvSpPr>
        <p:spPr>
          <a:xfrm>
            <a:off x="817300" y="3340226"/>
            <a:ext cx="5723863" cy="1676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736FE4EC-9484-1104-D67C-020C4ACF8B82}"/>
              </a:ext>
            </a:extLst>
          </p:cNvPr>
          <p:cNvSpPr/>
          <p:nvPr/>
        </p:nvSpPr>
        <p:spPr>
          <a:xfrm>
            <a:off x="6903374" y="3340226"/>
            <a:ext cx="5723863" cy="1676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a:extLst>
              <a:ext uri="{FF2B5EF4-FFF2-40B4-BE49-F238E27FC236}">
                <a16:creationId xmlns:a16="http://schemas.microsoft.com/office/drawing/2014/main" id="{00F97B89-CC69-AB69-12CF-94D584020769}"/>
              </a:ext>
            </a:extLst>
          </p:cNvPr>
          <p:cNvSpPr/>
          <p:nvPr/>
        </p:nvSpPr>
        <p:spPr>
          <a:xfrm>
            <a:off x="817300" y="5204466"/>
            <a:ext cx="11809937" cy="189606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正方形/長方形 28">
            <a:extLst>
              <a:ext uri="{FF2B5EF4-FFF2-40B4-BE49-F238E27FC236}">
                <a16:creationId xmlns:a16="http://schemas.microsoft.com/office/drawing/2014/main" id="{A1CB2D76-3B75-7BEC-F004-F88D76D321A1}"/>
              </a:ext>
            </a:extLst>
          </p:cNvPr>
          <p:cNvSpPr/>
          <p:nvPr/>
        </p:nvSpPr>
        <p:spPr>
          <a:xfrm>
            <a:off x="925172" y="2177151"/>
            <a:ext cx="3479423" cy="304800"/>
          </a:xfrm>
          <a:prstGeom prst="rect">
            <a:avLst/>
          </a:prstGeom>
          <a:solidFill>
            <a:srgbClr val="E5A8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solidFill>
                <a:schemeClr val="tx1">
                  <a:lumMod val="85000"/>
                  <a:lumOff val="15000"/>
                </a:schemeClr>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0C2A9CEE-20B9-A5D1-A66D-C94753E032E1}"/>
              </a:ext>
            </a:extLst>
          </p:cNvPr>
          <p:cNvSpPr/>
          <p:nvPr/>
        </p:nvSpPr>
        <p:spPr>
          <a:xfrm>
            <a:off x="9039940" y="2177151"/>
            <a:ext cx="3479423" cy="304800"/>
          </a:xfrm>
          <a:prstGeom prst="rect">
            <a:avLst/>
          </a:prstGeom>
          <a:solidFill>
            <a:srgbClr val="E5A8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30B99A50-9AC7-577F-EA1F-215438459D87}"/>
              </a:ext>
            </a:extLst>
          </p:cNvPr>
          <p:cNvSpPr/>
          <p:nvPr/>
        </p:nvSpPr>
        <p:spPr>
          <a:xfrm>
            <a:off x="4982556" y="2177151"/>
            <a:ext cx="3479423" cy="304800"/>
          </a:xfrm>
          <a:prstGeom prst="rect">
            <a:avLst/>
          </a:prstGeom>
          <a:solidFill>
            <a:srgbClr val="E5A8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テキスト ボックス 46">
            <a:extLst>
              <a:ext uri="{FF2B5EF4-FFF2-40B4-BE49-F238E27FC236}">
                <a16:creationId xmlns:a16="http://schemas.microsoft.com/office/drawing/2014/main" id="{EEFD226E-3931-7D66-BEB8-1A9479F31524}"/>
              </a:ext>
            </a:extLst>
          </p:cNvPr>
          <p:cNvSpPr txBox="1"/>
          <p:nvPr/>
        </p:nvSpPr>
        <p:spPr>
          <a:xfrm>
            <a:off x="1674281" y="1639519"/>
            <a:ext cx="1981201" cy="584775"/>
          </a:xfrm>
          <a:prstGeom prst="rect">
            <a:avLst/>
          </a:prstGeom>
          <a:noFill/>
        </p:spPr>
        <p:txBody>
          <a:bodyPr wrap="square">
            <a:spAutoFit/>
          </a:bodyPr>
          <a:lstStyle/>
          <a:p>
            <a:pPr algn="ctr"/>
            <a:r>
              <a:rPr kumimoji="1" lang="en-US" altLang="ja-JP" sz="2000">
                <a:solidFill>
                  <a:srgbClr val="04462F"/>
                </a:solidFill>
                <a:latin typeface="メイリオ" panose="020B0604030504040204" pitchFamily="50" charset="-128"/>
                <a:ea typeface="メイリオ" panose="020B0604030504040204" pitchFamily="50" charset="-128"/>
              </a:rPr>
              <a:t>CASE</a:t>
            </a:r>
            <a:r>
              <a:rPr kumimoji="1" lang="en-US" altLang="ja-JP" sz="3200" b="1">
                <a:solidFill>
                  <a:srgbClr val="04462F"/>
                </a:solidFill>
                <a:latin typeface="メイリオ" panose="020B0604030504040204" pitchFamily="50" charset="-128"/>
                <a:ea typeface="メイリオ" panose="020B0604030504040204" pitchFamily="50" charset="-128"/>
              </a:rPr>
              <a:t>1</a:t>
            </a:r>
            <a:endParaRPr lang="ja-JP" altLang="en-US" sz="2000" b="1">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FB8A1955-1F3C-6B7E-820C-09B98D3110E1}"/>
              </a:ext>
            </a:extLst>
          </p:cNvPr>
          <p:cNvSpPr txBox="1"/>
          <p:nvPr/>
        </p:nvSpPr>
        <p:spPr>
          <a:xfrm>
            <a:off x="5731666" y="1639519"/>
            <a:ext cx="1981201" cy="584775"/>
          </a:xfrm>
          <a:prstGeom prst="rect">
            <a:avLst/>
          </a:prstGeom>
          <a:noFill/>
        </p:spPr>
        <p:txBody>
          <a:bodyPr wrap="square">
            <a:spAutoFit/>
          </a:bodyPr>
          <a:lstStyle/>
          <a:p>
            <a:pPr algn="ctr"/>
            <a:r>
              <a:rPr kumimoji="1" lang="en-US" altLang="ja-JP" sz="2000">
                <a:solidFill>
                  <a:srgbClr val="04462F"/>
                </a:solidFill>
                <a:latin typeface="メイリオ" panose="020B0604030504040204" pitchFamily="50" charset="-128"/>
                <a:ea typeface="メイリオ" panose="020B0604030504040204" pitchFamily="50" charset="-128"/>
              </a:rPr>
              <a:t>CASE</a:t>
            </a:r>
            <a:r>
              <a:rPr kumimoji="1" lang="en-US" altLang="ja-JP" sz="3200" b="1">
                <a:solidFill>
                  <a:srgbClr val="04462F"/>
                </a:solidFill>
                <a:latin typeface="メイリオ" panose="020B0604030504040204" pitchFamily="50" charset="-128"/>
                <a:ea typeface="メイリオ" panose="020B0604030504040204" pitchFamily="50" charset="-128"/>
              </a:rPr>
              <a:t>2</a:t>
            </a:r>
            <a:endParaRPr lang="ja-JP" altLang="en-US" sz="2000" b="1">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386B7851-C397-2981-FE8A-7CA7AB39841F}"/>
              </a:ext>
            </a:extLst>
          </p:cNvPr>
          <p:cNvSpPr txBox="1"/>
          <p:nvPr/>
        </p:nvSpPr>
        <p:spPr>
          <a:xfrm>
            <a:off x="9789050" y="1639519"/>
            <a:ext cx="1981201" cy="584775"/>
          </a:xfrm>
          <a:prstGeom prst="rect">
            <a:avLst/>
          </a:prstGeom>
          <a:noFill/>
        </p:spPr>
        <p:txBody>
          <a:bodyPr wrap="square">
            <a:spAutoFit/>
          </a:bodyPr>
          <a:lstStyle/>
          <a:p>
            <a:pPr algn="ctr"/>
            <a:r>
              <a:rPr kumimoji="1" lang="en-US" altLang="ja-JP" sz="2000">
                <a:solidFill>
                  <a:srgbClr val="04462F"/>
                </a:solidFill>
                <a:latin typeface="メイリオ" panose="020B0604030504040204" pitchFamily="50" charset="-128"/>
                <a:ea typeface="メイリオ" panose="020B0604030504040204" pitchFamily="50" charset="-128"/>
              </a:rPr>
              <a:t>CASE</a:t>
            </a:r>
            <a:r>
              <a:rPr kumimoji="1" lang="en-US" altLang="ja-JP" sz="3200" b="1">
                <a:solidFill>
                  <a:srgbClr val="04462F"/>
                </a:solidFill>
                <a:latin typeface="メイリオ" panose="020B0604030504040204" pitchFamily="50" charset="-128"/>
                <a:ea typeface="メイリオ" panose="020B0604030504040204" pitchFamily="50" charset="-128"/>
              </a:rPr>
              <a:t>3</a:t>
            </a:r>
            <a:endParaRPr lang="ja-JP" altLang="en-US" sz="2000" b="1">
              <a:latin typeface="メイリオ" panose="020B0604030504040204" pitchFamily="50" charset="-128"/>
              <a:ea typeface="メイリオ" panose="020B0604030504040204" pitchFamily="50" charset="-128"/>
            </a:endParaRPr>
          </a:p>
        </p:txBody>
      </p:sp>
      <p:sp>
        <p:nvSpPr>
          <p:cNvPr id="59" name="テキスト ボックス 58">
            <a:extLst>
              <a:ext uri="{FF2B5EF4-FFF2-40B4-BE49-F238E27FC236}">
                <a16:creationId xmlns:a16="http://schemas.microsoft.com/office/drawing/2014/main" id="{6536C495-CB48-06D7-F2B0-27F88136846E}"/>
              </a:ext>
            </a:extLst>
          </p:cNvPr>
          <p:cNvSpPr txBox="1"/>
          <p:nvPr/>
        </p:nvSpPr>
        <p:spPr>
          <a:xfrm>
            <a:off x="1312064" y="2204952"/>
            <a:ext cx="2705634" cy="276999"/>
          </a:xfrm>
          <a:prstGeom prst="rect">
            <a:avLst/>
          </a:prstGeom>
          <a:noFill/>
        </p:spPr>
        <p:txBody>
          <a:bodyPr wrap="square">
            <a:spAutoFit/>
          </a:bodyPr>
          <a:lstStyle/>
          <a:p>
            <a:pPr algn="ctr">
              <a:defRPr/>
            </a:pPr>
            <a:r>
              <a:rPr kumimoji="1" lang="ja-JP" altLang="en-US" sz="1200" dirty="0">
                <a:solidFill>
                  <a:prstClr val="black"/>
                </a:solidFill>
                <a:latin typeface="メイリオ" panose="020B0604030504040204" pitchFamily="50" charset="-128"/>
                <a:ea typeface="メイリオ" panose="020B0604030504040204" pitchFamily="50" charset="-128"/>
              </a:rPr>
              <a:t>大手食品メーカー</a:t>
            </a:r>
          </a:p>
        </p:txBody>
      </p:sp>
      <p:sp>
        <p:nvSpPr>
          <p:cNvPr id="60" name="テキスト ボックス 59">
            <a:extLst>
              <a:ext uri="{FF2B5EF4-FFF2-40B4-BE49-F238E27FC236}">
                <a16:creationId xmlns:a16="http://schemas.microsoft.com/office/drawing/2014/main" id="{6696B764-4ABC-C7BD-54B6-D94648C0D5C2}"/>
              </a:ext>
            </a:extLst>
          </p:cNvPr>
          <p:cNvSpPr txBox="1"/>
          <p:nvPr/>
        </p:nvSpPr>
        <p:spPr>
          <a:xfrm>
            <a:off x="5369450" y="2204952"/>
            <a:ext cx="2705634" cy="276999"/>
          </a:xfrm>
          <a:prstGeom prst="rect">
            <a:avLst/>
          </a:prstGeom>
          <a:noFill/>
        </p:spPr>
        <p:txBody>
          <a:bodyPr wrap="square">
            <a:spAutoFit/>
          </a:bodyPr>
          <a:lstStyle/>
          <a:p>
            <a:pPr algn="ctr">
              <a:defRPr/>
            </a:pPr>
            <a:r>
              <a:rPr kumimoji="1" lang="ja-JP" altLang="en-US" sz="1200" dirty="0">
                <a:solidFill>
                  <a:prstClr val="black"/>
                </a:solidFill>
                <a:latin typeface="メイリオ" panose="020B0604030504040204" pitchFamily="50" charset="-128"/>
                <a:ea typeface="メイリオ" panose="020B0604030504040204" pitchFamily="50" charset="-128"/>
              </a:rPr>
              <a:t>大手食品メーカー</a:t>
            </a:r>
          </a:p>
        </p:txBody>
      </p:sp>
      <p:sp>
        <p:nvSpPr>
          <p:cNvPr id="39" name="正方形/長方形 38">
            <a:extLst>
              <a:ext uri="{FF2B5EF4-FFF2-40B4-BE49-F238E27FC236}">
                <a16:creationId xmlns:a16="http://schemas.microsoft.com/office/drawing/2014/main" id="{2893A182-25B8-8E8F-3B41-13CB2884C002}"/>
              </a:ext>
            </a:extLst>
          </p:cNvPr>
          <p:cNvSpPr/>
          <p:nvPr/>
        </p:nvSpPr>
        <p:spPr>
          <a:xfrm>
            <a:off x="925172" y="3945752"/>
            <a:ext cx="5508118" cy="304800"/>
          </a:xfrm>
          <a:prstGeom prst="rect">
            <a:avLst/>
          </a:prstGeom>
          <a:solidFill>
            <a:srgbClr val="E5A8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490D1ACF-7D26-0304-DBA8-3AB5D3CAFE72}"/>
              </a:ext>
            </a:extLst>
          </p:cNvPr>
          <p:cNvSpPr txBox="1"/>
          <p:nvPr/>
        </p:nvSpPr>
        <p:spPr>
          <a:xfrm>
            <a:off x="2688629" y="3409058"/>
            <a:ext cx="1981201" cy="584775"/>
          </a:xfrm>
          <a:prstGeom prst="rect">
            <a:avLst/>
          </a:prstGeom>
          <a:noFill/>
        </p:spPr>
        <p:txBody>
          <a:bodyPr wrap="square">
            <a:spAutoFit/>
          </a:bodyPr>
          <a:lstStyle/>
          <a:p>
            <a:pPr algn="ctr"/>
            <a:r>
              <a:rPr kumimoji="1" lang="en-US" altLang="ja-JP" sz="2000">
                <a:solidFill>
                  <a:srgbClr val="04462F"/>
                </a:solidFill>
                <a:latin typeface="メイリオ" panose="020B0604030504040204" pitchFamily="50" charset="-128"/>
                <a:ea typeface="メイリオ" panose="020B0604030504040204" pitchFamily="50" charset="-128"/>
              </a:rPr>
              <a:t>CASE</a:t>
            </a:r>
            <a:r>
              <a:rPr kumimoji="1" lang="en-US" altLang="ja-JP" sz="3200" b="1">
                <a:solidFill>
                  <a:srgbClr val="04462F"/>
                </a:solidFill>
                <a:latin typeface="メイリオ" panose="020B0604030504040204" pitchFamily="50" charset="-128"/>
                <a:ea typeface="メイリオ" panose="020B0604030504040204" pitchFamily="50" charset="-128"/>
              </a:rPr>
              <a:t>4</a:t>
            </a:r>
            <a:endParaRPr lang="ja-JP" altLang="en-US" sz="2000" b="1">
              <a:latin typeface="メイリオ" panose="020B0604030504040204" pitchFamily="50" charset="-128"/>
              <a:ea typeface="メイリオ" panose="020B0604030504040204" pitchFamily="50" charset="-128"/>
            </a:endParaRPr>
          </a:p>
        </p:txBody>
      </p:sp>
      <p:sp>
        <p:nvSpPr>
          <p:cNvPr id="61" name="テキスト ボックス 60">
            <a:extLst>
              <a:ext uri="{FF2B5EF4-FFF2-40B4-BE49-F238E27FC236}">
                <a16:creationId xmlns:a16="http://schemas.microsoft.com/office/drawing/2014/main" id="{6EFA781E-02A8-22EC-D1A4-2951067B9217}"/>
              </a:ext>
            </a:extLst>
          </p:cNvPr>
          <p:cNvSpPr txBox="1"/>
          <p:nvPr/>
        </p:nvSpPr>
        <p:spPr>
          <a:xfrm>
            <a:off x="2326412" y="3973553"/>
            <a:ext cx="2705634" cy="276999"/>
          </a:xfrm>
          <a:prstGeom prst="rect">
            <a:avLst/>
          </a:prstGeom>
          <a:noFill/>
        </p:spPr>
        <p:txBody>
          <a:bodyPr wrap="square">
            <a:spAutoFit/>
          </a:bodyPr>
          <a:lstStyle/>
          <a:p>
            <a:pPr algn="ctr">
              <a:defRPr/>
            </a:pPr>
            <a:r>
              <a:rPr kumimoji="1" lang="ja-JP" altLang="en-US" sz="1200" dirty="0">
                <a:solidFill>
                  <a:prstClr val="black"/>
                </a:solidFill>
                <a:latin typeface="メイリオ" panose="020B0604030504040204" pitchFamily="50" charset="-128"/>
                <a:ea typeface="メイリオ" panose="020B0604030504040204" pitchFamily="50" charset="-128"/>
              </a:rPr>
              <a:t>医療機器メーカー</a:t>
            </a:r>
          </a:p>
        </p:txBody>
      </p:sp>
      <p:sp>
        <p:nvSpPr>
          <p:cNvPr id="40" name="正方形/長方形 39">
            <a:extLst>
              <a:ext uri="{FF2B5EF4-FFF2-40B4-BE49-F238E27FC236}">
                <a16:creationId xmlns:a16="http://schemas.microsoft.com/office/drawing/2014/main" id="{7C5DBEF7-D92D-8741-4C9A-B3B95E9E4808}"/>
              </a:ext>
            </a:extLst>
          </p:cNvPr>
          <p:cNvSpPr/>
          <p:nvPr/>
        </p:nvSpPr>
        <p:spPr>
          <a:xfrm>
            <a:off x="7011247" y="3945752"/>
            <a:ext cx="5508116" cy="304800"/>
          </a:xfrm>
          <a:prstGeom prst="rect">
            <a:avLst/>
          </a:prstGeom>
          <a:solidFill>
            <a:srgbClr val="E5A8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8A641585-3838-D9AB-03F5-BAA8D84034C2}"/>
              </a:ext>
            </a:extLst>
          </p:cNvPr>
          <p:cNvSpPr txBox="1"/>
          <p:nvPr/>
        </p:nvSpPr>
        <p:spPr>
          <a:xfrm>
            <a:off x="8781720" y="3409058"/>
            <a:ext cx="1981201" cy="584775"/>
          </a:xfrm>
          <a:prstGeom prst="rect">
            <a:avLst/>
          </a:prstGeom>
          <a:noFill/>
        </p:spPr>
        <p:txBody>
          <a:bodyPr wrap="square">
            <a:spAutoFit/>
          </a:bodyPr>
          <a:lstStyle/>
          <a:p>
            <a:pPr algn="ctr"/>
            <a:r>
              <a:rPr kumimoji="1" lang="en-US" altLang="ja-JP" sz="2000">
                <a:solidFill>
                  <a:srgbClr val="04462F"/>
                </a:solidFill>
                <a:latin typeface="メイリオ" panose="020B0604030504040204" pitchFamily="50" charset="-128"/>
                <a:ea typeface="メイリオ" panose="020B0604030504040204" pitchFamily="50" charset="-128"/>
              </a:rPr>
              <a:t>CASE</a:t>
            </a:r>
            <a:r>
              <a:rPr kumimoji="1" lang="en-US" altLang="ja-JP" sz="3200" b="1">
                <a:solidFill>
                  <a:srgbClr val="04462F"/>
                </a:solidFill>
                <a:latin typeface="メイリオ" panose="020B0604030504040204" pitchFamily="50" charset="-128"/>
                <a:ea typeface="メイリオ" panose="020B0604030504040204" pitchFamily="50" charset="-128"/>
              </a:rPr>
              <a:t>5</a:t>
            </a:r>
            <a:endParaRPr lang="ja-JP" altLang="en-US" sz="2000" b="1">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C97F305F-E152-5DAD-1D4D-203F9D31D600}"/>
              </a:ext>
            </a:extLst>
          </p:cNvPr>
          <p:cNvSpPr txBox="1"/>
          <p:nvPr/>
        </p:nvSpPr>
        <p:spPr>
          <a:xfrm>
            <a:off x="8412487" y="3973553"/>
            <a:ext cx="2705634" cy="276999"/>
          </a:xfrm>
          <a:prstGeom prst="rect">
            <a:avLst/>
          </a:prstGeom>
          <a:noFill/>
        </p:spPr>
        <p:txBody>
          <a:bodyPr wrap="square">
            <a:spAutoFit/>
          </a:bodyPr>
          <a:lstStyle/>
          <a:p>
            <a:pPr algn="ctr">
              <a:defRPr/>
            </a:pPr>
            <a:r>
              <a:rPr kumimoji="1" lang="ja-JP" altLang="en-US" sz="1200">
                <a:solidFill>
                  <a:prstClr val="black"/>
                </a:solidFill>
                <a:latin typeface="メイリオ" panose="020B0604030504040204" pitchFamily="50" charset="-128"/>
                <a:ea typeface="メイリオ" panose="020B0604030504040204" pitchFamily="50" charset="-128"/>
              </a:rPr>
              <a:t>地方自治体</a:t>
            </a:r>
          </a:p>
        </p:txBody>
      </p:sp>
      <p:sp>
        <p:nvSpPr>
          <p:cNvPr id="64" name="テキスト ボックス 63">
            <a:extLst>
              <a:ext uri="{FF2B5EF4-FFF2-40B4-BE49-F238E27FC236}">
                <a16:creationId xmlns:a16="http://schemas.microsoft.com/office/drawing/2014/main" id="{C880D96A-F718-7046-3B6B-30193FDD0403}"/>
              </a:ext>
            </a:extLst>
          </p:cNvPr>
          <p:cNvSpPr txBox="1"/>
          <p:nvPr/>
        </p:nvSpPr>
        <p:spPr>
          <a:xfrm>
            <a:off x="9426833" y="2204952"/>
            <a:ext cx="2705634" cy="276999"/>
          </a:xfrm>
          <a:prstGeom prst="rect">
            <a:avLst/>
          </a:prstGeom>
          <a:noFill/>
        </p:spPr>
        <p:txBody>
          <a:bodyPr wrap="square">
            <a:spAutoFit/>
          </a:bodyPr>
          <a:lstStyle/>
          <a:p>
            <a:pPr algn="ctr">
              <a:defRPr/>
            </a:pPr>
            <a:r>
              <a:rPr kumimoji="1" lang="ja-JP" altLang="en-US" sz="1200" dirty="0">
                <a:solidFill>
                  <a:prstClr val="black"/>
                </a:solidFill>
                <a:latin typeface="メイリオ" panose="020B0604030504040204" pitchFamily="50" charset="-128"/>
                <a:ea typeface="メイリオ" panose="020B0604030504040204" pitchFamily="50" charset="-128"/>
              </a:rPr>
              <a:t>化粧品メーカー</a:t>
            </a:r>
          </a:p>
        </p:txBody>
      </p:sp>
      <p:sp>
        <p:nvSpPr>
          <p:cNvPr id="69" name="テキスト ボックス 68">
            <a:extLst>
              <a:ext uri="{FF2B5EF4-FFF2-40B4-BE49-F238E27FC236}">
                <a16:creationId xmlns:a16="http://schemas.microsoft.com/office/drawing/2014/main" id="{10705DA8-1719-D30A-E887-B33EE2911739}"/>
              </a:ext>
            </a:extLst>
          </p:cNvPr>
          <p:cNvSpPr txBox="1"/>
          <p:nvPr/>
        </p:nvSpPr>
        <p:spPr>
          <a:xfrm>
            <a:off x="1312064" y="2617083"/>
            <a:ext cx="2705634" cy="523220"/>
          </a:xfrm>
          <a:prstGeom prst="rect">
            <a:avLst/>
          </a:prstGeom>
          <a:noFill/>
        </p:spPr>
        <p:txBody>
          <a:bodyPr wrap="square" anchor="ctr">
            <a:spAutoFit/>
          </a:bodyPr>
          <a:lstStyle/>
          <a:p>
            <a:pPr algn="ctr">
              <a:defRPr/>
            </a:pPr>
            <a:r>
              <a:rPr kumimoji="1" lang="ja-JP" altLang="en-US" sz="1400">
                <a:solidFill>
                  <a:prstClr val="black"/>
                </a:solidFill>
                <a:latin typeface="メイリオ" panose="020B0604030504040204" pitchFamily="50" charset="-128"/>
                <a:ea typeface="メイリオ" panose="020B0604030504040204" pitchFamily="50" charset="-128"/>
              </a:rPr>
              <a:t>中期事業計画策定支援</a:t>
            </a:r>
          </a:p>
          <a:p>
            <a:pPr algn="ctr">
              <a:defRPr/>
            </a:pPr>
            <a:r>
              <a:rPr kumimoji="1" lang="ja-JP" altLang="en-US" sz="1400">
                <a:solidFill>
                  <a:prstClr val="black"/>
                </a:solidFill>
                <a:latin typeface="メイリオ" panose="020B0604030504040204" pitchFamily="50" charset="-128"/>
                <a:ea typeface="メイリオ" panose="020B0604030504040204" pitchFamily="50" charset="-128"/>
              </a:rPr>
              <a:t>コンサルティング</a:t>
            </a:r>
          </a:p>
        </p:txBody>
      </p:sp>
      <p:sp>
        <p:nvSpPr>
          <p:cNvPr id="70" name="テキスト ボックス 69">
            <a:extLst>
              <a:ext uri="{FF2B5EF4-FFF2-40B4-BE49-F238E27FC236}">
                <a16:creationId xmlns:a16="http://schemas.microsoft.com/office/drawing/2014/main" id="{BCB8ECAB-8854-3822-449E-FB263CF2924F}"/>
              </a:ext>
            </a:extLst>
          </p:cNvPr>
          <p:cNvSpPr txBox="1"/>
          <p:nvPr/>
        </p:nvSpPr>
        <p:spPr>
          <a:xfrm>
            <a:off x="8932068" y="2617083"/>
            <a:ext cx="3695164" cy="523220"/>
          </a:xfrm>
          <a:prstGeom prst="rect">
            <a:avLst/>
          </a:prstGeom>
          <a:noFill/>
        </p:spPr>
        <p:txBody>
          <a:bodyPr wrap="square" anchor="ctr">
            <a:spAutoFit/>
          </a:bodyPr>
          <a:lstStyle/>
          <a:p>
            <a:pPr algn="ctr">
              <a:defRPr/>
            </a:pPr>
            <a:r>
              <a:rPr kumimoji="1" lang="ja-JP" altLang="en-US" sz="1400" dirty="0">
                <a:solidFill>
                  <a:prstClr val="black"/>
                </a:solidFill>
                <a:latin typeface="メイリオ" panose="020B0604030504040204" pitchFamily="50" charset="-128"/>
                <a:ea typeface="メイリオ" panose="020B0604030504040204" pitchFamily="50" charset="-128"/>
              </a:rPr>
              <a:t>新商品ローンチ</a:t>
            </a:r>
            <a:endParaRPr kumimoji="1" lang="en-US" altLang="ja-JP" sz="1400" dirty="0">
              <a:solidFill>
                <a:prstClr val="black"/>
              </a:solidFill>
              <a:latin typeface="メイリオ" panose="020B0604030504040204" pitchFamily="50" charset="-128"/>
              <a:ea typeface="メイリオ" panose="020B0604030504040204" pitchFamily="50" charset="-128"/>
            </a:endParaRPr>
          </a:p>
          <a:p>
            <a:pPr algn="ctr">
              <a:defRPr/>
            </a:pPr>
            <a:r>
              <a:rPr kumimoji="1" lang="ja-JP" altLang="en-US" sz="1400" dirty="0">
                <a:solidFill>
                  <a:prstClr val="black"/>
                </a:solidFill>
                <a:latin typeface="メイリオ" panose="020B0604030504040204" pitchFamily="50" charset="-128"/>
                <a:ea typeface="メイリオ" panose="020B0604030504040204" pitchFamily="50" charset="-128"/>
              </a:rPr>
              <a:t>コミュニケーション戦略策定</a:t>
            </a:r>
          </a:p>
        </p:txBody>
      </p:sp>
      <p:sp>
        <p:nvSpPr>
          <p:cNvPr id="71" name="テキスト ボックス 70">
            <a:extLst>
              <a:ext uri="{FF2B5EF4-FFF2-40B4-BE49-F238E27FC236}">
                <a16:creationId xmlns:a16="http://schemas.microsoft.com/office/drawing/2014/main" id="{C1ACD772-9692-EB00-D5A1-6D55E4702B54}"/>
              </a:ext>
            </a:extLst>
          </p:cNvPr>
          <p:cNvSpPr txBox="1"/>
          <p:nvPr/>
        </p:nvSpPr>
        <p:spPr>
          <a:xfrm>
            <a:off x="4669830" y="2509361"/>
            <a:ext cx="4090842" cy="738664"/>
          </a:xfrm>
          <a:prstGeom prst="rect">
            <a:avLst/>
          </a:prstGeom>
          <a:noFill/>
        </p:spPr>
        <p:txBody>
          <a:bodyPr wrap="square" anchor="ctr">
            <a:spAutoFit/>
          </a:bodyPr>
          <a:lstStyle/>
          <a:p>
            <a:pPr algn="ctr">
              <a:defRPr/>
            </a:pPr>
            <a:r>
              <a:rPr kumimoji="1" lang="ja-JP" altLang="en-US" sz="1400" dirty="0">
                <a:solidFill>
                  <a:prstClr val="black"/>
                </a:solidFill>
                <a:latin typeface="メイリオ" panose="020B0604030504040204" pitchFamily="50" charset="-128"/>
                <a:ea typeface="メイリオ" panose="020B0604030504040204" pitchFamily="50" charset="-128"/>
              </a:rPr>
              <a:t>新規事業開発のための</a:t>
            </a:r>
            <a:endParaRPr kumimoji="1" lang="en-US" altLang="ja-JP" sz="1400" dirty="0">
              <a:solidFill>
                <a:prstClr val="black"/>
              </a:solidFill>
              <a:latin typeface="メイリオ" panose="020B0604030504040204" pitchFamily="50" charset="-128"/>
              <a:ea typeface="メイリオ" panose="020B0604030504040204" pitchFamily="50" charset="-128"/>
            </a:endParaRPr>
          </a:p>
          <a:p>
            <a:pPr algn="ctr">
              <a:defRPr/>
            </a:pPr>
            <a:r>
              <a:rPr kumimoji="1" lang="ja-JP" altLang="en-US" sz="1400" dirty="0">
                <a:solidFill>
                  <a:prstClr val="black"/>
                </a:solidFill>
                <a:latin typeface="メイリオ" panose="020B0604030504040204" pitchFamily="50" charset="-128"/>
                <a:ea typeface="メイリオ" panose="020B0604030504040204" pitchFamily="50" charset="-128"/>
              </a:rPr>
              <a:t>ワークショップ企画実施</a:t>
            </a:r>
          </a:p>
          <a:p>
            <a:pPr algn="ctr">
              <a:defRPr/>
            </a:pPr>
            <a:r>
              <a:rPr kumimoji="1" lang="ja-JP" altLang="en-US" sz="1400" dirty="0">
                <a:solidFill>
                  <a:prstClr val="black"/>
                </a:solidFill>
                <a:latin typeface="メイリオ" panose="020B0604030504040204" pitchFamily="50" charset="-128"/>
                <a:ea typeface="メイリオ" panose="020B0604030504040204" pitchFamily="50" charset="-128"/>
              </a:rPr>
              <a:t>事業コンセプト案構築作業</a:t>
            </a:r>
          </a:p>
        </p:txBody>
      </p:sp>
      <p:sp>
        <p:nvSpPr>
          <p:cNvPr id="72" name="テキスト ボックス 71">
            <a:extLst>
              <a:ext uri="{FF2B5EF4-FFF2-40B4-BE49-F238E27FC236}">
                <a16:creationId xmlns:a16="http://schemas.microsoft.com/office/drawing/2014/main" id="{4CE62251-EC36-F186-3B25-6C1F92A4AB45}"/>
              </a:ext>
            </a:extLst>
          </p:cNvPr>
          <p:cNvSpPr txBox="1"/>
          <p:nvPr/>
        </p:nvSpPr>
        <p:spPr>
          <a:xfrm>
            <a:off x="925172" y="4482266"/>
            <a:ext cx="5508114" cy="307777"/>
          </a:xfrm>
          <a:prstGeom prst="rect">
            <a:avLst/>
          </a:prstGeom>
          <a:noFill/>
        </p:spPr>
        <p:txBody>
          <a:bodyPr wrap="square" anchor="ctr">
            <a:spAutoFit/>
          </a:bodyPr>
          <a:lstStyle/>
          <a:p>
            <a:pPr algn="ctr">
              <a:defRPr/>
            </a:pPr>
            <a:r>
              <a:rPr kumimoji="1" lang="en-US" altLang="ja-JP" sz="1400" dirty="0">
                <a:solidFill>
                  <a:prstClr val="black"/>
                </a:solidFill>
                <a:latin typeface="メイリオ" panose="020B0604030504040204" pitchFamily="50" charset="-128"/>
                <a:ea typeface="メイリオ" panose="020B0604030504040204" pitchFamily="50" charset="-128"/>
              </a:rPr>
              <a:t>PR</a:t>
            </a:r>
            <a:r>
              <a:rPr kumimoji="1" lang="ja-JP" altLang="en-US" sz="1400" dirty="0">
                <a:solidFill>
                  <a:prstClr val="black"/>
                </a:solidFill>
                <a:latin typeface="メイリオ" panose="020B0604030504040204" pitchFamily="50" charset="-128"/>
                <a:ea typeface="メイリオ" panose="020B0604030504040204" pitchFamily="50" charset="-128"/>
              </a:rPr>
              <a:t>業務全般</a:t>
            </a:r>
            <a:r>
              <a:rPr kumimoji="1" lang="en-US" altLang="ja-JP" sz="1400" dirty="0">
                <a:solidFill>
                  <a:prstClr val="black"/>
                </a:solidFill>
                <a:latin typeface="メイリオ" panose="020B0604030504040204" pitchFamily="50" charset="-128"/>
                <a:ea typeface="メイリオ" panose="020B0604030504040204" pitchFamily="50" charset="-128"/>
              </a:rPr>
              <a:t>/</a:t>
            </a:r>
            <a:r>
              <a:rPr kumimoji="1" lang="ja-JP" altLang="en-US" sz="1400" dirty="0">
                <a:solidFill>
                  <a:prstClr val="black"/>
                </a:solidFill>
                <a:latin typeface="メイリオ" panose="020B0604030504040204" pitchFamily="50" charset="-128"/>
                <a:ea typeface="メイリオ" panose="020B0604030504040204" pitchFamily="50" charset="-128"/>
              </a:rPr>
              <a:t>記者発表会立案進行管理</a:t>
            </a:r>
          </a:p>
        </p:txBody>
      </p:sp>
      <p:sp>
        <p:nvSpPr>
          <p:cNvPr id="73" name="テキスト ボックス 72">
            <a:extLst>
              <a:ext uri="{FF2B5EF4-FFF2-40B4-BE49-F238E27FC236}">
                <a16:creationId xmlns:a16="http://schemas.microsoft.com/office/drawing/2014/main" id="{EA4EE5C5-976E-3A4E-A3DA-482B54523708}"/>
              </a:ext>
            </a:extLst>
          </p:cNvPr>
          <p:cNvSpPr txBox="1"/>
          <p:nvPr/>
        </p:nvSpPr>
        <p:spPr>
          <a:xfrm>
            <a:off x="6903371" y="4374545"/>
            <a:ext cx="5723866" cy="523220"/>
          </a:xfrm>
          <a:prstGeom prst="rect">
            <a:avLst/>
          </a:prstGeom>
          <a:noFill/>
        </p:spPr>
        <p:txBody>
          <a:bodyPr wrap="square" anchor="ctr">
            <a:spAutoFit/>
          </a:bodyPr>
          <a:lstStyle/>
          <a:p>
            <a:pPr algn="ctr">
              <a:defRPr/>
            </a:pPr>
            <a:r>
              <a:rPr kumimoji="1" lang="ja-JP" altLang="en-US" sz="1400" dirty="0">
                <a:solidFill>
                  <a:prstClr val="black"/>
                </a:solidFill>
                <a:latin typeface="メイリオ" panose="020B0604030504040204" pitchFamily="50" charset="-128"/>
                <a:ea typeface="メイリオ" panose="020B0604030504040204" pitchFamily="50" charset="-128"/>
              </a:rPr>
              <a:t>農産物のブランド再構築に関するコンサルティング</a:t>
            </a:r>
          </a:p>
          <a:p>
            <a:pPr algn="ctr">
              <a:defRPr/>
            </a:pPr>
            <a:r>
              <a:rPr kumimoji="1" lang="ja-JP" altLang="en-US" sz="1400" dirty="0">
                <a:solidFill>
                  <a:prstClr val="black"/>
                </a:solidFill>
                <a:latin typeface="メイリオ" panose="020B0604030504040204" pitchFamily="50" charset="-128"/>
                <a:ea typeface="メイリオ" panose="020B0604030504040204" pitchFamily="50" charset="-128"/>
              </a:rPr>
              <a:t>および</a:t>
            </a:r>
            <a:r>
              <a:rPr kumimoji="1" lang="en-US" altLang="ja-JP" sz="1400" dirty="0">
                <a:solidFill>
                  <a:prstClr val="black"/>
                </a:solidFill>
                <a:latin typeface="メイリオ" panose="020B0604030504040204" pitchFamily="50" charset="-128"/>
                <a:ea typeface="メイリオ" panose="020B0604030504040204" pitchFamily="50" charset="-128"/>
              </a:rPr>
              <a:t>PR</a:t>
            </a:r>
            <a:r>
              <a:rPr kumimoji="1" lang="ja-JP" altLang="en-US" sz="1400" dirty="0">
                <a:solidFill>
                  <a:prstClr val="black"/>
                </a:solidFill>
                <a:latin typeface="メイリオ" panose="020B0604030504040204" pitchFamily="50" charset="-128"/>
                <a:ea typeface="メイリオ" panose="020B0604030504040204" pitchFamily="50" charset="-128"/>
              </a:rPr>
              <a:t>業務全般</a:t>
            </a:r>
          </a:p>
        </p:txBody>
      </p:sp>
      <p:grpSp>
        <p:nvGrpSpPr>
          <p:cNvPr id="76" name="グループ化 75">
            <a:extLst>
              <a:ext uri="{FF2B5EF4-FFF2-40B4-BE49-F238E27FC236}">
                <a16:creationId xmlns:a16="http://schemas.microsoft.com/office/drawing/2014/main" id="{715D9096-C6DA-B6B1-7CBD-ABA1A942AC09}"/>
              </a:ext>
            </a:extLst>
          </p:cNvPr>
          <p:cNvGrpSpPr/>
          <p:nvPr/>
        </p:nvGrpSpPr>
        <p:grpSpPr>
          <a:xfrm>
            <a:off x="960965" y="5660570"/>
            <a:ext cx="1227778" cy="983859"/>
            <a:chOff x="803212" y="5660570"/>
            <a:chExt cx="1227778" cy="983859"/>
          </a:xfrm>
        </p:grpSpPr>
        <p:sp>
          <p:nvSpPr>
            <p:cNvPr id="74" name="楕円 73">
              <a:extLst>
                <a:ext uri="{FF2B5EF4-FFF2-40B4-BE49-F238E27FC236}">
                  <a16:creationId xmlns:a16="http://schemas.microsoft.com/office/drawing/2014/main" id="{2BCF095A-B1EC-7654-13F7-E1AA63BCA6D8}"/>
                </a:ext>
              </a:extLst>
            </p:cNvPr>
            <p:cNvSpPr/>
            <p:nvPr/>
          </p:nvSpPr>
          <p:spPr>
            <a:xfrm>
              <a:off x="925172" y="5660570"/>
              <a:ext cx="983859" cy="983859"/>
            </a:xfrm>
            <a:prstGeom prst="ellipse">
              <a:avLst/>
            </a:prstGeom>
            <a:solidFill>
              <a:srgbClr val="04462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テキスト ボックス 74">
              <a:extLst>
                <a:ext uri="{FF2B5EF4-FFF2-40B4-BE49-F238E27FC236}">
                  <a16:creationId xmlns:a16="http://schemas.microsoft.com/office/drawing/2014/main" id="{BF4E022D-247E-5DE1-815E-B4624DA68D24}"/>
                </a:ext>
              </a:extLst>
            </p:cNvPr>
            <p:cNvSpPr txBox="1"/>
            <p:nvPr/>
          </p:nvSpPr>
          <p:spPr>
            <a:xfrm>
              <a:off x="803212" y="5991225"/>
              <a:ext cx="1227778" cy="369332"/>
            </a:xfrm>
            <a:prstGeom prst="rect">
              <a:avLst/>
            </a:prstGeom>
            <a:noFill/>
          </p:spPr>
          <p:txBody>
            <a:bodyPr wrap="square" anchor="ctr">
              <a:spAutoFit/>
            </a:bodyPr>
            <a:lstStyle/>
            <a:p>
              <a:pPr algn="ctr"/>
              <a:r>
                <a:rPr kumimoji="1" lang="ja-JP" altLang="en-US" b="1">
                  <a:solidFill>
                    <a:schemeClr val="bg1"/>
                  </a:solidFill>
                  <a:latin typeface="メイリオ" panose="020B0604030504040204" pitchFamily="50" charset="-128"/>
                  <a:ea typeface="メイリオ" panose="020B0604030504040204" pitchFamily="50" charset="-128"/>
                </a:rPr>
                <a:t>その他</a:t>
              </a:r>
              <a:endParaRPr lang="ja-JP" altLang="en-US" b="1">
                <a:solidFill>
                  <a:schemeClr val="bg1"/>
                </a:solidFill>
                <a:latin typeface="メイリオ" panose="020B0604030504040204" pitchFamily="50" charset="-128"/>
                <a:ea typeface="メイリオ" panose="020B0604030504040204" pitchFamily="50" charset="-128"/>
              </a:endParaRPr>
            </a:p>
          </p:txBody>
        </p:sp>
      </p:grpSp>
      <p:sp>
        <p:nvSpPr>
          <p:cNvPr id="77" name="テキスト ボックス 76">
            <a:extLst>
              <a:ext uri="{FF2B5EF4-FFF2-40B4-BE49-F238E27FC236}">
                <a16:creationId xmlns:a16="http://schemas.microsoft.com/office/drawing/2014/main" id="{FCD2A2C8-F90C-3837-7311-248DD5403739}"/>
              </a:ext>
            </a:extLst>
          </p:cNvPr>
          <p:cNvSpPr txBox="1"/>
          <p:nvPr/>
        </p:nvSpPr>
        <p:spPr>
          <a:xfrm>
            <a:off x="2450597" y="5485676"/>
            <a:ext cx="9319654" cy="1384995"/>
          </a:xfrm>
          <a:prstGeom prst="rect">
            <a:avLst/>
          </a:prstGeom>
          <a:noFill/>
        </p:spPr>
        <p:txBody>
          <a:bodyPr wrap="square" anchor="ctr">
            <a:spAutoFit/>
          </a:bodyPr>
          <a:lstStyle/>
          <a:p>
            <a:pPr algn="l">
              <a:defRPr/>
            </a:pPr>
            <a:r>
              <a:rPr kumimoji="1" lang="ja-JP" altLang="en-US" sz="1400" dirty="0">
                <a:solidFill>
                  <a:prstClr val="black"/>
                </a:solidFill>
                <a:latin typeface="メイリオ" panose="020B0604030504040204" pitchFamily="50" charset="-128"/>
                <a:ea typeface="メイリオ" panose="020B0604030504040204" pitchFamily="50" charset="-128"/>
              </a:rPr>
              <a:t>・大手食品メーカー　ロングセラー商品のリニューアル時における新ブランド価値構築作業</a:t>
            </a:r>
          </a:p>
          <a:p>
            <a:pPr algn="l">
              <a:defRPr/>
            </a:pPr>
            <a:r>
              <a:rPr kumimoji="1" lang="ja-JP" altLang="en-US" sz="1400" dirty="0">
                <a:solidFill>
                  <a:prstClr val="black"/>
                </a:solidFill>
                <a:latin typeface="メイリオ" panose="020B0604030504040204" pitchFamily="50" charset="-128"/>
                <a:ea typeface="メイリオ" panose="020B0604030504040204" pitchFamily="50" charset="-128"/>
              </a:rPr>
              <a:t>・大手食品メーカー　商品開発コンサルティング、およびレシピ開発</a:t>
            </a:r>
          </a:p>
          <a:p>
            <a:pPr algn="l">
              <a:defRPr/>
            </a:pPr>
            <a:r>
              <a:rPr kumimoji="1" lang="ja-JP" altLang="en-US" sz="1400" dirty="0">
                <a:solidFill>
                  <a:prstClr val="black"/>
                </a:solidFill>
                <a:latin typeface="メイリオ" panose="020B0604030504040204" pitchFamily="50" charset="-128"/>
                <a:ea typeface="メイリオ" panose="020B0604030504040204" pitchFamily="50" charset="-128"/>
              </a:rPr>
              <a:t>・美容機器メーカー　企業フィロソフィー規定・ブランドコンセプト開発作業等</a:t>
            </a:r>
          </a:p>
          <a:p>
            <a:pPr algn="l">
              <a:defRPr/>
            </a:pPr>
            <a:r>
              <a:rPr kumimoji="1" lang="ja-JP" altLang="en-US" sz="1400" dirty="0">
                <a:solidFill>
                  <a:prstClr val="black"/>
                </a:solidFill>
                <a:latin typeface="メイリオ" panose="020B0604030504040204" pitchFamily="50" charset="-128"/>
                <a:ea typeface="メイリオ" panose="020B0604030504040204" pitchFamily="50" charset="-128"/>
              </a:rPr>
              <a:t>・ブランド苗卸会社　ブランドプロモーション、およびパブリシティによる家庭菜園啓発</a:t>
            </a:r>
          </a:p>
          <a:p>
            <a:pPr algn="l">
              <a:defRPr/>
            </a:pPr>
            <a:r>
              <a:rPr kumimoji="1" lang="ja-JP" altLang="en-US" sz="1400" dirty="0">
                <a:solidFill>
                  <a:prstClr val="black"/>
                </a:solidFill>
                <a:latin typeface="メイリオ" panose="020B0604030504040204" pitchFamily="50" charset="-128"/>
                <a:ea typeface="メイリオ" panose="020B0604030504040204" pitchFamily="50" charset="-128"/>
              </a:rPr>
              <a:t>・大手食品メーカー　大手商業施設とのタイアップ施策、展示イベント制作</a:t>
            </a:r>
          </a:p>
          <a:p>
            <a:pPr algn="l">
              <a:defRPr/>
            </a:pPr>
            <a:r>
              <a:rPr kumimoji="1" lang="ja-JP" altLang="en-US" sz="1400" dirty="0">
                <a:solidFill>
                  <a:prstClr val="black"/>
                </a:solidFill>
                <a:latin typeface="メイリオ" panose="020B0604030504040204" pitchFamily="50" charset="-128"/>
                <a:ea typeface="メイリオ" panose="020B0604030504040204" pitchFamily="50" charset="-128"/>
              </a:rPr>
              <a:t>・地方自治体　　　　女性支援イベントの企画立案、進行管理</a:t>
            </a:r>
          </a:p>
        </p:txBody>
      </p:sp>
      <p:pic>
        <p:nvPicPr>
          <p:cNvPr id="83" name="図 82" descr="テキスト&#10;&#10;自動的に生成された説明">
            <a:extLst>
              <a:ext uri="{FF2B5EF4-FFF2-40B4-BE49-F238E27FC236}">
                <a16:creationId xmlns:a16="http://schemas.microsoft.com/office/drawing/2014/main" id="{095DD65E-06BC-6DD9-BA43-3FA144EFA9EB}"/>
              </a:ext>
            </a:extLst>
          </p:cNvPr>
          <p:cNvPicPr>
            <a:picLocks noChangeAspect="1"/>
          </p:cNvPicPr>
          <p:nvPr/>
        </p:nvPicPr>
        <p:blipFill>
          <a:blip r:embed="rId2" cstate="print">
            <a:extLst>
              <a:ext uri="{28A0092B-C50C-407E-A947-70E740481C1C}">
                <a14:useLocalDpi xmlns:a14="http://schemas.microsoft.com/office/drawing/2010/main" val="0"/>
              </a:ext>
            </a:extLst>
          </a:blip>
          <a:srcRect r="78330"/>
          <a:stretch/>
        </p:blipFill>
        <p:spPr>
          <a:xfrm>
            <a:off x="7989166" y="1686916"/>
            <a:ext cx="472811" cy="442838"/>
          </a:xfrm>
          <a:prstGeom prst="rect">
            <a:avLst/>
          </a:prstGeom>
        </p:spPr>
      </p:pic>
      <p:pic>
        <p:nvPicPr>
          <p:cNvPr id="84" name="図 83" descr="テキスト&#10;&#10;自動的に生成された説明">
            <a:extLst>
              <a:ext uri="{FF2B5EF4-FFF2-40B4-BE49-F238E27FC236}">
                <a16:creationId xmlns:a16="http://schemas.microsoft.com/office/drawing/2014/main" id="{6A17F208-0965-1E45-4857-5B3C2BEA834F}"/>
              </a:ext>
            </a:extLst>
          </p:cNvPr>
          <p:cNvPicPr>
            <a:picLocks noChangeAspect="1"/>
          </p:cNvPicPr>
          <p:nvPr/>
        </p:nvPicPr>
        <p:blipFill>
          <a:blip r:embed="rId2" cstate="print">
            <a:extLst>
              <a:ext uri="{28A0092B-C50C-407E-A947-70E740481C1C}">
                <a14:useLocalDpi xmlns:a14="http://schemas.microsoft.com/office/drawing/2010/main" val="0"/>
              </a:ext>
            </a:extLst>
          </a:blip>
          <a:srcRect l="28393" r="49937"/>
          <a:stretch/>
        </p:blipFill>
        <p:spPr>
          <a:xfrm>
            <a:off x="12046550" y="1686916"/>
            <a:ext cx="472811" cy="442838"/>
          </a:xfrm>
          <a:prstGeom prst="rect">
            <a:avLst/>
          </a:prstGeom>
        </p:spPr>
      </p:pic>
      <p:pic>
        <p:nvPicPr>
          <p:cNvPr id="85" name="図 84" descr="テキスト&#10;&#10;自動的に生成された説明">
            <a:extLst>
              <a:ext uri="{FF2B5EF4-FFF2-40B4-BE49-F238E27FC236}">
                <a16:creationId xmlns:a16="http://schemas.microsoft.com/office/drawing/2014/main" id="{8B5AF5EF-FDC9-C081-D35F-B99486C882A6}"/>
              </a:ext>
            </a:extLst>
          </p:cNvPr>
          <p:cNvPicPr>
            <a:picLocks noChangeAspect="1"/>
          </p:cNvPicPr>
          <p:nvPr/>
        </p:nvPicPr>
        <p:blipFill>
          <a:blip r:embed="rId2" cstate="print">
            <a:extLst>
              <a:ext uri="{28A0092B-C50C-407E-A947-70E740481C1C}">
                <a14:useLocalDpi xmlns:a14="http://schemas.microsoft.com/office/drawing/2010/main" val="0"/>
              </a:ext>
            </a:extLst>
          </a:blip>
          <a:srcRect l="54817" t="-817" r="24238" b="817"/>
          <a:stretch/>
        </p:blipFill>
        <p:spPr>
          <a:xfrm>
            <a:off x="5976292" y="3433176"/>
            <a:ext cx="456994" cy="442838"/>
          </a:xfrm>
          <a:prstGeom prst="rect">
            <a:avLst/>
          </a:prstGeom>
        </p:spPr>
      </p:pic>
      <p:pic>
        <p:nvPicPr>
          <p:cNvPr id="86" name="図 85" descr="テキスト&#10;&#10;自動的に生成された説明">
            <a:extLst>
              <a:ext uri="{FF2B5EF4-FFF2-40B4-BE49-F238E27FC236}">
                <a16:creationId xmlns:a16="http://schemas.microsoft.com/office/drawing/2014/main" id="{7678292A-5F89-7657-DC26-C3A5260E156A}"/>
              </a:ext>
            </a:extLst>
          </p:cNvPr>
          <p:cNvPicPr>
            <a:picLocks noChangeAspect="1"/>
          </p:cNvPicPr>
          <p:nvPr/>
        </p:nvPicPr>
        <p:blipFill>
          <a:blip r:embed="rId2" cstate="print">
            <a:extLst>
              <a:ext uri="{28A0092B-C50C-407E-A947-70E740481C1C}">
                <a14:useLocalDpi xmlns:a14="http://schemas.microsoft.com/office/drawing/2010/main" val="0"/>
              </a:ext>
            </a:extLst>
          </a:blip>
          <a:srcRect l="78330"/>
          <a:stretch/>
        </p:blipFill>
        <p:spPr>
          <a:xfrm>
            <a:off x="12046550" y="3433176"/>
            <a:ext cx="472811" cy="442838"/>
          </a:xfrm>
          <a:prstGeom prst="rect">
            <a:avLst/>
          </a:prstGeom>
        </p:spPr>
      </p:pic>
      <p:sp>
        <p:nvSpPr>
          <p:cNvPr id="5" name="Slide Number Placeholder 5">
            <a:extLst>
              <a:ext uri="{FF2B5EF4-FFF2-40B4-BE49-F238E27FC236}">
                <a16:creationId xmlns:a16="http://schemas.microsoft.com/office/drawing/2014/main" id="{666357F1-B3DD-A94E-8C09-B07E3C9880A6}"/>
              </a:ext>
            </a:extLst>
          </p:cNvPr>
          <p:cNvSpPr>
            <a:spLocks noGrp="1"/>
          </p:cNvSpPr>
          <p:nvPr>
            <p:ph type="sldNum" sz="quarter" idx="12"/>
          </p:nvPr>
        </p:nvSpPr>
        <p:spPr>
          <a:xfrm>
            <a:off x="11670657" y="7100536"/>
            <a:ext cx="1568529" cy="268434"/>
          </a:xfrm>
        </p:spPr>
        <p:txBody>
          <a:bodyPr/>
          <a:lstStyle/>
          <a:p>
            <a:fld id="{B6F15528-21DE-4FAA-801E-634DDDAF4B2B}" type="slidenum">
              <a:rPr kumimoji="1" lang="en-US" sz="1800" i="1" smtClean="0">
                <a:solidFill>
                  <a:schemeClr val="bg1"/>
                </a:solidFill>
                <a:latin typeface="メイリオ" panose="020B0604030504040204" pitchFamily="50" charset="-128"/>
                <a:ea typeface="メイリオ" panose="020B0604030504040204" pitchFamily="50" charset="-128"/>
              </a:rPr>
              <a:pPr/>
              <a:t>2</a:t>
            </a:fld>
            <a:endParaRPr kumimoji="1" lang="en-US" sz="1800" i="1">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8119115"/>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756274" y="756274"/>
            <a:ext cx="8066924" cy="403346"/>
          </a:xfrm>
          <a:prstGeom prst="rect">
            <a:avLst/>
          </a:prstGeom>
          <a:noFill/>
          <a:ln/>
        </p:spPr>
        <p:txBody>
          <a:bodyPr wrap="square" lIns="0" tIns="0" rIns="0" bIns="0" rtlCol="0" anchor="t"/>
          <a:lstStyle/>
          <a:p>
            <a:pPr indent="0" marL="0">
              <a:lnSpc>
                <a:spcPct val="115000"/>
              </a:lnSpc>
              <a:buNone/>
            </a:pPr>
            <a:r>
              <a:rPr lang="en-US" sz="1750" b="1" dirty="0">
                <a:solidFill>
                  <a:srgbClr val="262626"/>
                </a:solidFill>
                <a:latin typeface="メイリオ" pitchFamily="34" charset="0"/>
                <a:ea typeface="メイリオ" pitchFamily="34" charset="-122"/>
                <a:cs typeface="メイリオ" pitchFamily="34" charset="-120"/>
              </a:rPr>
              <a:t>日本司法支援センター 御中</a:t>
            </a:r>
            <a:endParaRPr lang="en-US" sz="1750" dirty="0"/>
          </a:p>
        </p:txBody>
      </p:sp>
      <p:sp>
        <p:nvSpPr>
          <p:cNvPr id="3" name="Text 1"/>
          <p:cNvSpPr txBox="1"/>
          <p:nvPr/>
        </p:nvSpPr>
        <p:spPr>
          <a:xfrm>
            <a:off x="704088" y="1417320"/>
            <a:ext cx="7315200" cy="731520"/>
          </a:xfrm>
          <a:prstGeom prst="rect">
            <a:avLst/>
          </a:prstGeom>
          <a:noFill/>
          <a:ln/>
        </p:spPr>
        <p:txBody>
          <a:bodyPr wrap="square" lIns="0" tIns="0" rIns="0" bIns="0" rtlCol="0" anchor="t"/>
          <a:lstStyle/>
          <a:p>
            <a:pPr indent="0" marL="0">
              <a:buNone/>
            </a:pPr>
            <a:r>
              <a:rPr lang="en-US" sz="4000" b="1" i="1" dirty="0">
                <a:solidFill>
                  <a:srgbClr val="04462F"/>
                </a:solidFill>
                <a:latin typeface="メイリオ" pitchFamily="34" charset="0"/>
                <a:ea typeface="メイリオ" pitchFamily="34" charset="-122"/>
                <a:cs typeface="メイリオ" pitchFamily="34" charset="-120"/>
              </a:rPr>
              <a:t>Proposal</a:t>
            </a:r>
            <a:endParaRPr lang="en-US" sz="4000" dirty="0"/>
          </a:p>
        </p:txBody>
      </p:sp>
      <p:sp>
        <p:nvSpPr>
          <p:cNvPr id="4" name="Shape 2"/>
          <p:cNvSpPr/>
          <p:nvPr/>
        </p:nvSpPr>
        <p:spPr>
          <a:xfrm>
            <a:off x="0" y="2571332"/>
            <a:ext cx="9680309" cy="1764640"/>
          </a:xfrm>
          <a:prstGeom prst="rect">
            <a:avLst/>
          </a:prstGeom>
          <a:solidFill>
            <a:srgbClr val="04462F"/>
          </a:solidFill>
          <a:ln w="12700">
            <a:solidFill>
              <a:srgbClr val="04462F"/>
            </a:solidFill>
            <a:prstDash val="solid"/>
          </a:ln>
        </p:spPr>
      </p:sp>
      <p:sp>
        <p:nvSpPr>
          <p:cNvPr id="5" name="Text 3"/>
          <p:cNvSpPr txBox="1"/>
          <p:nvPr/>
        </p:nvSpPr>
        <p:spPr>
          <a:xfrm>
            <a:off x="756274" y="2571332"/>
            <a:ext cx="8671944" cy="1764640"/>
          </a:xfrm>
          <a:prstGeom prst="rect">
            <a:avLst/>
          </a:prstGeom>
          <a:noFill/>
          <a:ln/>
        </p:spPr>
        <p:txBody>
          <a:bodyPr wrap="square" lIns="0" tIns="0" rIns="0" bIns="0" rtlCol="0" anchor="ctr"/>
          <a:lstStyle/>
          <a:p>
            <a:pPr indent="0" marL="0">
              <a:lnSpc>
                <a:spcPct val="105000"/>
              </a:lnSpc>
              <a:buNone/>
            </a:pPr>
            <a:r>
              <a:rPr lang="en-US" sz="3300" b="1" dirty="0">
                <a:solidFill>
                  <a:srgbClr val="FFFFFF"/>
                </a:solidFill>
                <a:latin typeface="メイリオ" pitchFamily="34" charset="0"/>
                <a:ea typeface="メイリオ" pitchFamily="34" charset="-122"/>
                <a:cs typeface="メイリオ" pitchFamily="34" charset="-120"/>
              </a:rPr>
              <a:t>認知度向上に向けた</a:t>
            </a:r>
            <a:endParaRPr lang="en-US" sz="3300" dirty="0"/>
          </a:p>
          <a:p>
            <a:pPr indent="0" marL="0">
              <a:lnSpc>
                <a:spcPct val="105000"/>
              </a:lnSpc>
              <a:buNone/>
            </a:pPr>
            <a:r>
              <a:rPr lang="en-US" sz="3300" b="1" dirty="0">
                <a:solidFill>
                  <a:srgbClr val="FFFFFF"/>
                </a:solidFill>
                <a:latin typeface="メイリオ" pitchFamily="34" charset="0"/>
                <a:ea typeface="メイリオ" pitchFamily="34" charset="-122"/>
                <a:cs typeface="メイリオ" pitchFamily="34" charset="-120"/>
              </a:rPr>
              <a:t>ご相談について</a:t>
            </a:r>
            <a:endParaRPr lang="en-US" sz="3300" dirty="0"/>
          </a:p>
        </p:txBody>
      </p:sp>
      <p:sp>
        <p:nvSpPr>
          <p:cNvPr id="6" name="Shape 4"/>
          <p:cNvSpPr/>
          <p:nvPr/>
        </p:nvSpPr>
        <p:spPr>
          <a:xfrm>
            <a:off x="857111" y="4870406"/>
            <a:ext cx="342844" cy="0"/>
          </a:xfrm>
          <a:prstGeom prst="line">
            <a:avLst/>
          </a:prstGeom>
          <a:noFill/>
          <a:ln w="9525">
            <a:solidFill>
              <a:srgbClr val="04462F"/>
            </a:solidFill>
            <a:prstDash val="solid"/>
          </a:ln>
        </p:spPr>
      </p:sp>
      <p:sp>
        <p:nvSpPr>
          <p:cNvPr id="7" name="Text 5"/>
          <p:cNvSpPr txBox="1"/>
          <p:nvPr/>
        </p:nvSpPr>
        <p:spPr>
          <a:xfrm>
            <a:off x="1361294" y="4698984"/>
            <a:ext cx="10083656" cy="403346"/>
          </a:xfrm>
          <a:prstGeom prst="rect">
            <a:avLst/>
          </a:prstGeom>
          <a:noFill/>
          <a:ln/>
        </p:spPr>
        <p:txBody>
          <a:bodyPr wrap="square" lIns="0" tIns="0" rIns="0" bIns="0" rtlCol="0" anchor="t"/>
          <a:lstStyle/>
          <a:p>
            <a:pPr indent="0" marL="0">
              <a:lnSpc>
                <a:spcPct val="115000"/>
              </a:lnSpc>
              <a:buNone/>
            </a:pPr>
            <a:r>
              <a:rPr lang="en-US" sz="1650" dirty="0">
                <a:solidFill>
                  <a:srgbClr val="04462F"/>
                </a:solidFill>
                <a:latin typeface="メイリオ" pitchFamily="34" charset="0"/>
                <a:ea typeface="メイリオ" pitchFamily="34" charset="-122"/>
                <a:cs typeface="メイリオ" pitchFamily="34" charset="-120"/>
              </a:rPr>
              <a:t>初回お打合せ資料　｜　私たちの考え方と、本日お伺いしたいこと</a:t>
            </a:r>
            <a:endParaRPr lang="en-US" sz="1650" dirty="0"/>
          </a:p>
        </p:txBody>
      </p:sp>
      <p:sp>
        <p:nvSpPr>
          <p:cNvPr id="8" name="Text 6"/>
          <p:cNvSpPr txBox="1"/>
          <p:nvPr/>
        </p:nvSpPr>
        <p:spPr>
          <a:xfrm>
            <a:off x="756274" y="6503958"/>
            <a:ext cx="4033462" cy="352928"/>
          </a:xfrm>
          <a:prstGeom prst="rect">
            <a:avLst/>
          </a:prstGeom>
          <a:noFill/>
          <a:ln/>
        </p:spPr>
        <p:txBody>
          <a:bodyPr wrap="square" lIns="0" tIns="0" rIns="0" bIns="0" rtlCol="0" anchor="t"/>
          <a:lstStyle/>
          <a:p>
            <a:pPr indent="0" marL="0">
              <a:lnSpc>
                <a:spcPct val="115000"/>
              </a:lnSpc>
              <a:buNone/>
            </a:pPr>
            <a:r>
              <a:rPr lang="en-US" sz="1300" dirty="0">
                <a:solidFill>
                  <a:srgbClr val="666666"/>
                </a:solidFill>
                <a:latin typeface="メイリオ" pitchFamily="34" charset="0"/>
                <a:ea typeface="メイリオ" pitchFamily="34" charset="-122"/>
                <a:cs typeface="メイリオ" pitchFamily="34" charset="-120"/>
              </a:rPr>
              <a:t>2026年9月30日</a:t>
            </a:r>
            <a:endParaRPr lang="en-US" sz="1300" dirty="0"/>
          </a:p>
        </p:txBody>
      </p:sp>
      <p:sp>
        <p:nvSpPr>
          <p:cNvPr id="9" name="Text 7"/>
          <p:cNvSpPr txBox="1"/>
          <p:nvPr/>
        </p:nvSpPr>
        <p:spPr>
          <a:xfrm>
            <a:off x="8654802" y="6403121"/>
            <a:ext cx="4033462" cy="453765"/>
          </a:xfrm>
          <a:prstGeom prst="rect">
            <a:avLst/>
          </a:prstGeom>
          <a:noFill/>
          <a:ln/>
        </p:spPr>
        <p:txBody>
          <a:bodyPr wrap="square" lIns="0" tIns="0" rIns="0" bIns="0" rtlCol="0" anchor="ctr"/>
          <a:lstStyle/>
          <a:p>
            <a:pPr algn="r" indent="0" marL="0">
              <a:buNone/>
            </a:pPr>
            <a:r>
              <a:rPr lang="en-US" sz="2000" b="1" dirty="0">
                <a:solidFill>
                  <a:srgbClr val="04462F"/>
                </a:solidFill>
                <a:latin typeface="メイリオ" pitchFamily="34" charset="0"/>
                <a:ea typeface="メイリオ" pitchFamily="34" charset="-122"/>
                <a:cs typeface="メイリオ" pitchFamily="34" charset="-120"/>
              </a:rPr>
              <a:t>株式会社alma</a:t>
            </a:r>
            <a:endParaRPr lang="en-US" sz="20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3</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Agenda</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本日は、お話を伺うことを中心に進めさせてください。</a:t>
            </a:r>
            <a:endParaRPr lang="en-US" sz="1800" dirty="0"/>
          </a:p>
        </p:txBody>
      </p:sp>
      <p:sp>
        <p:nvSpPr>
          <p:cNvPr id="6" name="Text 4"/>
          <p:cNvSpPr txBox="1"/>
          <p:nvPr/>
        </p:nvSpPr>
        <p:spPr>
          <a:xfrm>
            <a:off x="756274" y="1633552"/>
            <a:ext cx="11931990" cy="504183"/>
          </a:xfrm>
          <a:prstGeom prst="rect">
            <a:avLst/>
          </a:prstGeom>
          <a:noFill/>
          <a:ln/>
        </p:spPr>
        <p:txBody>
          <a:bodyPr wrap="square" lIns="0" tIns="0" rIns="0" bIns="0" rtlCol="0" anchor="t"/>
          <a:lstStyle/>
          <a:p>
            <a:pPr indent="0" marL="0">
              <a:buNone/>
            </a:pPr>
            <a:r>
              <a:rPr lang="en-US" sz="1450" dirty="0">
                <a:solidFill>
                  <a:srgbClr val="666666"/>
                </a:solidFill>
                <a:latin typeface="メイリオ" pitchFamily="34" charset="0"/>
                <a:ea typeface="メイリオ" pitchFamily="34" charset="-122"/>
                <a:cs typeface="メイリオ" pitchFamily="34" charset="-120"/>
              </a:rPr>
              <a:t>調査結果を見る前に、答えを決めてしまうことはしません。本日伺った内容をもとに、10月中に正式なご提案をお持ちします。</a:t>
            </a:r>
            <a:endParaRPr lang="en-US" sz="1450" dirty="0"/>
          </a:p>
        </p:txBody>
      </p:sp>
      <p:sp>
        <p:nvSpPr>
          <p:cNvPr id="7" name="Shape 5"/>
          <p:cNvSpPr/>
          <p:nvPr/>
        </p:nvSpPr>
        <p:spPr>
          <a:xfrm>
            <a:off x="756274" y="2520914"/>
            <a:ext cx="7361069" cy="3579698"/>
          </a:xfrm>
          <a:prstGeom prst="rect">
            <a:avLst/>
          </a:prstGeom>
          <a:solidFill>
            <a:srgbClr val="FFFFFF"/>
          </a:solidFill>
          <a:ln w="12700">
            <a:solidFill>
              <a:srgbClr val="FFFFFF"/>
            </a:solidFill>
            <a:prstDash val="solid"/>
          </a:ln>
        </p:spPr>
      </p:sp>
      <p:sp>
        <p:nvSpPr>
          <p:cNvPr id="8" name="Shape 6"/>
          <p:cNvSpPr/>
          <p:nvPr/>
        </p:nvSpPr>
        <p:spPr>
          <a:xfrm>
            <a:off x="1109202" y="2823424"/>
            <a:ext cx="504183" cy="504183"/>
          </a:xfrm>
          <a:prstGeom prst="ellipse">
            <a:avLst/>
          </a:prstGeom>
          <a:solidFill>
            <a:srgbClr val="04462F"/>
          </a:solidFill>
          <a:ln w="12700">
            <a:solidFill>
              <a:srgbClr val="04462F"/>
            </a:solidFill>
            <a:prstDash val="solid"/>
          </a:ln>
        </p:spPr>
      </p:sp>
      <p:sp>
        <p:nvSpPr>
          <p:cNvPr id="9" name="Text 7"/>
          <p:cNvSpPr txBox="1"/>
          <p:nvPr/>
        </p:nvSpPr>
        <p:spPr>
          <a:xfrm>
            <a:off x="1109202" y="2823424"/>
            <a:ext cx="504183" cy="504183"/>
          </a:xfrm>
          <a:prstGeom prst="rect">
            <a:avLst/>
          </a:prstGeom>
          <a:noFill/>
          <a:ln/>
        </p:spPr>
        <p:txBody>
          <a:bodyPr wrap="square" lIns="0" tIns="0" rIns="0" bIns="0" rtlCol="0" anchor="ctr"/>
          <a:lstStyle/>
          <a:p>
            <a:pPr algn="ctr" indent="0" marL="0">
              <a:buNone/>
            </a:pPr>
            <a:r>
              <a:rPr lang="en-US" sz="1650" b="1" dirty="0">
                <a:solidFill>
                  <a:srgbClr val="FFFFFF"/>
                </a:solidFill>
                <a:latin typeface="メイリオ" pitchFamily="34" charset="0"/>
                <a:ea typeface="メイリオ" pitchFamily="34" charset="-122"/>
                <a:cs typeface="メイリオ" pitchFamily="34" charset="-120"/>
              </a:rPr>
              <a:t>1</a:t>
            </a:r>
            <a:endParaRPr lang="en-US" sz="1650" dirty="0"/>
          </a:p>
        </p:txBody>
      </p:sp>
      <p:sp>
        <p:nvSpPr>
          <p:cNvPr id="10" name="Text 8"/>
          <p:cNvSpPr txBox="1"/>
          <p:nvPr/>
        </p:nvSpPr>
        <p:spPr>
          <a:xfrm>
            <a:off x="1865476" y="2873842"/>
            <a:ext cx="4940991" cy="453765"/>
          </a:xfrm>
          <a:prstGeom prst="rect">
            <a:avLst/>
          </a:prstGeom>
          <a:noFill/>
          <a:ln/>
        </p:spPr>
        <p:txBody>
          <a:bodyPr wrap="square" lIns="0" tIns="0" rIns="0" bIns="0" rtlCol="0" anchor="t"/>
          <a:lstStyle/>
          <a:p>
            <a:pPr indent="0" marL="0">
              <a:lnSpc>
                <a:spcPct val="115000"/>
              </a:lnSpc>
              <a:buNone/>
            </a:pPr>
            <a:r>
              <a:rPr lang="en-US" sz="1750" b="1" dirty="0">
                <a:solidFill>
                  <a:srgbClr val="262626"/>
                </a:solidFill>
                <a:latin typeface="メイリオ" pitchFamily="34" charset="0"/>
                <a:ea typeface="メイリオ" pitchFamily="34" charset="-122"/>
                <a:cs typeface="メイリオ" pitchFamily="34" charset="-120"/>
              </a:rPr>
              <a:t>ご相談内容の確認と、私たちの考え方</a:t>
            </a:r>
            <a:endParaRPr lang="en-US" sz="1750" dirty="0"/>
          </a:p>
        </p:txBody>
      </p:sp>
      <p:sp>
        <p:nvSpPr>
          <p:cNvPr id="11" name="Text 9"/>
          <p:cNvSpPr txBox="1"/>
          <p:nvPr/>
        </p:nvSpPr>
        <p:spPr>
          <a:xfrm>
            <a:off x="6806468" y="2904093"/>
            <a:ext cx="907529" cy="403346"/>
          </a:xfrm>
          <a:prstGeom prst="rect">
            <a:avLst/>
          </a:prstGeom>
          <a:noFill/>
          <a:ln/>
        </p:spPr>
        <p:txBody>
          <a:bodyPr wrap="square" lIns="0" tIns="0" rIns="0" bIns="0" rtlCol="0" anchor="t"/>
          <a:lstStyle/>
          <a:p>
            <a:pPr algn="r" indent="0" marL="0">
              <a:lnSpc>
                <a:spcPct val="115000"/>
              </a:lnSpc>
              <a:buNone/>
            </a:pPr>
            <a:r>
              <a:rPr lang="en-US" sz="1300" dirty="0">
                <a:solidFill>
                  <a:srgbClr val="666666"/>
                </a:solidFill>
                <a:latin typeface="メイリオ" pitchFamily="34" charset="0"/>
                <a:ea typeface="メイリオ" pitchFamily="34" charset="-122"/>
                <a:cs typeface="メイリオ" pitchFamily="34" charset="-120"/>
              </a:rPr>
              <a:t>7分</a:t>
            </a:r>
            <a:endParaRPr lang="en-US" sz="1300" dirty="0"/>
          </a:p>
        </p:txBody>
      </p:sp>
      <p:sp>
        <p:nvSpPr>
          <p:cNvPr id="12" name="Shape 10"/>
          <p:cNvSpPr/>
          <p:nvPr/>
        </p:nvSpPr>
        <p:spPr>
          <a:xfrm>
            <a:off x="1058784" y="3660367"/>
            <a:ext cx="6756049" cy="0"/>
          </a:xfrm>
          <a:prstGeom prst="line">
            <a:avLst/>
          </a:prstGeom>
          <a:noFill/>
          <a:ln w="9525">
            <a:solidFill>
              <a:srgbClr val="C9C9C9"/>
            </a:solidFill>
            <a:prstDash val="solid"/>
          </a:ln>
        </p:spPr>
      </p:sp>
      <p:sp>
        <p:nvSpPr>
          <p:cNvPr id="13" name="Shape 11"/>
          <p:cNvSpPr/>
          <p:nvPr/>
        </p:nvSpPr>
        <p:spPr>
          <a:xfrm>
            <a:off x="1109202" y="3912458"/>
            <a:ext cx="504183" cy="504183"/>
          </a:xfrm>
          <a:prstGeom prst="ellipse">
            <a:avLst/>
          </a:prstGeom>
          <a:solidFill>
            <a:srgbClr val="E5A810"/>
          </a:solidFill>
          <a:ln w="12700">
            <a:solidFill>
              <a:srgbClr val="E5A810"/>
            </a:solidFill>
            <a:prstDash val="solid"/>
          </a:ln>
        </p:spPr>
      </p:sp>
      <p:sp>
        <p:nvSpPr>
          <p:cNvPr id="14" name="Text 12"/>
          <p:cNvSpPr txBox="1"/>
          <p:nvPr/>
        </p:nvSpPr>
        <p:spPr>
          <a:xfrm>
            <a:off x="1109202" y="3912458"/>
            <a:ext cx="504183" cy="504183"/>
          </a:xfrm>
          <a:prstGeom prst="rect">
            <a:avLst/>
          </a:prstGeom>
          <a:noFill/>
          <a:ln/>
        </p:spPr>
        <p:txBody>
          <a:bodyPr wrap="square" lIns="0" tIns="0" rIns="0" bIns="0" rtlCol="0" anchor="ctr"/>
          <a:lstStyle/>
          <a:p>
            <a:pPr algn="ctr" indent="0" marL="0">
              <a:buNone/>
            </a:pPr>
            <a:r>
              <a:rPr lang="en-US" sz="1650" b="1" dirty="0">
                <a:solidFill>
                  <a:srgbClr val="262626"/>
                </a:solidFill>
                <a:latin typeface="メイリオ" pitchFamily="34" charset="0"/>
                <a:ea typeface="メイリオ" pitchFamily="34" charset="-122"/>
                <a:cs typeface="メイリオ" pitchFamily="34" charset="-120"/>
              </a:rPr>
              <a:t>2</a:t>
            </a:r>
            <a:endParaRPr lang="en-US" sz="1650" dirty="0"/>
          </a:p>
        </p:txBody>
      </p:sp>
      <p:sp>
        <p:nvSpPr>
          <p:cNvPr id="15" name="Text 13"/>
          <p:cNvSpPr txBox="1"/>
          <p:nvPr/>
        </p:nvSpPr>
        <p:spPr>
          <a:xfrm>
            <a:off x="1865476" y="3962877"/>
            <a:ext cx="4940991" cy="453765"/>
          </a:xfrm>
          <a:prstGeom prst="rect">
            <a:avLst/>
          </a:prstGeom>
          <a:noFill/>
          <a:ln/>
        </p:spPr>
        <p:txBody>
          <a:bodyPr wrap="square" lIns="0" tIns="0" rIns="0" bIns="0" rtlCol="0" anchor="t"/>
          <a:lstStyle/>
          <a:p>
            <a:pPr indent="0" marL="0">
              <a:lnSpc>
                <a:spcPct val="115000"/>
              </a:lnSpc>
              <a:buNone/>
            </a:pPr>
            <a:r>
              <a:rPr lang="en-US" sz="1750" b="1" dirty="0">
                <a:solidFill>
                  <a:srgbClr val="04462F"/>
                </a:solidFill>
                <a:latin typeface="メイリオ" pitchFamily="34" charset="0"/>
                <a:ea typeface="メイリオ" pitchFamily="34" charset="-122"/>
                <a:cs typeface="メイリオ" pitchFamily="34" charset="-120"/>
              </a:rPr>
              <a:t>お伺いしたいこと</a:t>
            </a:r>
            <a:endParaRPr lang="en-US" sz="1750" dirty="0"/>
          </a:p>
        </p:txBody>
      </p:sp>
      <p:sp>
        <p:nvSpPr>
          <p:cNvPr id="16" name="Text 14"/>
          <p:cNvSpPr txBox="1"/>
          <p:nvPr/>
        </p:nvSpPr>
        <p:spPr>
          <a:xfrm>
            <a:off x="6806468" y="3993128"/>
            <a:ext cx="907529" cy="403346"/>
          </a:xfrm>
          <a:prstGeom prst="rect">
            <a:avLst/>
          </a:prstGeom>
          <a:noFill/>
          <a:ln/>
        </p:spPr>
        <p:txBody>
          <a:bodyPr wrap="square" lIns="0" tIns="0" rIns="0" bIns="0" rtlCol="0" anchor="t"/>
          <a:lstStyle/>
          <a:p>
            <a:pPr algn="r" indent="0" marL="0">
              <a:lnSpc>
                <a:spcPct val="115000"/>
              </a:lnSpc>
              <a:buNone/>
            </a:pPr>
            <a:r>
              <a:rPr lang="en-US" sz="1300" dirty="0">
                <a:solidFill>
                  <a:srgbClr val="666666"/>
                </a:solidFill>
                <a:latin typeface="メイリオ" pitchFamily="34" charset="0"/>
                <a:ea typeface="メイリオ" pitchFamily="34" charset="-122"/>
                <a:cs typeface="メイリオ" pitchFamily="34" charset="-120"/>
              </a:rPr>
              <a:t>30分</a:t>
            </a:r>
            <a:endParaRPr lang="en-US" sz="1300" dirty="0"/>
          </a:p>
        </p:txBody>
      </p:sp>
      <p:sp>
        <p:nvSpPr>
          <p:cNvPr id="17" name="Shape 15"/>
          <p:cNvSpPr/>
          <p:nvPr/>
        </p:nvSpPr>
        <p:spPr>
          <a:xfrm>
            <a:off x="1058784" y="4749402"/>
            <a:ext cx="6756049" cy="0"/>
          </a:xfrm>
          <a:prstGeom prst="line">
            <a:avLst/>
          </a:prstGeom>
          <a:noFill/>
          <a:ln w="9525">
            <a:solidFill>
              <a:srgbClr val="C9C9C9"/>
            </a:solidFill>
            <a:prstDash val="solid"/>
          </a:ln>
        </p:spPr>
      </p:sp>
      <p:sp>
        <p:nvSpPr>
          <p:cNvPr id="18" name="Shape 16"/>
          <p:cNvSpPr/>
          <p:nvPr/>
        </p:nvSpPr>
        <p:spPr>
          <a:xfrm>
            <a:off x="1109202" y="5001493"/>
            <a:ext cx="504183" cy="504183"/>
          </a:xfrm>
          <a:prstGeom prst="ellipse">
            <a:avLst/>
          </a:prstGeom>
          <a:solidFill>
            <a:srgbClr val="04462F"/>
          </a:solidFill>
          <a:ln w="12700">
            <a:solidFill>
              <a:srgbClr val="04462F"/>
            </a:solidFill>
            <a:prstDash val="solid"/>
          </a:ln>
        </p:spPr>
      </p:sp>
      <p:sp>
        <p:nvSpPr>
          <p:cNvPr id="19" name="Text 17"/>
          <p:cNvSpPr txBox="1"/>
          <p:nvPr/>
        </p:nvSpPr>
        <p:spPr>
          <a:xfrm>
            <a:off x="1109202" y="5001493"/>
            <a:ext cx="504183" cy="504183"/>
          </a:xfrm>
          <a:prstGeom prst="rect">
            <a:avLst/>
          </a:prstGeom>
          <a:noFill/>
          <a:ln/>
        </p:spPr>
        <p:txBody>
          <a:bodyPr wrap="square" lIns="0" tIns="0" rIns="0" bIns="0" rtlCol="0" anchor="ctr"/>
          <a:lstStyle/>
          <a:p>
            <a:pPr algn="ctr" indent="0" marL="0">
              <a:buNone/>
            </a:pPr>
            <a:r>
              <a:rPr lang="en-US" sz="1650" b="1" dirty="0">
                <a:solidFill>
                  <a:srgbClr val="FFFFFF"/>
                </a:solidFill>
                <a:latin typeface="メイリオ" pitchFamily="34" charset="0"/>
                <a:ea typeface="メイリオ" pitchFamily="34" charset="-122"/>
                <a:cs typeface="メイリオ" pitchFamily="34" charset="-120"/>
              </a:rPr>
              <a:t>3</a:t>
            </a:r>
            <a:endParaRPr lang="en-US" sz="1650" dirty="0"/>
          </a:p>
        </p:txBody>
      </p:sp>
      <p:sp>
        <p:nvSpPr>
          <p:cNvPr id="20" name="Text 18"/>
          <p:cNvSpPr txBox="1"/>
          <p:nvPr/>
        </p:nvSpPr>
        <p:spPr>
          <a:xfrm>
            <a:off x="1865476" y="5051911"/>
            <a:ext cx="4940991" cy="453765"/>
          </a:xfrm>
          <a:prstGeom prst="rect">
            <a:avLst/>
          </a:prstGeom>
          <a:noFill/>
          <a:ln/>
        </p:spPr>
        <p:txBody>
          <a:bodyPr wrap="square" lIns="0" tIns="0" rIns="0" bIns="0" rtlCol="0" anchor="t"/>
          <a:lstStyle/>
          <a:p>
            <a:pPr indent="0" marL="0">
              <a:lnSpc>
                <a:spcPct val="115000"/>
              </a:lnSpc>
              <a:buNone/>
            </a:pPr>
            <a:r>
              <a:rPr lang="en-US" sz="1750" b="1" dirty="0">
                <a:solidFill>
                  <a:srgbClr val="262626"/>
                </a:solidFill>
                <a:latin typeface="メイリオ" pitchFamily="34" charset="0"/>
                <a:ea typeface="メイリオ" pitchFamily="34" charset="-122"/>
                <a:cs typeface="メイリオ" pitchFamily="34" charset="-120"/>
              </a:rPr>
              <a:t>今後の進め方</a:t>
            </a:r>
            <a:endParaRPr lang="en-US" sz="1750" dirty="0"/>
          </a:p>
        </p:txBody>
      </p:sp>
      <p:sp>
        <p:nvSpPr>
          <p:cNvPr id="21" name="Text 19"/>
          <p:cNvSpPr txBox="1"/>
          <p:nvPr/>
        </p:nvSpPr>
        <p:spPr>
          <a:xfrm>
            <a:off x="6806468" y="5082162"/>
            <a:ext cx="907529" cy="403346"/>
          </a:xfrm>
          <a:prstGeom prst="rect">
            <a:avLst/>
          </a:prstGeom>
          <a:noFill/>
          <a:ln/>
        </p:spPr>
        <p:txBody>
          <a:bodyPr wrap="square" lIns="0" tIns="0" rIns="0" bIns="0" rtlCol="0" anchor="t"/>
          <a:lstStyle/>
          <a:p>
            <a:pPr algn="r" indent="0" marL="0">
              <a:lnSpc>
                <a:spcPct val="115000"/>
              </a:lnSpc>
              <a:buNone/>
            </a:pPr>
            <a:r>
              <a:rPr lang="en-US" sz="1300" dirty="0">
                <a:solidFill>
                  <a:srgbClr val="666666"/>
                </a:solidFill>
                <a:latin typeface="メイリオ" pitchFamily="34" charset="0"/>
                <a:ea typeface="メイリオ" pitchFamily="34" charset="-122"/>
                <a:cs typeface="メイリオ" pitchFamily="34" charset="-120"/>
              </a:rPr>
              <a:t>5分</a:t>
            </a:r>
            <a:endParaRPr lang="en-US" sz="1300" dirty="0"/>
          </a:p>
        </p:txBody>
      </p:sp>
      <p:sp>
        <p:nvSpPr>
          <p:cNvPr id="22" name="Shape 20"/>
          <p:cNvSpPr/>
          <p:nvPr/>
        </p:nvSpPr>
        <p:spPr>
          <a:xfrm>
            <a:off x="8621526" y="2520914"/>
            <a:ext cx="4066738" cy="3579698"/>
          </a:xfrm>
          <a:prstGeom prst="rect">
            <a:avLst/>
          </a:prstGeom>
          <a:solidFill>
            <a:srgbClr val="FFFFFF"/>
          </a:solidFill>
          <a:ln w="12700">
            <a:solidFill>
              <a:srgbClr val="FFFFFF"/>
            </a:solidFill>
            <a:prstDash val="solid"/>
          </a:ln>
        </p:spPr>
      </p:sp>
      <p:sp>
        <p:nvSpPr>
          <p:cNvPr id="23" name="Shape 21"/>
          <p:cNvSpPr/>
          <p:nvPr/>
        </p:nvSpPr>
        <p:spPr>
          <a:xfrm>
            <a:off x="8924035" y="2773005"/>
            <a:ext cx="3461719" cy="322677"/>
          </a:xfrm>
          <a:prstGeom prst="rect">
            <a:avLst/>
          </a:prstGeom>
          <a:solidFill>
            <a:srgbClr val="E5A810"/>
          </a:solidFill>
          <a:ln w="12700">
            <a:solidFill>
              <a:srgbClr val="E5A810"/>
            </a:solidFill>
            <a:prstDash val="solid"/>
          </a:ln>
        </p:spPr>
      </p:sp>
      <p:sp>
        <p:nvSpPr>
          <p:cNvPr id="24" name="Text 22"/>
          <p:cNvSpPr txBox="1"/>
          <p:nvPr/>
        </p:nvSpPr>
        <p:spPr>
          <a:xfrm>
            <a:off x="8924035" y="2773005"/>
            <a:ext cx="3461719" cy="322677"/>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このあとの流れ</a:t>
            </a:r>
            <a:endParaRPr lang="en-US" sz="1250" dirty="0"/>
          </a:p>
        </p:txBody>
      </p:sp>
      <p:sp>
        <p:nvSpPr>
          <p:cNvPr id="25" name="Shape 23"/>
          <p:cNvSpPr/>
          <p:nvPr/>
        </p:nvSpPr>
        <p:spPr>
          <a:xfrm>
            <a:off x="9004704" y="3458694"/>
            <a:ext cx="171422" cy="171422"/>
          </a:xfrm>
          <a:prstGeom prst="ellipse">
            <a:avLst/>
          </a:prstGeom>
          <a:solidFill>
            <a:srgbClr val="E5A810"/>
          </a:solidFill>
          <a:ln w="12700">
            <a:solidFill>
              <a:srgbClr val="E5A810"/>
            </a:solidFill>
            <a:prstDash val="solid"/>
          </a:ln>
        </p:spPr>
      </p:sp>
      <p:sp>
        <p:nvSpPr>
          <p:cNvPr id="26" name="Shape 24"/>
          <p:cNvSpPr/>
          <p:nvPr/>
        </p:nvSpPr>
        <p:spPr>
          <a:xfrm>
            <a:off x="9090416" y="3650283"/>
            <a:ext cx="0" cy="433597"/>
          </a:xfrm>
          <a:prstGeom prst="line">
            <a:avLst/>
          </a:prstGeom>
          <a:noFill/>
          <a:ln w="9525">
            <a:solidFill>
              <a:srgbClr val="C9C9C9"/>
            </a:solidFill>
            <a:prstDash val="solid"/>
          </a:ln>
        </p:spPr>
      </p:sp>
      <p:sp>
        <p:nvSpPr>
          <p:cNvPr id="27" name="Text 25"/>
          <p:cNvSpPr txBox="1"/>
          <p:nvPr/>
        </p:nvSpPr>
        <p:spPr>
          <a:xfrm>
            <a:off x="9377800" y="3378025"/>
            <a:ext cx="1411712" cy="322677"/>
          </a:xfrm>
          <a:prstGeom prst="rect">
            <a:avLst/>
          </a:prstGeom>
          <a:noFill/>
          <a:ln/>
        </p:spPr>
        <p:txBody>
          <a:bodyPr wrap="square" lIns="0" tIns="0" rIns="0" bIns="0" rtlCol="0" anchor="t"/>
          <a:lstStyle/>
          <a:p>
            <a:pPr indent="0" marL="0">
              <a:lnSpc>
                <a:spcPct val="115000"/>
              </a:lnSpc>
              <a:buNone/>
            </a:pPr>
            <a:r>
              <a:rPr lang="en-US" sz="1400" b="1" dirty="0">
                <a:solidFill>
                  <a:srgbClr val="04462F"/>
                </a:solidFill>
                <a:latin typeface="メイリオ" pitchFamily="34" charset="0"/>
                <a:ea typeface="メイリオ" pitchFamily="34" charset="-122"/>
                <a:cs typeface="メイリオ" pitchFamily="34" charset="-120"/>
              </a:rPr>
              <a:t>本日</a:t>
            </a:r>
            <a:endParaRPr lang="en-US" sz="1400" dirty="0"/>
          </a:p>
        </p:txBody>
      </p:sp>
      <p:sp>
        <p:nvSpPr>
          <p:cNvPr id="28" name="Text 26"/>
          <p:cNvSpPr txBox="1"/>
          <p:nvPr/>
        </p:nvSpPr>
        <p:spPr>
          <a:xfrm>
            <a:off x="10789511" y="3378025"/>
            <a:ext cx="1747498" cy="322677"/>
          </a:xfrm>
          <a:prstGeom prst="rect">
            <a:avLst/>
          </a:prstGeom>
          <a:noFill/>
          <a:ln/>
        </p:spPr>
        <p:txBody>
          <a:bodyPr wrap="square" lIns="0" tIns="0" rIns="0" bIns="0" rtlCol="0" anchor="t"/>
          <a:lstStyle/>
          <a:p>
            <a:pPr indent="0" marL="0">
              <a:lnSpc>
                <a:spcPct val="115000"/>
              </a:lnSpc>
              <a:buNone/>
            </a:pPr>
            <a:r>
              <a:rPr lang="en-US" sz="1400" dirty="0">
                <a:solidFill>
                  <a:srgbClr val="262626"/>
                </a:solidFill>
                <a:latin typeface="メイリオ" pitchFamily="34" charset="0"/>
                <a:ea typeface="メイリオ" pitchFamily="34" charset="-122"/>
                <a:cs typeface="メイリオ" pitchFamily="34" charset="-120"/>
              </a:rPr>
              <a:t>お話を伺う</a:t>
            </a:r>
            <a:endParaRPr lang="en-US" sz="1400" dirty="0"/>
          </a:p>
        </p:txBody>
      </p:sp>
      <p:sp>
        <p:nvSpPr>
          <p:cNvPr id="29" name="Shape 27"/>
          <p:cNvSpPr/>
          <p:nvPr/>
        </p:nvSpPr>
        <p:spPr>
          <a:xfrm>
            <a:off x="9004704" y="4083881"/>
            <a:ext cx="171422" cy="171422"/>
          </a:xfrm>
          <a:prstGeom prst="ellipse">
            <a:avLst/>
          </a:prstGeom>
          <a:solidFill>
            <a:srgbClr val="04462F"/>
          </a:solidFill>
          <a:ln w="12700">
            <a:solidFill>
              <a:srgbClr val="04462F"/>
            </a:solidFill>
            <a:prstDash val="solid"/>
          </a:ln>
        </p:spPr>
      </p:sp>
      <p:sp>
        <p:nvSpPr>
          <p:cNvPr id="30" name="Shape 28"/>
          <p:cNvSpPr/>
          <p:nvPr/>
        </p:nvSpPr>
        <p:spPr>
          <a:xfrm>
            <a:off x="9090416" y="4275470"/>
            <a:ext cx="0" cy="433597"/>
          </a:xfrm>
          <a:prstGeom prst="line">
            <a:avLst/>
          </a:prstGeom>
          <a:noFill/>
          <a:ln w="9525">
            <a:solidFill>
              <a:srgbClr val="C9C9C9"/>
            </a:solidFill>
            <a:prstDash val="solid"/>
          </a:ln>
        </p:spPr>
      </p:sp>
      <p:sp>
        <p:nvSpPr>
          <p:cNvPr id="31" name="Text 29"/>
          <p:cNvSpPr txBox="1"/>
          <p:nvPr/>
        </p:nvSpPr>
        <p:spPr>
          <a:xfrm>
            <a:off x="9377800" y="4003211"/>
            <a:ext cx="1411712" cy="322677"/>
          </a:xfrm>
          <a:prstGeom prst="rect">
            <a:avLst/>
          </a:prstGeom>
          <a:noFill/>
          <a:ln/>
        </p:spPr>
        <p:txBody>
          <a:bodyPr wrap="square" lIns="0" tIns="0" rIns="0" bIns="0" rtlCol="0" anchor="t"/>
          <a:lstStyle/>
          <a:p>
            <a:pPr indent="0" marL="0">
              <a:lnSpc>
                <a:spcPct val="115000"/>
              </a:lnSpc>
              <a:buNone/>
            </a:pPr>
            <a:r>
              <a:rPr lang="en-US" sz="1400" b="1" dirty="0">
                <a:solidFill>
                  <a:srgbClr val="04462F"/>
                </a:solidFill>
                <a:latin typeface="メイリオ" pitchFamily="34" charset="0"/>
                <a:ea typeface="メイリオ" pitchFamily="34" charset="-122"/>
                <a:cs typeface="メイリオ" pitchFamily="34" charset="-120"/>
              </a:rPr>
              <a:t>10月中</a:t>
            </a:r>
            <a:endParaRPr lang="en-US" sz="1400" dirty="0"/>
          </a:p>
        </p:txBody>
      </p:sp>
      <p:sp>
        <p:nvSpPr>
          <p:cNvPr id="32" name="Text 30"/>
          <p:cNvSpPr txBox="1"/>
          <p:nvPr/>
        </p:nvSpPr>
        <p:spPr>
          <a:xfrm>
            <a:off x="10789511" y="4003211"/>
            <a:ext cx="1747498" cy="322677"/>
          </a:xfrm>
          <a:prstGeom prst="rect">
            <a:avLst/>
          </a:prstGeom>
          <a:noFill/>
          <a:ln/>
        </p:spPr>
        <p:txBody>
          <a:bodyPr wrap="square" lIns="0" tIns="0" rIns="0" bIns="0" rtlCol="0" anchor="t"/>
          <a:lstStyle/>
          <a:p>
            <a:pPr indent="0" marL="0">
              <a:lnSpc>
                <a:spcPct val="115000"/>
              </a:lnSpc>
              <a:buNone/>
            </a:pPr>
            <a:r>
              <a:rPr lang="en-US" sz="1400" dirty="0">
                <a:solidFill>
                  <a:srgbClr val="262626"/>
                </a:solidFill>
                <a:latin typeface="メイリオ" pitchFamily="34" charset="0"/>
                <a:ea typeface="メイリオ" pitchFamily="34" charset="-122"/>
                <a:cs typeface="メイリオ" pitchFamily="34" charset="-120"/>
              </a:rPr>
              <a:t>正式なご提案</a:t>
            </a:r>
            <a:endParaRPr lang="en-US" sz="1400" dirty="0"/>
          </a:p>
        </p:txBody>
      </p:sp>
      <p:sp>
        <p:nvSpPr>
          <p:cNvPr id="33" name="Shape 31"/>
          <p:cNvSpPr/>
          <p:nvPr/>
        </p:nvSpPr>
        <p:spPr>
          <a:xfrm>
            <a:off x="9004704" y="4709067"/>
            <a:ext cx="171422" cy="171422"/>
          </a:xfrm>
          <a:prstGeom prst="ellipse">
            <a:avLst/>
          </a:prstGeom>
          <a:solidFill>
            <a:srgbClr val="04462F"/>
          </a:solidFill>
          <a:ln w="12700">
            <a:solidFill>
              <a:srgbClr val="04462F"/>
            </a:solidFill>
            <a:prstDash val="solid"/>
          </a:ln>
        </p:spPr>
      </p:sp>
      <p:sp>
        <p:nvSpPr>
          <p:cNvPr id="34" name="Shape 32"/>
          <p:cNvSpPr/>
          <p:nvPr/>
        </p:nvSpPr>
        <p:spPr>
          <a:xfrm>
            <a:off x="9090416" y="4900657"/>
            <a:ext cx="0" cy="433597"/>
          </a:xfrm>
          <a:prstGeom prst="line">
            <a:avLst/>
          </a:prstGeom>
          <a:noFill/>
          <a:ln w="9525">
            <a:solidFill>
              <a:srgbClr val="C9C9C9"/>
            </a:solidFill>
            <a:prstDash val="solid"/>
          </a:ln>
        </p:spPr>
      </p:sp>
      <p:sp>
        <p:nvSpPr>
          <p:cNvPr id="35" name="Text 33"/>
          <p:cNvSpPr txBox="1"/>
          <p:nvPr/>
        </p:nvSpPr>
        <p:spPr>
          <a:xfrm>
            <a:off x="9377800" y="4628398"/>
            <a:ext cx="1411712" cy="322677"/>
          </a:xfrm>
          <a:prstGeom prst="rect">
            <a:avLst/>
          </a:prstGeom>
          <a:noFill/>
          <a:ln/>
        </p:spPr>
        <p:txBody>
          <a:bodyPr wrap="square" lIns="0" tIns="0" rIns="0" bIns="0" rtlCol="0" anchor="t"/>
          <a:lstStyle/>
          <a:p>
            <a:pPr indent="0" marL="0">
              <a:lnSpc>
                <a:spcPct val="115000"/>
              </a:lnSpc>
              <a:buNone/>
            </a:pPr>
            <a:r>
              <a:rPr lang="en-US" sz="1400" b="1" dirty="0">
                <a:solidFill>
                  <a:srgbClr val="04462F"/>
                </a:solidFill>
                <a:latin typeface="メイリオ" pitchFamily="34" charset="0"/>
                <a:ea typeface="メイリオ" pitchFamily="34" charset="-122"/>
                <a:cs typeface="メイリオ" pitchFamily="34" charset="-120"/>
              </a:rPr>
              <a:t>12月</a:t>
            </a:r>
            <a:endParaRPr lang="en-US" sz="1400" dirty="0"/>
          </a:p>
        </p:txBody>
      </p:sp>
      <p:sp>
        <p:nvSpPr>
          <p:cNvPr id="36" name="Text 34"/>
          <p:cNvSpPr txBox="1"/>
          <p:nvPr/>
        </p:nvSpPr>
        <p:spPr>
          <a:xfrm>
            <a:off x="10789511" y="4628398"/>
            <a:ext cx="1747498" cy="322677"/>
          </a:xfrm>
          <a:prstGeom prst="rect">
            <a:avLst/>
          </a:prstGeom>
          <a:noFill/>
          <a:ln/>
        </p:spPr>
        <p:txBody>
          <a:bodyPr wrap="square" lIns="0" tIns="0" rIns="0" bIns="0" rtlCol="0" anchor="t"/>
          <a:lstStyle/>
          <a:p>
            <a:pPr indent="0" marL="0">
              <a:lnSpc>
                <a:spcPct val="115000"/>
              </a:lnSpc>
              <a:buNone/>
            </a:pPr>
            <a:r>
              <a:rPr lang="en-US" sz="1400" dirty="0">
                <a:solidFill>
                  <a:srgbClr val="262626"/>
                </a:solidFill>
                <a:latin typeface="メイリオ" pitchFamily="34" charset="0"/>
                <a:ea typeface="メイリオ" pitchFamily="34" charset="-122"/>
                <a:cs typeface="メイリオ" pitchFamily="34" charset="-120"/>
              </a:rPr>
              <a:t>認知度調査</a:t>
            </a:r>
            <a:endParaRPr lang="en-US" sz="1400" dirty="0"/>
          </a:p>
        </p:txBody>
      </p:sp>
      <p:sp>
        <p:nvSpPr>
          <p:cNvPr id="37" name="Shape 35"/>
          <p:cNvSpPr/>
          <p:nvPr/>
        </p:nvSpPr>
        <p:spPr>
          <a:xfrm>
            <a:off x="9004704" y="5334254"/>
            <a:ext cx="171422" cy="171422"/>
          </a:xfrm>
          <a:prstGeom prst="ellipse">
            <a:avLst/>
          </a:prstGeom>
          <a:solidFill>
            <a:srgbClr val="04462F"/>
          </a:solidFill>
          <a:ln w="12700">
            <a:solidFill>
              <a:srgbClr val="04462F"/>
            </a:solidFill>
            <a:prstDash val="solid"/>
          </a:ln>
        </p:spPr>
      </p:sp>
      <p:sp>
        <p:nvSpPr>
          <p:cNvPr id="38" name="Text 36"/>
          <p:cNvSpPr txBox="1"/>
          <p:nvPr/>
        </p:nvSpPr>
        <p:spPr>
          <a:xfrm>
            <a:off x="9377800" y="5253585"/>
            <a:ext cx="1411712" cy="322677"/>
          </a:xfrm>
          <a:prstGeom prst="rect">
            <a:avLst/>
          </a:prstGeom>
          <a:noFill/>
          <a:ln/>
        </p:spPr>
        <p:txBody>
          <a:bodyPr wrap="square" lIns="0" tIns="0" rIns="0" bIns="0" rtlCol="0" anchor="t"/>
          <a:lstStyle/>
          <a:p>
            <a:pPr indent="0" marL="0">
              <a:lnSpc>
                <a:spcPct val="115000"/>
              </a:lnSpc>
              <a:buNone/>
            </a:pPr>
            <a:r>
              <a:rPr lang="en-US" sz="1400" b="1" dirty="0">
                <a:solidFill>
                  <a:srgbClr val="04462F"/>
                </a:solidFill>
                <a:latin typeface="メイリオ" pitchFamily="34" charset="0"/>
                <a:ea typeface="メイリオ" pitchFamily="34" charset="-122"/>
                <a:cs typeface="メイリオ" pitchFamily="34" charset="-120"/>
              </a:rPr>
              <a:t>2027年1月</a:t>
            </a:r>
            <a:endParaRPr lang="en-US" sz="1400" dirty="0"/>
          </a:p>
        </p:txBody>
      </p:sp>
      <p:sp>
        <p:nvSpPr>
          <p:cNvPr id="39" name="Text 37"/>
          <p:cNvSpPr txBox="1"/>
          <p:nvPr/>
        </p:nvSpPr>
        <p:spPr>
          <a:xfrm>
            <a:off x="10789511" y="5253585"/>
            <a:ext cx="1747498" cy="322677"/>
          </a:xfrm>
          <a:prstGeom prst="rect">
            <a:avLst/>
          </a:prstGeom>
          <a:noFill/>
          <a:ln/>
        </p:spPr>
        <p:txBody>
          <a:bodyPr wrap="square" lIns="0" tIns="0" rIns="0" bIns="0" rtlCol="0" anchor="t"/>
          <a:lstStyle/>
          <a:p>
            <a:pPr indent="0" marL="0">
              <a:lnSpc>
                <a:spcPct val="115000"/>
              </a:lnSpc>
              <a:buNone/>
            </a:pPr>
            <a:r>
              <a:rPr lang="en-US" sz="1400" dirty="0">
                <a:solidFill>
                  <a:srgbClr val="262626"/>
                </a:solidFill>
                <a:latin typeface="メイリオ" pitchFamily="34" charset="0"/>
                <a:ea typeface="メイリオ" pitchFamily="34" charset="-122"/>
                <a:cs typeface="メイリオ" pitchFamily="34" charset="-120"/>
              </a:rPr>
              <a:t>着手</a:t>
            </a:r>
            <a:endParaRPr lang="en-US" sz="14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4</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Our understanding</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ご相談を、こう受け止めました。</a:t>
            </a:r>
            <a:endParaRPr lang="en-US" sz="1800" dirty="0"/>
          </a:p>
        </p:txBody>
      </p:sp>
      <p:sp>
        <p:nvSpPr>
          <p:cNvPr id="6" name="Shape 4"/>
          <p:cNvSpPr/>
          <p:nvPr/>
        </p:nvSpPr>
        <p:spPr>
          <a:xfrm>
            <a:off x="756274" y="2016731"/>
            <a:ext cx="6604794" cy="3983044"/>
          </a:xfrm>
          <a:prstGeom prst="rect">
            <a:avLst/>
          </a:prstGeom>
          <a:solidFill>
            <a:srgbClr val="FFFFFF"/>
          </a:solidFill>
          <a:ln w="12700">
            <a:solidFill>
              <a:srgbClr val="FFFFFF"/>
            </a:solidFill>
            <a:prstDash val="solid"/>
          </a:ln>
        </p:spPr>
      </p:sp>
      <p:sp>
        <p:nvSpPr>
          <p:cNvPr id="7" name="Text 5"/>
          <p:cNvSpPr txBox="1"/>
          <p:nvPr/>
        </p:nvSpPr>
        <p:spPr>
          <a:xfrm>
            <a:off x="1159620" y="2319241"/>
            <a:ext cx="5949357" cy="3529279"/>
          </a:xfrm>
          <a:prstGeom prst="rect">
            <a:avLst/>
          </a:prstGeom>
          <a:noFill/>
          <a:ln/>
        </p:spPr>
        <p:txBody>
          <a:bodyPr wrap="square" lIns="0" tIns="0" rIns="0" bIns="0" rtlCol="0" anchor="t"/>
          <a:lstStyle/>
          <a:p>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毎年12月に認知度調査をされていて、</a:t>
            </a:r>
            <a:endParaRPr lang="en-US" sz="1700" dirty="0"/>
          </a:p>
          <a:p>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数字は毎年出ている。</a:t>
            </a:r>
            <a:endParaRPr lang="en-US" sz="1700" dirty="0"/>
          </a:p>
          <a:p>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ただ、「なぜその数字なのか」「来年は何を</a:t>
            </a:r>
            <a:endParaRPr lang="en-US" sz="1700" dirty="0"/>
          </a:p>
          <a:p>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変えるのか」まで検討する時間と材料が</a:t>
            </a:r>
            <a:endParaRPr lang="en-US" sz="1700" dirty="0"/>
          </a:p>
          <a:p>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足りていない。</a:t>
            </a:r>
            <a:endParaRPr lang="en-US" sz="1700" dirty="0"/>
          </a:p>
          <a:p>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 </a:t>
            </a:r>
            <a:endParaRPr lang="en-US" sz="1700" dirty="0"/>
          </a:p>
          <a:p>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施策はご自身たちで動かすので、欲しいのは</a:t>
            </a:r>
            <a:endParaRPr lang="en-US" sz="1700" dirty="0"/>
          </a:p>
          <a:p>
            <a:pPr indent="0" marL="0">
              <a:lnSpc>
                <a:spcPct val="130000"/>
              </a:lnSpc>
              <a:buNone/>
            </a:pPr>
            <a:r>
              <a:rPr lang="en-US" sz="1700" b="1" dirty="0">
                <a:solidFill>
                  <a:srgbClr val="04462F"/>
                </a:solidFill>
                <a:latin typeface="メイリオ" pitchFamily="34" charset="0"/>
                <a:ea typeface="メイリオ" pitchFamily="34" charset="-122"/>
                <a:cs typeface="メイリオ" pitchFamily="34" charset="-120"/>
              </a:rPr>
              <a:t>判断の根拠と、優先順位のついた打ち手</a:t>
            </a:r>
            <a:pPr indent="0" marL="0">
              <a:lnSpc>
                <a:spcPct val="130000"/>
              </a:lnSpc>
              <a:buNone/>
            </a:pPr>
            <a:r>
              <a:rPr lang="en-US" sz="1700" dirty="0">
                <a:solidFill>
                  <a:srgbClr val="262626"/>
                </a:solidFill>
                <a:latin typeface="メイリオ" pitchFamily="34" charset="0"/>
                <a:ea typeface="メイリオ" pitchFamily="34" charset="-122"/>
                <a:cs typeface="メイリオ" pitchFamily="34" charset="-120"/>
              </a:rPr>
              <a:t>。</a:t>
            </a:r>
            <a:endParaRPr lang="en-US" sz="1700" dirty="0"/>
          </a:p>
        </p:txBody>
      </p:sp>
      <p:sp>
        <p:nvSpPr>
          <p:cNvPr id="8" name="Shape 6"/>
          <p:cNvSpPr/>
          <p:nvPr/>
        </p:nvSpPr>
        <p:spPr>
          <a:xfrm>
            <a:off x="7663578" y="2016731"/>
            <a:ext cx="5024686" cy="2369659"/>
          </a:xfrm>
          <a:prstGeom prst="rect">
            <a:avLst/>
          </a:prstGeom>
          <a:solidFill>
            <a:srgbClr val="FFFFFF"/>
          </a:solidFill>
          <a:ln w="12700">
            <a:solidFill>
              <a:srgbClr val="FFFFFF"/>
            </a:solidFill>
            <a:prstDash val="solid"/>
          </a:ln>
        </p:spPr>
      </p:sp>
      <p:sp>
        <p:nvSpPr>
          <p:cNvPr id="9" name="Shape 7"/>
          <p:cNvSpPr/>
          <p:nvPr/>
        </p:nvSpPr>
        <p:spPr>
          <a:xfrm>
            <a:off x="7966088" y="2238572"/>
            <a:ext cx="4419666" cy="322677"/>
          </a:xfrm>
          <a:prstGeom prst="rect">
            <a:avLst/>
          </a:prstGeom>
          <a:solidFill>
            <a:srgbClr val="04462F"/>
          </a:solidFill>
          <a:ln w="12700">
            <a:solidFill>
              <a:srgbClr val="04462F"/>
            </a:solidFill>
            <a:prstDash val="solid"/>
          </a:ln>
        </p:spPr>
      </p:sp>
      <p:sp>
        <p:nvSpPr>
          <p:cNvPr id="10" name="Text 8"/>
          <p:cNvSpPr txBox="1"/>
          <p:nvPr/>
        </p:nvSpPr>
        <p:spPr>
          <a:xfrm>
            <a:off x="7966088" y="2238572"/>
            <a:ext cx="4419666" cy="322677"/>
          </a:xfrm>
          <a:prstGeom prst="rect">
            <a:avLst/>
          </a:prstGeom>
          <a:noFill/>
          <a:ln/>
        </p:spPr>
        <p:txBody>
          <a:bodyPr wrap="square" lIns="0" tIns="0" rIns="0" bIns="0" rtlCol="0" anchor="ctr"/>
          <a:lstStyle/>
          <a:p>
            <a:pPr algn="ctr" indent="0" marL="0">
              <a:buNone/>
            </a:pPr>
            <a:r>
              <a:rPr lang="en-US" sz="1250" b="1" dirty="0">
                <a:solidFill>
                  <a:srgbClr val="FFFFFF"/>
                </a:solidFill>
                <a:latin typeface="メイリオ" pitchFamily="34" charset="0"/>
                <a:ea typeface="メイリオ" pitchFamily="34" charset="-122"/>
                <a:cs typeface="メイリオ" pitchFamily="34" charset="-120"/>
              </a:rPr>
              <a:t>今回やること</a:t>
            </a:r>
            <a:endParaRPr lang="en-US" sz="1250" dirty="0"/>
          </a:p>
        </p:txBody>
      </p:sp>
      <p:sp>
        <p:nvSpPr>
          <p:cNvPr id="11" name="Text 9"/>
          <p:cNvSpPr txBox="1"/>
          <p:nvPr/>
        </p:nvSpPr>
        <p:spPr>
          <a:xfrm>
            <a:off x="8016506" y="2722587"/>
            <a:ext cx="4419666" cy="1562967"/>
          </a:xfrm>
          <a:prstGeom prst="rect">
            <a:avLst/>
          </a:prstGeom>
          <a:noFill/>
          <a:ln/>
        </p:spPr>
        <p:txBody>
          <a:bodyPr wrap="square" lIns="0" tIns="0" rIns="0" bIns="0" rtlCol="0" anchor="t"/>
          <a:lstStyle/>
          <a:p>
            <a:pPr marL="342900" indent="-342900">
              <a:lnSpc>
                <a:spcPct val="115000"/>
              </a:lnSpc>
              <a:spcAft>
                <a:spcPts val="500"/>
              </a:spcAft>
              <a:buSzPct val="100000"/>
              <a:buChar char="•"/>
            </a:pPr>
            <a:r>
              <a:rPr lang="en-US" sz="1450" dirty="0">
                <a:solidFill>
                  <a:srgbClr val="262626"/>
                </a:solidFill>
                <a:latin typeface="メイリオ" pitchFamily="34" charset="0"/>
                <a:ea typeface="メイリオ" pitchFamily="34" charset="-122"/>
                <a:cs typeface="メイリオ" pitchFamily="34" charset="-120"/>
              </a:rPr>
              <a:t>12月調査の結果から、認知が伸びない理由を分析する</a:t>
            </a:r>
            <a:endParaRPr lang="en-US" sz="1450" dirty="0"/>
          </a:p>
          <a:p>
            <a:pPr marL="342900" indent="-342900">
              <a:lnSpc>
                <a:spcPct val="115000"/>
              </a:lnSpc>
              <a:spcAft>
                <a:spcPts val="500"/>
              </a:spcAft>
              <a:buSzPct val="100000"/>
              <a:buChar char="•"/>
            </a:pPr>
            <a:r>
              <a:rPr lang="en-US" sz="1450" dirty="0">
                <a:solidFill>
                  <a:srgbClr val="262626"/>
                </a:solidFill>
                <a:latin typeface="メイリオ" pitchFamily="34" charset="0"/>
                <a:ea typeface="メイリオ" pitchFamily="34" charset="-122"/>
                <a:cs typeface="メイリオ" pitchFamily="34" charset="-120"/>
              </a:rPr>
              <a:t>誰に・何を・どこで伝えるかの戦略を決める</a:t>
            </a:r>
            <a:endParaRPr lang="en-US" sz="1450" dirty="0"/>
          </a:p>
          <a:p>
            <a:pPr marL="342900" indent="-342900">
              <a:lnSpc>
                <a:spcPct val="115000"/>
              </a:lnSpc>
              <a:spcAft>
                <a:spcPts val="500"/>
              </a:spcAft>
              <a:buSzPct val="100000"/>
              <a:buChar char="•"/>
            </a:pPr>
            <a:r>
              <a:rPr lang="en-US" sz="1450" dirty="0">
                <a:solidFill>
                  <a:srgbClr val="262626"/>
                </a:solidFill>
                <a:latin typeface="メイリオ" pitchFamily="34" charset="0"/>
                <a:ea typeface="メイリオ" pitchFamily="34" charset="-122"/>
                <a:cs typeface="メイリオ" pitchFamily="34" charset="-120"/>
              </a:rPr>
              <a:t>担当の方がそのまま動ける改善策にまで落とす</a:t>
            </a:r>
            <a:endParaRPr lang="en-US" sz="1450" dirty="0"/>
          </a:p>
        </p:txBody>
      </p:sp>
      <p:sp>
        <p:nvSpPr>
          <p:cNvPr id="12" name="Shape 10"/>
          <p:cNvSpPr/>
          <p:nvPr/>
        </p:nvSpPr>
        <p:spPr>
          <a:xfrm>
            <a:off x="7663578" y="4588063"/>
            <a:ext cx="5024686" cy="1411712"/>
          </a:xfrm>
          <a:prstGeom prst="rect">
            <a:avLst/>
          </a:prstGeom>
          <a:solidFill>
            <a:srgbClr val="FFFFFF"/>
          </a:solidFill>
          <a:ln w="12700">
            <a:solidFill>
              <a:srgbClr val="FFFFFF"/>
            </a:solidFill>
            <a:prstDash val="solid"/>
          </a:ln>
        </p:spPr>
      </p:sp>
      <p:sp>
        <p:nvSpPr>
          <p:cNvPr id="13" name="Shape 11"/>
          <p:cNvSpPr/>
          <p:nvPr/>
        </p:nvSpPr>
        <p:spPr>
          <a:xfrm>
            <a:off x="7966088" y="4789736"/>
            <a:ext cx="4419666" cy="322677"/>
          </a:xfrm>
          <a:prstGeom prst="rect">
            <a:avLst/>
          </a:prstGeom>
          <a:solidFill>
            <a:srgbClr val="D9D9D9"/>
          </a:solidFill>
          <a:ln w="12700">
            <a:solidFill>
              <a:srgbClr val="D9D9D9"/>
            </a:solidFill>
            <a:prstDash val="solid"/>
          </a:ln>
        </p:spPr>
      </p:sp>
      <p:sp>
        <p:nvSpPr>
          <p:cNvPr id="14" name="Text 12"/>
          <p:cNvSpPr txBox="1"/>
          <p:nvPr/>
        </p:nvSpPr>
        <p:spPr>
          <a:xfrm>
            <a:off x="7966088" y="4789736"/>
            <a:ext cx="4419666" cy="322677"/>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今回やらないこと</a:t>
            </a:r>
            <a:endParaRPr lang="en-US" sz="1250" dirty="0"/>
          </a:p>
        </p:txBody>
      </p:sp>
      <p:sp>
        <p:nvSpPr>
          <p:cNvPr id="15" name="Text 13"/>
          <p:cNvSpPr txBox="1"/>
          <p:nvPr/>
        </p:nvSpPr>
        <p:spPr>
          <a:xfrm>
            <a:off x="8016506" y="5243501"/>
            <a:ext cx="4419666" cy="705856"/>
          </a:xfrm>
          <a:prstGeom prst="rect">
            <a:avLst/>
          </a:prstGeom>
          <a:noFill/>
          <a:ln/>
        </p:spPr>
        <p:txBody>
          <a:bodyPr wrap="square" lIns="0" tIns="0" rIns="0" bIns="0" rtlCol="0" anchor="t"/>
          <a:lstStyle/>
          <a:p>
            <a:pPr marL="342900" indent="-342900">
              <a:lnSpc>
                <a:spcPct val="115000"/>
              </a:lnSpc>
              <a:spcAft>
                <a:spcPts val="400"/>
              </a:spcAft>
              <a:buSzPct val="100000"/>
              <a:buChar char="•"/>
            </a:pPr>
            <a:r>
              <a:rPr lang="en-US" sz="1450" dirty="0">
                <a:solidFill>
                  <a:srgbClr val="666666"/>
                </a:solidFill>
                <a:latin typeface="メイリオ" pitchFamily="34" charset="0"/>
                <a:ea typeface="メイリオ" pitchFamily="34" charset="-122"/>
                <a:cs typeface="メイリオ" pitchFamily="34" charset="-120"/>
              </a:rPr>
              <a:t>SNS運用やネット広告運用の代行</a:t>
            </a:r>
            <a:endParaRPr lang="en-US" sz="1450" dirty="0"/>
          </a:p>
          <a:p>
            <a:pPr marL="342900" indent="-342900">
              <a:lnSpc>
                <a:spcPct val="115000"/>
              </a:lnSpc>
              <a:spcAft>
                <a:spcPts val="400"/>
              </a:spcAft>
              <a:buSzPct val="100000"/>
              <a:buChar char="•"/>
            </a:pPr>
            <a:r>
              <a:rPr lang="en-US" sz="1450" dirty="0">
                <a:solidFill>
                  <a:srgbClr val="666666"/>
                </a:solidFill>
                <a:latin typeface="メイリオ" pitchFamily="34" charset="0"/>
                <a:ea typeface="メイリオ" pitchFamily="34" charset="-122"/>
                <a:cs typeface="メイリオ" pitchFamily="34" charset="-120"/>
              </a:rPr>
              <a:t>新しい広告出稿を前提にした提案</a:t>
            </a:r>
            <a:endParaRPr lang="en-US" sz="1450" dirty="0"/>
          </a:p>
        </p:txBody>
      </p:sp>
      <p:sp>
        <p:nvSpPr>
          <p:cNvPr id="16" name="Text 14"/>
          <p:cNvSpPr txBox="1"/>
          <p:nvPr/>
        </p:nvSpPr>
        <p:spPr>
          <a:xfrm>
            <a:off x="756274" y="6251866"/>
            <a:ext cx="8066924" cy="352928"/>
          </a:xfrm>
          <a:prstGeom prst="rect">
            <a:avLst/>
          </a:prstGeom>
          <a:noFill/>
          <a:ln/>
        </p:spPr>
        <p:txBody>
          <a:bodyPr wrap="square" lIns="0" tIns="0" rIns="0" bIns="0" rtlCol="0" anchor="t"/>
          <a:lstStyle/>
          <a:p>
            <a:pPr indent="0" marL="0">
              <a:lnSpc>
                <a:spcPct val="115000"/>
              </a:lnSpc>
              <a:buNone/>
            </a:pPr>
            <a:r>
              <a:rPr lang="en-US" sz="1300" dirty="0">
                <a:solidFill>
                  <a:srgbClr val="666666"/>
                </a:solidFill>
                <a:latin typeface="メイリオ" pitchFamily="34" charset="0"/>
                <a:ea typeface="メイリオ" pitchFamily="34" charset="-122"/>
                <a:cs typeface="メイリオ" pitchFamily="34" charset="-120"/>
              </a:rPr>
              <a:t>期間　2027年1月〜3月31日　／　本部での打合せ　月1回・計3回</a:t>
            </a:r>
            <a:endParaRPr lang="en-US" sz="13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5</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Our view</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認知度向上には、2つの方向があります。</a:t>
            </a:r>
            <a:endParaRPr lang="en-US" sz="1800" dirty="0"/>
          </a:p>
        </p:txBody>
      </p:sp>
      <p:sp>
        <p:nvSpPr>
          <p:cNvPr id="6" name="Text 4"/>
          <p:cNvSpPr txBox="1"/>
          <p:nvPr/>
        </p:nvSpPr>
        <p:spPr>
          <a:xfrm>
            <a:off x="756274" y="1633552"/>
            <a:ext cx="11931990" cy="504183"/>
          </a:xfrm>
          <a:prstGeom prst="rect">
            <a:avLst/>
          </a:prstGeom>
          <a:noFill/>
          <a:ln/>
        </p:spPr>
        <p:txBody>
          <a:bodyPr wrap="square" lIns="0" tIns="0" rIns="0" bIns="0" rtlCol="0" anchor="t"/>
          <a:lstStyle/>
          <a:p>
            <a:pPr indent="0" marL="0">
              <a:buNone/>
            </a:pPr>
            <a:r>
              <a:rPr lang="en-US" sz="1450" dirty="0">
                <a:solidFill>
                  <a:srgbClr val="666666"/>
                </a:solidFill>
                <a:latin typeface="メイリオ" pitchFamily="34" charset="0"/>
                <a:ea typeface="メイリオ" pitchFamily="34" charset="-122"/>
                <a:cs typeface="メイリオ" pitchFamily="34" charset="-120"/>
              </a:rPr>
              <a:t>知っている人を増やすこと。知っている人に、困ったときに頼ってもらうこと。本プロジェクトでは両方を対象にします。</a:t>
            </a:r>
            <a:endParaRPr lang="en-US" sz="1450" dirty="0"/>
          </a:p>
        </p:txBody>
      </p:sp>
      <p:sp>
        <p:nvSpPr>
          <p:cNvPr id="7" name="Shape 5"/>
          <p:cNvSpPr/>
          <p:nvPr/>
        </p:nvSpPr>
        <p:spPr>
          <a:xfrm>
            <a:off x="756274" y="3428443"/>
            <a:ext cx="2241193" cy="1210039"/>
          </a:xfrm>
          <a:prstGeom prst="rect">
            <a:avLst/>
          </a:prstGeom>
          <a:solidFill>
            <a:srgbClr val="F2F2F2"/>
          </a:solidFill>
          <a:ln w="12700">
            <a:solidFill>
              <a:srgbClr val="A6A6A6"/>
            </a:solidFill>
            <a:prstDash val="dash"/>
          </a:ln>
        </p:spPr>
      </p:sp>
      <p:sp>
        <p:nvSpPr>
          <p:cNvPr id="8" name="Text 6"/>
          <p:cNvSpPr txBox="1"/>
          <p:nvPr/>
        </p:nvSpPr>
        <p:spPr>
          <a:xfrm>
            <a:off x="756274" y="3428443"/>
            <a:ext cx="2241193" cy="1210039"/>
          </a:xfrm>
          <a:prstGeom prst="rect">
            <a:avLst/>
          </a:prstGeom>
          <a:noFill/>
          <a:ln/>
        </p:spPr>
        <p:txBody>
          <a:bodyPr wrap="square" lIns="0" tIns="0" rIns="0" bIns="0" rtlCol="0" anchor="ctr"/>
          <a:lstStyle/>
          <a:p>
            <a:pPr algn="ctr" indent="0" marL="0">
              <a:lnSpc>
                <a:spcPct val="105000"/>
              </a:lnSpc>
              <a:buNone/>
            </a:pPr>
            <a:r>
              <a:rPr lang="en-US" sz="1650" b="1" dirty="0">
                <a:solidFill>
                  <a:srgbClr val="666666"/>
                </a:solidFill>
                <a:latin typeface="メイリオ" pitchFamily="34" charset="0"/>
                <a:ea typeface="メイリオ" pitchFamily="34" charset="-122"/>
                <a:cs typeface="メイリオ" pitchFamily="34" charset="-120"/>
              </a:rPr>
              <a:t>知らない</a:t>
            </a:r>
            <a:endParaRPr lang="en-US" sz="1650" dirty="0"/>
          </a:p>
        </p:txBody>
      </p:sp>
      <p:sp>
        <p:nvSpPr>
          <p:cNvPr id="9" name="Text 7"/>
          <p:cNvSpPr txBox="1"/>
          <p:nvPr/>
        </p:nvSpPr>
        <p:spPr>
          <a:xfrm>
            <a:off x="2997467" y="3428443"/>
            <a:ext cx="181506" cy="1210039"/>
          </a:xfrm>
          <a:prstGeom prst="rect">
            <a:avLst/>
          </a:prstGeom>
          <a:noFill/>
          <a:ln/>
        </p:spPr>
        <p:txBody>
          <a:bodyPr wrap="square" lIns="0" tIns="0" rIns="0" bIns="0" rtlCol="0" anchor="ctr"/>
          <a:lstStyle/>
          <a:p>
            <a:pPr algn="ctr" indent="0" marL="0">
              <a:buNone/>
            </a:pPr>
            <a:r>
              <a:rPr lang="en-US" sz="1750" dirty="0">
                <a:solidFill>
                  <a:srgbClr val="666666"/>
                </a:solidFill>
                <a:latin typeface="メイリオ" pitchFamily="34" charset="0"/>
                <a:ea typeface="メイリオ" pitchFamily="34" charset="-122"/>
                <a:cs typeface="メイリオ" pitchFamily="34" charset="-120"/>
              </a:rPr>
              <a:t>›</a:t>
            </a:r>
            <a:endParaRPr lang="en-US" sz="1750" dirty="0"/>
          </a:p>
        </p:txBody>
      </p:sp>
      <p:sp>
        <p:nvSpPr>
          <p:cNvPr id="10" name="Shape 8"/>
          <p:cNvSpPr/>
          <p:nvPr/>
        </p:nvSpPr>
        <p:spPr>
          <a:xfrm>
            <a:off x="3178973" y="3428443"/>
            <a:ext cx="2241193" cy="1210039"/>
          </a:xfrm>
          <a:prstGeom prst="rect">
            <a:avLst/>
          </a:prstGeom>
          <a:solidFill>
            <a:srgbClr val="FFFFFF"/>
          </a:solidFill>
          <a:ln w="12700">
            <a:solidFill>
              <a:srgbClr val="FFFFFF"/>
            </a:solidFill>
            <a:prstDash val="solid"/>
          </a:ln>
        </p:spPr>
      </p:sp>
      <p:sp>
        <p:nvSpPr>
          <p:cNvPr id="11" name="Text 9"/>
          <p:cNvSpPr txBox="1"/>
          <p:nvPr/>
        </p:nvSpPr>
        <p:spPr>
          <a:xfrm>
            <a:off x="3178973" y="3428443"/>
            <a:ext cx="2241193" cy="1210039"/>
          </a:xfrm>
          <a:prstGeom prst="rect">
            <a:avLst/>
          </a:prstGeom>
          <a:noFill/>
          <a:ln/>
        </p:spPr>
        <p:txBody>
          <a:bodyPr wrap="square" lIns="0" tIns="0" rIns="0" bIns="0" rtlCol="0" anchor="ctr"/>
          <a:lstStyle/>
          <a:p>
            <a:pPr algn="ctr" indent="0" marL="0">
              <a:lnSpc>
                <a:spcPct val="105000"/>
              </a:lnSpc>
              <a:buNone/>
            </a:pPr>
            <a:r>
              <a:rPr lang="en-US" sz="1650" b="1" dirty="0">
                <a:solidFill>
                  <a:srgbClr val="262626"/>
                </a:solidFill>
                <a:latin typeface="メイリオ" pitchFamily="34" charset="0"/>
                <a:ea typeface="メイリオ" pitchFamily="34" charset="-122"/>
                <a:cs typeface="メイリオ" pitchFamily="34" charset="-120"/>
              </a:rPr>
              <a:t>名前を</a:t>
            </a:r>
            <a:endParaRPr lang="en-US" sz="1650" dirty="0"/>
          </a:p>
          <a:p>
            <a:pPr algn="ctr" indent="0" marL="0">
              <a:lnSpc>
                <a:spcPct val="105000"/>
              </a:lnSpc>
              <a:buNone/>
            </a:pPr>
            <a:r>
              <a:rPr lang="en-US" sz="1650" b="1" dirty="0">
                <a:solidFill>
                  <a:srgbClr val="262626"/>
                </a:solidFill>
                <a:latin typeface="メイリオ" pitchFamily="34" charset="0"/>
                <a:ea typeface="メイリオ" pitchFamily="34" charset="-122"/>
                <a:cs typeface="メイリオ" pitchFamily="34" charset="-120"/>
              </a:rPr>
              <a:t>知っている</a:t>
            </a:r>
            <a:endParaRPr lang="en-US" sz="1650" dirty="0"/>
          </a:p>
        </p:txBody>
      </p:sp>
      <p:sp>
        <p:nvSpPr>
          <p:cNvPr id="12" name="Text 10"/>
          <p:cNvSpPr txBox="1"/>
          <p:nvPr/>
        </p:nvSpPr>
        <p:spPr>
          <a:xfrm>
            <a:off x="5420167" y="3428443"/>
            <a:ext cx="181506" cy="1210039"/>
          </a:xfrm>
          <a:prstGeom prst="rect">
            <a:avLst/>
          </a:prstGeom>
          <a:noFill/>
          <a:ln/>
        </p:spPr>
        <p:txBody>
          <a:bodyPr wrap="square" lIns="0" tIns="0" rIns="0" bIns="0" rtlCol="0" anchor="ctr"/>
          <a:lstStyle/>
          <a:p>
            <a:pPr algn="ctr" indent="0" marL="0">
              <a:buNone/>
            </a:pPr>
            <a:r>
              <a:rPr lang="en-US" sz="1750" dirty="0">
                <a:solidFill>
                  <a:srgbClr val="666666"/>
                </a:solidFill>
                <a:latin typeface="メイリオ" pitchFamily="34" charset="0"/>
                <a:ea typeface="メイリオ" pitchFamily="34" charset="-122"/>
                <a:cs typeface="メイリオ" pitchFamily="34" charset="-120"/>
              </a:rPr>
              <a:t>›</a:t>
            </a:r>
            <a:endParaRPr lang="en-US" sz="1750" dirty="0"/>
          </a:p>
        </p:txBody>
      </p:sp>
      <p:sp>
        <p:nvSpPr>
          <p:cNvPr id="13" name="Shape 11"/>
          <p:cNvSpPr/>
          <p:nvPr/>
        </p:nvSpPr>
        <p:spPr>
          <a:xfrm>
            <a:off x="5601672" y="3428443"/>
            <a:ext cx="2241193" cy="1210039"/>
          </a:xfrm>
          <a:prstGeom prst="rect">
            <a:avLst/>
          </a:prstGeom>
          <a:solidFill>
            <a:srgbClr val="FFFFFF"/>
          </a:solidFill>
          <a:ln w="12700">
            <a:solidFill>
              <a:srgbClr val="FFFFFF"/>
            </a:solidFill>
            <a:prstDash val="solid"/>
          </a:ln>
        </p:spPr>
      </p:sp>
      <p:sp>
        <p:nvSpPr>
          <p:cNvPr id="14" name="Text 12"/>
          <p:cNvSpPr txBox="1"/>
          <p:nvPr/>
        </p:nvSpPr>
        <p:spPr>
          <a:xfrm>
            <a:off x="5601672" y="3428443"/>
            <a:ext cx="2241193" cy="1210039"/>
          </a:xfrm>
          <a:prstGeom prst="rect">
            <a:avLst/>
          </a:prstGeom>
          <a:noFill/>
          <a:ln/>
        </p:spPr>
        <p:txBody>
          <a:bodyPr wrap="square" lIns="0" tIns="0" rIns="0" bIns="0" rtlCol="0" anchor="ctr"/>
          <a:lstStyle/>
          <a:p>
            <a:pPr algn="ctr" indent="0" marL="0">
              <a:lnSpc>
                <a:spcPct val="105000"/>
              </a:lnSpc>
              <a:buNone/>
            </a:pPr>
            <a:r>
              <a:rPr lang="en-US" sz="1650" b="1" dirty="0">
                <a:solidFill>
                  <a:srgbClr val="262626"/>
                </a:solidFill>
                <a:latin typeface="メイリオ" pitchFamily="34" charset="0"/>
                <a:ea typeface="メイリオ" pitchFamily="34" charset="-122"/>
                <a:cs typeface="メイリオ" pitchFamily="34" charset="-120"/>
              </a:rPr>
              <a:t>何をする所か</a:t>
            </a:r>
            <a:endParaRPr lang="en-US" sz="1650" dirty="0"/>
          </a:p>
          <a:p>
            <a:pPr algn="ctr" indent="0" marL="0">
              <a:lnSpc>
                <a:spcPct val="105000"/>
              </a:lnSpc>
              <a:buNone/>
            </a:pPr>
            <a:r>
              <a:rPr lang="en-US" sz="1650" b="1" dirty="0">
                <a:solidFill>
                  <a:srgbClr val="262626"/>
                </a:solidFill>
                <a:latin typeface="メイリオ" pitchFamily="34" charset="0"/>
                <a:ea typeface="メイリオ" pitchFamily="34" charset="-122"/>
                <a:cs typeface="メイリオ" pitchFamily="34" charset="-120"/>
              </a:rPr>
              <a:t>わかる</a:t>
            </a:r>
            <a:endParaRPr lang="en-US" sz="1650" dirty="0"/>
          </a:p>
        </p:txBody>
      </p:sp>
      <p:sp>
        <p:nvSpPr>
          <p:cNvPr id="15" name="Text 13"/>
          <p:cNvSpPr txBox="1"/>
          <p:nvPr/>
        </p:nvSpPr>
        <p:spPr>
          <a:xfrm>
            <a:off x="7842866" y="3428443"/>
            <a:ext cx="181506" cy="1210039"/>
          </a:xfrm>
          <a:prstGeom prst="rect">
            <a:avLst/>
          </a:prstGeom>
          <a:noFill/>
          <a:ln/>
        </p:spPr>
        <p:txBody>
          <a:bodyPr wrap="square" lIns="0" tIns="0" rIns="0" bIns="0" rtlCol="0" anchor="ctr"/>
          <a:lstStyle/>
          <a:p>
            <a:pPr algn="ctr" indent="0" marL="0">
              <a:buNone/>
            </a:pPr>
            <a:r>
              <a:rPr lang="en-US" sz="1750" dirty="0">
                <a:solidFill>
                  <a:srgbClr val="666666"/>
                </a:solidFill>
                <a:latin typeface="メイリオ" pitchFamily="34" charset="0"/>
                <a:ea typeface="メイリオ" pitchFamily="34" charset="-122"/>
                <a:cs typeface="メイリオ" pitchFamily="34" charset="-120"/>
              </a:rPr>
              <a:t>›</a:t>
            </a:r>
            <a:endParaRPr lang="en-US" sz="1750" dirty="0"/>
          </a:p>
        </p:txBody>
      </p:sp>
      <p:sp>
        <p:nvSpPr>
          <p:cNvPr id="16" name="Shape 14"/>
          <p:cNvSpPr/>
          <p:nvPr/>
        </p:nvSpPr>
        <p:spPr>
          <a:xfrm>
            <a:off x="8024371" y="3428443"/>
            <a:ext cx="2241193" cy="1210039"/>
          </a:xfrm>
          <a:prstGeom prst="rect">
            <a:avLst/>
          </a:prstGeom>
          <a:solidFill>
            <a:srgbClr val="FFFFFF"/>
          </a:solidFill>
          <a:ln w="12700">
            <a:solidFill>
              <a:srgbClr val="FFFFFF"/>
            </a:solidFill>
            <a:prstDash val="solid"/>
          </a:ln>
        </p:spPr>
      </p:sp>
      <p:sp>
        <p:nvSpPr>
          <p:cNvPr id="17" name="Text 15"/>
          <p:cNvSpPr txBox="1"/>
          <p:nvPr/>
        </p:nvSpPr>
        <p:spPr>
          <a:xfrm>
            <a:off x="8024371" y="3428443"/>
            <a:ext cx="2241193" cy="1210039"/>
          </a:xfrm>
          <a:prstGeom prst="rect">
            <a:avLst/>
          </a:prstGeom>
          <a:noFill/>
          <a:ln/>
        </p:spPr>
        <p:txBody>
          <a:bodyPr wrap="square" lIns="0" tIns="0" rIns="0" bIns="0" rtlCol="0" anchor="ctr"/>
          <a:lstStyle/>
          <a:p>
            <a:pPr algn="ctr" indent="0" marL="0">
              <a:lnSpc>
                <a:spcPct val="105000"/>
              </a:lnSpc>
              <a:buNone/>
            </a:pPr>
            <a:r>
              <a:rPr lang="en-US" sz="1650" b="1" dirty="0">
                <a:solidFill>
                  <a:srgbClr val="262626"/>
                </a:solidFill>
                <a:latin typeface="メイリオ" pitchFamily="34" charset="0"/>
                <a:ea typeface="メイリオ" pitchFamily="34" charset="-122"/>
                <a:cs typeface="メイリオ" pitchFamily="34" charset="-120"/>
              </a:rPr>
              <a:t>困ったときに</a:t>
            </a:r>
            <a:endParaRPr lang="en-US" sz="1650" dirty="0"/>
          </a:p>
          <a:p>
            <a:pPr algn="ctr" indent="0" marL="0">
              <a:lnSpc>
                <a:spcPct val="105000"/>
              </a:lnSpc>
              <a:buNone/>
            </a:pPr>
            <a:r>
              <a:rPr lang="en-US" sz="1650" b="1" dirty="0">
                <a:solidFill>
                  <a:srgbClr val="262626"/>
                </a:solidFill>
                <a:latin typeface="メイリオ" pitchFamily="34" charset="0"/>
                <a:ea typeface="メイリオ" pitchFamily="34" charset="-122"/>
                <a:cs typeface="メイリオ" pitchFamily="34" charset="-120"/>
              </a:rPr>
              <a:t>思い出す</a:t>
            </a:r>
            <a:endParaRPr lang="en-US" sz="1650" dirty="0"/>
          </a:p>
        </p:txBody>
      </p:sp>
      <p:sp>
        <p:nvSpPr>
          <p:cNvPr id="18" name="Text 16"/>
          <p:cNvSpPr txBox="1"/>
          <p:nvPr/>
        </p:nvSpPr>
        <p:spPr>
          <a:xfrm>
            <a:off x="10265565" y="3428443"/>
            <a:ext cx="181506" cy="1210039"/>
          </a:xfrm>
          <a:prstGeom prst="rect">
            <a:avLst/>
          </a:prstGeom>
          <a:noFill/>
          <a:ln/>
        </p:spPr>
        <p:txBody>
          <a:bodyPr wrap="square" lIns="0" tIns="0" rIns="0" bIns="0" rtlCol="0" anchor="ctr"/>
          <a:lstStyle/>
          <a:p>
            <a:pPr algn="ctr" indent="0" marL="0">
              <a:buNone/>
            </a:pPr>
            <a:r>
              <a:rPr lang="en-US" sz="1750" dirty="0">
                <a:solidFill>
                  <a:srgbClr val="666666"/>
                </a:solidFill>
                <a:latin typeface="メイリオ" pitchFamily="34" charset="0"/>
                <a:ea typeface="メイリオ" pitchFamily="34" charset="-122"/>
                <a:cs typeface="メイリオ" pitchFamily="34" charset="-120"/>
              </a:rPr>
              <a:t>›</a:t>
            </a:r>
            <a:endParaRPr lang="en-US" sz="1750" dirty="0"/>
          </a:p>
        </p:txBody>
      </p:sp>
      <p:sp>
        <p:nvSpPr>
          <p:cNvPr id="19" name="Shape 17"/>
          <p:cNvSpPr/>
          <p:nvPr/>
        </p:nvSpPr>
        <p:spPr>
          <a:xfrm>
            <a:off x="10447071" y="3428443"/>
            <a:ext cx="2241193" cy="1210039"/>
          </a:xfrm>
          <a:prstGeom prst="rect">
            <a:avLst/>
          </a:prstGeom>
          <a:solidFill>
            <a:srgbClr val="FFFFFF"/>
          </a:solidFill>
          <a:ln w="12700">
            <a:solidFill>
              <a:srgbClr val="FFFFFF"/>
            </a:solidFill>
            <a:prstDash val="solid"/>
          </a:ln>
        </p:spPr>
      </p:sp>
      <p:sp>
        <p:nvSpPr>
          <p:cNvPr id="20" name="Text 18"/>
          <p:cNvSpPr txBox="1"/>
          <p:nvPr/>
        </p:nvSpPr>
        <p:spPr>
          <a:xfrm>
            <a:off x="10447071" y="3428443"/>
            <a:ext cx="2241193" cy="1210039"/>
          </a:xfrm>
          <a:prstGeom prst="rect">
            <a:avLst/>
          </a:prstGeom>
          <a:noFill/>
          <a:ln/>
        </p:spPr>
        <p:txBody>
          <a:bodyPr wrap="square" lIns="0" tIns="0" rIns="0" bIns="0" rtlCol="0" anchor="ctr"/>
          <a:lstStyle/>
          <a:p>
            <a:pPr algn="ctr" indent="0" marL="0">
              <a:lnSpc>
                <a:spcPct val="105000"/>
              </a:lnSpc>
              <a:buNone/>
            </a:pPr>
            <a:r>
              <a:rPr lang="en-US" sz="1650" b="1" dirty="0">
                <a:solidFill>
                  <a:srgbClr val="262626"/>
                </a:solidFill>
                <a:latin typeface="メイリオ" pitchFamily="34" charset="0"/>
                <a:ea typeface="メイリオ" pitchFamily="34" charset="-122"/>
                <a:cs typeface="メイリオ" pitchFamily="34" charset="-120"/>
              </a:rPr>
              <a:t>相談する</a:t>
            </a:r>
            <a:endParaRPr lang="en-US" sz="1650" dirty="0"/>
          </a:p>
        </p:txBody>
      </p:sp>
      <p:sp>
        <p:nvSpPr>
          <p:cNvPr id="21" name="Shape 19"/>
          <p:cNvSpPr/>
          <p:nvPr/>
        </p:nvSpPr>
        <p:spPr>
          <a:xfrm>
            <a:off x="1876871" y="3146101"/>
            <a:ext cx="2422699" cy="0"/>
          </a:xfrm>
          <a:prstGeom prst="line">
            <a:avLst/>
          </a:prstGeom>
          <a:noFill/>
          <a:ln w="9525">
            <a:solidFill>
              <a:srgbClr val="E5A810"/>
            </a:solidFill>
            <a:prstDash val="solid"/>
          </a:ln>
        </p:spPr>
      </p:sp>
      <p:sp>
        <p:nvSpPr>
          <p:cNvPr id="22" name="Shape 20"/>
          <p:cNvSpPr/>
          <p:nvPr/>
        </p:nvSpPr>
        <p:spPr>
          <a:xfrm>
            <a:off x="1876871" y="3146101"/>
            <a:ext cx="0" cy="181506"/>
          </a:xfrm>
          <a:prstGeom prst="line">
            <a:avLst/>
          </a:prstGeom>
          <a:noFill/>
          <a:ln w="12700">
            <a:solidFill>
              <a:srgbClr val="E5A810"/>
            </a:solidFill>
            <a:prstDash val="solid"/>
          </a:ln>
        </p:spPr>
      </p:sp>
      <p:sp>
        <p:nvSpPr>
          <p:cNvPr id="23" name="Shape 21"/>
          <p:cNvSpPr/>
          <p:nvPr/>
        </p:nvSpPr>
        <p:spPr>
          <a:xfrm>
            <a:off x="4299570" y="3146101"/>
            <a:ext cx="0" cy="181506"/>
          </a:xfrm>
          <a:prstGeom prst="line">
            <a:avLst/>
          </a:prstGeom>
          <a:noFill/>
          <a:ln w="12700">
            <a:solidFill>
              <a:srgbClr val="E5A810"/>
            </a:solidFill>
            <a:prstDash val="solid"/>
          </a:ln>
        </p:spPr>
      </p:sp>
      <p:sp>
        <p:nvSpPr>
          <p:cNvPr id="24" name="Shape 22"/>
          <p:cNvSpPr/>
          <p:nvPr/>
        </p:nvSpPr>
        <p:spPr>
          <a:xfrm>
            <a:off x="2281528" y="2319241"/>
            <a:ext cx="1613385" cy="383179"/>
          </a:xfrm>
          <a:prstGeom prst="rect">
            <a:avLst/>
          </a:prstGeom>
          <a:solidFill>
            <a:srgbClr val="E5A810"/>
          </a:solidFill>
          <a:ln w="12700">
            <a:solidFill>
              <a:srgbClr val="E5A810"/>
            </a:solidFill>
            <a:prstDash val="solid"/>
          </a:ln>
        </p:spPr>
      </p:sp>
      <p:sp>
        <p:nvSpPr>
          <p:cNvPr id="25" name="Text 23"/>
          <p:cNvSpPr txBox="1"/>
          <p:nvPr/>
        </p:nvSpPr>
        <p:spPr>
          <a:xfrm>
            <a:off x="2281528" y="2319241"/>
            <a:ext cx="1613385" cy="383179"/>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広げる</a:t>
            </a:r>
            <a:endParaRPr lang="en-US" sz="1250" dirty="0"/>
          </a:p>
        </p:txBody>
      </p:sp>
      <p:sp>
        <p:nvSpPr>
          <p:cNvPr id="26" name="Text 24"/>
          <p:cNvSpPr txBox="1"/>
          <p:nvPr/>
        </p:nvSpPr>
        <p:spPr>
          <a:xfrm>
            <a:off x="1876871" y="2762922"/>
            <a:ext cx="2422699" cy="302510"/>
          </a:xfrm>
          <a:prstGeom prst="rect">
            <a:avLst/>
          </a:prstGeom>
          <a:noFill/>
          <a:ln/>
        </p:spPr>
        <p:txBody>
          <a:bodyPr wrap="square" lIns="0" tIns="0" rIns="0" bIns="0" rtlCol="0" anchor="t"/>
          <a:lstStyle/>
          <a:p>
            <a:pPr algn="ctr" indent="0" marL="0">
              <a:lnSpc>
                <a:spcPct val="115000"/>
              </a:lnSpc>
              <a:buNone/>
            </a:pPr>
            <a:r>
              <a:rPr lang="en-US" sz="1200" dirty="0">
                <a:solidFill>
                  <a:srgbClr val="666666"/>
                </a:solidFill>
                <a:latin typeface="メイリオ" pitchFamily="34" charset="0"/>
                <a:ea typeface="メイリオ" pitchFamily="34" charset="-122"/>
                <a:cs typeface="メイリオ" pitchFamily="34" charset="-120"/>
              </a:rPr>
              <a:t>知っている人を増やす</a:t>
            </a:r>
            <a:endParaRPr lang="en-US" sz="1200" dirty="0"/>
          </a:p>
        </p:txBody>
      </p:sp>
      <p:sp>
        <p:nvSpPr>
          <p:cNvPr id="27" name="Shape 25"/>
          <p:cNvSpPr/>
          <p:nvPr/>
        </p:nvSpPr>
        <p:spPr>
          <a:xfrm>
            <a:off x="4450825" y="3146101"/>
            <a:ext cx="7116842" cy="0"/>
          </a:xfrm>
          <a:prstGeom prst="line">
            <a:avLst/>
          </a:prstGeom>
          <a:noFill/>
          <a:ln w="9525">
            <a:solidFill>
              <a:srgbClr val="04462F"/>
            </a:solidFill>
            <a:prstDash val="solid"/>
          </a:ln>
        </p:spPr>
      </p:sp>
      <p:sp>
        <p:nvSpPr>
          <p:cNvPr id="28" name="Shape 26"/>
          <p:cNvSpPr/>
          <p:nvPr/>
        </p:nvSpPr>
        <p:spPr>
          <a:xfrm>
            <a:off x="4450825" y="3146101"/>
            <a:ext cx="0" cy="181506"/>
          </a:xfrm>
          <a:prstGeom prst="line">
            <a:avLst/>
          </a:prstGeom>
          <a:noFill/>
          <a:ln w="12700">
            <a:solidFill>
              <a:srgbClr val="04462F"/>
            </a:solidFill>
            <a:prstDash val="solid"/>
          </a:ln>
        </p:spPr>
      </p:sp>
      <p:sp>
        <p:nvSpPr>
          <p:cNvPr id="29" name="Shape 27"/>
          <p:cNvSpPr/>
          <p:nvPr/>
        </p:nvSpPr>
        <p:spPr>
          <a:xfrm>
            <a:off x="11567667" y="3146101"/>
            <a:ext cx="0" cy="181506"/>
          </a:xfrm>
          <a:prstGeom prst="line">
            <a:avLst/>
          </a:prstGeom>
          <a:noFill/>
          <a:ln w="12700">
            <a:solidFill>
              <a:srgbClr val="04462F"/>
            </a:solidFill>
            <a:prstDash val="solid"/>
          </a:ln>
        </p:spPr>
      </p:sp>
      <p:sp>
        <p:nvSpPr>
          <p:cNvPr id="30" name="Shape 28"/>
          <p:cNvSpPr/>
          <p:nvPr/>
        </p:nvSpPr>
        <p:spPr>
          <a:xfrm>
            <a:off x="7202554" y="2319241"/>
            <a:ext cx="1613385" cy="383179"/>
          </a:xfrm>
          <a:prstGeom prst="rect">
            <a:avLst/>
          </a:prstGeom>
          <a:solidFill>
            <a:srgbClr val="04462F"/>
          </a:solidFill>
          <a:ln w="12700">
            <a:solidFill>
              <a:srgbClr val="04462F"/>
            </a:solidFill>
            <a:prstDash val="solid"/>
          </a:ln>
        </p:spPr>
      </p:sp>
      <p:sp>
        <p:nvSpPr>
          <p:cNvPr id="31" name="Text 29"/>
          <p:cNvSpPr txBox="1"/>
          <p:nvPr/>
        </p:nvSpPr>
        <p:spPr>
          <a:xfrm>
            <a:off x="7202554" y="2319241"/>
            <a:ext cx="1613385" cy="383179"/>
          </a:xfrm>
          <a:prstGeom prst="rect">
            <a:avLst/>
          </a:prstGeom>
          <a:noFill/>
          <a:ln/>
        </p:spPr>
        <p:txBody>
          <a:bodyPr wrap="square" lIns="0" tIns="0" rIns="0" bIns="0" rtlCol="0" anchor="ctr"/>
          <a:lstStyle/>
          <a:p>
            <a:pPr algn="ctr" indent="0" marL="0">
              <a:buNone/>
            </a:pPr>
            <a:r>
              <a:rPr lang="en-US" sz="1250" b="1" dirty="0">
                <a:solidFill>
                  <a:srgbClr val="FFFFFF"/>
                </a:solidFill>
                <a:latin typeface="メイリオ" pitchFamily="34" charset="0"/>
                <a:ea typeface="メイリオ" pitchFamily="34" charset="-122"/>
                <a:cs typeface="メイリオ" pitchFamily="34" charset="-120"/>
              </a:rPr>
              <a:t>深める</a:t>
            </a:r>
            <a:endParaRPr lang="en-US" sz="1250" dirty="0"/>
          </a:p>
        </p:txBody>
      </p:sp>
      <p:sp>
        <p:nvSpPr>
          <p:cNvPr id="32" name="Text 30"/>
          <p:cNvSpPr txBox="1"/>
          <p:nvPr/>
        </p:nvSpPr>
        <p:spPr>
          <a:xfrm>
            <a:off x="4450825" y="2762922"/>
            <a:ext cx="7116842" cy="302510"/>
          </a:xfrm>
          <a:prstGeom prst="rect">
            <a:avLst/>
          </a:prstGeom>
          <a:noFill/>
          <a:ln/>
        </p:spPr>
        <p:txBody>
          <a:bodyPr wrap="square" lIns="0" tIns="0" rIns="0" bIns="0" rtlCol="0" anchor="t"/>
          <a:lstStyle/>
          <a:p>
            <a:pPr algn="ctr" indent="0" marL="0">
              <a:lnSpc>
                <a:spcPct val="115000"/>
              </a:lnSpc>
              <a:buNone/>
            </a:pPr>
            <a:r>
              <a:rPr lang="en-US" sz="1200" dirty="0">
                <a:solidFill>
                  <a:srgbClr val="666666"/>
                </a:solidFill>
                <a:latin typeface="メイリオ" pitchFamily="34" charset="0"/>
                <a:ea typeface="メイリオ" pitchFamily="34" charset="-122"/>
                <a:cs typeface="メイリオ" pitchFamily="34" charset="-120"/>
              </a:rPr>
              <a:t>知っている人に、頼ってもらう</a:t>
            </a:r>
            <a:endParaRPr lang="en-US" sz="1200" dirty="0"/>
          </a:p>
        </p:txBody>
      </p:sp>
      <p:sp>
        <p:nvSpPr>
          <p:cNvPr id="33" name="Shape 31"/>
          <p:cNvSpPr/>
          <p:nvPr/>
        </p:nvSpPr>
        <p:spPr>
          <a:xfrm>
            <a:off x="756274" y="5041828"/>
            <a:ext cx="11931990" cy="1462130"/>
          </a:xfrm>
          <a:prstGeom prst="rect">
            <a:avLst/>
          </a:prstGeom>
          <a:solidFill>
            <a:srgbClr val="04462F"/>
          </a:solidFill>
          <a:ln w="12700">
            <a:solidFill>
              <a:srgbClr val="04462F"/>
            </a:solidFill>
            <a:prstDash val="solid"/>
          </a:ln>
        </p:spPr>
      </p:sp>
      <p:sp>
        <p:nvSpPr>
          <p:cNvPr id="34" name="Text 32"/>
          <p:cNvSpPr txBox="1"/>
          <p:nvPr/>
        </p:nvSpPr>
        <p:spPr>
          <a:xfrm>
            <a:off x="1159620" y="5223334"/>
            <a:ext cx="4033462" cy="352928"/>
          </a:xfrm>
          <a:prstGeom prst="rect">
            <a:avLst/>
          </a:prstGeom>
          <a:noFill/>
          <a:ln/>
        </p:spPr>
        <p:txBody>
          <a:bodyPr wrap="square" lIns="0" tIns="0" rIns="0" bIns="0" rtlCol="0" anchor="t"/>
          <a:lstStyle/>
          <a:p>
            <a:pPr indent="0" marL="0">
              <a:lnSpc>
                <a:spcPct val="115000"/>
              </a:lnSpc>
              <a:buNone/>
            </a:pPr>
            <a:r>
              <a:rPr lang="en-US" sz="1300" b="1" dirty="0">
                <a:solidFill>
                  <a:srgbClr val="E5A810"/>
                </a:solidFill>
                <a:latin typeface="メイリオ" pitchFamily="34" charset="0"/>
                <a:ea typeface="メイリオ" pitchFamily="34" charset="-122"/>
                <a:cs typeface="メイリオ" pitchFamily="34" charset="-120"/>
              </a:rPr>
              <a:t>私たちが見極めたいこと</a:t>
            </a:r>
            <a:endParaRPr lang="en-US" sz="1300" dirty="0"/>
          </a:p>
        </p:txBody>
      </p:sp>
      <p:sp>
        <p:nvSpPr>
          <p:cNvPr id="35" name="Text 33"/>
          <p:cNvSpPr txBox="1"/>
          <p:nvPr/>
        </p:nvSpPr>
        <p:spPr>
          <a:xfrm>
            <a:off x="1159620" y="5596429"/>
            <a:ext cx="11125297" cy="806692"/>
          </a:xfrm>
          <a:prstGeom prst="rect">
            <a:avLst/>
          </a:prstGeom>
          <a:noFill/>
          <a:ln/>
        </p:spPr>
        <p:txBody>
          <a:bodyPr wrap="square" lIns="0" tIns="0" rIns="0" bIns="0" rtlCol="0" anchor="t"/>
          <a:lstStyle/>
          <a:p>
            <a:pPr indent="0" marL="0">
              <a:lnSpc>
                <a:spcPct val="120000"/>
              </a:lnSpc>
              <a:buNone/>
            </a:pPr>
            <a:r>
              <a:rPr lang="en-US" sz="1550" b="1" dirty="0">
                <a:solidFill>
                  <a:srgbClr val="FFFFFF"/>
                </a:solidFill>
                <a:latin typeface="メイリオ" pitchFamily="34" charset="0"/>
                <a:ea typeface="メイリオ" pitchFamily="34" charset="-122"/>
                <a:cs typeface="メイリオ" pitchFamily="34" charset="-120"/>
              </a:rPr>
              <a:t>来年度、「広げる」と「深める」のどちらに、どの層で、どれだけ力を配分するか。</a:t>
            </a:r>
            <a:endParaRPr lang="en-US" sz="1550" dirty="0"/>
          </a:p>
          <a:p>
            <a:pPr indent="0" marL="0">
              <a:lnSpc>
                <a:spcPct val="120000"/>
              </a:lnSpc>
              <a:buNone/>
            </a:pPr>
            <a:r>
              <a:rPr lang="en-US" sz="1550" b="1" dirty="0">
                <a:solidFill>
                  <a:srgbClr val="FFFFFF"/>
                </a:solidFill>
                <a:latin typeface="メイリオ" pitchFamily="34" charset="0"/>
                <a:ea typeface="メイリオ" pitchFamily="34" charset="-122"/>
                <a:cs typeface="メイリオ" pitchFamily="34" charset="-120"/>
              </a:rPr>
              <a:t>12月調査の結果と、本日伺うお話から見極めたいと考えています。</a:t>
            </a:r>
            <a:endParaRPr lang="en-US" sz="155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6</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Questions</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お伺いしたいこと　1 / 4</a:t>
            </a:r>
            <a:endParaRPr lang="en-US" sz="1800" dirty="0"/>
          </a:p>
        </p:txBody>
      </p:sp>
      <p:sp>
        <p:nvSpPr>
          <p:cNvPr id="6" name="Shape 4"/>
          <p:cNvSpPr/>
          <p:nvPr/>
        </p:nvSpPr>
        <p:spPr>
          <a:xfrm>
            <a:off x="756274" y="1865476"/>
            <a:ext cx="3680534" cy="4638482"/>
          </a:xfrm>
          <a:prstGeom prst="rect">
            <a:avLst/>
          </a:prstGeom>
          <a:solidFill>
            <a:srgbClr val="04462F"/>
          </a:solidFill>
          <a:ln w="12700">
            <a:solidFill>
              <a:srgbClr val="04462F"/>
            </a:solidFill>
            <a:prstDash val="solid"/>
          </a:ln>
        </p:spPr>
      </p:sp>
      <p:sp>
        <p:nvSpPr>
          <p:cNvPr id="7" name="Text 5"/>
          <p:cNvSpPr txBox="1"/>
          <p:nvPr/>
        </p:nvSpPr>
        <p:spPr>
          <a:xfrm>
            <a:off x="1109202" y="2117568"/>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テーマ 1</a:t>
            </a:r>
            <a:endParaRPr lang="en-US" sz="1250" dirty="0"/>
          </a:p>
        </p:txBody>
      </p:sp>
      <p:sp>
        <p:nvSpPr>
          <p:cNvPr id="8" name="Text 6"/>
          <p:cNvSpPr txBox="1"/>
          <p:nvPr/>
        </p:nvSpPr>
        <p:spPr>
          <a:xfrm>
            <a:off x="1109202" y="2470496"/>
            <a:ext cx="3025097" cy="1109202"/>
          </a:xfrm>
          <a:prstGeom prst="rect">
            <a:avLst/>
          </a:prstGeom>
          <a:noFill/>
          <a:ln/>
        </p:spPr>
        <p:txBody>
          <a:bodyPr wrap="square" lIns="0" tIns="0" rIns="0" bIns="0" rtlCol="0" anchor="t"/>
          <a:lstStyle/>
          <a:p>
            <a:pPr indent="0" marL="0">
              <a:lnSpc>
                <a:spcPct val="110000"/>
              </a:lnSpc>
              <a:buNone/>
            </a:pPr>
            <a:r>
              <a:rPr lang="en-US" sz="2300" b="1" dirty="0">
                <a:solidFill>
                  <a:srgbClr val="FFFFFF"/>
                </a:solidFill>
                <a:latin typeface="メイリオ" pitchFamily="34" charset="0"/>
                <a:ea typeface="メイリオ" pitchFamily="34" charset="-122"/>
                <a:cs typeface="メイリオ" pitchFamily="34" charset="-120"/>
              </a:rPr>
              <a:t>目指している姿</a:t>
            </a:r>
            <a:endParaRPr lang="en-US" sz="2300" dirty="0"/>
          </a:p>
        </p:txBody>
      </p:sp>
      <p:sp>
        <p:nvSpPr>
          <p:cNvPr id="9" name="Shape 7"/>
          <p:cNvSpPr/>
          <p:nvPr/>
        </p:nvSpPr>
        <p:spPr>
          <a:xfrm>
            <a:off x="1109202" y="3781371"/>
            <a:ext cx="2974678" cy="0"/>
          </a:xfrm>
          <a:prstGeom prst="line">
            <a:avLst/>
          </a:prstGeom>
          <a:noFill/>
          <a:ln w="9525">
            <a:solidFill>
              <a:srgbClr val="5E8474"/>
            </a:solidFill>
            <a:prstDash val="solid"/>
          </a:ln>
        </p:spPr>
      </p:sp>
      <p:sp>
        <p:nvSpPr>
          <p:cNvPr id="10" name="Text 8"/>
          <p:cNvSpPr txBox="1"/>
          <p:nvPr/>
        </p:nvSpPr>
        <p:spPr>
          <a:xfrm>
            <a:off x="1109202" y="3983044"/>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なぜ伺うか</a:t>
            </a:r>
            <a:endParaRPr lang="en-US" sz="1250" dirty="0"/>
          </a:p>
        </p:txBody>
      </p:sp>
      <p:sp>
        <p:nvSpPr>
          <p:cNvPr id="11" name="Text 9"/>
          <p:cNvSpPr txBox="1"/>
          <p:nvPr/>
        </p:nvSpPr>
        <p:spPr>
          <a:xfrm>
            <a:off x="1109202" y="4356139"/>
            <a:ext cx="2974678" cy="1915895"/>
          </a:xfrm>
          <a:prstGeom prst="rect">
            <a:avLst/>
          </a:prstGeom>
          <a:noFill/>
          <a:ln/>
        </p:spPr>
        <p:txBody>
          <a:bodyPr wrap="square" lIns="0" tIns="0" rIns="0" bIns="0" rtlCol="0" anchor="t"/>
          <a:lstStyle/>
          <a:p>
            <a:pPr indent="0" marL="0">
              <a:lnSpc>
                <a:spcPct val="130000"/>
              </a:lnSpc>
              <a:buNone/>
            </a:pPr>
            <a:r>
              <a:rPr lang="en-US" sz="1400" dirty="0">
                <a:solidFill>
                  <a:srgbClr val="FFFFFF"/>
                </a:solidFill>
                <a:latin typeface="メイリオ" pitchFamily="34" charset="0"/>
                <a:ea typeface="メイリオ" pitchFamily="34" charset="-122"/>
                <a:cs typeface="メイリオ" pitchFamily="34" charset="-120"/>
              </a:rPr>
              <a:t>何をもって「成功」とするかで、分析の切り口も提言の中身も変わるため。</a:t>
            </a:r>
            <a:endParaRPr lang="en-US" sz="1400" dirty="0"/>
          </a:p>
        </p:txBody>
      </p:sp>
      <p:sp>
        <p:nvSpPr>
          <p:cNvPr id="12" name="Shape 10"/>
          <p:cNvSpPr/>
          <p:nvPr/>
        </p:nvSpPr>
        <p:spPr>
          <a:xfrm>
            <a:off x="4688900" y="1865476"/>
            <a:ext cx="7999364" cy="1431879"/>
          </a:xfrm>
          <a:prstGeom prst="rect">
            <a:avLst/>
          </a:prstGeom>
          <a:solidFill>
            <a:srgbClr val="FFFFFF"/>
          </a:solidFill>
          <a:ln w="12700">
            <a:solidFill>
              <a:srgbClr val="FFFFFF"/>
            </a:solidFill>
            <a:prstDash val="solid"/>
          </a:ln>
        </p:spPr>
      </p:sp>
      <p:sp>
        <p:nvSpPr>
          <p:cNvPr id="13" name="Shape 11"/>
          <p:cNvSpPr/>
          <p:nvPr/>
        </p:nvSpPr>
        <p:spPr>
          <a:xfrm>
            <a:off x="4991410" y="2167986"/>
            <a:ext cx="463848" cy="463848"/>
          </a:xfrm>
          <a:prstGeom prst="ellipse">
            <a:avLst/>
          </a:prstGeom>
          <a:solidFill>
            <a:srgbClr val="E5A810"/>
          </a:solidFill>
          <a:ln w="12700">
            <a:solidFill>
              <a:srgbClr val="E5A810"/>
            </a:solidFill>
            <a:prstDash val="solid"/>
          </a:ln>
        </p:spPr>
      </p:sp>
      <p:sp>
        <p:nvSpPr>
          <p:cNvPr id="14" name="Text 12"/>
          <p:cNvSpPr txBox="1"/>
          <p:nvPr/>
        </p:nvSpPr>
        <p:spPr>
          <a:xfrm>
            <a:off x="4991410" y="2167986"/>
            <a:ext cx="463848" cy="463848"/>
          </a:xfrm>
          <a:prstGeom prst="rect">
            <a:avLst/>
          </a:prstGeom>
          <a:noFill/>
          <a:ln/>
        </p:spPr>
        <p:txBody>
          <a:bodyPr wrap="square" lIns="0" tIns="0" rIns="0" bIns="0" rtlCol="0" anchor="ctr"/>
          <a:lstStyle/>
          <a:p>
            <a:pPr algn="ctr" indent="0" marL="0">
              <a:buNone/>
            </a:pPr>
            <a:r>
              <a:rPr lang="en-US" sz="1550" b="1" dirty="0">
                <a:solidFill>
                  <a:srgbClr val="262626"/>
                </a:solidFill>
                <a:latin typeface="メイリオ" pitchFamily="34" charset="0"/>
                <a:ea typeface="メイリオ" pitchFamily="34" charset="-122"/>
                <a:cs typeface="メイリオ" pitchFamily="34" charset="-120"/>
              </a:rPr>
              <a:t>Q</a:t>
            </a:r>
            <a:endParaRPr lang="en-US" sz="1550" dirty="0"/>
          </a:p>
        </p:txBody>
      </p:sp>
      <p:sp>
        <p:nvSpPr>
          <p:cNvPr id="15" name="Text 13"/>
          <p:cNvSpPr txBox="1"/>
          <p:nvPr/>
        </p:nvSpPr>
        <p:spPr>
          <a:xfrm>
            <a:off x="5697265" y="2127651"/>
            <a:ext cx="5175940" cy="756274"/>
          </a:xfrm>
          <a:prstGeom prst="rect">
            <a:avLst/>
          </a:prstGeom>
          <a:noFill/>
          <a:ln/>
        </p:spPr>
        <p:txBody>
          <a:bodyPr wrap="square" lIns="0" tIns="0" rIns="0" bIns="0" rtlCol="0" anchor="t"/>
          <a:lstStyle/>
          <a:p>
            <a:pPr indent="0" marL="0">
              <a:lnSpc>
                <a:spcPct val="115000"/>
              </a:lnSpc>
              <a:buNone/>
            </a:pPr>
            <a:r>
              <a:rPr lang="en-US" sz="1650" b="1" dirty="0">
                <a:solidFill>
                  <a:srgbClr val="04462F"/>
                </a:solidFill>
                <a:latin typeface="メイリオ" pitchFamily="34" charset="0"/>
                <a:ea typeface="メイリオ" pitchFamily="34" charset="-122"/>
                <a:cs typeface="メイリオ" pitchFamily="34" charset="-120"/>
              </a:rPr>
              <a:t>認知度が上がったとき、法テラスにとって何が変わってほしいですか。</a:t>
            </a:r>
            <a:endParaRPr lang="en-US" sz="1650" dirty="0"/>
          </a:p>
        </p:txBody>
      </p:sp>
      <p:sp>
        <p:nvSpPr>
          <p:cNvPr id="16" name="Text 14"/>
          <p:cNvSpPr txBox="1"/>
          <p:nvPr/>
        </p:nvSpPr>
        <p:spPr>
          <a:xfrm>
            <a:off x="5697265" y="2853675"/>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相談の件数か、必要な人が適切な窓口にたどり着くことか。</a:t>
            </a:r>
            <a:endParaRPr lang="en-US" sz="1250" dirty="0"/>
          </a:p>
        </p:txBody>
      </p:sp>
      <p:sp>
        <p:nvSpPr>
          <p:cNvPr id="17" name="Shape 15"/>
          <p:cNvSpPr/>
          <p:nvPr/>
        </p:nvSpPr>
        <p:spPr>
          <a:xfrm>
            <a:off x="11024461" y="2147819"/>
            <a:ext cx="1411712" cy="302510"/>
          </a:xfrm>
          <a:prstGeom prst="rect">
            <a:avLst/>
          </a:prstGeom>
          <a:solidFill>
            <a:srgbClr val="E5A810"/>
          </a:solidFill>
          <a:ln w="12700">
            <a:solidFill>
              <a:srgbClr val="E5A810"/>
            </a:solidFill>
            <a:prstDash val="solid"/>
          </a:ln>
        </p:spPr>
      </p:sp>
      <p:sp>
        <p:nvSpPr>
          <p:cNvPr id="18" name="Text 16"/>
          <p:cNvSpPr txBox="1"/>
          <p:nvPr/>
        </p:nvSpPr>
        <p:spPr>
          <a:xfrm>
            <a:off x="11024461" y="2147819"/>
            <a:ext cx="1411712" cy="302510"/>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特に伺いたい</a:t>
            </a:r>
            <a:endParaRPr lang="en-US" sz="1250" dirty="0"/>
          </a:p>
        </p:txBody>
      </p:sp>
      <p:sp>
        <p:nvSpPr>
          <p:cNvPr id="19" name="Shape 17"/>
          <p:cNvSpPr/>
          <p:nvPr/>
        </p:nvSpPr>
        <p:spPr>
          <a:xfrm>
            <a:off x="4688900" y="3478861"/>
            <a:ext cx="7999364" cy="1431879"/>
          </a:xfrm>
          <a:prstGeom prst="rect">
            <a:avLst/>
          </a:prstGeom>
          <a:solidFill>
            <a:srgbClr val="FFFFFF"/>
          </a:solidFill>
          <a:ln w="12700">
            <a:solidFill>
              <a:srgbClr val="FFFFFF"/>
            </a:solidFill>
            <a:prstDash val="solid"/>
          </a:ln>
        </p:spPr>
      </p:sp>
      <p:sp>
        <p:nvSpPr>
          <p:cNvPr id="20" name="Shape 18"/>
          <p:cNvSpPr/>
          <p:nvPr/>
        </p:nvSpPr>
        <p:spPr>
          <a:xfrm>
            <a:off x="4991410" y="3781371"/>
            <a:ext cx="463848" cy="463848"/>
          </a:xfrm>
          <a:prstGeom prst="ellipse">
            <a:avLst/>
          </a:prstGeom>
          <a:solidFill>
            <a:srgbClr val="04462F"/>
          </a:solidFill>
          <a:ln w="12700">
            <a:solidFill>
              <a:srgbClr val="04462F"/>
            </a:solidFill>
            <a:prstDash val="solid"/>
          </a:ln>
        </p:spPr>
      </p:sp>
      <p:sp>
        <p:nvSpPr>
          <p:cNvPr id="21" name="Text 19"/>
          <p:cNvSpPr txBox="1"/>
          <p:nvPr/>
        </p:nvSpPr>
        <p:spPr>
          <a:xfrm>
            <a:off x="4991410" y="3781371"/>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2" name="Text 20"/>
          <p:cNvSpPr txBox="1"/>
          <p:nvPr/>
        </p:nvSpPr>
        <p:spPr>
          <a:xfrm>
            <a:off x="5697265" y="3741036"/>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「認知度が低い」と感じられているのは、何と比べてでしょうか。</a:t>
            </a:r>
            <a:endParaRPr lang="en-US" sz="1650" dirty="0"/>
          </a:p>
        </p:txBody>
      </p:sp>
      <p:sp>
        <p:nvSpPr>
          <p:cNvPr id="23" name="Text 21"/>
          <p:cNvSpPr txBox="1"/>
          <p:nvPr/>
        </p:nvSpPr>
        <p:spPr>
          <a:xfrm>
            <a:off x="5697265" y="4204884"/>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過去の推移、目標値、他の機関、現場での実感など。</a:t>
            </a:r>
            <a:endParaRPr lang="en-US" sz="1250" dirty="0"/>
          </a:p>
        </p:txBody>
      </p:sp>
      <p:sp>
        <p:nvSpPr>
          <p:cNvPr id="24" name="Shape 22"/>
          <p:cNvSpPr/>
          <p:nvPr/>
        </p:nvSpPr>
        <p:spPr>
          <a:xfrm>
            <a:off x="4688900" y="5092246"/>
            <a:ext cx="7999364" cy="1431879"/>
          </a:xfrm>
          <a:prstGeom prst="rect">
            <a:avLst/>
          </a:prstGeom>
          <a:solidFill>
            <a:srgbClr val="FFFFFF"/>
          </a:solidFill>
          <a:ln w="12700">
            <a:solidFill>
              <a:srgbClr val="FFFFFF"/>
            </a:solidFill>
            <a:prstDash val="solid"/>
          </a:ln>
        </p:spPr>
      </p:sp>
      <p:sp>
        <p:nvSpPr>
          <p:cNvPr id="25" name="Shape 23"/>
          <p:cNvSpPr/>
          <p:nvPr/>
        </p:nvSpPr>
        <p:spPr>
          <a:xfrm>
            <a:off x="4991410" y="5394756"/>
            <a:ext cx="463848" cy="463848"/>
          </a:xfrm>
          <a:prstGeom prst="ellipse">
            <a:avLst/>
          </a:prstGeom>
          <a:solidFill>
            <a:srgbClr val="04462F"/>
          </a:solidFill>
          <a:ln w="12700">
            <a:solidFill>
              <a:srgbClr val="04462F"/>
            </a:solidFill>
            <a:prstDash val="solid"/>
          </a:ln>
        </p:spPr>
      </p:sp>
      <p:sp>
        <p:nvSpPr>
          <p:cNvPr id="26" name="Text 24"/>
          <p:cNvSpPr txBox="1"/>
          <p:nvPr/>
        </p:nvSpPr>
        <p:spPr>
          <a:xfrm>
            <a:off x="4991410" y="5394756"/>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7" name="Text 25"/>
          <p:cNvSpPr txBox="1"/>
          <p:nvPr/>
        </p:nvSpPr>
        <p:spPr>
          <a:xfrm>
            <a:off x="5697265" y="5354421"/>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特に届けたい方、届いていないと感じている方はいますか。</a:t>
            </a:r>
            <a:endParaRPr lang="en-US" sz="1650" dirty="0"/>
          </a:p>
        </p:txBody>
      </p:sp>
      <p:sp>
        <p:nvSpPr>
          <p:cNvPr id="28" name="Text 26"/>
          <p:cNvSpPr txBox="1"/>
          <p:nvPr/>
        </p:nvSpPr>
        <p:spPr>
          <a:xfrm>
            <a:off x="5697265" y="5818269"/>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年代、地域、置かれている状況など。</a:t>
            </a:r>
            <a:endParaRPr lang="en-US" sz="125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7</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Questions</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お伺いしたいこと　2 / 4</a:t>
            </a:r>
            <a:endParaRPr lang="en-US" sz="1800" dirty="0"/>
          </a:p>
        </p:txBody>
      </p:sp>
      <p:sp>
        <p:nvSpPr>
          <p:cNvPr id="6" name="Shape 4"/>
          <p:cNvSpPr/>
          <p:nvPr/>
        </p:nvSpPr>
        <p:spPr>
          <a:xfrm>
            <a:off x="756274" y="1865476"/>
            <a:ext cx="3680534" cy="4638482"/>
          </a:xfrm>
          <a:prstGeom prst="rect">
            <a:avLst/>
          </a:prstGeom>
          <a:solidFill>
            <a:srgbClr val="04462F"/>
          </a:solidFill>
          <a:ln w="12700">
            <a:solidFill>
              <a:srgbClr val="04462F"/>
            </a:solidFill>
            <a:prstDash val="solid"/>
          </a:ln>
        </p:spPr>
      </p:sp>
      <p:sp>
        <p:nvSpPr>
          <p:cNvPr id="7" name="Text 5"/>
          <p:cNvSpPr txBox="1"/>
          <p:nvPr/>
        </p:nvSpPr>
        <p:spPr>
          <a:xfrm>
            <a:off x="1109202" y="2117568"/>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テーマ 2</a:t>
            </a:r>
            <a:endParaRPr lang="en-US" sz="1250" dirty="0"/>
          </a:p>
        </p:txBody>
      </p:sp>
      <p:sp>
        <p:nvSpPr>
          <p:cNvPr id="8" name="Text 6"/>
          <p:cNvSpPr txBox="1"/>
          <p:nvPr/>
        </p:nvSpPr>
        <p:spPr>
          <a:xfrm>
            <a:off x="1109202" y="2470496"/>
            <a:ext cx="3025097" cy="1109202"/>
          </a:xfrm>
          <a:prstGeom prst="rect">
            <a:avLst/>
          </a:prstGeom>
          <a:noFill/>
          <a:ln/>
        </p:spPr>
        <p:txBody>
          <a:bodyPr wrap="square" lIns="0" tIns="0" rIns="0" bIns="0" rtlCol="0" anchor="t"/>
          <a:lstStyle/>
          <a:p>
            <a:pPr indent="0" marL="0">
              <a:lnSpc>
                <a:spcPct val="110000"/>
              </a:lnSpc>
              <a:buNone/>
            </a:pPr>
            <a:r>
              <a:rPr lang="en-US" sz="2300" b="1" dirty="0">
                <a:solidFill>
                  <a:srgbClr val="FFFFFF"/>
                </a:solidFill>
                <a:latin typeface="メイリオ" pitchFamily="34" charset="0"/>
                <a:ea typeface="メイリオ" pitchFamily="34" charset="-122"/>
                <a:cs typeface="メイリオ" pitchFamily="34" charset="-120"/>
              </a:rPr>
              <a:t>調査とデータ</a:t>
            </a:r>
            <a:endParaRPr lang="en-US" sz="2300" dirty="0"/>
          </a:p>
        </p:txBody>
      </p:sp>
      <p:sp>
        <p:nvSpPr>
          <p:cNvPr id="9" name="Shape 7"/>
          <p:cNvSpPr/>
          <p:nvPr/>
        </p:nvSpPr>
        <p:spPr>
          <a:xfrm>
            <a:off x="1109202" y="3781371"/>
            <a:ext cx="2974678" cy="0"/>
          </a:xfrm>
          <a:prstGeom prst="line">
            <a:avLst/>
          </a:prstGeom>
          <a:noFill/>
          <a:ln w="9525">
            <a:solidFill>
              <a:srgbClr val="5E8474"/>
            </a:solidFill>
            <a:prstDash val="solid"/>
          </a:ln>
        </p:spPr>
      </p:sp>
      <p:sp>
        <p:nvSpPr>
          <p:cNvPr id="10" name="Text 8"/>
          <p:cNvSpPr txBox="1"/>
          <p:nvPr/>
        </p:nvSpPr>
        <p:spPr>
          <a:xfrm>
            <a:off x="1109202" y="3983044"/>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なぜ伺うか</a:t>
            </a:r>
            <a:endParaRPr lang="en-US" sz="1250" dirty="0"/>
          </a:p>
        </p:txBody>
      </p:sp>
      <p:sp>
        <p:nvSpPr>
          <p:cNvPr id="11" name="Text 9"/>
          <p:cNvSpPr txBox="1"/>
          <p:nvPr/>
        </p:nvSpPr>
        <p:spPr>
          <a:xfrm>
            <a:off x="1109202" y="4356139"/>
            <a:ext cx="2974678" cy="1915895"/>
          </a:xfrm>
          <a:prstGeom prst="rect">
            <a:avLst/>
          </a:prstGeom>
          <a:noFill/>
          <a:ln/>
        </p:spPr>
        <p:txBody>
          <a:bodyPr wrap="square" lIns="0" tIns="0" rIns="0" bIns="0" rtlCol="0" anchor="t"/>
          <a:lstStyle/>
          <a:p>
            <a:pPr indent="0" marL="0">
              <a:lnSpc>
                <a:spcPct val="130000"/>
              </a:lnSpc>
              <a:buNone/>
            </a:pPr>
            <a:r>
              <a:rPr lang="en-US" sz="1400" dirty="0">
                <a:solidFill>
                  <a:srgbClr val="FFFFFF"/>
                </a:solidFill>
                <a:latin typeface="メイリオ" pitchFamily="34" charset="0"/>
                <a:ea typeface="メイリオ" pitchFamily="34" charset="-122"/>
                <a:cs typeface="メイリオ" pitchFamily="34" charset="-120"/>
              </a:rPr>
              <a:t>1月に分析を始めるとき、何が使えて何が使えないかを早めに把握しておくため。</a:t>
            </a:r>
            <a:endParaRPr lang="en-US" sz="1400" dirty="0"/>
          </a:p>
        </p:txBody>
      </p:sp>
      <p:sp>
        <p:nvSpPr>
          <p:cNvPr id="12" name="Shape 10"/>
          <p:cNvSpPr/>
          <p:nvPr/>
        </p:nvSpPr>
        <p:spPr>
          <a:xfrm>
            <a:off x="4688900" y="1865476"/>
            <a:ext cx="7999364" cy="1431879"/>
          </a:xfrm>
          <a:prstGeom prst="rect">
            <a:avLst/>
          </a:prstGeom>
          <a:solidFill>
            <a:srgbClr val="FFFFFF"/>
          </a:solidFill>
          <a:ln w="12700">
            <a:solidFill>
              <a:srgbClr val="FFFFFF"/>
            </a:solidFill>
            <a:prstDash val="solid"/>
          </a:ln>
        </p:spPr>
      </p:sp>
      <p:sp>
        <p:nvSpPr>
          <p:cNvPr id="13" name="Shape 11"/>
          <p:cNvSpPr/>
          <p:nvPr/>
        </p:nvSpPr>
        <p:spPr>
          <a:xfrm>
            <a:off x="4991410" y="2167986"/>
            <a:ext cx="463848" cy="463848"/>
          </a:xfrm>
          <a:prstGeom prst="ellipse">
            <a:avLst/>
          </a:prstGeom>
          <a:solidFill>
            <a:srgbClr val="E5A810"/>
          </a:solidFill>
          <a:ln w="12700">
            <a:solidFill>
              <a:srgbClr val="E5A810"/>
            </a:solidFill>
            <a:prstDash val="solid"/>
          </a:ln>
        </p:spPr>
      </p:sp>
      <p:sp>
        <p:nvSpPr>
          <p:cNvPr id="14" name="Text 12"/>
          <p:cNvSpPr txBox="1"/>
          <p:nvPr/>
        </p:nvSpPr>
        <p:spPr>
          <a:xfrm>
            <a:off x="4991410" y="2167986"/>
            <a:ext cx="463848" cy="463848"/>
          </a:xfrm>
          <a:prstGeom prst="rect">
            <a:avLst/>
          </a:prstGeom>
          <a:noFill/>
          <a:ln/>
        </p:spPr>
        <p:txBody>
          <a:bodyPr wrap="square" lIns="0" tIns="0" rIns="0" bIns="0" rtlCol="0" anchor="ctr"/>
          <a:lstStyle/>
          <a:p>
            <a:pPr algn="ctr" indent="0" marL="0">
              <a:buNone/>
            </a:pPr>
            <a:r>
              <a:rPr lang="en-US" sz="1550" b="1" dirty="0">
                <a:solidFill>
                  <a:srgbClr val="262626"/>
                </a:solidFill>
                <a:latin typeface="メイリオ" pitchFamily="34" charset="0"/>
                <a:ea typeface="メイリオ" pitchFamily="34" charset="-122"/>
                <a:cs typeface="メイリオ" pitchFamily="34" charset="-120"/>
              </a:rPr>
              <a:t>Q</a:t>
            </a:r>
            <a:endParaRPr lang="en-US" sz="1550" dirty="0"/>
          </a:p>
        </p:txBody>
      </p:sp>
      <p:sp>
        <p:nvSpPr>
          <p:cNvPr id="15" name="Text 13"/>
          <p:cNvSpPr txBox="1"/>
          <p:nvPr/>
        </p:nvSpPr>
        <p:spPr>
          <a:xfrm>
            <a:off x="5697265" y="2127651"/>
            <a:ext cx="5175940" cy="756274"/>
          </a:xfrm>
          <a:prstGeom prst="rect">
            <a:avLst/>
          </a:prstGeom>
          <a:noFill/>
          <a:ln/>
        </p:spPr>
        <p:txBody>
          <a:bodyPr wrap="square" lIns="0" tIns="0" rIns="0" bIns="0" rtlCol="0" anchor="t"/>
          <a:lstStyle/>
          <a:p>
            <a:pPr indent="0" marL="0">
              <a:lnSpc>
                <a:spcPct val="115000"/>
              </a:lnSpc>
              <a:buNone/>
            </a:pPr>
            <a:r>
              <a:rPr lang="en-US" sz="1650" b="1" dirty="0">
                <a:solidFill>
                  <a:srgbClr val="04462F"/>
                </a:solidFill>
                <a:latin typeface="メイリオ" pitchFamily="34" charset="0"/>
                <a:ea typeface="メイリオ" pitchFamily="34" charset="-122"/>
                <a:cs typeface="メイリオ" pitchFamily="34" charset="-120"/>
              </a:rPr>
              <a:t>これまでの調査結果で、気になっている数字や意外だった点はありますか。</a:t>
            </a:r>
            <a:endParaRPr lang="en-US" sz="1650" dirty="0"/>
          </a:p>
        </p:txBody>
      </p:sp>
      <p:sp>
        <p:nvSpPr>
          <p:cNvPr id="16" name="Text 14"/>
          <p:cNvSpPr txBox="1"/>
          <p:nvPr/>
        </p:nvSpPr>
        <p:spPr>
          <a:xfrm>
            <a:off x="5697265" y="2853675"/>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毎年見ている方だからこそ感じている違和感を伺いたいです。</a:t>
            </a:r>
            <a:endParaRPr lang="en-US" sz="1250" dirty="0"/>
          </a:p>
        </p:txBody>
      </p:sp>
      <p:sp>
        <p:nvSpPr>
          <p:cNvPr id="17" name="Shape 15"/>
          <p:cNvSpPr/>
          <p:nvPr/>
        </p:nvSpPr>
        <p:spPr>
          <a:xfrm>
            <a:off x="11024461" y="2147819"/>
            <a:ext cx="1411712" cy="302510"/>
          </a:xfrm>
          <a:prstGeom prst="rect">
            <a:avLst/>
          </a:prstGeom>
          <a:solidFill>
            <a:srgbClr val="E5A810"/>
          </a:solidFill>
          <a:ln w="12700">
            <a:solidFill>
              <a:srgbClr val="E5A810"/>
            </a:solidFill>
            <a:prstDash val="solid"/>
          </a:ln>
        </p:spPr>
      </p:sp>
      <p:sp>
        <p:nvSpPr>
          <p:cNvPr id="18" name="Text 16"/>
          <p:cNvSpPr txBox="1"/>
          <p:nvPr/>
        </p:nvSpPr>
        <p:spPr>
          <a:xfrm>
            <a:off x="11024461" y="2147819"/>
            <a:ext cx="1411712" cy="302510"/>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特に伺いたい</a:t>
            </a:r>
            <a:endParaRPr lang="en-US" sz="1250" dirty="0"/>
          </a:p>
        </p:txBody>
      </p:sp>
      <p:sp>
        <p:nvSpPr>
          <p:cNvPr id="19" name="Shape 17"/>
          <p:cNvSpPr/>
          <p:nvPr/>
        </p:nvSpPr>
        <p:spPr>
          <a:xfrm>
            <a:off x="4688900" y="3478861"/>
            <a:ext cx="7999364" cy="1431879"/>
          </a:xfrm>
          <a:prstGeom prst="rect">
            <a:avLst/>
          </a:prstGeom>
          <a:solidFill>
            <a:srgbClr val="FFFFFF"/>
          </a:solidFill>
          <a:ln w="12700">
            <a:solidFill>
              <a:srgbClr val="FFFFFF"/>
            </a:solidFill>
            <a:prstDash val="solid"/>
          </a:ln>
        </p:spPr>
      </p:sp>
      <p:sp>
        <p:nvSpPr>
          <p:cNvPr id="20" name="Shape 18"/>
          <p:cNvSpPr/>
          <p:nvPr/>
        </p:nvSpPr>
        <p:spPr>
          <a:xfrm>
            <a:off x="4991410" y="3781371"/>
            <a:ext cx="463848" cy="463848"/>
          </a:xfrm>
          <a:prstGeom prst="ellipse">
            <a:avLst/>
          </a:prstGeom>
          <a:solidFill>
            <a:srgbClr val="04462F"/>
          </a:solidFill>
          <a:ln w="12700">
            <a:solidFill>
              <a:srgbClr val="04462F"/>
            </a:solidFill>
            <a:prstDash val="solid"/>
          </a:ln>
        </p:spPr>
      </p:sp>
      <p:sp>
        <p:nvSpPr>
          <p:cNvPr id="21" name="Text 19"/>
          <p:cNvSpPr txBox="1"/>
          <p:nvPr/>
        </p:nvSpPr>
        <p:spPr>
          <a:xfrm>
            <a:off x="4991410" y="3781371"/>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2" name="Text 20"/>
          <p:cNvSpPr txBox="1"/>
          <p:nvPr/>
        </p:nvSpPr>
        <p:spPr>
          <a:xfrm>
            <a:off x="5697265" y="3741036"/>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12月調査の結果は、いつ頃・どの形でいただけそうですか。</a:t>
            </a:r>
            <a:endParaRPr lang="en-US" sz="1650" dirty="0"/>
          </a:p>
        </p:txBody>
      </p:sp>
      <p:sp>
        <p:nvSpPr>
          <p:cNvPr id="23" name="Text 21"/>
          <p:cNvSpPr txBox="1"/>
          <p:nvPr/>
        </p:nvSpPr>
        <p:spPr>
          <a:xfrm>
            <a:off x="5697265" y="4204884"/>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ローデータか集計表か。設問や調査方法が変わった年はあるか。</a:t>
            </a:r>
            <a:endParaRPr lang="en-US" sz="1250" dirty="0"/>
          </a:p>
        </p:txBody>
      </p:sp>
      <p:sp>
        <p:nvSpPr>
          <p:cNvPr id="24" name="Shape 22"/>
          <p:cNvSpPr/>
          <p:nvPr/>
        </p:nvSpPr>
        <p:spPr>
          <a:xfrm>
            <a:off x="4688900" y="5092246"/>
            <a:ext cx="7999364" cy="1431879"/>
          </a:xfrm>
          <a:prstGeom prst="rect">
            <a:avLst/>
          </a:prstGeom>
          <a:solidFill>
            <a:srgbClr val="FFFFFF"/>
          </a:solidFill>
          <a:ln w="12700">
            <a:solidFill>
              <a:srgbClr val="FFFFFF"/>
            </a:solidFill>
            <a:prstDash val="solid"/>
          </a:ln>
        </p:spPr>
      </p:sp>
      <p:sp>
        <p:nvSpPr>
          <p:cNvPr id="25" name="Shape 23"/>
          <p:cNvSpPr/>
          <p:nvPr/>
        </p:nvSpPr>
        <p:spPr>
          <a:xfrm>
            <a:off x="4991410" y="5394756"/>
            <a:ext cx="463848" cy="463848"/>
          </a:xfrm>
          <a:prstGeom prst="ellipse">
            <a:avLst/>
          </a:prstGeom>
          <a:solidFill>
            <a:srgbClr val="04462F"/>
          </a:solidFill>
          <a:ln w="12700">
            <a:solidFill>
              <a:srgbClr val="04462F"/>
            </a:solidFill>
            <a:prstDash val="solid"/>
          </a:ln>
        </p:spPr>
      </p:sp>
      <p:sp>
        <p:nvSpPr>
          <p:cNvPr id="26" name="Text 24"/>
          <p:cNvSpPr txBox="1"/>
          <p:nvPr/>
        </p:nvSpPr>
        <p:spPr>
          <a:xfrm>
            <a:off x="4991410" y="5394756"/>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7" name="Text 25"/>
          <p:cNvSpPr txBox="1"/>
          <p:nvPr/>
        </p:nvSpPr>
        <p:spPr>
          <a:xfrm>
            <a:off x="5697265" y="5354421"/>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調査以外に、広報側で見られるデータはありますか。</a:t>
            </a:r>
            <a:endParaRPr lang="en-US" sz="1650" dirty="0"/>
          </a:p>
        </p:txBody>
      </p:sp>
      <p:sp>
        <p:nvSpPr>
          <p:cNvPr id="28" name="Text 26"/>
          <p:cNvSpPr txBox="1"/>
          <p:nvPr/>
        </p:nvSpPr>
        <p:spPr>
          <a:xfrm>
            <a:off x="5697265" y="5818269"/>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問い合わせの傾向、サイトのアクセス、広告の配信結果など。</a:t>
            </a:r>
            <a:endParaRPr lang="en-US" sz="125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8</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Questions</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お伺いしたいこと　3 / 4</a:t>
            </a:r>
            <a:endParaRPr lang="en-US" sz="1800" dirty="0"/>
          </a:p>
        </p:txBody>
      </p:sp>
      <p:sp>
        <p:nvSpPr>
          <p:cNvPr id="6" name="Shape 4"/>
          <p:cNvSpPr/>
          <p:nvPr/>
        </p:nvSpPr>
        <p:spPr>
          <a:xfrm>
            <a:off x="756274" y="1865476"/>
            <a:ext cx="3680534" cy="4638482"/>
          </a:xfrm>
          <a:prstGeom prst="rect">
            <a:avLst/>
          </a:prstGeom>
          <a:solidFill>
            <a:srgbClr val="04462F"/>
          </a:solidFill>
          <a:ln w="12700">
            <a:solidFill>
              <a:srgbClr val="04462F"/>
            </a:solidFill>
            <a:prstDash val="solid"/>
          </a:ln>
        </p:spPr>
      </p:sp>
      <p:sp>
        <p:nvSpPr>
          <p:cNvPr id="7" name="Text 5"/>
          <p:cNvSpPr txBox="1"/>
          <p:nvPr/>
        </p:nvSpPr>
        <p:spPr>
          <a:xfrm>
            <a:off x="1109202" y="2117568"/>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テーマ 3</a:t>
            </a:r>
            <a:endParaRPr lang="en-US" sz="1250" dirty="0"/>
          </a:p>
        </p:txBody>
      </p:sp>
      <p:sp>
        <p:nvSpPr>
          <p:cNvPr id="8" name="Text 6"/>
          <p:cNvSpPr txBox="1"/>
          <p:nvPr/>
        </p:nvSpPr>
        <p:spPr>
          <a:xfrm>
            <a:off x="1109202" y="2470496"/>
            <a:ext cx="3025097" cy="1109202"/>
          </a:xfrm>
          <a:prstGeom prst="rect">
            <a:avLst/>
          </a:prstGeom>
          <a:noFill/>
          <a:ln/>
        </p:spPr>
        <p:txBody>
          <a:bodyPr wrap="square" lIns="0" tIns="0" rIns="0" bIns="0" rtlCol="0" anchor="t"/>
          <a:lstStyle/>
          <a:p>
            <a:pPr indent="0" marL="0">
              <a:lnSpc>
                <a:spcPct val="110000"/>
              </a:lnSpc>
              <a:buNone/>
            </a:pPr>
            <a:r>
              <a:rPr lang="en-US" sz="2300" b="1" dirty="0">
                <a:solidFill>
                  <a:srgbClr val="FFFFFF"/>
                </a:solidFill>
                <a:latin typeface="メイリオ" pitchFamily="34" charset="0"/>
                <a:ea typeface="メイリオ" pitchFamily="34" charset="-122"/>
                <a:cs typeface="メイリオ" pitchFamily="34" charset="-120"/>
              </a:rPr>
              <a:t>いまの取り組みと体制</a:t>
            </a:r>
            <a:endParaRPr lang="en-US" sz="2300" dirty="0"/>
          </a:p>
        </p:txBody>
      </p:sp>
      <p:sp>
        <p:nvSpPr>
          <p:cNvPr id="9" name="Shape 7"/>
          <p:cNvSpPr/>
          <p:nvPr/>
        </p:nvSpPr>
        <p:spPr>
          <a:xfrm>
            <a:off x="1109202" y="3781371"/>
            <a:ext cx="2974678" cy="0"/>
          </a:xfrm>
          <a:prstGeom prst="line">
            <a:avLst/>
          </a:prstGeom>
          <a:noFill/>
          <a:ln w="9525">
            <a:solidFill>
              <a:srgbClr val="5E8474"/>
            </a:solidFill>
            <a:prstDash val="solid"/>
          </a:ln>
        </p:spPr>
      </p:sp>
      <p:sp>
        <p:nvSpPr>
          <p:cNvPr id="10" name="Text 8"/>
          <p:cNvSpPr txBox="1"/>
          <p:nvPr/>
        </p:nvSpPr>
        <p:spPr>
          <a:xfrm>
            <a:off x="1109202" y="3983044"/>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なぜ伺うか</a:t>
            </a:r>
            <a:endParaRPr lang="en-US" sz="1250" dirty="0"/>
          </a:p>
        </p:txBody>
      </p:sp>
      <p:sp>
        <p:nvSpPr>
          <p:cNvPr id="11" name="Text 9"/>
          <p:cNvSpPr txBox="1"/>
          <p:nvPr/>
        </p:nvSpPr>
        <p:spPr>
          <a:xfrm>
            <a:off x="1109202" y="4356139"/>
            <a:ext cx="2974678" cy="1915895"/>
          </a:xfrm>
          <a:prstGeom prst="rect">
            <a:avLst/>
          </a:prstGeom>
          <a:noFill/>
          <a:ln/>
        </p:spPr>
        <p:txBody>
          <a:bodyPr wrap="square" lIns="0" tIns="0" rIns="0" bIns="0" rtlCol="0" anchor="t"/>
          <a:lstStyle/>
          <a:p>
            <a:pPr indent="0" marL="0">
              <a:lnSpc>
                <a:spcPct val="130000"/>
              </a:lnSpc>
              <a:buNone/>
            </a:pPr>
            <a:r>
              <a:rPr lang="en-US" sz="1400" dirty="0">
                <a:solidFill>
                  <a:srgbClr val="FFFFFF"/>
                </a:solidFill>
                <a:latin typeface="メイリオ" pitchFamily="34" charset="0"/>
                <a:ea typeface="メイリオ" pitchFamily="34" charset="-122"/>
                <a:cs typeface="メイリオ" pitchFamily="34" charset="-120"/>
              </a:rPr>
              <a:t>実行されるのは御センターなので、現実に動かせる提言にするため。</a:t>
            </a:r>
            <a:endParaRPr lang="en-US" sz="1400" dirty="0"/>
          </a:p>
        </p:txBody>
      </p:sp>
      <p:sp>
        <p:nvSpPr>
          <p:cNvPr id="12" name="Shape 10"/>
          <p:cNvSpPr/>
          <p:nvPr/>
        </p:nvSpPr>
        <p:spPr>
          <a:xfrm>
            <a:off x="4688900" y="1865476"/>
            <a:ext cx="7999364" cy="1431879"/>
          </a:xfrm>
          <a:prstGeom prst="rect">
            <a:avLst/>
          </a:prstGeom>
          <a:solidFill>
            <a:srgbClr val="FFFFFF"/>
          </a:solidFill>
          <a:ln w="12700">
            <a:solidFill>
              <a:srgbClr val="FFFFFF"/>
            </a:solidFill>
            <a:prstDash val="solid"/>
          </a:ln>
        </p:spPr>
      </p:sp>
      <p:sp>
        <p:nvSpPr>
          <p:cNvPr id="13" name="Shape 11"/>
          <p:cNvSpPr/>
          <p:nvPr/>
        </p:nvSpPr>
        <p:spPr>
          <a:xfrm>
            <a:off x="4991410" y="2167986"/>
            <a:ext cx="463848" cy="463848"/>
          </a:xfrm>
          <a:prstGeom prst="ellipse">
            <a:avLst/>
          </a:prstGeom>
          <a:solidFill>
            <a:srgbClr val="E5A810"/>
          </a:solidFill>
          <a:ln w="12700">
            <a:solidFill>
              <a:srgbClr val="E5A810"/>
            </a:solidFill>
            <a:prstDash val="solid"/>
          </a:ln>
        </p:spPr>
      </p:sp>
      <p:sp>
        <p:nvSpPr>
          <p:cNvPr id="14" name="Text 12"/>
          <p:cNvSpPr txBox="1"/>
          <p:nvPr/>
        </p:nvSpPr>
        <p:spPr>
          <a:xfrm>
            <a:off x="4991410" y="2167986"/>
            <a:ext cx="463848" cy="463848"/>
          </a:xfrm>
          <a:prstGeom prst="rect">
            <a:avLst/>
          </a:prstGeom>
          <a:noFill/>
          <a:ln/>
        </p:spPr>
        <p:txBody>
          <a:bodyPr wrap="square" lIns="0" tIns="0" rIns="0" bIns="0" rtlCol="0" anchor="ctr"/>
          <a:lstStyle/>
          <a:p>
            <a:pPr algn="ctr" indent="0" marL="0">
              <a:buNone/>
            </a:pPr>
            <a:r>
              <a:rPr lang="en-US" sz="1550" b="1" dirty="0">
                <a:solidFill>
                  <a:srgbClr val="262626"/>
                </a:solidFill>
                <a:latin typeface="メイリオ" pitchFamily="34" charset="0"/>
                <a:ea typeface="メイリオ" pitchFamily="34" charset="-122"/>
                <a:cs typeface="メイリオ" pitchFamily="34" charset="-120"/>
              </a:rPr>
              <a:t>Q</a:t>
            </a:r>
            <a:endParaRPr lang="en-US" sz="1550" dirty="0"/>
          </a:p>
        </p:txBody>
      </p:sp>
      <p:sp>
        <p:nvSpPr>
          <p:cNvPr id="15" name="Text 13"/>
          <p:cNvSpPr txBox="1"/>
          <p:nvPr/>
        </p:nvSpPr>
        <p:spPr>
          <a:xfrm>
            <a:off x="5697265" y="2127651"/>
            <a:ext cx="5175940" cy="756274"/>
          </a:xfrm>
          <a:prstGeom prst="rect">
            <a:avLst/>
          </a:prstGeom>
          <a:noFill/>
          <a:ln/>
        </p:spPr>
        <p:txBody>
          <a:bodyPr wrap="square" lIns="0" tIns="0" rIns="0" bIns="0" rtlCol="0" anchor="t"/>
          <a:lstStyle/>
          <a:p>
            <a:pPr indent="0" marL="0">
              <a:lnSpc>
                <a:spcPct val="115000"/>
              </a:lnSpc>
              <a:buNone/>
            </a:pPr>
            <a:r>
              <a:rPr lang="en-US" sz="1650" b="1" dirty="0">
                <a:solidFill>
                  <a:srgbClr val="04462F"/>
                </a:solidFill>
                <a:latin typeface="メイリオ" pitchFamily="34" charset="0"/>
                <a:ea typeface="メイリオ" pitchFamily="34" charset="-122"/>
                <a:cs typeface="メイリオ" pitchFamily="34" charset="-120"/>
              </a:rPr>
              <a:t>ネット広告・SNS広告の評価はいかがですか。</a:t>
            </a:r>
            <a:endParaRPr lang="en-US" sz="1650" dirty="0"/>
          </a:p>
        </p:txBody>
      </p:sp>
      <p:sp>
        <p:nvSpPr>
          <p:cNvPr id="16" name="Text 14"/>
          <p:cNvSpPr txBox="1"/>
          <p:nvPr/>
        </p:nvSpPr>
        <p:spPr>
          <a:xfrm>
            <a:off x="5697265" y="2591499"/>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誰に向けて出しているか。手応えのあるもの、ないものを率直に伺えればと思います。</a:t>
            </a:r>
            <a:endParaRPr lang="en-US" sz="1250" dirty="0"/>
          </a:p>
        </p:txBody>
      </p:sp>
      <p:sp>
        <p:nvSpPr>
          <p:cNvPr id="17" name="Shape 15"/>
          <p:cNvSpPr/>
          <p:nvPr/>
        </p:nvSpPr>
        <p:spPr>
          <a:xfrm>
            <a:off x="11024461" y="2147819"/>
            <a:ext cx="1411712" cy="302510"/>
          </a:xfrm>
          <a:prstGeom prst="rect">
            <a:avLst/>
          </a:prstGeom>
          <a:solidFill>
            <a:srgbClr val="E5A810"/>
          </a:solidFill>
          <a:ln w="12700">
            <a:solidFill>
              <a:srgbClr val="E5A810"/>
            </a:solidFill>
            <a:prstDash val="solid"/>
          </a:ln>
        </p:spPr>
      </p:sp>
      <p:sp>
        <p:nvSpPr>
          <p:cNvPr id="18" name="Text 16"/>
          <p:cNvSpPr txBox="1"/>
          <p:nvPr/>
        </p:nvSpPr>
        <p:spPr>
          <a:xfrm>
            <a:off x="11024461" y="2147819"/>
            <a:ext cx="1411712" cy="302510"/>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特に伺いたい</a:t>
            </a:r>
            <a:endParaRPr lang="en-US" sz="1250" dirty="0"/>
          </a:p>
        </p:txBody>
      </p:sp>
      <p:sp>
        <p:nvSpPr>
          <p:cNvPr id="19" name="Shape 17"/>
          <p:cNvSpPr/>
          <p:nvPr/>
        </p:nvSpPr>
        <p:spPr>
          <a:xfrm>
            <a:off x="4688900" y="3478861"/>
            <a:ext cx="7999364" cy="1431879"/>
          </a:xfrm>
          <a:prstGeom prst="rect">
            <a:avLst/>
          </a:prstGeom>
          <a:solidFill>
            <a:srgbClr val="FFFFFF"/>
          </a:solidFill>
          <a:ln w="12700">
            <a:solidFill>
              <a:srgbClr val="FFFFFF"/>
            </a:solidFill>
            <a:prstDash val="solid"/>
          </a:ln>
        </p:spPr>
      </p:sp>
      <p:sp>
        <p:nvSpPr>
          <p:cNvPr id="20" name="Shape 18"/>
          <p:cNvSpPr/>
          <p:nvPr/>
        </p:nvSpPr>
        <p:spPr>
          <a:xfrm>
            <a:off x="4991410" y="3781371"/>
            <a:ext cx="463848" cy="463848"/>
          </a:xfrm>
          <a:prstGeom prst="ellipse">
            <a:avLst/>
          </a:prstGeom>
          <a:solidFill>
            <a:srgbClr val="04462F"/>
          </a:solidFill>
          <a:ln w="12700">
            <a:solidFill>
              <a:srgbClr val="04462F"/>
            </a:solidFill>
            <a:prstDash val="solid"/>
          </a:ln>
        </p:spPr>
      </p:sp>
      <p:sp>
        <p:nvSpPr>
          <p:cNvPr id="21" name="Text 19"/>
          <p:cNvSpPr txBox="1"/>
          <p:nvPr/>
        </p:nvSpPr>
        <p:spPr>
          <a:xfrm>
            <a:off x="4991410" y="3781371"/>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2" name="Text 20"/>
          <p:cNvSpPr txBox="1"/>
          <p:nvPr/>
        </p:nvSpPr>
        <p:spPr>
          <a:xfrm>
            <a:off x="5697265" y="3741036"/>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広告以外で、効いていると感じる取り組みはありますか。</a:t>
            </a:r>
            <a:endParaRPr lang="en-US" sz="1650" dirty="0"/>
          </a:p>
        </p:txBody>
      </p:sp>
      <p:sp>
        <p:nvSpPr>
          <p:cNvPr id="23" name="Text 21"/>
          <p:cNvSpPr txBox="1"/>
          <p:nvPr/>
        </p:nvSpPr>
        <p:spPr>
          <a:xfrm>
            <a:off x="5697265" y="4204884"/>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刊行物、自治体や支援機関との連携、メディア対応など。</a:t>
            </a:r>
            <a:endParaRPr lang="en-US" sz="1250" dirty="0"/>
          </a:p>
        </p:txBody>
      </p:sp>
      <p:sp>
        <p:nvSpPr>
          <p:cNvPr id="24" name="Shape 22"/>
          <p:cNvSpPr/>
          <p:nvPr/>
        </p:nvSpPr>
        <p:spPr>
          <a:xfrm>
            <a:off x="4688900" y="5092246"/>
            <a:ext cx="7999364" cy="1431879"/>
          </a:xfrm>
          <a:prstGeom prst="rect">
            <a:avLst/>
          </a:prstGeom>
          <a:solidFill>
            <a:srgbClr val="FFFFFF"/>
          </a:solidFill>
          <a:ln w="12700">
            <a:solidFill>
              <a:srgbClr val="FFFFFF"/>
            </a:solidFill>
            <a:prstDash val="solid"/>
          </a:ln>
        </p:spPr>
      </p:sp>
      <p:sp>
        <p:nvSpPr>
          <p:cNvPr id="25" name="Shape 23"/>
          <p:cNvSpPr/>
          <p:nvPr/>
        </p:nvSpPr>
        <p:spPr>
          <a:xfrm>
            <a:off x="4991410" y="5394756"/>
            <a:ext cx="463848" cy="463848"/>
          </a:xfrm>
          <a:prstGeom prst="ellipse">
            <a:avLst/>
          </a:prstGeom>
          <a:solidFill>
            <a:srgbClr val="04462F"/>
          </a:solidFill>
          <a:ln w="12700">
            <a:solidFill>
              <a:srgbClr val="04462F"/>
            </a:solidFill>
            <a:prstDash val="solid"/>
          </a:ln>
        </p:spPr>
      </p:sp>
      <p:sp>
        <p:nvSpPr>
          <p:cNvPr id="26" name="Text 24"/>
          <p:cNvSpPr txBox="1"/>
          <p:nvPr/>
        </p:nvSpPr>
        <p:spPr>
          <a:xfrm>
            <a:off x="4991410" y="5394756"/>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7" name="Text 25"/>
          <p:cNvSpPr txBox="1"/>
          <p:nvPr/>
        </p:nvSpPr>
        <p:spPr>
          <a:xfrm>
            <a:off x="5697265" y="5354421"/>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新しい施策を始めるとき、予算や承認はどのような流れですか。</a:t>
            </a:r>
            <a:endParaRPr lang="en-US" sz="1650" dirty="0"/>
          </a:p>
        </p:txBody>
      </p:sp>
      <p:sp>
        <p:nvSpPr>
          <p:cNvPr id="28" name="Text 26"/>
          <p:cNvSpPr txBox="1"/>
          <p:nvPr/>
        </p:nvSpPr>
        <p:spPr>
          <a:xfrm>
            <a:off x="5697265" y="5818269"/>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来年度の予算・体制の見通しも、差し支えない範囲で。</a:t>
            </a:r>
            <a:endParaRPr lang="en-US" sz="125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9</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Questions</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お伺いしたいこと　4 / 4</a:t>
            </a:r>
            <a:endParaRPr lang="en-US" sz="1800" dirty="0"/>
          </a:p>
        </p:txBody>
      </p:sp>
      <p:sp>
        <p:nvSpPr>
          <p:cNvPr id="6" name="Shape 4"/>
          <p:cNvSpPr/>
          <p:nvPr/>
        </p:nvSpPr>
        <p:spPr>
          <a:xfrm>
            <a:off x="756274" y="1865476"/>
            <a:ext cx="3680534" cy="4638482"/>
          </a:xfrm>
          <a:prstGeom prst="rect">
            <a:avLst/>
          </a:prstGeom>
          <a:solidFill>
            <a:srgbClr val="04462F"/>
          </a:solidFill>
          <a:ln w="12700">
            <a:solidFill>
              <a:srgbClr val="04462F"/>
            </a:solidFill>
            <a:prstDash val="solid"/>
          </a:ln>
        </p:spPr>
      </p:sp>
      <p:sp>
        <p:nvSpPr>
          <p:cNvPr id="7" name="Text 5"/>
          <p:cNvSpPr txBox="1"/>
          <p:nvPr/>
        </p:nvSpPr>
        <p:spPr>
          <a:xfrm>
            <a:off x="1109202" y="2117568"/>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テーマ 4</a:t>
            </a:r>
            <a:endParaRPr lang="en-US" sz="1250" dirty="0"/>
          </a:p>
        </p:txBody>
      </p:sp>
      <p:sp>
        <p:nvSpPr>
          <p:cNvPr id="8" name="Text 6"/>
          <p:cNvSpPr txBox="1"/>
          <p:nvPr/>
        </p:nvSpPr>
        <p:spPr>
          <a:xfrm>
            <a:off x="1109202" y="2470496"/>
            <a:ext cx="3025097" cy="1109202"/>
          </a:xfrm>
          <a:prstGeom prst="rect">
            <a:avLst/>
          </a:prstGeom>
          <a:noFill/>
          <a:ln/>
        </p:spPr>
        <p:txBody>
          <a:bodyPr wrap="square" lIns="0" tIns="0" rIns="0" bIns="0" rtlCol="0" anchor="t"/>
          <a:lstStyle/>
          <a:p>
            <a:pPr indent="0" marL="0">
              <a:lnSpc>
                <a:spcPct val="110000"/>
              </a:lnSpc>
              <a:buNone/>
            </a:pPr>
            <a:r>
              <a:rPr lang="en-US" sz="2300" b="1" dirty="0">
                <a:solidFill>
                  <a:srgbClr val="FFFFFF"/>
                </a:solidFill>
                <a:latin typeface="メイリオ" pitchFamily="34" charset="0"/>
                <a:ea typeface="メイリオ" pitchFamily="34" charset="-122"/>
                <a:cs typeface="メイリオ" pitchFamily="34" charset="-120"/>
              </a:rPr>
              <a:t>今回のご依頼について</a:t>
            </a:r>
            <a:endParaRPr lang="en-US" sz="2300" dirty="0"/>
          </a:p>
        </p:txBody>
      </p:sp>
      <p:sp>
        <p:nvSpPr>
          <p:cNvPr id="9" name="Shape 7"/>
          <p:cNvSpPr/>
          <p:nvPr/>
        </p:nvSpPr>
        <p:spPr>
          <a:xfrm>
            <a:off x="1109202" y="3781371"/>
            <a:ext cx="2974678" cy="0"/>
          </a:xfrm>
          <a:prstGeom prst="line">
            <a:avLst/>
          </a:prstGeom>
          <a:noFill/>
          <a:ln w="9525">
            <a:solidFill>
              <a:srgbClr val="5E8474"/>
            </a:solidFill>
            <a:prstDash val="solid"/>
          </a:ln>
        </p:spPr>
      </p:sp>
      <p:sp>
        <p:nvSpPr>
          <p:cNvPr id="10" name="Text 8"/>
          <p:cNvSpPr txBox="1"/>
          <p:nvPr/>
        </p:nvSpPr>
        <p:spPr>
          <a:xfrm>
            <a:off x="1109202" y="3983044"/>
            <a:ext cx="3025097" cy="302510"/>
          </a:xfrm>
          <a:prstGeom prst="rect">
            <a:avLst/>
          </a:prstGeom>
          <a:noFill/>
          <a:ln/>
        </p:spPr>
        <p:txBody>
          <a:bodyPr wrap="square" lIns="0" tIns="0" rIns="0" bIns="0" rtlCol="0" anchor="t"/>
          <a:lstStyle/>
          <a:p>
            <a:pPr indent="0" marL="0">
              <a:lnSpc>
                <a:spcPct val="115000"/>
              </a:lnSpc>
              <a:buNone/>
            </a:pPr>
            <a:r>
              <a:rPr lang="en-US" sz="1250" b="1" dirty="0">
                <a:solidFill>
                  <a:srgbClr val="E5A810"/>
                </a:solidFill>
                <a:latin typeface="メイリオ" pitchFamily="34" charset="0"/>
                <a:ea typeface="メイリオ" pitchFamily="34" charset="-122"/>
                <a:cs typeface="メイリオ" pitchFamily="34" charset="-120"/>
              </a:rPr>
              <a:t>なぜ伺うか</a:t>
            </a:r>
            <a:endParaRPr lang="en-US" sz="1250" dirty="0"/>
          </a:p>
        </p:txBody>
      </p:sp>
      <p:sp>
        <p:nvSpPr>
          <p:cNvPr id="11" name="Text 9"/>
          <p:cNvSpPr txBox="1"/>
          <p:nvPr/>
        </p:nvSpPr>
        <p:spPr>
          <a:xfrm>
            <a:off x="1109202" y="4356139"/>
            <a:ext cx="2974678" cy="1915895"/>
          </a:xfrm>
          <a:prstGeom prst="rect">
            <a:avLst/>
          </a:prstGeom>
          <a:noFill/>
          <a:ln/>
        </p:spPr>
        <p:txBody>
          <a:bodyPr wrap="square" lIns="0" tIns="0" rIns="0" bIns="0" rtlCol="0" anchor="t"/>
          <a:lstStyle/>
          <a:p>
            <a:pPr indent="0" marL="0">
              <a:lnSpc>
                <a:spcPct val="130000"/>
              </a:lnSpc>
              <a:buNone/>
            </a:pPr>
            <a:r>
              <a:rPr lang="en-US" sz="1400" dirty="0">
                <a:solidFill>
                  <a:srgbClr val="FFFFFF"/>
                </a:solidFill>
                <a:latin typeface="メイリオ" pitchFamily="34" charset="0"/>
                <a:ea typeface="メイリオ" pitchFamily="34" charset="-122"/>
                <a:cs typeface="メイリオ" pitchFamily="34" charset="-120"/>
              </a:rPr>
              <a:t>過去の経験を踏まえて、御センターにとって本当に役立つ形に合わせるため。</a:t>
            </a:r>
            <a:endParaRPr lang="en-US" sz="1400" dirty="0"/>
          </a:p>
        </p:txBody>
      </p:sp>
      <p:sp>
        <p:nvSpPr>
          <p:cNvPr id="12" name="Shape 10"/>
          <p:cNvSpPr/>
          <p:nvPr/>
        </p:nvSpPr>
        <p:spPr>
          <a:xfrm>
            <a:off x="4688900" y="1865476"/>
            <a:ext cx="7999364" cy="1431879"/>
          </a:xfrm>
          <a:prstGeom prst="rect">
            <a:avLst/>
          </a:prstGeom>
          <a:solidFill>
            <a:srgbClr val="FFFFFF"/>
          </a:solidFill>
          <a:ln w="12700">
            <a:solidFill>
              <a:srgbClr val="FFFFFF"/>
            </a:solidFill>
            <a:prstDash val="solid"/>
          </a:ln>
        </p:spPr>
      </p:sp>
      <p:sp>
        <p:nvSpPr>
          <p:cNvPr id="13" name="Shape 11"/>
          <p:cNvSpPr/>
          <p:nvPr/>
        </p:nvSpPr>
        <p:spPr>
          <a:xfrm>
            <a:off x="4991410" y="2167986"/>
            <a:ext cx="463848" cy="463848"/>
          </a:xfrm>
          <a:prstGeom prst="ellipse">
            <a:avLst/>
          </a:prstGeom>
          <a:solidFill>
            <a:srgbClr val="E5A810"/>
          </a:solidFill>
          <a:ln w="12700">
            <a:solidFill>
              <a:srgbClr val="E5A810"/>
            </a:solidFill>
            <a:prstDash val="solid"/>
          </a:ln>
        </p:spPr>
      </p:sp>
      <p:sp>
        <p:nvSpPr>
          <p:cNvPr id="14" name="Text 12"/>
          <p:cNvSpPr txBox="1"/>
          <p:nvPr/>
        </p:nvSpPr>
        <p:spPr>
          <a:xfrm>
            <a:off x="4991410" y="2167986"/>
            <a:ext cx="463848" cy="463848"/>
          </a:xfrm>
          <a:prstGeom prst="rect">
            <a:avLst/>
          </a:prstGeom>
          <a:noFill/>
          <a:ln/>
        </p:spPr>
        <p:txBody>
          <a:bodyPr wrap="square" lIns="0" tIns="0" rIns="0" bIns="0" rtlCol="0" anchor="ctr"/>
          <a:lstStyle/>
          <a:p>
            <a:pPr algn="ctr" indent="0" marL="0">
              <a:buNone/>
            </a:pPr>
            <a:r>
              <a:rPr lang="en-US" sz="1550" b="1" dirty="0">
                <a:solidFill>
                  <a:srgbClr val="262626"/>
                </a:solidFill>
                <a:latin typeface="メイリオ" pitchFamily="34" charset="0"/>
                <a:ea typeface="メイリオ" pitchFamily="34" charset="-122"/>
                <a:cs typeface="メイリオ" pitchFamily="34" charset="-120"/>
              </a:rPr>
              <a:t>Q</a:t>
            </a:r>
            <a:endParaRPr lang="en-US" sz="1550" dirty="0"/>
          </a:p>
        </p:txBody>
      </p:sp>
      <p:sp>
        <p:nvSpPr>
          <p:cNvPr id="15" name="Text 13"/>
          <p:cNvSpPr txBox="1"/>
          <p:nvPr/>
        </p:nvSpPr>
        <p:spPr>
          <a:xfrm>
            <a:off x="5697265" y="2127651"/>
            <a:ext cx="5175940" cy="756274"/>
          </a:xfrm>
          <a:prstGeom prst="rect">
            <a:avLst/>
          </a:prstGeom>
          <a:noFill/>
          <a:ln/>
        </p:spPr>
        <p:txBody>
          <a:bodyPr wrap="square" lIns="0" tIns="0" rIns="0" bIns="0" rtlCol="0" anchor="t"/>
          <a:lstStyle/>
          <a:p>
            <a:pPr indent="0" marL="0">
              <a:lnSpc>
                <a:spcPct val="115000"/>
              </a:lnSpc>
              <a:buNone/>
            </a:pPr>
            <a:r>
              <a:rPr lang="en-US" sz="1650" b="1" dirty="0">
                <a:solidFill>
                  <a:srgbClr val="04462F"/>
                </a:solidFill>
                <a:latin typeface="メイリオ" pitchFamily="34" charset="0"/>
                <a:ea typeface="メイリオ" pitchFamily="34" charset="-122"/>
                <a:cs typeface="メイリオ" pitchFamily="34" charset="-120"/>
              </a:rPr>
              <a:t>調査会社に提言も依頼されていた頃、良かった点・物足りなかった点は。</a:t>
            </a:r>
            <a:endParaRPr lang="en-US" sz="1650" dirty="0"/>
          </a:p>
        </p:txBody>
      </p:sp>
      <p:sp>
        <p:nvSpPr>
          <p:cNvPr id="16" name="Text 14"/>
          <p:cNvSpPr txBox="1"/>
          <p:nvPr/>
        </p:nvSpPr>
        <p:spPr>
          <a:xfrm>
            <a:off x="5697265" y="2853675"/>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今回、調査と戦略の依頼先を分けられた理由も伺えればと思います。</a:t>
            </a:r>
            <a:endParaRPr lang="en-US" sz="1250" dirty="0"/>
          </a:p>
        </p:txBody>
      </p:sp>
      <p:sp>
        <p:nvSpPr>
          <p:cNvPr id="17" name="Shape 15"/>
          <p:cNvSpPr/>
          <p:nvPr/>
        </p:nvSpPr>
        <p:spPr>
          <a:xfrm>
            <a:off x="11024461" y="2147819"/>
            <a:ext cx="1411712" cy="302510"/>
          </a:xfrm>
          <a:prstGeom prst="rect">
            <a:avLst/>
          </a:prstGeom>
          <a:solidFill>
            <a:srgbClr val="E5A810"/>
          </a:solidFill>
          <a:ln w="12700">
            <a:solidFill>
              <a:srgbClr val="E5A810"/>
            </a:solidFill>
            <a:prstDash val="solid"/>
          </a:ln>
        </p:spPr>
      </p:sp>
      <p:sp>
        <p:nvSpPr>
          <p:cNvPr id="18" name="Text 16"/>
          <p:cNvSpPr txBox="1"/>
          <p:nvPr/>
        </p:nvSpPr>
        <p:spPr>
          <a:xfrm>
            <a:off x="11024461" y="2147819"/>
            <a:ext cx="1411712" cy="302510"/>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特に伺いたい</a:t>
            </a:r>
            <a:endParaRPr lang="en-US" sz="1250" dirty="0"/>
          </a:p>
        </p:txBody>
      </p:sp>
      <p:sp>
        <p:nvSpPr>
          <p:cNvPr id="19" name="Shape 17"/>
          <p:cNvSpPr/>
          <p:nvPr/>
        </p:nvSpPr>
        <p:spPr>
          <a:xfrm>
            <a:off x="4688900" y="3478861"/>
            <a:ext cx="7999364" cy="1431879"/>
          </a:xfrm>
          <a:prstGeom prst="rect">
            <a:avLst/>
          </a:prstGeom>
          <a:solidFill>
            <a:srgbClr val="FFFFFF"/>
          </a:solidFill>
          <a:ln w="12700">
            <a:solidFill>
              <a:srgbClr val="FFFFFF"/>
            </a:solidFill>
            <a:prstDash val="solid"/>
          </a:ln>
        </p:spPr>
      </p:sp>
      <p:sp>
        <p:nvSpPr>
          <p:cNvPr id="20" name="Shape 18"/>
          <p:cNvSpPr/>
          <p:nvPr/>
        </p:nvSpPr>
        <p:spPr>
          <a:xfrm>
            <a:off x="4991410" y="3781371"/>
            <a:ext cx="463848" cy="463848"/>
          </a:xfrm>
          <a:prstGeom prst="ellipse">
            <a:avLst/>
          </a:prstGeom>
          <a:solidFill>
            <a:srgbClr val="04462F"/>
          </a:solidFill>
          <a:ln w="12700">
            <a:solidFill>
              <a:srgbClr val="04462F"/>
            </a:solidFill>
            <a:prstDash val="solid"/>
          </a:ln>
        </p:spPr>
      </p:sp>
      <p:sp>
        <p:nvSpPr>
          <p:cNvPr id="21" name="Text 19"/>
          <p:cNvSpPr txBox="1"/>
          <p:nvPr/>
        </p:nvSpPr>
        <p:spPr>
          <a:xfrm>
            <a:off x="4991410" y="3781371"/>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2" name="Text 20"/>
          <p:cNvSpPr txBox="1"/>
          <p:nvPr/>
        </p:nvSpPr>
        <p:spPr>
          <a:xfrm>
            <a:off x="5697265" y="3741036"/>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提言は、どなたが、どのような場で使われる予定ですか。</a:t>
            </a:r>
            <a:endParaRPr lang="en-US" sz="1650" dirty="0"/>
          </a:p>
        </p:txBody>
      </p:sp>
      <p:sp>
        <p:nvSpPr>
          <p:cNvPr id="23" name="Text 21"/>
          <p:cNvSpPr txBox="1"/>
          <p:nvPr/>
        </p:nvSpPr>
        <p:spPr>
          <a:xfrm>
            <a:off x="5697265" y="4204884"/>
            <a:ext cx="6738907" cy="383179"/>
          </a:xfrm>
          <a:prstGeom prst="rect">
            <a:avLst/>
          </a:prstGeom>
          <a:noFill/>
          <a:ln/>
        </p:spPr>
        <p:txBody>
          <a:bodyPr wrap="square" lIns="0" tIns="0" rIns="0" bIns="0" rtlCol="0" anchor="t"/>
          <a:lstStyle/>
          <a:p>
            <a:pPr indent="0" marL="0">
              <a:lnSpc>
                <a:spcPct val="115000"/>
              </a:lnSpc>
              <a:buNone/>
            </a:pPr>
            <a:r>
              <a:rPr lang="en-US" sz="1250" dirty="0">
                <a:solidFill>
                  <a:srgbClr val="666666"/>
                </a:solidFill>
                <a:latin typeface="メイリオ" pitchFamily="34" charset="0"/>
                <a:ea typeface="メイリオ" pitchFamily="34" charset="-122"/>
                <a:cs typeface="メイリオ" pitchFamily="34" charset="-120"/>
              </a:rPr>
              <a:t>内部での説明や予算要求など、使われ方に資料を合わせます。</a:t>
            </a:r>
            <a:endParaRPr lang="en-US" sz="1250" dirty="0"/>
          </a:p>
        </p:txBody>
      </p:sp>
      <p:sp>
        <p:nvSpPr>
          <p:cNvPr id="24" name="Shape 22"/>
          <p:cNvSpPr/>
          <p:nvPr/>
        </p:nvSpPr>
        <p:spPr>
          <a:xfrm>
            <a:off x="4688900" y="5092246"/>
            <a:ext cx="7999364" cy="1431879"/>
          </a:xfrm>
          <a:prstGeom prst="rect">
            <a:avLst/>
          </a:prstGeom>
          <a:solidFill>
            <a:srgbClr val="FFFFFF"/>
          </a:solidFill>
          <a:ln w="12700">
            <a:solidFill>
              <a:srgbClr val="FFFFFF"/>
            </a:solidFill>
            <a:prstDash val="solid"/>
          </a:ln>
        </p:spPr>
      </p:sp>
      <p:sp>
        <p:nvSpPr>
          <p:cNvPr id="25" name="Shape 23"/>
          <p:cNvSpPr/>
          <p:nvPr/>
        </p:nvSpPr>
        <p:spPr>
          <a:xfrm>
            <a:off x="4991410" y="5394756"/>
            <a:ext cx="463848" cy="463848"/>
          </a:xfrm>
          <a:prstGeom prst="ellipse">
            <a:avLst/>
          </a:prstGeom>
          <a:solidFill>
            <a:srgbClr val="04462F"/>
          </a:solidFill>
          <a:ln w="12700">
            <a:solidFill>
              <a:srgbClr val="04462F"/>
            </a:solidFill>
            <a:prstDash val="solid"/>
          </a:ln>
        </p:spPr>
      </p:sp>
      <p:sp>
        <p:nvSpPr>
          <p:cNvPr id="26" name="Text 24"/>
          <p:cNvSpPr txBox="1"/>
          <p:nvPr/>
        </p:nvSpPr>
        <p:spPr>
          <a:xfrm>
            <a:off x="4991410" y="5394756"/>
            <a:ext cx="463848" cy="463848"/>
          </a:xfrm>
          <a:prstGeom prst="rect">
            <a:avLst/>
          </a:prstGeom>
          <a:noFill/>
          <a:ln/>
        </p:spPr>
        <p:txBody>
          <a:bodyPr wrap="square" lIns="0" tIns="0" rIns="0" bIns="0" rtlCol="0" anchor="ctr"/>
          <a:lstStyle/>
          <a:p>
            <a:pPr algn="ctr" indent="0" marL="0">
              <a:buNone/>
            </a:pPr>
            <a:r>
              <a:rPr lang="en-US" sz="1550" b="1" dirty="0">
                <a:solidFill>
                  <a:srgbClr val="FFFFFF"/>
                </a:solidFill>
                <a:latin typeface="メイリオ" pitchFamily="34" charset="0"/>
                <a:ea typeface="メイリオ" pitchFamily="34" charset="-122"/>
                <a:cs typeface="メイリオ" pitchFamily="34" charset="-120"/>
              </a:rPr>
              <a:t>Q</a:t>
            </a:r>
            <a:endParaRPr lang="en-US" sz="1550" dirty="0"/>
          </a:p>
        </p:txBody>
      </p:sp>
      <p:sp>
        <p:nvSpPr>
          <p:cNvPr id="27" name="Text 25"/>
          <p:cNvSpPr txBox="1"/>
          <p:nvPr/>
        </p:nvSpPr>
        <p:spPr>
          <a:xfrm>
            <a:off x="5697265" y="5354421"/>
            <a:ext cx="6486816" cy="756274"/>
          </a:xfrm>
          <a:prstGeom prst="rect">
            <a:avLst/>
          </a:prstGeom>
          <a:noFill/>
          <a:ln/>
        </p:spPr>
        <p:txBody>
          <a:bodyPr wrap="square" lIns="0" tIns="0" rIns="0" bIns="0" rtlCol="0" anchor="t"/>
          <a:lstStyle/>
          <a:p>
            <a:pPr indent="0" marL="0">
              <a:lnSpc>
                <a:spcPct val="115000"/>
              </a:lnSpc>
              <a:buNone/>
            </a:pPr>
            <a:r>
              <a:rPr lang="en-US" sz="1650" b="1" dirty="0">
                <a:solidFill>
                  <a:srgbClr val="262626"/>
                </a:solidFill>
                <a:latin typeface="メイリオ" pitchFamily="34" charset="0"/>
                <a:ea typeface="メイリオ" pitchFamily="34" charset="-122"/>
                <a:cs typeface="メイリオ" pitchFamily="34" charset="-120"/>
              </a:rPr>
              <a:t>3月末にどうなっていれば「頼んでよかった」と思っていただけますか。</a:t>
            </a:r>
            <a:endParaRPr lang="en-US" sz="165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11661458" y="7100316"/>
            <a:ext cx="1568196" cy="265176"/>
          </a:xfrm>
          <a:prstGeom prst="rect">
            <a:avLst/>
          </a:prstGeom>
          <a:noFill/>
          <a:ln/>
        </p:spPr>
        <p:txBody>
          <a:bodyPr wrap="square" lIns="0" tIns="0" rIns="0" bIns="0" rtlCol="0" anchor="ctr"/>
          <a:lstStyle/>
          <a:p>
            <a:pPr algn="r" indent="0" marL="0">
              <a:buNone/>
            </a:pPr>
            <a:r>
              <a:rPr lang="en-US" sz="1800" i="1" dirty="0">
                <a:solidFill>
                  <a:srgbClr val="262626"/>
                </a:solidFill>
                <a:latin typeface="メイリオ" pitchFamily="34" charset="0"/>
                <a:ea typeface="メイリオ" pitchFamily="34" charset="-122"/>
                <a:cs typeface="メイリオ" pitchFamily="34" charset="-120"/>
              </a:rPr>
              <a:t>10</a:t>
            </a:r>
            <a:endParaRPr lang="en-US" sz="1800" dirty="0"/>
          </a:p>
        </p:txBody>
      </p:sp>
      <p:sp>
        <p:nvSpPr>
          <p:cNvPr id="3" name="Text 1"/>
          <p:cNvSpPr txBox="1"/>
          <p:nvPr/>
        </p:nvSpPr>
        <p:spPr>
          <a:xfrm>
            <a:off x="704088" y="384048"/>
            <a:ext cx="9144000" cy="640080"/>
          </a:xfrm>
          <a:prstGeom prst="rect">
            <a:avLst/>
          </a:prstGeom>
          <a:noFill/>
          <a:ln/>
        </p:spPr>
        <p:txBody>
          <a:bodyPr wrap="square" lIns="0" tIns="0" rIns="0" bIns="0" rtlCol="0" anchor="t"/>
          <a:lstStyle/>
          <a:p>
            <a:pPr indent="0" marL="0">
              <a:buNone/>
            </a:pPr>
            <a:r>
              <a:rPr lang="en-US" sz="3600" b="1" i="1" dirty="0">
                <a:solidFill>
                  <a:srgbClr val="04462F"/>
                </a:solidFill>
                <a:latin typeface="メイリオ" pitchFamily="34" charset="0"/>
                <a:ea typeface="メイリオ" pitchFamily="34" charset="-122"/>
                <a:cs typeface="メイリオ" pitchFamily="34" charset="-120"/>
              </a:rPr>
              <a:t>Next steps</a:t>
            </a:r>
            <a:endParaRPr lang="en-US" sz="3600" dirty="0"/>
          </a:p>
        </p:txBody>
      </p:sp>
      <p:sp>
        <p:nvSpPr>
          <p:cNvPr id="4" name="Shape 2"/>
          <p:cNvSpPr/>
          <p:nvPr/>
        </p:nvSpPr>
        <p:spPr>
          <a:xfrm>
            <a:off x="817474" y="1164031"/>
            <a:ext cx="341986" cy="0"/>
          </a:xfrm>
          <a:prstGeom prst="line">
            <a:avLst/>
          </a:prstGeom>
          <a:noFill/>
          <a:ln w="9525">
            <a:solidFill>
              <a:srgbClr val="04462F"/>
            </a:solidFill>
            <a:prstDash val="solid"/>
          </a:ln>
        </p:spPr>
      </p:sp>
      <p:sp>
        <p:nvSpPr>
          <p:cNvPr id="5" name="Text 3"/>
          <p:cNvSpPr txBox="1"/>
          <p:nvPr/>
        </p:nvSpPr>
        <p:spPr>
          <a:xfrm>
            <a:off x="1243584" y="978408"/>
            <a:ext cx="11432858" cy="384048"/>
          </a:xfrm>
          <a:prstGeom prst="rect">
            <a:avLst/>
          </a:prstGeom>
          <a:noFill/>
          <a:ln/>
        </p:spPr>
        <p:txBody>
          <a:bodyPr wrap="square" lIns="0" tIns="0" rIns="0" bIns="0" rtlCol="0" anchor="ctr"/>
          <a:lstStyle/>
          <a:p>
            <a:pPr indent="0" marL="0">
              <a:buNone/>
            </a:pPr>
            <a:r>
              <a:rPr lang="en-US" sz="1800" dirty="0">
                <a:solidFill>
                  <a:srgbClr val="04462F"/>
                </a:solidFill>
                <a:latin typeface="メイリオ" pitchFamily="34" charset="0"/>
                <a:ea typeface="メイリオ" pitchFamily="34" charset="-122"/>
                <a:cs typeface="メイリオ" pitchFamily="34" charset="-120"/>
              </a:rPr>
              <a:t>今後の進め方</a:t>
            </a:r>
            <a:endParaRPr lang="en-US" sz="1800" dirty="0"/>
          </a:p>
        </p:txBody>
      </p:sp>
      <p:sp>
        <p:nvSpPr>
          <p:cNvPr id="6" name="Text 4"/>
          <p:cNvSpPr txBox="1"/>
          <p:nvPr/>
        </p:nvSpPr>
        <p:spPr>
          <a:xfrm>
            <a:off x="756274" y="1633552"/>
            <a:ext cx="11931990" cy="504183"/>
          </a:xfrm>
          <a:prstGeom prst="rect">
            <a:avLst/>
          </a:prstGeom>
          <a:noFill/>
          <a:ln/>
        </p:spPr>
        <p:txBody>
          <a:bodyPr wrap="square" lIns="0" tIns="0" rIns="0" bIns="0" rtlCol="0" anchor="t"/>
          <a:lstStyle/>
          <a:p>
            <a:pPr indent="0" marL="0">
              <a:buNone/>
            </a:pPr>
            <a:r>
              <a:rPr lang="en-US" sz="1450" dirty="0">
                <a:solidFill>
                  <a:srgbClr val="666666"/>
                </a:solidFill>
                <a:latin typeface="メイリオ" pitchFamily="34" charset="0"/>
                <a:ea typeface="メイリオ" pitchFamily="34" charset="-122"/>
                <a:cs typeface="メイリオ" pitchFamily="34" charset="-120"/>
              </a:rPr>
              <a:t>本日伺った内容をもとに、分析の進め方・体制・お見積りを具体化し、10月中に正式なご提案としてお持ちします。</a:t>
            </a:r>
            <a:endParaRPr lang="en-US" sz="1450" dirty="0"/>
          </a:p>
        </p:txBody>
      </p:sp>
      <p:sp>
        <p:nvSpPr>
          <p:cNvPr id="7" name="Shape 5"/>
          <p:cNvSpPr/>
          <p:nvPr/>
        </p:nvSpPr>
        <p:spPr>
          <a:xfrm>
            <a:off x="756274" y="2369659"/>
            <a:ext cx="2831743" cy="2319241"/>
          </a:xfrm>
          <a:prstGeom prst="rect">
            <a:avLst/>
          </a:prstGeom>
          <a:solidFill>
            <a:srgbClr val="FFFFFF"/>
          </a:solidFill>
          <a:ln w="12700">
            <a:solidFill>
              <a:srgbClr val="FFFFFF"/>
            </a:solidFill>
            <a:prstDash val="solid"/>
          </a:ln>
        </p:spPr>
      </p:sp>
      <p:sp>
        <p:nvSpPr>
          <p:cNvPr id="8" name="Shape 6"/>
          <p:cNvSpPr/>
          <p:nvPr/>
        </p:nvSpPr>
        <p:spPr>
          <a:xfrm>
            <a:off x="756274" y="2369659"/>
            <a:ext cx="2831743" cy="403346"/>
          </a:xfrm>
          <a:prstGeom prst="rect">
            <a:avLst/>
          </a:prstGeom>
          <a:solidFill>
            <a:srgbClr val="E5A810"/>
          </a:solidFill>
          <a:ln w="12700">
            <a:solidFill>
              <a:srgbClr val="E5A810"/>
            </a:solidFill>
            <a:prstDash val="solid"/>
          </a:ln>
        </p:spPr>
      </p:sp>
      <p:sp>
        <p:nvSpPr>
          <p:cNvPr id="9" name="Text 7"/>
          <p:cNvSpPr txBox="1"/>
          <p:nvPr/>
        </p:nvSpPr>
        <p:spPr>
          <a:xfrm>
            <a:off x="756274" y="2369659"/>
            <a:ext cx="2831743" cy="403346"/>
          </a:xfrm>
          <a:prstGeom prst="rect">
            <a:avLst/>
          </a:prstGeom>
          <a:noFill/>
          <a:ln/>
        </p:spPr>
        <p:txBody>
          <a:bodyPr wrap="square" lIns="0" tIns="0" rIns="0" bIns="0" rtlCol="0" anchor="ctr"/>
          <a:lstStyle/>
          <a:p>
            <a:pPr algn="ctr" indent="0" marL="0">
              <a:buNone/>
            </a:pPr>
            <a:r>
              <a:rPr lang="en-US" sz="1250" b="1" dirty="0">
                <a:solidFill>
                  <a:srgbClr val="262626"/>
                </a:solidFill>
                <a:latin typeface="メイリオ" pitchFamily="34" charset="0"/>
                <a:ea typeface="メイリオ" pitchFamily="34" charset="-122"/>
                <a:cs typeface="メイリオ" pitchFamily="34" charset="-120"/>
              </a:rPr>
              <a:t>本日</a:t>
            </a:r>
            <a:endParaRPr lang="en-US" sz="1250" dirty="0"/>
          </a:p>
        </p:txBody>
      </p:sp>
      <p:sp>
        <p:nvSpPr>
          <p:cNvPr id="10" name="Text 8"/>
          <p:cNvSpPr txBox="1"/>
          <p:nvPr/>
        </p:nvSpPr>
        <p:spPr>
          <a:xfrm>
            <a:off x="1008366" y="2994846"/>
            <a:ext cx="2327560" cy="453765"/>
          </a:xfrm>
          <a:prstGeom prst="rect">
            <a:avLst/>
          </a:prstGeom>
          <a:noFill/>
          <a:ln/>
        </p:spPr>
        <p:txBody>
          <a:bodyPr wrap="square" lIns="0" tIns="0" rIns="0" bIns="0" rtlCol="0" anchor="t"/>
          <a:lstStyle/>
          <a:p>
            <a:pPr indent="0" marL="0">
              <a:lnSpc>
                <a:spcPct val="115000"/>
              </a:lnSpc>
              <a:buNone/>
            </a:pPr>
            <a:r>
              <a:rPr lang="en-US" sz="1850" b="1" dirty="0">
                <a:solidFill>
                  <a:srgbClr val="04462F"/>
                </a:solidFill>
                <a:latin typeface="メイリオ" pitchFamily="34" charset="0"/>
                <a:ea typeface="メイリオ" pitchFamily="34" charset="-122"/>
                <a:cs typeface="メイリオ" pitchFamily="34" charset="-120"/>
              </a:rPr>
              <a:t>お話を伺う</a:t>
            </a:r>
            <a:endParaRPr lang="en-US" sz="1850" dirty="0"/>
          </a:p>
        </p:txBody>
      </p:sp>
      <p:sp>
        <p:nvSpPr>
          <p:cNvPr id="11" name="Text 9"/>
          <p:cNvSpPr txBox="1"/>
          <p:nvPr/>
        </p:nvSpPr>
        <p:spPr>
          <a:xfrm>
            <a:off x="1008366" y="3579698"/>
            <a:ext cx="2327560" cy="957947"/>
          </a:xfrm>
          <a:prstGeom prst="rect">
            <a:avLst/>
          </a:prstGeom>
          <a:noFill/>
          <a:ln/>
        </p:spPr>
        <p:txBody>
          <a:bodyPr wrap="square" lIns="0" tIns="0" rIns="0" bIns="0" rtlCol="0" anchor="t"/>
          <a:lstStyle/>
          <a:p>
            <a:pPr indent="0" marL="0">
              <a:lnSpc>
                <a:spcPct val="125000"/>
              </a:lnSpc>
              <a:buNone/>
            </a:pPr>
            <a:r>
              <a:rPr lang="en-US" sz="1300" dirty="0">
                <a:solidFill>
                  <a:srgbClr val="666666"/>
                </a:solidFill>
                <a:latin typeface="メイリオ" pitchFamily="34" charset="0"/>
                <a:ea typeface="メイリオ" pitchFamily="34" charset="-122"/>
                <a:cs typeface="メイリオ" pitchFamily="34" charset="-120"/>
              </a:rPr>
              <a:t>目指す姿・データ・体制を確認</a:t>
            </a:r>
            <a:endParaRPr lang="en-US" sz="1300" dirty="0"/>
          </a:p>
        </p:txBody>
      </p:sp>
      <p:sp>
        <p:nvSpPr>
          <p:cNvPr id="12" name="Text 10"/>
          <p:cNvSpPr txBox="1"/>
          <p:nvPr/>
        </p:nvSpPr>
        <p:spPr>
          <a:xfrm>
            <a:off x="3588017" y="2369659"/>
            <a:ext cx="201673" cy="2319241"/>
          </a:xfrm>
          <a:prstGeom prst="rect">
            <a:avLst/>
          </a:prstGeom>
          <a:noFill/>
          <a:ln/>
        </p:spPr>
        <p:txBody>
          <a:bodyPr wrap="square" lIns="0" tIns="0" rIns="0" bIns="0" rtlCol="0" anchor="ctr"/>
          <a:lstStyle/>
          <a:p>
            <a:pPr algn="ctr" indent="0" marL="0">
              <a:buNone/>
            </a:pPr>
            <a:r>
              <a:rPr lang="en-US" sz="1750" dirty="0">
                <a:solidFill>
                  <a:srgbClr val="666666"/>
                </a:solidFill>
                <a:latin typeface="メイリオ" pitchFamily="34" charset="0"/>
                <a:ea typeface="メイリオ" pitchFamily="34" charset="-122"/>
                <a:cs typeface="メイリオ" pitchFamily="34" charset="-120"/>
              </a:rPr>
              <a:t>›</a:t>
            </a:r>
            <a:endParaRPr lang="en-US" sz="1750" dirty="0"/>
          </a:p>
        </p:txBody>
      </p:sp>
      <p:sp>
        <p:nvSpPr>
          <p:cNvPr id="13" name="Shape 11"/>
          <p:cNvSpPr/>
          <p:nvPr/>
        </p:nvSpPr>
        <p:spPr>
          <a:xfrm>
            <a:off x="3789690" y="2369659"/>
            <a:ext cx="2831743" cy="2319241"/>
          </a:xfrm>
          <a:prstGeom prst="rect">
            <a:avLst/>
          </a:prstGeom>
          <a:solidFill>
            <a:srgbClr val="FFFFFF"/>
          </a:solidFill>
          <a:ln w="12700">
            <a:solidFill>
              <a:srgbClr val="FFFFFF"/>
            </a:solidFill>
            <a:prstDash val="solid"/>
          </a:ln>
        </p:spPr>
      </p:sp>
      <p:sp>
        <p:nvSpPr>
          <p:cNvPr id="14" name="Shape 12"/>
          <p:cNvSpPr/>
          <p:nvPr/>
        </p:nvSpPr>
        <p:spPr>
          <a:xfrm>
            <a:off x="3789690" y="2369659"/>
            <a:ext cx="2831743" cy="403346"/>
          </a:xfrm>
          <a:prstGeom prst="rect">
            <a:avLst/>
          </a:prstGeom>
          <a:solidFill>
            <a:srgbClr val="04462F"/>
          </a:solidFill>
          <a:ln w="12700">
            <a:solidFill>
              <a:srgbClr val="04462F"/>
            </a:solidFill>
            <a:prstDash val="solid"/>
          </a:ln>
        </p:spPr>
      </p:sp>
      <p:sp>
        <p:nvSpPr>
          <p:cNvPr id="15" name="Text 13"/>
          <p:cNvSpPr txBox="1"/>
          <p:nvPr/>
        </p:nvSpPr>
        <p:spPr>
          <a:xfrm>
            <a:off x="3789690" y="2369659"/>
            <a:ext cx="2831743" cy="403346"/>
          </a:xfrm>
          <a:prstGeom prst="rect">
            <a:avLst/>
          </a:prstGeom>
          <a:noFill/>
          <a:ln/>
        </p:spPr>
        <p:txBody>
          <a:bodyPr wrap="square" lIns="0" tIns="0" rIns="0" bIns="0" rtlCol="0" anchor="ctr"/>
          <a:lstStyle/>
          <a:p>
            <a:pPr algn="ctr" indent="0" marL="0">
              <a:buNone/>
            </a:pPr>
            <a:r>
              <a:rPr lang="en-US" sz="1250" b="1" dirty="0">
                <a:solidFill>
                  <a:srgbClr val="FFFFFF"/>
                </a:solidFill>
                <a:latin typeface="メイリオ" pitchFamily="34" charset="0"/>
                <a:ea typeface="メイリオ" pitchFamily="34" charset="-122"/>
                <a:cs typeface="メイリオ" pitchFamily="34" charset="-120"/>
              </a:rPr>
              <a:t>10月中</a:t>
            </a:r>
            <a:endParaRPr lang="en-US" sz="1250" dirty="0"/>
          </a:p>
        </p:txBody>
      </p:sp>
      <p:sp>
        <p:nvSpPr>
          <p:cNvPr id="16" name="Text 14"/>
          <p:cNvSpPr txBox="1"/>
          <p:nvPr/>
        </p:nvSpPr>
        <p:spPr>
          <a:xfrm>
            <a:off x="4041781" y="2994846"/>
            <a:ext cx="2327560" cy="453765"/>
          </a:xfrm>
          <a:prstGeom prst="rect">
            <a:avLst/>
          </a:prstGeom>
          <a:noFill/>
          <a:ln/>
        </p:spPr>
        <p:txBody>
          <a:bodyPr wrap="square" lIns="0" tIns="0" rIns="0" bIns="0" rtlCol="0" anchor="t"/>
          <a:lstStyle/>
          <a:p>
            <a:pPr indent="0" marL="0">
              <a:lnSpc>
                <a:spcPct val="115000"/>
              </a:lnSpc>
              <a:buNone/>
            </a:pPr>
            <a:r>
              <a:rPr lang="en-US" sz="1850" b="1" dirty="0">
                <a:solidFill>
                  <a:srgbClr val="04462F"/>
                </a:solidFill>
                <a:latin typeface="メイリオ" pitchFamily="34" charset="0"/>
                <a:ea typeface="メイリオ" pitchFamily="34" charset="-122"/>
                <a:cs typeface="メイリオ" pitchFamily="34" charset="-120"/>
              </a:rPr>
              <a:t>正式なご提案</a:t>
            </a:r>
            <a:endParaRPr lang="en-US" sz="1850" dirty="0"/>
          </a:p>
        </p:txBody>
      </p:sp>
      <p:sp>
        <p:nvSpPr>
          <p:cNvPr id="17" name="Text 15"/>
          <p:cNvSpPr txBox="1"/>
          <p:nvPr/>
        </p:nvSpPr>
        <p:spPr>
          <a:xfrm>
            <a:off x="4041781" y="3579698"/>
            <a:ext cx="2327560" cy="957947"/>
          </a:xfrm>
          <a:prstGeom prst="rect">
            <a:avLst/>
          </a:prstGeom>
          <a:noFill/>
          <a:ln/>
        </p:spPr>
        <p:txBody>
          <a:bodyPr wrap="square" lIns="0" tIns="0" rIns="0" bIns="0" rtlCol="0" anchor="t"/>
          <a:lstStyle/>
          <a:p>
            <a:pPr indent="0" marL="0">
              <a:lnSpc>
                <a:spcPct val="125000"/>
              </a:lnSpc>
              <a:buNone/>
            </a:pPr>
            <a:r>
              <a:rPr lang="en-US" sz="1300" dirty="0">
                <a:solidFill>
                  <a:srgbClr val="666666"/>
                </a:solidFill>
                <a:latin typeface="メイリオ" pitchFamily="34" charset="0"/>
                <a:ea typeface="メイリオ" pitchFamily="34" charset="-122"/>
                <a:cs typeface="メイリオ" pitchFamily="34" charset="-120"/>
              </a:rPr>
              <a:t>分析設計・体制・お見積り（ご予算200万円以内）</a:t>
            </a:r>
            <a:endParaRPr lang="en-US" sz="1300" dirty="0"/>
          </a:p>
        </p:txBody>
      </p:sp>
      <p:sp>
        <p:nvSpPr>
          <p:cNvPr id="18" name="Text 16"/>
          <p:cNvSpPr txBox="1"/>
          <p:nvPr/>
        </p:nvSpPr>
        <p:spPr>
          <a:xfrm>
            <a:off x="6621432" y="2369659"/>
            <a:ext cx="201673" cy="2319241"/>
          </a:xfrm>
          <a:prstGeom prst="rect">
            <a:avLst/>
          </a:prstGeom>
          <a:noFill/>
          <a:ln/>
        </p:spPr>
        <p:txBody>
          <a:bodyPr wrap="square" lIns="0" tIns="0" rIns="0" bIns="0" rtlCol="0" anchor="ctr"/>
          <a:lstStyle/>
          <a:p>
            <a:pPr algn="ctr" indent="0" marL="0">
              <a:buNone/>
            </a:pPr>
            <a:r>
              <a:rPr lang="en-US" sz="1750" dirty="0">
                <a:solidFill>
                  <a:srgbClr val="666666"/>
                </a:solidFill>
                <a:latin typeface="メイリオ" pitchFamily="34" charset="0"/>
                <a:ea typeface="メイリオ" pitchFamily="34" charset="-122"/>
                <a:cs typeface="メイリオ" pitchFamily="34" charset="-120"/>
              </a:rPr>
              <a:t>›</a:t>
            </a:r>
            <a:endParaRPr lang="en-US" sz="1750" dirty="0"/>
          </a:p>
        </p:txBody>
      </p:sp>
      <p:sp>
        <p:nvSpPr>
          <p:cNvPr id="19" name="Shape 17"/>
          <p:cNvSpPr/>
          <p:nvPr/>
        </p:nvSpPr>
        <p:spPr>
          <a:xfrm>
            <a:off x="6823106" y="2369659"/>
            <a:ext cx="2831743" cy="2319241"/>
          </a:xfrm>
          <a:prstGeom prst="rect">
            <a:avLst/>
          </a:prstGeom>
          <a:solidFill>
            <a:srgbClr val="FFFFFF"/>
          </a:solidFill>
          <a:ln w="12700">
            <a:solidFill>
              <a:srgbClr val="FFFFFF"/>
            </a:solidFill>
            <a:prstDash val="solid"/>
          </a:ln>
        </p:spPr>
      </p:sp>
      <p:sp>
        <p:nvSpPr>
          <p:cNvPr id="20" name="Shape 18"/>
          <p:cNvSpPr/>
          <p:nvPr/>
        </p:nvSpPr>
        <p:spPr>
          <a:xfrm>
            <a:off x="6823106" y="2369659"/>
            <a:ext cx="2831743" cy="403346"/>
          </a:xfrm>
          <a:prstGeom prst="rect">
            <a:avLst/>
          </a:prstGeom>
          <a:solidFill>
            <a:srgbClr val="04462F"/>
          </a:solidFill>
          <a:ln w="12700">
            <a:solidFill>
              <a:srgbClr val="04462F"/>
            </a:solidFill>
            <a:prstDash val="solid"/>
          </a:ln>
        </p:spPr>
      </p:sp>
      <p:sp>
        <p:nvSpPr>
          <p:cNvPr id="21" name="Text 19"/>
          <p:cNvSpPr txBox="1"/>
          <p:nvPr/>
        </p:nvSpPr>
        <p:spPr>
          <a:xfrm>
            <a:off x="6823106" y="2369659"/>
            <a:ext cx="2831743" cy="403346"/>
          </a:xfrm>
          <a:prstGeom prst="rect">
            <a:avLst/>
          </a:prstGeom>
          <a:noFill/>
          <a:ln/>
        </p:spPr>
        <p:txBody>
          <a:bodyPr wrap="square" lIns="0" tIns="0" rIns="0" bIns="0" rtlCol="0" anchor="ctr"/>
          <a:lstStyle/>
          <a:p>
            <a:pPr algn="ctr" indent="0" marL="0">
              <a:buNone/>
            </a:pPr>
            <a:r>
              <a:rPr lang="en-US" sz="1250" b="1" dirty="0">
                <a:solidFill>
                  <a:srgbClr val="FFFFFF"/>
                </a:solidFill>
                <a:latin typeface="メイリオ" pitchFamily="34" charset="0"/>
                <a:ea typeface="メイリオ" pitchFamily="34" charset="-122"/>
                <a:cs typeface="メイリオ" pitchFamily="34" charset="-120"/>
              </a:rPr>
              <a:t>12月</a:t>
            </a:r>
            <a:endParaRPr lang="en-US" sz="1250" dirty="0"/>
          </a:p>
        </p:txBody>
      </p:sp>
      <p:sp>
        <p:nvSpPr>
          <p:cNvPr id="22" name="Text 20"/>
          <p:cNvSpPr txBox="1"/>
          <p:nvPr/>
        </p:nvSpPr>
        <p:spPr>
          <a:xfrm>
            <a:off x="7075197" y="2994846"/>
            <a:ext cx="2327560" cy="453765"/>
          </a:xfrm>
          <a:prstGeom prst="rect">
            <a:avLst/>
          </a:prstGeom>
          <a:noFill/>
          <a:ln/>
        </p:spPr>
        <p:txBody>
          <a:bodyPr wrap="square" lIns="0" tIns="0" rIns="0" bIns="0" rtlCol="0" anchor="t"/>
          <a:lstStyle/>
          <a:p>
            <a:pPr indent="0" marL="0">
              <a:lnSpc>
                <a:spcPct val="115000"/>
              </a:lnSpc>
              <a:buNone/>
            </a:pPr>
            <a:r>
              <a:rPr lang="en-US" sz="1850" b="1" dirty="0">
                <a:solidFill>
                  <a:srgbClr val="04462F"/>
                </a:solidFill>
                <a:latin typeface="メイリオ" pitchFamily="34" charset="0"/>
                <a:ea typeface="メイリオ" pitchFamily="34" charset="-122"/>
                <a:cs typeface="メイリオ" pitchFamily="34" charset="-120"/>
              </a:rPr>
              <a:t>認知度調査</a:t>
            </a:r>
            <a:endParaRPr lang="en-US" sz="1850" dirty="0"/>
          </a:p>
        </p:txBody>
      </p:sp>
      <p:sp>
        <p:nvSpPr>
          <p:cNvPr id="23" name="Text 21"/>
          <p:cNvSpPr txBox="1"/>
          <p:nvPr/>
        </p:nvSpPr>
        <p:spPr>
          <a:xfrm>
            <a:off x="7075197" y="3579698"/>
            <a:ext cx="2327560" cy="957947"/>
          </a:xfrm>
          <a:prstGeom prst="rect">
            <a:avLst/>
          </a:prstGeom>
          <a:noFill/>
          <a:ln/>
        </p:spPr>
        <p:txBody>
          <a:bodyPr wrap="square" lIns="0" tIns="0" rIns="0" bIns="0" rtlCol="0" anchor="t"/>
          <a:lstStyle/>
          <a:p>
            <a:pPr indent="0" marL="0">
              <a:lnSpc>
                <a:spcPct val="125000"/>
              </a:lnSpc>
              <a:buNone/>
            </a:pPr>
            <a:r>
              <a:rPr lang="en-US" sz="1300" dirty="0">
                <a:solidFill>
                  <a:srgbClr val="666666"/>
                </a:solidFill>
                <a:latin typeface="メイリオ" pitchFamily="34" charset="0"/>
                <a:ea typeface="メイリオ" pitchFamily="34" charset="-122"/>
                <a:cs typeface="メイリオ" pitchFamily="34" charset="-120"/>
              </a:rPr>
              <a:t>調査票・集計仕様を事前に共有いただけると理想です</a:t>
            </a:r>
            <a:endParaRPr lang="en-US" sz="1300" dirty="0"/>
          </a:p>
        </p:txBody>
      </p:sp>
      <p:sp>
        <p:nvSpPr>
          <p:cNvPr id="24" name="Text 22"/>
          <p:cNvSpPr txBox="1"/>
          <p:nvPr/>
        </p:nvSpPr>
        <p:spPr>
          <a:xfrm>
            <a:off x="9654848" y="2369659"/>
            <a:ext cx="201673" cy="2319241"/>
          </a:xfrm>
          <a:prstGeom prst="rect">
            <a:avLst/>
          </a:prstGeom>
          <a:noFill/>
          <a:ln/>
        </p:spPr>
        <p:txBody>
          <a:bodyPr wrap="square" lIns="0" tIns="0" rIns="0" bIns="0" rtlCol="0" anchor="ctr"/>
          <a:lstStyle/>
          <a:p>
            <a:pPr algn="ctr" indent="0" marL="0">
              <a:buNone/>
            </a:pPr>
            <a:r>
              <a:rPr lang="en-US" sz="1750" dirty="0">
                <a:solidFill>
                  <a:srgbClr val="666666"/>
                </a:solidFill>
                <a:latin typeface="メイリオ" pitchFamily="34" charset="0"/>
                <a:ea typeface="メイリオ" pitchFamily="34" charset="-122"/>
                <a:cs typeface="メイリオ" pitchFamily="34" charset="-120"/>
              </a:rPr>
              <a:t>›</a:t>
            </a:r>
            <a:endParaRPr lang="en-US" sz="1750" dirty="0"/>
          </a:p>
        </p:txBody>
      </p:sp>
      <p:sp>
        <p:nvSpPr>
          <p:cNvPr id="25" name="Shape 23"/>
          <p:cNvSpPr/>
          <p:nvPr/>
        </p:nvSpPr>
        <p:spPr>
          <a:xfrm>
            <a:off x="9856521" y="2369659"/>
            <a:ext cx="2831743" cy="2319241"/>
          </a:xfrm>
          <a:prstGeom prst="rect">
            <a:avLst/>
          </a:prstGeom>
          <a:solidFill>
            <a:srgbClr val="FFFFFF"/>
          </a:solidFill>
          <a:ln w="12700">
            <a:solidFill>
              <a:srgbClr val="FFFFFF"/>
            </a:solidFill>
            <a:prstDash val="solid"/>
          </a:ln>
        </p:spPr>
      </p:sp>
      <p:sp>
        <p:nvSpPr>
          <p:cNvPr id="26" name="Shape 24"/>
          <p:cNvSpPr/>
          <p:nvPr/>
        </p:nvSpPr>
        <p:spPr>
          <a:xfrm>
            <a:off x="9856521" y="2369659"/>
            <a:ext cx="2831743" cy="403346"/>
          </a:xfrm>
          <a:prstGeom prst="rect">
            <a:avLst/>
          </a:prstGeom>
          <a:solidFill>
            <a:srgbClr val="04462F"/>
          </a:solidFill>
          <a:ln w="12700">
            <a:solidFill>
              <a:srgbClr val="04462F"/>
            </a:solidFill>
            <a:prstDash val="solid"/>
          </a:ln>
        </p:spPr>
      </p:sp>
      <p:sp>
        <p:nvSpPr>
          <p:cNvPr id="27" name="Text 25"/>
          <p:cNvSpPr txBox="1"/>
          <p:nvPr/>
        </p:nvSpPr>
        <p:spPr>
          <a:xfrm>
            <a:off x="9856521" y="2369659"/>
            <a:ext cx="2831743" cy="403346"/>
          </a:xfrm>
          <a:prstGeom prst="rect">
            <a:avLst/>
          </a:prstGeom>
          <a:noFill/>
          <a:ln/>
        </p:spPr>
        <p:txBody>
          <a:bodyPr wrap="square" lIns="0" tIns="0" rIns="0" bIns="0" rtlCol="0" anchor="ctr"/>
          <a:lstStyle/>
          <a:p>
            <a:pPr algn="ctr" indent="0" marL="0">
              <a:buNone/>
            </a:pPr>
            <a:r>
              <a:rPr lang="en-US" sz="1250" b="1" dirty="0">
                <a:solidFill>
                  <a:srgbClr val="FFFFFF"/>
                </a:solidFill>
                <a:latin typeface="メイリオ" pitchFamily="34" charset="0"/>
                <a:ea typeface="メイリオ" pitchFamily="34" charset="-122"/>
                <a:cs typeface="メイリオ" pitchFamily="34" charset="-120"/>
              </a:rPr>
              <a:t>2027年1〜3月</a:t>
            </a:r>
            <a:endParaRPr lang="en-US" sz="1250" dirty="0"/>
          </a:p>
        </p:txBody>
      </p:sp>
      <p:sp>
        <p:nvSpPr>
          <p:cNvPr id="28" name="Text 26"/>
          <p:cNvSpPr txBox="1"/>
          <p:nvPr/>
        </p:nvSpPr>
        <p:spPr>
          <a:xfrm>
            <a:off x="10108613" y="2994846"/>
            <a:ext cx="2327560" cy="453765"/>
          </a:xfrm>
          <a:prstGeom prst="rect">
            <a:avLst/>
          </a:prstGeom>
          <a:noFill/>
          <a:ln/>
        </p:spPr>
        <p:txBody>
          <a:bodyPr wrap="square" lIns="0" tIns="0" rIns="0" bIns="0" rtlCol="0" anchor="t"/>
          <a:lstStyle/>
          <a:p>
            <a:pPr indent="0" marL="0">
              <a:lnSpc>
                <a:spcPct val="115000"/>
              </a:lnSpc>
              <a:buNone/>
            </a:pPr>
            <a:r>
              <a:rPr lang="en-US" sz="1850" b="1" dirty="0">
                <a:solidFill>
                  <a:srgbClr val="04462F"/>
                </a:solidFill>
                <a:latin typeface="メイリオ" pitchFamily="34" charset="0"/>
                <a:ea typeface="メイリオ" pitchFamily="34" charset="-122"/>
                <a:cs typeface="メイリオ" pitchFamily="34" charset="-120"/>
              </a:rPr>
              <a:t>分析・戦略立案</a:t>
            </a:r>
            <a:endParaRPr lang="en-US" sz="1850" dirty="0"/>
          </a:p>
        </p:txBody>
      </p:sp>
      <p:sp>
        <p:nvSpPr>
          <p:cNvPr id="29" name="Text 27"/>
          <p:cNvSpPr txBox="1"/>
          <p:nvPr/>
        </p:nvSpPr>
        <p:spPr>
          <a:xfrm>
            <a:off x="10108613" y="3579698"/>
            <a:ext cx="2327560" cy="957947"/>
          </a:xfrm>
          <a:prstGeom prst="rect">
            <a:avLst/>
          </a:prstGeom>
          <a:noFill/>
          <a:ln/>
        </p:spPr>
        <p:txBody>
          <a:bodyPr wrap="square" lIns="0" tIns="0" rIns="0" bIns="0" rtlCol="0" anchor="t"/>
          <a:lstStyle/>
          <a:p>
            <a:pPr indent="0" marL="0">
              <a:lnSpc>
                <a:spcPct val="125000"/>
              </a:lnSpc>
              <a:buNone/>
            </a:pPr>
            <a:r>
              <a:rPr lang="en-US" sz="1300" dirty="0">
                <a:solidFill>
                  <a:srgbClr val="666666"/>
                </a:solidFill>
                <a:latin typeface="メイリオ" pitchFamily="34" charset="0"/>
                <a:ea typeface="メイリオ" pitchFamily="34" charset="-122"/>
                <a:cs typeface="メイリオ" pitchFamily="34" charset="-120"/>
              </a:rPr>
              <a:t>月1回・計3回の打合せで、診断 → 選ぶ → 決める</a:t>
            </a:r>
            <a:endParaRPr lang="en-US" sz="1300" dirty="0"/>
          </a:p>
        </p:txBody>
      </p:sp>
      <p:sp>
        <p:nvSpPr>
          <p:cNvPr id="30" name="Shape 28"/>
          <p:cNvSpPr/>
          <p:nvPr/>
        </p:nvSpPr>
        <p:spPr>
          <a:xfrm>
            <a:off x="756274" y="4991410"/>
            <a:ext cx="11931990" cy="1462130"/>
          </a:xfrm>
          <a:prstGeom prst="rect">
            <a:avLst/>
          </a:prstGeom>
          <a:solidFill>
            <a:srgbClr val="04462F"/>
          </a:solidFill>
          <a:ln w="12700">
            <a:solidFill>
              <a:srgbClr val="04462F"/>
            </a:solidFill>
            <a:prstDash val="solid"/>
          </a:ln>
        </p:spPr>
      </p:sp>
      <p:sp>
        <p:nvSpPr>
          <p:cNvPr id="31" name="Text 29"/>
          <p:cNvSpPr txBox="1"/>
          <p:nvPr/>
        </p:nvSpPr>
        <p:spPr>
          <a:xfrm>
            <a:off x="1159620" y="5193083"/>
            <a:ext cx="3025097" cy="302510"/>
          </a:xfrm>
          <a:prstGeom prst="rect">
            <a:avLst/>
          </a:prstGeom>
          <a:noFill/>
          <a:ln/>
        </p:spPr>
        <p:txBody>
          <a:bodyPr wrap="square" lIns="0" tIns="0" rIns="0" bIns="0" rtlCol="0" anchor="t"/>
          <a:lstStyle/>
          <a:p>
            <a:pPr indent="0" marL="0">
              <a:lnSpc>
                <a:spcPct val="115000"/>
              </a:lnSpc>
              <a:buNone/>
            </a:pPr>
            <a:r>
              <a:rPr lang="en-US" sz="1300" b="1" dirty="0">
                <a:solidFill>
                  <a:srgbClr val="E5A810"/>
                </a:solidFill>
                <a:latin typeface="メイリオ" pitchFamily="34" charset="0"/>
                <a:ea typeface="メイリオ" pitchFamily="34" charset="-122"/>
                <a:cs typeface="メイリオ" pitchFamily="34" charset="-120"/>
              </a:rPr>
              <a:t>3月末に目指す状態</a:t>
            </a:r>
            <a:endParaRPr lang="en-US" sz="1300" dirty="0"/>
          </a:p>
        </p:txBody>
      </p:sp>
      <p:sp>
        <p:nvSpPr>
          <p:cNvPr id="32" name="Text 30"/>
          <p:cNvSpPr txBox="1"/>
          <p:nvPr/>
        </p:nvSpPr>
        <p:spPr>
          <a:xfrm>
            <a:off x="1159620" y="5546011"/>
            <a:ext cx="11125297" cy="857111"/>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メイリオ" pitchFamily="34" charset="0"/>
                <a:ea typeface="メイリオ" pitchFamily="34" charset="-122"/>
                <a:cs typeface="メイリオ" pitchFamily="34" charset="-120"/>
              </a:rPr>
              <a:t>12月調査の結果から「なぜ伸びないのか」を説明でき、来年度「どこに・何に力を入れるか」を根拠をもって決められている。</a:t>
            </a:r>
            <a:endParaRPr lang="en-US" sz="1400" dirty="0"/>
          </a:p>
          <a:p>
            <a:pPr indent="0" marL="0">
              <a:lnSpc>
                <a:spcPct val="125000"/>
              </a:lnSpc>
              <a:buNone/>
            </a:pPr>
            <a:r>
              <a:rPr lang="en-US" sz="1400" dirty="0">
                <a:solidFill>
                  <a:srgbClr val="FFFFFF"/>
                </a:solidFill>
                <a:latin typeface="メイリオ" pitchFamily="34" charset="0"/>
                <a:ea typeface="メイリオ" pitchFamily="34" charset="-122"/>
                <a:cs typeface="メイリオ" pitchFamily="34" charset="-120"/>
              </a:rPr>
              <a:t>そのための分析レポート、優先順位つきの改善策、来年度の計画と評価方法をお渡しします。</a:t>
            </a:r>
            <a:endParaRPr lang="en-US" sz="14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2F2F2"/>
        </a:solidFill>
      </p:bgPr>
    </p:bg>
    <p:spTree>
      <p:nvGrpSpPr>
        <p:cNvPr id="1" name=""/>
        <p:cNvGrpSpPr/>
        <p:nvPr/>
      </p:nvGrpSpPr>
      <p:grpSpPr/>
      <p:sp>
        <p:nvSpPr>
          <p:cNvPr id="2" name="Text 0"/>
          <p:cNvSpPr txBox="1"/>
          <p:nvPr/>
        </p:nvSpPr>
        <p:spPr>
          <a:xfrm>
            <a:off x="704088" y="1417320"/>
            <a:ext cx="7315200" cy="731520"/>
          </a:xfrm>
          <a:prstGeom prst="rect">
            <a:avLst/>
          </a:prstGeom>
          <a:noFill/>
          <a:ln/>
        </p:spPr>
        <p:txBody>
          <a:bodyPr wrap="square" lIns="0" tIns="0" rIns="0" bIns="0" rtlCol="0" anchor="t"/>
          <a:lstStyle/>
          <a:p>
            <a:pPr indent="0" marL="0">
              <a:buNone/>
            </a:pPr>
            <a:r>
              <a:rPr lang="en-US" sz="4000" b="1" i="1" dirty="0">
                <a:solidFill>
                  <a:srgbClr val="04462F"/>
                </a:solidFill>
                <a:latin typeface="メイリオ" pitchFamily="34" charset="0"/>
                <a:ea typeface="メイリオ" pitchFamily="34" charset="-122"/>
                <a:cs typeface="メイリオ" pitchFamily="34" charset="-120"/>
              </a:rPr>
              <a:t>Thank you</a:t>
            </a:r>
            <a:endParaRPr lang="en-US" sz="4000" dirty="0"/>
          </a:p>
        </p:txBody>
      </p:sp>
      <p:sp>
        <p:nvSpPr>
          <p:cNvPr id="3" name="Shape 1"/>
          <p:cNvSpPr/>
          <p:nvPr/>
        </p:nvSpPr>
        <p:spPr>
          <a:xfrm>
            <a:off x="0" y="2571332"/>
            <a:ext cx="9680309" cy="1764640"/>
          </a:xfrm>
          <a:prstGeom prst="rect">
            <a:avLst/>
          </a:prstGeom>
          <a:solidFill>
            <a:srgbClr val="04462F"/>
          </a:solidFill>
          <a:ln w="12700">
            <a:solidFill>
              <a:srgbClr val="04462F"/>
            </a:solidFill>
            <a:prstDash val="solid"/>
          </a:ln>
        </p:spPr>
      </p:sp>
      <p:sp>
        <p:nvSpPr>
          <p:cNvPr id="4" name="Text 2"/>
          <p:cNvSpPr txBox="1"/>
          <p:nvPr/>
        </p:nvSpPr>
        <p:spPr>
          <a:xfrm>
            <a:off x="756274" y="2571332"/>
            <a:ext cx="8671944" cy="1764640"/>
          </a:xfrm>
          <a:prstGeom prst="rect">
            <a:avLst/>
          </a:prstGeom>
          <a:noFill/>
          <a:ln/>
        </p:spPr>
        <p:txBody>
          <a:bodyPr wrap="square" lIns="0" tIns="0" rIns="0" bIns="0" rtlCol="0" anchor="ctr"/>
          <a:lstStyle/>
          <a:p>
            <a:pPr indent="0" marL="0">
              <a:lnSpc>
                <a:spcPct val="105000"/>
              </a:lnSpc>
              <a:buNone/>
            </a:pPr>
            <a:r>
              <a:rPr lang="en-US" sz="3300" b="1" dirty="0">
                <a:solidFill>
                  <a:srgbClr val="FFFFFF"/>
                </a:solidFill>
                <a:latin typeface="メイリオ" pitchFamily="34" charset="0"/>
                <a:ea typeface="メイリオ" pitchFamily="34" charset="-122"/>
                <a:cs typeface="メイリオ" pitchFamily="34" charset="-120"/>
              </a:rPr>
              <a:t>12月の数字を、</a:t>
            </a:r>
            <a:endParaRPr lang="en-US" sz="3300" dirty="0"/>
          </a:p>
          <a:p>
            <a:pPr indent="0" marL="0">
              <a:lnSpc>
                <a:spcPct val="105000"/>
              </a:lnSpc>
              <a:buNone/>
            </a:pPr>
            <a:r>
              <a:rPr lang="en-US" sz="3300" b="1" dirty="0">
                <a:solidFill>
                  <a:srgbClr val="FFFFFF"/>
                </a:solidFill>
                <a:latin typeface="メイリオ" pitchFamily="34" charset="0"/>
                <a:ea typeface="メイリオ" pitchFamily="34" charset="-122"/>
                <a:cs typeface="メイリオ" pitchFamily="34" charset="-120"/>
              </a:rPr>
              <a:t>来年度の判断に。</a:t>
            </a:r>
            <a:endParaRPr lang="en-US" sz="3300" dirty="0"/>
          </a:p>
        </p:txBody>
      </p:sp>
      <p:sp>
        <p:nvSpPr>
          <p:cNvPr id="5" name="Shape 3"/>
          <p:cNvSpPr/>
          <p:nvPr/>
        </p:nvSpPr>
        <p:spPr>
          <a:xfrm>
            <a:off x="857111" y="4870406"/>
            <a:ext cx="342844" cy="0"/>
          </a:xfrm>
          <a:prstGeom prst="line">
            <a:avLst/>
          </a:prstGeom>
          <a:noFill/>
          <a:ln w="9525">
            <a:solidFill>
              <a:srgbClr val="04462F"/>
            </a:solidFill>
            <a:prstDash val="solid"/>
          </a:ln>
        </p:spPr>
      </p:sp>
      <p:sp>
        <p:nvSpPr>
          <p:cNvPr id="6" name="Text 4"/>
          <p:cNvSpPr txBox="1"/>
          <p:nvPr/>
        </p:nvSpPr>
        <p:spPr>
          <a:xfrm>
            <a:off x="1361294" y="4698984"/>
            <a:ext cx="10083656" cy="403346"/>
          </a:xfrm>
          <a:prstGeom prst="rect">
            <a:avLst/>
          </a:prstGeom>
          <a:noFill/>
          <a:ln/>
        </p:spPr>
        <p:txBody>
          <a:bodyPr wrap="square" lIns="0" tIns="0" rIns="0" bIns="0" rtlCol="0" anchor="t"/>
          <a:lstStyle/>
          <a:p>
            <a:pPr indent="0" marL="0">
              <a:lnSpc>
                <a:spcPct val="115000"/>
              </a:lnSpc>
              <a:buNone/>
            </a:pPr>
            <a:r>
              <a:rPr lang="en-US" sz="1650" dirty="0">
                <a:solidFill>
                  <a:srgbClr val="04462F"/>
                </a:solidFill>
                <a:latin typeface="メイリオ" pitchFamily="34" charset="0"/>
                <a:ea typeface="メイリオ" pitchFamily="34" charset="-122"/>
                <a:cs typeface="メイリオ" pitchFamily="34" charset="-120"/>
              </a:rPr>
              <a:t>本日はありがとうございました。</a:t>
            </a:r>
            <a:endParaRPr lang="en-US" sz="1650" dirty="0"/>
          </a:p>
        </p:txBody>
      </p:sp>
      <p:sp>
        <p:nvSpPr>
          <p:cNvPr id="7" name="Text 5"/>
          <p:cNvSpPr txBox="1"/>
          <p:nvPr/>
        </p:nvSpPr>
        <p:spPr>
          <a:xfrm>
            <a:off x="8654802" y="6403121"/>
            <a:ext cx="4033462" cy="453765"/>
          </a:xfrm>
          <a:prstGeom prst="rect">
            <a:avLst/>
          </a:prstGeom>
          <a:noFill/>
          <a:ln/>
        </p:spPr>
        <p:txBody>
          <a:bodyPr wrap="square" lIns="0" tIns="0" rIns="0" bIns="0" rtlCol="0" anchor="ctr"/>
          <a:lstStyle/>
          <a:p>
            <a:pPr algn="r" indent="0" marL="0">
              <a:buNone/>
            </a:pPr>
            <a:r>
              <a:rPr lang="en-US" sz="2000" b="1" dirty="0">
                <a:solidFill>
                  <a:srgbClr val="04462F"/>
                </a:solidFill>
                <a:latin typeface="メイリオ" pitchFamily="34" charset="0"/>
                <a:ea typeface="メイリオ" pitchFamily="34" charset="-122"/>
                <a:cs typeface="メイリオ" pitchFamily="34" charset="-120"/>
              </a:rPr>
              <a:t>株式会社alma</a:t>
            </a:r>
            <a:endParaRPr lang="en-US" sz="2000" dirty="0"/>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10311</TotalTime>
  <Words>322</Words>
  <Application>Microsoft Office PowerPoint</Application>
  <PresentationFormat>ユーザー設定</PresentationFormat>
  <Paragraphs>54</Paragraphs>
  <Slides>2</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2</vt:i4>
      </vt:variant>
    </vt:vector>
  </HeadingPairs>
  <TitlesOfParts>
    <vt:vector size="7" baseType="lpstr">
      <vt:lpstr>メイリオ</vt:lpstr>
      <vt:lpstr>游ゴシック</vt:lpstr>
      <vt:lpstr>Arial</vt:lpstr>
      <vt:lpstr>Calibri</vt:lpstr>
      <vt:lpstr>1_Office Theme</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alma_パンフfin</dc:title>
  <dc:creator>ibma辻村</dc:creator>
  <cp:lastModifiedBy>kumiko Arai</cp:lastModifiedBy>
  <cp:revision>16</cp:revision>
  <dcterms:created xsi:type="dcterms:W3CDTF">2024-07-11T05:41:49Z</dcterms:created>
  <dcterms:modified xsi:type="dcterms:W3CDTF">2026-09-29T12:34:59Z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2023-10-14T00:00:00Z</vt:filetime>
  </property>
  <property fmtid="{D5CDD505-2E9C-101B-9397-08002B2CF9AE}" pid="3" name="Creator">
    <vt:lpwstr>Adobe Illustrator 27.3 (Macintosh)</vt:lpwstr>
  </property>
  <property fmtid="{D5CDD505-2E9C-101B-9397-08002B2CF9AE}" pid="4" name="LastSaved">
    <vt:filetime>2024-07-11T00:00:00Z</vt:filetime>
  </property>
  <property fmtid="{D5CDD505-2E9C-101B-9397-08002B2CF9AE}" pid="5" name="Producer">
    <vt:lpwstr>Adobe PDF library 17.00</vt:lpwstr>
  </property>
</Properties>
</file>