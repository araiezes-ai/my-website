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本日はお時間をいただきありがとうございます。株式会社almaの〇〇です。
今日は完成した提案をお持ちしたというより、ご相談の内容をしっかり伺って、正式なご提案に反映させたいと思って参りました。どうぞよろしくお願いいたします。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今日の進め方です。最初に簡単に私たちの紹介をして、ご相談内容の理解が合っているかを確認させてください。そのうえで、時間の大半を使って、いくつか質問をさせていただきたいと思っています。
12月の調査結果を見る前に私たちが答えを決めてしまうのは違うと考えていて、今日伺ったことをもとに、10月中に正式なご提案をお持ちします。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簡単に私たちの紹介です。体制は、少人数ですが、最初から最後まで同じメンバーで担当します。途中で担当が替わって話が戻る、ということはありません。
（右側の実績欄について説明する）
法律の内容の正確さは御センターに確認いただき、私たちは伝わり方に責任を持つ、という役割分担を想定しています。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まず、ご相談の内容をこう理解しています、という確認です。ずれていたら、ぜひこの場でご指摘ください。
調査は毎年きちんとされている。ただ、結果を読み解いて次の打ち手を決めるところまでは手が回っていない。実行は御センターでされるので、私たちは運用代行ではなく、判断材料と優先順位をお渡しする役割だと考えています。
右側の『やらないこと』は、あえて書きました。広告を増やしましょう、という提案にはしません。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最初に、今回の『認知度向上』をどう捉えているかを共有させてください。
認知度を上げるには2つの方向があります。一つは『広げる』。まだ法テラスを知らない方に、名前を知ってもらうこと。もう一つは『深める』。名前は知っている方に、何をする所かを知ってもらい、困ったときに思い出して、相談してもらうこと。
どちらか一方ではなく、両方が対象です。ただ、限られた予算と体制の中で、どちらにどれだけ力を配分するかは決めなければいけません。その判断を、12月の調査結果をもとに根拠をもって行えるようにするのが、今回のプロジェクトのゴールです。
そのために、このあといくつか伺わせてください。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ここから質問させてください。4つのテーマに分けています。
最初は、目指している姿です。一番伺いたいのは、認知度が上がったときに、法テラスにとって何が変わってほしいか。相談件数が増えることなのか、困っている方が適切な窓口にたどり着けることなのか。ここで分析の切り口が変わります。
また、『低い』と感じられているのは何と比べてなのか。過去なのか、目標なのか、現場の実感なのか。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次に、調査とデータについてです。
毎年調査を見ていらっしゃる方だからこそ感じている『この数字が気になる』というものがあれば、ぜひ伺いたいです。そこに一番のヒントがあることが多いので。
あとは実務的なところで、12月調査の結果がいつ頃どんな形でいただけるか、調査以外に見られるデータがあるか、を確認させてください。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3つ目は、いまの取り組みと体制です。
毎年されているネット広告やSNS広告について、手応えのあるもの、ないものを率直に伺えればと思います。広告以外で効いていると感じるものもあれば。
実行されるのは御センターなので、予算や承認の流れも伺って、現実に動かせる提言にしたいと考えています。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最後に、今回のご依頼そのものについてです。
以前は調査会社さんに提言まで依頼されていたと伺いました。そのときに良かった点、物足りなかった点、そして今回依頼先を分けられた理由を伺えると、私たちが何を期待されているのかがはっきりします。
それから、提言をどなたがどういう場で使われるのか。そして、3月末にどうなっていれば『頼んでよかった』と思っていただけるか。ここを伺って、正式なご提案に反映させます。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今後の進め方です。今日伺ったことをもとに、分析の進め方、体制、お見積りを具体化して、10月中に正式なご提案をお持ちします。費用はご予算の200万円以内で考えています。
12月の調査については、もし可能であれば、調査票や集計の仕様を事前に共有いただけると、1月からすぐに分析に入れます。
3月末には、12月の結果から『なぜ伸びないのか』を説明でき、来年度どこに力を入れるかを根拠をもって決められている状態を目指します。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本日はありがとうございました。毎年の調査の数字を、来年の具体的な打ち手に変える。そのお手伝いができればと思っています。ご検討のほど、よろしくお願いいたします。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5486400" cy="365760"/>
          </a:xfrm>
          <a:prstGeom prst="rect">
            <a:avLst/>
          </a:prstGeom>
          <a:noFill/>
          <a:ln/>
        </p:spPr>
        <p:txBody>
          <a:bodyPr wrap="square" lIns="0" tIns="0" rIns="0" bIns="0" rtlCol="0" anchor="t"/>
          <a:lstStyle/>
          <a:p>
            <a:pPr indent="0" marL="0">
              <a:lnSpc>
                <a:spcPct val="125000"/>
              </a:lnSpc>
              <a:buNone/>
            </a:pPr>
            <a:r>
              <a:rPr lang="en-US" sz="1400" dirty="0">
                <a:solidFill>
                  <a:srgbClr val="6B6B6B"/>
                </a:solidFill>
                <a:latin typeface="Yu Gothic" pitchFamily="34" charset="0"/>
                <a:ea typeface="Yu Gothic" pitchFamily="34" charset="-122"/>
                <a:cs typeface="Yu Gothic" pitchFamily="34" charset="-120"/>
              </a:rPr>
              <a:t>日本司法支援センター 御中</a:t>
            </a:r>
            <a:endParaRPr lang="en-US" sz="1400" dirty="0"/>
          </a:p>
        </p:txBody>
      </p:sp>
      <p:sp>
        <p:nvSpPr>
          <p:cNvPr id="3" name="Text 1"/>
          <p:cNvSpPr txBox="1"/>
          <p:nvPr/>
        </p:nvSpPr>
        <p:spPr>
          <a:xfrm>
            <a:off x="685800" y="1737360"/>
            <a:ext cx="105156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認知度向上に向けた</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ご相談について</a:t>
            </a:r>
            <a:endParaRPr lang="en-US" sz="3800" dirty="0"/>
          </a:p>
        </p:txBody>
      </p:sp>
      <p:sp>
        <p:nvSpPr>
          <p:cNvPr id="4" name="Text 2"/>
          <p:cNvSpPr txBox="1"/>
          <p:nvPr/>
        </p:nvSpPr>
        <p:spPr>
          <a:xfrm>
            <a:off x="685800" y="3703320"/>
            <a:ext cx="10058400" cy="457200"/>
          </a:xfrm>
          <a:prstGeom prst="rect">
            <a:avLst/>
          </a:prstGeom>
          <a:noFill/>
          <a:ln/>
        </p:spPr>
        <p:txBody>
          <a:bodyPr wrap="square" lIns="0" tIns="0" rIns="0" bIns="0" rtlCol="0" anchor="t"/>
          <a:lstStyle/>
          <a:p>
            <a:pPr indent="0" marL="0">
              <a:lnSpc>
                <a:spcPct val="125000"/>
              </a:lnSpc>
              <a:buNone/>
            </a:pPr>
            <a:r>
              <a:rPr lang="en-US" sz="1600" dirty="0">
                <a:solidFill>
                  <a:srgbClr val="6B6B6B"/>
                </a:solidFill>
                <a:latin typeface="Yu Gothic" pitchFamily="34" charset="0"/>
                <a:ea typeface="Yu Gothic" pitchFamily="34" charset="-122"/>
                <a:cs typeface="Yu Gothic" pitchFamily="34" charset="-120"/>
              </a:rPr>
              <a:t>初回お打合せ資料　｜　私たちの考え方と、本日お伺いしたいこと</a:t>
            </a:r>
            <a:endParaRPr lang="en-US" sz="1600" dirty="0"/>
          </a:p>
        </p:txBody>
      </p:sp>
      <p:sp>
        <p:nvSpPr>
          <p:cNvPr id="5" name="Shape 3"/>
          <p:cNvSpPr/>
          <p:nvPr/>
        </p:nvSpPr>
        <p:spPr>
          <a:xfrm>
            <a:off x="685800" y="5120640"/>
            <a:ext cx="10820095" cy="0"/>
          </a:xfrm>
          <a:prstGeom prst="line">
            <a:avLst/>
          </a:prstGeom>
          <a:noFill/>
          <a:ln w="9525">
            <a:solidFill>
              <a:srgbClr val="1F1F1F"/>
            </a:solidFill>
            <a:prstDash val="solid"/>
          </a:ln>
        </p:spPr>
      </p:sp>
      <p:sp>
        <p:nvSpPr>
          <p:cNvPr id="6" name="Text 4"/>
          <p:cNvSpPr txBox="1"/>
          <p:nvPr/>
        </p:nvSpPr>
        <p:spPr>
          <a:xfrm>
            <a:off x="685800" y="5897880"/>
            <a:ext cx="3657600" cy="32004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2026年9月30日</a:t>
            </a:r>
            <a:endParaRPr lang="en-US" sz="1200" dirty="0"/>
          </a:p>
        </p:txBody>
      </p:sp>
      <p:sp>
        <p:nvSpPr>
          <p:cNvPr id="7" name="Text 5"/>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2</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本日は、お話を伺うことを中心に進めさせてください。</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調査結果を見る前に、答えを決めてしまうことはしません。本日伺った内容をもとに、10月中に正式なご提案をお持ちします。</a:t>
            </a:r>
            <a:endParaRPr lang="en-US" sz="1400" dirty="0"/>
          </a:p>
        </p:txBody>
      </p:sp>
      <p:sp>
        <p:nvSpPr>
          <p:cNvPr id="6" name="Shape 4"/>
          <p:cNvSpPr/>
          <p:nvPr/>
        </p:nvSpPr>
        <p:spPr>
          <a:xfrm>
            <a:off x="685800" y="2331720"/>
            <a:ext cx="6583680" cy="0"/>
          </a:xfrm>
          <a:prstGeom prst="line">
            <a:avLst/>
          </a:prstGeom>
          <a:noFill/>
          <a:ln w="9525">
            <a:solidFill>
              <a:srgbClr val="D6D6D3"/>
            </a:solidFill>
            <a:prstDash val="solid"/>
          </a:ln>
        </p:spPr>
      </p:sp>
      <p:sp>
        <p:nvSpPr>
          <p:cNvPr id="7" name="Text 5"/>
          <p:cNvSpPr txBox="1"/>
          <p:nvPr/>
        </p:nvSpPr>
        <p:spPr>
          <a:xfrm>
            <a:off x="685800" y="2468880"/>
            <a:ext cx="457200" cy="457200"/>
          </a:xfrm>
          <a:prstGeom prst="rect">
            <a:avLst/>
          </a:prstGeom>
          <a:noFill/>
          <a:ln/>
        </p:spPr>
        <p:txBody>
          <a:bodyPr wrap="square" lIns="0" tIns="0" rIns="0" bIns="0" rtlCol="0" anchor="t"/>
          <a:lstStyle/>
          <a:p>
            <a:pPr indent="0" marL="0">
              <a:buNone/>
            </a:pPr>
            <a:r>
              <a:rPr lang="en-US" sz="2200" b="1" dirty="0">
                <a:solidFill>
                  <a:srgbClr val="1F1F1F"/>
                </a:solidFill>
                <a:latin typeface="Yu Mincho" pitchFamily="34" charset="0"/>
                <a:ea typeface="Yu Mincho" pitchFamily="34" charset="-122"/>
                <a:cs typeface="Yu Mincho" pitchFamily="34" charset="-120"/>
              </a:rPr>
              <a:t>1</a:t>
            </a:r>
            <a:endParaRPr lang="en-US" sz="2200" dirty="0"/>
          </a:p>
        </p:txBody>
      </p:sp>
      <p:sp>
        <p:nvSpPr>
          <p:cNvPr id="8" name="Text 6"/>
          <p:cNvSpPr txBox="1"/>
          <p:nvPr/>
        </p:nvSpPr>
        <p:spPr>
          <a:xfrm>
            <a:off x="1325880" y="2532888"/>
            <a:ext cx="4846320" cy="365760"/>
          </a:xfrm>
          <a:prstGeom prst="rect">
            <a:avLst/>
          </a:prstGeom>
          <a:noFill/>
          <a:ln/>
        </p:spPr>
        <p:txBody>
          <a:bodyPr wrap="square" lIns="0" tIns="0" rIns="0" bIns="0" rtlCol="0" anchor="t"/>
          <a:lstStyle/>
          <a:p>
            <a:pPr indent="0" marL="0">
              <a:lnSpc>
                <a:spcPct val="125000"/>
              </a:lnSpc>
              <a:buNone/>
            </a:pPr>
            <a:r>
              <a:rPr lang="en-US" sz="1600" dirty="0">
                <a:solidFill>
                  <a:srgbClr val="1F1F1F"/>
                </a:solidFill>
                <a:latin typeface="Yu Gothic" pitchFamily="34" charset="0"/>
                <a:ea typeface="Yu Gothic" pitchFamily="34" charset="-122"/>
                <a:cs typeface="Yu Gothic" pitchFamily="34" charset="-120"/>
              </a:rPr>
              <a:t>almaについて</a:t>
            </a:r>
            <a:endParaRPr lang="en-US" sz="1600" dirty="0"/>
          </a:p>
        </p:txBody>
      </p:sp>
      <p:sp>
        <p:nvSpPr>
          <p:cNvPr id="9" name="Text 7"/>
          <p:cNvSpPr txBox="1"/>
          <p:nvPr/>
        </p:nvSpPr>
        <p:spPr>
          <a:xfrm>
            <a:off x="6355080" y="2551176"/>
            <a:ext cx="914400" cy="365760"/>
          </a:xfrm>
          <a:prstGeom prst="rect">
            <a:avLst/>
          </a:prstGeom>
          <a:noFill/>
          <a:ln/>
        </p:spPr>
        <p:txBody>
          <a:bodyPr wrap="square" lIns="0" tIns="0" rIns="0" bIns="0" rtlCol="0" anchor="t"/>
          <a:lstStyle/>
          <a:p>
            <a:pPr algn="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3分</a:t>
            </a:r>
            <a:endParaRPr lang="en-US" sz="1200" dirty="0"/>
          </a:p>
        </p:txBody>
      </p:sp>
      <p:sp>
        <p:nvSpPr>
          <p:cNvPr id="10" name="Shape 8"/>
          <p:cNvSpPr/>
          <p:nvPr/>
        </p:nvSpPr>
        <p:spPr>
          <a:xfrm>
            <a:off x="685800" y="3108960"/>
            <a:ext cx="6583680" cy="0"/>
          </a:xfrm>
          <a:prstGeom prst="line">
            <a:avLst/>
          </a:prstGeom>
          <a:noFill/>
          <a:ln w="9525">
            <a:solidFill>
              <a:srgbClr val="D6D6D3"/>
            </a:solidFill>
            <a:prstDash val="solid"/>
          </a:ln>
        </p:spPr>
      </p:sp>
      <p:sp>
        <p:nvSpPr>
          <p:cNvPr id="11" name="Text 9"/>
          <p:cNvSpPr txBox="1"/>
          <p:nvPr/>
        </p:nvSpPr>
        <p:spPr>
          <a:xfrm>
            <a:off x="685800" y="3246120"/>
            <a:ext cx="457200" cy="457200"/>
          </a:xfrm>
          <a:prstGeom prst="rect">
            <a:avLst/>
          </a:prstGeom>
          <a:noFill/>
          <a:ln/>
        </p:spPr>
        <p:txBody>
          <a:bodyPr wrap="square" lIns="0" tIns="0" rIns="0" bIns="0" rtlCol="0" anchor="t"/>
          <a:lstStyle/>
          <a:p>
            <a:pPr indent="0" marL="0">
              <a:buNone/>
            </a:pPr>
            <a:r>
              <a:rPr lang="en-US" sz="2200" b="1" dirty="0">
                <a:solidFill>
                  <a:srgbClr val="1F1F1F"/>
                </a:solidFill>
                <a:latin typeface="Yu Mincho" pitchFamily="34" charset="0"/>
                <a:ea typeface="Yu Mincho" pitchFamily="34" charset="-122"/>
                <a:cs typeface="Yu Mincho" pitchFamily="34" charset="-120"/>
              </a:rPr>
              <a:t>2</a:t>
            </a:r>
            <a:endParaRPr lang="en-US" sz="2200" dirty="0"/>
          </a:p>
        </p:txBody>
      </p:sp>
      <p:sp>
        <p:nvSpPr>
          <p:cNvPr id="12" name="Text 10"/>
          <p:cNvSpPr txBox="1"/>
          <p:nvPr/>
        </p:nvSpPr>
        <p:spPr>
          <a:xfrm>
            <a:off x="1325880" y="3310128"/>
            <a:ext cx="4846320" cy="365760"/>
          </a:xfrm>
          <a:prstGeom prst="rect">
            <a:avLst/>
          </a:prstGeom>
          <a:noFill/>
          <a:ln/>
        </p:spPr>
        <p:txBody>
          <a:bodyPr wrap="square" lIns="0" tIns="0" rIns="0" bIns="0" rtlCol="0" anchor="t"/>
          <a:lstStyle/>
          <a:p>
            <a:pPr indent="0" marL="0">
              <a:lnSpc>
                <a:spcPct val="125000"/>
              </a:lnSpc>
              <a:buNone/>
            </a:pPr>
            <a:r>
              <a:rPr lang="en-US" sz="1600" dirty="0">
                <a:solidFill>
                  <a:srgbClr val="1F1F1F"/>
                </a:solidFill>
                <a:latin typeface="Yu Gothic" pitchFamily="34" charset="0"/>
                <a:ea typeface="Yu Gothic" pitchFamily="34" charset="-122"/>
                <a:cs typeface="Yu Gothic" pitchFamily="34" charset="-120"/>
              </a:rPr>
              <a:t>ご相談内容の確認と、私たちの考え方</a:t>
            </a:r>
            <a:endParaRPr lang="en-US" sz="1600" dirty="0"/>
          </a:p>
        </p:txBody>
      </p:sp>
      <p:sp>
        <p:nvSpPr>
          <p:cNvPr id="13" name="Text 11"/>
          <p:cNvSpPr txBox="1"/>
          <p:nvPr/>
        </p:nvSpPr>
        <p:spPr>
          <a:xfrm>
            <a:off x="6355080" y="3328416"/>
            <a:ext cx="914400" cy="365760"/>
          </a:xfrm>
          <a:prstGeom prst="rect">
            <a:avLst/>
          </a:prstGeom>
          <a:noFill/>
          <a:ln/>
        </p:spPr>
        <p:txBody>
          <a:bodyPr wrap="square" lIns="0" tIns="0" rIns="0" bIns="0" rtlCol="0" anchor="t"/>
          <a:lstStyle/>
          <a:p>
            <a:pPr algn="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7分</a:t>
            </a:r>
            <a:endParaRPr lang="en-US" sz="1200" dirty="0"/>
          </a:p>
        </p:txBody>
      </p:sp>
      <p:sp>
        <p:nvSpPr>
          <p:cNvPr id="14" name="Shape 12"/>
          <p:cNvSpPr/>
          <p:nvPr/>
        </p:nvSpPr>
        <p:spPr>
          <a:xfrm>
            <a:off x="685800" y="3886200"/>
            <a:ext cx="6583680" cy="0"/>
          </a:xfrm>
          <a:prstGeom prst="line">
            <a:avLst/>
          </a:prstGeom>
          <a:noFill/>
          <a:ln w="9525">
            <a:solidFill>
              <a:srgbClr val="D6D6D3"/>
            </a:solidFill>
            <a:prstDash val="solid"/>
          </a:ln>
        </p:spPr>
      </p:sp>
      <p:sp>
        <p:nvSpPr>
          <p:cNvPr id="15" name="Text 13"/>
          <p:cNvSpPr txBox="1"/>
          <p:nvPr/>
        </p:nvSpPr>
        <p:spPr>
          <a:xfrm>
            <a:off x="685800" y="4023360"/>
            <a:ext cx="457200" cy="457200"/>
          </a:xfrm>
          <a:prstGeom prst="rect">
            <a:avLst/>
          </a:prstGeom>
          <a:noFill/>
          <a:ln/>
        </p:spPr>
        <p:txBody>
          <a:bodyPr wrap="square" lIns="0" tIns="0" rIns="0" bIns="0" rtlCol="0" anchor="t"/>
          <a:lstStyle/>
          <a:p>
            <a:pPr indent="0" marL="0">
              <a:buNone/>
            </a:pPr>
            <a:r>
              <a:rPr lang="en-US" sz="2200" b="1" dirty="0">
                <a:solidFill>
                  <a:srgbClr val="C0462B"/>
                </a:solidFill>
                <a:latin typeface="Yu Mincho" pitchFamily="34" charset="0"/>
                <a:ea typeface="Yu Mincho" pitchFamily="34" charset="-122"/>
                <a:cs typeface="Yu Mincho" pitchFamily="34" charset="-120"/>
              </a:rPr>
              <a:t>3</a:t>
            </a:r>
            <a:endParaRPr lang="en-US" sz="2200" dirty="0"/>
          </a:p>
        </p:txBody>
      </p:sp>
      <p:sp>
        <p:nvSpPr>
          <p:cNvPr id="16" name="Text 14"/>
          <p:cNvSpPr txBox="1"/>
          <p:nvPr/>
        </p:nvSpPr>
        <p:spPr>
          <a:xfrm>
            <a:off x="1325880" y="4087368"/>
            <a:ext cx="4846320" cy="365760"/>
          </a:xfrm>
          <a:prstGeom prst="rect">
            <a:avLst/>
          </a:prstGeom>
          <a:noFill/>
          <a:ln/>
        </p:spPr>
        <p:txBody>
          <a:bodyPr wrap="square" lIns="0" tIns="0" rIns="0" bIns="0" rtlCol="0" anchor="t"/>
          <a:lstStyle/>
          <a:p>
            <a:pPr indent="0" marL="0">
              <a:lnSpc>
                <a:spcPct val="125000"/>
              </a:lnSpc>
              <a:buNone/>
            </a:pPr>
            <a:r>
              <a:rPr lang="en-US" sz="1600" b="1" dirty="0">
                <a:solidFill>
                  <a:srgbClr val="C0462B"/>
                </a:solidFill>
                <a:latin typeface="Yu Gothic" pitchFamily="34" charset="0"/>
                <a:ea typeface="Yu Gothic" pitchFamily="34" charset="-122"/>
                <a:cs typeface="Yu Gothic" pitchFamily="34" charset="-120"/>
              </a:rPr>
              <a:t>お伺いしたいこと</a:t>
            </a:r>
            <a:endParaRPr lang="en-US" sz="1600" dirty="0"/>
          </a:p>
        </p:txBody>
      </p:sp>
      <p:sp>
        <p:nvSpPr>
          <p:cNvPr id="17" name="Text 15"/>
          <p:cNvSpPr txBox="1"/>
          <p:nvPr/>
        </p:nvSpPr>
        <p:spPr>
          <a:xfrm>
            <a:off x="6355080" y="4105656"/>
            <a:ext cx="914400" cy="365760"/>
          </a:xfrm>
          <a:prstGeom prst="rect">
            <a:avLst/>
          </a:prstGeom>
          <a:noFill/>
          <a:ln/>
        </p:spPr>
        <p:txBody>
          <a:bodyPr wrap="square" lIns="0" tIns="0" rIns="0" bIns="0" rtlCol="0" anchor="t"/>
          <a:lstStyle/>
          <a:p>
            <a:pPr algn="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30分</a:t>
            </a:r>
            <a:endParaRPr lang="en-US" sz="1200" dirty="0"/>
          </a:p>
        </p:txBody>
      </p:sp>
      <p:sp>
        <p:nvSpPr>
          <p:cNvPr id="18" name="Shape 16"/>
          <p:cNvSpPr/>
          <p:nvPr/>
        </p:nvSpPr>
        <p:spPr>
          <a:xfrm>
            <a:off x="685800" y="4663440"/>
            <a:ext cx="6583680" cy="0"/>
          </a:xfrm>
          <a:prstGeom prst="line">
            <a:avLst/>
          </a:prstGeom>
          <a:noFill/>
          <a:ln w="9525">
            <a:solidFill>
              <a:srgbClr val="D6D6D3"/>
            </a:solidFill>
            <a:prstDash val="solid"/>
          </a:ln>
        </p:spPr>
      </p:sp>
      <p:sp>
        <p:nvSpPr>
          <p:cNvPr id="19" name="Text 17"/>
          <p:cNvSpPr txBox="1"/>
          <p:nvPr/>
        </p:nvSpPr>
        <p:spPr>
          <a:xfrm>
            <a:off x="685800" y="4800600"/>
            <a:ext cx="457200" cy="457200"/>
          </a:xfrm>
          <a:prstGeom prst="rect">
            <a:avLst/>
          </a:prstGeom>
          <a:noFill/>
          <a:ln/>
        </p:spPr>
        <p:txBody>
          <a:bodyPr wrap="square" lIns="0" tIns="0" rIns="0" bIns="0" rtlCol="0" anchor="t"/>
          <a:lstStyle/>
          <a:p>
            <a:pPr indent="0" marL="0">
              <a:buNone/>
            </a:pPr>
            <a:r>
              <a:rPr lang="en-US" sz="2200" b="1" dirty="0">
                <a:solidFill>
                  <a:srgbClr val="1F1F1F"/>
                </a:solidFill>
                <a:latin typeface="Yu Mincho" pitchFamily="34" charset="0"/>
                <a:ea typeface="Yu Mincho" pitchFamily="34" charset="-122"/>
                <a:cs typeface="Yu Mincho" pitchFamily="34" charset="-120"/>
              </a:rPr>
              <a:t>4</a:t>
            </a:r>
            <a:endParaRPr lang="en-US" sz="2200" dirty="0"/>
          </a:p>
        </p:txBody>
      </p:sp>
      <p:sp>
        <p:nvSpPr>
          <p:cNvPr id="20" name="Text 18"/>
          <p:cNvSpPr txBox="1"/>
          <p:nvPr/>
        </p:nvSpPr>
        <p:spPr>
          <a:xfrm>
            <a:off x="1325880" y="4864608"/>
            <a:ext cx="4846320" cy="365760"/>
          </a:xfrm>
          <a:prstGeom prst="rect">
            <a:avLst/>
          </a:prstGeom>
          <a:noFill/>
          <a:ln/>
        </p:spPr>
        <p:txBody>
          <a:bodyPr wrap="square" lIns="0" tIns="0" rIns="0" bIns="0" rtlCol="0" anchor="t"/>
          <a:lstStyle/>
          <a:p>
            <a:pPr indent="0" marL="0">
              <a:lnSpc>
                <a:spcPct val="125000"/>
              </a:lnSpc>
              <a:buNone/>
            </a:pPr>
            <a:r>
              <a:rPr lang="en-US" sz="1600" dirty="0">
                <a:solidFill>
                  <a:srgbClr val="1F1F1F"/>
                </a:solidFill>
                <a:latin typeface="Yu Gothic" pitchFamily="34" charset="0"/>
                <a:ea typeface="Yu Gothic" pitchFamily="34" charset="-122"/>
                <a:cs typeface="Yu Gothic" pitchFamily="34" charset="-120"/>
              </a:rPr>
              <a:t>今後の進め方</a:t>
            </a:r>
            <a:endParaRPr lang="en-US" sz="1600" dirty="0"/>
          </a:p>
        </p:txBody>
      </p:sp>
      <p:sp>
        <p:nvSpPr>
          <p:cNvPr id="21" name="Text 19"/>
          <p:cNvSpPr txBox="1"/>
          <p:nvPr/>
        </p:nvSpPr>
        <p:spPr>
          <a:xfrm>
            <a:off x="6355080" y="4882896"/>
            <a:ext cx="914400" cy="365760"/>
          </a:xfrm>
          <a:prstGeom prst="rect">
            <a:avLst/>
          </a:prstGeom>
          <a:noFill/>
          <a:ln/>
        </p:spPr>
        <p:txBody>
          <a:bodyPr wrap="square" lIns="0" tIns="0" rIns="0" bIns="0" rtlCol="0" anchor="t"/>
          <a:lstStyle/>
          <a:p>
            <a:pPr algn="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5分</a:t>
            </a:r>
            <a:endParaRPr lang="en-US" sz="1200" dirty="0"/>
          </a:p>
        </p:txBody>
      </p:sp>
      <p:sp>
        <p:nvSpPr>
          <p:cNvPr id="22" name="Shape 20"/>
          <p:cNvSpPr/>
          <p:nvPr/>
        </p:nvSpPr>
        <p:spPr>
          <a:xfrm>
            <a:off x="685800" y="5440680"/>
            <a:ext cx="6583680" cy="0"/>
          </a:xfrm>
          <a:prstGeom prst="line">
            <a:avLst/>
          </a:prstGeom>
          <a:noFill/>
          <a:ln w="9525">
            <a:solidFill>
              <a:srgbClr val="D6D6D3"/>
            </a:solidFill>
            <a:prstDash val="solid"/>
          </a:ln>
        </p:spPr>
      </p:sp>
      <p:sp>
        <p:nvSpPr>
          <p:cNvPr id="23" name="Shape 21"/>
          <p:cNvSpPr/>
          <p:nvPr/>
        </p:nvSpPr>
        <p:spPr>
          <a:xfrm>
            <a:off x="7955280" y="2331720"/>
            <a:ext cx="3550615" cy="3108960"/>
          </a:xfrm>
          <a:prstGeom prst="rect">
            <a:avLst/>
          </a:prstGeom>
          <a:solidFill>
            <a:srgbClr val="F2F2F0"/>
          </a:solidFill>
          <a:ln w="12700">
            <a:solidFill>
              <a:srgbClr val="F2F2F0"/>
            </a:solidFill>
            <a:prstDash val="solid"/>
          </a:ln>
        </p:spPr>
      </p:sp>
      <p:sp>
        <p:nvSpPr>
          <p:cNvPr id="24" name="Text 22"/>
          <p:cNvSpPr txBox="1"/>
          <p:nvPr/>
        </p:nvSpPr>
        <p:spPr>
          <a:xfrm>
            <a:off x="8275320" y="2560320"/>
            <a:ext cx="2910535" cy="320040"/>
          </a:xfrm>
          <a:prstGeom prst="rect">
            <a:avLst/>
          </a:prstGeom>
          <a:noFill/>
          <a:ln/>
        </p:spPr>
        <p:txBody>
          <a:bodyPr wrap="square" lIns="0" tIns="0" rIns="0" bIns="0" rtlCol="0" anchor="t"/>
          <a:lstStyle/>
          <a:p>
            <a:pPr indent="0" marL="0">
              <a:lnSpc>
                <a:spcPct val="125000"/>
              </a:lnSpc>
              <a:buNone/>
            </a:pPr>
            <a:r>
              <a:rPr lang="en-US" sz="1200" b="1" dirty="0">
                <a:solidFill>
                  <a:srgbClr val="6B6B6B"/>
                </a:solidFill>
                <a:latin typeface="Yu Gothic" pitchFamily="34" charset="0"/>
                <a:ea typeface="Yu Gothic" pitchFamily="34" charset="-122"/>
                <a:cs typeface="Yu Gothic" pitchFamily="34" charset="-120"/>
              </a:rPr>
              <a:t>このあとの流れ</a:t>
            </a:r>
            <a:endParaRPr lang="en-US" sz="1200" dirty="0"/>
          </a:p>
        </p:txBody>
      </p:sp>
      <p:sp>
        <p:nvSpPr>
          <p:cNvPr id="25" name="Shape 23"/>
          <p:cNvSpPr/>
          <p:nvPr/>
        </p:nvSpPr>
        <p:spPr>
          <a:xfrm>
            <a:off x="8302752" y="3090672"/>
            <a:ext cx="146304" cy="146304"/>
          </a:xfrm>
          <a:prstGeom prst="ellipse">
            <a:avLst/>
          </a:prstGeom>
          <a:solidFill>
            <a:srgbClr val="C0462B"/>
          </a:solidFill>
          <a:ln w="12700">
            <a:solidFill>
              <a:srgbClr val="C0462B"/>
            </a:solidFill>
            <a:prstDash val="solid"/>
          </a:ln>
        </p:spPr>
      </p:sp>
      <p:sp>
        <p:nvSpPr>
          <p:cNvPr id="26" name="Shape 24"/>
          <p:cNvSpPr/>
          <p:nvPr/>
        </p:nvSpPr>
        <p:spPr>
          <a:xfrm>
            <a:off x="8375904" y="3255264"/>
            <a:ext cx="0" cy="402336"/>
          </a:xfrm>
          <a:prstGeom prst="line">
            <a:avLst/>
          </a:prstGeom>
          <a:noFill/>
          <a:ln w="9525">
            <a:solidFill>
              <a:srgbClr val="9A9A96"/>
            </a:solidFill>
            <a:prstDash val="solid"/>
          </a:ln>
        </p:spPr>
      </p:sp>
      <p:sp>
        <p:nvSpPr>
          <p:cNvPr id="27" name="Text 25"/>
          <p:cNvSpPr txBox="1"/>
          <p:nvPr/>
        </p:nvSpPr>
        <p:spPr>
          <a:xfrm>
            <a:off x="8641080" y="3017520"/>
            <a:ext cx="1280160" cy="274320"/>
          </a:xfrm>
          <a:prstGeom prst="rect">
            <a:avLst/>
          </a:prstGeom>
          <a:noFill/>
          <a:ln/>
        </p:spPr>
        <p:txBody>
          <a:bodyPr wrap="square" lIns="0" tIns="0" rIns="0" bIns="0" rtlCol="0" anchor="t"/>
          <a:lstStyle/>
          <a:p>
            <a:pPr indent="0" marL="0">
              <a:lnSpc>
                <a:spcPct val="125000"/>
              </a:lnSpc>
              <a:buNone/>
            </a:pPr>
            <a:r>
              <a:rPr lang="en-US" sz="1250" b="1" dirty="0">
                <a:solidFill>
                  <a:srgbClr val="C0462B"/>
                </a:solidFill>
                <a:latin typeface="Yu Gothic" pitchFamily="34" charset="0"/>
                <a:ea typeface="Yu Gothic" pitchFamily="34" charset="-122"/>
                <a:cs typeface="Yu Gothic" pitchFamily="34" charset="-120"/>
              </a:rPr>
              <a:t>本日</a:t>
            </a:r>
            <a:endParaRPr lang="en-US" sz="1250" dirty="0"/>
          </a:p>
        </p:txBody>
      </p:sp>
      <p:sp>
        <p:nvSpPr>
          <p:cNvPr id="28" name="Text 26"/>
          <p:cNvSpPr txBox="1"/>
          <p:nvPr/>
        </p:nvSpPr>
        <p:spPr>
          <a:xfrm>
            <a:off x="9875520" y="3017520"/>
            <a:ext cx="1447495"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お話を伺う</a:t>
            </a:r>
            <a:endParaRPr lang="en-US" sz="1250" dirty="0"/>
          </a:p>
        </p:txBody>
      </p:sp>
      <p:sp>
        <p:nvSpPr>
          <p:cNvPr id="29" name="Shape 27"/>
          <p:cNvSpPr/>
          <p:nvPr/>
        </p:nvSpPr>
        <p:spPr>
          <a:xfrm>
            <a:off x="8302752" y="3657600"/>
            <a:ext cx="146304" cy="146304"/>
          </a:xfrm>
          <a:prstGeom prst="ellipse">
            <a:avLst/>
          </a:prstGeom>
          <a:solidFill>
            <a:srgbClr val="1F1F1F"/>
          </a:solidFill>
          <a:ln w="12700">
            <a:solidFill>
              <a:srgbClr val="1F1F1F"/>
            </a:solidFill>
            <a:prstDash val="solid"/>
          </a:ln>
        </p:spPr>
      </p:sp>
      <p:sp>
        <p:nvSpPr>
          <p:cNvPr id="30" name="Shape 28"/>
          <p:cNvSpPr/>
          <p:nvPr/>
        </p:nvSpPr>
        <p:spPr>
          <a:xfrm>
            <a:off x="8375904" y="3822192"/>
            <a:ext cx="0" cy="402336"/>
          </a:xfrm>
          <a:prstGeom prst="line">
            <a:avLst/>
          </a:prstGeom>
          <a:noFill/>
          <a:ln w="9525">
            <a:solidFill>
              <a:srgbClr val="9A9A96"/>
            </a:solidFill>
            <a:prstDash val="solid"/>
          </a:ln>
        </p:spPr>
      </p:sp>
      <p:sp>
        <p:nvSpPr>
          <p:cNvPr id="31" name="Text 29"/>
          <p:cNvSpPr txBox="1"/>
          <p:nvPr/>
        </p:nvSpPr>
        <p:spPr>
          <a:xfrm>
            <a:off x="8641080" y="3584448"/>
            <a:ext cx="1280160" cy="274320"/>
          </a:xfrm>
          <a:prstGeom prst="rect">
            <a:avLst/>
          </a:prstGeom>
          <a:noFill/>
          <a:ln/>
        </p:spPr>
        <p:txBody>
          <a:bodyPr wrap="square" lIns="0" tIns="0" rIns="0" bIns="0" rtlCol="0" anchor="t"/>
          <a:lstStyle/>
          <a:p>
            <a:pPr indent="0" marL="0">
              <a:lnSpc>
                <a:spcPct val="125000"/>
              </a:lnSpc>
              <a:buNone/>
            </a:pPr>
            <a:r>
              <a:rPr lang="en-US" sz="1250" b="1" dirty="0">
                <a:solidFill>
                  <a:srgbClr val="1F1F1F"/>
                </a:solidFill>
                <a:latin typeface="Yu Gothic" pitchFamily="34" charset="0"/>
                <a:ea typeface="Yu Gothic" pitchFamily="34" charset="-122"/>
                <a:cs typeface="Yu Gothic" pitchFamily="34" charset="-120"/>
              </a:rPr>
              <a:t>10月中</a:t>
            </a:r>
            <a:endParaRPr lang="en-US" sz="1250" dirty="0"/>
          </a:p>
        </p:txBody>
      </p:sp>
      <p:sp>
        <p:nvSpPr>
          <p:cNvPr id="32" name="Text 30"/>
          <p:cNvSpPr txBox="1"/>
          <p:nvPr/>
        </p:nvSpPr>
        <p:spPr>
          <a:xfrm>
            <a:off x="9875520" y="3584448"/>
            <a:ext cx="1447495"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正式なご提案</a:t>
            </a:r>
            <a:endParaRPr lang="en-US" sz="1250" dirty="0"/>
          </a:p>
        </p:txBody>
      </p:sp>
      <p:sp>
        <p:nvSpPr>
          <p:cNvPr id="33" name="Shape 31"/>
          <p:cNvSpPr/>
          <p:nvPr/>
        </p:nvSpPr>
        <p:spPr>
          <a:xfrm>
            <a:off x="8302752" y="4224528"/>
            <a:ext cx="146304" cy="146304"/>
          </a:xfrm>
          <a:prstGeom prst="ellipse">
            <a:avLst/>
          </a:prstGeom>
          <a:solidFill>
            <a:srgbClr val="1F1F1F"/>
          </a:solidFill>
          <a:ln w="12700">
            <a:solidFill>
              <a:srgbClr val="1F1F1F"/>
            </a:solidFill>
            <a:prstDash val="solid"/>
          </a:ln>
        </p:spPr>
      </p:sp>
      <p:sp>
        <p:nvSpPr>
          <p:cNvPr id="34" name="Shape 32"/>
          <p:cNvSpPr/>
          <p:nvPr/>
        </p:nvSpPr>
        <p:spPr>
          <a:xfrm>
            <a:off x="8375904" y="4389120"/>
            <a:ext cx="0" cy="402336"/>
          </a:xfrm>
          <a:prstGeom prst="line">
            <a:avLst/>
          </a:prstGeom>
          <a:noFill/>
          <a:ln w="9525">
            <a:solidFill>
              <a:srgbClr val="9A9A96"/>
            </a:solidFill>
            <a:prstDash val="solid"/>
          </a:ln>
        </p:spPr>
      </p:sp>
      <p:sp>
        <p:nvSpPr>
          <p:cNvPr id="35" name="Text 33"/>
          <p:cNvSpPr txBox="1"/>
          <p:nvPr/>
        </p:nvSpPr>
        <p:spPr>
          <a:xfrm>
            <a:off x="8641080" y="4151376"/>
            <a:ext cx="1280160" cy="274320"/>
          </a:xfrm>
          <a:prstGeom prst="rect">
            <a:avLst/>
          </a:prstGeom>
          <a:noFill/>
          <a:ln/>
        </p:spPr>
        <p:txBody>
          <a:bodyPr wrap="square" lIns="0" tIns="0" rIns="0" bIns="0" rtlCol="0" anchor="t"/>
          <a:lstStyle/>
          <a:p>
            <a:pPr indent="0" marL="0">
              <a:lnSpc>
                <a:spcPct val="125000"/>
              </a:lnSpc>
              <a:buNone/>
            </a:pPr>
            <a:r>
              <a:rPr lang="en-US" sz="1250" b="1" dirty="0">
                <a:solidFill>
                  <a:srgbClr val="1F1F1F"/>
                </a:solidFill>
                <a:latin typeface="Yu Gothic" pitchFamily="34" charset="0"/>
                <a:ea typeface="Yu Gothic" pitchFamily="34" charset="-122"/>
                <a:cs typeface="Yu Gothic" pitchFamily="34" charset="-120"/>
              </a:rPr>
              <a:t>12月</a:t>
            </a:r>
            <a:endParaRPr lang="en-US" sz="1250" dirty="0"/>
          </a:p>
        </p:txBody>
      </p:sp>
      <p:sp>
        <p:nvSpPr>
          <p:cNvPr id="36" name="Text 34"/>
          <p:cNvSpPr txBox="1"/>
          <p:nvPr/>
        </p:nvSpPr>
        <p:spPr>
          <a:xfrm>
            <a:off x="9875520" y="4151376"/>
            <a:ext cx="1447495"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認知度調査</a:t>
            </a:r>
            <a:endParaRPr lang="en-US" sz="1250" dirty="0"/>
          </a:p>
        </p:txBody>
      </p:sp>
      <p:sp>
        <p:nvSpPr>
          <p:cNvPr id="37" name="Shape 35"/>
          <p:cNvSpPr/>
          <p:nvPr/>
        </p:nvSpPr>
        <p:spPr>
          <a:xfrm>
            <a:off x="8302752" y="4791456"/>
            <a:ext cx="146304" cy="146304"/>
          </a:xfrm>
          <a:prstGeom prst="ellipse">
            <a:avLst/>
          </a:prstGeom>
          <a:solidFill>
            <a:srgbClr val="1F1F1F"/>
          </a:solidFill>
          <a:ln w="12700">
            <a:solidFill>
              <a:srgbClr val="1F1F1F"/>
            </a:solidFill>
            <a:prstDash val="solid"/>
          </a:ln>
        </p:spPr>
      </p:sp>
      <p:sp>
        <p:nvSpPr>
          <p:cNvPr id="38" name="Text 36"/>
          <p:cNvSpPr txBox="1"/>
          <p:nvPr/>
        </p:nvSpPr>
        <p:spPr>
          <a:xfrm>
            <a:off x="8641080" y="4718304"/>
            <a:ext cx="1280160" cy="274320"/>
          </a:xfrm>
          <a:prstGeom prst="rect">
            <a:avLst/>
          </a:prstGeom>
          <a:noFill/>
          <a:ln/>
        </p:spPr>
        <p:txBody>
          <a:bodyPr wrap="square" lIns="0" tIns="0" rIns="0" bIns="0" rtlCol="0" anchor="t"/>
          <a:lstStyle/>
          <a:p>
            <a:pPr indent="0" marL="0">
              <a:lnSpc>
                <a:spcPct val="125000"/>
              </a:lnSpc>
              <a:buNone/>
            </a:pPr>
            <a:r>
              <a:rPr lang="en-US" sz="1250" b="1" dirty="0">
                <a:solidFill>
                  <a:srgbClr val="1F1F1F"/>
                </a:solidFill>
                <a:latin typeface="Yu Gothic" pitchFamily="34" charset="0"/>
                <a:ea typeface="Yu Gothic" pitchFamily="34" charset="-122"/>
                <a:cs typeface="Yu Gothic" pitchFamily="34" charset="-120"/>
              </a:rPr>
              <a:t>2027年1月</a:t>
            </a:r>
            <a:endParaRPr lang="en-US" sz="1250" dirty="0"/>
          </a:p>
        </p:txBody>
      </p:sp>
      <p:sp>
        <p:nvSpPr>
          <p:cNvPr id="39" name="Text 37"/>
          <p:cNvSpPr txBox="1"/>
          <p:nvPr/>
        </p:nvSpPr>
        <p:spPr>
          <a:xfrm>
            <a:off x="9875520" y="4718304"/>
            <a:ext cx="1447495" cy="274320"/>
          </a:xfrm>
          <a:prstGeom prst="rect">
            <a:avLst/>
          </a:prstGeom>
          <a:noFill/>
          <a:ln/>
        </p:spPr>
        <p:txBody>
          <a:bodyPr wrap="square" lIns="0" tIns="0" rIns="0" bIns="0" rtlCol="0" anchor="t"/>
          <a:lstStyle/>
          <a:p>
            <a:pPr indent="0" marL="0">
              <a:lnSpc>
                <a:spcPct val="125000"/>
              </a:lnSpc>
              <a:buNone/>
            </a:pPr>
            <a:r>
              <a:rPr lang="en-US" sz="1250" dirty="0">
                <a:solidFill>
                  <a:srgbClr val="1F1F1F"/>
                </a:solidFill>
                <a:latin typeface="Yu Gothic" pitchFamily="34" charset="0"/>
                <a:ea typeface="Yu Gothic" pitchFamily="34" charset="-122"/>
                <a:cs typeface="Yu Gothic" pitchFamily="34" charset="-120"/>
              </a:rPr>
              <a:t>着手</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3</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almaについて</a:t>
            </a:r>
            <a:endParaRPr lang="en-US" sz="2800" dirty="0"/>
          </a:p>
        </p:txBody>
      </p:sp>
      <p:sp>
        <p:nvSpPr>
          <p:cNvPr id="5" name="Shape 3"/>
          <p:cNvSpPr/>
          <p:nvPr/>
        </p:nvSpPr>
        <p:spPr>
          <a:xfrm>
            <a:off x="685800" y="1600200"/>
            <a:ext cx="822960" cy="822960"/>
          </a:xfrm>
          <a:prstGeom prst="ellipse">
            <a:avLst/>
          </a:prstGeom>
          <a:solidFill>
            <a:srgbClr val="F2F2F0"/>
          </a:solidFill>
          <a:ln w="12700">
            <a:solidFill>
              <a:srgbClr val="F2F2F0"/>
            </a:solidFill>
            <a:prstDash val="solid"/>
          </a:ln>
        </p:spPr>
      </p:sp>
      <p:sp>
        <p:nvSpPr>
          <p:cNvPr id="6" name="Text 4"/>
          <p:cNvSpPr txBox="1"/>
          <p:nvPr/>
        </p:nvSpPr>
        <p:spPr>
          <a:xfrm>
            <a:off x="685800" y="160020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全体</a:t>
            </a:r>
            <a:endParaRPr lang="en-US" sz="1500" dirty="0"/>
          </a:p>
        </p:txBody>
      </p:sp>
      <p:sp>
        <p:nvSpPr>
          <p:cNvPr id="7" name="Text 5"/>
          <p:cNvSpPr txBox="1"/>
          <p:nvPr/>
        </p:nvSpPr>
        <p:spPr>
          <a:xfrm>
            <a:off x="1783080" y="164592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全体統括</a:t>
            </a:r>
            <a:endParaRPr lang="en-US" sz="1500" dirty="0"/>
          </a:p>
        </p:txBody>
      </p:sp>
      <p:sp>
        <p:nvSpPr>
          <p:cNvPr id="8" name="Text 6"/>
          <p:cNvSpPr txBox="1"/>
          <p:nvPr/>
        </p:nvSpPr>
        <p:spPr>
          <a:xfrm>
            <a:off x="1783080" y="201168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論点と優先順位を管理し、窓口を一本化します。打合せには毎回出席します。</a:t>
            </a:r>
            <a:endParaRPr lang="en-US" sz="1200" dirty="0"/>
          </a:p>
        </p:txBody>
      </p:sp>
      <p:sp>
        <p:nvSpPr>
          <p:cNvPr id="9" name="Shape 7"/>
          <p:cNvSpPr/>
          <p:nvPr/>
        </p:nvSpPr>
        <p:spPr>
          <a:xfrm>
            <a:off x="685800" y="2788920"/>
            <a:ext cx="822960" cy="822960"/>
          </a:xfrm>
          <a:prstGeom prst="ellipse">
            <a:avLst/>
          </a:prstGeom>
          <a:solidFill>
            <a:srgbClr val="F2F2F0"/>
          </a:solidFill>
          <a:ln w="12700">
            <a:solidFill>
              <a:srgbClr val="F2F2F0"/>
            </a:solidFill>
            <a:prstDash val="solid"/>
          </a:ln>
        </p:spPr>
      </p:sp>
      <p:sp>
        <p:nvSpPr>
          <p:cNvPr id="10" name="Text 8"/>
          <p:cNvSpPr txBox="1"/>
          <p:nvPr/>
        </p:nvSpPr>
        <p:spPr>
          <a:xfrm>
            <a:off x="685800" y="278892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分析</a:t>
            </a:r>
            <a:endParaRPr lang="en-US" sz="1500" dirty="0"/>
          </a:p>
        </p:txBody>
      </p:sp>
      <p:sp>
        <p:nvSpPr>
          <p:cNvPr id="11" name="Text 9"/>
          <p:cNvSpPr txBox="1"/>
          <p:nvPr/>
        </p:nvSpPr>
        <p:spPr>
          <a:xfrm>
            <a:off x="1783080" y="283464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分析・戦略設計</a:t>
            </a:r>
            <a:endParaRPr lang="en-US" sz="1500" dirty="0"/>
          </a:p>
        </p:txBody>
      </p:sp>
      <p:sp>
        <p:nvSpPr>
          <p:cNvPr id="12" name="Text 10"/>
          <p:cNvSpPr txBox="1"/>
          <p:nvPr/>
        </p:nvSpPr>
        <p:spPr>
          <a:xfrm>
            <a:off x="1783080" y="320040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調査データと発信物を突き合わせ、根拠のある改善案を組み立てます。</a:t>
            </a:r>
            <a:endParaRPr lang="en-US" sz="1200" dirty="0"/>
          </a:p>
        </p:txBody>
      </p:sp>
      <p:sp>
        <p:nvSpPr>
          <p:cNvPr id="13" name="Shape 11"/>
          <p:cNvSpPr/>
          <p:nvPr/>
        </p:nvSpPr>
        <p:spPr>
          <a:xfrm>
            <a:off x="685800" y="3977640"/>
            <a:ext cx="822960" cy="822960"/>
          </a:xfrm>
          <a:prstGeom prst="ellipse">
            <a:avLst/>
          </a:prstGeom>
          <a:solidFill>
            <a:srgbClr val="F2F2F0"/>
          </a:solidFill>
          <a:ln w="12700">
            <a:solidFill>
              <a:srgbClr val="F2F2F0"/>
            </a:solidFill>
            <a:prstDash val="solid"/>
          </a:ln>
        </p:spPr>
      </p:sp>
      <p:sp>
        <p:nvSpPr>
          <p:cNvPr id="14" name="Text 12"/>
          <p:cNvSpPr txBox="1"/>
          <p:nvPr/>
        </p:nvSpPr>
        <p:spPr>
          <a:xfrm>
            <a:off x="685800" y="3977640"/>
            <a:ext cx="822960" cy="822960"/>
          </a:xfrm>
          <a:prstGeom prst="rect">
            <a:avLst/>
          </a:prstGeom>
          <a:noFill/>
          <a:ln/>
        </p:spPr>
        <p:txBody>
          <a:bodyPr wrap="square" lIns="0" tIns="0" rIns="0" bIns="0" rtlCol="0" anchor="ctr"/>
          <a:lstStyle/>
          <a:p>
            <a:pPr algn="ctr" indent="0" marL="0">
              <a:buNone/>
            </a:pPr>
            <a:r>
              <a:rPr lang="en-US" sz="1500" b="1" dirty="0">
                <a:solidFill>
                  <a:srgbClr val="1F1F1F"/>
                </a:solidFill>
                <a:latin typeface="Yu Mincho" pitchFamily="34" charset="0"/>
                <a:ea typeface="Yu Mincho" pitchFamily="34" charset="-122"/>
                <a:cs typeface="Yu Mincho" pitchFamily="34" charset="-120"/>
              </a:rPr>
              <a:t>編集</a:t>
            </a:r>
            <a:endParaRPr lang="en-US" sz="1500" dirty="0"/>
          </a:p>
        </p:txBody>
      </p:sp>
      <p:sp>
        <p:nvSpPr>
          <p:cNvPr id="15" name="Text 13"/>
          <p:cNvSpPr txBox="1"/>
          <p:nvPr/>
        </p:nvSpPr>
        <p:spPr>
          <a:xfrm>
            <a:off x="1783080" y="4023360"/>
            <a:ext cx="4114800" cy="320040"/>
          </a:xfrm>
          <a:prstGeom prst="rect">
            <a:avLst/>
          </a:prstGeom>
          <a:noFill/>
          <a:ln/>
        </p:spPr>
        <p:txBody>
          <a:bodyPr wrap="square" lIns="0" tIns="0" rIns="0" bIns="0" rtlCol="0" anchor="t"/>
          <a:lstStyle/>
          <a:p>
            <a:pPr indent="0" marL="0">
              <a:lnSpc>
                <a:spcPct val="125000"/>
              </a:lnSpc>
              <a:buNone/>
            </a:pPr>
            <a:r>
              <a:rPr lang="en-US" sz="1500" b="1" dirty="0">
                <a:solidFill>
                  <a:srgbClr val="1F1F1F"/>
                </a:solidFill>
                <a:latin typeface="Yu Gothic" pitchFamily="34" charset="0"/>
                <a:ea typeface="Yu Gothic" pitchFamily="34" charset="-122"/>
                <a:cs typeface="Yu Gothic" pitchFamily="34" charset="-120"/>
              </a:rPr>
              <a:t>編集レビュー</a:t>
            </a:r>
            <a:endParaRPr lang="en-US" sz="1500" dirty="0"/>
          </a:p>
        </p:txBody>
      </p:sp>
      <p:sp>
        <p:nvSpPr>
          <p:cNvPr id="16" name="Text 14"/>
          <p:cNvSpPr txBox="1"/>
          <p:nvPr/>
        </p:nvSpPr>
        <p:spPr>
          <a:xfrm>
            <a:off x="1783080" y="4389120"/>
            <a:ext cx="4389120" cy="640080"/>
          </a:xfrm>
          <a:prstGeom prst="rect">
            <a:avLst/>
          </a:prstGeom>
          <a:noFill/>
          <a:ln/>
        </p:spPr>
        <p:txBody>
          <a:bodyPr wrap="square" lIns="0" tIns="0" rIns="0" bIns="0" rtlCol="0" anchor="t"/>
          <a:lstStyle/>
          <a:p>
            <a:pPr indent="0" marL="0">
              <a:lnSpc>
                <a:spcPct val="135000"/>
              </a:lnSpc>
              <a:buNone/>
            </a:pPr>
            <a:r>
              <a:rPr lang="en-US" sz="1200" dirty="0">
                <a:solidFill>
                  <a:srgbClr val="6B6B6B"/>
                </a:solidFill>
                <a:latin typeface="Yu Gothic" pitchFamily="34" charset="0"/>
                <a:ea typeface="Yu Gothic" pitchFamily="34" charset="-122"/>
                <a:cs typeface="Yu Gothic" pitchFamily="34" charset="-120"/>
              </a:rPr>
              <a:t>伝わり方と実現性を、編集の目線で点検します。</a:t>
            </a:r>
            <a:endParaRPr lang="en-US" sz="1200" dirty="0"/>
          </a:p>
        </p:txBody>
      </p:sp>
      <p:sp>
        <p:nvSpPr>
          <p:cNvPr id="17" name="Shape 15"/>
          <p:cNvSpPr/>
          <p:nvPr/>
        </p:nvSpPr>
        <p:spPr>
          <a:xfrm>
            <a:off x="6766560" y="1600200"/>
            <a:ext cx="4739335" cy="4343400"/>
          </a:xfrm>
          <a:prstGeom prst="rect">
            <a:avLst/>
          </a:prstGeom>
          <a:solidFill>
            <a:srgbClr val="F2F2F0"/>
          </a:solidFill>
          <a:ln w="12700">
            <a:solidFill>
              <a:srgbClr val="F2F2F0"/>
            </a:solidFill>
            <a:prstDash val="solid"/>
          </a:ln>
        </p:spPr>
      </p:sp>
      <p:sp>
        <p:nvSpPr>
          <p:cNvPr id="18" name="Text 16"/>
          <p:cNvSpPr txBox="1"/>
          <p:nvPr/>
        </p:nvSpPr>
        <p:spPr>
          <a:xfrm>
            <a:off x="7132320" y="1828800"/>
            <a:ext cx="4007815"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これまでの実績</a:t>
            </a:r>
            <a:endParaRPr lang="en-US" sz="1300" dirty="0"/>
          </a:p>
        </p:txBody>
      </p:sp>
      <p:sp>
        <p:nvSpPr>
          <p:cNvPr id="19" name="Text 17"/>
          <p:cNvSpPr txBox="1"/>
          <p:nvPr/>
        </p:nvSpPr>
        <p:spPr>
          <a:xfrm>
            <a:off x="7132320" y="2240280"/>
            <a:ext cx="4007815" cy="2514600"/>
          </a:xfrm>
          <a:prstGeom prst="rect">
            <a:avLst/>
          </a:prstGeom>
          <a:solidFill>
            <a:srgbClr val="FFFFFF"/>
          </a:solidFill>
          <a:ln w="12700">
            <a:solidFill>
              <a:srgbClr val="B5B5B0"/>
            </a:solidFill>
            <a:prstDash val="dash"/>
          </a:ln>
        </p:spPr>
        <p:txBody>
          <a:bodyPr wrap="square" lIns="1905" tIns="1905" rIns="1905" bIns="1905" rtlCol="0" anchor="t"/>
          <a:lstStyle/>
          <a:p>
            <a:pPr indent="0" marL="0">
              <a:buNone/>
            </a:pPr>
            <a:endParaRPr lang="en-US" sz="1250" dirty="0"/>
          </a:p>
        </p:txBody>
      </p:sp>
      <p:sp>
        <p:nvSpPr>
          <p:cNvPr id="20" name="Text 18"/>
          <p:cNvSpPr txBox="1"/>
          <p:nvPr/>
        </p:nvSpPr>
        <p:spPr>
          <a:xfrm>
            <a:off x="7132320" y="4937760"/>
            <a:ext cx="4007815" cy="822960"/>
          </a:xfrm>
          <a:prstGeom prst="rect">
            <a:avLst/>
          </a:prstGeom>
          <a:noFill/>
          <a:ln/>
        </p:spPr>
        <p:txBody>
          <a:bodyPr wrap="square" lIns="0" tIns="0" rIns="0" bIns="0" rtlCol="0" anchor="t"/>
          <a:lstStyle/>
          <a:p>
            <a:pPr indent="0" marL="0">
              <a:lnSpc>
                <a:spcPct val="135000"/>
              </a:lnSpc>
              <a:buNone/>
            </a:pPr>
            <a:r>
              <a:rPr lang="en-US" sz="1100" dirty="0">
                <a:solidFill>
                  <a:srgbClr val="6B6B6B"/>
                </a:solidFill>
                <a:latin typeface="Yu Gothic" pitchFamily="34" charset="0"/>
                <a:ea typeface="Yu Gothic" pitchFamily="34" charset="-122"/>
                <a:cs typeface="Yu Gothic" pitchFamily="34" charset="-120"/>
              </a:rPr>
              <a:t>法律の内容の正確さは御センターに最終確認いただき、私たちは「正しく伝わる言葉と順番」に責任を持ちます。</a:t>
            </a:r>
            <a:endParaRPr lang="en-US" sz="1100" dirty="0"/>
          </a:p>
        </p:txBody>
      </p:sp>
      <p:sp>
        <p:nvSpPr>
          <p:cNvPr id="21" name="Text 19"/>
          <p:cNvSpPr txBox="1"/>
          <p:nvPr/>
        </p:nvSpPr>
        <p:spPr>
          <a:xfrm>
            <a:off x="685800" y="5349240"/>
            <a:ext cx="4572000" cy="274320"/>
          </a:xfrm>
          <a:prstGeom prst="rect">
            <a:avLst/>
          </a:prstGeom>
          <a:noFill/>
          <a:ln/>
        </p:spPr>
        <p:txBody>
          <a:bodyPr wrap="square" lIns="0" tIns="0" rIns="0" bIns="0" rtlCol="0" anchor="t"/>
          <a:lstStyle/>
          <a:p>
            <a:pPr indent="0" marL="0">
              <a:lnSpc>
                <a:spcPct val="125000"/>
              </a:lnSpc>
              <a:buNone/>
            </a:pPr>
            <a:r>
              <a:rPr lang="en-US" sz="1050" dirty="0">
                <a:solidFill>
                  <a:srgbClr val="6B6B6B"/>
                </a:solidFill>
                <a:latin typeface="Yu Gothic" pitchFamily="34" charset="0"/>
                <a:ea typeface="Yu Gothic" pitchFamily="34" charset="-122"/>
                <a:cs typeface="Yu Gothic" pitchFamily="34" charset="-120"/>
              </a:rPr>
              <a:t>担当者名は契約時に確定します。</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4</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ご相談を、こう受け止めました。</a:t>
            </a:r>
            <a:endParaRPr lang="en-US" sz="2800" dirty="0"/>
          </a:p>
        </p:txBody>
      </p:sp>
      <p:sp>
        <p:nvSpPr>
          <p:cNvPr id="5" name="Text 3"/>
          <p:cNvSpPr txBox="1"/>
          <p:nvPr/>
        </p:nvSpPr>
        <p:spPr>
          <a:xfrm>
            <a:off x="685800" y="1554480"/>
            <a:ext cx="5760720" cy="2926080"/>
          </a:xfrm>
          <a:prstGeom prst="rect">
            <a:avLst/>
          </a:prstGeom>
          <a:noFill/>
          <a:ln/>
        </p:spPr>
        <p:txBody>
          <a:bodyPr wrap="square" lIns="0" tIns="0" rIns="0" bIns="0" rtlCol="0" anchor="t"/>
          <a:lstStyle/>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毎年12月に認知度調査をされていて、</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数字は毎年出ている。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ただ、「なぜその数字なのか」「来年は何を変えるのか」</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まで検討する時間と材料が足りていない。</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 </a:t>
            </a:r>
            <a:endParaRPr lang="en-US" sz="1700" dirty="0"/>
          </a:p>
          <a:p>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施策はご自身たちで動かすので、欲しいのは</a:t>
            </a:r>
            <a:endParaRPr lang="en-US" sz="1700" dirty="0"/>
          </a:p>
          <a:p>
            <a:pPr indent="0" marL="0">
              <a:lnSpc>
                <a:spcPct val="155000"/>
              </a:lnSpc>
              <a:buNone/>
            </a:pPr>
            <a:r>
              <a:rPr lang="en-US" sz="1700" b="1" dirty="0">
                <a:solidFill>
                  <a:srgbClr val="C0462B"/>
                </a:solidFill>
                <a:latin typeface="Yu Gothic" pitchFamily="34" charset="0"/>
                <a:ea typeface="Yu Gothic" pitchFamily="34" charset="-122"/>
                <a:cs typeface="Yu Gothic" pitchFamily="34" charset="-120"/>
              </a:rPr>
              <a:t>判断の根拠と、優先順位のついた打ち手</a:t>
            </a:r>
            <a:pPr indent="0" marL="0">
              <a:lnSpc>
                <a:spcPct val="155000"/>
              </a:lnSpc>
              <a:buNone/>
            </a:pPr>
            <a:r>
              <a:rPr lang="en-US" sz="1700" dirty="0">
                <a:solidFill>
                  <a:srgbClr val="1F1F1F"/>
                </a:solidFill>
                <a:latin typeface="Yu Gothic" pitchFamily="34" charset="0"/>
                <a:ea typeface="Yu Gothic" pitchFamily="34" charset="-122"/>
                <a:cs typeface="Yu Gothic" pitchFamily="34" charset="-120"/>
              </a:rPr>
              <a:t>。</a:t>
            </a:r>
            <a:endParaRPr lang="en-US" sz="1700" dirty="0"/>
          </a:p>
        </p:txBody>
      </p:sp>
      <p:sp>
        <p:nvSpPr>
          <p:cNvPr id="6" name="Shape 4"/>
          <p:cNvSpPr/>
          <p:nvPr/>
        </p:nvSpPr>
        <p:spPr>
          <a:xfrm>
            <a:off x="6903720" y="1554480"/>
            <a:ext cx="4599432" cy="2331720"/>
          </a:xfrm>
          <a:prstGeom prst="rect">
            <a:avLst/>
          </a:prstGeom>
          <a:solidFill>
            <a:srgbClr val="F2F2F0"/>
          </a:solidFill>
          <a:ln w="12700">
            <a:solidFill>
              <a:srgbClr val="F2F2F0"/>
            </a:solidFill>
            <a:prstDash val="solid"/>
          </a:ln>
        </p:spPr>
      </p:sp>
      <p:sp>
        <p:nvSpPr>
          <p:cNvPr id="7" name="Text 5"/>
          <p:cNvSpPr txBox="1"/>
          <p:nvPr/>
        </p:nvSpPr>
        <p:spPr>
          <a:xfrm>
            <a:off x="7223760" y="1783080"/>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今回やること</a:t>
            </a:r>
            <a:endParaRPr lang="en-US" sz="1300" dirty="0"/>
          </a:p>
        </p:txBody>
      </p:sp>
      <p:sp>
        <p:nvSpPr>
          <p:cNvPr id="8" name="Text 6"/>
          <p:cNvSpPr txBox="1"/>
          <p:nvPr/>
        </p:nvSpPr>
        <p:spPr>
          <a:xfrm>
            <a:off x="7223760" y="2194560"/>
            <a:ext cx="4050792" cy="155448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12月調査の結果から、認知が伸びない理由を分析する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誰に・何を・どこで伝えるかの戦略を決める</a:t>
            </a:r>
            <a:endParaRPr lang="en-US" sz="1350" dirty="0"/>
          </a:p>
          <a:p>
            <a:pPr marL="342900" indent="-342900">
              <a:lnSpc>
                <a:spcPct val="125000"/>
              </a:lnSpc>
              <a:spcAft>
                <a:spcPts val="600"/>
              </a:spcAft>
              <a:buSzPct val="100000"/>
              <a:buChar char="•"/>
            </a:pPr>
            <a:r>
              <a:rPr lang="en-US" sz="1350" dirty="0">
                <a:solidFill>
                  <a:srgbClr val="1F1F1F"/>
                </a:solidFill>
                <a:latin typeface="Yu Gothic" pitchFamily="34" charset="0"/>
                <a:ea typeface="Yu Gothic" pitchFamily="34" charset="-122"/>
                <a:cs typeface="Yu Gothic" pitchFamily="34" charset="-120"/>
              </a:rPr>
              <a:t>担当の方がそのまま動ける改善策にまで落とす</a:t>
            </a:r>
            <a:endParaRPr lang="en-US" sz="1350" dirty="0"/>
          </a:p>
        </p:txBody>
      </p:sp>
      <p:sp>
        <p:nvSpPr>
          <p:cNvPr id="9" name="Shape 7"/>
          <p:cNvSpPr/>
          <p:nvPr/>
        </p:nvSpPr>
        <p:spPr>
          <a:xfrm>
            <a:off x="6903720" y="4114800"/>
            <a:ext cx="4599432" cy="1600200"/>
          </a:xfrm>
          <a:prstGeom prst="rect">
            <a:avLst/>
          </a:prstGeom>
          <a:solidFill>
            <a:srgbClr val="FFFFFF"/>
          </a:solidFill>
          <a:ln w="12700">
            <a:solidFill>
              <a:srgbClr val="D6D6D3"/>
            </a:solidFill>
            <a:prstDash val="solid"/>
          </a:ln>
        </p:spPr>
      </p:sp>
      <p:sp>
        <p:nvSpPr>
          <p:cNvPr id="10" name="Text 8"/>
          <p:cNvSpPr txBox="1"/>
          <p:nvPr/>
        </p:nvSpPr>
        <p:spPr>
          <a:xfrm>
            <a:off x="7223760" y="4315968"/>
            <a:ext cx="3657600" cy="320040"/>
          </a:xfrm>
          <a:prstGeom prst="rect">
            <a:avLst/>
          </a:prstGeom>
          <a:noFill/>
          <a:ln/>
        </p:spPr>
        <p:txBody>
          <a:bodyPr wrap="square" lIns="0" tIns="0" rIns="0" bIns="0" rtlCol="0" anchor="t"/>
          <a:lstStyle/>
          <a:p>
            <a:pPr indent="0" marL="0">
              <a:lnSpc>
                <a:spcPct val="125000"/>
              </a:lnSpc>
              <a:buNone/>
            </a:pPr>
            <a:r>
              <a:rPr lang="en-US" sz="1300" b="1" dirty="0">
                <a:solidFill>
                  <a:srgbClr val="6B6B6B"/>
                </a:solidFill>
                <a:latin typeface="Yu Gothic" pitchFamily="34" charset="0"/>
                <a:ea typeface="Yu Gothic" pitchFamily="34" charset="-122"/>
                <a:cs typeface="Yu Gothic" pitchFamily="34" charset="-120"/>
              </a:rPr>
              <a:t>今回やらないこと</a:t>
            </a:r>
            <a:endParaRPr lang="en-US" sz="1300" dirty="0"/>
          </a:p>
        </p:txBody>
      </p:sp>
      <p:sp>
        <p:nvSpPr>
          <p:cNvPr id="11" name="Text 9"/>
          <p:cNvSpPr txBox="1"/>
          <p:nvPr/>
        </p:nvSpPr>
        <p:spPr>
          <a:xfrm>
            <a:off x="7223760" y="4709160"/>
            <a:ext cx="4050792" cy="914400"/>
          </a:xfrm>
          <a:prstGeom prst="rect">
            <a:avLst/>
          </a:prstGeom>
          <a:noFill/>
          <a:ln/>
        </p:spPr>
        <p:txBody>
          <a:bodyPr wrap="square" lIns="0" tIns="0" rIns="0" bIns="0" rtlCol="0" anchor="t"/>
          <a:lstStyle/>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SNS運用やネット広告運用の代行</a:t>
            </a:r>
            <a:endParaRPr lang="en-US" sz="1350" dirty="0"/>
          </a:p>
          <a:p>
            <a:pPr marL="342900" indent="-342900">
              <a:lnSpc>
                <a:spcPct val="125000"/>
              </a:lnSpc>
              <a:spcAft>
                <a:spcPts val="600"/>
              </a:spcAft>
              <a:buSzPct val="100000"/>
              <a:buChar char="•"/>
            </a:pPr>
            <a:r>
              <a:rPr lang="en-US" sz="1350" dirty="0">
                <a:solidFill>
                  <a:srgbClr val="6B6B6B"/>
                </a:solidFill>
                <a:latin typeface="Yu Gothic" pitchFamily="34" charset="0"/>
                <a:ea typeface="Yu Gothic" pitchFamily="34" charset="-122"/>
                <a:cs typeface="Yu Gothic" pitchFamily="34" charset="-120"/>
              </a:rPr>
              <a:t>新しい広告出稿を前提にした提案</a:t>
            </a:r>
            <a:endParaRPr lang="en-US" sz="1350" dirty="0"/>
          </a:p>
        </p:txBody>
      </p:sp>
      <p:sp>
        <p:nvSpPr>
          <p:cNvPr id="12" name="Text 10"/>
          <p:cNvSpPr txBox="1"/>
          <p:nvPr/>
        </p:nvSpPr>
        <p:spPr>
          <a:xfrm>
            <a:off x="685800" y="5623560"/>
            <a:ext cx="5760720" cy="36576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期間　2027年1月〜3月31日　／　本部での打合せ　月1回・計3回</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5</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認知度向上には、2つの方向があります。</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知っている人を増やすこと。知っている人に、困ったときに頼ってもらうこと。本プロジェクトでは両方を対象にします。</a:t>
            </a:r>
            <a:endParaRPr lang="en-US" sz="1400" dirty="0"/>
          </a:p>
        </p:txBody>
      </p:sp>
      <p:sp>
        <p:nvSpPr>
          <p:cNvPr id="6" name="Shape 4"/>
          <p:cNvSpPr/>
          <p:nvPr/>
        </p:nvSpPr>
        <p:spPr>
          <a:xfrm>
            <a:off x="685800" y="3063240"/>
            <a:ext cx="2032345" cy="1143000"/>
          </a:xfrm>
          <a:prstGeom prst="rect">
            <a:avLst/>
          </a:prstGeom>
          <a:solidFill>
            <a:srgbClr val="FFFFFF"/>
          </a:solidFill>
          <a:ln w="12700">
            <a:solidFill>
              <a:srgbClr val="D6D6D3"/>
            </a:solidFill>
            <a:prstDash val="solid"/>
          </a:ln>
        </p:spPr>
      </p:sp>
      <p:sp>
        <p:nvSpPr>
          <p:cNvPr id="7" name="Text 5"/>
          <p:cNvSpPr txBox="1"/>
          <p:nvPr/>
        </p:nvSpPr>
        <p:spPr>
          <a:xfrm>
            <a:off x="685800"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6B6B6B"/>
                </a:solidFill>
                <a:latin typeface="Yu Mincho" pitchFamily="34" charset="0"/>
                <a:ea typeface="Yu Mincho" pitchFamily="34" charset="-122"/>
                <a:cs typeface="Yu Mincho" pitchFamily="34" charset="-120"/>
              </a:rPr>
              <a:t>知らない</a:t>
            </a:r>
            <a:endParaRPr lang="en-US" sz="1600" dirty="0"/>
          </a:p>
        </p:txBody>
      </p:sp>
      <p:sp>
        <p:nvSpPr>
          <p:cNvPr id="8" name="Text 6"/>
          <p:cNvSpPr txBox="1"/>
          <p:nvPr/>
        </p:nvSpPr>
        <p:spPr>
          <a:xfrm>
            <a:off x="2718145"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9" name="Shape 7"/>
          <p:cNvSpPr/>
          <p:nvPr/>
        </p:nvSpPr>
        <p:spPr>
          <a:xfrm>
            <a:off x="2882737" y="3063240"/>
            <a:ext cx="2032345" cy="1143000"/>
          </a:xfrm>
          <a:prstGeom prst="rect">
            <a:avLst/>
          </a:prstGeom>
          <a:solidFill>
            <a:srgbClr val="F2F2F0"/>
          </a:solidFill>
          <a:ln w="12700">
            <a:solidFill>
              <a:srgbClr val="F2F2F0"/>
            </a:solidFill>
            <a:prstDash val="solid"/>
          </a:ln>
        </p:spPr>
      </p:sp>
      <p:sp>
        <p:nvSpPr>
          <p:cNvPr id="10" name="Text 8"/>
          <p:cNvSpPr txBox="1"/>
          <p:nvPr/>
        </p:nvSpPr>
        <p:spPr>
          <a:xfrm>
            <a:off x="2882737"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名前を</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知っている</a:t>
            </a:r>
            <a:endParaRPr lang="en-US" sz="1600" dirty="0"/>
          </a:p>
        </p:txBody>
      </p:sp>
      <p:sp>
        <p:nvSpPr>
          <p:cNvPr id="11" name="Text 9"/>
          <p:cNvSpPr txBox="1"/>
          <p:nvPr/>
        </p:nvSpPr>
        <p:spPr>
          <a:xfrm>
            <a:off x="4915083"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2" name="Shape 10"/>
          <p:cNvSpPr/>
          <p:nvPr/>
        </p:nvSpPr>
        <p:spPr>
          <a:xfrm>
            <a:off x="5079675" y="3063240"/>
            <a:ext cx="2032345" cy="1143000"/>
          </a:xfrm>
          <a:prstGeom prst="rect">
            <a:avLst/>
          </a:prstGeom>
          <a:solidFill>
            <a:srgbClr val="F2F2F0"/>
          </a:solidFill>
          <a:ln w="12700">
            <a:solidFill>
              <a:srgbClr val="F2F2F0"/>
            </a:solidFill>
            <a:prstDash val="solid"/>
          </a:ln>
        </p:spPr>
      </p:sp>
      <p:sp>
        <p:nvSpPr>
          <p:cNvPr id="13" name="Text 11"/>
          <p:cNvSpPr txBox="1"/>
          <p:nvPr/>
        </p:nvSpPr>
        <p:spPr>
          <a:xfrm>
            <a:off x="5079675"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何をする所か</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わかる</a:t>
            </a:r>
            <a:endParaRPr lang="en-US" sz="1600" dirty="0"/>
          </a:p>
        </p:txBody>
      </p:sp>
      <p:sp>
        <p:nvSpPr>
          <p:cNvPr id="14" name="Text 12"/>
          <p:cNvSpPr txBox="1"/>
          <p:nvPr/>
        </p:nvSpPr>
        <p:spPr>
          <a:xfrm>
            <a:off x="7112020"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5" name="Shape 13"/>
          <p:cNvSpPr/>
          <p:nvPr/>
        </p:nvSpPr>
        <p:spPr>
          <a:xfrm>
            <a:off x="7276612" y="3063240"/>
            <a:ext cx="2032345" cy="1143000"/>
          </a:xfrm>
          <a:prstGeom prst="rect">
            <a:avLst/>
          </a:prstGeom>
          <a:solidFill>
            <a:srgbClr val="F2F2F0"/>
          </a:solidFill>
          <a:ln w="12700">
            <a:solidFill>
              <a:srgbClr val="F2F2F0"/>
            </a:solidFill>
            <a:prstDash val="solid"/>
          </a:ln>
        </p:spPr>
      </p:sp>
      <p:sp>
        <p:nvSpPr>
          <p:cNvPr id="16" name="Text 14"/>
          <p:cNvSpPr txBox="1"/>
          <p:nvPr/>
        </p:nvSpPr>
        <p:spPr>
          <a:xfrm>
            <a:off x="7276612"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困ったときに</a:t>
            </a:r>
            <a:endParaRPr lang="en-US" sz="1600" dirty="0"/>
          </a:p>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思い出す</a:t>
            </a:r>
            <a:endParaRPr lang="en-US" sz="1600" dirty="0"/>
          </a:p>
        </p:txBody>
      </p:sp>
      <p:sp>
        <p:nvSpPr>
          <p:cNvPr id="17" name="Text 15"/>
          <p:cNvSpPr txBox="1"/>
          <p:nvPr/>
        </p:nvSpPr>
        <p:spPr>
          <a:xfrm>
            <a:off x="9308958" y="3063240"/>
            <a:ext cx="164592" cy="1143000"/>
          </a:xfrm>
          <a:prstGeom prst="rect">
            <a:avLst/>
          </a:prstGeom>
          <a:noFill/>
          <a:ln/>
        </p:spPr>
        <p:txBody>
          <a:bodyPr wrap="square" lIns="0" tIns="0" rIns="0" bIns="0" rtlCol="0" anchor="ctr"/>
          <a:lstStyle/>
          <a:p>
            <a:pPr algn="ctr" indent="0" marL="0">
              <a:buNone/>
            </a:pPr>
            <a:r>
              <a:rPr lang="en-US" sz="1600" dirty="0">
                <a:solidFill>
                  <a:srgbClr val="6B6B6B"/>
                </a:solidFill>
                <a:latin typeface="Yu Gothic" pitchFamily="34" charset="0"/>
                <a:ea typeface="Yu Gothic" pitchFamily="34" charset="-122"/>
                <a:cs typeface="Yu Gothic" pitchFamily="34" charset="-120"/>
              </a:rPr>
              <a:t>›</a:t>
            </a:r>
            <a:endParaRPr lang="en-US" sz="1600" dirty="0"/>
          </a:p>
        </p:txBody>
      </p:sp>
      <p:sp>
        <p:nvSpPr>
          <p:cNvPr id="18" name="Shape 16"/>
          <p:cNvSpPr/>
          <p:nvPr/>
        </p:nvSpPr>
        <p:spPr>
          <a:xfrm>
            <a:off x="9473550" y="3063240"/>
            <a:ext cx="2032345" cy="1143000"/>
          </a:xfrm>
          <a:prstGeom prst="rect">
            <a:avLst/>
          </a:prstGeom>
          <a:solidFill>
            <a:srgbClr val="F2F2F0"/>
          </a:solidFill>
          <a:ln w="12700">
            <a:solidFill>
              <a:srgbClr val="F2F2F0"/>
            </a:solidFill>
            <a:prstDash val="solid"/>
          </a:ln>
        </p:spPr>
      </p:sp>
      <p:sp>
        <p:nvSpPr>
          <p:cNvPr id="19" name="Text 17"/>
          <p:cNvSpPr txBox="1"/>
          <p:nvPr/>
        </p:nvSpPr>
        <p:spPr>
          <a:xfrm>
            <a:off x="9473550" y="3063240"/>
            <a:ext cx="2032345" cy="1143000"/>
          </a:xfrm>
          <a:prstGeom prst="rect">
            <a:avLst/>
          </a:prstGeom>
          <a:noFill/>
          <a:ln/>
        </p:spPr>
        <p:txBody>
          <a:bodyPr wrap="square" lIns="0" tIns="0" rIns="0" bIns="0" rtlCol="0" anchor="ctr"/>
          <a:lstStyle/>
          <a:p>
            <a:pPr algn="ctr" indent="0" marL="0">
              <a:lnSpc>
                <a:spcPct val="120000"/>
              </a:lnSpc>
              <a:buNone/>
            </a:pPr>
            <a:r>
              <a:rPr lang="en-US" sz="1600" b="1" dirty="0">
                <a:solidFill>
                  <a:srgbClr val="1F1F1F"/>
                </a:solidFill>
                <a:latin typeface="Yu Mincho" pitchFamily="34" charset="0"/>
                <a:ea typeface="Yu Mincho" pitchFamily="34" charset="-122"/>
                <a:cs typeface="Yu Mincho" pitchFamily="34" charset="-120"/>
              </a:rPr>
              <a:t>相談する</a:t>
            </a:r>
            <a:endParaRPr lang="en-US" sz="1600" dirty="0"/>
          </a:p>
        </p:txBody>
      </p:sp>
      <p:sp>
        <p:nvSpPr>
          <p:cNvPr id="20" name="Shape 18"/>
          <p:cNvSpPr/>
          <p:nvPr/>
        </p:nvSpPr>
        <p:spPr>
          <a:xfrm>
            <a:off x="1701973" y="2788920"/>
            <a:ext cx="2196937" cy="0"/>
          </a:xfrm>
          <a:prstGeom prst="line">
            <a:avLst/>
          </a:prstGeom>
          <a:noFill/>
          <a:ln w="9525">
            <a:solidFill>
              <a:srgbClr val="1F1F1F"/>
            </a:solidFill>
            <a:prstDash val="solid"/>
          </a:ln>
        </p:spPr>
      </p:sp>
      <p:sp>
        <p:nvSpPr>
          <p:cNvPr id="21" name="Shape 19"/>
          <p:cNvSpPr/>
          <p:nvPr/>
        </p:nvSpPr>
        <p:spPr>
          <a:xfrm>
            <a:off x="1701973" y="2788920"/>
            <a:ext cx="0" cy="164592"/>
          </a:xfrm>
          <a:prstGeom prst="line">
            <a:avLst/>
          </a:prstGeom>
          <a:noFill/>
          <a:ln w="9525">
            <a:solidFill>
              <a:srgbClr val="1F1F1F"/>
            </a:solidFill>
            <a:prstDash val="solid"/>
          </a:ln>
        </p:spPr>
      </p:sp>
      <p:sp>
        <p:nvSpPr>
          <p:cNvPr id="22" name="Shape 20"/>
          <p:cNvSpPr/>
          <p:nvPr/>
        </p:nvSpPr>
        <p:spPr>
          <a:xfrm>
            <a:off x="3898910" y="2788920"/>
            <a:ext cx="0" cy="164592"/>
          </a:xfrm>
          <a:prstGeom prst="line">
            <a:avLst/>
          </a:prstGeom>
          <a:noFill/>
          <a:ln w="9525">
            <a:solidFill>
              <a:srgbClr val="1F1F1F"/>
            </a:solidFill>
            <a:prstDash val="solid"/>
          </a:ln>
        </p:spPr>
      </p:sp>
      <p:sp>
        <p:nvSpPr>
          <p:cNvPr id="23" name="Text 21"/>
          <p:cNvSpPr txBox="1"/>
          <p:nvPr/>
        </p:nvSpPr>
        <p:spPr>
          <a:xfrm>
            <a:off x="1701973" y="2103120"/>
            <a:ext cx="2196937" cy="365760"/>
          </a:xfrm>
          <a:prstGeom prst="rect">
            <a:avLst/>
          </a:prstGeom>
          <a:noFill/>
          <a:ln/>
        </p:spPr>
        <p:txBody>
          <a:bodyPr wrap="square" lIns="0" tIns="0" rIns="0" bIns="0" rtlCol="0" anchor="ctr"/>
          <a:lstStyle/>
          <a:p>
            <a:pPr algn="ctr" indent="0" marL="0">
              <a:buNone/>
            </a:pPr>
            <a:r>
              <a:rPr lang="en-US" sz="2000" b="1" dirty="0">
                <a:solidFill>
                  <a:srgbClr val="1F1F1F"/>
                </a:solidFill>
                <a:latin typeface="Yu Mincho" pitchFamily="34" charset="0"/>
                <a:ea typeface="Yu Mincho" pitchFamily="34" charset="-122"/>
                <a:cs typeface="Yu Mincho" pitchFamily="34" charset="-120"/>
              </a:rPr>
              <a:t>広げる</a:t>
            </a:r>
            <a:endParaRPr lang="en-US" sz="2000" dirty="0"/>
          </a:p>
        </p:txBody>
      </p:sp>
      <p:sp>
        <p:nvSpPr>
          <p:cNvPr id="24" name="Text 22"/>
          <p:cNvSpPr txBox="1"/>
          <p:nvPr/>
        </p:nvSpPr>
        <p:spPr>
          <a:xfrm>
            <a:off x="1701973" y="2450592"/>
            <a:ext cx="2196937"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知っている人を増やす</a:t>
            </a:r>
            <a:endParaRPr lang="en-US" sz="1100" dirty="0"/>
          </a:p>
        </p:txBody>
      </p:sp>
      <p:sp>
        <p:nvSpPr>
          <p:cNvPr id="25" name="Shape 23"/>
          <p:cNvSpPr/>
          <p:nvPr/>
        </p:nvSpPr>
        <p:spPr>
          <a:xfrm>
            <a:off x="4036070" y="2788920"/>
            <a:ext cx="6453652" cy="0"/>
          </a:xfrm>
          <a:prstGeom prst="line">
            <a:avLst/>
          </a:prstGeom>
          <a:noFill/>
          <a:ln w="9525">
            <a:solidFill>
              <a:srgbClr val="C0462B"/>
            </a:solidFill>
            <a:prstDash val="solid"/>
          </a:ln>
        </p:spPr>
      </p:sp>
      <p:sp>
        <p:nvSpPr>
          <p:cNvPr id="26" name="Shape 24"/>
          <p:cNvSpPr/>
          <p:nvPr/>
        </p:nvSpPr>
        <p:spPr>
          <a:xfrm>
            <a:off x="4036070" y="2788920"/>
            <a:ext cx="0" cy="164592"/>
          </a:xfrm>
          <a:prstGeom prst="line">
            <a:avLst/>
          </a:prstGeom>
          <a:noFill/>
          <a:ln w="9525">
            <a:solidFill>
              <a:srgbClr val="C0462B"/>
            </a:solidFill>
            <a:prstDash val="solid"/>
          </a:ln>
        </p:spPr>
      </p:sp>
      <p:sp>
        <p:nvSpPr>
          <p:cNvPr id="27" name="Shape 25"/>
          <p:cNvSpPr/>
          <p:nvPr/>
        </p:nvSpPr>
        <p:spPr>
          <a:xfrm>
            <a:off x="10489722" y="2788920"/>
            <a:ext cx="0" cy="164592"/>
          </a:xfrm>
          <a:prstGeom prst="line">
            <a:avLst/>
          </a:prstGeom>
          <a:noFill/>
          <a:ln w="9525">
            <a:solidFill>
              <a:srgbClr val="C0462B"/>
            </a:solidFill>
            <a:prstDash val="solid"/>
          </a:ln>
        </p:spPr>
      </p:sp>
      <p:sp>
        <p:nvSpPr>
          <p:cNvPr id="28" name="Text 26"/>
          <p:cNvSpPr txBox="1"/>
          <p:nvPr/>
        </p:nvSpPr>
        <p:spPr>
          <a:xfrm>
            <a:off x="4036070" y="2103120"/>
            <a:ext cx="6453652" cy="365760"/>
          </a:xfrm>
          <a:prstGeom prst="rect">
            <a:avLst/>
          </a:prstGeom>
          <a:noFill/>
          <a:ln/>
        </p:spPr>
        <p:txBody>
          <a:bodyPr wrap="square" lIns="0" tIns="0" rIns="0" bIns="0" rtlCol="0" anchor="ctr"/>
          <a:lstStyle/>
          <a:p>
            <a:pPr algn="ctr" indent="0" marL="0">
              <a:buNone/>
            </a:pPr>
            <a:r>
              <a:rPr lang="en-US" sz="2000" b="1" dirty="0">
                <a:solidFill>
                  <a:srgbClr val="C0462B"/>
                </a:solidFill>
                <a:latin typeface="Yu Mincho" pitchFamily="34" charset="0"/>
                <a:ea typeface="Yu Mincho" pitchFamily="34" charset="-122"/>
                <a:cs typeface="Yu Mincho" pitchFamily="34" charset="-120"/>
              </a:rPr>
              <a:t>深める</a:t>
            </a:r>
            <a:endParaRPr lang="en-US" sz="2000" dirty="0"/>
          </a:p>
        </p:txBody>
      </p:sp>
      <p:sp>
        <p:nvSpPr>
          <p:cNvPr id="29" name="Text 27"/>
          <p:cNvSpPr txBox="1"/>
          <p:nvPr/>
        </p:nvSpPr>
        <p:spPr>
          <a:xfrm>
            <a:off x="4036070" y="2450592"/>
            <a:ext cx="6453652" cy="274320"/>
          </a:xfrm>
          <a:prstGeom prst="rect">
            <a:avLst/>
          </a:prstGeom>
          <a:noFill/>
          <a:ln/>
        </p:spPr>
        <p:txBody>
          <a:bodyPr wrap="square" lIns="0" tIns="0" rIns="0" bIns="0" rtlCol="0" anchor="t"/>
          <a:lstStyle/>
          <a:p>
            <a:pPr algn="ctr" indent="0" marL="0">
              <a:lnSpc>
                <a:spcPct val="125000"/>
              </a:lnSpc>
              <a:buNone/>
            </a:pPr>
            <a:r>
              <a:rPr lang="en-US" sz="1100" dirty="0">
                <a:solidFill>
                  <a:srgbClr val="6B6B6B"/>
                </a:solidFill>
                <a:latin typeface="Yu Gothic" pitchFamily="34" charset="0"/>
                <a:ea typeface="Yu Gothic" pitchFamily="34" charset="-122"/>
                <a:cs typeface="Yu Gothic" pitchFamily="34" charset="-120"/>
              </a:rPr>
              <a:t>知っている人に、頼ってもらう</a:t>
            </a:r>
            <a:endParaRPr lang="en-US" sz="1100" dirty="0"/>
          </a:p>
        </p:txBody>
      </p:sp>
      <p:sp>
        <p:nvSpPr>
          <p:cNvPr id="30" name="Shape 28"/>
          <p:cNvSpPr/>
          <p:nvPr/>
        </p:nvSpPr>
        <p:spPr>
          <a:xfrm>
            <a:off x="685800" y="4572000"/>
            <a:ext cx="10820095" cy="1325880"/>
          </a:xfrm>
          <a:prstGeom prst="rect">
            <a:avLst/>
          </a:prstGeom>
          <a:solidFill>
            <a:srgbClr val="FFFFFF"/>
          </a:solidFill>
          <a:ln w="12700">
            <a:solidFill>
              <a:srgbClr val="1F1F1F"/>
            </a:solidFill>
            <a:prstDash val="solid"/>
          </a:ln>
        </p:spPr>
      </p:sp>
      <p:sp>
        <p:nvSpPr>
          <p:cNvPr id="31" name="Text 29"/>
          <p:cNvSpPr txBox="1"/>
          <p:nvPr/>
        </p:nvSpPr>
        <p:spPr>
          <a:xfrm>
            <a:off x="1005840" y="4754880"/>
            <a:ext cx="3657600" cy="320040"/>
          </a:xfrm>
          <a:prstGeom prst="rect">
            <a:avLst/>
          </a:prstGeom>
          <a:noFill/>
          <a:ln/>
        </p:spPr>
        <p:txBody>
          <a:bodyPr wrap="square" lIns="0" tIns="0" rIns="0" bIns="0" rtlCol="0" anchor="t"/>
          <a:lstStyle/>
          <a:p>
            <a:pPr indent="0" marL="0">
              <a:lnSpc>
                <a:spcPct val="125000"/>
              </a:lnSpc>
              <a:buNone/>
            </a:pPr>
            <a:r>
              <a:rPr lang="en-US" sz="1200" b="1" dirty="0">
                <a:solidFill>
                  <a:srgbClr val="6B6B6B"/>
                </a:solidFill>
                <a:latin typeface="Yu Gothic" pitchFamily="34" charset="0"/>
                <a:ea typeface="Yu Gothic" pitchFamily="34" charset="-122"/>
                <a:cs typeface="Yu Gothic" pitchFamily="34" charset="-120"/>
              </a:rPr>
              <a:t>私たちが見極めたいこと</a:t>
            </a:r>
            <a:endParaRPr lang="en-US" sz="1200" dirty="0"/>
          </a:p>
        </p:txBody>
      </p:sp>
      <p:sp>
        <p:nvSpPr>
          <p:cNvPr id="32" name="Text 30"/>
          <p:cNvSpPr txBox="1"/>
          <p:nvPr/>
        </p:nvSpPr>
        <p:spPr>
          <a:xfrm>
            <a:off x="1005840" y="5074920"/>
            <a:ext cx="10180015" cy="731520"/>
          </a:xfrm>
          <a:prstGeom prst="rect">
            <a:avLst/>
          </a:prstGeom>
          <a:noFill/>
          <a:ln/>
        </p:spPr>
        <p:txBody>
          <a:bodyPr wrap="square" lIns="0" tIns="0" rIns="0" bIns="0" rtlCol="0" anchor="t"/>
          <a:lstStyle/>
          <a:p>
            <a:pPr indent="0" marL="0">
              <a:lnSpc>
                <a:spcPct val="135000"/>
              </a:lnSpc>
              <a:buNone/>
            </a:pPr>
            <a:r>
              <a:rPr lang="en-US" sz="1450" b="1" dirty="0">
                <a:solidFill>
                  <a:srgbClr val="1F1F1F"/>
                </a:solidFill>
                <a:latin typeface="Yu Gothic" pitchFamily="34" charset="0"/>
                <a:ea typeface="Yu Gothic" pitchFamily="34" charset="-122"/>
                <a:cs typeface="Yu Gothic" pitchFamily="34" charset="-120"/>
              </a:rPr>
              <a:t>来年度、「広げる」と「深める」のどちらに、どの層で、どれだけ力を配分するか。</a:t>
            </a:r>
            <a:endParaRPr lang="en-US" sz="1450" dirty="0"/>
          </a:p>
          <a:p>
            <a:pPr indent="0" marL="0">
              <a:lnSpc>
                <a:spcPct val="135000"/>
              </a:lnSpc>
              <a:buNone/>
            </a:pPr>
            <a:r>
              <a:rPr lang="en-US" sz="1450" b="1" dirty="0">
                <a:solidFill>
                  <a:srgbClr val="1F1F1F"/>
                </a:solidFill>
                <a:latin typeface="Yu Gothic" pitchFamily="34" charset="0"/>
                <a:ea typeface="Yu Gothic" pitchFamily="34" charset="-122"/>
                <a:cs typeface="Yu Gothic" pitchFamily="34" charset="-120"/>
              </a:rPr>
              <a:t>12月調査の結果と、本日伺うお話から見極めたいと考えています。</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6</a:t>
            </a:r>
            <a:endParaRPr lang="en-US" sz="900" dirty="0"/>
          </a:p>
        </p:txBody>
      </p:sp>
      <p:sp>
        <p:nvSpPr>
          <p:cNvPr id="4" name="Text 2"/>
          <p:cNvSpPr txBox="1"/>
          <p:nvPr/>
        </p:nvSpPr>
        <p:spPr>
          <a:xfrm>
            <a:off x="685800" y="548640"/>
            <a:ext cx="3657600" cy="274320"/>
          </a:xfrm>
          <a:prstGeom prst="rect">
            <a:avLst/>
          </a:prstGeom>
          <a:noFill/>
          <a:ln/>
        </p:spPr>
        <p:txBody>
          <a:bodyPr wrap="square" lIns="0" tIns="0" rIns="0" bIns="0" rtlCol="0" anchor="ctr"/>
          <a:lstStyle/>
          <a:p>
            <a:pPr indent="0" marL="0">
              <a:buNone/>
            </a:pPr>
            <a:r>
              <a:rPr lang="en-US" sz="1100" b="1" dirty="0">
                <a:solidFill>
                  <a:srgbClr val="6B6B6B"/>
                </a:solidFill>
                <a:latin typeface="Yu Gothic" pitchFamily="34" charset="0"/>
                <a:ea typeface="Yu Gothic" pitchFamily="34" charset="-122"/>
                <a:cs typeface="Yu Gothic" pitchFamily="34" charset="-120"/>
              </a:rPr>
              <a:t>お伺いしたいこと 1 / 4</a:t>
            </a:r>
            <a:endParaRPr lang="en-US" sz="1100" dirty="0"/>
          </a:p>
        </p:txBody>
      </p:sp>
      <p:sp>
        <p:nvSpPr>
          <p:cNvPr id="5" name="Text 3"/>
          <p:cNvSpPr txBox="1"/>
          <p:nvPr/>
        </p:nvSpPr>
        <p:spPr>
          <a:xfrm>
            <a:off x="685800" y="960120"/>
            <a:ext cx="3291840" cy="1097280"/>
          </a:xfrm>
          <a:prstGeom prst="rect">
            <a:avLst/>
          </a:prstGeom>
          <a:noFill/>
          <a:ln/>
        </p:spPr>
        <p:txBody>
          <a:bodyPr wrap="square" lIns="0" tIns="0" rIns="0" bIns="0" rtlCol="0" anchor="t"/>
          <a:lstStyle/>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目指している姿</a:t>
            </a:r>
            <a:endParaRPr lang="en-US" sz="2800" dirty="0"/>
          </a:p>
        </p:txBody>
      </p:sp>
      <p:sp>
        <p:nvSpPr>
          <p:cNvPr id="6" name="Text 4"/>
          <p:cNvSpPr txBox="1"/>
          <p:nvPr/>
        </p:nvSpPr>
        <p:spPr>
          <a:xfrm>
            <a:off x="685800" y="2331720"/>
            <a:ext cx="3108960" cy="274320"/>
          </a:xfrm>
          <a:prstGeom prst="rect">
            <a:avLst/>
          </a:prstGeom>
          <a:noFill/>
          <a:ln/>
        </p:spPr>
        <p:txBody>
          <a:bodyPr wrap="square" lIns="0" tIns="0" rIns="0" bIns="0" rtlCol="0" anchor="t"/>
          <a:lstStyle/>
          <a:p>
            <a:pPr indent="0" marL="0">
              <a:lnSpc>
                <a:spcPct val="125000"/>
              </a:lnSpc>
              <a:buNone/>
            </a:pPr>
            <a:r>
              <a:rPr lang="en-US" sz="1100" b="1" dirty="0">
                <a:solidFill>
                  <a:srgbClr val="C0462B"/>
                </a:solidFill>
                <a:latin typeface="Yu Gothic" pitchFamily="34" charset="0"/>
                <a:ea typeface="Yu Gothic" pitchFamily="34" charset="-122"/>
                <a:cs typeface="Yu Gothic" pitchFamily="34" charset="-120"/>
              </a:rPr>
              <a:t>なぜ伺うか</a:t>
            </a:r>
            <a:endParaRPr lang="en-US" sz="1100" dirty="0"/>
          </a:p>
        </p:txBody>
      </p:sp>
      <p:sp>
        <p:nvSpPr>
          <p:cNvPr id="7" name="Text 5"/>
          <p:cNvSpPr txBox="1"/>
          <p:nvPr/>
        </p:nvSpPr>
        <p:spPr>
          <a:xfrm>
            <a:off x="685800" y="2651760"/>
            <a:ext cx="3108960"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何をもって「成功」とするかで、分析の切り口も提言の中身も変わるため。</a:t>
            </a:r>
            <a:endParaRPr lang="en-US" sz="1250" dirty="0"/>
          </a:p>
        </p:txBody>
      </p:sp>
      <p:sp>
        <p:nvSpPr>
          <p:cNvPr id="8" name="Shape 6"/>
          <p:cNvSpPr/>
          <p:nvPr/>
        </p:nvSpPr>
        <p:spPr>
          <a:xfrm>
            <a:off x="4480560" y="868680"/>
            <a:ext cx="7025335" cy="1463040"/>
          </a:xfrm>
          <a:prstGeom prst="rect">
            <a:avLst/>
          </a:prstGeom>
          <a:solidFill>
            <a:srgbClr val="F6E3DE"/>
          </a:solidFill>
          <a:ln w="12700">
            <a:solidFill>
              <a:srgbClr val="F6E3DE"/>
            </a:solidFill>
            <a:prstDash val="solid"/>
          </a:ln>
        </p:spPr>
      </p:sp>
      <p:sp>
        <p:nvSpPr>
          <p:cNvPr id="9" name="Text 7"/>
          <p:cNvSpPr txBox="1"/>
          <p:nvPr/>
        </p:nvSpPr>
        <p:spPr>
          <a:xfrm>
            <a:off x="4754880" y="106984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5257800" y="108813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認知度が上がったとき、法テラスにとって何が変わってほしいですか。</a:t>
            </a:r>
            <a:endParaRPr lang="en-US" sz="1600" dirty="0"/>
          </a:p>
        </p:txBody>
      </p:sp>
      <p:sp>
        <p:nvSpPr>
          <p:cNvPr id="11" name="Text 9"/>
          <p:cNvSpPr txBox="1"/>
          <p:nvPr/>
        </p:nvSpPr>
        <p:spPr>
          <a:xfrm>
            <a:off x="5257800" y="1828800"/>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相談の件数か、必要な人が適切な窓口にたどり着くことか。</a:t>
            </a:r>
            <a:endParaRPr lang="en-US" sz="1200" dirty="0"/>
          </a:p>
        </p:txBody>
      </p:sp>
      <p:sp>
        <p:nvSpPr>
          <p:cNvPr id="12" name="Text 10"/>
          <p:cNvSpPr txBox="1"/>
          <p:nvPr/>
        </p:nvSpPr>
        <p:spPr>
          <a:xfrm>
            <a:off x="10042855" y="2039112"/>
            <a:ext cx="1234440" cy="228600"/>
          </a:xfrm>
          <a:prstGeom prst="rect">
            <a:avLst/>
          </a:prstGeom>
          <a:noFill/>
          <a:ln/>
        </p:spPr>
        <p:txBody>
          <a:bodyPr wrap="square" lIns="0" tIns="0" rIns="0" bIns="0" rtlCol="0" anchor="t"/>
          <a:lstStyle/>
          <a:p>
            <a:pPr algn="r" indent="0" marL="0">
              <a:lnSpc>
                <a:spcPct val="125000"/>
              </a:lnSpc>
              <a:buNone/>
            </a:pPr>
            <a:r>
              <a:rPr lang="en-US" sz="1000" b="1" dirty="0">
                <a:solidFill>
                  <a:srgbClr val="C0462B"/>
                </a:solidFill>
                <a:latin typeface="Yu Gothic" pitchFamily="34" charset="0"/>
                <a:ea typeface="Yu Gothic" pitchFamily="34" charset="-122"/>
                <a:cs typeface="Yu Gothic" pitchFamily="34" charset="-120"/>
              </a:rPr>
              <a:t>特に伺いたい</a:t>
            </a:r>
            <a:endParaRPr lang="en-US" sz="1000" dirty="0"/>
          </a:p>
        </p:txBody>
      </p:sp>
      <p:sp>
        <p:nvSpPr>
          <p:cNvPr id="13" name="Shape 11"/>
          <p:cNvSpPr/>
          <p:nvPr/>
        </p:nvSpPr>
        <p:spPr>
          <a:xfrm>
            <a:off x="4480560" y="2514600"/>
            <a:ext cx="7025335" cy="0"/>
          </a:xfrm>
          <a:prstGeom prst="line">
            <a:avLst/>
          </a:prstGeom>
          <a:noFill/>
          <a:ln w="9525">
            <a:solidFill>
              <a:srgbClr val="D6D6D3"/>
            </a:solidFill>
            <a:prstDash val="solid"/>
          </a:ln>
        </p:spPr>
      </p:sp>
      <p:sp>
        <p:nvSpPr>
          <p:cNvPr id="14" name="Text 12"/>
          <p:cNvSpPr txBox="1"/>
          <p:nvPr/>
        </p:nvSpPr>
        <p:spPr>
          <a:xfrm>
            <a:off x="4754880" y="271576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5" name="Text 13"/>
          <p:cNvSpPr txBox="1"/>
          <p:nvPr/>
        </p:nvSpPr>
        <p:spPr>
          <a:xfrm>
            <a:off x="5257800" y="273405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「認知度が低い」と感じられているのは、何と比べてでしょうか。</a:t>
            </a:r>
            <a:endParaRPr lang="en-US" sz="1600" dirty="0"/>
          </a:p>
        </p:txBody>
      </p:sp>
      <p:sp>
        <p:nvSpPr>
          <p:cNvPr id="16" name="Text 14"/>
          <p:cNvSpPr txBox="1"/>
          <p:nvPr/>
        </p:nvSpPr>
        <p:spPr>
          <a:xfrm>
            <a:off x="5257800" y="3474720"/>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過去の推移、目標値、他の機関、現場での実感など。</a:t>
            </a:r>
            <a:endParaRPr lang="en-US" sz="1200" dirty="0"/>
          </a:p>
        </p:txBody>
      </p:sp>
      <p:sp>
        <p:nvSpPr>
          <p:cNvPr id="17" name="Shape 15"/>
          <p:cNvSpPr/>
          <p:nvPr/>
        </p:nvSpPr>
        <p:spPr>
          <a:xfrm>
            <a:off x="4480560" y="4160520"/>
            <a:ext cx="7025335" cy="0"/>
          </a:xfrm>
          <a:prstGeom prst="line">
            <a:avLst/>
          </a:prstGeom>
          <a:noFill/>
          <a:ln w="9525">
            <a:solidFill>
              <a:srgbClr val="D6D6D3"/>
            </a:solidFill>
            <a:prstDash val="solid"/>
          </a:ln>
        </p:spPr>
      </p:sp>
      <p:sp>
        <p:nvSpPr>
          <p:cNvPr id="18" name="Text 16"/>
          <p:cNvSpPr txBox="1"/>
          <p:nvPr/>
        </p:nvSpPr>
        <p:spPr>
          <a:xfrm>
            <a:off x="4754880" y="436168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5257800" y="437997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特に届けたい方、届いていないと感じている方はいますか。</a:t>
            </a:r>
            <a:endParaRPr lang="en-US" sz="1600" dirty="0"/>
          </a:p>
        </p:txBody>
      </p:sp>
      <p:sp>
        <p:nvSpPr>
          <p:cNvPr id="20" name="Text 18"/>
          <p:cNvSpPr txBox="1"/>
          <p:nvPr/>
        </p:nvSpPr>
        <p:spPr>
          <a:xfrm>
            <a:off x="5257800" y="481888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年代、地域、置かれている状況など。</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7</a:t>
            </a:r>
            <a:endParaRPr lang="en-US" sz="900" dirty="0"/>
          </a:p>
        </p:txBody>
      </p:sp>
      <p:sp>
        <p:nvSpPr>
          <p:cNvPr id="4" name="Text 2"/>
          <p:cNvSpPr txBox="1"/>
          <p:nvPr/>
        </p:nvSpPr>
        <p:spPr>
          <a:xfrm>
            <a:off x="685800" y="548640"/>
            <a:ext cx="3657600" cy="274320"/>
          </a:xfrm>
          <a:prstGeom prst="rect">
            <a:avLst/>
          </a:prstGeom>
          <a:noFill/>
          <a:ln/>
        </p:spPr>
        <p:txBody>
          <a:bodyPr wrap="square" lIns="0" tIns="0" rIns="0" bIns="0" rtlCol="0" anchor="ctr"/>
          <a:lstStyle/>
          <a:p>
            <a:pPr indent="0" marL="0">
              <a:buNone/>
            </a:pPr>
            <a:r>
              <a:rPr lang="en-US" sz="1100" b="1" dirty="0">
                <a:solidFill>
                  <a:srgbClr val="6B6B6B"/>
                </a:solidFill>
                <a:latin typeface="Yu Gothic" pitchFamily="34" charset="0"/>
                <a:ea typeface="Yu Gothic" pitchFamily="34" charset="-122"/>
                <a:cs typeface="Yu Gothic" pitchFamily="34" charset="-120"/>
              </a:rPr>
              <a:t>お伺いしたいこと 2 / 4</a:t>
            </a:r>
            <a:endParaRPr lang="en-US" sz="1100" dirty="0"/>
          </a:p>
        </p:txBody>
      </p:sp>
      <p:sp>
        <p:nvSpPr>
          <p:cNvPr id="5" name="Text 3"/>
          <p:cNvSpPr txBox="1"/>
          <p:nvPr/>
        </p:nvSpPr>
        <p:spPr>
          <a:xfrm>
            <a:off x="685800" y="960120"/>
            <a:ext cx="3291840" cy="1097280"/>
          </a:xfrm>
          <a:prstGeom prst="rect">
            <a:avLst/>
          </a:prstGeom>
          <a:noFill/>
          <a:ln/>
        </p:spPr>
        <p:txBody>
          <a:bodyPr wrap="square" lIns="0" tIns="0" rIns="0" bIns="0" rtlCol="0" anchor="t"/>
          <a:lstStyle/>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調査とデータ</a:t>
            </a:r>
            <a:endParaRPr lang="en-US" sz="2800" dirty="0"/>
          </a:p>
        </p:txBody>
      </p:sp>
      <p:sp>
        <p:nvSpPr>
          <p:cNvPr id="6" name="Text 4"/>
          <p:cNvSpPr txBox="1"/>
          <p:nvPr/>
        </p:nvSpPr>
        <p:spPr>
          <a:xfrm>
            <a:off x="685800" y="2331720"/>
            <a:ext cx="3108960" cy="274320"/>
          </a:xfrm>
          <a:prstGeom prst="rect">
            <a:avLst/>
          </a:prstGeom>
          <a:noFill/>
          <a:ln/>
        </p:spPr>
        <p:txBody>
          <a:bodyPr wrap="square" lIns="0" tIns="0" rIns="0" bIns="0" rtlCol="0" anchor="t"/>
          <a:lstStyle/>
          <a:p>
            <a:pPr indent="0" marL="0">
              <a:lnSpc>
                <a:spcPct val="125000"/>
              </a:lnSpc>
              <a:buNone/>
            </a:pPr>
            <a:r>
              <a:rPr lang="en-US" sz="1100" b="1" dirty="0">
                <a:solidFill>
                  <a:srgbClr val="C0462B"/>
                </a:solidFill>
                <a:latin typeface="Yu Gothic" pitchFamily="34" charset="0"/>
                <a:ea typeface="Yu Gothic" pitchFamily="34" charset="-122"/>
                <a:cs typeface="Yu Gothic" pitchFamily="34" charset="-120"/>
              </a:rPr>
              <a:t>なぜ伺うか</a:t>
            </a:r>
            <a:endParaRPr lang="en-US" sz="1100" dirty="0"/>
          </a:p>
        </p:txBody>
      </p:sp>
      <p:sp>
        <p:nvSpPr>
          <p:cNvPr id="7" name="Text 5"/>
          <p:cNvSpPr txBox="1"/>
          <p:nvPr/>
        </p:nvSpPr>
        <p:spPr>
          <a:xfrm>
            <a:off x="685800" y="2651760"/>
            <a:ext cx="3108960"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1月に分析を始めるとき、何が使えて何が使えないかを早めに把握しておくため。</a:t>
            </a:r>
            <a:endParaRPr lang="en-US" sz="1250" dirty="0"/>
          </a:p>
        </p:txBody>
      </p:sp>
      <p:sp>
        <p:nvSpPr>
          <p:cNvPr id="8" name="Shape 6"/>
          <p:cNvSpPr/>
          <p:nvPr/>
        </p:nvSpPr>
        <p:spPr>
          <a:xfrm>
            <a:off x="4480560" y="868680"/>
            <a:ext cx="7025335" cy="1463040"/>
          </a:xfrm>
          <a:prstGeom prst="rect">
            <a:avLst/>
          </a:prstGeom>
          <a:solidFill>
            <a:srgbClr val="F6E3DE"/>
          </a:solidFill>
          <a:ln w="12700">
            <a:solidFill>
              <a:srgbClr val="F6E3DE"/>
            </a:solidFill>
            <a:prstDash val="solid"/>
          </a:ln>
        </p:spPr>
      </p:sp>
      <p:sp>
        <p:nvSpPr>
          <p:cNvPr id="9" name="Text 7"/>
          <p:cNvSpPr txBox="1"/>
          <p:nvPr/>
        </p:nvSpPr>
        <p:spPr>
          <a:xfrm>
            <a:off x="4754880" y="106984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5257800" y="108813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これまでの調査結果で、気になっている数字や意外だった点はありますか。</a:t>
            </a:r>
            <a:endParaRPr lang="en-US" sz="1600" dirty="0"/>
          </a:p>
        </p:txBody>
      </p:sp>
      <p:sp>
        <p:nvSpPr>
          <p:cNvPr id="11" name="Text 9"/>
          <p:cNvSpPr txBox="1"/>
          <p:nvPr/>
        </p:nvSpPr>
        <p:spPr>
          <a:xfrm>
            <a:off x="5257800" y="1828800"/>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毎年見ている方だからこそ感じている違和感を伺いたいです。</a:t>
            </a:r>
            <a:endParaRPr lang="en-US" sz="1200" dirty="0"/>
          </a:p>
        </p:txBody>
      </p:sp>
      <p:sp>
        <p:nvSpPr>
          <p:cNvPr id="12" name="Text 10"/>
          <p:cNvSpPr txBox="1"/>
          <p:nvPr/>
        </p:nvSpPr>
        <p:spPr>
          <a:xfrm>
            <a:off x="10042855" y="2039112"/>
            <a:ext cx="1234440" cy="228600"/>
          </a:xfrm>
          <a:prstGeom prst="rect">
            <a:avLst/>
          </a:prstGeom>
          <a:noFill/>
          <a:ln/>
        </p:spPr>
        <p:txBody>
          <a:bodyPr wrap="square" lIns="0" tIns="0" rIns="0" bIns="0" rtlCol="0" anchor="t"/>
          <a:lstStyle/>
          <a:p>
            <a:pPr algn="r" indent="0" marL="0">
              <a:lnSpc>
                <a:spcPct val="125000"/>
              </a:lnSpc>
              <a:buNone/>
            </a:pPr>
            <a:r>
              <a:rPr lang="en-US" sz="1000" b="1" dirty="0">
                <a:solidFill>
                  <a:srgbClr val="C0462B"/>
                </a:solidFill>
                <a:latin typeface="Yu Gothic" pitchFamily="34" charset="0"/>
                <a:ea typeface="Yu Gothic" pitchFamily="34" charset="-122"/>
                <a:cs typeface="Yu Gothic" pitchFamily="34" charset="-120"/>
              </a:rPr>
              <a:t>特に伺いたい</a:t>
            </a:r>
            <a:endParaRPr lang="en-US" sz="1000" dirty="0"/>
          </a:p>
        </p:txBody>
      </p:sp>
      <p:sp>
        <p:nvSpPr>
          <p:cNvPr id="13" name="Shape 11"/>
          <p:cNvSpPr/>
          <p:nvPr/>
        </p:nvSpPr>
        <p:spPr>
          <a:xfrm>
            <a:off x="4480560" y="2514600"/>
            <a:ext cx="7025335" cy="0"/>
          </a:xfrm>
          <a:prstGeom prst="line">
            <a:avLst/>
          </a:prstGeom>
          <a:noFill/>
          <a:ln w="9525">
            <a:solidFill>
              <a:srgbClr val="D6D6D3"/>
            </a:solidFill>
            <a:prstDash val="solid"/>
          </a:ln>
        </p:spPr>
      </p:sp>
      <p:sp>
        <p:nvSpPr>
          <p:cNvPr id="14" name="Text 12"/>
          <p:cNvSpPr txBox="1"/>
          <p:nvPr/>
        </p:nvSpPr>
        <p:spPr>
          <a:xfrm>
            <a:off x="4754880" y="271576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5" name="Text 13"/>
          <p:cNvSpPr txBox="1"/>
          <p:nvPr/>
        </p:nvSpPr>
        <p:spPr>
          <a:xfrm>
            <a:off x="5257800" y="273405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12月調査の結果は、いつ頃・どの形でいただけそうですか。</a:t>
            </a:r>
            <a:endParaRPr lang="en-US" sz="1600" dirty="0"/>
          </a:p>
        </p:txBody>
      </p:sp>
      <p:sp>
        <p:nvSpPr>
          <p:cNvPr id="16" name="Text 14"/>
          <p:cNvSpPr txBox="1"/>
          <p:nvPr/>
        </p:nvSpPr>
        <p:spPr>
          <a:xfrm>
            <a:off x="5257800" y="317296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ローデータか集計表か。設問や調査方法が変わった年はあるか。</a:t>
            </a:r>
            <a:endParaRPr lang="en-US" sz="1200" dirty="0"/>
          </a:p>
        </p:txBody>
      </p:sp>
      <p:sp>
        <p:nvSpPr>
          <p:cNvPr id="17" name="Shape 15"/>
          <p:cNvSpPr/>
          <p:nvPr/>
        </p:nvSpPr>
        <p:spPr>
          <a:xfrm>
            <a:off x="4480560" y="4160520"/>
            <a:ext cx="7025335" cy="0"/>
          </a:xfrm>
          <a:prstGeom prst="line">
            <a:avLst/>
          </a:prstGeom>
          <a:noFill/>
          <a:ln w="9525">
            <a:solidFill>
              <a:srgbClr val="D6D6D3"/>
            </a:solidFill>
            <a:prstDash val="solid"/>
          </a:ln>
        </p:spPr>
      </p:sp>
      <p:sp>
        <p:nvSpPr>
          <p:cNvPr id="18" name="Text 16"/>
          <p:cNvSpPr txBox="1"/>
          <p:nvPr/>
        </p:nvSpPr>
        <p:spPr>
          <a:xfrm>
            <a:off x="4754880" y="436168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5257800" y="437997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調査以外に、広報側で見られるデータはありますか。</a:t>
            </a:r>
            <a:endParaRPr lang="en-US" sz="1600" dirty="0"/>
          </a:p>
        </p:txBody>
      </p:sp>
      <p:sp>
        <p:nvSpPr>
          <p:cNvPr id="20" name="Text 18"/>
          <p:cNvSpPr txBox="1"/>
          <p:nvPr/>
        </p:nvSpPr>
        <p:spPr>
          <a:xfrm>
            <a:off x="5257800" y="481888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問い合わせの傾向、サイトのアクセス、広告の配信結果など。</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8</a:t>
            </a:r>
            <a:endParaRPr lang="en-US" sz="900" dirty="0"/>
          </a:p>
        </p:txBody>
      </p:sp>
      <p:sp>
        <p:nvSpPr>
          <p:cNvPr id="4" name="Text 2"/>
          <p:cNvSpPr txBox="1"/>
          <p:nvPr/>
        </p:nvSpPr>
        <p:spPr>
          <a:xfrm>
            <a:off x="685800" y="548640"/>
            <a:ext cx="3657600" cy="274320"/>
          </a:xfrm>
          <a:prstGeom prst="rect">
            <a:avLst/>
          </a:prstGeom>
          <a:noFill/>
          <a:ln/>
        </p:spPr>
        <p:txBody>
          <a:bodyPr wrap="square" lIns="0" tIns="0" rIns="0" bIns="0" rtlCol="0" anchor="ctr"/>
          <a:lstStyle/>
          <a:p>
            <a:pPr indent="0" marL="0">
              <a:buNone/>
            </a:pPr>
            <a:r>
              <a:rPr lang="en-US" sz="1100" b="1" dirty="0">
                <a:solidFill>
                  <a:srgbClr val="6B6B6B"/>
                </a:solidFill>
                <a:latin typeface="Yu Gothic" pitchFamily="34" charset="0"/>
                <a:ea typeface="Yu Gothic" pitchFamily="34" charset="-122"/>
                <a:cs typeface="Yu Gothic" pitchFamily="34" charset="-120"/>
              </a:rPr>
              <a:t>お伺いしたいこと 3 / 4</a:t>
            </a:r>
            <a:endParaRPr lang="en-US" sz="1100" dirty="0"/>
          </a:p>
        </p:txBody>
      </p:sp>
      <p:sp>
        <p:nvSpPr>
          <p:cNvPr id="5" name="Text 3"/>
          <p:cNvSpPr txBox="1"/>
          <p:nvPr/>
        </p:nvSpPr>
        <p:spPr>
          <a:xfrm>
            <a:off x="685800" y="960120"/>
            <a:ext cx="3291840" cy="1097280"/>
          </a:xfrm>
          <a:prstGeom prst="rect">
            <a:avLst/>
          </a:prstGeom>
          <a:noFill/>
          <a:ln/>
        </p:spPr>
        <p:txBody>
          <a:bodyPr wrap="square" lIns="0" tIns="0" rIns="0" bIns="0" rtlCol="0" anchor="t"/>
          <a:lstStyle/>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いまの取り組み</a:t>
            </a:r>
            <a:endParaRPr lang="en-US" sz="2800" dirty="0"/>
          </a:p>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と体制</a:t>
            </a:r>
            <a:endParaRPr lang="en-US" sz="2800" dirty="0"/>
          </a:p>
        </p:txBody>
      </p:sp>
      <p:sp>
        <p:nvSpPr>
          <p:cNvPr id="6" name="Text 4"/>
          <p:cNvSpPr txBox="1"/>
          <p:nvPr/>
        </p:nvSpPr>
        <p:spPr>
          <a:xfrm>
            <a:off x="685800" y="2331720"/>
            <a:ext cx="3108960" cy="274320"/>
          </a:xfrm>
          <a:prstGeom prst="rect">
            <a:avLst/>
          </a:prstGeom>
          <a:noFill/>
          <a:ln/>
        </p:spPr>
        <p:txBody>
          <a:bodyPr wrap="square" lIns="0" tIns="0" rIns="0" bIns="0" rtlCol="0" anchor="t"/>
          <a:lstStyle/>
          <a:p>
            <a:pPr indent="0" marL="0">
              <a:lnSpc>
                <a:spcPct val="125000"/>
              </a:lnSpc>
              <a:buNone/>
            </a:pPr>
            <a:r>
              <a:rPr lang="en-US" sz="1100" b="1" dirty="0">
                <a:solidFill>
                  <a:srgbClr val="C0462B"/>
                </a:solidFill>
                <a:latin typeface="Yu Gothic" pitchFamily="34" charset="0"/>
                <a:ea typeface="Yu Gothic" pitchFamily="34" charset="-122"/>
                <a:cs typeface="Yu Gothic" pitchFamily="34" charset="-120"/>
              </a:rPr>
              <a:t>なぜ伺うか</a:t>
            </a:r>
            <a:endParaRPr lang="en-US" sz="1100" dirty="0"/>
          </a:p>
        </p:txBody>
      </p:sp>
      <p:sp>
        <p:nvSpPr>
          <p:cNvPr id="7" name="Text 5"/>
          <p:cNvSpPr txBox="1"/>
          <p:nvPr/>
        </p:nvSpPr>
        <p:spPr>
          <a:xfrm>
            <a:off x="685800" y="2651760"/>
            <a:ext cx="3108960"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実行されるのは御センターなので、現実に動かせる提言にするため。</a:t>
            </a:r>
            <a:endParaRPr lang="en-US" sz="1250" dirty="0"/>
          </a:p>
        </p:txBody>
      </p:sp>
      <p:sp>
        <p:nvSpPr>
          <p:cNvPr id="8" name="Shape 6"/>
          <p:cNvSpPr/>
          <p:nvPr/>
        </p:nvSpPr>
        <p:spPr>
          <a:xfrm>
            <a:off x="4480560" y="868680"/>
            <a:ext cx="7025335" cy="1463040"/>
          </a:xfrm>
          <a:prstGeom prst="rect">
            <a:avLst/>
          </a:prstGeom>
          <a:solidFill>
            <a:srgbClr val="F6E3DE"/>
          </a:solidFill>
          <a:ln w="12700">
            <a:solidFill>
              <a:srgbClr val="F6E3DE"/>
            </a:solidFill>
            <a:prstDash val="solid"/>
          </a:ln>
        </p:spPr>
      </p:sp>
      <p:sp>
        <p:nvSpPr>
          <p:cNvPr id="9" name="Text 7"/>
          <p:cNvSpPr txBox="1"/>
          <p:nvPr/>
        </p:nvSpPr>
        <p:spPr>
          <a:xfrm>
            <a:off x="4754880" y="106984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5257800" y="108813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ネット広告・SNS広告は、どう評価されていますか。</a:t>
            </a:r>
            <a:endParaRPr lang="en-US" sz="1600" dirty="0"/>
          </a:p>
        </p:txBody>
      </p:sp>
      <p:sp>
        <p:nvSpPr>
          <p:cNvPr id="11" name="Text 9"/>
          <p:cNvSpPr txBox="1"/>
          <p:nvPr/>
        </p:nvSpPr>
        <p:spPr>
          <a:xfrm>
            <a:off x="5257800" y="152704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誰に向けて出しているか。手応えのあるもの、ないものを率直に伺えればと思います。</a:t>
            </a:r>
            <a:endParaRPr lang="en-US" sz="1200" dirty="0"/>
          </a:p>
        </p:txBody>
      </p:sp>
      <p:sp>
        <p:nvSpPr>
          <p:cNvPr id="12" name="Text 10"/>
          <p:cNvSpPr txBox="1"/>
          <p:nvPr/>
        </p:nvSpPr>
        <p:spPr>
          <a:xfrm>
            <a:off x="10042855" y="2039112"/>
            <a:ext cx="1234440" cy="228600"/>
          </a:xfrm>
          <a:prstGeom prst="rect">
            <a:avLst/>
          </a:prstGeom>
          <a:noFill/>
          <a:ln/>
        </p:spPr>
        <p:txBody>
          <a:bodyPr wrap="square" lIns="0" tIns="0" rIns="0" bIns="0" rtlCol="0" anchor="t"/>
          <a:lstStyle/>
          <a:p>
            <a:pPr algn="r" indent="0" marL="0">
              <a:lnSpc>
                <a:spcPct val="125000"/>
              </a:lnSpc>
              <a:buNone/>
            </a:pPr>
            <a:r>
              <a:rPr lang="en-US" sz="1000" b="1" dirty="0">
                <a:solidFill>
                  <a:srgbClr val="C0462B"/>
                </a:solidFill>
                <a:latin typeface="Yu Gothic" pitchFamily="34" charset="0"/>
                <a:ea typeface="Yu Gothic" pitchFamily="34" charset="-122"/>
                <a:cs typeface="Yu Gothic" pitchFamily="34" charset="-120"/>
              </a:rPr>
              <a:t>特に伺いたい</a:t>
            </a:r>
            <a:endParaRPr lang="en-US" sz="1000" dirty="0"/>
          </a:p>
        </p:txBody>
      </p:sp>
      <p:sp>
        <p:nvSpPr>
          <p:cNvPr id="13" name="Shape 11"/>
          <p:cNvSpPr/>
          <p:nvPr/>
        </p:nvSpPr>
        <p:spPr>
          <a:xfrm>
            <a:off x="4480560" y="2514600"/>
            <a:ext cx="7025335" cy="0"/>
          </a:xfrm>
          <a:prstGeom prst="line">
            <a:avLst/>
          </a:prstGeom>
          <a:noFill/>
          <a:ln w="9525">
            <a:solidFill>
              <a:srgbClr val="D6D6D3"/>
            </a:solidFill>
            <a:prstDash val="solid"/>
          </a:ln>
        </p:spPr>
      </p:sp>
      <p:sp>
        <p:nvSpPr>
          <p:cNvPr id="14" name="Text 12"/>
          <p:cNvSpPr txBox="1"/>
          <p:nvPr/>
        </p:nvSpPr>
        <p:spPr>
          <a:xfrm>
            <a:off x="4754880" y="271576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5" name="Text 13"/>
          <p:cNvSpPr txBox="1"/>
          <p:nvPr/>
        </p:nvSpPr>
        <p:spPr>
          <a:xfrm>
            <a:off x="5257800" y="273405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広告以外で、効いていると感じる取り組みはありますか。</a:t>
            </a:r>
            <a:endParaRPr lang="en-US" sz="1600" dirty="0"/>
          </a:p>
        </p:txBody>
      </p:sp>
      <p:sp>
        <p:nvSpPr>
          <p:cNvPr id="16" name="Text 14"/>
          <p:cNvSpPr txBox="1"/>
          <p:nvPr/>
        </p:nvSpPr>
        <p:spPr>
          <a:xfrm>
            <a:off x="5257800" y="317296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刊行物、自治体や支援機関との連携、メディア対応など。</a:t>
            </a:r>
            <a:endParaRPr lang="en-US" sz="1200" dirty="0"/>
          </a:p>
        </p:txBody>
      </p:sp>
      <p:sp>
        <p:nvSpPr>
          <p:cNvPr id="17" name="Shape 15"/>
          <p:cNvSpPr/>
          <p:nvPr/>
        </p:nvSpPr>
        <p:spPr>
          <a:xfrm>
            <a:off x="4480560" y="4160520"/>
            <a:ext cx="7025335" cy="0"/>
          </a:xfrm>
          <a:prstGeom prst="line">
            <a:avLst/>
          </a:prstGeom>
          <a:noFill/>
          <a:ln w="9525">
            <a:solidFill>
              <a:srgbClr val="D6D6D3"/>
            </a:solidFill>
            <a:prstDash val="solid"/>
          </a:ln>
        </p:spPr>
      </p:sp>
      <p:sp>
        <p:nvSpPr>
          <p:cNvPr id="18" name="Text 16"/>
          <p:cNvSpPr txBox="1"/>
          <p:nvPr/>
        </p:nvSpPr>
        <p:spPr>
          <a:xfrm>
            <a:off x="4754880" y="436168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5257800" y="437997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新しい施策を始めるとき、予算や承認はどのような流れですか。</a:t>
            </a:r>
            <a:endParaRPr lang="en-US" sz="1600" dirty="0"/>
          </a:p>
        </p:txBody>
      </p:sp>
      <p:sp>
        <p:nvSpPr>
          <p:cNvPr id="20" name="Text 18"/>
          <p:cNvSpPr txBox="1"/>
          <p:nvPr/>
        </p:nvSpPr>
        <p:spPr>
          <a:xfrm>
            <a:off x="5257800" y="481888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来年度の予算・体制の見通しも、差し支えない範囲で。</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9</a:t>
            </a:r>
            <a:endParaRPr lang="en-US" sz="900" dirty="0"/>
          </a:p>
        </p:txBody>
      </p:sp>
      <p:sp>
        <p:nvSpPr>
          <p:cNvPr id="4" name="Text 2"/>
          <p:cNvSpPr txBox="1"/>
          <p:nvPr/>
        </p:nvSpPr>
        <p:spPr>
          <a:xfrm>
            <a:off x="685800" y="548640"/>
            <a:ext cx="3657600" cy="274320"/>
          </a:xfrm>
          <a:prstGeom prst="rect">
            <a:avLst/>
          </a:prstGeom>
          <a:noFill/>
          <a:ln/>
        </p:spPr>
        <p:txBody>
          <a:bodyPr wrap="square" lIns="0" tIns="0" rIns="0" bIns="0" rtlCol="0" anchor="ctr"/>
          <a:lstStyle/>
          <a:p>
            <a:pPr indent="0" marL="0">
              <a:buNone/>
            </a:pPr>
            <a:r>
              <a:rPr lang="en-US" sz="1100" b="1" dirty="0">
                <a:solidFill>
                  <a:srgbClr val="6B6B6B"/>
                </a:solidFill>
                <a:latin typeface="Yu Gothic" pitchFamily="34" charset="0"/>
                <a:ea typeface="Yu Gothic" pitchFamily="34" charset="-122"/>
                <a:cs typeface="Yu Gothic" pitchFamily="34" charset="-120"/>
              </a:rPr>
              <a:t>お伺いしたいこと 4 / 4</a:t>
            </a:r>
            <a:endParaRPr lang="en-US" sz="1100" dirty="0"/>
          </a:p>
        </p:txBody>
      </p:sp>
      <p:sp>
        <p:nvSpPr>
          <p:cNvPr id="5" name="Text 3"/>
          <p:cNvSpPr txBox="1"/>
          <p:nvPr/>
        </p:nvSpPr>
        <p:spPr>
          <a:xfrm>
            <a:off x="685800" y="960120"/>
            <a:ext cx="3291840" cy="1097280"/>
          </a:xfrm>
          <a:prstGeom prst="rect">
            <a:avLst/>
          </a:prstGeom>
          <a:noFill/>
          <a:ln/>
        </p:spPr>
        <p:txBody>
          <a:bodyPr wrap="square" lIns="0" tIns="0" rIns="0" bIns="0" rtlCol="0" anchor="t"/>
          <a:lstStyle/>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今回のご依頼</a:t>
            </a:r>
            <a:endParaRPr lang="en-US" sz="2800" dirty="0"/>
          </a:p>
          <a:p>
            <a:pPr indent="0" marL="0">
              <a:lnSpc>
                <a:spcPct val="120000"/>
              </a:lnSpc>
              <a:buNone/>
            </a:pPr>
            <a:r>
              <a:rPr lang="en-US" sz="2800" b="1" dirty="0">
                <a:solidFill>
                  <a:srgbClr val="1F1F1F"/>
                </a:solidFill>
                <a:latin typeface="Yu Mincho" pitchFamily="34" charset="0"/>
                <a:ea typeface="Yu Mincho" pitchFamily="34" charset="-122"/>
                <a:cs typeface="Yu Mincho" pitchFamily="34" charset="-120"/>
              </a:rPr>
              <a:t>について</a:t>
            </a:r>
            <a:endParaRPr lang="en-US" sz="2800" dirty="0"/>
          </a:p>
        </p:txBody>
      </p:sp>
      <p:sp>
        <p:nvSpPr>
          <p:cNvPr id="6" name="Text 4"/>
          <p:cNvSpPr txBox="1"/>
          <p:nvPr/>
        </p:nvSpPr>
        <p:spPr>
          <a:xfrm>
            <a:off x="685800" y="2331720"/>
            <a:ext cx="3108960" cy="274320"/>
          </a:xfrm>
          <a:prstGeom prst="rect">
            <a:avLst/>
          </a:prstGeom>
          <a:noFill/>
          <a:ln/>
        </p:spPr>
        <p:txBody>
          <a:bodyPr wrap="square" lIns="0" tIns="0" rIns="0" bIns="0" rtlCol="0" anchor="t"/>
          <a:lstStyle/>
          <a:p>
            <a:pPr indent="0" marL="0">
              <a:lnSpc>
                <a:spcPct val="125000"/>
              </a:lnSpc>
              <a:buNone/>
            </a:pPr>
            <a:r>
              <a:rPr lang="en-US" sz="1100" b="1" dirty="0">
                <a:solidFill>
                  <a:srgbClr val="C0462B"/>
                </a:solidFill>
                <a:latin typeface="Yu Gothic" pitchFamily="34" charset="0"/>
                <a:ea typeface="Yu Gothic" pitchFamily="34" charset="-122"/>
                <a:cs typeface="Yu Gothic" pitchFamily="34" charset="-120"/>
              </a:rPr>
              <a:t>なぜ伺うか</a:t>
            </a:r>
            <a:endParaRPr lang="en-US" sz="1100" dirty="0"/>
          </a:p>
        </p:txBody>
      </p:sp>
      <p:sp>
        <p:nvSpPr>
          <p:cNvPr id="7" name="Text 5"/>
          <p:cNvSpPr txBox="1"/>
          <p:nvPr/>
        </p:nvSpPr>
        <p:spPr>
          <a:xfrm>
            <a:off x="685800" y="2651760"/>
            <a:ext cx="3108960" cy="1280160"/>
          </a:xfrm>
          <a:prstGeom prst="rect">
            <a:avLst/>
          </a:prstGeom>
          <a:noFill/>
          <a:ln/>
        </p:spPr>
        <p:txBody>
          <a:bodyPr wrap="square" lIns="0" tIns="0" rIns="0" bIns="0" rtlCol="0" anchor="t"/>
          <a:lstStyle/>
          <a:p>
            <a:pPr indent="0" marL="0">
              <a:lnSpc>
                <a:spcPct val="150000"/>
              </a:lnSpc>
              <a:buNone/>
            </a:pPr>
            <a:r>
              <a:rPr lang="en-US" sz="1250" dirty="0">
                <a:solidFill>
                  <a:srgbClr val="6B6B6B"/>
                </a:solidFill>
                <a:latin typeface="Yu Gothic" pitchFamily="34" charset="0"/>
                <a:ea typeface="Yu Gothic" pitchFamily="34" charset="-122"/>
                <a:cs typeface="Yu Gothic" pitchFamily="34" charset="-120"/>
              </a:rPr>
              <a:t>過去の経験を踏まえて、御センターにとって本当に役立つ形に合わせるため。</a:t>
            </a:r>
            <a:endParaRPr lang="en-US" sz="1250" dirty="0"/>
          </a:p>
        </p:txBody>
      </p:sp>
      <p:sp>
        <p:nvSpPr>
          <p:cNvPr id="8" name="Shape 6"/>
          <p:cNvSpPr/>
          <p:nvPr/>
        </p:nvSpPr>
        <p:spPr>
          <a:xfrm>
            <a:off x="4480560" y="868680"/>
            <a:ext cx="7025335" cy="1463040"/>
          </a:xfrm>
          <a:prstGeom prst="rect">
            <a:avLst/>
          </a:prstGeom>
          <a:solidFill>
            <a:srgbClr val="F6E3DE"/>
          </a:solidFill>
          <a:ln w="12700">
            <a:solidFill>
              <a:srgbClr val="F6E3DE"/>
            </a:solidFill>
            <a:prstDash val="solid"/>
          </a:ln>
        </p:spPr>
      </p:sp>
      <p:sp>
        <p:nvSpPr>
          <p:cNvPr id="9" name="Text 7"/>
          <p:cNvSpPr txBox="1"/>
          <p:nvPr/>
        </p:nvSpPr>
        <p:spPr>
          <a:xfrm>
            <a:off x="4754880" y="106984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0" name="Text 8"/>
          <p:cNvSpPr txBox="1"/>
          <p:nvPr/>
        </p:nvSpPr>
        <p:spPr>
          <a:xfrm>
            <a:off x="5257800" y="108813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調査会社に提言も依頼されていた頃、良かった点・物足りなかった点は。</a:t>
            </a:r>
            <a:endParaRPr lang="en-US" sz="1600" dirty="0"/>
          </a:p>
        </p:txBody>
      </p:sp>
      <p:sp>
        <p:nvSpPr>
          <p:cNvPr id="11" name="Text 9"/>
          <p:cNvSpPr txBox="1"/>
          <p:nvPr/>
        </p:nvSpPr>
        <p:spPr>
          <a:xfrm>
            <a:off x="5257800" y="1828800"/>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今回、調査と戦略の依頼先を分けられた理由も伺えればと思います。</a:t>
            </a:r>
            <a:endParaRPr lang="en-US" sz="1200" dirty="0"/>
          </a:p>
        </p:txBody>
      </p:sp>
      <p:sp>
        <p:nvSpPr>
          <p:cNvPr id="12" name="Text 10"/>
          <p:cNvSpPr txBox="1"/>
          <p:nvPr/>
        </p:nvSpPr>
        <p:spPr>
          <a:xfrm>
            <a:off x="10042855" y="2039112"/>
            <a:ext cx="1234440" cy="228600"/>
          </a:xfrm>
          <a:prstGeom prst="rect">
            <a:avLst/>
          </a:prstGeom>
          <a:noFill/>
          <a:ln/>
        </p:spPr>
        <p:txBody>
          <a:bodyPr wrap="square" lIns="0" tIns="0" rIns="0" bIns="0" rtlCol="0" anchor="t"/>
          <a:lstStyle/>
          <a:p>
            <a:pPr algn="r" indent="0" marL="0">
              <a:lnSpc>
                <a:spcPct val="125000"/>
              </a:lnSpc>
              <a:buNone/>
            </a:pPr>
            <a:r>
              <a:rPr lang="en-US" sz="1000" b="1" dirty="0">
                <a:solidFill>
                  <a:srgbClr val="C0462B"/>
                </a:solidFill>
                <a:latin typeface="Yu Gothic" pitchFamily="34" charset="0"/>
                <a:ea typeface="Yu Gothic" pitchFamily="34" charset="-122"/>
                <a:cs typeface="Yu Gothic" pitchFamily="34" charset="-120"/>
              </a:rPr>
              <a:t>特に伺いたい</a:t>
            </a:r>
            <a:endParaRPr lang="en-US" sz="1000" dirty="0"/>
          </a:p>
        </p:txBody>
      </p:sp>
      <p:sp>
        <p:nvSpPr>
          <p:cNvPr id="13" name="Shape 11"/>
          <p:cNvSpPr/>
          <p:nvPr/>
        </p:nvSpPr>
        <p:spPr>
          <a:xfrm>
            <a:off x="4480560" y="2514600"/>
            <a:ext cx="7025335" cy="0"/>
          </a:xfrm>
          <a:prstGeom prst="line">
            <a:avLst/>
          </a:prstGeom>
          <a:noFill/>
          <a:ln w="9525">
            <a:solidFill>
              <a:srgbClr val="D6D6D3"/>
            </a:solidFill>
            <a:prstDash val="solid"/>
          </a:ln>
        </p:spPr>
      </p:sp>
      <p:sp>
        <p:nvSpPr>
          <p:cNvPr id="14" name="Text 12"/>
          <p:cNvSpPr txBox="1"/>
          <p:nvPr/>
        </p:nvSpPr>
        <p:spPr>
          <a:xfrm>
            <a:off x="4754880" y="271576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5" name="Text 13"/>
          <p:cNvSpPr txBox="1"/>
          <p:nvPr/>
        </p:nvSpPr>
        <p:spPr>
          <a:xfrm>
            <a:off x="5257800" y="273405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提言は、どなたが、どのような場で使われる予定ですか。</a:t>
            </a:r>
            <a:endParaRPr lang="en-US" sz="1600" dirty="0"/>
          </a:p>
        </p:txBody>
      </p:sp>
      <p:sp>
        <p:nvSpPr>
          <p:cNvPr id="16" name="Text 14"/>
          <p:cNvSpPr txBox="1"/>
          <p:nvPr/>
        </p:nvSpPr>
        <p:spPr>
          <a:xfrm>
            <a:off x="5257800" y="3172968"/>
            <a:ext cx="5973775" cy="457200"/>
          </a:xfrm>
          <a:prstGeom prst="rect">
            <a:avLst/>
          </a:prstGeom>
          <a:noFill/>
          <a:ln/>
        </p:spPr>
        <p:txBody>
          <a:bodyPr wrap="square" lIns="0" tIns="0" rIns="0" bIns="0" rtlCol="0" anchor="t"/>
          <a:lstStyle/>
          <a:p>
            <a:pPr indent="0" marL="0">
              <a:lnSpc>
                <a:spcPct val="125000"/>
              </a:lnSpc>
              <a:buNone/>
            </a:pPr>
            <a:r>
              <a:rPr lang="en-US" sz="1200" dirty="0">
                <a:solidFill>
                  <a:srgbClr val="6B6B6B"/>
                </a:solidFill>
                <a:latin typeface="Yu Gothic" pitchFamily="34" charset="0"/>
                <a:ea typeface="Yu Gothic" pitchFamily="34" charset="-122"/>
                <a:cs typeface="Yu Gothic" pitchFamily="34" charset="-120"/>
              </a:rPr>
              <a:t>内部での説明や予算要求など、使われ方に資料を合わせます。</a:t>
            </a:r>
            <a:endParaRPr lang="en-US" sz="1200" dirty="0"/>
          </a:p>
        </p:txBody>
      </p:sp>
      <p:sp>
        <p:nvSpPr>
          <p:cNvPr id="17" name="Shape 15"/>
          <p:cNvSpPr/>
          <p:nvPr/>
        </p:nvSpPr>
        <p:spPr>
          <a:xfrm>
            <a:off x="4480560" y="4160520"/>
            <a:ext cx="7025335" cy="0"/>
          </a:xfrm>
          <a:prstGeom prst="line">
            <a:avLst/>
          </a:prstGeom>
          <a:noFill/>
          <a:ln w="9525">
            <a:solidFill>
              <a:srgbClr val="D6D6D3"/>
            </a:solidFill>
            <a:prstDash val="solid"/>
          </a:ln>
        </p:spPr>
      </p:sp>
      <p:sp>
        <p:nvSpPr>
          <p:cNvPr id="18" name="Text 16"/>
          <p:cNvSpPr txBox="1"/>
          <p:nvPr/>
        </p:nvSpPr>
        <p:spPr>
          <a:xfrm>
            <a:off x="4754880" y="4361688"/>
            <a:ext cx="365760" cy="411480"/>
          </a:xfrm>
          <a:prstGeom prst="rect">
            <a:avLst/>
          </a:prstGeom>
          <a:noFill/>
          <a:ln/>
        </p:spPr>
        <p:txBody>
          <a:bodyPr wrap="square" lIns="0" tIns="0" rIns="0" bIns="0" rtlCol="0" anchor="t"/>
          <a:lstStyle/>
          <a:p>
            <a:pPr indent="0" marL="0">
              <a:buNone/>
            </a:pPr>
            <a:r>
              <a:rPr lang="en-US" sz="2000" b="1" dirty="0">
                <a:solidFill>
                  <a:srgbClr val="C0462B"/>
                </a:solidFill>
                <a:latin typeface="Yu Mincho" pitchFamily="34" charset="0"/>
                <a:ea typeface="Yu Mincho" pitchFamily="34" charset="-122"/>
                <a:cs typeface="Yu Mincho" pitchFamily="34" charset="-120"/>
              </a:rPr>
              <a:t>Q</a:t>
            </a:r>
            <a:endParaRPr lang="en-US" sz="2000" dirty="0"/>
          </a:p>
        </p:txBody>
      </p:sp>
      <p:sp>
        <p:nvSpPr>
          <p:cNvPr id="19" name="Text 17"/>
          <p:cNvSpPr txBox="1"/>
          <p:nvPr/>
        </p:nvSpPr>
        <p:spPr>
          <a:xfrm>
            <a:off x="5257800" y="4379976"/>
            <a:ext cx="5973775" cy="731520"/>
          </a:xfrm>
          <a:prstGeom prst="rect">
            <a:avLst/>
          </a:prstGeom>
          <a:noFill/>
          <a:ln/>
        </p:spPr>
        <p:txBody>
          <a:bodyPr wrap="square" lIns="0" tIns="0" rIns="0" bIns="0" rtlCol="0" anchor="t"/>
          <a:lstStyle/>
          <a:p>
            <a:pPr indent="0" marL="0">
              <a:lnSpc>
                <a:spcPct val="130000"/>
              </a:lnSpc>
              <a:buNone/>
            </a:pPr>
            <a:r>
              <a:rPr lang="en-US" sz="1600" b="1" dirty="0">
                <a:solidFill>
                  <a:srgbClr val="1F1F1F"/>
                </a:solidFill>
                <a:latin typeface="Yu Gothic" pitchFamily="34" charset="0"/>
                <a:ea typeface="Yu Gothic" pitchFamily="34" charset="-122"/>
                <a:cs typeface="Yu Gothic" pitchFamily="34" charset="-120"/>
              </a:rPr>
              <a:t>3月末にどうなっていれば「頼んでよかった」と思っていただけますか。</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6400800"/>
            <a:ext cx="1005840" cy="274320"/>
          </a:xfrm>
          <a:prstGeom prst="rect">
            <a:avLst/>
          </a:prstGeom>
          <a:noFill/>
          <a:ln/>
        </p:spPr>
        <p:txBody>
          <a:bodyPr wrap="square" lIns="0" tIns="0" rIns="0" bIns="0" rtlCol="0" anchor="ctr"/>
          <a:lstStyle/>
          <a:p>
            <a:pPr algn="r" indent="0" marL="0">
              <a:buNone/>
            </a:pPr>
            <a:r>
              <a:rPr lang="en-US" sz="1100" dirty="0">
                <a:solidFill>
                  <a:srgbClr val="6B6B6B"/>
                </a:solidFill>
                <a:latin typeface="Yu Mincho" pitchFamily="34" charset="0"/>
                <a:ea typeface="Yu Mincho" pitchFamily="34" charset="-122"/>
                <a:cs typeface="Yu Mincho" pitchFamily="34" charset="-120"/>
              </a:rPr>
              <a:t>alma</a:t>
            </a:r>
            <a:endParaRPr lang="en-US" sz="1100" dirty="0"/>
          </a:p>
        </p:txBody>
      </p:sp>
      <p:sp>
        <p:nvSpPr>
          <p:cNvPr id="3" name="Text 1"/>
          <p:cNvSpPr txBox="1"/>
          <p:nvPr/>
        </p:nvSpPr>
        <p:spPr>
          <a:xfrm>
            <a:off x="11140135" y="6400800"/>
            <a:ext cx="365760" cy="274320"/>
          </a:xfrm>
          <a:prstGeom prst="rect">
            <a:avLst/>
          </a:prstGeom>
          <a:noFill/>
          <a:ln/>
        </p:spPr>
        <p:txBody>
          <a:bodyPr wrap="square" lIns="0" tIns="0" rIns="0" bIns="0" rtlCol="0" anchor="ctr"/>
          <a:lstStyle/>
          <a:p>
            <a:pPr algn="r" indent="0" marL="0">
              <a:buNone/>
            </a:pPr>
            <a:r>
              <a:rPr lang="en-US" sz="900" dirty="0">
                <a:solidFill>
                  <a:srgbClr val="6B6B6B"/>
                </a:solidFill>
                <a:latin typeface="Yu Gothic" pitchFamily="34" charset="0"/>
                <a:ea typeface="Yu Gothic" pitchFamily="34" charset="-122"/>
                <a:cs typeface="Yu Gothic" pitchFamily="34" charset="-120"/>
              </a:rPr>
              <a:t>10</a:t>
            </a:r>
            <a:endParaRPr lang="en-US" sz="900" dirty="0"/>
          </a:p>
        </p:txBody>
      </p:sp>
      <p:sp>
        <p:nvSpPr>
          <p:cNvPr id="4" name="Text 2"/>
          <p:cNvSpPr txBox="1"/>
          <p:nvPr/>
        </p:nvSpPr>
        <p:spPr>
          <a:xfrm>
            <a:off x="685800" y="502920"/>
            <a:ext cx="10820095" cy="822960"/>
          </a:xfrm>
          <a:prstGeom prst="rect">
            <a:avLst/>
          </a:prstGeom>
          <a:noFill/>
          <a:ln/>
        </p:spPr>
        <p:txBody>
          <a:bodyPr wrap="square" lIns="0" tIns="0" rIns="0" bIns="0" rtlCol="0" anchor="t"/>
          <a:lstStyle/>
          <a:p>
            <a:pPr indent="0" marL="0">
              <a:buNone/>
            </a:pPr>
            <a:r>
              <a:rPr lang="en-US" sz="2800" b="1" dirty="0">
                <a:solidFill>
                  <a:srgbClr val="1F1F1F"/>
                </a:solidFill>
                <a:latin typeface="Yu Mincho" pitchFamily="34" charset="0"/>
                <a:ea typeface="Yu Mincho" pitchFamily="34" charset="-122"/>
                <a:cs typeface="Yu Mincho" pitchFamily="34" charset="-120"/>
              </a:rPr>
              <a:t>今後の進め方</a:t>
            </a:r>
            <a:endParaRPr lang="en-US" sz="2800" dirty="0"/>
          </a:p>
        </p:txBody>
      </p:sp>
      <p:sp>
        <p:nvSpPr>
          <p:cNvPr id="5" name="Text 3"/>
          <p:cNvSpPr txBox="1"/>
          <p:nvPr/>
        </p:nvSpPr>
        <p:spPr>
          <a:xfrm>
            <a:off x="685800" y="1325880"/>
            <a:ext cx="10820095" cy="457200"/>
          </a:xfrm>
          <a:prstGeom prst="rect">
            <a:avLst/>
          </a:prstGeom>
          <a:noFill/>
          <a:ln/>
        </p:spPr>
        <p:txBody>
          <a:bodyPr wrap="square" lIns="0" tIns="0" rIns="0" bIns="0" rtlCol="0" anchor="t"/>
          <a:lstStyle/>
          <a:p>
            <a:pPr indent="0" marL="0">
              <a:buNone/>
            </a:pPr>
            <a:r>
              <a:rPr lang="en-US" sz="1400" dirty="0">
                <a:solidFill>
                  <a:srgbClr val="6B6B6B"/>
                </a:solidFill>
                <a:latin typeface="Yu Gothic" pitchFamily="34" charset="0"/>
                <a:ea typeface="Yu Gothic" pitchFamily="34" charset="-122"/>
                <a:cs typeface="Yu Gothic" pitchFamily="34" charset="-120"/>
              </a:rPr>
              <a:t>本日伺った内容をもとに、分析の進め方・体制・お見積りを具体化し、10月中に正式なご提案としてお持ちします。</a:t>
            </a:r>
            <a:endParaRPr lang="en-US" sz="1400" dirty="0"/>
          </a:p>
        </p:txBody>
      </p:sp>
      <p:sp>
        <p:nvSpPr>
          <p:cNvPr id="6" name="Shape 4"/>
          <p:cNvSpPr/>
          <p:nvPr/>
        </p:nvSpPr>
        <p:spPr>
          <a:xfrm>
            <a:off x="685800" y="2624328"/>
            <a:ext cx="10820095" cy="0"/>
          </a:xfrm>
          <a:prstGeom prst="line">
            <a:avLst/>
          </a:prstGeom>
          <a:noFill/>
          <a:ln w="9525">
            <a:solidFill>
              <a:srgbClr val="9A9A96"/>
            </a:solidFill>
            <a:prstDash val="solid"/>
          </a:ln>
        </p:spPr>
      </p:sp>
      <p:sp>
        <p:nvSpPr>
          <p:cNvPr id="7" name="Shape 5"/>
          <p:cNvSpPr/>
          <p:nvPr/>
        </p:nvSpPr>
        <p:spPr>
          <a:xfrm>
            <a:off x="685800" y="2514600"/>
            <a:ext cx="219456" cy="219456"/>
          </a:xfrm>
          <a:prstGeom prst="ellipse">
            <a:avLst/>
          </a:prstGeom>
          <a:solidFill>
            <a:srgbClr val="C0462B"/>
          </a:solidFill>
          <a:ln w="12700">
            <a:solidFill>
              <a:srgbClr val="C0462B"/>
            </a:solidFill>
            <a:prstDash val="solid"/>
          </a:ln>
        </p:spPr>
      </p:sp>
      <p:sp>
        <p:nvSpPr>
          <p:cNvPr id="8" name="Text 6"/>
          <p:cNvSpPr txBox="1"/>
          <p:nvPr/>
        </p:nvSpPr>
        <p:spPr>
          <a:xfrm>
            <a:off x="685800" y="2926080"/>
            <a:ext cx="2430704" cy="320040"/>
          </a:xfrm>
          <a:prstGeom prst="rect">
            <a:avLst/>
          </a:prstGeom>
          <a:noFill/>
          <a:ln/>
        </p:spPr>
        <p:txBody>
          <a:bodyPr wrap="square" lIns="0" tIns="0" rIns="0" bIns="0" rtlCol="0" anchor="t"/>
          <a:lstStyle/>
          <a:p>
            <a:pPr indent="0" marL="0">
              <a:lnSpc>
                <a:spcPct val="125000"/>
              </a:lnSpc>
              <a:buNone/>
            </a:pPr>
            <a:r>
              <a:rPr lang="en-US" sz="1300" b="1" dirty="0">
                <a:solidFill>
                  <a:srgbClr val="C0462B"/>
                </a:solidFill>
                <a:latin typeface="Yu Gothic" pitchFamily="34" charset="0"/>
                <a:ea typeface="Yu Gothic" pitchFamily="34" charset="-122"/>
                <a:cs typeface="Yu Gothic" pitchFamily="34" charset="-120"/>
              </a:rPr>
              <a:t>本日</a:t>
            </a:r>
            <a:endParaRPr lang="en-US" sz="1300" dirty="0"/>
          </a:p>
        </p:txBody>
      </p:sp>
      <p:sp>
        <p:nvSpPr>
          <p:cNvPr id="9" name="Text 7"/>
          <p:cNvSpPr txBox="1"/>
          <p:nvPr/>
        </p:nvSpPr>
        <p:spPr>
          <a:xfrm>
            <a:off x="685800" y="3291840"/>
            <a:ext cx="2430704" cy="411480"/>
          </a:xfrm>
          <a:prstGeom prst="rect">
            <a:avLst/>
          </a:prstGeom>
          <a:noFill/>
          <a:ln/>
        </p:spPr>
        <p:txBody>
          <a:bodyPr wrap="square" lIns="0" tIns="0" rIns="0" bIns="0" rtlCol="0" anchor="t"/>
          <a:lstStyle/>
          <a:p>
            <a:pPr indent="0" marL="0">
              <a:buNone/>
            </a:pPr>
            <a:r>
              <a:rPr lang="en-US" sz="1800" b="1" dirty="0">
                <a:solidFill>
                  <a:srgbClr val="1F1F1F"/>
                </a:solidFill>
                <a:latin typeface="Yu Mincho" pitchFamily="34" charset="0"/>
                <a:ea typeface="Yu Mincho" pitchFamily="34" charset="-122"/>
                <a:cs typeface="Yu Mincho" pitchFamily="34" charset="-120"/>
              </a:rPr>
              <a:t>お話を伺う</a:t>
            </a:r>
            <a:endParaRPr lang="en-US" sz="1800" dirty="0"/>
          </a:p>
        </p:txBody>
      </p:sp>
      <p:sp>
        <p:nvSpPr>
          <p:cNvPr id="10" name="Text 8"/>
          <p:cNvSpPr txBox="1"/>
          <p:nvPr/>
        </p:nvSpPr>
        <p:spPr>
          <a:xfrm>
            <a:off x="685800" y="3794760"/>
            <a:ext cx="2339264" cy="822960"/>
          </a:xfrm>
          <a:prstGeom prst="rect">
            <a:avLst/>
          </a:prstGeom>
          <a:noFill/>
          <a:ln/>
        </p:spPr>
        <p:txBody>
          <a:bodyPr wrap="square" lIns="0" tIns="0" rIns="0" bIns="0" rtlCol="0" anchor="t"/>
          <a:lstStyle/>
          <a:p>
            <a:pPr indent="0" marL="0">
              <a:lnSpc>
                <a:spcPct val="140000"/>
              </a:lnSpc>
              <a:buNone/>
            </a:pPr>
            <a:r>
              <a:rPr lang="en-US" sz="1200" dirty="0">
                <a:solidFill>
                  <a:srgbClr val="6B6B6B"/>
                </a:solidFill>
                <a:latin typeface="Yu Gothic" pitchFamily="34" charset="0"/>
                <a:ea typeface="Yu Gothic" pitchFamily="34" charset="-122"/>
                <a:cs typeface="Yu Gothic" pitchFamily="34" charset="-120"/>
              </a:rPr>
              <a:t>目指す姿・データ・体制を確認</a:t>
            </a:r>
            <a:endParaRPr lang="en-US" sz="1200" dirty="0"/>
          </a:p>
        </p:txBody>
      </p:sp>
      <p:sp>
        <p:nvSpPr>
          <p:cNvPr id="11" name="Shape 9"/>
          <p:cNvSpPr/>
          <p:nvPr/>
        </p:nvSpPr>
        <p:spPr>
          <a:xfrm>
            <a:off x="3390824" y="2514600"/>
            <a:ext cx="219456" cy="219456"/>
          </a:xfrm>
          <a:prstGeom prst="ellipse">
            <a:avLst/>
          </a:prstGeom>
          <a:solidFill>
            <a:srgbClr val="1F1F1F"/>
          </a:solidFill>
          <a:ln w="12700">
            <a:solidFill>
              <a:srgbClr val="1F1F1F"/>
            </a:solidFill>
            <a:prstDash val="solid"/>
          </a:ln>
        </p:spPr>
      </p:sp>
      <p:sp>
        <p:nvSpPr>
          <p:cNvPr id="12" name="Text 10"/>
          <p:cNvSpPr txBox="1"/>
          <p:nvPr/>
        </p:nvSpPr>
        <p:spPr>
          <a:xfrm>
            <a:off x="3390824" y="2926080"/>
            <a:ext cx="2430704" cy="32004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10月中</a:t>
            </a:r>
            <a:endParaRPr lang="en-US" sz="1300" dirty="0"/>
          </a:p>
        </p:txBody>
      </p:sp>
      <p:sp>
        <p:nvSpPr>
          <p:cNvPr id="13" name="Text 11"/>
          <p:cNvSpPr txBox="1"/>
          <p:nvPr/>
        </p:nvSpPr>
        <p:spPr>
          <a:xfrm>
            <a:off x="3390824" y="3291840"/>
            <a:ext cx="2430704" cy="411480"/>
          </a:xfrm>
          <a:prstGeom prst="rect">
            <a:avLst/>
          </a:prstGeom>
          <a:noFill/>
          <a:ln/>
        </p:spPr>
        <p:txBody>
          <a:bodyPr wrap="square" lIns="0" tIns="0" rIns="0" bIns="0" rtlCol="0" anchor="t"/>
          <a:lstStyle/>
          <a:p>
            <a:pPr indent="0" marL="0">
              <a:buNone/>
            </a:pPr>
            <a:r>
              <a:rPr lang="en-US" sz="1800" b="1" dirty="0">
                <a:solidFill>
                  <a:srgbClr val="1F1F1F"/>
                </a:solidFill>
                <a:latin typeface="Yu Mincho" pitchFamily="34" charset="0"/>
                <a:ea typeface="Yu Mincho" pitchFamily="34" charset="-122"/>
                <a:cs typeface="Yu Mincho" pitchFamily="34" charset="-120"/>
              </a:rPr>
              <a:t>正式なご提案</a:t>
            </a:r>
            <a:endParaRPr lang="en-US" sz="1800" dirty="0"/>
          </a:p>
        </p:txBody>
      </p:sp>
      <p:sp>
        <p:nvSpPr>
          <p:cNvPr id="14" name="Text 12"/>
          <p:cNvSpPr txBox="1"/>
          <p:nvPr/>
        </p:nvSpPr>
        <p:spPr>
          <a:xfrm>
            <a:off x="3390824" y="3794760"/>
            <a:ext cx="2339264" cy="822960"/>
          </a:xfrm>
          <a:prstGeom prst="rect">
            <a:avLst/>
          </a:prstGeom>
          <a:noFill/>
          <a:ln/>
        </p:spPr>
        <p:txBody>
          <a:bodyPr wrap="square" lIns="0" tIns="0" rIns="0" bIns="0" rtlCol="0" anchor="t"/>
          <a:lstStyle/>
          <a:p>
            <a:pPr indent="0" marL="0">
              <a:lnSpc>
                <a:spcPct val="140000"/>
              </a:lnSpc>
              <a:buNone/>
            </a:pPr>
            <a:r>
              <a:rPr lang="en-US" sz="1200" dirty="0">
                <a:solidFill>
                  <a:srgbClr val="6B6B6B"/>
                </a:solidFill>
                <a:latin typeface="Yu Gothic" pitchFamily="34" charset="0"/>
                <a:ea typeface="Yu Gothic" pitchFamily="34" charset="-122"/>
                <a:cs typeface="Yu Gothic" pitchFamily="34" charset="-120"/>
              </a:rPr>
              <a:t>分析設計・体制・お見積り（ご予算200万円以内）</a:t>
            </a:r>
            <a:endParaRPr lang="en-US" sz="1200" dirty="0"/>
          </a:p>
        </p:txBody>
      </p:sp>
      <p:sp>
        <p:nvSpPr>
          <p:cNvPr id="15" name="Shape 13"/>
          <p:cNvSpPr/>
          <p:nvPr/>
        </p:nvSpPr>
        <p:spPr>
          <a:xfrm>
            <a:off x="6095848" y="2514600"/>
            <a:ext cx="219456" cy="219456"/>
          </a:xfrm>
          <a:prstGeom prst="ellipse">
            <a:avLst/>
          </a:prstGeom>
          <a:solidFill>
            <a:srgbClr val="1F1F1F"/>
          </a:solidFill>
          <a:ln w="12700">
            <a:solidFill>
              <a:srgbClr val="1F1F1F"/>
            </a:solidFill>
            <a:prstDash val="solid"/>
          </a:ln>
        </p:spPr>
      </p:sp>
      <p:sp>
        <p:nvSpPr>
          <p:cNvPr id="16" name="Text 14"/>
          <p:cNvSpPr txBox="1"/>
          <p:nvPr/>
        </p:nvSpPr>
        <p:spPr>
          <a:xfrm>
            <a:off x="6095848" y="2926080"/>
            <a:ext cx="2430704" cy="32004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12月</a:t>
            </a:r>
            <a:endParaRPr lang="en-US" sz="1300" dirty="0"/>
          </a:p>
        </p:txBody>
      </p:sp>
      <p:sp>
        <p:nvSpPr>
          <p:cNvPr id="17" name="Text 15"/>
          <p:cNvSpPr txBox="1"/>
          <p:nvPr/>
        </p:nvSpPr>
        <p:spPr>
          <a:xfrm>
            <a:off x="6095848" y="3291840"/>
            <a:ext cx="2430704" cy="411480"/>
          </a:xfrm>
          <a:prstGeom prst="rect">
            <a:avLst/>
          </a:prstGeom>
          <a:noFill/>
          <a:ln/>
        </p:spPr>
        <p:txBody>
          <a:bodyPr wrap="square" lIns="0" tIns="0" rIns="0" bIns="0" rtlCol="0" anchor="t"/>
          <a:lstStyle/>
          <a:p>
            <a:pPr indent="0" marL="0">
              <a:buNone/>
            </a:pPr>
            <a:r>
              <a:rPr lang="en-US" sz="1800" b="1" dirty="0">
                <a:solidFill>
                  <a:srgbClr val="1F1F1F"/>
                </a:solidFill>
                <a:latin typeface="Yu Mincho" pitchFamily="34" charset="0"/>
                <a:ea typeface="Yu Mincho" pitchFamily="34" charset="-122"/>
                <a:cs typeface="Yu Mincho" pitchFamily="34" charset="-120"/>
              </a:rPr>
              <a:t>認知度調査</a:t>
            </a:r>
            <a:endParaRPr lang="en-US" sz="1800" dirty="0"/>
          </a:p>
        </p:txBody>
      </p:sp>
      <p:sp>
        <p:nvSpPr>
          <p:cNvPr id="18" name="Text 16"/>
          <p:cNvSpPr txBox="1"/>
          <p:nvPr/>
        </p:nvSpPr>
        <p:spPr>
          <a:xfrm>
            <a:off x="6095848" y="3794760"/>
            <a:ext cx="2339264" cy="822960"/>
          </a:xfrm>
          <a:prstGeom prst="rect">
            <a:avLst/>
          </a:prstGeom>
          <a:noFill/>
          <a:ln/>
        </p:spPr>
        <p:txBody>
          <a:bodyPr wrap="square" lIns="0" tIns="0" rIns="0" bIns="0" rtlCol="0" anchor="t"/>
          <a:lstStyle/>
          <a:p>
            <a:pPr indent="0" marL="0">
              <a:lnSpc>
                <a:spcPct val="140000"/>
              </a:lnSpc>
              <a:buNone/>
            </a:pPr>
            <a:r>
              <a:rPr lang="en-US" sz="1200" dirty="0">
                <a:solidFill>
                  <a:srgbClr val="6B6B6B"/>
                </a:solidFill>
                <a:latin typeface="Yu Gothic" pitchFamily="34" charset="0"/>
                <a:ea typeface="Yu Gothic" pitchFamily="34" charset="-122"/>
                <a:cs typeface="Yu Gothic" pitchFamily="34" charset="-120"/>
              </a:rPr>
              <a:t>調査票・集計仕様を事前に共有いただけると理想です</a:t>
            </a:r>
            <a:endParaRPr lang="en-US" sz="1200" dirty="0"/>
          </a:p>
        </p:txBody>
      </p:sp>
      <p:sp>
        <p:nvSpPr>
          <p:cNvPr id="19" name="Shape 17"/>
          <p:cNvSpPr/>
          <p:nvPr/>
        </p:nvSpPr>
        <p:spPr>
          <a:xfrm>
            <a:off x="8800871" y="2514600"/>
            <a:ext cx="219456" cy="219456"/>
          </a:xfrm>
          <a:prstGeom prst="ellipse">
            <a:avLst/>
          </a:prstGeom>
          <a:solidFill>
            <a:srgbClr val="1F1F1F"/>
          </a:solidFill>
          <a:ln w="12700">
            <a:solidFill>
              <a:srgbClr val="1F1F1F"/>
            </a:solidFill>
            <a:prstDash val="solid"/>
          </a:ln>
        </p:spPr>
      </p:sp>
      <p:sp>
        <p:nvSpPr>
          <p:cNvPr id="20" name="Text 18"/>
          <p:cNvSpPr txBox="1"/>
          <p:nvPr/>
        </p:nvSpPr>
        <p:spPr>
          <a:xfrm>
            <a:off x="8800871" y="2926080"/>
            <a:ext cx="2430704" cy="320040"/>
          </a:xfrm>
          <a:prstGeom prst="rect">
            <a:avLst/>
          </a:prstGeom>
          <a:noFill/>
          <a:ln/>
        </p:spPr>
        <p:txBody>
          <a:bodyPr wrap="square" lIns="0" tIns="0" rIns="0" bIns="0" rtlCol="0" anchor="t"/>
          <a:lstStyle/>
          <a:p>
            <a:pPr indent="0" marL="0">
              <a:lnSpc>
                <a:spcPct val="125000"/>
              </a:lnSpc>
              <a:buNone/>
            </a:pPr>
            <a:r>
              <a:rPr lang="en-US" sz="1300" b="1" dirty="0">
                <a:solidFill>
                  <a:srgbClr val="1F1F1F"/>
                </a:solidFill>
                <a:latin typeface="Yu Gothic" pitchFamily="34" charset="0"/>
                <a:ea typeface="Yu Gothic" pitchFamily="34" charset="-122"/>
                <a:cs typeface="Yu Gothic" pitchFamily="34" charset="-120"/>
              </a:rPr>
              <a:t>2027年1〜3月</a:t>
            </a:r>
            <a:endParaRPr lang="en-US" sz="1300" dirty="0"/>
          </a:p>
        </p:txBody>
      </p:sp>
      <p:sp>
        <p:nvSpPr>
          <p:cNvPr id="21" name="Text 19"/>
          <p:cNvSpPr txBox="1"/>
          <p:nvPr/>
        </p:nvSpPr>
        <p:spPr>
          <a:xfrm>
            <a:off x="8800871" y="3291840"/>
            <a:ext cx="2430704" cy="411480"/>
          </a:xfrm>
          <a:prstGeom prst="rect">
            <a:avLst/>
          </a:prstGeom>
          <a:noFill/>
          <a:ln/>
        </p:spPr>
        <p:txBody>
          <a:bodyPr wrap="square" lIns="0" tIns="0" rIns="0" bIns="0" rtlCol="0" anchor="t"/>
          <a:lstStyle/>
          <a:p>
            <a:pPr indent="0" marL="0">
              <a:buNone/>
            </a:pPr>
            <a:r>
              <a:rPr lang="en-US" sz="1800" b="1" dirty="0">
                <a:solidFill>
                  <a:srgbClr val="1F1F1F"/>
                </a:solidFill>
                <a:latin typeface="Yu Mincho" pitchFamily="34" charset="0"/>
                <a:ea typeface="Yu Mincho" pitchFamily="34" charset="-122"/>
                <a:cs typeface="Yu Mincho" pitchFamily="34" charset="-120"/>
              </a:rPr>
              <a:t>分析・戦略立案</a:t>
            </a:r>
            <a:endParaRPr lang="en-US" sz="1800" dirty="0"/>
          </a:p>
        </p:txBody>
      </p:sp>
      <p:sp>
        <p:nvSpPr>
          <p:cNvPr id="22" name="Text 20"/>
          <p:cNvSpPr txBox="1"/>
          <p:nvPr/>
        </p:nvSpPr>
        <p:spPr>
          <a:xfrm>
            <a:off x="8800871" y="3794760"/>
            <a:ext cx="2339264" cy="822960"/>
          </a:xfrm>
          <a:prstGeom prst="rect">
            <a:avLst/>
          </a:prstGeom>
          <a:noFill/>
          <a:ln/>
        </p:spPr>
        <p:txBody>
          <a:bodyPr wrap="square" lIns="0" tIns="0" rIns="0" bIns="0" rtlCol="0" anchor="t"/>
          <a:lstStyle/>
          <a:p>
            <a:pPr indent="0" marL="0">
              <a:lnSpc>
                <a:spcPct val="140000"/>
              </a:lnSpc>
              <a:buNone/>
            </a:pPr>
            <a:r>
              <a:rPr lang="en-US" sz="1200" dirty="0">
                <a:solidFill>
                  <a:srgbClr val="6B6B6B"/>
                </a:solidFill>
                <a:latin typeface="Yu Gothic" pitchFamily="34" charset="0"/>
                <a:ea typeface="Yu Gothic" pitchFamily="34" charset="-122"/>
                <a:cs typeface="Yu Gothic" pitchFamily="34" charset="-120"/>
              </a:rPr>
              <a:t>月1回・計3回の打合せで、診断 → 選ぶ → 決める</a:t>
            </a:r>
            <a:endParaRPr lang="en-US" sz="1200" dirty="0"/>
          </a:p>
        </p:txBody>
      </p:sp>
      <p:sp>
        <p:nvSpPr>
          <p:cNvPr id="23" name="Shape 21"/>
          <p:cNvSpPr/>
          <p:nvPr/>
        </p:nvSpPr>
        <p:spPr>
          <a:xfrm>
            <a:off x="685800" y="4663440"/>
            <a:ext cx="10820095" cy="1188720"/>
          </a:xfrm>
          <a:prstGeom prst="rect">
            <a:avLst/>
          </a:prstGeom>
          <a:solidFill>
            <a:srgbClr val="F2F2F0"/>
          </a:solidFill>
          <a:ln w="12700">
            <a:solidFill>
              <a:srgbClr val="F2F2F0"/>
            </a:solidFill>
            <a:prstDash val="solid"/>
          </a:ln>
        </p:spPr>
      </p:sp>
      <p:sp>
        <p:nvSpPr>
          <p:cNvPr id="24" name="Text 22"/>
          <p:cNvSpPr txBox="1"/>
          <p:nvPr/>
        </p:nvSpPr>
        <p:spPr>
          <a:xfrm>
            <a:off x="1005840" y="4864608"/>
            <a:ext cx="2743200" cy="274320"/>
          </a:xfrm>
          <a:prstGeom prst="rect">
            <a:avLst/>
          </a:prstGeom>
          <a:noFill/>
          <a:ln/>
        </p:spPr>
        <p:txBody>
          <a:bodyPr wrap="square" lIns="0" tIns="0" rIns="0" bIns="0" rtlCol="0" anchor="t"/>
          <a:lstStyle/>
          <a:p>
            <a:pPr indent="0" marL="0">
              <a:lnSpc>
                <a:spcPct val="125000"/>
              </a:lnSpc>
              <a:buNone/>
            </a:pPr>
            <a:r>
              <a:rPr lang="en-US" sz="1200" b="1" dirty="0">
                <a:solidFill>
                  <a:srgbClr val="C0462B"/>
                </a:solidFill>
                <a:latin typeface="Yu Gothic" pitchFamily="34" charset="0"/>
                <a:ea typeface="Yu Gothic" pitchFamily="34" charset="-122"/>
                <a:cs typeface="Yu Gothic" pitchFamily="34" charset="-120"/>
              </a:rPr>
              <a:t>3月末に目指す状態</a:t>
            </a:r>
            <a:endParaRPr lang="en-US" sz="1200" dirty="0"/>
          </a:p>
        </p:txBody>
      </p:sp>
      <p:sp>
        <p:nvSpPr>
          <p:cNvPr id="25" name="Text 23"/>
          <p:cNvSpPr txBox="1"/>
          <p:nvPr/>
        </p:nvSpPr>
        <p:spPr>
          <a:xfrm>
            <a:off x="1005840" y="5166360"/>
            <a:ext cx="10180015" cy="685800"/>
          </a:xfrm>
          <a:prstGeom prst="rect">
            <a:avLst/>
          </a:prstGeom>
          <a:noFill/>
          <a:ln/>
        </p:spPr>
        <p:txBody>
          <a:bodyPr wrap="square" lIns="0" tIns="0" rIns="0" bIns="0" rtlCol="0" anchor="t"/>
          <a:lstStyle/>
          <a:p>
            <a:pPr indent="0" marL="0">
              <a:lnSpc>
                <a:spcPct val="140000"/>
              </a:lnSpc>
              <a:buNone/>
            </a:pPr>
            <a:r>
              <a:rPr lang="en-US" sz="1300" dirty="0">
                <a:solidFill>
                  <a:srgbClr val="1F1F1F"/>
                </a:solidFill>
                <a:latin typeface="Yu Gothic" pitchFamily="34" charset="0"/>
                <a:ea typeface="Yu Gothic" pitchFamily="34" charset="-122"/>
                <a:cs typeface="Yu Gothic" pitchFamily="34" charset="-120"/>
              </a:rPr>
              <a:t>12月調査の結果から「なぜ伸びないのか」を説明でき、来年度「どこに・何に力を入れるか」を根拠をもって決められている。</a:t>
            </a:r>
            <a:endParaRPr lang="en-US" sz="1300" dirty="0"/>
          </a:p>
          <a:p>
            <a:pPr indent="0" marL="0">
              <a:lnSpc>
                <a:spcPct val="140000"/>
              </a:lnSpc>
              <a:buNone/>
            </a:pPr>
            <a:r>
              <a:rPr lang="en-US" sz="1300" dirty="0">
                <a:solidFill>
                  <a:srgbClr val="1F1F1F"/>
                </a:solidFill>
                <a:latin typeface="Yu Gothic" pitchFamily="34" charset="0"/>
                <a:ea typeface="Yu Gothic" pitchFamily="34" charset="-122"/>
                <a:cs typeface="Yu Gothic" pitchFamily="34" charset="-120"/>
              </a:rPr>
              <a:t>そのための分析レポート、優先順位つきの改善策、来年度の計画と評価方法をお渡しします。</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828800"/>
            <a:ext cx="10058400" cy="1737360"/>
          </a:xfrm>
          <a:prstGeom prst="rect">
            <a:avLst/>
          </a:prstGeom>
          <a:noFill/>
          <a:ln/>
        </p:spPr>
        <p:txBody>
          <a:bodyPr wrap="square" lIns="0" tIns="0" rIns="0" bIns="0" rtlCol="0" anchor="t"/>
          <a:lstStyle/>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12月の数字を、</a:t>
            </a:r>
            <a:endParaRPr lang="en-US" sz="3800" dirty="0"/>
          </a:p>
          <a:p>
            <a:pPr indent="0" marL="0">
              <a:lnSpc>
                <a:spcPct val="120000"/>
              </a:lnSpc>
              <a:buNone/>
            </a:pPr>
            <a:r>
              <a:rPr lang="en-US" sz="3800" b="1" dirty="0">
                <a:solidFill>
                  <a:srgbClr val="1F1F1F"/>
                </a:solidFill>
                <a:latin typeface="Yu Mincho" pitchFamily="34" charset="0"/>
                <a:ea typeface="Yu Mincho" pitchFamily="34" charset="-122"/>
                <a:cs typeface="Yu Mincho" pitchFamily="34" charset="-120"/>
              </a:rPr>
              <a:t>来年度の判断に。</a:t>
            </a:r>
            <a:endParaRPr lang="en-US" sz="3800" dirty="0"/>
          </a:p>
        </p:txBody>
      </p:sp>
      <p:sp>
        <p:nvSpPr>
          <p:cNvPr id="3" name="Text 1"/>
          <p:cNvSpPr txBox="1"/>
          <p:nvPr/>
        </p:nvSpPr>
        <p:spPr>
          <a:xfrm>
            <a:off x="685800" y="3703320"/>
            <a:ext cx="10058400" cy="457200"/>
          </a:xfrm>
          <a:prstGeom prst="rect">
            <a:avLst/>
          </a:prstGeom>
          <a:noFill/>
          <a:ln/>
        </p:spPr>
        <p:txBody>
          <a:bodyPr wrap="square" lIns="0" tIns="0" rIns="0" bIns="0" rtlCol="0" anchor="t"/>
          <a:lstStyle/>
          <a:p>
            <a:pPr indent="0" marL="0">
              <a:lnSpc>
                <a:spcPct val="125000"/>
              </a:lnSpc>
              <a:buNone/>
            </a:pPr>
            <a:r>
              <a:rPr lang="en-US" sz="1600" dirty="0">
                <a:solidFill>
                  <a:srgbClr val="6B6B6B"/>
                </a:solidFill>
                <a:latin typeface="Yu Gothic" pitchFamily="34" charset="0"/>
                <a:ea typeface="Yu Gothic" pitchFamily="34" charset="-122"/>
                <a:cs typeface="Yu Gothic" pitchFamily="34" charset="-120"/>
              </a:rPr>
              <a:t>本日はありがとうございました。</a:t>
            </a:r>
            <a:endParaRPr lang="en-US" sz="1600" dirty="0"/>
          </a:p>
        </p:txBody>
      </p:sp>
      <p:sp>
        <p:nvSpPr>
          <p:cNvPr id="4" name="Shape 2"/>
          <p:cNvSpPr/>
          <p:nvPr/>
        </p:nvSpPr>
        <p:spPr>
          <a:xfrm>
            <a:off x="685800" y="5120640"/>
            <a:ext cx="10820095" cy="0"/>
          </a:xfrm>
          <a:prstGeom prst="line">
            <a:avLst/>
          </a:prstGeom>
          <a:noFill/>
          <a:ln w="9525">
            <a:solidFill>
              <a:srgbClr val="1F1F1F"/>
            </a:solidFill>
            <a:prstDash val="solid"/>
          </a:ln>
        </p:spPr>
      </p:sp>
      <p:sp>
        <p:nvSpPr>
          <p:cNvPr id="5" name="Text 3"/>
          <p:cNvSpPr txBox="1"/>
          <p:nvPr/>
        </p:nvSpPr>
        <p:spPr>
          <a:xfrm>
            <a:off x="7848295" y="5852160"/>
            <a:ext cx="3657600" cy="365760"/>
          </a:xfrm>
          <a:prstGeom prst="rect">
            <a:avLst/>
          </a:prstGeom>
          <a:noFill/>
          <a:ln/>
        </p:spPr>
        <p:txBody>
          <a:bodyPr wrap="square" lIns="0" tIns="0" rIns="0" bIns="0" rtlCol="0" anchor="ctr"/>
          <a:lstStyle/>
          <a:p>
            <a:pPr algn="r" indent="0" marL="0">
              <a:buNone/>
            </a:pPr>
            <a:r>
              <a:rPr lang="en-US" sz="1600" b="1" dirty="0">
                <a:solidFill>
                  <a:srgbClr val="1F1F1F"/>
                </a:solidFill>
                <a:latin typeface="Yu Mincho" pitchFamily="34" charset="0"/>
                <a:ea typeface="Yu Mincho" pitchFamily="34" charset="-122"/>
                <a:cs typeface="Yu Mincho" pitchFamily="34" charset="-120"/>
              </a:rPr>
              <a:t>株式会社alma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法テラス 認知度向上 戦略立案のご提案</dc:title>
  <dc:subject>PptxGenJS Presentation</dc:subject>
  <dc:creator>株式会社alma</dc:creator>
  <cp:lastModifiedBy>株式会社alma</cp:lastModifiedBy>
  <cp:revision>1</cp:revision>
  <dcterms:created xsi:type="dcterms:W3CDTF">2026-09-29T12:11:23Z</dcterms:created>
  <dcterms:modified xsi:type="dcterms:W3CDTF">2026-09-29T12:11:23Z</dcterms:modified>
</cp:coreProperties>
</file>