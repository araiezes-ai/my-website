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5119604" cy="10692079"/>
  <p:notesSz cx="10692079" cy="15119604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55" y="2922276"/>
            <a:ext cx="252165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14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都市</a:t>
            </a:r>
            <a:endParaRPr lang="en-US" sz="580" dirty="0"/>
          </a:p>
        </p:txBody>
      </p:sp>
      <p:sp>
        <p:nvSpPr>
          <p:cNvPr id="3" name="Text 1"/>
          <p:cNvSpPr/>
          <p:nvPr/>
        </p:nvSpPr>
        <p:spPr>
          <a:xfrm>
            <a:off x="127055" y="3036626"/>
            <a:ext cx="702021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80" kern="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鉄・銅・アルミ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4370709" y="1308672"/>
            <a:ext cx="563352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14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モビリティ</a:t>
            </a:r>
            <a:endParaRPr lang="en-US" sz="580" dirty="0"/>
          </a:p>
        </p:txBody>
      </p:sp>
      <p:sp>
        <p:nvSpPr>
          <p:cNvPr id="5" name="Text 3"/>
          <p:cNvSpPr/>
          <p:nvPr/>
        </p:nvSpPr>
        <p:spPr>
          <a:xfrm>
            <a:off x="4370709" y="1423022"/>
            <a:ext cx="796142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80" kern="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鉄・銅・リチウム</a:t>
            </a:r>
            <a:endParaRPr lang="en-US" sz="580" dirty="0"/>
          </a:p>
        </p:txBody>
      </p:sp>
      <p:sp>
        <p:nvSpPr>
          <p:cNvPr id="6" name="Text 4"/>
          <p:cNvSpPr/>
          <p:nvPr/>
        </p:nvSpPr>
        <p:spPr>
          <a:xfrm>
            <a:off x="5362258" y="2322328"/>
            <a:ext cx="1078939" cy="136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72"/>
              </a:lnSpc>
              <a:buNone/>
            </a:pPr>
            <a:r>
              <a:rPr lang="en-US" sz="670" dirty="0">
                <a:solidFill>
                  <a:srgbClr val="8A96A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鉄道の写真（ストック）</a:t>
            </a:r>
            <a:endParaRPr lang="en-US" sz="670" dirty="0"/>
          </a:p>
        </p:txBody>
      </p:sp>
      <p:sp>
        <p:nvSpPr>
          <p:cNvPr id="7" name="Text 5"/>
          <p:cNvSpPr/>
          <p:nvPr/>
        </p:nvSpPr>
        <p:spPr>
          <a:xfrm>
            <a:off x="4370709" y="2922276"/>
            <a:ext cx="252165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140" kern="0" dirty="0">
                <a:solidFill>
                  <a:srgbClr val="5A6570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鉄道</a:t>
            </a:r>
            <a:endParaRPr lang="en-US" sz="580" dirty="0"/>
          </a:p>
        </p:txBody>
      </p:sp>
      <p:sp>
        <p:nvSpPr>
          <p:cNvPr id="8" name="Text 6"/>
          <p:cNvSpPr/>
          <p:nvPr/>
        </p:nvSpPr>
        <p:spPr>
          <a:xfrm>
            <a:off x="4370709" y="3036626"/>
            <a:ext cx="327505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80" kern="0" dirty="0">
                <a:solidFill>
                  <a:srgbClr val="5A657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鉄・銅</a:t>
            </a:r>
            <a:endParaRPr lang="en-US" sz="580" dirty="0"/>
          </a:p>
        </p:txBody>
      </p:sp>
      <p:sp>
        <p:nvSpPr>
          <p:cNvPr id="9" name="Text 7"/>
          <p:cNvSpPr/>
          <p:nvPr/>
        </p:nvSpPr>
        <p:spPr>
          <a:xfrm>
            <a:off x="127055" y="4828109"/>
            <a:ext cx="963855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14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再生可能エネルギー</a:t>
            </a:r>
            <a:endParaRPr lang="en-US" sz="580" dirty="0"/>
          </a:p>
        </p:txBody>
      </p:sp>
      <p:sp>
        <p:nvSpPr>
          <p:cNvPr id="10" name="Text 8"/>
          <p:cNvSpPr/>
          <p:nvPr/>
        </p:nvSpPr>
        <p:spPr>
          <a:xfrm>
            <a:off x="127055" y="4942459"/>
            <a:ext cx="327505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80" kern="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銅・鉄</a:t>
            </a:r>
            <a:endParaRPr lang="en-US" sz="580" dirty="0"/>
          </a:p>
        </p:txBody>
      </p:sp>
      <p:sp>
        <p:nvSpPr>
          <p:cNvPr id="11" name="Text 9"/>
          <p:cNvSpPr/>
          <p:nvPr/>
        </p:nvSpPr>
        <p:spPr>
          <a:xfrm>
            <a:off x="2248882" y="4828109"/>
            <a:ext cx="352619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14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送電網</a:t>
            </a:r>
            <a:endParaRPr lang="en-US" sz="580" dirty="0"/>
          </a:p>
        </p:txBody>
      </p:sp>
      <p:sp>
        <p:nvSpPr>
          <p:cNvPr id="12" name="Text 10"/>
          <p:cNvSpPr/>
          <p:nvPr/>
        </p:nvSpPr>
        <p:spPr>
          <a:xfrm>
            <a:off x="2248882" y="4942459"/>
            <a:ext cx="517711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80" kern="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銅・アルミ</a:t>
            </a:r>
            <a:endParaRPr lang="en-US" sz="580" dirty="0"/>
          </a:p>
        </p:txBody>
      </p:sp>
      <p:sp>
        <p:nvSpPr>
          <p:cNvPr id="13" name="Text 11"/>
          <p:cNvSpPr/>
          <p:nvPr/>
        </p:nvSpPr>
        <p:spPr>
          <a:xfrm>
            <a:off x="4756054" y="4082047"/>
            <a:ext cx="2291148" cy="136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72"/>
              </a:lnSpc>
              <a:buNone/>
            </a:pPr>
            <a:r>
              <a:rPr lang="en-US" sz="670" dirty="0">
                <a:solidFill>
                  <a:srgbClr val="8A96A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スマートフォン・データセンターの写真（ストック）</a:t>
            </a:r>
            <a:endParaRPr lang="en-US" sz="670" dirty="0"/>
          </a:p>
        </p:txBody>
      </p:sp>
      <p:sp>
        <p:nvSpPr>
          <p:cNvPr id="14" name="Text 12"/>
          <p:cNvSpPr/>
          <p:nvPr/>
        </p:nvSpPr>
        <p:spPr>
          <a:xfrm>
            <a:off x="4370709" y="4828109"/>
            <a:ext cx="460934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140" kern="0" dirty="0">
                <a:solidFill>
                  <a:srgbClr val="5A6570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デバイス</a:t>
            </a:r>
            <a:endParaRPr lang="en-US" sz="580" dirty="0"/>
          </a:p>
        </p:txBody>
      </p:sp>
      <p:sp>
        <p:nvSpPr>
          <p:cNvPr id="15" name="Text 13"/>
          <p:cNvSpPr/>
          <p:nvPr/>
        </p:nvSpPr>
        <p:spPr>
          <a:xfrm>
            <a:off x="4370709" y="4942459"/>
            <a:ext cx="1080250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80" kern="0" dirty="0">
                <a:solidFill>
                  <a:srgbClr val="5A657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銅・リチウム・ニッケル</a:t>
            </a:r>
            <a:endParaRPr lang="en-US" sz="580" dirty="0"/>
          </a:p>
        </p:txBody>
      </p:sp>
      <p:sp>
        <p:nvSpPr>
          <p:cNvPr id="16" name="Text 14"/>
          <p:cNvSpPr/>
          <p:nvPr/>
        </p:nvSpPr>
        <p:spPr>
          <a:xfrm>
            <a:off x="7737680" y="3100154"/>
            <a:ext cx="453290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14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金属素材</a:t>
            </a:r>
            <a:endParaRPr lang="en-US" sz="580" dirty="0"/>
          </a:p>
        </p:txBody>
      </p:sp>
      <p:sp>
        <p:nvSpPr>
          <p:cNvPr id="17" name="Text 15"/>
          <p:cNvSpPr/>
          <p:nvPr/>
        </p:nvSpPr>
        <p:spPr>
          <a:xfrm>
            <a:off x="7737680" y="3214504"/>
            <a:ext cx="1451053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80" kern="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暮らしを形づくる鉄・銅・アルミ</a:t>
            </a:r>
            <a:endParaRPr lang="en-US" sz="580" dirty="0"/>
          </a:p>
        </p:txBody>
      </p:sp>
      <p:sp>
        <p:nvSpPr>
          <p:cNvPr id="18" name="Text 16"/>
          <p:cNvSpPr/>
          <p:nvPr/>
        </p:nvSpPr>
        <p:spPr>
          <a:xfrm>
            <a:off x="11981333" y="3100154"/>
            <a:ext cx="553744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14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製錬・精製</a:t>
            </a:r>
            <a:endParaRPr lang="en-US" sz="580" dirty="0"/>
          </a:p>
        </p:txBody>
      </p:sp>
      <p:sp>
        <p:nvSpPr>
          <p:cNvPr id="19" name="Text 17"/>
          <p:cNvSpPr/>
          <p:nvPr/>
        </p:nvSpPr>
        <p:spPr>
          <a:xfrm>
            <a:off x="7737680" y="4828109"/>
            <a:ext cx="453290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14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海上輸送</a:t>
            </a:r>
            <a:endParaRPr lang="en-US" sz="580" dirty="0"/>
          </a:p>
        </p:txBody>
      </p:sp>
      <p:sp>
        <p:nvSpPr>
          <p:cNvPr id="20" name="Text 18"/>
          <p:cNvSpPr/>
          <p:nvPr/>
        </p:nvSpPr>
        <p:spPr>
          <a:xfrm>
            <a:off x="11053828" y="4828109"/>
            <a:ext cx="352619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14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銅地金</a:t>
            </a:r>
            <a:endParaRPr lang="en-US" sz="580" dirty="0"/>
          </a:p>
        </p:txBody>
      </p:sp>
      <p:sp>
        <p:nvSpPr>
          <p:cNvPr id="21" name="Text 19"/>
          <p:cNvSpPr/>
          <p:nvPr/>
        </p:nvSpPr>
        <p:spPr>
          <a:xfrm>
            <a:off x="508222" y="5590442"/>
            <a:ext cx="894848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コアメッセージ</a:t>
            </a:r>
            <a:endParaRPr lang="en-US" sz="660" dirty="0"/>
          </a:p>
        </p:txBody>
      </p:sp>
      <p:sp>
        <p:nvSpPr>
          <p:cNvPr id="22" name="Text 20"/>
          <p:cNvSpPr/>
          <p:nvPr/>
        </p:nvSpPr>
        <p:spPr>
          <a:xfrm>
            <a:off x="508222" y="5730203"/>
            <a:ext cx="855322" cy="12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60" spc="60" kern="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私たちの存在意義</a:t>
            </a:r>
            <a:endParaRPr lang="en-US" sz="660" dirty="0"/>
          </a:p>
        </p:txBody>
      </p:sp>
      <p:sp>
        <p:nvSpPr>
          <p:cNvPr id="23" name="Text 21"/>
          <p:cNvSpPr/>
          <p:nvPr/>
        </p:nvSpPr>
        <p:spPr>
          <a:xfrm>
            <a:off x="508222" y="5918880"/>
            <a:ext cx="5064750" cy="12273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30"/>
              </a:lnSpc>
              <a:buNone/>
            </a:pPr>
            <a:r>
              <a:rPr lang="en-US" sz="4600" spc="-92" kern="0" dirty="0">
                <a:solidFill>
                  <a:srgbClr val="121519"/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Strength to Hold.</a:t>
            </a:r>
            <a:endParaRPr lang="en-US" sz="4600" dirty="0"/>
          </a:p>
          <a:p>
            <a:pPr algn="l" indent="0" marL="0">
              <a:lnSpc>
                <a:spcPts val="4830"/>
              </a:lnSpc>
              <a:buNone/>
            </a:pPr>
            <a:r>
              <a:rPr lang="en-US" sz="4600" spc="-92" kern="0" dirty="0">
                <a:solidFill>
                  <a:srgbClr val="121519"/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Power to Connect.</a:t>
            </a:r>
            <a:endParaRPr lang="en-US" sz="4600" dirty="0"/>
          </a:p>
        </p:txBody>
      </p:sp>
      <p:sp>
        <p:nvSpPr>
          <p:cNvPr id="24" name="Text 22"/>
          <p:cNvSpPr/>
          <p:nvPr/>
        </p:nvSpPr>
        <p:spPr>
          <a:xfrm>
            <a:off x="508222" y="7359690"/>
            <a:ext cx="2208820" cy="285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持つ力と、つなぐ力。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08222" y="7666243"/>
            <a:ext cx="4243654" cy="904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77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資源は、そこに「ある」だけでは、まだ価値ではありません。誰かが見出し、育て、</a:t>
            </a:r>
            <a:endParaRPr lang="en-US" sz="77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77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必要とする場所へ届けて、はじめて力になる。私たちは、世界有数の資産に関わり、</a:t>
            </a:r>
            <a:endParaRPr lang="en-US" sz="77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77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投資とトレーディングの両輪で川上から川下までをつなぎます。フェアな立場だから</a:t>
            </a:r>
            <a:endParaRPr lang="en-US" sz="77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77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こそ、埋められる隙間がある。多様なパートナーと使い手の間に立ち、その時々の最</a:t>
            </a:r>
            <a:endParaRPr lang="en-US" sz="77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77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適解を導く。世界に眠る価値を、社会の力へ。</a:t>
            </a:r>
            <a:endParaRPr lang="en-US" sz="770" dirty="0"/>
          </a:p>
        </p:txBody>
      </p:sp>
      <p:sp>
        <p:nvSpPr>
          <p:cNvPr id="26" name="Text 24"/>
          <p:cNvSpPr/>
          <p:nvPr/>
        </p:nvSpPr>
        <p:spPr>
          <a:xfrm>
            <a:off x="8068024" y="5590442"/>
            <a:ext cx="288416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目次</a:t>
            </a:r>
            <a:endParaRPr lang="en-US" sz="660" dirty="0"/>
          </a:p>
        </p:txBody>
      </p:sp>
      <p:sp>
        <p:nvSpPr>
          <p:cNvPr id="27" name="Text 25"/>
          <p:cNvSpPr/>
          <p:nvPr/>
        </p:nvSpPr>
        <p:spPr>
          <a:xfrm>
            <a:off x="8068024" y="5730203"/>
            <a:ext cx="505701" cy="12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60" spc="60" kern="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Contents</a:t>
            </a:r>
            <a:endParaRPr lang="en-US" sz="660" dirty="0"/>
          </a:p>
        </p:txBody>
      </p:sp>
      <p:sp>
        <p:nvSpPr>
          <p:cNvPr id="28" name="Text 26"/>
          <p:cNvSpPr/>
          <p:nvPr/>
        </p:nvSpPr>
        <p:spPr>
          <a:xfrm>
            <a:off x="8068024" y="6041489"/>
            <a:ext cx="543917" cy="482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4000" spc="-120" kern="0" dirty="0">
                <a:solidFill>
                  <a:srgbClr val="9C7442"/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01</a:t>
            </a:r>
            <a:endParaRPr lang="en-US" sz="4000" dirty="0"/>
          </a:p>
        </p:txBody>
      </p:sp>
      <p:sp>
        <p:nvSpPr>
          <p:cNvPr id="29" name="Text 27"/>
          <p:cNvSpPr/>
          <p:nvPr/>
        </p:nvSpPr>
        <p:spPr>
          <a:xfrm>
            <a:off x="9135290" y="6092311"/>
            <a:ext cx="1266743" cy="26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我々は何者か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135290" y="6368530"/>
            <a:ext cx="1752631" cy="146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7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三菱商事とは／金属資源グループとは</a:t>
            </a:r>
            <a:endParaRPr lang="en-US" sz="720" dirty="0"/>
          </a:p>
        </p:txBody>
      </p:sp>
      <p:sp>
        <p:nvSpPr>
          <p:cNvPr id="31" name="Text 29"/>
          <p:cNvSpPr/>
          <p:nvPr/>
        </p:nvSpPr>
        <p:spPr>
          <a:xfrm>
            <a:off x="14179393" y="6124075"/>
            <a:ext cx="323793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spc="16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P.04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8068024" y="6956288"/>
            <a:ext cx="667081" cy="482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4000" spc="-120" kern="0" dirty="0">
                <a:solidFill>
                  <a:srgbClr val="9C7442"/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02</a:t>
            </a:r>
            <a:endParaRPr lang="en-US" sz="4000" dirty="0"/>
          </a:p>
        </p:txBody>
      </p:sp>
      <p:sp>
        <p:nvSpPr>
          <p:cNvPr id="33" name="Text 31"/>
          <p:cNvSpPr/>
          <p:nvPr/>
        </p:nvSpPr>
        <p:spPr>
          <a:xfrm>
            <a:off x="9135290" y="7007111"/>
            <a:ext cx="861436" cy="26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独自価値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135290" y="7283329"/>
            <a:ext cx="3150897" cy="146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7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投資とトレーディングの両輪／原料炭・銅・トレーディング・新技術</a:t>
            </a:r>
            <a:endParaRPr lang="en-US" sz="720" dirty="0"/>
          </a:p>
        </p:txBody>
      </p:sp>
      <p:sp>
        <p:nvSpPr>
          <p:cNvPr id="35" name="Text 33"/>
          <p:cNvSpPr/>
          <p:nvPr/>
        </p:nvSpPr>
        <p:spPr>
          <a:xfrm>
            <a:off x="14179393" y="7038874"/>
            <a:ext cx="321391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spc="16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P.06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8068024" y="7871088"/>
            <a:ext cx="677126" cy="482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4000" spc="-120" kern="0" dirty="0">
                <a:solidFill>
                  <a:srgbClr val="9C7442"/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03</a:t>
            </a:r>
            <a:endParaRPr lang="en-US" sz="4000" dirty="0"/>
          </a:p>
        </p:txBody>
      </p:sp>
      <p:sp>
        <p:nvSpPr>
          <p:cNvPr id="37" name="Text 35"/>
          <p:cNvSpPr/>
          <p:nvPr/>
        </p:nvSpPr>
        <p:spPr>
          <a:xfrm>
            <a:off x="9135290" y="7921910"/>
            <a:ext cx="1672050" cy="26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選ばれ続ける理由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135290" y="8198129"/>
            <a:ext cx="854448" cy="146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7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Partner of Choice</a:t>
            </a:r>
            <a:endParaRPr lang="en-US" sz="720" dirty="0"/>
          </a:p>
        </p:txBody>
      </p:sp>
      <p:sp>
        <p:nvSpPr>
          <p:cNvPr id="39" name="Text 37"/>
          <p:cNvSpPr/>
          <p:nvPr/>
        </p:nvSpPr>
        <p:spPr>
          <a:xfrm>
            <a:off x="14179393" y="7953674"/>
            <a:ext cx="298243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spc="16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P.10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8068024" y="8785888"/>
            <a:ext cx="675598" cy="482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4000" spc="-120" kern="0" dirty="0">
                <a:solidFill>
                  <a:srgbClr val="9C7442"/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04</a:t>
            </a:r>
            <a:endParaRPr lang="en-US" sz="4000" dirty="0"/>
          </a:p>
        </p:txBody>
      </p:sp>
      <p:sp>
        <p:nvSpPr>
          <p:cNvPr id="41" name="Text 39"/>
          <p:cNvSpPr/>
          <p:nvPr/>
        </p:nvSpPr>
        <p:spPr>
          <a:xfrm>
            <a:off x="9135290" y="8836710"/>
            <a:ext cx="1469397" cy="26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何を実現するか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9135290" y="9112928"/>
            <a:ext cx="1055573" cy="146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7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社会課題への取り組み</a:t>
            </a:r>
            <a:endParaRPr lang="en-US" sz="720" dirty="0"/>
          </a:p>
        </p:txBody>
      </p:sp>
      <p:sp>
        <p:nvSpPr>
          <p:cNvPr id="43" name="Text 41"/>
          <p:cNvSpPr/>
          <p:nvPr/>
        </p:nvSpPr>
        <p:spPr>
          <a:xfrm>
            <a:off x="14179393" y="8868474"/>
            <a:ext cx="279026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spc="16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P.11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508222" y="10316906"/>
            <a:ext cx="201502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spc="16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02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14458915" y="10316906"/>
            <a:ext cx="202376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spc="16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03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1665" y="2483935"/>
            <a:ext cx="3664737" cy="3049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0"/>
              </a:lnSpc>
              <a:buNone/>
            </a:pPr>
            <a:r>
              <a:rPr lang="en-US" sz="30000" spc="-1200" kern="0" dirty="0">
                <a:solidFill>
                  <a:srgbClr val="000000">
                    <a:alpha val="0"/>
                  </a:srgbClr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01</a:t>
            </a:r>
            <a:endParaRPr lang="en-US" sz="30000" dirty="0"/>
          </a:p>
        </p:txBody>
      </p:sp>
      <p:sp>
        <p:nvSpPr>
          <p:cNvPr id="3" name="Text 1"/>
          <p:cNvSpPr/>
          <p:nvPr/>
        </p:nvSpPr>
        <p:spPr>
          <a:xfrm>
            <a:off x="11434995" y="2483935"/>
            <a:ext cx="3664737" cy="3049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0"/>
              </a:lnSpc>
              <a:buNone/>
            </a:pPr>
            <a:r>
              <a:rPr lang="en-US" sz="30000" spc="-1200" kern="0" dirty="0">
                <a:solidFill>
                  <a:srgbClr val="000000">
                    <a:alpha val="0"/>
                  </a:srgbClr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01</a:t>
            </a:r>
            <a:endParaRPr lang="en-US" sz="30000" dirty="0"/>
          </a:p>
        </p:txBody>
      </p:sp>
      <p:sp>
        <p:nvSpPr>
          <p:cNvPr id="4" name="Text 2"/>
          <p:cNvSpPr/>
          <p:nvPr/>
        </p:nvSpPr>
        <p:spPr>
          <a:xfrm>
            <a:off x="127055" y="2286999"/>
            <a:ext cx="453290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14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三菱商事</a:t>
            </a:r>
            <a:endParaRPr lang="en-US" sz="580" dirty="0"/>
          </a:p>
        </p:txBody>
      </p:sp>
      <p:sp>
        <p:nvSpPr>
          <p:cNvPr id="5" name="Text 3"/>
          <p:cNvSpPr/>
          <p:nvPr/>
        </p:nvSpPr>
        <p:spPr>
          <a:xfrm>
            <a:off x="5005987" y="2286999"/>
            <a:ext cx="352619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14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総合力</a:t>
            </a:r>
            <a:endParaRPr lang="en-US" sz="580" dirty="0"/>
          </a:p>
        </p:txBody>
      </p:sp>
      <p:sp>
        <p:nvSpPr>
          <p:cNvPr id="6" name="Text 4"/>
          <p:cNvSpPr/>
          <p:nvPr/>
        </p:nvSpPr>
        <p:spPr>
          <a:xfrm>
            <a:off x="5005987" y="2401349"/>
            <a:ext cx="890262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80" kern="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産業と地域をまたぐ</a:t>
            </a:r>
            <a:endParaRPr lang="en-US" sz="580" dirty="0"/>
          </a:p>
        </p:txBody>
      </p:sp>
      <p:sp>
        <p:nvSpPr>
          <p:cNvPr id="7" name="Text 5"/>
          <p:cNvSpPr/>
          <p:nvPr/>
        </p:nvSpPr>
        <p:spPr>
          <a:xfrm>
            <a:off x="7737680" y="2286999"/>
            <a:ext cx="352619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14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原料炭</a:t>
            </a:r>
            <a:endParaRPr lang="en-US" sz="580" dirty="0"/>
          </a:p>
        </p:txBody>
      </p:sp>
      <p:sp>
        <p:nvSpPr>
          <p:cNvPr id="8" name="Text 6"/>
          <p:cNvSpPr/>
          <p:nvPr/>
        </p:nvSpPr>
        <p:spPr>
          <a:xfrm>
            <a:off x="7737680" y="2401349"/>
            <a:ext cx="235350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80" kern="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豪州</a:t>
            </a:r>
            <a:endParaRPr lang="en-US" sz="580" dirty="0"/>
          </a:p>
        </p:txBody>
      </p:sp>
      <p:sp>
        <p:nvSpPr>
          <p:cNvPr id="9" name="Text 7"/>
          <p:cNvSpPr/>
          <p:nvPr/>
        </p:nvSpPr>
        <p:spPr>
          <a:xfrm>
            <a:off x="11600167" y="2286999"/>
            <a:ext cx="151494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14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銅</a:t>
            </a:r>
            <a:endParaRPr lang="en-US" sz="580" dirty="0"/>
          </a:p>
        </p:txBody>
      </p:sp>
      <p:sp>
        <p:nvSpPr>
          <p:cNvPr id="10" name="Text 8"/>
          <p:cNvSpPr/>
          <p:nvPr/>
        </p:nvSpPr>
        <p:spPr>
          <a:xfrm>
            <a:off x="11600167" y="2401349"/>
            <a:ext cx="235350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80" kern="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南米</a:t>
            </a:r>
            <a:endParaRPr lang="en-US" sz="580" dirty="0"/>
          </a:p>
        </p:txBody>
      </p:sp>
      <p:sp>
        <p:nvSpPr>
          <p:cNvPr id="11" name="Text 9"/>
          <p:cNvSpPr/>
          <p:nvPr/>
        </p:nvSpPr>
        <p:spPr>
          <a:xfrm>
            <a:off x="508222" y="2820632"/>
            <a:ext cx="353929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第1章</a:t>
            </a:r>
            <a:endParaRPr lang="en-US" sz="660" dirty="0"/>
          </a:p>
        </p:txBody>
      </p:sp>
      <p:sp>
        <p:nvSpPr>
          <p:cNvPr id="12" name="Text 10"/>
          <p:cNvSpPr/>
          <p:nvPr/>
        </p:nvSpPr>
        <p:spPr>
          <a:xfrm>
            <a:off x="508222" y="2960393"/>
            <a:ext cx="1358025" cy="12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60" spc="60" kern="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我々は何者か｜三菱商事とは</a:t>
            </a:r>
            <a:endParaRPr lang="en-US" sz="660" dirty="0"/>
          </a:p>
        </p:txBody>
      </p:sp>
      <p:sp>
        <p:nvSpPr>
          <p:cNvPr id="13" name="Text 11"/>
          <p:cNvSpPr/>
          <p:nvPr/>
        </p:nvSpPr>
        <p:spPr>
          <a:xfrm>
            <a:off x="508222" y="3190363"/>
            <a:ext cx="3023583" cy="518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80"/>
              </a:lnSpc>
              <a:buNone/>
            </a:pPr>
            <a:r>
              <a:rPr lang="en-US" sz="4000" spc="-100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Who we are.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508222" y="3991726"/>
            <a:ext cx="3655347" cy="219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15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三綱領を精神の根幹に、「総合力」で価値を生む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8222" y="4233164"/>
            <a:ext cx="3544848" cy="542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77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三菱商事は三綱領を企業理念とし、事業を通じて経済価値・社会価</a:t>
            </a:r>
            <a:endParaRPr lang="en-US" sz="77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77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値・環境価値の同時実現を目指しています。幅広い産業と地域にまた</a:t>
            </a:r>
            <a:endParaRPr lang="en-US" sz="77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77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がる事業と人のつながり＝「総合力」が、三菱商事の強みです。</a:t>
            </a:r>
            <a:endParaRPr lang="en-US" sz="770" dirty="0"/>
          </a:p>
        </p:txBody>
      </p:sp>
      <p:sp>
        <p:nvSpPr>
          <p:cNvPr id="16" name="Text 14"/>
          <p:cNvSpPr/>
          <p:nvPr/>
        </p:nvSpPr>
        <p:spPr>
          <a:xfrm>
            <a:off x="508222" y="5666675"/>
            <a:ext cx="406994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三綱領</a:t>
            </a:r>
            <a:endParaRPr lang="en-US" sz="660" dirty="0"/>
          </a:p>
        </p:txBody>
      </p:sp>
      <p:sp>
        <p:nvSpPr>
          <p:cNvPr id="17" name="Text 15"/>
          <p:cNvSpPr/>
          <p:nvPr/>
        </p:nvSpPr>
        <p:spPr>
          <a:xfrm>
            <a:off x="1143499" y="5666675"/>
            <a:ext cx="955775" cy="12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60" spc="60" kern="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三菱商事の企業理念</a:t>
            </a:r>
            <a:endParaRPr lang="en-US" sz="660" dirty="0"/>
          </a:p>
        </p:txBody>
      </p:sp>
      <p:sp>
        <p:nvSpPr>
          <p:cNvPr id="18" name="Text 16"/>
          <p:cNvSpPr/>
          <p:nvPr/>
        </p:nvSpPr>
        <p:spPr>
          <a:xfrm>
            <a:off x="508222" y="6022431"/>
            <a:ext cx="973463" cy="304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所期奉公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24666" y="6085958"/>
            <a:ext cx="699838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20" spc="3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しょきほうこう</a:t>
            </a:r>
            <a:endParaRPr lang="en-US" sz="620" dirty="0"/>
          </a:p>
        </p:txBody>
      </p:sp>
      <p:sp>
        <p:nvSpPr>
          <p:cNvPr id="20" name="Text 18"/>
          <p:cNvSpPr/>
          <p:nvPr/>
        </p:nvSpPr>
        <p:spPr>
          <a:xfrm>
            <a:off x="508222" y="6323806"/>
            <a:ext cx="2905005" cy="268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事業を通じ、物心共に豊かな社会の実現に努力すると同時に、かけが</a:t>
            </a:r>
            <a:endParaRPr lang="en-US" sz="660" dirty="0"/>
          </a:p>
          <a:p>
            <a:pPr algn="l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えのない地球環境の維持にも貢献する</a:t>
            </a:r>
            <a:endParaRPr lang="en-US" sz="660" dirty="0"/>
          </a:p>
        </p:txBody>
      </p:sp>
      <p:sp>
        <p:nvSpPr>
          <p:cNvPr id="21" name="Text 19"/>
          <p:cNvSpPr/>
          <p:nvPr/>
        </p:nvSpPr>
        <p:spPr>
          <a:xfrm>
            <a:off x="508222" y="6988052"/>
            <a:ext cx="973463" cy="304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処事光明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24666" y="7051580"/>
            <a:ext cx="699838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20" spc="3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しょじこうめい</a:t>
            </a:r>
            <a:endParaRPr lang="en-US" sz="620" dirty="0"/>
          </a:p>
        </p:txBody>
      </p:sp>
      <p:sp>
        <p:nvSpPr>
          <p:cNvPr id="23" name="Text 21"/>
          <p:cNvSpPr/>
          <p:nvPr/>
        </p:nvSpPr>
        <p:spPr>
          <a:xfrm>
            <a:off x="508222" y="7289428"/>
            <a:ext cx="2907625" cy="268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公明正大で品格のある行動を旨とし、活動の公開性、透明性を堅持す</a:t>
            </a:r>
            <a:endParaRPr lang="en-US" sz="660" dirty="0"/>
          </a:p>
          <a:p>
            <a:pPr algn="l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る</a:t>
            </a:r>
            <a:endParaRPr lang="en-US" sz="660" dirty="0"/>
          </a:p>
        </p:txBody>
      </p:sp>
      <p:sp>
        <p:nvSpPr>
          <p:cNvPr id="24" name="Text 22"/>
          <p:cNvSpPr/>
          <p:nvPr/>
        </p:nvSpPr>
        <p:spPr>
          <a:xfrm>
            <a:off x="508222" y="7953674"/>
            <a:ext cx="973463" cy="304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立業貿易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524666" y="8017202"/>
            <a:ext cx="885239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20" spc="3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りつぎょうぼうえき</a:t>
            </a:r>
            <a:endParaRPr lang="en-US" sz="620" dirty="0"/>
          </a:p>
        </p:txBody>
      </p:sp>
      <p:sp>
        <p:nvSpPr>
          <p:cNvPr id="26" name="Text 24"/>
          <p:cNvSpPr/>
          <p:nvPr/>
        </p:nvSpPr>
        <p:spPr>
          <a:xfrm>
            <a:off x="508222" y="8255050"/>
            <a:ext cx="2078231" cy="134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全世界的、宇宙的視野に立脚した事業展開を図る</a:t>
            </a:r>
            <a:endParaRPr lang="en-US" sz="660" dirty="0"/>
          </a:p>
        </p:txBody>
      </p:sp>
      <p:sp>
        <p:nvSpPr>
          <p:cNvPr id="27" name="Text 25"/>
          <p:cNvSpPr/>
          <p:nvPr/>
        </p:nvSpPr>
        <p:spPr>
          <a:xfrm>
            <a:off x="3719599" y="6556858"/>
            <a:ext cx="255004" cy="12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00" spc="30" kern="0" dirty="0">
                <a:solidFill>
                  <a:srgbClr val="3D424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産業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678868" y="5510040"/>
            <a:ext cx="255004" cy="12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00" spc="30" kern="0" dirty="0">
                <a:solidFill>
                  <a:srgbClr val="3D424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地域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6097125" y="5448100"/>
            <a:ext cx="255004" cy="12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00" spc="30" kern="0" dirty="0">
                <a:solidFill>
                  <a:srgbClr val="3D424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機能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5243580" y="6629120"/>
            <a:ext cx="693723" cy="2096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10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三菱商事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361514" y="7111931"/>
            <a:ext cx="457658" cy="120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1000" spc="-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三綱領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362377" y="7316618"/>
            <a:ext cx="456129" cy="117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58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精神の根幹</a:t>
            </a:r>
            <a:endParaRPr lang="en-US" sz="580" dirty="0"/>
          </a:p>
        </p:txBody>
      </p:sp>
      <p:sp>
        <p:nvSpPr>
          <p:cNvPr id="33" name="Text 31"/>
          <p:cNvSpPr/>
          <p:nvPr/>
        </p:nvSpPr>
        <p:spPr>
          <a:xfrm>
            <a:off x="5220869" y="7672373"/>
            <a:ext cx="739145" cy="117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58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7つの営業グループ</a:t>
            </a:r>
            <a:endParaRPr lang="en-US" sz="580" dirty="0"/>
          </a:p>
        </p:txBody>
      </p:sp>
      <p:sp>
        <p:nvSpPr>
          <p:cNvPr id="34" name="Text 32"/>
          <p:cNvSpPr/>
          <p:nvPr/>
        </p:nvSpPr>
        <p:spPr>
          <a:xfrm>
            <a:off x="6885862" y="7165612"/>
            <a:ext cx="255004" cy="204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05"/>
              </a:lnSpc>
              <a:buNone/>
            </a:pPr>
            <a:r>
              <a:rPr lang="en-US" sz="700" spc="3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金属</a:t>
            </a:r>
            <a:endParaRPr lang="en-US" sz="700" dirty="0"/>
          </a:p>
          <a:p>
            <a:pPr algn="ctr" indent="0" marL="0">
              <a:lnSpc>
                <a:spcPts val="805"/>
              </a:lnSpc>
              <a:buNone/>
            </a:pPr>
            <a:r>
              <a:rPr lang="en-US" sz="700" spc="3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資源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6628604" y="7699563"/>
            <a:ext cx="769718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A8622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中核グループ</a:t>
            </a:r>
            <a:endParaRPr lang="en-US" sz="660" dirty="0"/>
          </a:p>
        </p:txBody>
      </p:sp>
      <p:sp>
        <p:nvSpPr>
          <p:cNvPr id="36" name="Text 34"/>
          <p:cNvSpPr/>
          <p:nvPr/>
        </p:nvSpPr>
        <p:spPr>
          <a:xfrm>
            <a:off x="3494820" y="9245130"/>
            <a:ext cx="4191243" cy="322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71"/>
              </a:lnSpc>
              <a:buNone/>
            </a:pPr>
            <a:r>
              <a:rPr lang="en-US" sz="82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産業・地域・機能をまたぐ「総合力」の中で、金属資源グループは長年三菱商</a:t>
            </a:r>
            <a:endParaRPr lang="en-US" sz="820" dirty="0"/>
          </a:p>
          <a:p>
            <a:pPr algn="ctr" indent="0" marL="0">
              <a:lnSpc>
                <a:spcPts val="1271"/>
              </a:lnSpc>
              <a:buNone/>
            </a:pPr>
            <a:r>
              <a:rPr lang="en-US" sz="82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事を支えてきた中核グループの一つ。</a:t>
            </a:r>
            <a:endParaRPr lang="en-US" sz="820" dirty="0"/>
          </a:p>
        </p:txBody>
      </p:sp>
      <p:sp>
        <p:nvSpPr>
          <p:cNvPr id="37" name="Text 35"/>
          <p:cNvSpPr/>
          <p:nvPr/>
        </p:nvSpPr>
        <p:spPr>
          <a:xfrm>
            <a:off x="8068024" y="2820632"/>
            <a:ext cx="353929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第1章</a:t>
            </a:r>
            <a:endParaRPr lang="en-US" sz="660" dirty="0"/>
          </a:p>
        </p:txBody>
      </p:sp>
      <p:sp>
        <p:nvSpPr>
          <p:cNvPr id="38" name="Text 36"/>
          <p:cNvSpPr/>
          <p:nvPr/>
        </p:nvSpPr>
        <p:spPr>
          <a:xfrm>
            <a:off x="8068024" y="2960393"/>
            <a:ext cx="1754597" cy="12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60" spc="60" kern="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我々は何者か｜金属資源グループとは</a:t>
            </a:r>
            <a:endParaRPr lang="en-US" sz="660" dirty="0"/>
          </a:p>
        </p:txBody>
      </p:sp>
      <p:sp>
        <p:nvSpPr>
          <p:cNvPr id="39" name="Text 37"/>
          <p:cNvSpPr/>
          <p:nvPr/>
        </p:nvSpPr>
        <p:spPr>
          <a:xfrm>
            <a:off x="8068024" y="3197224"/>
            <a:ext cx="3776328" cy="933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72"/>
              </a:lnSpc>
              <a:buNone/>
            </a:pPr>
            <a:r>
              <a:rPr lang="en-US" sz="3600" spc="-90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The core that has</a:t>
            </a:r>
            <a:endParaRPr lang="en-US" sz="3600" dirty="0"/>
          </a:p>
          <a:p>
            <a:pPr algn="l" indent="0" marL="0">
              <a:lnSpc>
                <a:spcPts val="3672"/>
              </a:lnSpc>
              <a:buNone/>
            </a:pPr>
            <a:r>
              <a:rPr lang="en-US" sz="3600" spc="-90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carried us.</a:t>
            </a:r>
            <a:endParaRPr lang="en-US" sz="3600" dirty="0"/>
          </a:p>
        </p:txBody>
      </p:sp>
      <p:sp>
        <p:nvSpPr>
          <p:cNvPr id="40" name="Text 38"/>
          <p:cNvSpPr/>
          <p:nvPr/>
        </p:nvSpPr>
        <p:spPr>
          <a:xfrm>
            <a:off x="8068024" y="4406443"/>
            <a:ext cx="2887535" cy="219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15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三綱領を体現する中核グループとして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8068024" y="4647881"/>
            <a:ext cx="7248516" cy="361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77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社会に不可欠な金属資源を世界から確保し、安定的に届けてきました。三綱領を事業で体現する中核グループとして、長年にわたり会社の屋台骨</a:t>
            </a:r>
            <a:endParaRPr lang="en-US" sz="77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77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を支えています。</a:t>
            </a:r>
            <a:endParaRPr lang="en-US" sz="770" dirty="0"/>
          </a:p>
        </p:txBody>
      </p:sp>
      <p:sp>
        <p:nvSpPr>
          <p:cNvPr id="42" name="Text 40"/>
          <p:cNvSpPr/>
          <p:nvPr/>
        </p:nvSpPr>
        <p:spPr>
          <a:xfrm>
            <a:off x="8271313" y="5278362"/>
            <a:ext cx="1136591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E9D6AC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グループミッション</a:t>
            </a:r>
            <a:endParaRPr lang="en-US" sz="660" dirty="0"/>
          </a:p>
        </p:txBody>
      </p:sp>
      <p:sp>
        <p:nvSpPr>
          <p:cNvPr id="43" name="Text 41"/>
          <p:cNvSpPr/>
          <p:nvPr/>
        </p:nvSpPr>
        <p:spPr>
          <a:xfrm>
            <a:off x="8271313" y="5481651"/>
            <a:ext cx="6799970" cy="381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3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社会が必要とする良質な金属資源を、持続可能な形で安定供給することで、より良い社会の実現に寄与す</a:t>
            </a:r>
            <a:endParaRPr lang="en-US" sz="10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000" spc="3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る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068024" y="6205867"/>
            <a:ext cx="290600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歩み</a:t>
            </a:r>
            <a:endParaRPr lang="en-US" sz="660" dirty="0"/>
          </a:p>
        </p:txBody>
      </p:sp>
      <p:sp>
        <p:nvSpPr>
          <p:cNvPr id="45" name="Text 43"/>
          <p:cNvSpPr/>
          <p:nvPr/>
        </p:nvSpPr>
        <p:spPr>
          <a:xfrm>
            <a:off x="8576246" y="6205867"/>
            <a:ext cx="3251569" cy="12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60" spc="60" kern="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先見性をもって先手を打ち、市況の波を越えて全社の利益を支えてきた</a:t>
            </a:r>
            <a:endParaRPr lang="en-US" sz="660" dirty="0"/>
          </a:p>
        </p:txBody>
      </p:sp>
      <p:sp>
        <p:nvSpPr>
          <p:cNvPr id="46" name="Text 44"/>
          <p:cNvSpPr/>
          <p:nvPr/>
        </p:nvSpPr>
        <p:spPr>
          <a:xfrm>
            <a:off x="8068024" y="7111296"/>
            <a:ext cx="470324" cy="121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60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事業の重心</a:t>
            </a:r>
            <a:endParaRPr lang="en-US" sz="600" dirty="0"/>
          </a:p>
        </p:txBody>
      </p:sp>
      <p:sp>
        <p:nvSpPr>
          <p:cNvPr id="47" name="Text 45"/>
          <p:cNvSpPr/>
          <p:nvPr/>
        </p:nvSpPr>
        <p:spPr>
          <a:xfrm>
            <a:off x="8068024" y="7286887"/>
            <a:ext cx="688700" cy="227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6"/>
              </a:lnSpc>
              <a:buNone/>
            </a:pPr>
            <a:r>
              <a:rPr lang="en-US" sz="560" dirty="0">
                <a:solidFill>
                  <a:srgbClr val="9C744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■</a:t>
            </a:r>
            <a:pPr algn="l" indent="0" marL="0">
              <a:lnSpc>
                <a:spcPts val="896"/>
              </a:lnSpc>
              <a:buNone/>
            </a:pPr>
            <a:r>
              <a:rPr lang="en-US" sz="5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資源投資</a:t>
            </a:r>
            <a:endParaRPr lang="en-US" sz="560" dirty="0"/>
          </a:p>
          <a:p>
            <a:pPr algn="l" indent="0" marL="0">
              <a:lnSpc>
                <a:spcPts val="896"/>
              </a:lnSpc>
              <a:buNone/>
            </a:pPr>
            <a:r>
              <a:rPr lang="en-US" sz="560" dirty="0">
                <a:solidFill>
                  <a:srgbClr val="1F3A5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■</a:t>
            </a:r>
            <a:pPr algn="l" indent="0" marL="0">
              <a:lnSpc>
                <a:spcPts val="896"/>
              </a:lnSpc>
              <a:buNone/>
            </a:pPr>
            <a:r>
              <a:rPr lang="en-US" sz="5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トレーディング</a:t>
            </a:r>
            <a:endParaRPr lang="en-US" sz="560" dirty="0"/>
          </a:p>
        </p:txBody>
      </p:sp>
      <p:sp>
        <p:nvSpPr>
          <p:cNvPr id="48" name="Text 46"/>
          <p:cNvSpPr/>
          <p:nvPr/>
        </p:nvSpPr>
        <p:spPr>
          <a:xfrm>
            <a:off x="8830357" y="7899993"/>
            <a:ext cx="1004691" cy="132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5"/>
              </a:lnSpc>
              <a:buNone/>
            </a:pPr>
            <a:r>
              <a:rPr lang="en-US" sz="1100" spc="-33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1980〜90年代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8830357" y="8427591"/>
            <a:ext cx="1323521" cy="15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80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日本の産業に、資源を。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8830357" y="8786396"/>
            <a:ext cx="1255606" cy="252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トレーディングで参入し、少数</a:t>
            </a:r>
            <a:endParaRPr lang="en-US" sz="620" dirty="0"/>
          </a:p>
          <a:p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出資から事業に関わる</a:t>
            </a:r>
            <a:endParaRPr lang="en-US" sz="620" dirty="0"/>
          </a:p>
        </p:txBody>
      </p:sp>
      <p:sp>
        <p:nvSpPr>
          <p:cNvPr id="51" name="Text 49"/>
          <p:cNvSpPr/>
          <p:nvPr/>
        </p:nvSpPr>
        <p:spPr>
          <a:xfrm>
            <a:off x="10050090" y="7899993"/>
            <a:ext cx="674069" cy="132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5"/>
              </a:lnSpc>
              <a:buNone/>
            </a:pPr>
            <a:r>
              <a:rPr lang="en-US" sz="1100" spc="-33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1990年代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10050090" y="8427591"/>
            <a:ext cx="1210839" cy="15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80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仲介から、担い手へ。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10050090" y="8786396"/>
            <a:ext cx="1271111" cy="252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投資モデルへ転換し、JV運営の</a:t>
            </a:r>
            <a:endParaRPr lang="en-US" sz="620" dirty="0"/>
          </a:p>
          <a:p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知見を蓄える</a:t>
            </a:r>
            <a:endParaRPr lang="en-US" sz="620" dirty="0"/>
          </a:p>
        </p:txBody>
      </p:sp>
      <p:sp>
        <p:nvSpPr>
          <p:cNvPr id="54" name="Text 52"/>
          <p:cNvSpPr/>
          <p:nvPr/>
        </p:nvSpPr>
        <p:spPr>
          <a:xfrm>
            <a:off x="11269822" y="7899993"/>
            <a:ext cx="711193" cy="132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5"/>
              </a:lnSpc>
              <a:buNone/>
            </a:pPr>
            <a:r>
              <a:rPr lang="en-US" sz="1100" spc="-33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2000年代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11269822" y="8427591"/>
            <a:ext cx="1323521" cy="15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80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一級資産に、早くから。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11269822" y="8786396"/>
            <a:ext cx="1263249" cy="252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BHPと原料炭の合弁を組成し、</a:t>
            </a:r>
            <a:endParaRPr lang="en-US" sz="620" dirty="0"/>
          </a:p>
          <a:p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事業経営に参画</a:t>
            </a:r>
            <a:endParaRPr lang="en-US" sz="620" dirty="0"/>
          </a:p>
        </p:txBody>
      </p:sp>
      <p:sp>
        <p:nvSpPr>
          <p:cNvPr id="57" name="Text 55"/>
          <p:cNvSpPr/>
          <p:nvPr/>
        </p:nvSpPr>
        <p:spPr>
          <a:xfrm>
            <a:off x="12489555" y="7899993"/>
            <a:ext cx="673414" cy="132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5"/>
              </a:lnSpc>
              <a:buNone/>
            </a:pPr>
            <a:r>
              <a:rPr lang="en-US" sz="1100" spc="-33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2010年代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12489555" y="8427591"/>
            <a:ext cx="1320246" cy="15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80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次の柱を、先回りして。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12489555" y="8786396"/>
            <a:ext cx="1169129" cy="252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銅へ領域を広げ、販売機能を</a:t>
            </a:r>
            <a:endParaRPr lang="en-US" sz="620" dirty="0"/>
          </a:p>
          <a:p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RtMに集約</a:t>
            </a:r>
            <a:endParaRPr lang="en-US" sz="620" dirty="0"/>
          </a:p>
        </p:txBody>
      </p:sp>
      <p:sp>
        <p:nvSpPr>
          <p:cNvPr id="60" name="Text 58"/>
          <p:cNvSpPr/>
          <p:nvPr/>
        </p:nvSpPr>
        <p:spPr>
          <a:xfrm>
            <a:off x="13709288" y="7899993"/>
            <a:ext cx="853138" cy="132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5"/>
              </a:lnSpc>
              <a:buNone/>
            </a:pPr>
            <a:r>
              <a:rPr lang="en-US" sz="1100" spc="-33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2020年代〜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13709288" y="8427591"/>
            <a:ext cx="1327015" cy="315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80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投資と販売を、一つの力</a:t>
            </a:r>
            <a:endParaRPr lang="en-US" sz="800" dirty="0"/>
          </a:p>
          <a:p>
            <a:pPr algn="l" indent="0" marL="0">
              <a:lnSpc>
                <a:spcPts val="1240"/>
              </a:lnSpc>
              <a:buNone/>
            </a:pPr>
            <a:r>
              <a:rPr lang="en-US" sz="80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に。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13709288" y="8786396"/>
            <a:ext cx="1253859" cy="252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両輪を一体で動かす、グローバ</a:t>
            </a:r>
            <a:endParaRPr lang="en-US" sz="620" dirty="0"/>
          </a:p>
          <a:p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ルな事業者へ</a:t>
            </a:r>
            <a:endParaRPr lang="en-US" sz="620" dirty="0"/>
          </a:p>
        </p:txBody>
      </p:sp>
      <p:sp>
        <p:nvSpPr>
          <p:cNvPr id="63" name="Text 61"/>
          <p:cNvSpPr/>
          <p:nvPr/>
        </p:nvSpPr>
        <p:spPr>
          <a:xfrm>
            <a:off x="8068024" y="9681629"/>
            <a:ext cx="525791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事業領域</a:t>
            </a:r>
            <a:endParaRPr lang="en-US" sz="660" dirty="0"/>
          </a:p>
        </p:txBody>
      </p:sp>
      <p:sp>
        <p:nvSpPr>
          <p:cNvPr id="64" name="Text 62"/>
          <p:cNvSpPr/>
          <p:nvPr/>
        </p:nvSpPr>
        <p:spPr>
          <a:xfrm>
            <a:off x="8881179" y="9647768"/>
            <a:ext cx="5189661" cy="169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33"/>
              </a:lnSpc>
              <a:buNone/>
            </a:pPr>
            <a:r>
              <a:rPr lang="en-US" sz="860" spc="60" kern="0" dirty="0">
                <a:solidFill>
                  <a:srgbClr val="A8622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原料炭　銅</a:t>
            </a:r>
            <a:pPr algn="l" indent="0" marL="0">
              <a:lnSpc>
                <a:spcPts val="1333"/>
              </a:lnSpc>
              <a:buNone/>
            </a:pPr>
            <a:r>
              <a:rPr lang="en-US" sz="860" spc="6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　鉄鉱石　ニッケル　リチウム　アルミ・ボーキサイト　肥料資源　二次資源</a:t>
            </a:r>
            <a:endParaRPr lang="en-US" sz="860" dirty="0"/>
          </a:p>
        </p:txBody>
      </p:sp>
      <p:sp>
        <p:nvSpPr>
          <p:cNvPr id="65" name="Text 63"/>
          <p:cNvSpPr/>
          <p:nvPr/>
        </p:nvSpPr>
        <p:spPr>
          <a:xfrm>
            <a:off x="508222" y="10316906"/>
            <a:ext cx="204778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spc="16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04</a:t>
            </a:r>
            <a:endParaRPr lang="en-US" sz="600" dirty="0"/>
          </a:p>
        </p:txBody>
      </p:sp>
      <p:sp>
        <p:nvSpPr>
          <p:cNvPr id="66" name="Text 64"/>
          <p:cNvSpPr/>
          <p:nvPr/>
        </p:nvSpPr>
        <p:spPr>
          <a:xfrm>
            <a:off x="14458915" y="10316906"/>
            <a:ext cx="200410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spc="16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05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92831" y="4466001"/>
            <a:ext cx="4588034" cy="3049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0"/>
              </a:lnSpc>
              <a:buNone/>
            </a:pPr>
            <a:r>
              <a:rPr lang="en-US" sz="30000" spc="-1200" kern="0" dirty="0">
                <a:solidFill>
                  <a:srgbClr val="000000">
                    <a:alpha val="0"/>
                  </a:srgbClr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02</a:t>
            </a:r>
            <a:endParaRPr lang="en-US" sz="30000" dirty="0"/>
          </a:p>
        </p:txBody>
      </p:sp>
      <p:sp>
        <p:nvSpPr>
          <p:cNvPr id="3" name="Text 1"/>
          <p:cNvSpPr/>
          <p:nvPr/>
        </p:nvSpPr>
        <p:spPr>
          <a:xfrm>
            <a:off x="9910329" y="4466001"/>
            <a:ext cx="4588034" cy="3049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0"/>
              </a:lnSpc>
              <a:buNone/>
            </a:pPr>
            <a:r>
              <a:rPr lang="en-US" sz="30000" spc="-1200" kern="0" dirty="0">
                <a:solidFill>
                  <a:srgbClr val="000000">
                    <a:alpha val="0"/>
                  </a:srgbClr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02</a:t>
            </a:r>
            <a:endParaRPr lang="en-US" sz="30000" dirty="0"/>
          </a:p>
        </p:txBody>
      </p:sp>
      <p:sp>
        <p:nvSpPr>
          <p:cNvPr id="4" name="Text 2"/>
          <p:cNvSpPr/>
          <p:nvPr/>
        </p:nvSpPr>
        <p:spPr>
          <a:xfrm>
            <a:off x="127055" y="3938720"/>
            <a:ext cx="418350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14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01 川上</a:t>
            </a:r>
            <a:endParaRPr lang="en-US" sz="580" dirty="0"/>
          </a:p>
        </p:txBody>
      </p:sp>
      <p:sp>
        <p:nvSpPr>
          <p:cNvPr id="5" name="Text 3"/>
          <p:cNvSpPr/>
          <p:nvPr/>
        </p:nvSpPr>
        <p:spPr>
          <a:xfrm>
            <a:off x="127055" y="4053070"/>
            <a:ext cx="696344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80" kern="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鉱山・資源開発</a:t>
            </a:r>
            <a:endParaRPr lang="en-US" sz="580" dirty="0"/>
          </a:p>
        </p:txBody>
      </p:sp>
      <p:sp>
        <p:nvSpPr>
          <p:cNvPr id="6" name="Text 4"/>
          <p:cNvSpPr/>
          <p:nvPr/>
        </p:nvSpPr>
        <p:spPr>
          <a:xfrm>
            <a:off x="3150976" y="3938720"/>
            <a:ext cx="635853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14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02 中間流通</a:t>
            </a:r>
            <a:endParaRPr lang="en-US" sz="580" dirty="0"/>
          </a:p>
        </p:txBody>
      </p:sp>
      <p:sp>
        <p:nvSpPr>
          <p:cNvPr id="7" name="Text 5"/>
          <p:cNvSpPr/>
          <p:nvPr/>
        </p:nvSpPr>
        <p:spPr>
          <a:xfrm>
            <a:off x="3150976" y="4053070"/>
            <a:ext cx="707699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80" kern="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トレーディング</a:t>
            </a:r>
            <a:endParaRPr lang="en-US" sz="580" dirty="0"/>
          </a:p>
        </p:txBody>
      </p:sp>
      <p:sp>
        <p:nvSpPr>
          <p:cNvPr id="8" name="Text 6"/>
          <p:cNvSpPr/>
          <p:nvPr/>
        </p:nvSpPr>
        <p:spPr>
          <a:xfrm>
            <a:off x="6174897" y="3938720"/>
            <a:ext cx="435383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14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03 川中</a:t>
            </a:r>
            <a:endParaRPr lang="en-US" sz="580" dirty="0"/>
          </a:p>
        </p:txBody>
      </p:sp>
      <p:sp>
        <p:nvSpPr>
          <p:cNvPr id="9" name="Text 7"/>
          <p:cNvSpPr/>
          <p:nvPr/>
        </p:nvSpPr>
        <p:spPr>
          <a:xfrm>
            <a:off x="6174897" y="4053070"/>
            <a:ext cx="511815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80" kern="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製錬・製鉄</a:t>
            </a:r>
            <a:endParaRPr lang="en-US" sz="580" dirty="0"/>
          </a:p>
        </p:txBody>
      </p:sp>
      <p:sp>
        <p:nvSpPr>
          <p:cNvPr id="10" name="Text 8"/>
          <p:cNvSpPr/>
          <p:nvPr/>
        </p:nvSpPr>
        <p:spPr>
          <a:xfrm>
            <a:off x="9198818" y="3938720"/>
            <a:ext cx="639129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14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04 中間流通</a:t>
            </a:r>
            <a:endParaRPr lang="en-US" sz="580" dirty="0"/>
          </a:p>
        </p:txBody>
      </p:sp>
      <p:sp>
        <p:nvSpPr>
          <p:cNvPr id="11" name="Text 9"/>
          <p:cNvSpPr/>
          <p:nvPr/>
        </p:nvSpPr>
        <p:spPr>
          <a:xfrm>
            <a:off x="9198818" y="4053070"/>
            <a:ext cx="707699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80" kern="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トレーディング</a:t>
            </a:r>
            <a:endParaRPr lang="en-US" sz="580" dirty="0"/>
          </a:p>
        </p:txBody>
      </p:sp>
      <p:sp>
        <p:nvSpPr>
          <p:cNvPr id="12" name="Text 10"/>
          <p:cNvSpPr/>
          <p:nvPr/>
        </p:nvSpPr>
        <p:spPr>
          <a:xfrm>
            <a:off x="12222739" y="3938720"/>
            <a:ext cx="433636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14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05 川下</a:t>
            </a:r>
            <a:endParaRPr lang="en-US" sz="580" dirty="0"/>
          </a:p>
        </p:txBody>
      </p:sp>
      <p:sp>
        <p:nvSpPr>
          <p:cNvPr id="13" name="Text 11"/>
          <p:cNvSpPr/>
          <p:nvPr/>
        </p:nvSpPr>
        <p:spPr>
          <a:xfrm>
            <a:off x="12222739" y="4053070"/>
            <a:ext cx="788498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80" kern="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需要家・最終製品</a:t>
            </a:r>
            <a:endParaRPr lang="en-US" sz="580" dirty="0"/>
          </a:p>
        </p:txBody>
      </p:sp>
      <p:sp>
        <p:nvSpPr>
          <p:cNvPr id="14" name="Text 12"/>
          <p:cNvSpPr/>
          <p:nvPr/>
        </p:nvSpPr>
        <p:spPr>
          <a:xfrm>
            <a:off x="127055" y="4281770"/>
            <a:ext cx="464209" cy="139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4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資源投資</a:t>
            </a:r>
            <a:endParaRPr lang="en-US" sz="740" dirty="0"/>
          </a:p>
        </p:txBody>
      </p:sp>
      <p:sp>
        <p:nvSpPr>
          <p:cNvPr id="15" name="Text 13"/>
          <p:cNvSpPr/>
          <p:nvPr/>
        </p:nvSpPr>
        <p:spPr>
          <a:xfrm>
            <a:off x="3150976" y="4281770"/>
            <a:ext cx="766661" cy="139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4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トレーディング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174897" y="4281770"/>
            <a:ext cx="464209" cy="139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4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資源投資</a:t>
            </a:r>
            <a:endParaRPr lang="en-US" sz="740" dirty="0"/>
          </a:p>
        </p:txBody>
      </p:sp>
      <p:sp>
        <p:nvSpPr>
          <p:cNvPr id="17" name="Text 15"/>
          <p:cNvSpPr/>
          <p:nvPr/>
        </p:nvSpPr>
        <p:spPr>
          <a:xfrm>
            <a:off x="9198818" y="4281770"/>
            <a:ext cx="766661" cy="139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4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トレーディング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12222739" y="4281770"/>
            <a:ext cx="360917" cy="139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4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需要家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08222" y="4726464"/>
            <a:ext cx="372273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第2章</a:t>
            </a:r>
            <a:endParaRPr lang="en-US" sz="660" dirty="0"/>
          </a:p>
        </p:txBody>
      </p:sp>
      <p:sp>
        <p:nvSpPr>
          <p:cNvPr id="20" name="Text 18"/>
          <p:cNvSpPr/>
          <p:nvPr/>
        </p:nvSpPr>
        <p:spPr>
          <a:xfrm>
            <a:off x="508222" y="4866225"/>
            <a:ext cx="1854176" cy="12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60" spc="60" kern="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独自価値｜投資とトレーディングの両輪</a:t>
            </a:r>
            <a:endParaRPr lang="en-US" sz="660" dirty="0"/>
          </a:p>
        </p:txBody>
      </p:sp>
      <p:sp>
        <p:nvSpPr>
          <p:cNvPr id="21" name="Text 19"/>
          <p:cNvSpPr/>
          <p:nvPr/>
        </p:nvSpPr>
        <p:spPr>
          <a:xfrm>
            <a:off x="508222" y="5102040"/>
            <a:ext cx="3350493" cy="1140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88"/>
              </a:lnSpc>
              <a:buNone/>
            </a:pPr>
            <a:r>
              <a:rPr lang="en-US" sz="4400" spc="-110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Two wheels,</a:t>
            </a:r>
            <a:endParaRPr lang="en-US" sz="4400" dirty="0"/>
          </a:p>
          <a:p>
            <a:pPr algn="l" indent="0" marL="0">
              <a:lnSpc>
                <a:spcPts val="4488"/>
              </a:lnSpc>
              <a:buNone/>
            </a:pPr>
            <a:r>
              <a:rPr lang="en-US" sz="4400" spc="-110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one flow.</a:t>
            </a:r>
            <a:endParaRPr lang="en-US" sz="4400" dirty="0"/>
          </a:p>
        </p:txBody>
      </p:sp>
      <p:sp>
        <p:nvSpPr>
          <p:cNvPr id="22" name="Text 20"/>
          <p:cNvSpPr/>
          <p:nvPr/>
        </p:nvSpPr>
        <p:spPr>
          <a:xfrm>
            <a:off x="508222" y="6519535"/>
            <a:ext cx="3721297" cy="219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15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資源の流れ全体に関わり、互いを強め合ってきた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068024" y="4820200"/>
            <a:ext cx="3544848" cy="72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77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投資とトレーディングの両輪で、資源の流れ全体に関わる。互いを強</a:t>
            </a:r>
            <a:endParaRPr lang="en-US" sz="77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77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め合いながら、長い時間をかけて積み重ねてきたこと。それが、鉱山</a:t>
            </a:r>
            <a:endParaRPr lang="en-US" sz="77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77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会社でも純粋なトレーダーでもない、金属資源グループならではの強</a:t>
            </a:r>
            <a:endParaRPr lang="en-US" sz="77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77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さです。</a:t>
            </a:r>
            <a:endParaRPr lang="en-US" sz="770" dirty="0"/>
          </a:p>
        </p:txBody>
      </p:sp>
      <p:sp>
        <p:nvSpPr>
          <p:cNvPr id="24" name="Text 22"/>
          <p:cNvSpPr/>
          <p:nvPr/>
        </p:nvSpPr>
        <p:spPr>
          <a:xfrm>
            <a:off x="12845102" y="4597821"/>
            <a:ext cx="610085" cy="181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25"/>
              </a:lnSpc>
              <a:buNone/>
            </a:pPr>
            <a:r>
              <a:rPr lang="en-US" sz="950" spc="5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資源投資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2640255" y="6986464"/>
            <a:ext cx="1019978" cy="181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25"/>
              </a:lnSpc>
              <a:buNone/>
            </a:pPr>
            <a:r>
              <a:rPr lang="en-US" sz="950" spc="50" kern="0" dirty="0">
                <a:solidFill>
                  <a:srgbClr val="1F3A56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トレーディング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2876112" y="5681858"/>
            <a:ext cx="548066" cy="295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61"/>
              </a:lnSpc>
              <a:buNone/>
            </a:pPr>
            <a:r>
              <a:rPr lang="en-US" sz="86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互いを</a:t>
            </a:r>
            <a:endParaRPr lang="en-US" sz="860" dirty="0"/>
          </a:p>
          <a:p>
            <a:pPr algn="ctr" indent="0" marL="0">
              <a:lnSpc>
                <a:spcPts val="1161"/>
              </a:lnSpc>
              <a:buNone/>
            </a:pPr>
            <a:r>
              <a:rPr lang="en-US" sz="86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強め合う</a:t>
            </a:r>
            <a:endParaRPr lang="en-US" sz="860" dirty="0"/>
          </a:p>
        </p:txBody>
      </p:sp>
      <p:sp>
        <p:nvSpPr>
          <p:cNvPr id="27" name="Text 25"/>
          <p:cNvSpPr/>
          <p:nvPr/>
        </p:nvSpPr>
        <p:spPr>
          <a:xfrm>
            <a:off x="14014221" y="5105852"/>
            <a:ext cx="456129" cy="235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580" dirty="0">
                <a:solidFill>
                  <a:srgbClr val="A862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新技術が</a:t>
            </a:r>
            <a:endParaRPr lang="en-US" sz="580" dirty="0"/>
          </a:p>
          <a:p>
            <a:pPr algn="l" indent="0" marL="0">
              <a:lnSpc>
                <a:spcPts val="928"/>
              </a:lnSpc>
              <a:buNone/>
            </a:pPr>
            <a:r>
              <a:rPr lang="en-US" sz="580" dirty="0">
                <a:solidFill>
                  <a:srgbClr val="A862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流れを進化</a:t>
            </a:r>
            <a:endParaRPr lang="en-US" sz="580" dirty="0"/>
          </a:p>
        </p:txBody>
      </p:sp>
      <p:sp>
        <p:nvSpPr>
          <p:cNvPr id="28" name="Text 26"/>
          <p:cNvSpPr/>
          <p:nvPr/>
        </p:nvSpPr>
        <p:spPr>
          <a:xfrm>
            <a:off x="11462312" y="5382579"/>
            <a:ext cx="798544" cy="272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72"/>
              </a:lnSpc>
              <a:buNone/>
            </a:pPr>
            <a:r>
              <a:rPr lang="en-US" sz="670" dirty="0">
                <a:solidFill>
                  <a:srgbClr val="9C744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投資で得た資源を</a:t>
            </a:r>
            <a:endParaRPr lang="en-US" sz="670" dirty="0"/>
          </a:p>
          <a:p>
            <a:pPr algn="r" indent="0" marL="0">
              <a:lnSpc>
                <a:spcPts val="1072"/>
              </a:lnSpc>
              <a:buNone/>
            </a:pPr>
            <a:r>
              <a:rPr lang="en-US" sz="670" dirty="0">
                <a:solidFill>
                  <a:srgbClr val="9C744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市場へ届ける</a:t>
            </a:r>
            <a:endParaRPr lang="en-US" sz="670" dirty="0"/>
          </a:p>
        </p:txBody>
      </p:sp>
      <p:sp>
        <p:nvSpPr>
          <p:cNvPr id="29" name="Text 27"/>
          <p:cNvSpPr/>
          <p:nvPr/>
        </p:nvSpPr>
        <p:spPr>
          <a:xfrm>
            <a:off x="14090454" y="6221145"/>
            <a:ext cx="611613" cy="272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72"/>
              </a:lnSpc>
              <a:buNone/>
            </a:pPr>
            <a:r>
              <a:rPr lang="en-US" sz="670" dirty="0">
                <a:solidFill>
                  <a:srgbClr val="1F3A5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市場の情報を</a:t>
            </a:r>
            <a:endParaRPr lang="en-US" sz="670" dirty="0"/>
          </a:p>
          <a:p>
            <a:pPr algn="l" indent="0" marL="0">
              <a:lnSpc>
                <a:spcPts val="1072"/>
              </a:lnSpc>
              <a:buNone/>
            </a:pPr>
            <a:r>
              <a:rPr lang="en-US" sz="670" dirty="0">
                <a:solidFill>
                  <a:srgbClr val="1F3A5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投資判断へ</a:t>
            </a:r>
            <a:endParaRPr lang="en-US" sz="670" dirty="0"/>
          </a:p>
        </p:txBody>
      </p:sp>
      <p:sp>
        <p:nvSpPr>
          <p:cNvPr id="30" name="Text 28"/>
          <p:cNvSpPr/>
          <p:nvPr/>
        </p:nvSpPr>
        <p:spPr>
          <a:xfrm>
            <a:off x="508222" y="7439099"/>
            <a:ext cx="1448651" cy="228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持つ力・つなぐ力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8222" y="7719384"/>
            <a:ext cx="1279191" cy="138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8"/>
              </a:lnSpc>
              <a:buNone/>
            </a:pPr>
            <a:r>
              <a:rPr lang="en-US" sz="680" dirty="0">
                <a:solidFill>
                  <a:srgbClr val="9C744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投資とトレーディングの両輪</a:t>
            </a:r>
            <a:endParaRPr lang="en-US" sz="680" dirty="0"/>
          </a:p>
        </p:txBody>
      </p:sp>
      <p:sp>
        <p:nvSpPr>
          <p:cNvPr id="32" name="Text 30"/>
          <p:cNvSpPr/>
          <p:nvPr/>
        </p:nvSpPr>
        <p:spPr>
          <a:xfrm>
            <a:off x="508222" y="8532031"/>
            <a:ext cx="2827699" cy="164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72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資源に投資して育てる力と、市場へ届ける力の両方を持つ。</a:t>
            </a:r>
            <a:endParaRPr lang="en-US" sz="720" dirty="0"/>
          </a:p>
        </p:txBody>
      </p:sp>
      <p:sp>
        <p:nvSpPr>
          <p:cNvPr id="33" name="Text 31"/>
          <p:cNvSpPr/>
          <p:nvPr/>
        </p:nvSpPr>
        <p:spPr>
          <a:xfrm>
            <a:off x="3455909" y="7439099"/>
            <a:ext cx="1273950" cy="228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互いを強め合う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455909" y="7719384"/>
            <a:ext cx="1000761" cy="138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8"/>
              </a:lnSpc>
              <a:buNone/>
            </a:pPr>
            <a:r>
              <a:rPr lang="en-US" sz="680" dirty="0">
                <a:solidFill>
                  <a:srgbClr val="1F3A5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一方通行ではない循環</a:t>
            </a:r>
            <a:endParaRPr lang="en-US" sz="680" dirty="0"/>
          </a:p>
        </p:txBody>
      </p:sp>
      <p:sp>
        <p:nvSpPr>
          <p:cNvPr id="35" name="Text 33"/>
          <p:cNvSpPr/>
          <p:nvPr/>
        </p:nvSpPr>
        <p:spPr>
          <a:xfrm>
            <a:off x="3455909" y="8532031"/>
            <a:ext cx="2846043" cy="329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72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市場の情報を投資判断に生かし、投資の資源を市場へ届け</a:t>
            </a:r>
            <a:endParaRPr lang="en-US" sz="720" dirty="0"/>
          </a:p>
          <a:p>
            <a:pPr algn="l" indent="0" marL="0">
              <a:lnSpc>
                <a:spcPts val="1296"/>
              </a:lnSpc>
              <a:buNone/>
            </a:pPr>
            <a:r>
              <a:rPr lang="en-US" sz="72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る。</a:t>
            </a:r>
            <a:endParaRPr lang="en-US" sz="720" dirty="0"/>
          </a:p>
        </p:txBody>
      </p:sp>
      <p:sp>
        <p:nvSpPr>
          <p:cNvPr id="36" name="Text 34"/>
          <p:cNvSpPr/>
          <p:nvPr/>
        </p:nvSpPr>
        <p:spPr>
          <a:xfrm>
            <a:off x="6403597" y="7439099"/>
            <a:ext cx="1798054" cy="228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流れ全体を進化させる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403597" y="7719384"/>
            <a:ext cx="715779" cy="138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8"/>
              </a:lnSpc>
              <a:buNone/>
            </a:pPr>
            <a:r>
              <a:rPr lang="en-US" sz="680" dirty="0">
                <a:solidFill>
                  <a:srgbClr val="A862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新技術への投資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6403597" y="8532031"/>
            <a:ext cx="2735326" cy="164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72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業界の課題に挑む技術に投資し、知見を両輪に還元する。</a:t>
            </a:r>
            <a:endParaRPr lang="en-US" sz="720" dirty="0"/>
          </a:p>
        </p:txBody>
      </p:sp>
      <p:sp>
        <p:nvSpPr>
          <p:cNvPr id="39" name="Text 37"/>
          <p:cNvSpPr/>
          <p:nvPr/>
        </p:nvSpPr>
        <p:spPr>
          <a:xfrm>
            <a:off x="9351284" y="7439099"/>
            <a:ext cx="1448651" cy="228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長い時間をかけて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351284" y="7719384"/>
            <a:ext cx="905767" cy="138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8"/>
              </a:lnSpc>
              <a:buNone/>
            </a:pPr>
            <a:r>
              <a:rPr lang="en-US" sz="680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積み重ねが先見性に</a:t>
            </a:r>
            <a:endParaRPr lang="en-US" sz="680" dirty="0"/>
          </a:p>
        </p:txBody>
      </p:sp>
      <p:sp>
        <p:nvSpPr>
          <p:cNvPr id="41" name="Text 39"/>
          <p:cNvSpPr/>
          <p:nvPr/>
        </p:nvSpPr>
        <p:spPr>
          <a:xfrm>
            <a:off x="9351284" y="8532031"/>
            <a:ext cx="2725281" cy="164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72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市況の浮き沈みに左右されず、流れに関わり続けてきた。</a:t>
            </a:r>
            <a:endParaRPr lang="en-US" sz="720" dirty="0"/>
          </a:p>
        </p:txBody>
      </p:sp>
      <p:sp>
        <p:nvSpPr>
          <p:cNvPr id="42" name="Text 40"/>
          <p:cNvSpPr/>
          <p:nvPr/>
        </p:nvSpPr>
        <p:spPr>
          <a:xfrm>
            <a:off x="12298972" y="7439099"/>
            <a:ext cx="1967732" cy="228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その結果としての、いま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2298972" y="7719384"/>
            <a:ext cx="1279191" cy="138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8"/>
              </a:lnSpc>
              <a:buNone/>
            </a:pPr>
            <a:r>
              <a:rPr lang="en-US" sz="680" dirty="0">
                <a:solidFill>
                  <a:srgbClr val="C8102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原料炭・銅・トレーディング</a:t>
            </a:r>
            <a:endParaRPr lang="en-US" sz="680" dirty="0"/>
          </a:p>
        </p:txBody>
      </p:sp>
      <p:sp>
        <p:nvSpPr>
          <p:cNvPr id="44" name="Text 42"/>
          <p:cNvSpPr/>
          <p:nvPr/>
        </p:nvSpPr>
        <p:spPr>
          <a:xfrm>
            <a:off x="12298972" y="8532031"/>
            <a:ext cx="2846043" cy="329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72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強みがあることの「結果」として、いまの主力事業がある。</a:t>
            </a:r>
            <a:endParaRPr lang="en-US" sz="720" dirty="0"/>
          </a:p>
          <a:p>
            <a:pPr algn="l" indent="0" marL="0">
              <a:lnSpc>
                <a:spcPts val="1296"/>
              </a:lnSpc>
              <a:buNone/>
            </a:pPr>
            <a:r>
              <a:rPr lang="en-US" sz="72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 P.08</a:t>
            </a:r>
            <a:endParaRPr lang="en-US" sz="720" dirty="0"/>
          </a:p>
        </p:txBody>
      </p:sp>
      <p:sp>
        <p:nvSpPr>
          <p:cNvPr id="45" name="Text 43"/>
          <p:cNvSpPr/>
          <p:nvPr/>
        </p:nvSpPr>
        <p:spPr>
          <a:xfrm>
            <a:off x="579492" y="8182374"/>
            <a:ext cx="145598" cy="152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90" dirty="0">
                <a:solidFill>
                  <a:srgbClr val="FFFFFF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A</a:t>
            </a:r>
            <a:endParaRPr lang="en-US" sz="990" dirty="0"/>
          </a:p>
        </p:txBody>
      </p:sp>
      <p:sp>
        <p:nvSpPr>
          <p:cNvPr id="46" name="Text 44"/>
          <p:cNvSpPr/>
          <p:nvPr/>
        </p:nvSpPr>
        <p:spPr>
          <a:xfrm>
            <a:off x="3531349" y="8182374"/>
            <a:ext cx="136426" cy="152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90" dirty="0">
                <a:solidFill>
                  <a:srgbClr val="FFFFFF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B</a:t>
            </a:r>
            <a:endParaRPr lang="en-US" sz="990" dirty="0"/>
          </a:p>
        </p:txBody>
      </p:sp>
      <p:sp>
        <p:nvSpPr>
          <p:cNvPr id="47" name="Text 45"/>
          <p:cNvSpPr/>
          <p:nvPr/>
        </p:nvSpPr>
        <p:spPr>
          <a:xfrm>
            <a:off x="6473478" y="8182374"/>
            <a:ext cx="148437" cy="152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90" dirty="0">
                <a:solidFill>
                  <a:srgbClr val="FFFFFF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C</a:t>
            </a:r>
            <a:endParaRPr lang="en-US" sz="990" dirty="0"/>
          </a:p>
        </p:txBody>
      </p:sp>
      <p:sp>
        <p:nvSpPr>
          <p:cNvPr id="48" name="Text 46"/>
          <p:cNvSpPr/>
          <p:nvPr/>
        </p:nvSpPr>
        <p:spPr>
          <a:xfrm>
            <a:off x="9422555" y="8182374"/>
            <a:ext cx="145598" cy="152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90" dirty="0">
                <a:solidFill>
                  <a:srgbClr val="FFFFFF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D</a:t>
            </a:r>
            <a:endParaRPr lang="en-US" sz="990" dirty="0"/>
          </a:p>
        </p:txBody>
      </p:sp>
      <p:sp>
        <p:nvSpPr>
          <p:cNvPr id="49" name="Text 47"/>
          <p:cNvSpPr/>
          <p:nvPr/>
        </p:nvSpPr>
        <p:spPr>
          <a:xfrm>
            <a:off x="12377389" y="8182374"/>
            <a:ext cx="129656" cy="152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90" dirty="0">
                <a:solidFill>
                  <a:srgbClr val="FFFFFF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E</a:t>
            </a:r>
            <a:endParaRPr lang="en-US" sz="990" dirty="0"/>
          </a:p>
        </p:txBody>
      </p:sp>
      <p:sp>
        <p:nvSpPr>
          <p:cNvPr id="50" name="Text 48"/>
          <p:cNvSpPr/>
          <p:nvPr/>
        </p:nvSpPr>
        <p:spPr>
          <a:xfrm>
            <a:off x="508222" y="9443400"/>
            <a:ext cx="5143802" cy="40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000" spc="-60" kern="0" dirty="0">
                <a:solidFill>
                  <a:srgbClr val="3D4249"/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Not a miner. Not just a trader.</a:t>
            </a:r>
            <a:endParaRPr lang="en-US" sz="3000" dirty="0"/>
          </a:p>
        </p:txBody>
      </p:sp>
      <p:sp>
        <p:nvSpPr>
          <p:cNvPr id="51" name="Text 49"/>
          <p:cNvSpPr/>
          <p:nvPr/>
        </p:nvSpPr>
        <p:spPr>
          <a:xfrm>
            <a:off x="10803171" y="9551397"/>
            <a:ext cx="3808211" cy="24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950"/>
              </a:lnSpc>
              <a:buNone/>
            </a:pPr>
            <a:r>
              <a:rPr lang="en-US" sz="130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鉱山会社でも、純粋なトレーダーでもない。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08222" y="10316906"/>
            <a:ext cx="202594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spc="16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06</a:t>
            </a:r>
            <a:endParaRPr lang="en-US" sz="600" dirty="0"/>
          </a:p>
        </p:txBody>
      </p:sp>
      <p:sp>
        <p:nvSpPr>
          <p:cNvPr id="53" name="Text 51"/>
          <p:cNvSpPr/>
          <p:nvPr/>
        </p:nvSpPr>
        <p:spPr>
          <a:xfrm>
            <a:off x="14458915" y="10316906"/>
            <a:ext cx="196043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spc="16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07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92831" y="2661813"/>
            <a:ext cx="3983130" cy="2642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800"/>
              </a:lnSpc>
              <a:buNone/>
            </a:pPr>
            <a:r>
              <a:rPr lang="en-US" sz="26000" spc="-1040" kern="0" dirty="0">
                <a:solidFill>
                  <a:srgbClr val="000000">
                    <a:alpha val="0"/>
                  </a:srgbClr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02</a:t>
            </a:r>
            <a:endParaRPr lang="en-US" sz="26000" dirty="0"/>
          </a:p>
        </p:txBody>
      </p:sp>
      <p:sp>
        <p:nvSpPr>
          <p:cNvPr id="3" name="Text 1"/>
          <p:cNvSpPr/>
          <p:nvPr/>
        </p:nvSpPr>
        <p:spPr>
          <a:xfrm>
            <a:off x="11816161" y="2661813"/>
            <a:ext cx="3983130" cy="2642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800"/>
              </a:lnSpc>
              <a:buNone/>
            </a:pPr>
            <a:r>
              <a:rPr lang="en-US" sz="26000" spc="-1040" kern="0" dirty="0">
                <a:solidFill>
                  <a:srgbClr val="000000">
                    <a:alpha val="0"/>
                  </a:srgbClr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02</a:t>
            </a:r>
            <a:endParaRPr lang="en-US" sz="26000" dirty="0"/>
          </a:p>
        </p:txBody>
      </p:sp>
      <p:sp>
        <p:nvSpPr>
          <p:cNvPr id="4" name="Text 2"/>
          <p:cNvSpPr/>
          <p:nvPr/>
        </p:nvSpPr>
        <p:spPr>
          <a:xfrm>
            <a:off x="508222" y="304933"/>
            <a:ext cx="1354094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E9D6AC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PILLAR 1　原料炭事業</a:t>
            </a:r>
            <a:endParaRPr lang="en-US" sz="660" dirty="0"/>
          </a:p>
        </p:txBody>
      </p:sp>
      <p:sp>
        <p:nvSpPr>
          <p:cNvPr id="5" name="Text 3"/>
          <p:cNvSpPr/>
          <p:nvPr/>
        </p:nvSpPr>
        <p:spPr>
          <a:xfrm>
            <a:off x="508222" y="1772424"/>
            <a:ext cx="1677946" cy="482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4000" spc="-120" kern="0" dirty="0">
                <a:solidFill>
                  <a:srgbClr val="FFFFFF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約50%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08222" y="2309424"/>
            <a:ext cx="1233332" cy="291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7"/>
              </a:lnSpc>
              <a:buNone/>
            </a:pPr>
            <a:r>
              <a:rPr lang="en-US" sz="740" spc="3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BMAが一級強粘炭の</a:t>
            </a:r>
            <a:endParaRPr lang="en-US" sz="740" dirty="0"/>
          </a:p>
          <a:p>
            <a:pPr algn="l" indent="0" marL="0">
              <a:lnSpc>
                <a:spcPts val="1147"/>
              </a:lnSpc>
              <a:buNone/>
            </a:pPr>
            <a:r>
              <a:rPr lang="en-US" sz="740" spc="3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世界供給に占めるシェア</a:t>
            </a:r>
            <a:endParaRPr lang="en-US" sz="740" dirty="0"/>
          </a:p>
        </p:txBody>
      </p:sp>
      <p:sp>
        <p:nvSpPr>
          <p:cNvPr id="7" name="Text 5"/>
          <p:cNvSpPr/>
          <p:nvPr/>
        </p:nvSpPr>
        <p:spPr>
          <a:xfrm>
            <a:off x="4116598" y="304933"/>
            <a:ext cx="1135281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E9D6AC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PILLAR 2　銅事業</a:t>
            </a:r>
            <a:endParaRPr lang="en-US" sz="660" dirty="0"/>
          </a:p>
        </p:txBody>
      </p:sp>
      <p:sp>
        <p:nvSpPr>
          <p:cNvPr id="8" name="Text 6"/>
          <p:cNvSpPr/>
          <p:nvPr/>
        </p:nvSpPr>
        <p:spPr>
          <a:xfrm>
            <a:off x="4116598" y="1772424"/>
            <a:ext cx="2219957" cy="482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4000" spc="-120" kern="0" dirty="0">
                <a:solidFill>
                  <a:srgbClr val="FFFFFF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日本最大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116598" y="2309424"/>
            <a:ext cx="803348" cy="145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7"/>
              </a:lnSpc>
              <a:buNone/>
            </a:pPr>
            <a:r>
              <a:rPr lang="en-US" sz="740" spc="3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銅の持分生産量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8068024" y="304933"/>
            <a:ext cx="2384613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E9D6AC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PILLAR 3　トレーディング事業（RtM）</a:t>
            </a:r>
            <a:endParaRPr lang="en-US" sz="660" dirty="0"/>
          </a:p>
        </p:txBody>
      </p:sp>
      <p:sp>
        <p:nvSpPr>
          <p:cNvPr id="11" name="Text 9"/>
          <p:cNvSpPr/>
          <p:nvPr/>
        </p:nvSpPr>
        <p:spPr>
          <a:xfrm>
            <a:off x="8068024" y="1772424"/>
            <a:ext cx="3634601" cy="482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4000" spc="-120" kern="0" dirty="0">
                <a:solidFill>
                  <a:srgbClr val="FFFFFF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15 × 50 × 1,000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068024" y="2309424"/>
            <a:ext cx="1128074" cy="145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7"/>
              </a:lnSpc>
              <a:buNone/>
            </a:pPr>
            <a:r>
              <a:rPr lang="en-US" sz="740" spc="3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業界 × カ国 × 販売先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508222" y="2818091"/>
            <a:ext cx="2191787" cy="518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2000" spc="-50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World-class</a:t>
            </a:r>
            <a:endParaRPr lang="en-US" sz="2000" dirty="0"/>
          </a:p>
          <a:p>
            <a:pPr algn="l" indent="0" marL="0">
              <a:lnSpc>
                <a:spcPts val="2040"/>
              </a:lnSpc>
              <a:buNone/>
            </a:pPr>
            <a:r>
              <a:rPr lang="en-US" sz="2000" spc="-50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metallurgical coal.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08222" y="3495297"/>
            <a:ext cx="2623299" cy="175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92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社会に欠かせない資源を、世界最高品位で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854984" y="3948885"/>
            <a:ext cx="322919" cy="144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40"/>
              </a:lnSpc>
              <a:buNone/>
            </a:pPr>
            <a:r>
              <a:rPr lang="en-US" sz="1200" spc="-36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80</a:t>
            </a:r>
            <a:pPr algn="ctr" indent="0" marL="0">
              <a:lnSpc>
                <a:spcPts val="1140"/>
              </a:lnSpc>
              <a:buNone/>
            </a:pPr>
            <a:r>
              <a:rPr lang="en-US" sz="700" spc="-36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%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689" y="4365309"/>
            <a:ext cx="477312" cy="13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85"/>
              </a:lnSpc>
              <a:buNone/>
            </a:pPr>
            <a:r>
              <a:rPr lang="en-US" sz="70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MARKET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725487" y="4521397"/>
            <a:ext cx="581914" cy="117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58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上位5社で寡占</a:t>
            </a:r>
            <a:endParaRPr lang="en-US" sz="580" dirty="0"/>
          </a:p>
        </p:txBody>
      </p:sp>
      <p:sp>
        <p:nvSpPr>
          <p:cNvPr id="18" name="Text 16"/>
          <p:cNvSpPr/>
          <p:nvPr/>
        </p:nvSpPr>
        <p:spPr>
          <a:xfrm>
            <a:off x="1974383" y="3948885"/>
            <a:ext cx="320299" cy="144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40"/>
              </a:lnSpc>
              <a:buNone/>
            </a:pPr>
            <a:r>
              <a:rPr lang="en-US" sz="1200" spc="-36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50</a:t>
            </a:r>
            <a:pPr algn="ctr" indent="0" marL="0">
              <a:lnSpc>
                <a:spcPts val="1140"/>
              </a:lnSpc>
              <a:buNone/>
            </a:pPr>
            <a:r>
              <a:rPr lang="en-US" sz="700" spc="-36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%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946212" y="4365309"/>
            <a:ext cx="376640" cy="13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85"/>
              </a:lnSpc>
              <a:buNone/>
            </a:pPr>
            <a:r>
              <a:rPr lang="en-US" sz="70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SCALE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660357" y="4521397"/>
            <a:ext cx="948350" cy="117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58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一級強粘炭のBMAシェア</a:t>
            </a:r>
            <a:endParaRPr lang="en-US" sz="580" dirty="0"/>
          </a:p>
        </p:txBody>
      </p:sp>
      <p:sp>
        <p:nvSpPr>
          <p:cNvPr id="21" name="Text 19"/>
          <p:cNvSpPr/>
          <p:nvPr/>
        </p:nvSpPr>
        <p:spPr>
          <a:xfrm>
            <a:off x="2769810" y="3800230"/>
            <a:ext cx="343229" cy="289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2400" spc="-72" kern="0" dirty="0">
                <a:solidFill>
                  <a:srgbClr val="9C744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5</a:t>
            </a:r>
            <a:pPr algn="l" indent="0" marL="0">
              <a:lnSpc>
                <a:spcPts val="2280"/>
              </a:lnSpc>
              <a:buNone/>
            </a:pPr>
            <a:r>
              <a:rPr lang="en-US" sz="1000" spc="-72" kern="0" dirty="0">
                <a:solidFill>
                  <a:srgbClr val="9C744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/7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2744399" y="4365309"/>
            <a:ext cx="493908" cy="13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5"/>
              </a:lnSpc>
              <a:buNone/>
            </a:pPr>
            <a:r>
              <a:rPr lang="en-US" sz="70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QUALITY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2744399" y="4521397"/>
            <a:ext cx="824967" cy="117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58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高品位の5炭鉱に集約</a:t>
            </a:r>
            <a:endParaRPr lang="en-US" sz="580" dirty="0"/>
          </a:p>
        </p:txBody>
      </p:sp>
      <p:sp>
        <p:nvSpPr>
          <p:cNvPr id="24" name="Text 22"/>
          <p:cNvSpPr/>
          <p:nvPr/>
        </p:nvSpPr>
        <p:spPr>
          <a:xfrm>
            <a:off x="2654864" y="5103565"/>
            <a:ext cx="566191" cy="109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540" dirty="0">
                <a:solidFill>
                  <a:srgbClr val="1215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Broadmeadow</a:t>
            </a:r>
            <a:endParaRPr lang="en-US" sz="540" dirty="0"/>
          </a:p>
        </p:txBody>
      </p:sp>
      <p:sp>
        <p:nvSpPr>
          <p:cNvPr id="25" name="Text 23"/>
          <p:cNvSpPr/>
          <p:nvPr/>
        </p:nvSpPr>
        <p:spPr>
          <a:xfrm>
            <a:off x="2654864" y="5281443"/>
            <a:ext cx="753558" cy="109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540" dirty="0">
                <a:solidFill>
                  <a:srgbClr val="1215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Goonyella Riverside</a:t>
            </a:r>
            <a:endParaRPr lang="en-US" sz="540" dirty="0"/>
          </a:p>
        </p:txBody>
      </p:sp>
      <p:sp>
        <p:nvSpPr>
          <p:cNvPr id="26" name="Text 24"/>
          <p:cNvSpPr/>
          <p:nvPr/>
        </p:nvSpPr>
        <p:spPr>
          <a:xfrm>
            <a:off x="2654864" y="5459321"/>
            <a:ext cx="473818" cy="109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540" dirty="0">
                <a:solidFill>
                  <a:srgbClr val="1215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Caval Ridge</a:t>
            </a:r>
            <a:endParaRPr lang="en-US" sz="540" dirty="0"/>
          </a:p>
        </p:txBody>
      </p:sp>
      <p:sp>
        <p:nvSpPr>
          <p:cNvPr id="27" name="Text 25"/>
          <p:cNvSpPr/>
          <p:nvPr/>
        </p:nvSpPr>
        <p:spPr>
          <a:xfrm>
            <a:off x="2654864" y="5637198"/>
            <a:ext cx="492161" cy="109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540" dirty="0">
                <a:solidFill>
                  <a:srgbClr val="1215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Peak Downs</a:t>
            </a:r>
            <a:endParaRPr lang="en-US" sz="540" dirty="0"/>
          </a:p>
        </p:txBody>
      </p:sp>
      <p:sp>
        <p:nvSpPr>
          <p:cNvPr id="28" name="Text 26"/>
          <p:cNvSpPr/>
          <p:nvPr/>
        </p:nvSpPr>
        <p:spPr>
          <a:xfrm>
            <a:off x="2654864" y="5815076"/>
            <a:ext cx="248671" cy="109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540" dirty="0">
                <a:solidFill>
                  <a:srgbClr val="1215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Saraji</a:t>
            </a:r>
            <a:endParaRPr lang="en-US" sz="540" dirty="0"/>
          </a:p>
        </p:txBody>
      </p:sp>
      <p:sp>
        <p:nvSpPr>
          <p:cNvPr id="29" name="Text 27"/>
          <p:cNvSpPr/>
          <p:nvPr/>
        </p:nvSpPr>
        <p:spPr>
          <a:xfrm>
            <a:off x="2654864" y="5992954"/>
            <a:ext cx="598511" cy="109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54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Daunia（売却）</a:t>
            </a:r>
            <a:endParaRPr lang="en-US" sz="540" dirty="0"/>
          </a:p>
        </p:txBody>
      </p:sp>
      <p:sp>
        <p:nvSpPr>
          <p:cNvPr id="30" name="Text 28"/>
          <p:cNvSpPr/>
          <p:nvPr/>
        </p:nvSpPr>
        <p:spPr>
          <a:xfrm>
            <a:off x="2654864" y="6170831"/>
            <a:ext cx="746789" cy="109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54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Blackwater（売却）</a:t>
            </a:r>
            <a:endParaRPr lang="en-US" sz="540" dirty="0"/>
          </a:p>
        </p:txBody>
      </p:sp>
      <p:sp>
        <p:nvSpPr>
          <p:cNvPr id="31" name="Text 29"/>
          <p:cNvSpPr/>
          <p:nvPr/>
        </p:nvSpPr>
        <p:spPr>
          <a:xfrm>
            <a:off x="1611620" y="5213945"/>
            <a:ext cx="578420" cy="109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540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ヘイポイント港</a:t>
            </a:r>
            <a:endParaRPr lang="en-US" sz="540" dirty="0"/>
          </a:p>
        </p:txBody>
      </p:sp>
      <p:sp>
        <p:nvSpPr>
          <p:cNvPr id="32" name="Text 30"/>
          <p:cNvSpPr/>
          <p:nvPr/>
        </p:nvSpPr>
        <p:spPr>
          <a:xfrm>
            <a:off x="2625086" y="6476559"/>
            <a:ext cx="725169" cy="109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540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グラッドストーン港</a:t>
            </a:r>
            <a:endParaRPr lang="en-US" sz="540" dirty="0"/>
          </a:p>
        </p:txBody>
      </p:sp>
      <p:sp>
        <p:nvSpPr>
          <p:cNvPr id="33" name="Text 31"/>
          <p:cNvSpPr/>
          <p:nvPr/>
        </p:nvSpPr>
        <p:spPr>
          <a:xfrm>
            <a:off x="609866" y="4942459"/>
            <a:ext cx="2683571" cy="7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560" spc="19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ボーエン・ベースン｜BMA＝MDP 50%：BHP 50%</a:t>
            </a:r>
            <a:endParaRPr lang="en-US" sz="560" dirty="0"/>
          </a:p>
        </p:txBody>
      </p:sp>
      <p:sp>
        <p:nvSpPr>
          <p:cNvPr id="34" name="Text 32"/>
          <p:cNvSpPr/>
          <p:nvPr/>
        </p:nvSpPr>
        <p:spPr>
          <a:xfrm>
            <a:off x="609866" y="6476781"/>
            <a:ext cx="1970571" cy="107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8"/>
              </a:lnSpc>
              <a:buNone/>
            </a:pPr>
            <a:r>
              <a:rPr lang="en-US" sz="530" dirty="0">
                <a:solidFill>
                  <a:srgbClr val="9C744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●</a:t>
            </a:r>
            <a:pPr algn="l" indent="0" marL="0">
              <a:lnSpc>
                <a:spcPts val="848"/>
              </a:lnSpc>
              <a:buNone/>
            </a:pPr>
            <a:r>
              <a:rPr lang="en-US" sz="53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保有5炭鉱　○ 売却した中品位2炭鉱　</a:t>
            </a:r>
            <a:pPr algn="l" indent="0" marL="0">
              <a:lnSpc>
                <a:spcPts val="848"/>
              </a:lnSpc>
              <a:buNone/>
            </a:pPr>
            <a:r>
              <a:rPr lang="en-US" sz="530" dirty="0">
                <a:solidFill>
                  <a:srgbClr val="C8102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- -</a:t>
            </a:r>
            <a:pPr algn="l" indent="0" marL="0">
              <a:lnSpc>
                <a:spcPts val="848"/>
              </a:lnSpc>
              <a:buNone/>
            </a:pPr>
            <a:r>
              <a:rPr lang="en-US" sz="53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鉄道　■ 港湾</a:t>
            </a:r>
            <a:endParaRPr lang="en-US" sz="530" dirty="0"/>
          </a:p>
        </p:txBody>
      </p:sp>
      <p:sp>
        <p:nvSpPr>
          <p:cNvPr id="35" name="Text 33"/>
          <p:cNvSpPr/>
          <p:nvPr/>
        </p:nvSpPr>
        <p:spPr>
          <a:xfrm>
            <a:off x="4116598" y="2818091"/>
            <a:ext cx="2806735" cy="518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2000" spc="-50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The partner the copper</a:t>
            </a:r>
            <a:endParaRPr lang="en-US" sz="2000" dirty="0"/>
          </a:p>
          <a:p>
            <a:pPr algn="l" indent="0" marL="0">
              <a:lnSpc>
                <a:spcPts val="2040"/>
              </a:lnSpc>
              <a:buNone/>
            </a:pPr>
            <a:r>
              <a:rPr lang="en-US" sz="2000" spc="-50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industry calls first.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4116598" y="3495297"/>
            <a:ext cx="2894086" cy="175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92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業界から最初に声がかかる、日本最大の生産者</a:t>
            </a:r>
            <a:endParaRPr lang="en-US" sz="920" dirty="0"/>
          </a:p>
        </p:txBody>
      </p:sp>
      <p:sp>
        <p:nvSpPr>
          <p:cNvPr id="37" name="Text 35"/>
          <p:cNvSpPr/>
          <p:nvPr/>
        </p:nvSpPr>
        <p:spPr>
          <a:xfrm>
            <a:off x="4468393" y="3948885"/>
            <a:ext cx="312656" cy="144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40"/>
              </a:lnSpc>
              <a:buNone/>
            </a:pPr>
            <a:r>
              <a:rPr lang="en-US" sz="1200" spc="-36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25</a:t>
            </a:r>
            <a:pPr algn="ctr" indent="0" marL="0">
              <a:lnSpc>
                <a:spcPts val="1140"/>
              </a:lnSpc>
              <a:buNone/>
            </a:pPr>
            <a:r>
              <a:rPr lang="en-US" sz="700" spc="-36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%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386065" y="4365309"/>
            <a:ext cx="477312" cy="13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85"/>
              </a:lnSpc>
              <a:buNone/>
            </a:pPr>
            <a:r>
              <a:rPr lang="en-US" sz="70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MARKET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4251535" y="4521397"/>
            <a:ext cx="746570" cy="117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58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上位5社でも約25%</a:t>
            </a:r>
            <a:endParaRPr lang="en-US" sz="580" dirty="0"/>
          </a:p>
        </p:txBody>
      </p:sp>
      <p:sp>
        <p:nvSpPr>
          <p:cNvPr id="40" name="Text 38"/>
          <p:cNvSpPr/>
          <p:nvPr/>
        </p:nvSpPr>
        <p:spPr>
          <a:xfrm>
            <a:off x="5554588" y="4365309"/>
            <a:ext cx="376640" cy="13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85"/>
              </a:lnSpc>
              <a:buNone/>
            </a:pPr>
            <a:r>
              <a:rPr lang="en-US" sz="70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SCALE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5269388" y="4521397"/>
            <a:ext cx="947040" cy="117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58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主要メジャーの多くとJV</a:t>
            </a:r>
            <a:endParaRPr lang="en-US" sz="580" dirty="0"/>
          </a:p>
        </p:txBody>
      </p:sp>
      <p:sp>
        <p:nvSpPr>
          <p:cNvPr id="42" name="Text 40"/>
          <p:cNvSpPr/>
          <p:nvPr/>
        </p:nvSpPr>
        <p:spPr>
          <a:xfrm>
            <a:off x="6378186" y="4365309"/>
            <a:ext cx="493908" cy="13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5"/>
              </a:lnSpc>
              <a:buNone/>
            </a:pPr>
            <a:r>
              <a:rPr lang="en-US" sz="70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QUALITY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6378186" y="4521397"/>
            <a:ext cx="863620" cy="117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58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コストは世界上位25%</a:t>
            </a:r>
            <a:endParaRPr lang="en-US" sz="580" dirty="0"/>
          </a:p>
        </p:txBody>
      </p:sp>
      <p:sp>
        <p:nvSpPr>
          <p:cNvPr id="44" name="Text 42"/>
          <p:cNvSpPr/>
          <p:nvPr/>
        </p:nvSpPr>
        <p:spPr>
          <a:xfrm>
            <a:off x="4243654" y="4980575"/>
            <a:ext cx="2485503" cy="7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560" spc="19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世界の鉱山別生産量 Top15 のうち、5鉱山に参画</a:t>
            </a:r>
            <a:endParaRPr lang="en-US" sz="560" dirty="0"/>
          </a:p>
        </p:txBody>
      </p:sp>
      <p:sp>
        <p:nvSpPr>
          <p:cNvPr id="45" name="Text 43"/>
          <p:cNvSpPr/>
          <p:nvPr/>
        </p:nvSpPr>
        <p:spPr>
          <a:xfrm>
            <a:off x="4276579" y="5310920"/>
            <a:ext cx="86418" cy="7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00"/>
              </a:lnSpc>
              <a:buNone/>
            </a:pPr>
            <a:r>
              <a:rPr lang="en-US" sz="540" spc="30" kern="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</a:t>
            </a:r>
            <a:endParaRPr lang="en-US" sz="540" dirty="0"/>
          </a:p>
        </p:txBody>
      </p:sp>
      <p:sp>
        <p:nvSpPr>
          <p:cNvPr id="46" name="Text 44"/>
          <p:cNvSpPr/>
          <p:nvPr/>
        </p:nvSpPr>
        <p:spPr>
          <a:xfrm>
            <a:off x="4472433" y="5310920"/>
            <a:ext cx="101486" cy="7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00"/>
              </a:lnSpc>
              <a:buNone/>
            </a:pPr>
            <a:r>
              <a:rPr lang="en-US" sz="540" spc="3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2</a:t>
            </a:r>
            <a:endParaRPr lang="en-US" sz="540" dirty="0"/>
          </a:p>
        </p:txBody>
      </p:sp>
      <p:sp>
        <p:nvSpPr>
          <p:cNvPr id="47" name="Text 45"/>
          <p:cNvSpPr/>
          <p:nvPr/>
        </p:nvSpPr>
        <p:spPr>
          <a:xfrm>
            <a:off x="4675285" y="5310920"/>
            <a:ext cx="102359" cy="7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00"/>
              </a:lnSpc>
              <a:buNone/>
            </a:pPr>
            <a:r>
              <a:rPr lang="en-US" sz="540" spc="3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3</a:t>
            </a:r>
            <a:endParaRPr lang="en-US" sz="540" dirty="0"/>
          </a:p>
        </p:txBody>
      </p:sp>
      <p:sp>
        <p:nvSpPr>
          <p:cNvPr id="48" name="Text 46"/>
          <p:cNvSpPr/>
          <p:nvPr/>
        </p:nvSpPr>
        <p:spPr>
          <a:xfrm>
            <a:off x="4877482" y="5310920"/>
            <a:ext cx="104543" cy="7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00"/>
              </a:lnSpc>
              <a:buNone/>
            </a:pPr>
            <a:r>
              <a:rPr lang="en-US" sz="540" spc="30" kern="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4</a:t>
            </a:r>
            <a:endParaRPr lang="en-US" sz="540" dirty="0"/>
          </a:p>
        </p:txBody>
      </p:sp>
      <p:sp>
        <p:nvSpPr>
          <p:cNvPr id="49" name="Text 47"/>
          <p:cNvSpPr/>
          <p:nvPr/>
        </p:nvSpPr>
        <p:spPr>
          <a:xfrm>
            <a:off x="5082736" y="5310920"/>
            <a:ext cx="100612" cy="7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00"/>
              </a:lnSpc>
              <a:buNone/>
            </a:pPr>
            <a:r>
              <a:rPr lang="en-US" sz="540" spc="3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5</a:t>
            </a:r>
            <a:endParaRPr lang="en-US" sz="540" dirty="0"/>
          </a:p>
        </p:txBody>
      </p:sp>
      <p:sp>
        <p:nvSpPr>
          <p:cNvPr id="50" name="Text 48"/>
          <p:cNvSpPr/>
          <p:nvPr/>
        </p:nvSpPr>
        <p:spPr>
          <a:xfrm>
            <a:off x="5284943" y="5310920"/>
            <a:ext cx="102577" cy="7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00"/>
              </a:lnSpc>
              <a:buNone/>
            </a:pPr>
            <a:r>
              <a:rPr lang="en-US" sz="540" spc="3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6</a:t>
            </a:r>
            <a:endParaRPr lang="en-US" sz="540" dirty="0"/>
          </a:p>
        </p:txBody>
      </p:sp>
      <p:sp>
        <p:nvSpPr>
          <p:cNvPr id="51" name="Text 49"/>
          <p:cNvSpPr/>
          <p:nvPr/>
        </p:nvSpPr>
        <p:spPr>
          <a:xfrm>
            <a:off x="5490415" y="5310920"/>
            <a:ext cx="98210" cy="7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00"/>
              </a:lnSpc>
              <a:buNone/>
            </a:pPr>
            <a:r>
              <a:rPr lang="en-US" sz="540" spc="3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7</a:t>
            </a:r>
            <a:endParaRPr lang="en-US" sz="540" dirty="0"/>
          </a:p>
        </p:txBody>
      </p:sp>
      <p:sp>
        <p:nvSpPr>
          <p:cNvPr id="52" name="Text 50"/>
          <p:cNvSpPr/>
          <p:nvPr/>
        </p:nvSpPr>
        <p:spPr>
          <a:xfrm>
            <a:off x="5691520" y="5310920"/>
            <a:ext cx="102577" cy="7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00"/>
              </a:lnSpc>
              <a:buNone/>
            </a:pPr>
            <a:r>
              <a:rPr lang="en-US" sz="540" spc="3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8</a:t>
            </a:r>
            <a:endParaRPr lang="en-US" sz="540" dirty="0"/>
          </a:p>
        </p:txBody>
      </p:sp>
      <p:sp>
        <p:nvSpPr>
          <p:cNvPr id="53" name="Text 51"/>
          <p:cNvSpPr/>
          <p:nvPr/>
        </p:nvSpPr>
        <p:spPr>
          <a:xfrm>
            <a:off x="5894809" y="5310920"/>
            <a:ext cx="102577" cy="7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00"/>
              </a:lnSpc>
              <a:buNone/>
            </a:pPr>
            <a:r>
              <a:rPr lang="en-US" sz="540" spc="3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9</a:t>
            </a:r>
            <a:endParaRPr lang="en-US" sz="540" dirty="0"/>
          </a:p>
        </p:txBody>
      </p:sp>
      <p:sp>
        <p:nvSpPr>
          <p:cNvPr id="54" name="Text 52"/>
          <p:cNvSpPr/>
          <p:nvPr/>
        </p:nvSpPr>
        <p:spPr>
          <a:xfrm>
            <a:off x="6079754" y="5310920"/>
            <a:ext cx="139265" cy="7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00"/>
              </a:lnSpc>
              <a:buNone/>
            </a:pPr>
            <a:r>
              <a:rPr lang="en-US" sz="540" spc="30" kern="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10</a:t>
            </a:r>
            <a:endParaRPr lang="en-US" sz="540" dirty="0"/>
          </a:p>
        </p:txBody>
      </p:sp>
      <p:sp>
        <p:nvSpPr>
          <p:cNvPr id="55" name="Text 53"/>
          <p:cNvSpPr/>
          <p:nvPr/>
        </p:nvSpPr>
        <p:spPr>
          <a:xfrm>
            <a:off x="6291778" y="5310920"/>
            <a:ext cx="121795" cy="7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00"/>
              </a:lnSpc>
              <a:buNone/>
            </a:pPr>
            <a:r>
              <a:rPr lang="en-US" sz="540" spc="3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11</a:t>
            </a:r>
            <a:endParaRPr lang="en-US" sz="540" dirty="0"/>
          </a:p>
        </p:txBody>
      </p:sp>
      <p:sp>
        <p:nvSpPr>
          <p:cNvPr id="56" name="Text 54"/>
          <p:cNvSpPr/>
          <p:nvPr/>
        </p:nvSpPr>
        <p:spPr>
          <a:xfrm>
            <a:off x="6487424" y="5310920"/>
            <a:ext cx="137081" cy="7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00"/>
              </a:lnSpc>
              <a:buNone/>
            </a:pPr>
            <a:r>
              <a:rPr lang="en-US" sz="540" spc="30" kern="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12</a:t>
            </a:r>
            <a:endParaRPr lang="en-US" sz="540" dirty="0"/>
          </a:p>
        </p:txBody>
      </p:sp>
      <p:sp>
        <p:nvSpPr>
          <p:cNvPr id="57" name="Text 55"/>
          <p:cNvSpPr/>
          <p:nvPr/>
        </p:nvSpPr>
        <p:spPr>
          <a:xfrm>
            <a:off x="6690484" y="5310920"/>
            <a:ext cx="137736" cy="7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00"/>
              </a:lnSpc>
              <a:buNone/>
            </a:pPr>
            <a:r>
              <a:rPr lang="en-US" sz="540" spc="3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13</a:t>
            </a:r>
            <a:endParaRPr lang="en-US" sz="540" dirty="0"/>
          </a:p>
        </p:txBody>
      </p:sp>
      <p:sp>
        <p:nvSpPr>
          <p:cNvPr id="58" name="Text 56"/>
          <p:cNvSpPr/>
          <p:nvPr/>
        </p:nvSpPr>
        <p:spPr>
          <a:xfrm>
            <a:off x="6892681" y="5310920"/>
            <a:ext cx="139920" cy="7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00"/>
              </a:lnSpc>
              <a:buNone/>
            </a:pPr>
            <a:r>
              <a:rPr lang="en-US" sz="540" spc="3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14</a:t>
            </a:r>
            <a:endParaRPr lang="en-US" sz="540" dirty="0"/>
          </a:p>
        </p:txBody>
      </p:sp>
      <p:sp>
        <p:nvSpPr>
          <p:cNvPr id="59" name="Text 57"/>
          <p:cNvSpPr/>
          <p:nvPr/>
        </p:nvSpPr>
        <p:spPr>
          <a:xfrm>
            <a:off x="7097935" y="5310920"/>
            <a:ext cx="135989" cy="7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00"/>
              </a:lnSpc>
              <a:buNone/>
            </a:pPr>
            <a:r>
              <a:rPr lang="en-US" sz="540" spc="30" kern="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15</a:t>
            </a:r>
            <a:endParaRPr lang="en-US" sz="540" dirty="0"/>
          </a:p>
        </p:txBody>
      </p:sp>
      <p:sp>
        <p:nvSpPr>
          <p:cNvPr id="60" name="Text 58"/>
          <p:cNvSpPr/>
          <p:nvPr/>
        </p:nvSpPr>
        <p:spPr>
          <a:xfrm>
            <a:off x="4243654" y="5610008"/>
            <a:ext cx="1514382" cy="126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2"/>
              </a:lnSpc>
              <a:buNone/>
            </a:pPr>
            <a:r>
              <a:rPr lang="en-US" sz="900" dirty="0">
                <a:solidFill>
                  <a:srgbClr val="9C744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1位</a:t>
            </a:r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</a:t>
            </a:r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12151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Escondida</a:t>
            </a:r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</a:t>
            </a:r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チリ・出資8.25%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243654" y="5787886"/>
            <a:ext cx="1522899" cy="126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2"/>
              </a:lnSpc>
              <a:buNone/>
            </a:pPr>
            <a:r>
              <a:rPr lang="en-US" sz="900" dirty="0">
                <a:solidFill>
                  <a:srgbClr val="9C744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4位</a:t>
            </a:r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</a:t>
            </a:r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12151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Antamina</a:t>
            </a:r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</a:t>
            </a:r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ペルー・出資10%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4243654" y="5965764"/>
            <a:ext cx="1498004" cy="126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2"/>
              </a:lnSpc>
              <a:buNone/>
            </a:pPr>
            <a:r>
              <a:rPr lang="en-US" sz="900" dirty="0">
                <a:solidFill>
                  <a:srgbClr val="9C744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10位</a:t>
            </a:r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</a:t>
            </a:r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12151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AA Sur</a:t>
            </a:r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</a:t>
            </a:r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チリ・出資20.44%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4243654" y="6143641"/>
            <a:ext cx="1644098" cy="126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2"/>
              </a:lnSpc>
              <a:buNone/>
            </a:pPr>
            <a:r>
              <a:rPr lang="en-US" sz="900" dirty="0">
                <a:solidFill>
                  <a:srgbClr val="9C744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12位</a:t>
            </a:r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</a:t>
            </a:r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12151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Los Pelambres</a:t>
            </a:r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</a:t>
            </a:r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チリ・出資5%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4243654" y="6321519"/>
            <a:ext cx="1635145" cy="126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2"/>
              </a:lnSpc>
              <a:buNone/>
            </a:pPr>
            <a:r>
              <a:rPr lang="en-US" sz="900" dirty="0">
                <a:solidFill>
                  <a:srgbClr val="9C744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15位</a:t>
            </a:r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</a:t>
            </a:r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12151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Quellaveco</a:t>
            </a:r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</a:t>
            </a:r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ペルー・出資40%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4243654" y="6528874"/>
            <a:ext cx="1955722" cy="117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58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開発中：Marimaca（チリ）・Copper World（米国）</a:t>
            </a:r>
            <a:endParaRPr lang="en-US" sz="580" dirty="0"/>
          </a:p>
        </p:txBody>
      </p:sp>
      <p:sp>
        <p:nvSpPr>
          <p:cNvPr id="66" name="Text 64"/>
          <p:cNvSpPr/>
          <p:nvPr/>
        </p:nvSpPr>
        <p:spPr>
          <a:xfrm>
            <a:off x="8068024" y="2818091"/>
            <a:ext cx="2442046" cy="259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2000" spc="-50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Resource to Market.</a:t>
            </a:r>
            <a:endParaRPr lang="en-US" sz="2000" dirty="0"/>
          </a:p>
        </p:txBody>
      </p:sp>
      <p:sp>
        <p:nvSpPr>
          <p:cNvPr id="67" name="Text 65"/>
          <p:cNvSpPr/>
          <p:nvPr/>
        </p:nvSpPr>
        <p:spPr>
          <a:xfrm>
            <a:off x="8068024" y="3266597"/>
            <a:ext cx="3023147" cy="175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92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資源と市場をつなぎ、必要な場所へ確かに届ける</a:t>
            </a:r>
            <a:endParaRPr lang="en-US" sz="920" dirty="0"/>
          </a:p>
        </p:txBody>
      </p:sp>
      <p:sp>
        <p:nvSpPr>
          <p:cNvPr id="68" name="Text 66"/>
          <p:cNvSpPr/>
          <p:nvPr/>
        </p:nvSpPr>
        <p:spPr>
          <a:xfrm>
            <a:off x="8068024" y="3682386"/>
            <a:ext cx="224432" cy="156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1300" spc="-39" kern="0" dirty="0">
                <a:solidFill>
                  <a:srgbClr val="1F3A56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01</a:t>
            </a:r>
            <a:endParaRPr lang="en-US" sz="1300" dirty="0"/>
          </a:p>
        </p:txBody>
      </p:sp>
      <p:sp>
        <p:nvSpPr>
          <p:cNvPr id="69" name="Text 67"/>
          <p:cNvSpPr/>
          <p:nvPr/>
        </p:nvSpPr>
        <p:spPr>
          <a:xfrm>
            <a:off x="8372957" y="3688866"/>
            <a:ext cx="1169566" cy="169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33"/>
              </a:lnSpc>
              <a:buNone/>
            </a:pPr>
            <a:r>
              <a:rPr lang="en-US" sz="86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第三者の資源も扱う</a:t>
            </a:r>
            <a:endParaRPr lang="en-US" sz="860" dirty="0"/>
          </a:p>
        </p:txBody>
      </p:sp>
      <p:sp>
        <p:nvSpPr>
          <p:cNvPr id="70" name="Text 68"/>
          <p:cNvSpPr/>
          <p:nvPr/>
        </p:nvSpPr>
        <p:spPr>
          <a:xfrm>
            <a:off x="8372957" y="3870619"/>
            <a:ext cx="1639731" cy="136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72"/>
              </a:lnSpc>
              <a:buNone/>
            </a:pPr>
            <a:r>
              <a:rPr lang="en-US" sz="67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市場の生きた情報を、投資の側へ返す</a:t>
            </a:r>
            <a:endParaRPr lang="en-US" sz="670" dirty="0"/>
          </a:p>
        </p:txBody>
      </p:sp>
      <p:sp>
        <p:nvSpPr>
          <p:cNvPr id="71" name="Text 69"/>
          <p:cNvSpPr/>
          <p:nvPr/>
        </p:nvSpPr>
        <p:spPr>
          <a:xfrm>
            <a:off x="8068024" y="4165197"/>
            <a:ext cx="260682" cy="156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1300" spc="-39" kern="0" dirty="0">
                <a:solidFill>
                  <a:srgbClr val="1F3A56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02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8372957" y="4171677"/>
            <a:ext cx="1169566" cy="169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33"/>
              </a:lnSpc>
              <a:buNone/>
            </a:pPr>
            <a:r>
              <a:rPr lang="en-US" sz="86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ロジ・在庫・ヘッジ</a:t>
            </a:r>
            <a:endParaRPr lang="en-US" sz="860" dirty="0"/>
          </a:p>
        </p:txBody>
      </p:sp>
      <p:sp>
        <p:nvSpPr>
          <p:cNvPr id="73" name="Text 71"/>
          <p:cNvSpPr/>
          <p:nvPr/>
        </p:nvSpPr>
        <p:spPr>
          <a:xfrm>
            <a:off x="8372957" y="4353430"/>
            <a:ext cx="1261284" cy="136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72"/>
              </a:lnSpc>
              <a:buNone/>
            </a:pPr>
            <a:r>
              <a:rPr lang="en-US" sz="67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機能を付けて、顧客に届ける</a:t>
            </a:r>
            <a:endParaRPr lang="en-US" sz="670" dirty="0"/>
          </a:p>
        </p:txBody>
      </p:sp>
      <p:sp>
        <p:nvSpPr>
          <p:cNvPr id="74" name="Text 72"/>
          <p:cNvSpPr/>
          <p:nvPr/>
        </p:nvSpPr>
        <p:spPr>
          <a:xfrm>
            <a:off x="8068024" y="4648008"/>
            <a:ext cx="266142" cy="156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1300" spc="-39" kern="0" dirty="0">
                <a:solidFill>
                  <a:srgbClr val="1F3A56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03</a:t>
            </a:r>
            <a:endParaRPr lang="en-US" sz="1300" dirty="0"/>
          </a:p>
        </p:txBody>
      </p:sp>
      <p:sp>
        <p:nvSpPr>
          <p:cNvPr id="75" name="Text 73"/>
          <p:cNvSpPr/>
          <p:nvPr/>
        </p:nvSpPr>
        <p:spPr>
          <a:xfrm>
            <a:off x="8372957" y="4654488"/>
            <a:ext cx="1168474" cy="169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33"/>
              </a:lnSpc>
              <a:buNone/>
            </a:pPr>
            <a:r>
              <a:rPr lang="en-US" sz="86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グローバルな販売網</a:t>
            </a:r>
            <a:endParaRPr lang="en-US" sz="860" dirty="0"/>
          </a:p>
        </p:txBody>
      </p:sp>
      <p:sp>
        <p:nvSpPr>
          <p:cNvPr id="76" name="Text 74"/>
          <p:cNvSpPr/>
          <p:nvPr/>
        </p:nvSpPr>
        <p:spPr>
          <a:xfrm>
            <a:off x="8372957" y="4836240"/>
            <a:ext cx="1546265" cy="136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72"/>
              </a:lnSpc>
              <a:buNone/>
            </a:pPr>
            <a:r>
              <a:rPr lang="en-US" sz="67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欧州・シンガポール・米州の顧客へ</a:t>
            </a:r>
            <a:endParaRPr lang="en-US" sz="670" dirty="0"/>
          </a:p>
        </p:txBody>
      </p:sp>
      <p:sp>
        <p:nvSpPr>
          <p:cNvPr id="77" name="Text 75"/>
          <p:cNvSpPr/>
          <p:nvPr/>
        </p:nvSpPr>
        <p:spPr>
          <a:xfrm>
            <a:off x="8068024" y="5158453"/>
            <a:ext cx="884147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1F3A56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多様な取引機能</a:t>
            </a:r>
            <a:endParaRPr lang="en-US" sz="660" dirty="0"/>
          </a:p>
        </p:txBody>
      </p:sp>
      <p:sp>
        <p:nvSpPr>
          <p:cNvPr id="78" name="Text 76"/>
          <p:cNvSpPr/>
          <p:nvPr/>
        </p:nvSpPr>
        <p:spPr>
          <a:xfrm>
            <a:off x="8101991" y="5791952"/>
            <a:ext cx="618165" cy="117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580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取扱商品の広さ</a:t>
            </a:r>
            <a:endParaRPr lang="en-US" sz="580" dirty="0"/>
          </a:p>
        </p:txBody>
      </p:sp>
      <p:sp>
        <p:nvSpPr>
          <p:cNvPr id="79" name="Text 77"/>
          <p:cNvSpPr/>
          <p:nvPr/>
        </p:nvSpPr>
        <p:spPr>
          <a:xfrm>
            <a:off x="9066770" y="5791952"/>
            <a:ext cx="213076" cy="117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580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在庫</a:t>
            </a:r>
            <a:endParaRPr lang="en-US" sz="580" dirty="0"/>
          </a:p>
        </p:txBody>
      </p:sp>
      <p:sp>
        <p:nvSpPr>
          <p:cNvPr id="80" name="Text 78"/>
          <p:cNvSpPr/>
          <p:nvPr/>
        </p:nvSpPr>
        <p:spPr>
          <a:xfrm>
            <a:off x="9748085" y="5791952"/>
            <a:ext cx="375111" cy="117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580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輸送手配</a:t>
            </a:r>
            <a:endParaRPr lang="en-US" sz="580" dirty="0"/>
          </a:p>
        </p:txBody>
      </p:sp>
      <p:sp>
        <p:nvSpPr>
          <p:cNvPr id="81" name="Text 79"/>
          <p:cNvSpPr/>
          <p:nvPr/>
        </p:nvSpPr>
        <p:spPr>
          <a:xfrm>
            <a:off x="10551026" y="5791952"/>
            <a:ext cx="294094" cy="117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580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ヘッジ</a:t>
            </a:r>
            <a:endParaRPr lang="en-US" sz="580" dirty="0"/>
          </a:p>
        </p:txBody>
      </p:sp>
      <p:sp>
        <p:nvSpPr>
          <p:cNvPr id="82" name="Text 80"/>
          <p:cNvSpPr/>
          <p:nvPr/>
        </p:nvSpPr>
        <p:spPr>
          <a:xfrm>
            <a:off x="11852293" y="3678257"/>
            <a:ext cx="614016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第三者の資源</a:t>
            </a:r>
            <a:endParaRPr lang="en-US" sz="640" dirty="0"/>
          </a:p>
        </p:txBody>
      </p:sp>
      <p:sp>
        <p:nvSpPr>
          <p:cNvPr id="83" name="Text 81"/>
          <p:cNvSpPr/>
          <p:nvPr/>
        </p:nvSpPr>
        <p:spPr>
          <a:xfrm>
            <a:off x="13516322" y="3678257"/>
            <a:ext cx="894630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3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三菱商事の保有資産</a:t>
            </a:r>
            <a:endParaRPr lang="en-US" sz="640" dirty="0"/>
          </a:p>
        </p:txBody>
      </p:sp>
      <p:sp>
        <p:nvSpPr>
          <p:cNvPr id="84" name="Text 82"/>
          <p:cNvSpPr/>
          <p:nvPr/>
        </p:nvSpPr>
        <p:spPr>
          <a:xfrm>
            <a:off x="12783063" y="4693430"/>
            <a:ext cx="441935" cy="193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20"/>
              </a:lnSpc>
              <a:buNone/>
            </a:pPr>
            <a:r>
              <a:rPr lang="en-US" sz="1600" spc="-48" kern="0" dirty="0">
                <a:solidFill>
                  <a:srgbClr val="FFFFFF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RtM</a:t>
            </a:r>
            <a:endParaRPr lang="en-US" sz="1600" dirty="0"/>
          </a:p>
        </p:txBody>
      </p:sp>
      <p:sp>
        <p:nvSpPr>
          <p:cNvPr id="85" name="Text 83"/>
          <p:cNvSpPr/>
          <p:nvPr/>
        </p:nvSpPr>
        <p:spPr>
          <a:xfrm>
            <a:off x="12656613" y="4929753"/>
            <a:ext cx="695033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00" dirty="0">
                <a:solidFill>
                  <a:srgbClr val="C9D6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Resource to Market</a:t>
            </a:r>
            <a:endParaRPr lang="en-US" sz="500" dirty="0"/>
          </a:p>
        </p:txBody>
      </p:sp>
      <p:sp>
        <p:nvSpPr>
          <p:cNvPr id="86" name="Text 84"/>
          <p:cNvSpPr/>
          <p:nvPr/>
        </p:nvSpPr>
        <p:spPr>
          <a:xfrm>
            <a:off x="14096807" y="4851741"/>
            <a:ext cx="456129" cy="117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580" dirty="0">
                <a:solidFill>
                  <a:srgbClr val="9C744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市場の情報</a:t>
            </a:r>
            <a:endParaRPr lang="en-US" sz="580" dirty="0"/>
          </a:p>
        </p:txBody>
      </p:sp>
      <p:sp>
        <p:nvSpPr>
          <p:cNvPr id="87" name="Text 85"/>
          <p:cNvSpPr/>
          <p:nvPr/>
        </p:nvSpPr>
        <p:spPr>
          <a:xfrm>
            <a:off x="11847528" y="5774672"/>
            <a:ext cx="237971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欧州</a:t>
            </a:r>
            <a:endParaRPr lang="en-US" sz="640" dirty="0"/>
          </a:p>
        </p:txBody>
      </p:sp>
      <p:sp>
        <p:nvSpPr>
          <p:cNvPr id="88" name="Text 86"/>
          <p:cNvSpPr/>
          <p:nvPr/>
        </p:nvSpPr>
        <p:spPr>
          <a:xfrm>
            <a:off x="12873501" y="5774672"/>
            <a:ext cx="337769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アジア</a:t>
            </a:r>
            <a:endParaRPr lang="en-US" sz="640" dirty="0"/>
          </a:p>
        </p:txBody>
      </p:sp>
      <p:sp>
        <p:nvSpPr>
          <p:cNvPr id="89" name="Text 87"/>
          <p:cNvSpPr/>
          <p:nvPr/>
        </p:nvSpPr>
        <p:spPr>
          <a:xfrm>
            <a:off x="13990398" y="5774672"/>
            <a:ext cx="237971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米州</a:t>
            </a:r>
            <a:endParaRPr lang="en-US" sz="640" dirty="0"/>
          </a:p>
        </p:txBody>
      </p:sp>
      <p:sp>
        <p:nvSpPr>
          <p:cNvPr id="90" name="Text 88"/>
          <p:cNvSpPr/>
          <p:nvPr/>
        </p:nvSpPr>
        <p:spPr>
          <a:xfrm>
            <a:off x="12179897" y="6020652"/>
            <a:ext cx="1648466" cy="117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58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世界の顧客（15業界・50カ国・約1,000社）</a:t>
            </a:r>
            <a:endParaRPr lang="en-US" sz="580" dirty="0"/>
          </a:p>
        </p:txBody>
      </p:sp>
      <p:sp>
        <p:nvSpPr>
          <p:cNvPr id="91" name="Text 89"/>
          <p:cNvSpPr/>
          <p:nvPr/>
        </p:nvSpPr>
        <p:spPr>
          <a:xfrm>
            <a:off x="508222" y="7064286"/>
            <a:ext cx="1787135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NEW TECHNOLOGY　新技術</a:t>
            </a:r>
            <a:endParaRPr lang="en-US" sz="660" dirty="0"/>
          </a:p>
        </p:txBody>
      </p:sp>
      <p:sp>
        <p:nvSpPr>
          <p:cNvPr id="92" name="Text 90"/>
          <p:cNvSpPr/>
          <p:nvPr/>
        </p:nvSpPr>
        <p:spPr>
          <a:xfrm>
            <a:off x="508222" y="7315601"/>
            <a:ext cx="3194572" cy="285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4"/>
              </a:lnSpc>
              <a:buNone/>
            </a:pPr>
            <a:r>
              <a:rPr lang="en-US" sz="2200" spc="-55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Investing in what's next.</a:t>
            </a:r>
            <a:endParaRPr lang="en-US" sz="2200" dirty="0"/>
          </a:p>
        </p:txBody>
      </p:sp>
      <p:sp>
        <p:nvSpPr>
          <p:cNvPr id="93" name="Text 91"/>
          <p:cNvSpPr/>
          <p:nvPr/>
        </p:nvSpPr>
        <p:spPr>
          <a:xfrm>
            <a:off x="508222" y="7673517"/>
            <a:ext cx="2945404" cy="179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0"/>
              </a:lnSpc>
              <a:buNone/>
            </a:pPr>
            <a:r>
              <a:rPr lang="en-US" sz="94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資源業界のボトルネックに、新しい技術で挑む</a:t>
            </a:r>
            <a:endParaRPr lang="en-US" sz="940" dirty="0"/>
          </a:p>
        </p:txBody>
      </p:sp>
      <p:sp>
        <p:nvSpPr>
          <p:cNvPr id="94" name="Text 92"/>
          <p:cNvSpPr/>
          <p:nvPr/>
        </p:nvSpPr>
        <p:spPr>
          <a:xfrm>
            <a:off x="508222" y="8533269"/>
            <a:ext cx="3544848" cy="486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7"/>
              </a:lnSpc>
              <a:buNone/>
            </a:pPr>
            <a:r>
              <a:rPr lang="en-US" sz="69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業界の課題を見極め、課題を解く技術を持つスタートアップに出資。トレーデ</a:t>
            </a:r>
            <a:endParaRPr lang="en-US" sz="690" dirty="0"/>
          </a:p>
          <a:p>
            <a:pPr algn="l" indent="0" marL="0">
              <a:lnSpc>
                <a:spcPts val="1277"/>
              </a:lnSpc>
              <a:buNone/>
            </a:pPr>
            <a:r>
              <a:rPr lang="en-US" sz="69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ィングと業界とのつながりを生かして現場に取り入れ、その知見を既存事業の</a:t>
            </a:r>
            <a:endParaRPr lang="en-US" sz="690" dirty="0"/>
          </a:p>
          <a:p>
            <a:pPr algn="l" indent="0" marL="0">
              <a:lnSpc>
                <a:spcPts val="1277"/>
              </a:lnSpc>
              <a:buNone/>
            </a:pPr>
            <a:r>
              <a:rPr lang="en-US" sz="69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高度化に還元しています。</a:t>
            </a:r>
            <a:endParaRPr lang="en-US" sz="690" dirty="0"/>
          </a:p>
        </p:txBody>
      </p:sp>
      <p:sp>
        <p:nvSpPr>
          <p:cNvPr id="95" name="Text 93"/>
          <p:cNvSpPr/>
          <p:nvPr/>
        </p:nvSpPr>
        <p:spPr>
          <a:xfrm>
            <a:off x="4401838" y="7013463"/>
            <a:ext cx="344320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0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鉱石</a:t>
            </a:r>
            <a:endParaRPr lang="en-US" sz="1000" dirty="0"/>
          </a:p>
        </p:txBody>
      </p:sp>
      <p:sp>
        <p:nvSpPr>
          <p:cNvPr id="96" name="Text 94"/>
          <p:cNvSpPr/>
          <p:nvPr/>
        </p:nvSpPr>
        <p:spPr>
          <a:xfrm>
            <a:off x="4338300" y="7698483"/>
            <a:ext cx="471197" cy="103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17"/>
              </a:lnSpc>
              <a:buNone/>
            </a:pPr>
            <a:r>
              <a:rPr lang="en-US" sz="860" spc="-26" kern="0" dirty="0">
                <a:solidFill>
                  <a:srgbClr val="A8622F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Cu 約1%</a:t>
            </a:r>
            <a:endParaRPr lang="en-US" sz="860" dirty="0"/>
          </a:p>
        </p:txBody>
      </p:sp>
      <p:sp>
        <p:nvSpPr>
          <p:cNvPr id="97" name="Text 95"/>
          <p:cNvSpPr/>
          <p:nvPr/>
        </p:nvSpPr>
        <p:spPr>
          <a:xfrm>
            <a:off x="5649840" y="7013463"/>
            <a:ext cx="491069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0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銅精鉱</a:t>
            </a:r>
            <a:endParaRPr lang="en-US" sz="1000" dirty="0"/>
          </a:p>
        </p:txBody>
      </p:sp>
      <p:sp>
        <p:nvSpPr>
          <p:cNvPr id="98" name="Text 96"/>
          <p:cNvSpPr/>
          <p:nvPr/>
        </p:nvSpPr>
        <p:spPr>
          <a:xfrm>
            <a:off x="5540652" y="7495194"/>
            <a:ext cx="709446" cy="103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17"/>
              </a:lnSpc>
              <a:buNone/>
            </a:pPr>
            <a:r>
              <a:rPr lang="en-US" sz="860" spc="-26" kern="0" dirty="0">
                <a:solidFill>
                  <a:srgbClr val="A8622F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Cu 20〜30%</a:t>
            </a:r>
            <a:endParaRPr lang="en-US" sz="860" dirty="0"/>
          </a:p>
        </p:txBody>
      </p:sp>
      <p:sp>
        <p:nvSpPr>
          <p:cNvPr id="99" name="Text 97"/>
          <p:cNvSpPr/>
          <p:nvPr/>
        </p:nvSpPr>
        <p:spPr>
          <a:xfrm>
            <a:off x="6971217" y="7013463"/>
            <a:ext cx="491069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0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銅地金</a:t>
            </a:r>
            <a:endParaRPr lang="en-US" sz="1000" dirty="0"/>
          </a:p>
        </p:txBody>
      </p:sp>
      <p:sp>
        <p:nvSpPr>
          <p:cNvPr id="100" name="Text 98"/>
          <p:cNvSpPr/>
          <p:nvPr/>
        </p:nvSpPr>
        <p:spPr>
          <a:xfrm>
            <a:off x="6908762" y="7291905"/>
            <a:ext cx="615981" cy="103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17"/>
              </a:lnSpc>
              <a:buNone/>
            </a:pPr>
            <a:r>
              <a:rPr lang="en-US" sz="860" spc="-26" kern="0" dirty="0">
                <a:solidFill>
                  <a:srgbClr val="A8622F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Cu 99.99%</a:t>
            </a:r>
            <a:endParaRPr lang="en-US" sz="860" dirty="0"/>
          </a:p>
        </p:txBody>
      </p:sp>
      <p:sp>
        <p:nvSpPr>
          <p:cNvPr id="101" name="Text 99"/>
          <p:cNvSpPr/>
          <p:nvPr/>
        </p:nvSpPr>
        <p:spPr>
          <a:xfrm>
            <a:off x="8219220" y="7013463"/>
            <a:ext cx="637819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0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最終用途</a:t>
            </a:r>
            <a:endParaRPr lang="en-US" sz="1000" dirty="0"/>
          </a:p>
        </p:txBody>
      </p:sp>
      <p:sp>
        <p:nvSpPr>
          <p:cNvPr id="102" name="Text 100"/>
          <p:cNvSpPr/>
          <p:nvPr/>
        </p:nvSpPr>
        <p:spPr>
          <a:xfrm>
            <a:off x="8191486" y="7619772"/>
            <a:ext cx="693286" cy="134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A862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電化・インフラ</a:t>
            </a:r>
            <a:endParaRPr lang="en-US" sz="660" dirty="0"/>
          </a:p>
        </p:txBody>
      </p:sp>
      <p:sp>
        <p:nvSpPr>
          <p:cNvPr id="103" name="Text 101"/>
          <p:cNvSpPr/>
          <p:nvPr/>
        </p:nvSpPr>
        <p:spPr>
          <a:xfrm>
            <a:off x="9470717" y="7013463"/>
            <a:ext cx="777580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0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リサイクル</a:t>
            </a:r>
            <a:endParaRPr lang="en-US" sz="1000" dirty="0"/>
          </a:p>
        </p:txBody>
      </p:sp>
      <p:sp>
        <p:nvSpPr>
          <p:cNvPr id="104" name="Text 102"/>
          <p:cNvSpPr/>
          <p:nvPr/>
        </p:nvSpPr>
        <p:spPr>
          <a:xfrm>
            <a:off x="9603708" y="7619772"/>
            <a:ext cx="511597" cy="134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A862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再び供給へ</a:t>
            </a:r>
            <a:endParaRPr lang="en-US" sz="660" dirty="0"/>
          </a:p>
        </p:txBody>
      </p:sp>
      <p:sp>
        <p:nvSpPr>
          <p:cNvPr id="105" name="Text 103"/>
          <p:cNvSpPr/>
          <p:nvPr/>
        </p:nvSpPr>
        <p:spPr>
          <a:xfrm>
            <a:off x="3811665" y="7369219"/>
            <a:ext cx="471634" cy="7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560" spc="19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銅の品位</a:t>
            </a:r>
            <a:endParaRPr lang="en-US" sz="560" dirty="0"/>
          </a:p>
        </p:txBody>
      </p:sp>
      <p:sp>
        <p:nvSpPr>
          <p:cNvPr id="106" name="Text 104"/>
          <p:cNvSpPr/>
          <p:nvPr/>
        </p:nvSpPr>
        <p:spPr>
          <a:xfrm>
            <a:off x="4192831" y="9020940"/>
            <a:ext cx="1038540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120" kern="0" dirty="0">
                <a:solidFill>
                  <a:srgbClr val="A8622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選鉱｜スタートアップ</a:t>
            </a:r>
            <a:endParaRPr lang="en-US" sz="580" dirty="0"/>
          </a:p>
        </p:txBody>
      </p:sp>
      <p:sp>
        <p:nvSpPr>
          <p:cNvPr id="107" name="Text 105"/>
          <p:cNvSpPr/>
          <p:nvPr/>
        </p:nvSpPr>
        <p:spPr>
          <a:xfrm>
            <a:off x="4192831" y="9160701"/>
            <a:ext cx="548503" cy="17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spc="30" kern="0" dirty="0">
                <a:solidFill>
                  <a:srgbClr val="12151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CiDRA</a:t>
            </a:r>
            <a:endParaRPr lang="en-US" sz="1100" dirty="0"/>
          </a:p>
        </p:txBody>
      </p:sp>
      <p:sp>
        <p:nvSpPr>
          <p:cNvPr id="108" name="Text 106"/>
          <p:cNvSpPr/>
          <p:nvPr/>
        </p:nvSpPr>
        <p:spPr>
          <a:xfrm>
            <a:off x="4192831" y="9359416"/>
            <a:ext cx="1920126" cy="272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72"/>
              </a:lnSpc>
              <a:buNone/>
            </a:pPr>
            <a:r>
              <a:rPr lang="en-US" sz="67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浮遊選鉱を高度化し、回収率と処理能力を高</a:t>
            </a:r>
            <a:endParaRPr lang="en-US" sz="670" dirty="0"/>
          </a:p>
          <a:p>
            <a:pPr algn="l" indent="0" marL="0">
              <a:lnSpc>
                <a:spcPts val="1072"/>
              </a:lnSpc>
              <a:buNone/>
            </a:pPr>
            <a:r>
              <a:rPr lang="en-US" sz="67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める</a:t>
            </a:r>
            <a:endParaRPr lang="en-US" sz="670" dirty="0"/>
          </a:p>
        </p:txBody>
      </p:sp>
      <p:sp>
        <p:nvSpPr>
          <p:cNvPr id="109" name="Text 107"/>
          <p:cNvSpPr/>
          <p:nvPr/>
        </p:nvSpPr>
        <p:spPr>
          <a:xfrm>
            <a:off x="6352775" y="9020940"/>
            <a:ext cx="1038540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120" kern="0" dirty="0">
                <a:solidFill>
                  <a:srgbClr val="A8622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浸出｜スタートアップ</a:t>
            </a:r>
            <a:endParaRPr lang="en-US" sz="580" dirty="0"/>
          </a:p>
        </p:txBody>
      </p:sp>
      <p:sp>
        <p:nvSpPr>
          <p:cNvPr id="110" name="Text 108"/>
          <p:cNvSpPr/>
          <p:nvPr/>
        </p:nvSpPr>
        <p:spPr>
          <a:xfrm>
            <a:off x="6352775" y="9160701"/>
            <a:ext cx="399570" cy="17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spc="30" kern="0" dirty="0">
                <a:solidFill>
                  <a:srgbClr val="12151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Jetti</a:t>
            </a:r>
            <a:endParaRPr lang="en-US" sz="1100" dirty="0"/>
          </a:p>
        </p:txBody>
      </p:sp>
      <p:sp>
        <p:nvSpPr>
          <p:cNvPr id="111" name="Text 109"/>
          <p:cNvSpPr/>
          <p:nvPr/>
        </p:nvSpPr>
        <p:spPr>
          <a:xfrm>
            <a:off x="6352775" y="9359416"/>
            <a:ext cx="1729483" cy="136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72"/>
              </a:lnSpc>
              <a:buNone/>
            </a:pPr>
            <a:r>
              <a:rPr lang="en-US" sz="67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新たな触媒で、硫化鉱から銅を回収する</a:t>
            </a:r>
            <a:endParaRPr lang="en-US" sz="670" dirty="0"/>
          </a:p>
        </p:txBody>
      </p:sp>
      <p:sp>
        <p:nvSpPr>
          <p:cNvPr id="112" name="Text 110"/>
          <p:cNvSpPr/>
          <p:nvPr/>
        </p:nvSpPr>
        <p:spPr>
          <a:xfrm>
            <a:off x="8512718" y="9020940"/>
            <a:ext cx="1341428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120" kern="0" dirty="0">
                <a:solidFill>
                  <a:srgbClr val="A8622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リサイクル｜スタートアップ</a:t>
            </a:r>
            <a:endParaRPr lang="en-US" sz="580" dirty="0"/>
          </a:p>
        </p:txBody>
      </p:sp>
      <p:sp>
        <p:nvSpPr>
          <p:cNvPr id="113" name="Text 111"/>
          <p:cNvSpPr/>
          <p:nvPr/>
        </p:nvSpPr>
        <p:spPr>
          <a:xfrm>
            <a:off x="8512718" y="9160701"/>
            <a:ext cx="810773" cy="17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spc="30" kern="0" dirty="0">
                <a:solidFill>
                  <a:srgbClr val="12151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DESCycle</a:t>
            </a:r>
            <a:endParaRPr lang="en-US" sz="1100" dirty="0"/>
          </a:p>
        </p:txBody>
      </p:sp>
      <p:sp>
        <p:nvSpPr>
          <p:cNvPr id="114" name="Text 112"/>
          <p:cNvSpPr/>
          <p:nvPr/>
        </p:nvSpPr>
        <p:spPr>
          <a:xfrm>
            <a:off x="8512718" y="9359416"/>
            <a:ext cx="1826661" cy="136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72"/>
              </a:lnSpc>
              <a:buNone/>
            </a:pPr>
            <a:r>
              <a:rPr lang="en-US" sz="67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電子スクラップから銅・貴金属を回収する</a:t>
            </a:r>
            <a:endParaRPr lang="en-US" sz="670" dirty="0"/>
          </a:p>
        </p:txBody>
      </p:sp>
      <p:sp>
        <p:nvSpPr>
          <p:cNvPr id="115" name="Text 113"/>
          <p:cNvSpPr/>
          <p:nvPr/>
        </p:nvSpPr>
        <p:spPr>
          <a:xfrm>
            <a:off x="11612872" y="7216752"/>
            <a:ext cx="767534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A8622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取り組み事例</a:t>
            </a:r>
            <a:endParaRPr lang="en-US" sz="660" dirty="0"/>
          </a:p>
        </p:txBody>
      </p:sp>
      <p:sp>
        <p:nvSpPr>
          <p:cNvPr id="116" name="Text 114"/>
          <p:cNvSpPr/>
          <p:nvPr/>
        </p:nvSpPr>
        <p:spPr>
          <a:xfrm>
            <a:off x="12065905" y="7522082"/>
            <a:ext cx="339953" cy="139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spc="30" kern="0" dirty="0">
                <a:solidFill>
                  <a:srgbClr val="12151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Jetti</a:t>
            </a:r>
            <a:endParaRPr lang="en-US" sz="900" dirty="0"/>
          </a:p>
        </p:txBody>
      </p:sp>
      <p:sp>
        <p:nvSpPr>
          <p:cNvPr id="117" name="Text 115"/>
          <p:cNvSpPr/>
          <p:nvPr/>
        </p:nvSpPr>
        <p:spPr>
          <a:xfrm>
            <a:off x="11912842" y="7655745"/>
            <a:ext cx="676471" cy="1138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6"/>
              </a:lnSpc>
              <a:buNone/>
            </a:pPr>
            <a:r>
              <a:rPr lang="en-US" sz="5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銅生産の革新技術</a:t>
            </a:r>
            <a:endParaRPr lang="en-US" sz="560" dirty="0"/>
          </a:p>
        </p:txBody>
      </p:sp>
      <p:sp>
        <p:nvSpPr>
          <p:cNvPr id="118" name="Text 116"/>
          <p:cNvSpPr/>
          <p:nvPr/>
        </p:nvSpPr>
        <p:spPr>
          <a:xfrm>
            <a:off x="12807194" y="7521685"/>
            <a:ext cx="180320" cy="21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A862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×</a:t>
            </a:r>
            <a:endParaRPr lang="en-US" sz="1400" dirty="0"/>
          </a:p>
        </p:txBody>
      </p:sp>
      <p:sp>
        <p:nvSpPr>
          <p:cNvPr id="119" name="Text 117"/>
          <p:cNvSpPr/>
          <p:nvPr/>
        </p:nvSpPr>
        <p:spPr>
          <a:xfrm>
            <a:off x="13434729" y="7509377"/>
            <a:ext cx="570777" cy="165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三菱商事</a:t>
            </a:r>
            <a:endParaRPr lang="en-US" sz="900" dirty="0"/>
          </a:p>
        </p:txBody>
      </p:sp>
      <p:sp>
        <p:nvSpPr>
          <p:cNvPr id="120" name="Text 118"/>
          <p:cNvSpPr/>
          <p:nvPr/>
        </p:nvSpPr>
        <p:spPr>
          <a:xfrm>
            <a:off x="13247124" y="7668450"/>
            <a:ext cx="983509" cy="1138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6"/>
              </a:lnSpc>
              <a:buNone/>
            </a:pPr>
            <a:r>
              <a:rPr lang="en-US" sz="5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資源開発・トレーディング</a:t>
            </a:r>
            <a:endParaRPr lang="en-US" sz="560" dirty="0"/>
          </a:p>
        </p:txBody>
      </p:sp>
      <p:sp>
        <p:nvSpPr>
          <p:cNvPr id="121" name="Text 119"/>
          <p:cNvSpPr/>
          <p:nvPr/>
        </p:nvSpPr>
        <p:spPr>
          <a:xfrm>
            <a:off x="12760193" y="7953674"/>
            <a:ext cx="525791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A8622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価値共創</a:t>
            </a:r>
            <a:endParaRPr lang="en-US" sz="660" dirty="0"/>
          </a:p>
        </p:txBody>
      </p:sp>
      <p:sp>
        <p:nvSpPr>
          <p:cNvPr id="122" name="Text 120"/>
          <p:cNvSpPr/>
          <p:nvPr/>
        </p:nvSpPr>
        <p:spPr>
          <a:xfrm>
            <a:off x="11612872" y="8942198"/>
            <a:ext cx="3153517" cy="47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67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米Jettiに出資参画し、事業拡大を支援。同社技術で生産される環境価値</a:t>
            </a:r>
            <a:endParaRPr lang="en-US" sz="670" dirty="0"/>
          </a:p>
          <a:p>
            <a:pPr algn="l" indent="0" marL="0">
              <a:lnSpc>
                <a:spcPts val="1240"/>
              </a:lnSpc>
              <a:buNone/>
            </a:pPr>
            <a:r>
              <a:rPr lang="en-US" sz="67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の高い銅地金を販売するほか、低品位の鉱石に課題を抱える鉱山への技</a:t>
            </a:r>
            <a:endParaRPr lang="en-US" sz="670" dirty="0"/>
          </a:p>
          <a:p>
            <a:pPr algn="l" indent="0" marL="0">
              <a:lnSpc>
                <a:spcPts val="1240"/>
              </a:lnSpc>
              <a:buNone/>
            </a:pPr>
            <a:r>
              <a:rPr lang="en-US" sz="67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術導入を共同で検討しています。</a:t>
            </a:r>
            <a:endParaRPr lang="en-US" sz="670" dirty="0"/>
          </a:p>
        </p:txBody>
      </p:sp>
      <p:sp>
        <p:nvSpPr>
          <p:cNvPr id="123" name="Text 121"/>
          <p:cNvSpPr/>
          <p:nvPr/>
        </p:nvSpPr>
        <p:spPr>
          <a:xfrm>
            <a:off x="508222" y="10316906"/>
            <a:ext cx="202594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spc="16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08</a:t>
            </a:r>
            <a:endParaRPr lang="en-US" sz="600" dirty="0"/>
          </a:p>
        </p:txBody>
      </p:sp>
      <p:sp>
        <p:nvSpPr>
          <p:cNvPr id="124" name="Text 122"/>
          <p:cNvSpPr/>
          <p:nvPr/>
        </p:nvSpPr>
        <p:spPr>
          <a:xfrm>
            <a:off x="14458915" y="10316906"/>
            <a:ext cx="202594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spc="16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09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92831" y="3627434"/>
            <a:ext cx="4663810" cy="3049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0"/>
              </a:lnSpc>
              <a:buNone/>
            </a:pPr>
            <a:r>
              <a:rPr lang="en-US" sz="30000" spc="-1200" kern="0" dirty="0">
                <a:solidFill>
                  <a:srgbClr val="000000">
                    <a:alpha val="0"/>
                  </a:srgbClr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03</a:t>
            </a:r>
            <a:endParaRPr lang="en-US" sz="30000" dirty="0"/>
          </a:p>
        </p:txBody>
      </p:sp>
      <p:sp>
        <p:nvSpPr>
          <p:cNvPr id="3" name="Text 1"/>
          <p:cNvSpPr/>
          <p:nvPr/>
        </p:nvSpPr>
        <p:spPr>
          <a:xfrm>
            <a:off x="11816161" y="2280646"/>
            <a:ext cx="4651581" cy="3049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0"/>
              </a:lnSpc>
              <a:buNone/>
            </a:pPr>
            <a:r>
              <a:rPr lang="en-US" sz="30000" spc="-1200" kern="0" dirty="0">
                <a:solidFill>
                  <a:srgbClr val="000000">
                    <a:alpha val="0"/>
                  </a:srgbClr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04</a:t>
            </a:r>
            <a:endParaRPr lang="en-US" sz="30000" dirty="0"/>
          </a:p>
        </p:txBody>
      </p:sp>
      <p:sp>
        <p:nvSpPr>
          <p:cNvPr id="4" name="Text 2"/>
          <p:cNvSpPr/>
          <p:nvPr/>
        </p:nvSpPr>
        <p:spPr>
          <a:xfrm>
            <a:off x="127055" y="3303443"/>
            <a:ext cx="866896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14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パートナーシップ</a:t>
            </a:r>
            <a:endParaRPr lang="en-US" sz="580" dirty="0"/>
          </a:p>
        </p:txBody>
      </p:sp>
      <p:sp>
        <p:nvSpPr>
          <p:cNvPr id="5" name="Text 3"/>
          <p:cNvSpPr/>
          <p:nvPr/>
        </p:nvSpPr>
        <p:spPr>
          <a:xfrm>
            <a:off x="7737680" y="1905832"/>
            <a:ext cx="861218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14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社会を支える資源</a:t>
            </a:r>
            <a:endParaRPr lang="en-US" sz="580" dirty="0"/>
          </a:p>
        </p:txBody>
      </p:sp>
      <p:sp>
        <p:nvSpPr>
          <p:cNvPr id="6" name="Text 4"/>
          <p:cNvSpPr/>
          <p:nvPr/>
        </p:nvSpPr>
        <p:spPr>
          <a:xfrm>
            <a:off x="508222" y="3760843"/>
            <a:ext cx="373583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第3章</a:t>
            </a:r>
            <a:endParaRPr lang="en-US" sz="660" dirty="0"/>
          </a:p>
        </p:txBody>
      </p:sp>
      <p:sp>
        <p:nvSpPr>
          <p:cNvPr id="7" name="Text 5"/>
          <p:cNvSpPr/>
          <p:nvPr/>
        </p:nvSpPr>
        <p:spPr>
          <a:xfrm>
            <a:off x="508222" y="3900604"/>
            <a:ext cx="855322" cy="12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60" spc="60" kern="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選ばれ続ける理由</a:t>
            </a:r>
            <a:endParaRPr lang="en-US" sz="660" dirty="0"/>
          </a:p>
        </p:txBody>
      </p:sp>
      <p:sp>
        <p:nvSpPr>
          <p:cNvPr id="8" name="Text 6"/>
          <p:cNvSpPr/>
          <p:nvPr/>
        </p:nvSpPr>
        <p:spPr>
          <a:xfrm>
            <a:off x="508222" y="4137435"/>
            <a:ext cx="3837255" cy="466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72"/>
              </a:lnSpc>
              <a:buNone/>
            </a:pPr>
            <a:r>
              <a:rPr lang="en-US" sz="3600" spc="-90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Partner of choice.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08222" y="4880122"/>
            <a:ext cx="3559916" cy="219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15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資源業界に不可欠な存在として、選ばれ続ける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65622" y="5199667"/>
            <a:ext cx="1090732" cy="177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企業文化的親和性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65622" y="5392728"/>
            <a:ext cx="1520715" cy="134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資源メジャーと同じ、中長期の視座</a:t>
            </a:r>
            <a:endParaRPr lang="en-US" sz="660" dirty="0"/>
          </a:p>
        </p:txBody>
      </p:sp>
      <p:sp>
        <p:nvSpPr>
          <p:cNvPr id="12" name="Text 10"/>
          <p:cNvSpPr/>
          <p:nvPr/>
        </p:nvSpPr>
        <p:spPr>
          <a:xfrm>
            <a:off x="4294476" y="5199667"/>
            <a:ext cx="598511" cy="177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JV経営力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294476" y="5392728"/>
            <a:ext cx="1521807" cy="134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実質的な経営貢献と、高い目利き力</a:t>
            </a:r>
            <a:endParaRPr lang="en-US" sz="660" dirty="0"/>
          </a:p>
        </p:txBody>
      </p:sp>
      <p:sp>
        <p:nvSpPr>
          <p:cNvPr id="14" name="Text 12"/>
          <p:cNvSpPr/>
          <p:nvPr/>
        </p:nvSpPr>
        <p:spPr>
          <a:xfrm>
            <a:off x="965622" y="5707889"/>
            <a:ext cx="960798" cy="177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健全な財務基盤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65622" y="5900950"/>
            <a:ext cx="1154061" cy="134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リスクを分かち合える体力</a:t>
            </a:r>
            <a:endParaRPr lang="en-US" sz="660" dirty="0"/>
          </a:p>
        </p:txBody>
      </p:sp>
      <p:sp>
        <p:nvSpPr>
          <p:cNvPr id="16" name="Text 14"/>
          <p:cNvSpPr/>
          <p:nvPr/>
        </p:nvSpPr>
        <p:spPr>
          <a:xfrm>
            <a:off x="4294476" y="5707889"/>
            <a:ext cx="570777" cy="177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深い知見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294476" y="5900950"/>
            <a:ext cx="1705025" cy="134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マクロ環境とバリューチェーンへの理解</a:t>
            </a:r>
            <a:endParaRPr lang="en-US" sz="660" dirty="0"/>
          </a:p>
        </p:txBody>
      </p:sp>
      <p:sp>
        <p:nvSpPr>
          <p:cNvPr id="18" name="Text 16"/>
          <p:cNvSpPr/>
          <p:nvPr/>
        </p:nvSpPr>
        <p:spPr>
          <a:xfrm>
            <a:off x="508222" y="6272968"/>
            <a:ext cx="703550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JVへの貢献</a:t>
            </a:r>
            <a:endParaRPr lang="en-US" sz="660" dirty="0"/>
          </a:p>
        </p:txBody>
      </p:sp>
      <p:sp>
        <p:nvSpPr>
          <p:cNvPr id="19" name="Text 17"/>
          <p:cNvSpPr/>
          <p:nvPr/>
        </p:nvSpPr>
        <p:spPr>
          <a:xfrm>
            <a:off x="1397610" y="6272968"/>
            <a:ext cx="1257353" cy="12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60" spc="60" kern="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経営から現場まで伴走する</a:t>
            </a:r>
            <a:endParaRPr lang="en-US" sz="660" dirty="0"/>
          </a:p>
        </p:txBody>
      </p:sp>
      <p:sp>
        <p:nvSpPr>
          <p:cNvPr id="20" name="Text 18"/>
          <p:cNvSpPr/>
          <p:nvPr/>
        </p:nvSpPr>
        <p:spPr>
          <a:xfrm>
            <a:off x="747394" y="6984479"/>
            <a:ext cx="436257" cy="12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60" spc="3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三菱商事</a:t>
            </a:r>
            <a:endParaRPr lang="en-US" sz="660" dirty="0"/>
          </a:p>
        </p:txBody>
      </p:sp>
      <p:sp>
        <p:nvSpPr>
          <p:cNvPr id="21" name="Text 19"/>
          <p:cNvSpPr/>
          <p:nvPr/>
        </p:nvSpPr>
        <p:spPr>
          <a:xfrm>
            <a:off x="6480337" y="6981620"/>
            <a:ext cx="227489" cy="132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45"/>
              </a:lnSpc>
              <a:buNone/>
            </a:pPr>
            <a:r>
              <a:rPr lang="en-US" sz="1100" spc="-33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JV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420804" y="6508926"/>
            <a:ext cx="483208" cy="126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中長期計画</a:t>
            </a:r>
            <a:endParaRPr lang="en-US" sz="620" dirty="0"/>
          </a:p>
        </p:txBody>
      </p:sp>
      <p:sp>
        <p:nvSpPr>
          <p:cNvPr id="23" name="Text 21"/>
          <p:cNvSpPr/>
          <p:nvPr/>
        </p:nvSpPr>
        <p:spPr>
          <a:xfrm>
            <a:off x="3629023" y="6508926"/>
            <a:ext cx="396731" cy="126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資本政策</a:t>
            </a:r>
            <a:endParaRPr lang="en-US" sz="620" dirty="0"/>
          </a:p>
        </p:txBody>
      </p:sp>
      <p:sp>
        <p:nvSpPr>
          <p:cNvPr id="24" name="Text 22"/>
          <p:cNvSpPr/>
          <p:nvPr/>
        </p:nvSpPr>
        <p:spPr>
          <a:xfrm>
            <a:off x="4797933" y="6508926"/>
            <a:ext cx="396731" cy="126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販売戦略</a:t>
            </a:r>
            <a:endParaRPr lang="en-US" sz="620" dirty="0"/>
          </a:p>
        </p:txBody>
      </p:sp>
      <p:sp>
        <p:nvSpPr>
          <p:cNvPr id="25" name="Text 23"/>
          <p:cNvSpPr/>
          <p:nvPr/>
        </p:nvSpPr>
        <p:spPr>
          <a:xfrm>
            <a:off x="2460112" y="7474548"/>
            <a:ext cx="396731" cy="126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人材派遣</a:t>
            </a:r>
            <a:endParaRPr lang="en-US" sz="620" dirty="0"/>
          </a:p>
        </p:txBody>
      </p:sp>
      <p:sp>
        <p:nvSpPr>
          <p:cNvPr id="26" name="Text 24"/>
          <p:cNvSpPr/>
          <p:nvPr/>
        </p:nvSpPr>
        <p:spPr>
          <a:xfrm>
            <a:off x="3629023" y="7474548"/>
            <a:ext cx="396731" cy="126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操業支援</a:t>
            </a:r>
            <a:endParaRPr lang="en-US" sz="620" dirty="0"/>
          </a:p>
        </p:txBody>
      </p:sp>
      <p:sp>
        <p:nvSpPr>
          <p:cNvPr id="27" name="Text 25"/>
          <p:cNvSpPr/>
          <p:nvPr/>
        </p:nvSpPr>
        <p:spPr>
          <a:xfrm>
            <a:off x="4602784" y="7474548"/>
            <a:ext cx="825841" cy="126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ベストプラクティス</a:t>
            </a:r>
            <a:endParaRPr lang="en-US" sz="620" dirty="0"/>
          </a:p>
        </p:txBody>
      </p:sp>
      <p:sp>
        <p:nvSpPr>
          <p:cNvPr id="28" name="Text 26"/>
          <p:cNvSpPr/>
          <p:nvPr/>
        </p:nvSpPr>
        <p:spPr>
          <a:xfrm>
            <a:off x="3125565" y="6701780"/>
            <a:ext cx="316587" cy="171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spc="5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経営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125565" y="7210002"/>
            <a:ext cx="316587" cy="171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spc="5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現場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16047" y="8165587"/>
            <a:ext cx="1169566" cy="169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33"/>
              </a:lnSpc>
              <a:buNone/>
            </a:pPr>
            <a:r>
              <a:rPr lang="en-US" sz="86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会社対会社の関係へ</a:t>
            </a:r>
            <a:endParaRPr lang="en-US" sz="860" dirty="0"/>
          </a:p>
        </p:txBody>
      </p:sp>
      <p:sp>
        <p:nvSpPr>
          <p:cNvPr id="31" name="Text 29"/>
          <p:cNvSpPr/>
          <p:nvPr/>
        </p:nvSpPr>
        <p:spPr>
          <a:xfrm>
            <a:off x="3221055" y="8165587"/>
            <a:ext cx="1294040" cy="169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33"/>
              </a:lnSpc>
              <a:buNone/>
            </a:pPr>
            <a:r>
              <a:rPr lang="en-US" sz="86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新たな協業が生まれる</a:t>
            </a:r>
            <a:endParaRPr lang="en-US" sz="860" dirty="0"/>
          </a:p>
        </p:txBody>
      </p:sp>
      <p:sp>
        <p:nvSpPr>
          <p:cNvPr id="32" name="Text 30"/>
          <p:cNvSpPr/>
          <p:nvPr/>
        </p:nvSpPr>
        <p:spPr>
          <a:xfrm>
            <a:off x="5370874" y="8165587"/>
            <a:ext cx="1540151" cy="169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33"/>
              </a:lnSpc>
              <a:buNone/>
            </a:pPr>
            <a:r>
              <a:rPr lang="en-US" sz="86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積み重ねが、強み・信頼に</a:t>
            </a:r>
            <a:endParaRPr lang="en-US" sz="860" dirty="0"/>
          </a:p>
        </p:txBody>
      </p:sp>
      <p:sp>
        <p:nvSpPr>
          <p:cNvPr id="33" name="Text 31"/>
          <p:cNvSpPr/>
          <p:nvPr/>
        </p:nvSpPr>
        <p:spPr>
          <a:xfrm>
            <a:off x="508222" y="8682210"/>
            <a:ext cx="7165096" cy="169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32"/>
              </a:lnSpc>
              <a:buNone/>
            </a:pPr>
            <a:r>
              <a:rPr lang="en-US" sz="72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資源メジャー各社と、単なる共同出資を越えた「会社対会社」の関係へ。新たな協業が生まれ、その積み重ねが、さらなる強み・知見・信頼につながる。</a:t>
            </a:r>
            <a:endParaRPr lang="en-US" sz="720" dirty="0"/>
          </a:p>
        </p:txBody>
      </p:sp>
      <p:sp>
        <p:nvSpPr>
          <p:cNvPr id="34" name="Text 32"/>
          <p:cNvSpPr/>
          <p:nvPr/>
        </p:nvSpPr>
        <p:spPr>
          <a:xfrm>
            <a:off x="508222" y="9275051"/>
            <a:ext cx="1064090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主なJVパートナー</a:t>
            </a:r>
            <a:endParaRPr lang="en-US" sz="660" dirty="0"/>
          </a:p>
        </p:txBody>
      </p:sp>
      <p:sp>
        <p:nvSpPr>
          <p:cNvPr id="35" name="Text 33"/>
          <p:cNvSpPr/>
          <p:nvPr/>
        </p:nvSpPr>
        <p:spPr>
          <a:xfrm>
            <a:off x="1651721" y="9216288"/>
            <a:ext cx="3440028" cy="181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500" spc="-45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BHP　　Rio Tinto　　Anglo American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8068024" y="2363232"/>
            <a:ext cx="376203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第4章</a:t>
            </a:r>
            <a:endParaRPr lang="en-US" sz="660" dirty="0"/>
          </a:p>
        </p:txBody>
      </p:sp>
      <p:sp>
        <p:nvSpPr>
          <p:cNvPr id="37" name="Text 35"/>
          <p:cNvSpPr/>
          <p:nvPr/>
        </p:nvSpPr>
        <p:spPr>
          <a:xfrm>
            <a:off x="8068024" y="2502993"/>
            <a:ext cx="754650" cy="12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60" spc="60" kern="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何を実現するか</a:t>
            </a:r>
            <a:endParaRPr lang="en-US" sz="660" dirty="0"/>
          </a:p>
        </p:txBody>
      </p:sp>
      <p:sp>
        <p:nvSpPr>
          <p:cNvPr id="38" name="Text 36"/>
          <p:cNvSpPr/>
          <p:nvPr/>
        </p:nvSpPr>
        <p:spPr>
          <a:xfrm>
            <a:off x="8068024" y="2740587"/>
            <a:ext cx="4088169" cy="77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60"/>
              </a:lnSpc>
              <a:buNone/>
            </a:pPr>
            <a:r>
              <a:rPr lang="en-US" sz="3000" spc="-75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Building the future</a:t>
            </a:r>
            <a:endParaRPr lang="en-US" sz="3000" dirty="0"/>
          </a:p>
          <a:p>
            <a:pPr algn="l" indent="0" marL="0">
              <a:lnSpc>
                <a:spcPts val="3060"/>
              </a:lnSpc>
              <a:buNone/>
            </a:pPr>
            <a:r>
              <a:rPr lang="en-US" sz="3000" spc="-75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of resources, together.</a:t>
            </a:r>
            <a:endParaRPr lang="en-US" sz="3000" dirty="0"/>
          </a:p>
        </p:txBody>
      </p:sp>
      <p:sp>
        <p:nvSpPr>
          <p:cNvPr id="39" name="Text 37"/>
          <p:cNvSpPr/>
          <p:nvPr/>
        </p:nvSpPr>
        <p:spPr>
          <a:xfrm>
            <a:off x="8068024" y="3793401"/>
            <a:ext cx="2734234" cy="219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15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社会の「当たり前」を、支え続ける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8576246" y="4186764"/>
            <a:ext cx="921053" cy="169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33"/>
              </a:lnSpc>
              <a:buNone/>
            </a:pPr>
            <a:r>
              <a:rPr lang="en-US" sz="86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産業構造の転換</a:t>
            </a:r>
            <a:endParaRPr lang="en-US" sz="860" dirty="0"/>
          </a:p>
        </p:txBody>
      </p:sp>
      <p:sp>
        <p:nvSpPr>
          <p:cNvPr id="41" name="Text 39"/>
          <p:cNvSpPr/>
          <p:nvPr/>
        </p:nvSpPr>
        <p:spPr>
          <a:xfrm>
            <a:off x="8576246" y="4392658"/>
            <a:ext cx="1676855" cy="252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電化・AI・データセンターで、素材の需要</a:t>
            </a:r>
            <a:endParaRPr lang="en-US" sz="620" dirty="0"/>
          </a:p>
          <a:p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が拡大</a:t>
            </a:r>
            <a:endParaRPr lang="en-US" sz="620" dirty="0"/>
          </a:p>
        </p:txBody>
      </p:sp>
      <p:sp>
        <p:nvSpPr>
          <p:cNvPr id="42" name="Text 40"/>
          <p:cNvSpPr/>
          <p:nvPr/>
        </p:nvSpPr>
        <p:spPr>
          <a:xfrm>
            <a:off x="10812423" y="4186764"/>
            <a:ext cx="1045309" cy="169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33"/>
              </a:lnSpc>
              <a:buNone/>
            </a:pPr>
            <a:r>
              <a:rPr lang="en-US" sz="86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供給制約の深刻化</a:t>
            </a:r>
            <a:endParaRPr lang="en-US" sz="860" dirty="0"/>
          </a:p>
        </p:txBody>
      </p:sp>
      <p:sp>
        <p:nvSpPr>
          <p:cNvPr id="43" name="Text 41"/>
          <p:cNvSpPr/>
          <p:nvPr/>
        </p:nvSpPr>
        <p:spPr>
          <a:xfrm>
            <a:off x="10812423" y="4392658"/>
            <a:ext cx="1344704" cy="126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良質な資源の開発が、より難しく</a:t>
            </a:r>
            <a:endParaRPr lang="en-US" sz="620" dirty="0"/>
          </a:p>
        </p:txBody>
      </p:sp>
      <p:sp>
        <p:nvSpPr>
          <p:cNvPr id="44" name="Text 42"/>
          <p:cNvSpPr/>
          <p:nvPr/>
        </p:nvSpPr>
        <p:spPr>
          <a:xfrm>
            <a:off x="13048599" y="4186764"/>
            <a:ext cx="1294040" cy="169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33"/>
              </a:lnSpc>
              <a:buNone/>
            </a:pPr>
            <a:r>
              <a:rPr lang="en-US" sz="86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地政学リスクの常態化</a:t>
            </a:r>
            <a:endParaRPr lang="en-US" sz="860" dirty="0"/>
          </a:p>
        </p:txBody>
      </p:sp>
      <p:sp>
        <p:nvSpPr>
          <p:cNvPr id="45" name="Text 43"/>
          <p:cNvSpPr/>
          <p:nvPr/>
        </p:nvSpPr>
        <p:spPr>
          <a:xfrm>
            <a:off x="13048599" y="4392658"/>
            <a:ext cx="1346451" cy="126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資源の囲い込みが、供給網に影響</a:t>
            </a:r>
            <a:endParaRPr lang="en-US" sz="620" dirty="0"/>
          </a:p>
        </p:txBody>
      </p:sp>
      <p:sp>
        <p:nvSpPr>
          <p:cNvPr id="46" name="Text 44"/>
          <p:cNvSpPr/>
          <p:nvPr/>
        </p:nvSpPr>
        <p:spPr>
          <a:xfrm>
            <a:off x="9092965" y="5296531"/>
            <a:ext cx="4493476" cy="173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880" spc="3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クリティカルミネラルの供給網確保が重要に。川上資源への参入障壁は高まる</a:t>
            </a:r>
            <a:endParaRPr lang="en-US" sz="880" dirty="0"/>
          </a:p>
        </p:txBody>
      </p:sp>
      <p:sp>
        <p:nvSpPr>
          <p:cNvPr id="47" name="Text 45"/>
          <p:cNvSpPr/>
          <p:nvPr/>
        </p:nvSpPr>
        <p:spPr>
          <a:xfrm>
            <a:off x="10399204" y="6451084"/>
            <a:ext cx="559421" cy="163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90"/>
              </a:lnSpc>
              <a:buNone/>
            </a:pPr>
            <a:r>
              <a:rPr lang="en-US" sz="860" spc="5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資源投資</a:t>
            </a:r>
            <a:endParaRPr lang="en-US" sz="860" dirty="0"/>
          </a:p>
        </p:txBody>
      </p:sp>
      <p:sp>
        <p:nvSpPr>
          <p:cNvPr id="48" name="Text 46"/>
          <p:cNvSpPr/>
          <p:nvPr/>
        </p:nvSpPr>
        <p:spPr>
          <a:xfrm>
            <a:off x="11741109" y="6374215"/>
            <a:ext cx="518367" cy="254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spc="5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トレー</a:t>
            </a:r>
            <a:endParaRPr lang="en-US" sz="800" dirty="0"/>
          </a:p>
          <a:p>
            <a:pPr algn="ctr" indent="0" marL="0">
              <a:lnSpc>
                <a:spcPts val="1000"/>
              </a:lnSpc>
              <a:buNone/>
            </a:pPr>
            <a:r>
              <a:rPr lang="en-US" sz="800" spc="5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ディング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11192219" y="6446955"/>
            <a:ext cx="294967" cy="108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55"/>
              </a:lnSpc>
              <a:buNone/>
            </a:pPr>
            <a:r>
              <a:rPr lang="en-US" sz="900" spc="-27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連携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725020" y="6148311"/>
            <a:ext cx="1248836" cy="268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9C744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大規模資産の持分を確保し、</a:t>
            </a:r>
            <a:endParaRPr lang="en-US" sz="660" dirty="0"/>
          </a:p>
          <a:p>
            <a:pPr algn="r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9C744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成長領域に早くから参画</a:t>
            </a:r>
            <a:endParaRPr lang="en-US" sz="660" dirty="0"/>
          </a:p>
        </p:txBody>
      </p:sp>
      <p:sp>
        <p:nvSpPr>
          <p:cNvPr id="51" name="Text 49"/>
          <p:cNvSpPr/>
          <p:nvPr/>
        </p:nvSpPr>
        <p:spPr>
          <a:xfrm>
            <a:off x="12705550" y="6148311"/>
            <a:ext cx="1248836" cy="268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1F3A5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権益の引き取りと外部調達で</a:t>
            </a:r>
            <a:endParaRPr lang="en-US" sz="660" dirty="0"/>
          </a:p>
          <a:p>
            <a:pPr algn="l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1F3A5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安定供給の体制を確立</a:t>
            </a:r>
            <a:endParaRPr lang="en-US" sz="660" dirty="0"/>
          </a:p>
        </p:txBody>
      </p:sp>
      <p:sp>
        <p:nvSpPr>
          <p:cNvPr id="52" name="Text 50"/>
          <p:cNvSpPr/>
          <p:nvPr/>
        </p:nvSpPr>
        <p:spPr>
          <a:xfrm>
            <a:off x="9280133" y="6783969"/>
            <a:ext cx="693723" cy="2096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650"/>
              </a:lnSpc>
              <a:buNone/>
            </a:pPr>
            <a:r>
              <a:rPr lang="en-US" sz="110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安定供給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12705550" y="6783969"/>
            <a:ext cx="1015173" cy="2096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効率的な供給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8003930" y="7337804"/>
            <a:ext cx="6671347" cy="207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32"/>
              </a:lnSpc>
              <a:buNone/>
            </a:pPr>
            <a:r>
              <a:rPr lang="en-US" sz="102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「金属＝経済活動を支える礎」。社会に必要な資源を支えることを、私たちの責務と考えています。</a:t>
            </a:r>
            <a:endParaRPr lang="en-US" sz="1020" dirty="0"/>
          </a:p>
        </p:txBody>
      </p:sp>
      <p:sp>
        <p:nvSpPr>
          <p:cNvPr id="55" name="Text 53"/>
          <p:cNvSpPr/>
          <p:nvPr/>
        </p:nvSpPr>
        <p:spPr>
          <a:xfrm>
            <a:off x="8296724" y="9325873"/>
            <a:ext cx="2567831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E9D6AC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グループミッション｜共に、資源の未来を築く</a:t>
            </a:r>
            <a:endParaRPr lang="en-US" sz="660" dirty="0"/>
          </a:p>
        </p:txBody>
      </p:sp>
      <p:sp>
        <p:nvSpPr>
          <p:cNvPr id="56" name="Text 54"/>
          <p:cNvSpPr/>
          <p:nvPr/>
        </p:nvSpPr>
        <p:spPr>
          <a:xfrm>
            <a:off x="8296724" y="9550762"/>
            <a:ext cx="6607581" cy="396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040" spc="3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社会が必要とする良質な金属資源を、持続可能な形で安定供給することで、より良い社会の実現に</a:t>
            </a:r>
            <a:endParaRPr lang="en-US" sz="1040" dirty="0"/>
          </a:p>
          <a:p>
            <a:pPr algn="l" indent="0" marL="0">
              <a:lnSpc>
                <a:spcPts val="1560"/>
              </a:lnSpc>
              <a:buNone/>
            </a:pPr>
            <a:r>
              <a:rPr lang="en-US" sz="1040" spc="3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寄与する</a:t>
            </a:r>
            <a:endParaRPr lang="en-US" sz="1040" dirty="0"/>
          </a:p>
        </p:txBody>
      </p:sp>
      <p:sp>
        <p:nvSpPr>
          <p:cNvPr id="57" name="Text 55"/>
          <p:cNvSpPr/>
          <p:nvPr/>
        </p:nvSpPr>
        <p:spPr>
          <a:xfrm>
            <a:off x="8296724" y="10083632"/>
            <a:ext cx="5185294" cy="136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72"/>
              </a:lnSpc>
              <a:buNone/>
            </a:pPr>
            <a:r>
              <a:rPr lang="en-US" sz="670" dirty="0">
                <a:solidFill>
                  <a:srgbClr val="9AA1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contribute to a better society by providing a stable supply of high-quality mineral resources, in a sustainable way.</a:t>
            </a:r>
            <a:endParaRPr lang="en-US" sz="670" dirty="0"/>
          </a:p>
        </p:txBody>
      </p:sp>
      <p:sp>
        <p:nvSpPr>
          <p:cNvPr id="58" name="Text 56"/>
          <p:cNvSpPr/>
          <p:nvPr/>
        </p:nvSpPr>
        <p:spPr>
          <a:xfrm>
            <a:off x="508222" y="10316906"/>
            <a:ext cx="184687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spc="16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10</a:t>
            </a:r>
            <a:endParaRPr lang="en-US" sz="600" dirty="0"/>
          </a:p>
        </p:txBody>
      </p:sp>
      <p:sp>
        <p:nvSpPr>
          <p:cNvPr id="59" name="Text 57"/>
          <p:cNvSpPr/>
          <p:nvPr/>
        </p:nvSpPr>
        <p:spPr>
          <a:xfrm>
            <a:off x="14458915" y="10316906"/>
            <a:ext cx="165252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spc="16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11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2026-10-13T13:18:31Z</dcterms:created>
  <dcterms:modified xsi:type="dcterms:W3CDTF">2026-10-13T13:18:31Z</dcterms:modified>
</cp:coreProperties>
</file>