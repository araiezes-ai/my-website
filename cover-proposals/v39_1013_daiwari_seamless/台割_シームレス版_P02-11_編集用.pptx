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7055" y="2922276"/>
            <a:ext cx="252165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都市</a:t>
            </a:r>
            <a:endParaRPr lang="en-US" sz="580" dirty="0"/>
          </a:p>
        </p:txBody>
      </p:sp>
      <p:sp>
        <p:nvSpPr>
          <p:cNvPr id="3" name="Text 1"/>
          <p:cNvSpPr/>
          <p:nvPr/>
        </p:nvSpPr>
        <p:spPr>
          <a:xfrm>
            <a:off x="127055" y="3036626"/>
            <a:ext cx="702021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8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鉄・銅・アルミ</a:t>
            </a:r>
            <a:endParaRPr lang="en-US" sz="580" dirty="0"/>
          </a:p>
        </p:txBody>
      </p:sp>
      <p:sp>
        <p:nvSpPr>
          <p:cNvPr id="4" name="Text 2"/>
          <p:cNvSpPr/>
          <p:nvPr/>
        </p:nvSpPr>
        <p:spPr>
          <a:xfrm>
            <a:off x="4370709" y="1308672"/>
            <a:ext cx="563352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モビリティ</a:t>
            </a:r>
            <a:endParaRPr lang="en-US" sz="580" dirty="0"/>
          </a:p>
        </p:txBody>
      </p:sp>
      <p:sp>
        <p:nvSpPr>
          <p:cNvPr id="5" name="Text 3"/>
          <p:cNvSpPr/>
          <p:nvPr/>
        </p:nvSpPr>
        <p:spPr>
          <a:xfrm>
            <a:off x="4370709" y="1423022"/>
            <a:ext cx="796142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8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鉄・銅・リチウム</a:t>
            </a:r>
            <a:endParaRPr lang="en-US" sz="580" dirty="0"/>
          </a:p>
        </p:txBody>
      </p:sp>
      <p:sp>
        <p:nvSpPr>
          <p:cNvPr id="6" name="Text 4"/>
          <p:cNvSpPr/>
          <p:nvPr/>
        </p:nvSpPr>
        <p:spPr>
          <a:xfrm>
            <a:off x="5362258" y="2322328"/>
            <a:ext cx="1078939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8A96A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鉄道の写真（ストック）</a:t>
            </a:r>
            <a:endParaRPr lang="en-US" sz="670" dirty="0"/>
          </a:p>
        </p:txBody>
      </p:sp>
      <p:sp>
        <p:nvSpPr>
          <p:cNvPr id="7" name="Text 5"/>
          <p:cNvSpPr/>
          <p:nvPr/>
        </p:nvSpPr>
        <p:spPr>
          <a:xfrm>
            <a:off x="4370709" y="2922276"/>
            <a:ext cx="252165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5A6570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鉄道</a:t>
            </a:r>
            <a:endParaRPr lang="en-US" sz="580" dirty="0"/>
          </a:p>
        </p:txBody>
      </p:sp>
      <p:sp>
        <p:nvSpPr>
          <p:cNvPr id="8" name="Text 6"/>
          <p:cNvSpPr/>
          <p:nvPr/>
        </p:nvSpPr>
        <p:spPr>
          <a:xfrm>
            <a:off x="4370709" y="3036626"/>
            <a:ext cx="327505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80" kern="0" dirty="0">
                <a:solidFill>
                  <a:srgbClr val="5A657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鉄・銅</a:t>
            </a:r>
            <a:endParaRPr lang="en-US" sz="580" dirty="0"/>
          </a:p>
        </p:txBody>
      </p:sp>
      <p:sp>
        <p:nvSpPr>
          <p:cNvPr id="9" name="Text 7"/>
          <p:cNvSpPr/>
          <p:nvPr/>
        </p:nvSpPr>
        <p:spPr>
          <a:xfrm>
            <a:off x="127055" y="4828109"/>
            <a:ext cx="963855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再生可能エネルギー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127055" y="4942459"/>
            <a:ext cx="327505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8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銅・鉄</a:t>
            </a:r>
            <a:endParaRPr lang="en-US" sz="580" dirty="0"/>
          </a:p>
        </p:txBody>
      </p:sp>
      <p:sp>
        <p:nvSpPr>
          <p:cNvPr id="11" name="Text 9"/>
          <p:cNvSpPr/>
          <p:nvPr/>
        </p:nvSpPr>
        <p:spPr>
          <a:xfrm>
            <a:off x="2248882" y="4828109"/>
            <a:ext cx="352619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送電網</a:t>
            </a:r>
            <a:endParaRPr lang="en-US" sz="580" dirty="0"/>
          </a:p>
        </p:txBody>
      </p:sp>
      <p:sp>
        <p:nvSpPr>
          <p:cNvPr id="12" name="Text 10"/>
          <p:cNvSpPr/>
          <p:nvPr/>
        </p:nvSpPr>
        <p:spPr>
          <a:xfrm>
            <a:off x="2248882" y="4942459"/>
            <a:ext cx="517711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8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銅・アルミ</a:t>
            </a:r>
            <a:endParaRPr lang="en-US" sz="580" dirty="0"/>
          </a:p>
        </p:txBody>
      </p:sp>
      <p:sp>
        <p:nvSpPr>
          <p:cNvPr id="13" name="Text 11"/>
          <p:cNvSpPr/>
          <p:nvPr/>
        </p:nvSpPr>
        <p:spPr>
          <a:xfrm>
            <a:off x="4756054" y="4082047"/>
            <a:ext cx="2291148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8A96A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スマートフォン・データセンターの写真（ストック）</a:t>
            </a:r>
            <a:endParaRPr lang="en-US" sz="670" dirty="0"/>
          </a:p>
        </p:txBody>
      </p:sp>
      <p:sp>
        <p:nvSpPr>
          <p:cNvPr id="14" name="Text 12"/>
          <p:cNvSpPr/>
          <p:nvPr/>
        </p:nvSpPr>
        <p:spPr>
          <a:xfrm>
            <a:off x="4370709" y="4828109"/>
            <a:ext cx="460934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5A6570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デバイス</a:t>
            </a:r>
            <a:endParaRPr lang="en-US" sz="580" dirty="0"/>
          </a:p>
        </p:txBody>
      </p:sp>
      <p:sp>
        <p:nvSpPr>
          <p:cNvPr id="15" name="Text 13"/>
          <p:cNvSpPr/>
          <p:nvPr/>
        </p:nvSpPr>
        <p:spPr>
          <a:xfrm>
            <a:off x="4370709" y="4942459"/>
            <a:ext cx="1080250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80" kern="0" dirty="0">
                <a:solidFill>
                  <a:srgbClr val="5A657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銅・リチウム・ニッケル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7737680" y="3100154"/>
            <a:ext cx="453290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金属素材</a:t>
            </a:r>
            <a:endParaRPr lang="en-US" sz="580" dirty="0"/>
          </a:p>
        </p:txBody>
      </p:sp>
      <p:sp>
        <p:nvSpPr>
          <p:cNvPr id="17" name="Text 15"/>
          <p:cNvSpPr/>
          <p:nvPr/>
        </p:nvSpPr>
        <p:spPr>
          <a:xfrm>
            <a:off x="7737680" y="3214504"/>
            <a:ext cx="1451053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8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暮らしを形づくる鉄・銅・アルミ</a:t>
            </a:r>
            <a:endParaRPr lang="en-US" sz="580" dirty="0"/>
          </a:p>
        </p:txBody>
      </p:sp>
      <p:sp>
        <p:nvSpPr>
          <p:cNvPr id="18" name="Text 16"/>
          <p:cNvSpPr/>
          <p:nvPr/>
        </p:nvSpPr>
        <p:spPr>
          <a:xfrm>
            <a:off x="11981333" y="3100154"/>
            <a:ext cx="553744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製錬・精製</a:t>
            </a:r>
            <a:endParaRPr lang="en-US" sz="580" dirty="0"/>
          </a:p>
        </p:txBody>
      </p:sp>
      <p:sp>
        <p:nvSpPr>
          <p:cNvPr id="19" name="Text 17"/>
          <p:cNvSpPr/>
          <p:nvPr/>
        </p:nvSpPr>
        <p:spPr>
          <a:xfrm>
            <a:off x="7737680" y="4828109"/>
            <a:ext cx="453290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海上輸送</a:t>
            </a:r>
            <a:endParaRPr lang="en-US" sz="580" dirty="0"/>
          </a:p>
        </p:txBody>
      </p:sp>
      <p:sp>
        <p:nvSpPr>
          <p:cNvPr id="20" name="Text 18"/>
          <p:cNvSpPr/>
          <p:nvPr/>
        </p:nvSpPr>
        <p:spPr>
          <a:xfrm>
            <a:off x="11053828" y="4828109"/>
            <a:ext cx="352619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銅地金</a:t>
            </a:r>
            <a:endParaRPr lang="en-US" sz="580" dirty="0"/>
          </a:p>
        </p:txBody>
      </p:sp>
      <p:sp>
        <p:nvSpPr>
          <p:cNvPr id="21" name="Text 19"/>
          <p:cNvSpPr/>
          <p:nvPr/>
        </p:nvSpPr>
        <p:spPr>
          <a:xfrm>
            <a:off x="508222" y="5590442"/>
            <a:ext cx="894848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コアメッセージ</a:t>
            </a:r>
            <a:endParaRPr lang="en-US" sz="660" dirty="0"/>
          </a:p>
        </p:txBody>
      </p:sp>
      <p:sp>
        <p:nvSpPr>
          <p:cNvPr id="22" name="Text 20"/>
          <p:cNvSpPr/>
          <p:nvPr/>
        </p:nvSpPr>
        <p:spPr>
          <a:xfrm>
            <a:off x="508222" y="5730203"/>
            <a:ext cx="855322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60" spc="60" kern="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私たちの存在意義</a:t>
            </a:r>
            <a:endParaRPr lang="en-US" sz="660" dirty="0"/>
          </a:p>
        </p:txBody>
      </p:sp>
      <p:sp>
        <p:nvSpPr>
          <p:cNvPr id="23" name="Text 21"/>
          <p:cNvSpPr/>
          <p:nvPr/>
        </p:nvSpPr>
        <p:spPr>
          <a:xfrm>
            <a:off x="508222" y="5918880"/>
            <a:ext cx="5064750" cy="12273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600" spc="-92" kern="0" dirty="0">
                <a:solidFill>
                  <a:srgbClr val="121519"/>
                </a:solidFill>
                <a:latin typeface="Inter Tight Light" pitchFamily="34" charset="0"/>
                <a:ea typeface="Inter Tight Light" pitchFamily="34" charset="-122"/>
                <a:cs typeface="Inter Tight Light" pitchFamily="34" charset="-120"/>
              </a:rPr>
              <a:t>Strength to Hold.</a:t>
            </a:r>
            <a:endParaRPr lang="en-US" sz="4600" dirty="0"/>
          </a:p>
          <a:p>
            <a:pPr algn="l" indent="0" marL="0">
              <a:lnSpc>
                <a:spcPts val="4830"/>
              </a:lnSpc>
              <a:buNone/>
            </a:pPr>
            <a:r>
              <a:rPr lang="en-US" sz="4600" spc="-92" kern="0" dirty="0">
                <a:solidFill>
                  <a:srgbClr val="121519"/>
                </a:solidFill>
                <a:latin typeface="Inter Tight Light" pitchFamily="34" charset="0"/>
                <a:ea typeface="Inter Tight Light" pitchFamily="34" charset="-122"/>
                <a:cs typeface="Inter Tight Light" pitchFamily="34" charset="-120"/>
              </a:rPr>
              <a:t>Power to Connect.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508222" y="7359690"/>
            <a:ext cx="2208820" cy="285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持つ力と、つなぐ力。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08222" y="7666243"/>
            <a:ext cx="4243654" cy="904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7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資源は、そこに「ある」だけでは、まだ価値ではありません。誰かが見出し、育て、</a:t>
            </a:r>
            <a:endParaRPr lang="en-US" sz="770" dirty="0"/>
          </a:p>
          <a:p>
            <a:pPr algn="l" indent="0" marL="0">
              <a:lnSpc>
                <a:spcPts val="1425"/>
              </a:lnSpc>
              <a:buNone/>
            </a:pPr>
            <a:r>
              <a:rPr lang="en-US" sz="7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必要とする場所へ届けて、はじめて力になる。私たちは、世界有数の資産に関わり、</a:t>
            </a:r>
            <a:endParaRPr lang="en-US" sz="770" dirty="0"/>
          </a:p>
          <a:p>
            <a:pPr algn="l" indent="0" marL="0">
              <a:lnSpc>
                <a:spcPts val="1425"/>
              </a:lnSpc>
              <a:buNone/>
            </a:pPr>
            <a:r>
              <a:rPr lang="en-US" sz="7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投資とトレーディングの両輪で川上から川下までをつなぎます。フェアな立場だから</a:t>
            </a:r>
            <a:endParaRPr lang="en-US" sz="770" dirty="0"/>
          </a:p>
          <a:p>
            <a:pPr algn="l" indent="0" marL="0">
              <a:lnSpc>
                <a:spcPts val="1425"/>
              </a:lnSpc>
              <a:buNone/>
            </a:pPr>
            <a:r>
              <a:rPr lang="en-US" sz="7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こそ、埋められる隙間がある。多様なパートナーと使い手の間に立ち、その時々の最</a:t>
            </a:r>
            <a:endParaRPr lang="en-US" sz="770" dirty="0"/>
          </a:p>
          <a:p>
            <a:pPr algn="l" indent="0" marL="0">
              <a:lnSpc>
                <a:spcPts val="1425"/>
              </a:lnSpc>
              <a:buNone/>
            </a:pPr>
            <a:r>
              <a:rPr lang="en-US" sz="7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適解を導く。世界に眠る価値を、社会の力へ。</a:t>
            </a:r>
            <a:endParaRPr lang="en-US" sz="770" dirty="0"/>
          </a:p>
        </p:txBody>
      </p:sp>
      <p:sp>
        <p:nvSpPr>
          <p:cNvPr id="26" name="Text 24"/>
          <p:cNvSpPr/>
          <p:nvPr/>
        </p:nvSpPr>
        <p:spPr>
          <a:xfrm>
            <a:off x="8068024" y="5590442"/>
            <a:ext cx="288416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目次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8068024" y="5730203"/>
            <a:ext cx="505701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60" spc="60" kern="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Contents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8068024" y="6041489"/>
            <a:ext cx="543917" cy="482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4000" spc="-120" kern="0" dirty="0">
                <a:solidFill>
                  <a:srgbClr val="9C7442"/>
                </a:solidFill>
                <a:latin typeface="Inter Tight Light" pitchFamily="34" charset="0"/>
                <a:ea typeface="Inter Tight Light" pitchFamily="34" charset="-122"/>
                <a:cs typeface="Inter Tight Light" pitchFamily="34" charset="-120"/>
              </a:rPr>
              <a:t>01</a:t>
            </a:r>
            <a:endParaRPr lang="en-US" sz="4000" dirty="0"/>
          </a:p>
        </p:txBody>
      </p:sp>
      <p:sp>
        <p:nvSpPr>
          <p:cNvPr id="29" name="Text 27"/>
          <p:cNvSpPr/>
          <p:nvPr/>
        </p:nvSpPr>
        <p:spPr>
          <a:xfrm>
            <a:off x="9135290" y="6092311"/>
            <a:ext cx="1266743" cy="266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我々は何者か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35290" y="6368530"/>
            <a:ext cx="1752631" cy="1463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72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三菱商事とは／金属資源グループとは</a:t>
            </a:r>
            <a:endParaRPr lang="en-US" sz="720" dirty="0"/>
          </a:p>
        </p:txBody>
      </p:sp>
      <p:sp>
        <p:nvSpPr>
          <p:cNvPr id="31" name="Text 29"/>
          <p:cNvSpPr/>
          <p:nvPr/>
        </p:nvSpPr>
        <p:spPr>
          <a:xfrm>
            <a:off x="14179393" y="6124075"/>
            <a:ext cx="323793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00" spc="16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P.04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8068024" y="6956288"/>
            <a:ext cx="667081" cy="482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4000" spc="-120" kern="0" dirty="0">
                <a:solidFill>
                  <a:srgbClr val="9C7442"/>
                </a:solidFill>
                <a:latin typeface="Inter Tight Light" pitchFamily="34" charset="0"/>
                <a:ea typeface="Inter Tight Light" pitchFamily="34" charset="-122"/>
                <a:cs typeface="Inter Tight Light" pitchFamily="34" charset="-120"/>
              </a:rPr>
              <a:t>02</a:t>
            </a:r>
            <a:endParaRPr lang="en-US" sz="4000" dirty="0"/>
          </a:p>
        </p:txBody>
      </p:sp>
      <p:sp>
        <p:nvSpPr>
          <p:cNvPr id="33" name="Text 31"/>
          <p:cNvSpPr/>
          <p:nvPr/>
        </p:nvSpPr>
        <p:spPr>
          <a:xfrm>
            <a:off x="9135290" y="7007111"/>
            <a:ext cx="861436" cy="266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独自価値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135290" y="7283329"/>
            <a:ext cx="3150897" cy="1463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72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投資とトレーディングの両輪／原料炭・銅・トレーディング・新技術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14179393" y="7038874"/>
            <a:ext cx="321391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00" spc="16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P.06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8068024" y="7871088"/>
            <a:ext cx="677126" cy="482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4000" spc="-120" kern="0" dirty="0">
                <a:solidFill>
                  <a:srgbClr val="9C7442"/>
                </a:solidFill>
                <a:latin typeface="Inter Tight Light" pitchFamily="34" charset="0"/>
                <a:ea typeface="Inter Tight Light" pitchFamily="34" charset="-122"/>
                <a:cs typeface="Inter Tight Light" pitchFamily="34" charset="-120"/>
              </a:rPr>
              <a:t>03</a:t>
            </a:r>
            <a:endParaRPr lang="en-US" sz="4000" dirty="0"/>
          </a:p>
        </p:txBody>
      </p:sp>
      <p:sp>
        <p:nvSpPr>
          <p:cNvPr id="37" name="Text 35"/>
          <p:cNvSpPr/>
          <p:nvPr/>
        </p:nvSpPr>
        <p:spPr>
          <a:xfrm>
            <a:off x="9135290" y="7921910"/>
            <a:ext cx="1672050" cy="266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選ばれ続ける理由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135290" y="8198129"/>
            <a:ext cx="854448" cy="1463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72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Partner of Choice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14179393" y="7953674"/>
            <a:ext cx="298243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00" spc="16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P.10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068024" y="8785888"/>
            <a:ext cx="675598" cy="482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4000" spc="-120" kern="0" dirty="0">
                <a:solidFill>
                  <a:srgbClr val="9C7442"/>
                </a:solidFill>
                <a:latin typeface="Inter Tight Light" pitchFamily="34" charset="0"/>
                <a:ea typeface="Inter Tight Light" pitchFamily="34" charset="-122"/>
                <a:cs typeface="Inter Tight Light" pitchFamily="34" charset="-120"/>
              </a:rPr>
              <a:t>04</a:t>
            </a:r>
            <a:endParaRPr lang="en-US" sz="4000" dirty="0"/>
          </a:p>
        </p:txBody>
      </p:sp>
      <p:sp>
        <p:nvSpPr>
          <p:cNvPr id="41" name="Text 39"/>
          <p:cNvSpPr/>
          <p:nvPr/>
        </p:nvSpPr>
        <p:spPr>
          <a:xfrm>
            <a:off x="9135290" y="8836710"/>
            <a:ext cx="1469397" cy="266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何を実現するか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135290" y="9112928"/>
            <a:ext cx="1055573" cy="1463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72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社会課題への取り組み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14179393" y="8868474"/>
            <a:ext cx="279026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00" spc="16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P.11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508222" y="10316906"/>
            <a:ext cx="201502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00" spc="16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02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14458915" y="10316906"/>
            <a:ext cx="202376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00" spc="16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03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7055" y="2286999"/>
            <a:ext cx="453290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三菱商事</a:t>
            </a:r>
            <a:endParaRPr lang="en-US" sz="580" dirty="0"/>
          </a:p>
        </p:txBody>
      </p:sp>
      <p:sp>
        <p:nvSpPr>
          <p:cNvPr id="3" name="Text 1"/>
          <p:cNvSpPr/>
          <p:nvPr/>
        </p:nvSpPr>
        <p:spPr>
          <a:xfrm>
            <a:off x="127055" y="2401349"/>
            <a:ext cx="605936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8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東京・丸の内</a:t>
            </a:r>
            <a:endParaRPr lang="en-US" sz="580" dirty="0"/>
          </a:p>
        </p:txBody>
      </p:sp>
      <p:sp>
        <p:nvSpPr>
          <p:cNvPr id="4" name="Text 2"/>
          <p:cNvSpPr/>
          <p:nvPr/>
        </p:nvSpPr>
        <p:spPr>
          <a:xfrm>
            <a:off x="5005987" y="2286999"/>
            <a:ext cx="352619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総合力</a:t>
            </a:r>
            <a:endParaRPr lang="en-US" sz="580" dirty="0"/>
          </a:p>
        </p:txBody>
      </p:sp>
      <p:sp>
        <p:nvSpPr>
          <p:cNvPr id="5" name="Text 3"/>
          <p:cNvSpPr/>
          <p:nvPr/>
        </p:nvSpPr>
        <p:spPr>
          <a:xfrm>
            <a:off x="5005987" y="2401349"/>
            <a:ext cx="890262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8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産業と地域をまたぐ</a:t>
            </a:r>
            <a:endParaRPr lang="en-US" sz="580" dirty="0"/>
          </a:p>
        </p:txBody>
      </p:sp>
      <p:sp>
        <p:nvSpPr>
          <p:cNvPr id="6" name="Text 4"/>
          <p:cNvSpPr/>
          <p:nvPr/>
        </p:nvSpPr>
        <p:spPr>
          <a:xfrm>
            <a:off x="7737680" y="2286999"/>
            <a:ext cx="352619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原料炭</a:t>
            </a:r>
            <a:endParaRPr lang="en-US" sz="580" dirty="0"/>
          </a:p>
        </p:txBody>
      </p:sp>
      <p:sp>
        <p:nvSpPr>
          <p:cNvPr id="7" name="Text 5"/>
          <p:cNvSpPr/>
          <p:nvPr/>
        </p:nvSpPr>
        <p:spPr>
          <a:xfrm>
            <a:off x="7737680" y="2401349"/>
            <a:ext cx="235350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8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豪州</a:t>
            </a:r>
            <a:endParaRPr lang="en-US" sz="580" dirty="0"/>
          </a:p>
        </p:txBody>
      </p:sp>
      <p:sp>
        <p:nvSpPr>
          <p:cNvPr id="8" name="Text 6"/>
          <p:cNvSpPr/>
          <p:nvPr/>
        </p:nvSpPr>
        <p:spPr>
          <a:xfrm>
            <a:off x="11600167" y="2286999"/>
            <a:ext cx="151494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銅</a:t>
            </a:r>
            <a:endParaRPr lang="en-US" sz="580" dirty="0"/>
          </a:p>
        </p:txBody>
      </p:sp>
      <p:sp>
        <p:nvSpPr>
          <p:cNvPr id="9" name="Text 7"/>
          <p:cNvSpPr/>
          <p:nvPr/>
        </p:nvSpPr>
        <p:spPr>
          <a:xfrm>
            <a:off x="11600167" y="2401349"/>
            <a:ext cx="235350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8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南米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3811665" y="2534757"/>
            <a:ext cx="1857889" cy="1524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0"/>
              </a:lnSpc>
              <a:buNone/>
            </a:pPr>
            <a:r>
              <a:rPr lang="en-US" sz="15000" spc="-600" kern="0" dirty="0">
                <a:solidFill>
                  <a:srgbClr val="000000">
                    <a:alpha val="0"/>
                  </a:srgbClr>
                </a:solidFill>
                <a:latin typeface="Inter Tight Light" pitchFamily="34" charset="0"/>
                <a:ea typeface="Inter Tight Light" pitchFamily="34" charset="-122"/>
                <a:cs typeface="Inter Tight Light" pitchFamily="34" charset="-120"/>
              </a:rPr>
              <a:t>01</a:t>
            </a:r>
            <a:endParaRPr lang="en-US" sz="15000" dirty="0"/>
          </a:p>
        </p:txBody>
      </p:sp>
      <p:sp>
        <p:nvSpPr>
          <p:cNvPr id="11" name="Text 9"/>
          <p:cNvSpPr/>
          <p:nvPr/>
        </p:nvSpPr>
        <p:spPr>
          <a:xfrm>
            <a:off x="508222" y="2820632"/>
            <a:ext cx="353929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第1章</a:t>
            </a:r>
            <a:endParaRPr lang="en-US" sz="660" dirty="0"/>
          </a:p>
        </p:txBody>
      </p:sp>
      <p:sp>
        <p:nvSpPr>
          <p:cNvPr id="12" name="Text 10"/>
          <p:cNvSpPr/>
          <p:nvPr/>
        </p:nvSpPr>
        <p:spPr>
          <a:xfrm>
            <a:off x="508222" y="2960393"/>
            <a:ext cx="1358025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60" spc="60" kern="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我々は何者か｜三菱商事とは</a:t>
            </a:r>
            <a:endParaRPr lang="en-US" sz="660" dirty="0"/>
          </a:p>
        </p:txBody>
      </p:sp>
      <p:sp>
        <p:nvSpPr>
          <p:cNvPr id="13" name="Text 11"/>
          <p:cNvSpPr/>
          <p:nvPr/>
        </p:nvSpPr>
        <p:spPr>
          <a:xfrm>
            <a:off x="508222" y="3190363"/>
            <a:ext cx="3023583" cy="518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4000" spc="-100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Who we are.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508222" y="3991726"/>
            <a:ext cx="3655347" cy="219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三綱領を精神の根幹に、「総合力」で価値を生む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08222" y="4233164"/>
            <a:ext cx="3544848" cy="542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7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三菱商事は三綱領を企業理念とし、事業を通じて経済価値・社会価</a:t>
            </a:r>
            <a:endParaRPr lang="en-US" sz="770" dirty="0"/>
          </a:p>
          <a:p>
            <a:pPr algn="l" indent="0" marL="0">
              <a:lnSpc>
                <a:spcPts val="1425"/>
              </a:lnSpc>
              <a:buNone/>
            </a:pPr>
            <a:r>
              <a:rPr lang="en-US" sz="7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値・環境価値の同時実現を目指しています。幅広い産業と地域にまた</a:t>
            </a:r>
            <a:endParaRPr lang="en-US" sz="770" dirty="0"/>
          </a:p>
          <a:p>
            <a:pPr algn="l" indent="0" marL="0">
              <a:lnSpc>
                <a:spcPts val="1425"/>
              </a:lnSpc>
              <a:buNone/>
            </a:pPr>
            <a:r>
              <a:rPr lang="en-US" sz="7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がる事業と人のつながり＝「総合力」が、三菱商事の強みです。</a:t>
            </a:r>
            <a:endParaRPr lang="en-US" sz="770" dirty="0"/>
          </a:p>
        </p:txBody>
      </p:sp>
      <p:sp>
        <p:nvSpPr>
          <p:cNvPr id="16" name="Text 14"/>
          <p:cNvSpPr/>
          <p:nvPr/>
        </p:nvSpPr>
        <p:spPr>
          <a:xfrm>
            <a:off x="508222" y="5666675"/>
            <a:ext cx="406994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三綱領</a:t>
            </a:r>
            <a:endParaRPr lang="en-US" sz="660" dirty="0"/>
          </a:p>
        </p:txBody>
      </p:sp>
      <p:sp>
        <p:nvSpPr>
          <p:cNvPr id="17" name="Text 15"/>
          <p:cNvSpPr/>
          <p:nvPr/>
        </p:nvSpPr>
        <p:spPr>
          <a:xfrm>
            <a:off x="1143499" y="5666675"/>
            <a:ext cx="955775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60" spc="60" kern="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三菱商事の企業理念</a:t>
            </a:r>
            <a:endParaRPr lang="en-US" sz="660" dirty="0"/>
          </a:p>
        </p:txBody>
      </p:sp>
      <p:sp>
        <p:nvSpPr>
          <p:cNvPr id="18" name="Text 16"/>
          <p:cNvSpPr/>
          <p:nvPr/>
        </p:nvSpPr>
        <p:spPr>
          <a:xfrm>
            <a:off x="508222" y="6022431"/>
            <a:ext cx="973463" cy="304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所期奉公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24666" y="6085958"/>
            <a:ext cx="699838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20" spc="3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しょきほうこう</a:t>
            </a:r>
            <a:endParaRPr lang="en-US" sz="620" dirty="0"/>
          </a:p>
        </p:txBody>
      </p:sp>
      <p:sp>
        <p:nvSpPr>
          <p:cNvPr id="20" name="Text 18"/>
          <p:cNvSpPr/>
          <p:nvPr/>
        </p:nvSpPr>
        <p:spPr>
          <a:xfrm>
            <a:off x="508222" y="6323806"/>
            <a:ext cx="2905005" cy="268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事業を通じ、物心共に豊かな社会の実現に努力すると同時に、かけが</a:t>
            </a:r>
            <a:endParaRPr lang="en-US" sz="660" dirty="0"/>
          </a:p>
          <a:p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えのない地球環境の維持にも貢献する</a:t>
            </a:r>
            <a:endParaRPr lang="en-US" sz="660" dirty="0"/>
          </a:p>
        </p:txBody>
      </p:sp>
      <p:sp>
        <p:nvSpPr>
          <p:cNvPr id="21" name="Text 19"/>
          <p:cNvSpPr/>
          <p:nvPr/>
        </p:nvSpPr>
        <p:spPr>
          <a:xfrm>
            <a:off x="508222" y="6988052"/>
            <a:ext cx="973463" cy="304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処事光明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24666" y="7051580"/>
            <a:ext cx="699838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20" spc="3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しょじこうめい</a:t>
            </a:r>
            <a:endParaRPr lang="en-US" sz="620" dirty="0"/>
          </a:p>
        </p:txBody>
      </p:sp>
      <p:sp>
        <p:nvSpPr>
          <p:cNvPr id="23" name="Text 21"/>
          <p:cNvSpPr/>
          <p:nvPr/>
        </p:nvSpPr>
        <p:spPr>
          <a:xfrm>
            <a:off x="508222" y="7289428"/>
            <a:ext cx="2907625" cy="268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公明正大で品格のある行動を旨とし、活動の公開性、透明性を堅持す</a:t>
            </a:r>
            <a:endParaRPr lang="en-US" sz="660" dirty="0"/>
          </a:p>
          <a:p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る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508222" y="7953674"/>
            <a:ext cx="973463" cy="304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立業貿易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524666" y="8017202"/>
            <a:ext cx="885239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20" spc="3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りつぎょうぼうえき</a:t>
            </a:r>
            <a:endParaRPr lang="en-US" sz="620" dirty="0"/>
          </a:p>
        </p:txBody>
      </p:sp>
      <p:sp>
        <p:nvSpPr>
          <p:cNvPr id="26" name="Text 24"/>
          <p:cNvSpPr/>
          <p:nvPr/>
        </p:nvSpPr>
        <p:spPr>
          <a:xfrm>
            <a:off x="508222" y="8255050"/>
            <a:ext cx="2078231" cy="134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全世界的、宇宙的視野に立脚した事業展開を図る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131563" y="6953112"/>
            <a:ext cx="917559" cy="285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三菱商事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386845" y="7242163"/>
            <a:ext cx="406994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総合力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5168022" y="7415467"/>
            <a:ext cx="844840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7つの営業グループ</a:t>
            </a:r>
            <a:endParaRPr lang="en-US" sz="670" dirty="0"/>
          </a:p>
        </p:txBody>
      </p:sp>
      <p:sp>
        <p:nvSpPr>
          <p:cNvPr id="30" name="Text 28"/>
          <p:cNvSpPr/>
          <p:nvPr/>
        </p:nvSpPr>
        <p:spPr>
          <a:xfrm>
            <a:off x="6885862" y="7165612"/>
            <a:ext cx="255004" cy="2045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5"/>
              </a:lnSpc>
              <a:buNone/>
            </a:pPr>
            <a:r>
              <a:rPr lang="en-US" sz="700" spc="3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金属</a:t>
            </a:r>
            <a:endParaRPr lang="en-US" sz="700" dirty="0"/>
          </a:p>
          <a:p>
            <a:pPr algn="ctr" indent="0" marL="0">
              <a:lnSpc>
                <a:spcPts val="805"/>
              </a:lnSpc>
              <a:buNone/>
            </a:pPr>
            <a:r>
              <a:rPr lang="en-US" sz="700" spc="3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資源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3777400" y="9116105"/>
            <a:ext cx="3626084" cy="330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02"/>
              </a:lnSpc>
              <a:buNone/>
            </a:pPr>
            <a:r>
              <a:rPr lang="en-US" sz="84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金属資源グループは、7つの営業グループのうち、長年にわたり三</a:t>
            </a:r>
            <a:endParaRPr lang="en-US" sz="840" dirty="0"/>
          </a:p>
          <a:p>
            <a:pPr algn="ctr" indent="0" marL="0">
              <a:lnSpc>
                <a:spcPts val="1302"/>
              </a:lnSpc>
              <a:buNone/>
            </a:pPr>
            <a:r>
              <a:rPr lang="en-US" sz="84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菱商事を支えてきた中核グループの一つ。</a:t>
            </a:r>
            <a:endParaRPr lang="en-US" sz="840" dirty="0"/>
          </a:p>
        </p:txBody>
      </p:sp>
      <p:sp>
        <p:nvSpPr>
          <p:cNvPr id="32" name="Text 30"/>
          <p:cNvSpPr/>
          <p:nvPr/>
        </p:nvSpPr>
        <p:spPr>
          <a:xfrm>
            <a:off x="8068024" y="2820632"/>
            <a:ext cx="353929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第1章</a:t>
            </a:r>
            <a:endParaRPr lang="en-US" sz="660" dirty="0"/>
          </a:p>
        </p:txBody>
      </p:sp>
      <p:sp>
        <p:nvSpPr>
          <p:cNvPr id="33" name="Text 31"/>
          <p:cNvSpPr/>
          <p:nvPr/>
        </p:nvSpPr>
        <p:spPr>
          <a:xfrm>
            <a:off x="8068024" y="2960393"/>
            <a:ext cx="1754597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60" spc="60" kern="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我々は何者か｜金属資源グループとは</a:t>
            </a:r>
            <a:endParaRPr lang="en-US" sz="660" dirty="0"/>
          </a:p>
        </p:txBody>
      </p:sp>
      <p:sp>
        <p:nvSpPr>
          <p:cNvPr id="34" name="Text 32"/>
          <p:cNvSpPr/>
          <p:nvPr/>
        </p:nvSpPr>
        <p:spPr>
          <a:xfrm>
            <a:off x="8068024" y="3197224"/>
            <a:ext cx="3776328" cy="9330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72"/>
              </a:lnSpc>
              <a:buNone/>
            </a:pPr>
            <a:r>
              <a:rPr lang="en-US" sz="3600" spc="-90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The core that has</a:t>
            </a:r>
            <a:endParaRPr lang="en-US" sz="3600" dirty="0"/>
          </a:p>
          <a:p>
            <a:pPr algn="l" indent="0" marL="0">
              <a:lnSpc>
                <a:spcPts val="3672"/>
              </a:lnSpc>
              <a:buNone/>
            </a:pPr>
            <a:r>
              <a:rPr lang="en-US" sz="3600" spc="-90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carried us.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8068024" y="4406443"/>
            <a:ext cx="2887535" cy="219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三綱領を体現する中核グループとして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068024" y="4647881"/>
            <a:ext cx="7248516" cy="361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7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社会に不可欠な金属資源を世界から確保し、安定的に届けてきました。三綱領を事業で体現する中核グループとして、長年にわたり会社の屋台骨</a:t>
            </a:r>
            <a:endParaRPr lang="en-US" sz="770" dirty="0"/>
          </a:p>
          <a:p>
            <a:pPr algn="l" indent="0" marL="0">
              <a:lnSpc>
                <a:spcPts val="1425"/>
              </a:lnSpc>
              <a:buNone/>
            </a:pPr>
            <a:r>
              <a:rPr lang="en-US" sz="7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を支えています。</a:t>
            </a:r>
            <a:endParaRPr lang="en-US" sz="770" dirty="0"/>
          </a:p>
        </p:txBody>
      </p:sp>
      <p:sp>
        <p:nvSpPr>
          <p:cNvPr id="37" name="Text 35"/>
          <p:cNvSpPr/>
          <p:nvPr/>
        </p:nvSpPr>
        <p:spPr>
          <a:xfrm>
            <a:off x="8271313" y="5278362"/>
            <a:ext cx="1136591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E9D6A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グループミッション</a:t>
            </a:r>
            <a:endParaRPr lang="en-US" sz="660" dirty="0"/>
          </a:p>
        </p:txBody>
      </p:sp>
      <p:sp>
        <p:nvSpPr>
          <p:cNvPr id="38" name="Text 36"/>
          <p:cNvSpPr/>
          <p:nvPr/>
        </p:nvSpPr>
        <p:spPr>
          <a:xfrm>
            <a:off x="8271313" y="5481651"/>
            <a:ext cx="6799970" cy="381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spc="3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社会が必要とする良質な金属資源を、持続可能な形で安定供給することで、より良い社会の実現に寄与す</a:t>
            </a:r>
            <a:endParaRPr lang="en-US" sz="10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00" spc="3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る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68024" y="6205867"/>
            <a:ext cx="646554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長年の貢献</a:t>
            </a:r>
            <a:endParaRPr lang="en-US" sz="660" dirty="0"/>
          </a:p>
        </p:txBody>
      </p:sp>
      <p:sp>
        <p:nvSpPr>
          <p:cNvPr id="40" name="Text 38"/>
          <p:cNvSpPr/>
          <p:nvPr/>
        </p:nvSpPr>
        <p:spPr>
          <a:xfrm>
            <a:off x="8957412" y="6205867"/>
            <a:ext cx="952936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60" spc="60" kern="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会社の屋台骨として</a:t>
            </a:r>
            <a:endParaRPr lang="en-US" sz="660" dirty="0"/>
          </a:p>
        </p:txBody>
      </p:sp>
      <p:sp>
        <p:nvSpPr>
          <p:cNvPr id="41" name="Text 39"/>
          <p:cNvSpPr/>
          <p:nvPr/>
        </p:nvSpPr>
        <p:spPr>
          <a:xfrm>
            <a:off x="8068024" y="6405979"/>
            <a:ext cx="4357865" cy="247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市況の波を越えて、全社の利益を長く支えてきた。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068024" y="6790322"/>
            <a:ext cx="290600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歩み</a:t>
            </a:r>
            <a:endParaRPr lang="en-US" sz="660" dirty="0"/>
          </a:p>
        </p:txBody>
      </p:sp>
      <p:sp>
        <p:nvSpPr>
          <p:cNvPr id="43" name="Text 41"/>
          <p:cNvSpPr/>
          <p:nvPr/>
        </p:nvSpPr>
        <p:spPr>
          <a:xfrm>
            <a:off x="8576246" y="6790322"/>
            <a:ext cx="1643006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60" spc="60" kern="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先見性をもって、先手を打ってきた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8830357" y="7874900"/>
            <a:ext cx="1091387" cy="144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1200" spc="-36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1980〜90年代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830357" y="8427591"/>
            <a:ext cx="1323521" cy="1575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0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日本の産業に、資源を。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8830357" y="8786396"/>
            <a:ext cx="1255606" cy="252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92"/>
              </a:lnSpc>
              <a:buNone/>
            </a:pPr>
            <a:r>
              <a:rPr lang="en-US" sz="62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トレーディングで参入し、少数</a:t>
            </a:r>
            <a:endParaRPr lang="en-US" sz="620" dirty="0"/>
          </a:p>
          <a:p>
            <a:pPr algn="l" indent="0" marL="0">
              <a:lnSpc>
                <a:spcPts val="992"/>
              </a:lnSpc>
              <a:buNone/>
            </a:pPr>
            <a:r>
              <a:rPr lang="en-US" sz="62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出資から事業に関わる</a:t>
            </a:r>
            <a:endParaRPr lang="en-US" sz="620" dirty="0"/>
          </a:p>
        </p:txBody>
      </p:sp>
      <p:sp>
        <p:nvSpPr>
          <p:cNvPr id="47" name="Text 45"/>
          <p:cNvSpPr/>
          <p:nvPr/>
        </p:nvSpPr>
        <p:spPr>
          <a:xfrm>
            <a:off x="10050090" y="7874900"/>
            <a:ext cx="730847" cy="144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1200" spc="-36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1990年代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50090" y="8427591"/>
            <a:ext cx="1210839" cy="1575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0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仲介から、担い手へ。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0050090" y="8786396"/>
            <a:ext cx="1271111" cy="252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92"/>
              </a:lnSpc>
              <a:buNone/>
            </a:pPr>
            <a:r>
              <a:rPr lang="en-US" sz="62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投資モデルへ転換し、JV運営の</a:t>
            </a:r>
            <a:endParaRPr lang="en-US" sz="620" dirty="0"/>
          </a:p>
          <a:p>
            <a:pPr algn="l" indent="0" marL="0">
              <a:lnSpc>
                <a:spcPts val="992"/>
              </a:lnSpc>
              <a:buNone/>
            </a:pPr>
            <a:r>
              <a:rPr lang="en-US" sz="62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知見を蓄える</a:t>
            </a:r>
            <a:endParaRPr lang="en-US" sz="620" dirty="0"/>
          </a:p>
        </p:txBody>
      </p:sp>
      <p:sp>
        <p:nvSpPr>
          <p:cNvPr id="50" name="Text 48"/>
          <p:cNvSpPr/>
          <p:nvPr/>
        </p:nvSpPr>
        <p:spPr>
          <a:xfrm>
            <a:off x="11269822" y="7874900"/>
            <a:ext cx="771028" cy="144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1200" spc="-36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2000年代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11269822" y="8427591"/>
            <a:ext cx="1323521" cy="1575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0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一級資産に、早くから。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11269822" y="8786396"/>
            <a:ext cx="1263249" cy="252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92"/>
              </a:lnSpc>
              <a:buNone/>
            </a:pPr>
            <a:r>
              <a:rPr lang="en-US" sz="62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BHPと原料炭の合弁を組成し、</a:t>
            </a:r>
            <a:endParaRPr lang="en-US" sz="620" dirty="0"/>
          </a:p>
          <a:p>
            <a:pPr algn="l" indent="0" marL="0">
              <a:lnSpc>
                <a:spcPts val="992"/>
              </a:lnSpc>
              <a:buNone/>
            </a:pPr>
            <a:r>
              <a:rPr lang="en-US" sz="62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事業経営に参画</a:t>
            </a:r>
            <a:endParaRPr lang="en-US" sz="620" dirty="0"/>
          </a:p>
        </p:txBody>
      </p:sp>
      <p:sp>
        <p:nvSpPr>
          <p:cNvPr id="53" name="Text 51"/>
          <p:cNvSpPr/>
          <p:nvPr/>
        </p:nvSpPr>
        <p:spPr>
          <a:xfrm>
            <a:off x="12489555" y="7874900"/>
            <a:ext cx="729974" cy="144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1200" spc="-36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2010年代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2489555" y="8427591"/>
            <a:ext cx="1320246" cy="1575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0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次の柱を、先回りして。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2489555" y="8786396"/>
            <a:ext cx="1169129" cy="252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92"/>
              </a:lnSpc>
              <a:buNone/>
            </a:pPr>
            <a:r>
              <a:rPr lang="en-US" sz="62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銅へ領域を広げ、販売機能を</a:t>
            </a:r>
            <a:endParaRPr lang="en-US" sz="620" dirty="0"/>
          </a:p>
          <a:p>
            <a:pPr algn="l" indent="0" marL="0">
              <a:lnSpc>
                <a:spcPts val="992"/>
              </a:lnSpc>
              <a:buNone/>
            </a:pPr>
            <a:r>
              <a:rPr lang="en-US" sz="62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RtMに集約</a:t>
            </a:r>
            <a:endParaRPr lang="en-US" sz="620" dirty="0"/>
          </a:p>
        </p:txBody>
      </p:sp>
      <p:sp>
        <p:nvSpPr>
          <p:cNvPr id="56" name="Text 54"/>
          <p:cNvSpPr/>
          <p:nvPr/>
        </p:nvSpPr>
        <p:spPr>
          <a:xfrm>
            <a:off x="13709288" y="7874900"/>
            <a:ext cx="926076" cy="144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1200" spc="-36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2020年代〜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13709288" y="8427591"/>
            <a:ext cx="1327015" cy="315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0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投資と販売を、一つの力</a:t>
            </a:r>
            <a:endParaRPr lang="en-US" sz="80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0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に。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3709288" y="8786396"/>
            <a:ext cx="1253859" cy="252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92"/>
              </a:lnSpc>
              <a:buNone/>
            </a:pPr>
            <a:r>
              <a:rPr lang="en-US" sz="62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両輪を一体で動かす、グローバ</a:t>
            </a:r>
            <a:endParaRPr lang="en-US" sz="620" dirty="0"/>
          </a:p>
          <a:p>
            <a:pPr algn="l" indent="0" marL="0">
              <a:lnSpc>
                <a:spcPts val="992"/>
              </a:lnSpc>
              <a:buNone/>
            </a:pPr>
            <a:r>
              <a:rPr lang="en-US" sz="62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ルな事業者へ</a:t>
            </a:r>
            <a:endParaRPr lang="en-US" sz="620" dirty="0"/>
          </a:p>
        </p:txBody>
      </p:sp>
      <p:sp>
        <p:nvSpPr>
          <p:cNvPr id="59" name="Text 57"/>
          <p:cNvSpPr/>
          <p:nvPr/>
        </p:nvSpPr>
        <p:spPr>
          <a:xfrm>
            <a:off x="8068024" y="9681629"/>
            <a:ext cx="525791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事業領域</a:t>
            </a:r>
            <a:endParaRPr lang="en-US" sz="660" dirty="0"/>
          </a:p>
        </p:txBody>
      </p:sp>
      <p:sp>
        <p:nvSpPr>
          <p:cNvPr id="60" name="Text 58"/>
          <p:cNvSpPr/>
          <p:nvPr/>
        </p:nvSpPr>
        <p:spPr>
          <a:xfrm>
            <a:off x="8881179" y="9647768"/>
            <a:ext cx="5189443" cy="169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860" spc="6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原料炭　銅　鉄鉱石　ニッケル　リチウム　アルミ・ボーキサイト　肥料資源　二次資源</a:t>
            </a:r>
            <a:endParaRPr lang="en-US" sz="860" dirty="0"/>
          </a:p>
        </p:txBody>
      </p:sp>
      <p:sp>
        <p:nvSpPr>
          <p:cNvPr id="61" name="Text 59"/>
          <p:cNvSpPr/>
          <p:nvPr/>
        </p:nvSpPr>
        <p:spPr>
          <a:xfrm>
            <a:off x="508222" y="10316906"/>
            <a:ext cx="204778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00" spc="16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04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14458915" y="10316906"/>
            <a:ext cx="200410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00" spc="16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05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7055" y="3938720"/>
            <a:ext cx="418350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01 川上</a:t>
            </a:r>
            <a:endParaRPr lang="en-US" sz="580" dirty="0"/>
          </a:p>
        </p:txBody>
      </p:sp>
      <p:sp>
        <p:nvSpPr>
          <p:cNvPr id="3" name="Text 1"/>
          <p:cNvSpPr/>
          <p:nvPr/>
        </p:nvSpPr>
        <p:spPr>
          <a:xfrm>
            <a:off x="127055" y="4053070"/>
            <a:ext cx="696344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8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鉱山・資源開発</a:t>
            </a:r>
            <a:endParaRPr lang="en-US" sz="580" dirty="0"/>
          </a:p>
        </p:txBody>
      </p:sp>
      <p:sp>
        <p:nvSpPr>
          <p:cNvPr id="4" name="Text 2"/>
          <p:cNvSpPr/>
          <p:nvPr/>
        </p:nvSpPr>
        <p:spPr>
          <a:xfrm>
            <a:off x="3150976" y="3938720"/>
            <a:ext cx="635853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02 中間流通</a:t>
            </a:r>
            <a:endParaRPr lang="en-US" sz="580" dirty="0"/>
          </a:p>
        </p:txBody>
      </p:sp>
      <p:sp>
        <p:nvSpPr>
          <p:cNvPr id="5" name="Text 3"/>
          <p:cNvSpPr/>
          <p:nvPr/>
        </p:nvSpPr>
        <p:spPr>
          <a:xfrm>
            <a:off x="3150976" y="4053070"/>
            <a:ext cx="707699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8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トレーディング</a:t>
            </a:r>
            <a:endParaRPr lang="en-US" sz="580" dirty="0"/>
          </a:p>
        </p:txBody>
      </p:sp>
      <p:sp>
        <p:nvSpPr>
          <p:cNvPr id="6" name="Text 4"/>
          <p:cNvSpPr/>
          <p:nvPr/>
        </p:nvSpPr>
        <p:spPr>
          <a:xfrm>
            <a:off x="6174897" y="3938720"/>
            <a:ext cx="435383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03 川中</a:t>
            </a:r>
            <a:endParaRPr lang="en-US" sz="580" dirty="0"/>
          </a:p>
        </p:txBody>
      </p:sp>
      <p:sp>
        <p:nvSpPr>
          <p:cNvPr id="7" name="Text 5"/>
          <p:cNvSpPr/>
          <p:nvPr/>
        </p:nvSpPr>
        <p:spPr>
          <a:xfrm>
            <a:off x="6174897" y="4053070"/>
            <a:ext cx="511815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8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製錬・製鉄</a:t>
            </a:r>
            <a:endParaRPr lang="en-US" sz="580" dirty="0"/>
          </a:p>
        </p:txBody>
      </p:sp>
      <p:sp>
        <p:nvSpPr>
          <p:cNvPr id="8" name="Text 6"/>
          <p:cNvSpPr/>
          <p:nvPr/>
        </p:nvSpPr>
        <p:spPr>
          <a:xfrm>
            <a:off x="9198818" y="3938720"/>
            <a:ext cx="639129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04 中間流通</a:t>
            </a:r>
            <a:endParaRPr lang="en-US" sz="580" dirty="0"/>
          </a:p>
        </p:txBody>
      </p:sp>
      <p:sp>
        <p:nvSpPr>
          <p:cNvPr id="9" name="Text 7"/>
          <p:cNvSpPr/>
          <p:nvPr/>
        </p:nvSpPr>
        <p:spPr>
          <a:xfrm>
            <a:off x="9198818" y="4053070"/>
            <a:ext cx="707699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8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トレーディング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12222739" y="3938720"/>
            <a:ext cx="433636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05 川下</a:t>
            </a:r>
            <a:endParaRPr lang="en-US" sz="580" dirty="0"/>
          </a:p>
        </p:txBody>
      </p:sp>
      <p:sp>
        <p:nvSpPr>
          <p:cNvPr id="11" name="Text 9"/>
          <p:cNvSpPr/>
          <p:nvPr/>
        </p:nvSpPr>
        <p:spPr>
          <a:xfrm>
            <a:off x="12222739" y="4053070"/>
            <a:ext cx="788498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8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需要家・最終製品</a:t>
            </a:r>
            <a:endParaRPr lang="en-US" sz="580" dirty="0"/>
          </a:p>
        </p:txBody>
      </p:sp>
      <p:sp>
        <p:nvSpPr>
          <p:cNvPr id="12" name="Text 10"/>
          <p:cNvSpPr/>
          <p:nvPr/>
        </p:nvSpPr>
        <p:spPr>
          <a:xfrm>
            <a:off x="127055" y="4281770"/>
            <a:ext cx="464209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資源投資</a:t>
            </a:r>
            <a:endParaRPr lang="en-US" sz="740" dirty="0"/>
          </a:p>
        </p:txBody>
      </p:sp>
      <p:sp>
        <p:nvSpPr>
          <p:cNvPr id="13" name="Text 11"/>
          <p:cNvSpPr/>
          <p:nvPr/>
        </p:nvSpPr>
        <p:spPr>
          <a:xfrm>
            <a:off x="3150976" y="4281770"/>
            <a:ext cx="766661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トレーディング</a:t>
            </a:r>
            <a:endParaRPr lang="en-US" sz="740" dirty="0"/>
          </a:p>
        </p:txBody>
      </p:sp>
      <p:sp>
        <p:nvSpPr>
          <p:cNvPr id="14" name="Text 12"/>
          <p:cNvSpPr/>
          <p:nvPr/>
        </p:nvSpPr>
        <p:spPr>
          <a:xfrm>
            <a:off x="6174897" y="4281770"/>
            <a:ext cx="464209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資源投資</a:t>
            </a:r>
            <a:endParaRPr lang="en-US" sz="740" dirty="0"/>
          </a:p>
        </p:txBody>
      </p:sp>
      <p:sp>
        <p:nvSpPr>
          <p:cNvPr id="15" name="Text 13"/>
          <p:cNvSpPr/>
          <p:nvPr/>
        </p:nvSpPr>
        <p:spPr>
          <a:xfrm>
            <a:off x="9198818" y="4281770"/>
            <a:ext cx="766661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トレーディング</a:t>
            </a:r>
            <a:endParaRPr lang="en-US" sz="740" dirty="0"/>
          </a:p>
        </p:txBody>
      </p:sp>
      <p:sp>
        <p:nvSpPr>
          <p:cNvPr id="16" name="Text 14"/>
          <p:cNvSpPr/>
          <p:nvPr/>
        </p:nvSpPr>
        <p:spPr>
          <a:xfrm>
            <a:off x="12222739" y="4281770"/>
            <a:ext cx="360917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需要家</a:t>
            </a:r>
            <a:endParaRPr lang="en-US" sz="740" dirty="0"/>
          </a:p>
        </p:txBody>
      </p:sp>
      <p:sp>
        <p:nvSpPr>
          <p:cNvPr id="17" name="Text 15"/>
          <p:cNvSpPr/>
          <p:nvPr/>
        </p:nvSpPr>
        <p:spPr>
          <a:xfrm>
            <a:off x="5463386" y="4466001"/>
            <a:ext cx="2319537" cy="1524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0"/>
              </a:lnSpc>
              <a:buNone/>
            </a:pPr>
            <a:r>
              <a:rPr lang="en-US" sz="15000" spc="-600" kern="0" dirty="0">
                <a:solidFill>
                  <a:srgbClr val="000000">
                    <a:alpha val="0"/>
                  </a:srgbClr>
                </a:solidFill>
                <a:latin typeface="Inter Tight Light" pitchFamily="34" charset="0"/>
                <a:ea typeface="Inter Tight Light" pitchFamily="34" charset="-122"/>
                <a:cs typeface="Inter Tight Light" pitchFamily="34" charset="-120"/>
              </a:rPr>
              <a:t>02</a:t>
            </a:r>
            <a:endParaRPr lang="en-US" sz="15000" dirty="0"/>
          </a:p>
        </p:txBody>
      </p:sp>
      <p:sp>
        <p:nvSpPr>
          <p:cNvPr id="18" name="Text 16"/>
          <p:cNvSpPr/>
          <p:nvPr/>
        </p:nvSpPr>
        <p:spPr>
          <a:xfrm>
            <a:off x="508222" y="4726464"/>
            <a:ext cx="372273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第2章</a:t>
            </a:r>
            <a:endParaRPr lang="en-US" sz="660" dirty="0"/>
          </a:p>
        </p:txBody>
      </p:sp>
      <p:sp>
        <p:nvSpPr>
          <p:cNvPr id="19" name="Text 17"/>
          <p:cNvSpPr/>
          <p:nvPr/>
        </p:nvSpPr>
        <p:spPr>
          <a:xfrm>
            <a:off x="508222" y="4866225"/>
            <a:ext cx="1854176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60" spc="60" kern="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独自価値｜投資とトレーディングの両輪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508222" y="5102040"/>
            <a:ext cx="3350493" cy="1140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8"/>
              </a:lnSpc>
              <a:buNone/>
            </a:pPr>
            <a:r>
              <a:rPr lang="en-US" sz="4400" spc="-110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Two wheels,</a:t>
            </a:r>
            <a:endParaRPr lang="en-US" sz="4400" dirty="0"/>
          </a:p>
          <a:p>
            <a:pPr algn="l" indent="0" marL="0">
              <a:lnSpc>
                <a:spcPts val="4488"/>
              </a:lnSpc>
              <a:buNone/>
            </a:pPr>
            <a:r>
              <a:rPr lang="en-US" sz="4400" spc="-110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one flow.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508222" y="6519535"/>
            <a:ext cx="3721297" cy="219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資源の流れ全体に関わり、互いを強め合ってきた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068024" y="4820200"/>
            <a:ext cx="4243654" cy="542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7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投資とトレーディングの両輪で、資源の流れ全体に関わる。互いを強め合いながら、</a:t>
            </a:r>
            <a:endParaRPr lang="en-US" sz="770" dirty="0"/>
          </a:p>
          <a:p>
            <a:pPr algn="l" indent="0" marL="0">
              <a:lnSpc>
                <a:spcPts val="1425"/>
              </a:lnSpc>
              <a:buNone/>
            </a:pPr>
            <a:r>
              <a:rPr lang="en-US" sz="7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長い時間をかけて積み重ねてきたこと。それが、鉱山会社でも純粋なトレーダーでも</a:t>
            </a:r>
            <a:endParaRPr lang="en-US" sz="770" dirty="0"/>
          </a:p>
          <a:p>
            <a:pPr algn="l" indent="0" marL="0">
              <a:lnSpc>
                <a:spcPts val="1425"/>
              </a:lnSpc>
              <a:buNone/>
            </a:pPr>
            <a:r>
              <a:rPr lang="en-US" sz="7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ない、金属資源グループならではの強さです。</a:t>
            </a:r>
            <a:endParaRPr lang="en-US" sz="770" dirty="0"/>
          </a:p>
        </p:txBody>
      </p:sp>
      <p:sp>
        <p:nvSpPr>
          <p:cNvPr id="23" name="Text 21"/>
          <p:cNvSpPr/>
          <p:nvPr/>
        </p:nvSpPr>
        <p:spPr>
          <a:xfrm>
            <a:off x="13470364" y="5333790"/>
            <a:ext cx="376203" cy="144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1200" spc="-36" kern="0" dirty="0">
                <a:solidFill>
                  <a:srgbClr val="9C7442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投資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3279285" y="5920786"/>
            <a:ext cx="758362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00" spc="30" kern="0" dirty="0">
                <a:solidFill>
                  <a:srgbClr val="1F3A56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トレーディング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072264" y="4772713"/>
            <a:ext cx="1172405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9C744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投資で得た資源を、市場へ</a:t>
            </a:r>
            <a:endParaRPr lang="en-US" sz="670" dirty="0"/>
          </a:p>
        </p:txBody>
      </p:sp>
      <p:sp>
        <p:nvSpPr>
          <p:cNvPr id="26" name="Text 24"/>
          <p:cNvSpPr/>
          <p:nvPr/>
        </p:nvSpPr>
        <p:spPr>
          <a:xfrm>
            <a:off x="13072264" y="6500667"/>
            <a:ext cx="1172405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1F3A5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市場の情報を、投資判断へ</a:t>
            </a:r>
            <a:endParaRPr lang="en-US" sz="670" dirty="0"/>
          </a:p>
        </p:txBody>
      </p:sp>
      <p:sp>
        <p:nvSpPr>
          <p:cNvPr id="27" name="Text 25"/>
          <p:cNvSpPr/>
          <p:nvPr/>
        </p:nvSpPr>
        <p:spPr>
          <a:xfrm>
            <a:off x="508222" y="7489921"/>
            <a:ext cx="1448651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持つ力・つなぐ力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8222" y="7770206"/>
            <a:ext cx="1279191" cy="1382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680" dirty="0">
                <a:solidFill>
                  <a:srgbClr val="9C744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投資とトレーディングの両輪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508222" y="8532031"/>
            <a:ext cx="2846043" cy="329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72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資源に投資して育てる力と、市場へ届ける力の両方を持つ。</a:t>
            </a:r>
            <a:endParaRPr lang="en-US" sz="720" dirty="0"/>
          </a:p>
          <a:p>
            <a:pPr algn="l" indent="0" marL="0">
              <a:lnSpc>
                <a:spcPts val="1296"/>
              </a:lnSpc>
              <a:buNone/>
            </a:pPr>
            <a:r>
              <a:rPr lang="en-US" sz="72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鉱山会社でも、純粋なトレーダーでもない。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3455909" y="7489921"/>
            <a:ext cx="1273950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互いを強め合う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455909" y="7770206"/>
            <a:ext cx="1000761" cy="1382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680" dirty="0">
                <a:solidFill>
                  <a:srgbClr val="1F3A5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一方通行ではない循環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3455909" y="8532031"/>
            <a:ext cx="2846043" cy="329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72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市場の情報を投資判断に生かし、投資で得た資源を市場へ届</a:t>
            </a:r>
            <a:endParaRPr lang="en-US" sz="720" dirty="0"/>
          </a:p>
          <a:p>
            <a:pPr algn="l" indent="0" marL="0">
              <a:lnSpc>
                <a:spcPts val="1296"/>
              </a:lnSpc>
              <a:buNone/>
            </a:pPr>
            <a:r>
              <a:rPr lang="en-US" sz="72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ける。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6403597" y="7489921"/>
            <a:ext cx="1798054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流れ全体を進化させる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3597" y="7770206"/>
            <a:ext cx="715779" cy="1382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680" dirty="0">
                <a:solidFill>
                  <a:srgbClr val="A8622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新技術への投資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6403597" y="8532031"/>
            <a:ext cx="2846043" cy="329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72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業界の課題に挑む技術に投資し、その知見を両輪に還元す</a:t>
            </a:r>
            <a:endParaRPr lang="en-US" sz="720" dirty="0"/>
          </a:p>
          <a:p>
            <a:pPr algn="l" indent="0" marL="0">
              <a:lnSpc>
                <a:spcPts val="1296"/>
              </a:lnSpc>
              <a:buNone/>
            </a:pPr>
            <a:r>
              <a:rPr lang="en-US" sz="72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る。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9351284" y="7489921"/>
            <a:ext cx="1448651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長い時間をかけて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351284" y="7770206"/>
            <a:ext cx="905767" cy="1382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680" dirty="0">
                <a:solidFill>
                  <a:srgbClr val="12151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積み重ねが先見性に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9351284" y="8532031"/>
            <a:ext cx="2725281" cy="164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72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市況の浮き沈みに左右されず、流れに関わり続けてきた。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12298972" y="7489921"/>
            <a:ext cx="1967732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その結果としての、いま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2298972" y="7770206"/>
            <a:ext cx="1279191" cy="1382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8"/>
              </a:lnSpc>
              <a:buNone/>
            </a:pPr>
            <a:r>
              <a:rPr lang="en-US" sz="680" dirty="0">
                <a:solidFill>
                  <a:srgbClr val="C8102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原料炭・銅・トレーディング</a:t>
            </a:r>
            <a:endParaRPr lang="en-US" sz="680" dirty="0"/>
          </a:p>
        </p:txBody>
      </p:sp>
      <p:sp>
        <p:nvSpPr>
          <p:cNvPr id="41" name="Text 39"/>
          <p:cNvSpPr/>
          <p:nvPr/>
        </p:nvSpPr>
        <p:spPr>
          <a:xfrm>
            <a:off x="12298972" y="8532031"/>
            <a:ext cx="2846043" cy="329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72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強みがあることの「結果」として、いまの主力事業がある。</a:t>
            </a:r>
            <a:endParaRPr lang="en-US" sz="720" dirty="0"/>
          </a:p>
          <a:p>
            <a:pPr algn="l" indent="0" marL="0">
              <a:lnSpc>
                <a:spcPts val="1296"/>
              </a:lnSpc>
              <a:buNone/>
            </a:pPr>
            <a:r>
              <a:rPr lang="en-US" sz="72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 P.08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579492" y="8182374"/>
            <a:ext cx="145598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90" dirty="0">
                <a:solidFill>
                  <a:srgbClr val="FFFFFF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A</a:t>
            </a:r>
            <a:endParaRPr lang="en-US" sz="990" dirty="0"/>
          </a:p>
        </p:txBody>
      </p:sp>
      <p:sp>
        <p:nvSpPr>
          <p:cNvPr id="43" name="Text 41"/>
          <p:cNvSpPr/>
          <p:nvPr/>
        </p:nvSpPr>
        <p:spPr>
          <a:xfrm>
            <a:off x="3531349" y="8182374"/>
            <a:ext cx="136426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90" dirty="0">
                <a:solidFill>
                  <a:srgbClr val="FFFFFF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B</a:t>
            </a:r>
            <a:endParaRPr lang="en-US" sz="990" dirty="0"/>
          </a:p>
        </p:txBody>
      </p:sp>
      <p:sp>
        <p:nvSpPr>
          <p:cNvPr id="44" name="Text 42"/>
          <p:cNvSpPr/>
          <p:nvPr/>
        </p:nvSpPr>
        <p:spPr>
          <a:xfrm>
            <a:off x="6473478" y="8182374"/>
            <a:ext cx="148437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90" dirty="0">
                <a:solidFill>
                  <a:srgbClr val="FFFFFF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C</a:t>
            </a:r>
            <a:endParaRPr lang="en-US" sz="990" dirty="0"/>
          </a:p>
        </p:txBody>
      </p:sp>
      <p:sp>
        <p:nvSpPr>
          <p:cNvPr id="45" name="Text 43"/>
          <p:cNvSpPr/>
          <p:nvPr/>
        </p:nvSpPr>
        <p:spPr>
          <a:xfrm>
            <a:off x="9422555" y="8182374"/>
            <a:ext cx="145598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90" dirty="0">
                <a:solidFill>
                  <a:srgbClr val="FFFFFF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D</a:t>
            </a:r>
            <a:endParaRPr lang="en-US" sz="990" dirty="0"/>
          </a:p>
        </p:txBody>
      </p:sp>
      <p:sp>
        <p:nvSpPr>
          <p:cNvPr id="46" name="Text 44"/>
          <p:cNvSpPr/>
          <p:nvPr/>
        </p:nvSpPr>
        <p:spPr>
          <a:xfrm>
            <a:off x="12377389" y="8182374"/>
            <a:ext cx="129656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90" dirty="0">
                <a:solidFill>
                  <a:srgbClr val="FFFFFF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E</a:t>
            </a:r>
            <a:endParaRPr lang="en-US" sz="990" dirty="0"/>
          </a:p>
        </p:txBody>
      </p:sp>
      <p:sp>
        <p:nvSpPr>
          <p:cNvPr id="47" name="Text 45"/>
          <p:cNvSpPr/>
          <p:nvPr/>
        </p:nvSpPr>
        <p:spPr>
          <a:xfrm>
            <a:off x="508222" y="9443400"/>
            <a:ext cx="5143802" cy="400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spc="-60" kern="0" dirty="0">
                <a:solidFill>
                  <a:srgbClr val="3D4249"/>
                </a:solidFill>
                <a:latin typeface="Inter Tight Light" pitchFamily="34" charset="0"/>
                <a:ea typeface="Inter Tight Light" pitchFamily="34" charset="-122"/>
                <a:cs typeface="Inter Tight Light" pitchFamily="34" charset="-120"/>
              </a:rPr>
              <a:t>Not a miner. Not just a trader.</a:t>
            </a:r>
            <a:endParaRPr lang="en-US" sz="3000" dirty="0"/>
          </a:p>
        </p:txBody>
      </p:sp>
      <p:sp>
        <p:nvSpPr>
          <p:cNvPr id="48" name="Text 46"/>
          <p:cNvSpPr/>
          <p:nvPr/>
        </p:nvSpPr>
        <p:spPr>
          <a:xfrm>
            <a:off x="11629032" y="9551397"/>
            <a:ext cx="3808211" cy="247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950"/>
              </a:lnSpc>
              <a:buNone/>
            </a:pPr>
            <a:r>
              <a:rPr lang="en-US" sz="13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鉱山会社でも、純粋なトレーダーでもない。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08222" y="10316906"/>
            <a:ext cx="202594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00" spc="16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06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4458915" y="10316906"/>
            <a:ext cx="196043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00" spc="16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07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222" y="304933"/>
            <a:ext cx="1354094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E9D6A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PILLAR 1　原料炭事業</a:t>
            </a:r>
            <a:endParaRPr lang="en-US" sz="660" dirty="0"/>
          </a:p>
        </p:txBody>
      </p:sp>
      <p:sp>
        <p:nvSpPr>
          <p:cNvPr id="3" name="Text 1"/>
          <p:cNvSpPr/>
          <p:nvPr/>
        </p:nvSpPr>
        <p:spPr>
          <a:xfrm>
            <a:off x="508222" y="1772424"/>
            <a:ext cx="1677946" cy="482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4000" spc="-120" kern="0" dirty="0">
                <a:solidFill>
                  <a:srgbClr val="FFFFFF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約50%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8222" y="2309424"/>
            <a:ext cx="1233332" cy="291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7"/>
              </a:lnSpc>
              <a:buNone/>
            </a:pPr>
            <a:r>
              <a:rPr lang="en-US" sz="740" spc="3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BMAが一級強粘炭の</a:t>
            </a:r>
            <a:endParaRPr lang="en-US" sz="740" dirty="0"/>
          </a:p>
          <a:p>
            <a:pPr algn="l" indent="0" marL="0">
              <a:lnSpc>
                <a:spcPts val="1147"/>
              </a:lnSpc>
              <a:buNone/>
            </a:pPr>
            <a:r>
              <a:rPr lang="en-US" sz="740" spc="3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世界供給に占めるシェア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4116598" y="304933"/>
            <a:ext cx="1135281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E9D6A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PILLAR 2　銅事業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4116598" y="1772424"/>
            <a:ext cx="2219957" cy="482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4000" spc="-120" kern="0" dirty="0">
                <a:solidFill>
                  <a:srgbClr val="FFFFFF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日本最大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6598" y="2309424"/>
            <a:ext cx="803348" cy="145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7"/>
              </a:lnSpc>
              <a:buNone/>
            </a:pPr>
            <a:r>
              <a:rPr lang="en-US" sz="740" spc="3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銅の持分生産量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8068024" y="304933"/>
            <a:ext cx="2384613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E9D6A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PILLAR 3　トレーディング事業（RtM）</a:t>
            </a:r>
            <a:endParaRPr lang="en-US" sz="660" dirty="0"/>
          </a:p>
        </p:txBody>
      </p:sp>
      <p:sp>
        <p:nvSpPr>
          <p:cNvPr id="9" name="Text 7"/>
          <p:cNvSpPr/>
          <p:nvPr/>
        </p:nvSpPr>
        <p:spPr>
          <a:xfrm>
            <a:off x="8068024" y="1772424"/>
            <a:ext cx="3634601" cy="482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4000" spc="-120" kern="0" dirty="0">
                <a:solidFill>
                  <a:srgbClr val="FFFFFF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15 × 50 × 1,000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8068024" y="2309424"/>
            <a:ext cx="1128074" cy="145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7"/>
              </a:lnSpc>
              <a:buNone/>
            </a:pPr>
            <a:r>
              <a:rPr lang="en-US" sz="740" spc="3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業界 × カ国 × 販売先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508222" y="2818091"/>
            <a:ext cx="2191787" cy="518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2000" spc="-50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World-class</a:t>
            </a:r>
            <a:endParaRPr lang="en-US" sz="20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2000" spc="-50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metallurgical coal.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08222" y="3546119"/>
            <a:ext cx="2623299" cy="175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社会に欠かせない資源を、世界最高品位で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508222" y="3837076"/>
            <a:ext cx="509632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MARKET</a:t>
            </a:r>
            <a:endParaRPr lang="en-US" sz="580" dirty="0"/>
          </a:p>
        </p:txBody>
      </p:sp>
      <p:sp>
        <p:nvSpPr>
          <p:cNvPr id="14" name="Text 12"/>
          <p:cNvSpPr/>
          <p:nvPr/>
        </p:nvSpPr>
        <p:spPr>
          <a:xfrm>
            <a:off x="1270555" y="3807091"/>
            <a:ext cx="1414148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上位5社で約80%｜寡占度が高い</a:t>
            </a:r>
            <a:endParaRPr lang="en-US" sz="670" dirty="0"/>
          </a:p>
        </p:txBody>
      </p:sp>
      <p:sp>
        <p:nvSpPr>
          <p:cNvPr id="15" name="Text 13"/>
          <p:cNvSpPr/>
          <p:nvPr/>
        </p:nvSpPr>
        <p:spPr>
          <a:xfrm>
            <a:off x="2846043" y="3941579"/>
            <a:ext cx="296933" cy="108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900" spc="-27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80%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8222" y="4218242"/>
            <a:ext cx="410925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SCALE</a:t>
            </a:r>
            <a:endParaRPr lang="en-US" sz="580" dirty="0"/>
          </a:p>
        </p:txBody>
      </p:sp>
      <p:sp>
        <p:nvSpPr>
          <p:cNvPr id="17" name="Text 15"/>
          <p:cNvSpPr/>
          <p:nvPr/>
        </p:nvSpPr>
        <p:spPr>
          <a:xfrm>
            <a:off x="1270555" y="4188257"/>
            <a:ext cx="1463064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一級強粘炭の約50%をBMAが供給</a:t>
            </a:r>
            <a:endParaRPr lang="en-US" sz="670" dirty="0"/>
          </a:p>
        </p:txBody>
      </p:sp>
      <p:sp>
        <p:nvSpPr>
          <p:cNvPr id="18" name="Text 16"/>
          <p:cNvSpPr/>
          <p:nvPr/>
        </p:nvSpPr>
        <p:spPr>
          <a:xfrm>
            <a:off x="2274293" y="4322746"/>
            <a:ext cx="294967" cy="108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900" spc="-27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50%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8222" y="4599409"/>
            <a:ext cx="544572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QUALITY</a:t>
            </a:r>
            <a:endParaRPr lang="en-US" sz="580" dirty="0"/>
          </a:p>
        </p:txBody>
      </p:sp>
      <p:sp>
        <p:nvSpPr>
          <p:cNvPr id="20" name="Text 18"/>
          <p:cNvSpPr/>
          <p:nvPr/>
        </p:nvSpPr>
        <p:spPr>
          <a:xfrm>
            <a:off x="1270555" y="4569424"/>
            <a:ext cx="1785169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高品位の5炭鉱に集約。港湾・鉄道も保有</a:t>
            </a:r>
            <a:endParaRPr lang="en-US" sz="670" dirty="0"/>
          </a:p>
        </p:txBody>
      </p:sp>
      <p:sp>
        <p:nvSpPr>
          <p:cNvPr id="21" name="Text 19"/>
          <p:cNvSpPr/>
          <p:nvPr/>
        </p:nvSpPr>
        <p:spPr>
          <a:xfrm>
            <a:off x="2654864" y="5103565"/>
            <a:ext cx="566191" cy="109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40" dirty="0">
                <a:solidFill>
                  <a:srgbClr val="1215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Broadmeadow</a:t>
            </a:r>
            <a:endParaRPr lang="en-US" sz="540" dirty="0"/>
          </a:p>
        </p:txBody>
      </p:sp>
      <p:sp>
        <p:nvSpPr>
          <p:cNvPr id="22" name="Text 20"/>
          <p:cNvSpPr/>
          <p:nvPr/>
        </p:nvSpPr>
        <p:spPr>
          <a:xfrm>
            <a:off x="2654864" y="5281443"/>
            <a:ext cx="753558" cy="109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40" dirty="0">
                <a:solidFill>
                  <a:srgbClr val="1215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Goonyella Riverside</a:t>
            </a:r>
            <a:endParaRPr lang="en-US" sz="540" dirty="0"/>
          </a:p>
        </p:txBody>
      </p:sp>
      <p:sp>
        <p:nvSpPr>
          <p:cNvPr id="23" name="Text 21"/>
          <p:cNvSpPr/>
          <p:nvPr/>
        </p:nvSpPr>
        <p:spPr>
          <a:xfrm>
            <a:off x="2654864" y="5459321"/>
            <a:ext cx="473818" cy="109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40" dirty="0">
                <a:solidFill>
                  <a:srgbClr val="1215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Caval Ridge</a:t>
            </a:r>
            <a:endParaRPr lang="en-US" sz="540" dirty="0"/>
          </a:p>
        </p:txBody>
      </p:sp>
      <p:sp>
        <p:nvSpPr>
          <p:cNvPr id="24" name="Text 22"/>
          <p:cNvSpPr/>
          <p:nvPr/>
        </p:nvSpPr>
        <p:spPr>
          <a:xfrm>
            <a:off x="2654864" y="5637198"/>
            <a:ext cx="492161" cy="109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40" dirty="0">
                <a:solidFill>
                  <a:srgbClr val="1215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Peak Downs</a:t>
            </a:r>
            <a:endParaRPr lang="en-US" sz="540" dirty="0"/>
          </a:p>
        </p:txBody>
      </p:sp>
      <p:sp>
        <p:nvSpPr>
          <p:cNvPr id="25" name="Text 23"/>
          <p:cNvSpPr/>
          <p:nvPr/>
        </p:nvSpPr>
        <p:spPr>
          <a:xfrm>
            <a:off x="2654864" y="5815076"/>
            <a:ext cx="248671" cy="109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40" dirty="0">
                <a:solidFill>
                  <a:srgbClr val="1215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Saraji</a:t>
            </a:r>
            <a:endParaRPr lang="en-US" sz="540" dirty="0"/>
          </a:p>
        </p:txBody>
      </p:sp>
      <p:sp>
        <p:nvSpPr>
          <p:cNvPr id="26" name="Text 24"/>
          <p:cNvSpPr/>
          <p:nvPr/>
        </p:nvSpPr>
        <p:spPr>
          <a:xfrm>
            <a:off x="2654864" y="5992954"/>
            <a:ext cx="598511" cy="109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4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Daunia（売却）</a:t>
            </a:r>
            <a:endParaRPr lang="en-US" sz="540" dirty="0"/>
          </a:p>
        </p:txBody>
      </p:sp>
      <p:sp>
        <p:nvSpPr>
          <p:cNvPr id="27" name="Text 25"/>
          <p:cNvSpPr/>
          <p:nvPr/>
        </p:nvSpPr>
        <p:spPr>
          <a:xfrm>
            <a:off x="2654864" y="6170831"/>
            <a:ext cx="746789" cy="109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4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Blackwater（売却）</a:t>
            </a:r>
            <a:endParaRPr lang="en-US" sz="540" dirty="0"/>
          </a:p>
        </p:txBody>
      </p:sp>
      <p:sp>
        <p:nvSpPr>
          <p:cNvPr id="28" name="Text 26"/>
          <p:cNvSpPr/>
          <p:nvPr/>
        </p:nvSpPr>
        <p:spPr>
          <a:xfrm>
            <a:off x="1611620" y="5213945"/>
            <a:ext cx="578420" cy="109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40" dirty="0">
                <a:solidFill>
                  <a:srgbClr val="12151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ヘイポイント港</a:t>
            </a:r>
            <a:endParaRPr lang="en-US" sz="540" dirty="0"/>
          </a:p>
        </p:txBody>
      </p:sp>
      <p:sp>
        <p:nvSpPr>
          <p:cNvPr id="29" name="Text 27"/>
          <p:cNvSpPr/>
          <p:nvPr/>
        </p:nvSpPr>
        <p:spPr>
          <a:xfrm>
            <a:off x="2625086" y="6476559"/>
            <a:ext cx="725169" cy="109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540" dirty="0">
                <a:solidFill>
                  <a:srgbClr val="12151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グラッドストーン港</a:t>
            </a:r>
            <a:endParaRPr lang="en-US" sz="540" dirty="0"/>
          </a:p>
        </p:txBody>
      </p:sp>
      <p:sp>
        <p:nvSpPr>
          <p:cNvPr id="30" name="Text 28"/>
          <p:cNvSpPr/>
          <p:nvPr/>
        </p:nvSpPr>
        <p:spPr>
          <a:xfrm>
            <a:off x="609866" y="4942459"/>
            <a:ext cx="2272586" cy="76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5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ボーエン・ベースン｜豪州クイーンズランド州</a:t>
            </a:r>
            <a:endParaRPr lang="en-US" sz="560" dirty="0"/>
          </a:p>
        </p:txBody>
      </p:sp>
      <p:sp>
        <p:nvSpPr>
          <p:cNvPr id="31" name="Text 29"/>
          <p:cNvSpPr/>
          <p:nvPr/>
        </p:nvSpPr>
        <p:spPr>
          <a:xfrm>
            <a:off x="609866" y="6476781"/>
            <a:ext cx="1970571" cy="1077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8"/>
              </a:lnSpc>
              <a:buNone/>
            </a:pPr>
            <a:r>
              <a:rPr lang="en-US" sz="530" dirty="0">
                <a:solidFill>
                  <a:srgbClr val="9C744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●</a:t>
            </a:r>
            <a:pPr algn="l" indent="0" marL="0">
              <a:lnSpc>
                <a:spcPts val="848"/>
              </a:lnSpc>
              <a:buNone/>
            </a:pPr>
            <a:r>
              <a:rPr lang="en-US" sz="53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保有5炭鉱　○ 売却した中品位2炭鉱　</a:t>
            </a:r>
            <a:pPr algn="l" indent="0" marL="0">
              <a:lnSpc>
                <a:spcPts val="848"/>
              </a:lnSpc>
              <a:buNone/>
            </a:pPr>
            <a:r>
              <a:rPr lang="en-US" sz="530" dirty="0">
                <a:solidFill>
                  <a:srgbClr val="C8102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- -</a:t>
            </a:r>
            <a:pPr algn="l" indent="0" marL="0">
              <a:lnSpc>
                <a:spcPts val="848"/>
              </a:lnSpc>
              <a:buNone/>
            </a:pPr>
            <a:r>
              <a:rPr lang="en-US" sz="53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鉄道　■ 港湾</a:t>
            </a:r>
            <a:endParaRPr lang="en-US" sz="530" dirty="0"/>
          </a:p>
        </p:txBody>
      </p:sp>
      <p:sp>
        <p:nvSpPr>
          <p:cNvPr id="32" name="Text 30"/>
          <p:cNvSpPr/>
          <p:nvPr/>
        </p:nvSpPr>
        <p:spPr>
          <a:xfrm>
            <a:off x="508222" y="6728097"/>
            <a:ext cx="1875577" cy="1260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92"/>
              </a:lnSpc>
              <a:buNone/>
            </a:pPr>
            <a:r>
              <a:rPr lang="en-US" sz="62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BMA＝MDP（三菱商事100%）50%：BHP 50%</a:t>
            </a:r>
            <a:endParaRPr lang="en-US" sz="620" dirty="0"/>
          </a:p>
        </p:txBody>
      </p:sp>
      <p:sp>
        <p:nvSpPr>
          <p:cNvPr id="33" name="Text 31"/>
          <p:cNvSpPr/>
          <p:nvPr/>
        </p:nvSpPr>
        <p:spPr>
          <a:xfrm>
            <a:off x="4116598" y="2818091"/>
            <a:ext cx="2806735" cy="518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2000" spc="-50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The partner the copper</a:t>
            </a:r>
            <a:endParaRPr lang="en-US" sz="20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2000" spc="-50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industry calls first.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116598" y="3546119"/>
            <a:ext cx="2894086" cy="175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業界から最初に声がかかる、日本最大の生産者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116598" y="3837076"/>
            <a:ext cx="509632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MARKET</a:t>
            </a:r>
            <a:endParaRPr lang="en-US" sz="580" dirty="0"/>
          </a:p>
        </p:txBody>
      </p:sp>
      <p:sp>
        <p:nvSpPr>
          <p:cNvPr id="36" name="Text 34"/>
          <p:cNvSpPr/>
          <p:nvPr/>
        </p:nvSpPr>
        <p:spPr>
          <a:xfrm>
            <a:off x="4878931" y="3807091"/>
            <a:ext cx="1320682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上位5社で約25%｜再編の機運</a:t>
            </a:r>
            <a:endParaRPr lang="en-US" sz="670" dirty="0"/>
          </a:p>
        </p:txBody>
      </p:sp>
      <p:sp>
        <p:nvSpPr>
          <p:cNvPr id="37" name="Text 35"/>
          <p:cNvSpPr/>
          <p:nvPr/>
        </p:nvSpPr>
        <p:spPr>
          <a:xfrm>
            <a:off x="5406211" y="3941579"/>
            <a:ext cx="289289" cy="108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900" spc="-27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25%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16598" y="4218242"/>
            <a:ext cx="410925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SCALE</a:t>
            </a:r>
            <a:endParaRPr lang="en-US" sz="580" dirty="0"/>
          </a:p>
        </p:txBody>
      </p:sp>
      <p:sp>
        <p:nvSpPr>
          <p:cNvPr id="39" name="Text 37"/>
          <p:cNvSpPr/>
          <p:nvPr/>
        </p:nvSpPr>
        <p:spPr>
          <a:xfrm>
            <a:off x="4878931" y="4188257"/>
            <a:ext cx="1268709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主要メジャーのほとんどとJV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4116598" y="4599409"/>
            <a:ext cx="544572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QUALITY</a:t>
            </a:r>
            <a:endParaRPr lang="en-US" sz="580" dirty="0"/>
          </a:p>
        </p:txBody>
      </p:sp>
      <p:sp>
        <p:nvSpPr>
          <p:cNvPr id="41" name="Text 39"/>
          <p:cNvSpPr/>
          <p:nvPr/>
        </p:nvSpPr>
        <p:spPr>
          <a:xfrm>
            <a:off x="4878931" y="4569424"/>
            <a:ext cx="1268927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生産コストは世界の上位25%</a:t>
            </a:r>
            <a:endParaRPr lang="en-US" sz="670" dirty="0"/>
          </a:p>
        </p:txBody>
      </p:sp>
      <p:sp>
        <p:nvSpPr>
          <p:cNvPr id="42" name="Text 40"/>
          <p:cNvSpPr/>
          <p:nvPr/>
        </p:nvSpPr>
        <p:spPr>
          <a:xfrm>
            <a:off x="4218242" y="4955164"/>
            <a:ext cx="2156628" cy="76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5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参画鉱山の世界ランキング（鉱山別生産量）</a:t>
            </a:r>
            <a:endParaRPr lang="en-US" sz="560" dirty="0"/>
          </a:p>
        </p:txBody>
      </p:sp>
      <p:sp>
        <p:nvSpPr>
          <p:cNvPr id="43" name="Text 41"/>
          <p:cNvSpPr/>
          <p:nvPr/>
        </p:nvSpPr>
        <p:spPr>
          <a:xfrm>
            <a:off x="4218242" y="5181641"/>
            <a:ext cx="208053" cy="156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1300" spc="-39" kern="0" dirty="0">
                <a:solidFill>
                  <a:srgbClr val="9C7442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1</a:t>
            </a:r>
            <a:pPr algn="l" indent="0" marL="0">
              <a:lnSpc>
                <a:spcPts val="1235"/>
              </a:lnSpc>
              <a:buNone/>
            </a:pPr>
            <a:r>
              <a:rPr lang="en-US" sz="700" spc="-39" kern="0" dirty="0">
                <a:solidFill>
                  <a:srgbClr val="9C7442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位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675642" y="5205718"/>
            <a:ext cx="791992" cy="134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12151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Escondida</a:t>
            </a:r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チリ</a:t>
            </a:r>
            <a:endParaRPr lang="en-US" sz="660" dirty="0"/>
          </a:p>
        </p:txBody>
      </p:sp>
      <p:sp>
        <p:nvSpPr>
          <p:cNvPr id="45" name="Text 43"/>
          <p:cNvSpPr/>
          <p:nvPr/>
        </p:nvSpPr>
        <p:spPr>
          <a:xfrm>
            <a:off x="4218242" y="5410341"/>
            <a:ext cx="252165" cy="156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1300" spc="-39" kern="0" dirty="0">
                <a:solidFill>
                  <a:srgbClr val="9C7442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4</a:t>
            </a:r>
            <a:pPr algn="l" indent="0" marL="0">
              <a:lnSpc>
                <a:spcPts val="1235"/>
              </a:lnSpc>
              <a:buNone/>
            </a:pPr>
            <a:r>
              <a:rPr lang="en-US" sz="700" spc="-39" kern="0" dirty="0">
                <a:solidFill>
                  <a:srgbClr val="9C7442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位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675642" y="5434418"/>
            <a:ext cx="845276" cy="134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12151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Antamina</a:t>
            </a:r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ペルー</a:t>
            </a:r>
            <a:endParaRPr lang="en-US" sz="660" dirty="0"/>
          </a:p>
        </p:txBody>
      </p:sp>
      <p:sp>
        <p:nvSpPr>
          <p:cNvPr id="47" name="Text 45"/>
          <p:cNvSpPr/>
          <p:nvPr/>
        </p:nvSpPr>
        <p:spPr>
          <a:xfrm>
            <a:off x="4218242" y="5639041"/>
            <a:ext cx="317023" cy="156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1300" spc="-39" kern="0" dirty="0">
                <a:solidFill>
                  <a:srgbClr val="9C7442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10</a:t>
            </a:r>
            <a:pPr algn="l" indent="0" marL="0">
              <a:lnSpc>
                <a:spcPts val="1235"/>
              </a:lnSpc>
              <a:buNone/>
            </a:pPr>
            <a:r>
              <a:rPr lang="en-US" sz="700" spc="-39" kern="0" dirty="0">
                <a:solidFill>
                  <a:srgbClr val="9C7442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位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675642" y="5663118"/>
            <a:ext cx="1217827" cy="134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12151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Anglo American Sur</a:t>
            </a:r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チリ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4218242" y="5867740"/>
            <a:ext cx="308725" cy="156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1300" spc="-39" kern="0" dirty="0">
                <a:solidFill>
                  <a:srgbClr val="9C7442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12</a:t>
            </a:r>
            <a:pPr algn="l" indent="0" marL="0">
              <a:lnSpc>
                <a:spcPts val="1235"/>
              </a:lnSpc>
              <a:buNone/>
            </a:pPr>
            <a:r>
              <a:rPr lang="en-US" sz="700" spc="-39" kern="0" dirty="0">
                <a:solidFill>
                  <a:srgbClr val="9C7442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位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675642" y="5891817"/>
            <a:ext cx="979796" cy="134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12151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Los Pelambres</a:t>
            </a:r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チリ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4218242" y="6096440"/>
            <a:ext cx="310472" cy="156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1300" spc="-39" kern="0" dirty="0">
                <a:solidFill>
                  <a:srgbClr val="9C7442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15</a:t>
            </a:r>
            <a:pPr algn="l" indent="0" marL="0">
              <a:lnSpc>
                <a:spcPts val="1235"/>
              </a:lnSpc>
              <a:buNone/>
            </a:pPr>
            <a:r>
              <a:rPr lang="en-US" sz="700" spc="-39" kern="0" dirty="0">
                <a:solidFill>
                  <a:srgbClr val="9C7442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位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675642" y="6120517"/>
            <a:ext cx="917996" cy="134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12151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Quellaveco</a:t>
            </a:r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ペルー</a:t>
            </a:r>
            <a:endParaRPr lang="en-US" sz="660" dirty="0"/>
          </a:p>
        </p:txBody>
      </p:sp>
      <p:sp>
        <p:nvSpPr>
          <p:cNvPr id="53" name="Text 51"/>
          <p:cNvSpPr/>
          <p:nvPr/>
        </p:nvSpPr>
        <p:spPr>
          <a:xfrm>
            <a:off x="4218242" y="6399785"/>
            <a:ext cx="2022545" cy="121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60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開発中：Marimaca（チリ）・Copper World（米国）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8068024" y="2818091"/>
            <a:ext cx="2442046" cy="259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2000" spc="-50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Resource to Market.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8068024" y="3292008"/>
            <a:ext cx="3023147" cy="175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資源と市場をつなぎ、必要な場所へ確かに届ける</a:t>
            </a:r>
            <a:endParaRPr lang="en-US" sz="920" dirty="0"/>
          </a:p>
        </p:txBody>
      </p:sp>
      <p:sp>
        <p:nvSpPr>
          <p:cNvPr id="56" name="Text 54"/>
          <p:cNvSpPr/>
          <p:nvPr/>
        </p:nvSpPr>
        <p:spPr>
          <a:xfrm>
            <a:off x="8068024" y="3707797"/>
            <a:ext cx="224432" cy="156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1300" spc="-39" kern="0" dirty="0">
                <a:solidFill>
                  <a:srgbClr val="1F3A56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01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372957" y="3714277"/>
            <a:ext cx="1169566" cy="169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86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第三者の資源も扱う</a:t>
            </a:r>
            <a:endParaRPr lang="en-US" sz="860" dirty="0"/>
          </a:p>
        </p:txBody>
      </p:sp>
      <p:sp>
        <p:nvSpPr>
          <p:cNvPr id="58" name="Text 56"/>
          <p:cNvSpPr/>
          <p:nvPr/>
        </p:nvSpPr>
        <p:spPr>
          <a:xfrm>
            <a:off x="8372957" y="3896030"/>
            <a:ext cx="1639731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市場の生きた情報を、投資の側へ返す</a:t>
            </a:r>
            <a:endParaRPr lang="en-US" sz="670" dirty="0"/>
          </a:p>
        </p:txBody>
      </p:sp>
      <p:sp>
        <p:nvSpPr>
          <p:cNvPr id="59" name="Text 57"/>
          <p:cNvSpPr/>
          <p:nvPr/>
        </p:nvSpPr>
        <p:spPr>
          <a:xfrm>
            <a:off x="8068024" y="4216019"/>
            <a:ext cx="260682" cy="156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1300" spc="-39" kern="0" dirty="0">
                <a:solidFill>
                  <a:srgbClr val="1F3A56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02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8372957" y="4222499"/>
            <a:ext cx="1169566" cy="169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86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ロジ・在庫・ヘッジ</a:t>
            </a:r>
            <a:endParaRPr lang="en-US" sz="860" dirty="0"/>
          </a:p>
        </p:txBody>
      </p:sp>
      <p:sp>
        <p:nvSpPr>
          <p:cNvPr id="61" name="Text 59"/>
          <p:cNvSpPr/>
          <p:nvPr/>
        </p:nvSpPr>
        <p:spPr>
          <a:xfrm>
            <a:off x="8372957" y="4404252"/>
            <a:ext cx="1261284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機能を付けて、顧客に届ける</a:t>
            </a:r>
            <a:endParaRPr lang="en-US" sz="670" dirty="0"/>
          </a:p>
        </p:txBody>
      </p:sp>
      <p:sp>
        <p:nvSpPr>
          <p:cNvPr id="62" name="Text 60"/>
          <p:cNvSpPr/>
          <p:nvPr/>
        </p:nvSpPr>
        <p:spPr>
          <a:xfrm>
            <a:off x="8068024" y="4724241"/>
            <a:ext cx="266142" cy="156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1300" spc="-39" kern="0" dirty="0">
                <a:solidFill>
                  <a:srgbClr val="1F3A56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03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8372957" y="4730721"/>
            <a:ext cx="1168474" cy="169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86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グローバルな販売網</a:t>
            </a:r>
            <a:endParaRPr lang="en-US" sz="860" dirty="0"/>
          </a:p>
        </p:txBody>
      </p:sp>
      <p:sp>
        <p:nvSpPr>
          <p:cNvPr id="64" name="Text 62"/>
          <p:cNvSpPr/>
          <p:nvPr/>
        </p:nvSpPr>
        <p:spPr>
          <a:xfrm>
            <a:off x="8372957" y="4912474"/>
            <a:ext cx="1546265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欧州・シンガポール・米州の顧客へ</a:t>
            </a:r>
            <a:endParaRPr lang="en-US" sz="670" dirty="0"/>
          </a:p>
        </p:txBody>
      </p:sp>
      <p:sp>
        <p:nvSpPr>
          <p:cNvPr id="65" name="Text 63"/>
          <p:cNvSpPr/>
          <p:nvPr/>
        </p:nvSpPr>
        <p:spPr>
          <a:xfrm>
            <a:off x="11965253" y="3741784"/>
            <a:ext cx="631267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第三者の資源</a:t>
            </a:r>
            <a:endParaRPr lang="en-US" sz="660" dirty="0"/>
          </a:p>
        </p:txBody>
      </p:sp>
      <p:sp>
        <p:nvSpPr>
          <p:cNvPr id="66" name="Text 64"/>
          <p:cNvSpPr/>
          <p:nvPr/>
        </p:nvSpPr>
        <p:spPr>
          <a:xfrm>
            <a:off x="13485551" y="3741784"/>
            <a:ext cx="920180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三菱商事の保有資産</a:t>
            </a:r>
            <a:endParaRPr lang="en-US" sz="660" dirty="0"/>
          </a:p>
        </p:txBody>
      </p:sp>
      <p:sp>
        <p:nvSpPr>
          <p:cNvPr id="67" name="Text 65"/>
          <p:cNvSpPr/>
          <p:nvPr/>
        </p:nvSpPr>
        <p:spPr>
          <a:xfrm>
            <a:off x="12879655" y="4313534"/>
            <a:ext cx="436257" cy="24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RtM</a:t>
            </a:r>
            <a:endParaRPr lang="en-US" sz="1500" dirty="0"/>
          </a:p>
        </p:txBody>
      </p:sp>
      <p:sp>
        <p:nvSpPr>
          <p:cNvPr id="68" name="Text 66"/>
          <p:cNvSpPr/>
          <p:nvPr/>
        </p:nvSpPr>
        <p:spPr>
          <a:xfrm>
            <a:off x="12834987" y="5012339"/>
            <a:ext cx="534745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世界の顧客</a:t>
            </a:r>
            <a:endParaRPr lang="en-US" sz="660" dirty="0"/>
          </a:p>
        </p:txBody>
      </p:sp>
      <p:sp>
        <p:nvSpPr>
          <p:cNvPr id="69" name="Text 67"/>
          <p:cNvSpPr/>
          <p:nvPr/>
        </p:nvSpPr>
        <p:spPr>
          <a:xfrm>
            <a:off x="12514966" y="4699275"/>
            <a:ext cx="375111" cy="1179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58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安定供給</a:t>
            </a:r>
            <a:endParaRPr lang="en-US" sz="580" dirty="0"/>
          </a:p>
        </p:txBody>
      </p:sp>
      <p:sp>
        <p:nvSpPr>
          <p:cNvPr id="70" name="Text 68"/>
          <p:cNvSpPr/>
          <p:nvPr/>
        </p:nvSpPr>
        <p:spPr>
          <a:xfrm>
            <a:off x="13810932" y="4699275"/>
            <a:ext cx="456129" cy="1179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580" dirty="0">
                <a:solidFill>
                  <a:srgbClr val="9C744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市場の情報</a:t>
            </a:r>
            <a:endParaRPr lang="en-US" sz="580" dirty="0"/>
          </a:p>
        </p:txBody>
      </p:sp>
      <p:sp>
        <p:nvSpPr>
          <p:cNvPr id="71" name="Text 69"/>
          <p:cNvSpPr/>
          <p:nvPr/>
        </p:nvSpPr>
        <p:spPr>
          <a:xfrm>
            <a:off x="8491873" y="5580524"/>
            <a:ext cx="823220" cy="1496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760" spc="30" kern="0" dirty="0">
                <a:solidFill>
                  <a:srgbClr val="1F3A56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取扱商品の広さ</a:t>
            </a:r>
            <a:endParaRPr lang="en-US" sz="760" dirty="0"/>
          </a:p>
        </p:txBody>
      </p:sp>
      <p:sp>
        <p:nvSpPr>
          <p:cNvPr id="72" name="Text 70"/>
          <p:cNvSpPr/>
          <p:nvPr/>
        </p:nvSpPr>
        <p:spPr>
          <a:xfrm>
            <a:off x="10368920" y="5580524"/>
            <a:ext cx="271601" cy="1496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760" spc="30" kern="0" dirty="0">
                <a:solidFill>
                  <a:srgbClr val="1F3A56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在庫</a:t>
            </a:r>
            <a:endParaRPr lang="en-US" sz="760" dirty="0"/>
          </a:p>
        </p:txBody>
      </p:sp>
      <p:sp>
        <p:nvSpPr>
          <p:cNvPr id="73" name="Text 71"/>
          <p:cNvSpPr/>
          <p:nvPr/>
        </p:nvSpPr>
        <p:spPr>
          <a:xfrm>
            <a:off x="11894975" y="5580524"/>
            <a:ext cx="492161" cy="1496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760" spc="30" kern="0" dirty="0">
                <a:solidFill>
                  <a:srgbClr val="1F3A56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輸送手配</a:t>
            </a:r>
            <a:endParaRPr lang="en-US" sz="760" dirty="0"/>
          </a:p>
        </p:txBody>
      </p:sp>
      <p:sp>
        <p:nvSpPr>
          <p:cNvPr id="74" name="Text 72"/>
          <p:cNvSpPr/>
          <p:nvPr/>
        </p:nvSpPr>
        <p:spPr>
          <a:xfrm>
            <a:off x="13571512" y="5580524"/>
            <a:ext cx="381881" cy="1496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760" spc="30" kern="0" dirty="0">
                <a:solidFill>
                  <a:srgbClr val="1F3A56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ヘッジ</a:t>
            </a:r>
            <a:endParaRPr lang="en-US" sz="760" dirty="0"/>
          </a:p>
        </p:txBody>
      </p:sp>
      <p:sp>
        <p:nvSpPr>
          <p:cNvPr id="75" name="Text 73"/>
          <p:cNvSpPr/>
          <p:nvPr/>
        </p:nvSpPr>
        <p:spPr>
          <a:xfrm>
            <a:off x="508222" y="7064286"/>
            <a:ext cx="1787135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NEW TECHNOLOGY　新技術</a:t>
            </a:r>
            <a:endParaRPr lang="en-US" sz="660" dirty="0"/>
          </a:p>
        </p:txBody>
      </p:sp>
      <p:sp>
        <p:nvSpPr>
          <p:cNvPr id="76" name="Text 74"/>
          <p:cNvSpPr/>
          <p:nvPr/>
        </p:nvSpPr>
        <p:spPr>
          <a:xfrm>
            <a:off x="508222" y="7315601"/>
            <a:ext cx="3194572" cy="285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4"/>
              </a:lnSpc>
              <a:buNone/>
            </a:pPr>
            <a:r>
              <a:rPr lang="en-US" sz="2200" spc="-55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Investing in what's next.</a:t>
            </a:r>
            <a:endParaRPr lang="en-US" sz="2200" dirty="0"/>
          </a:p>
        </p:txBody>
      </p:sp>
      <p:sp>
        <p:nvSpPr>
          <p:cNvPr id="77" name="Text 75"/>
          <p:cNvSpPr/>
          <p:nvPr/>
        </p:nvSpPr>
        <p:spPr>
          <a:xfrm>
            <a:off x="508222" y="7673517"/>
            <a:ext cx="2945404" cy="179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資源業界のボトルネックに、新しい技術で挑む</a:t>
            </a:r>
            <a:endParaRPr lang="en-US" sz="940" dirty="0"/>
          </a:p>
        </p:txBody>
      </p:sp>
      <p:sp>
        <p:nvSpPr>
          <p:cNvPr id="78" name="Text 76"/>
          <p:cNvSpPr/>
          <p:nvPr/>
        </p:nvSpPr>
        <p:spPr>
          <a:xfrm>
            <a:off x="508222" y="8533269"/>
            <a:ext cx="3544848" cy="4865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7"/>
              </a:lnSpc>
              <a:buNone/>
            </a:pPr>
            <a:r>
              <a:rPr lang="en-US" sz="69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業界の課題を見極め、課題を解く技術を持つスタートアップに出資。トレーデ</a:t>
            </a:r>
            <a:endParaRPr lang="en-US" sz="690" dirty="0"/>
          </a:p>
          <a:p>
            <a:pPr algn="l" indent="0" marL="0">
              <a:lnSpc>
                <a:spcPts val="1277"/>
              </a:lnSpc>
              <a:buNone/>
            </a:pPr>
            <a:r>
              <a:rPr lang="en-US" sz="69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ィングと業界とのつながりを生かして現場に取り入れ、その知見を既存事業の</a:t>
            </a:r>
            <a:endParaRPr lang="en-US" sz="690" dirty="0"/>
          </a:p>
          <a:p>
            <a:pPr algn="l" indent="0" marL="0">
              <a:lnSpc>
                <a:spcPts val="1277"/>
              </a:lnSpc>
              <a:buNone/>
            </a:pPr>
            <a:r>
              <a:rPr lang="en-US" sz="69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高度化に還元しています。</a:t>
            </a:r>
            <a:endParaRPr lang="en-US" sz="690" dirty="0"/>
          </a:p>
        </p:txBody>
      </p:sp>
      <p:sp>
        <p:nvSpPr>
          <p:cNvPr id="79" name="Text 77"/>
          <p:cNvSpPr/>
          <p:nvPr/>
        </p:nvSpPr>
        <p:spPr>
          <a:xfrm>
            <a:off x="4319887" y="7747209"/>
            <a:ext cx="372273" cy="2096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鉱石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319887" y="7969556"/>
            <a:ext cx="539986" cy="120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1000" spc="-30" kern="0" dirty="0">
                <a:solidFill>
                  <a:srgbClr val="A8622F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Cu 約1%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5641264" y="7747209"/>
            <a:ext cx="532998" cy="2096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銅精鉱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5641264" y="7969556"/>
            <a:ext cx="817324" cy="120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1000" spc="-30" kern="0" dirty="0">
                <a:solidFill>
                  <a:srgbClr val="A8622F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Cu 20〜30%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6962641" y="7747209"/>
            <a:ext cx="532998" cy="2096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銅地金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6962641" y="7969556"/>
            <a:ext cx="708354" cy="120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1000" spc="-30" kern="0" dirty="0">
                <a:solidFill>
                  <a:srgbClr val="A8622F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Cu 99.99%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8284018" y="7747209"/>
            <a:ext cx="693723" cy="2096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最終用途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8284018" y="7969556"/>
            <a:ext cx="1012990" cy="120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1000" spc="-30" kern="0" dirty="0">
                <a:solidFill>
                  <a:srgbClr val="A8622F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電化・インフラ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9605395" y="7747209"/>
            <a:ext cx="846805" cy="2096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リサイクル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9605395" y="7969556"/>
            <a:ext cx="735433" cy="120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1000" spc="-30" kern="0" dirty="0">
                <a:solidFill>
                  <a:srgbClr val="A8622F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再び供給へ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4446942" y="8881179"/>
            <a:ext cx="246488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20" kern="0" dirty="0">
                <a:solidFill>
                  <a:srgbClr val="A8622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選鉱</a:t>
            </a:r>
            <a:endParaRPr lang="en-US" sz="580" dirty="0"/>
          </a:p>
        </p:txBody>
      </p:sp>
      <p:sp>
        <p:nvSpPr>
          <p:cNvPr id="90" name="Text 88"/>
          <p:cNvSpPr/>
          <p:nvPr/>
        </p:nvSpPr>
        <p:spPr>
          <a:xfrm>
            <a:off x="4446942" y="9020940"/>
            <a:ext cx="548503" cy="17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spc="30" kern="0" dirty="0">
                <a:solidFill>
                  <a:srgbClr val="12151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CiDRA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4446942" y="9219655"/>
            <a:ext cx="1172405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回収率と処理能力を高める</a:t>
            </a:r>
            <a:endParaRPr lang="en-US" sz="670" dirty="0"/>
          </a:p>
        </p:txBody>
      </p:sp>
      <p:sp>
        <p:nvSpPr>
          <p:cNvPr id="92" name="Text 90"/>
          <p:cNvSpPr/>
          <p:nvPr/>
        </p:nvSpPr>
        <p:spPr>
          <a:xfrm>
            <a:off x="6683119" y="8881179"/>
            <a:ext cx="246488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20" kern="0" dirty="0">
                <a:solidFill>
                  <a:srgbClr val="A8622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浸出</a:t>
            </a:r>
            <a:endParaRPr lang="en-US" sz="580" dirty="0"/>
          </a:p>
        </p:txBody>
      </p:sp>
      <p:sp>
        <p:nvSpPr>
          <p:cNvPr id="93" name="Text 91"/>
          <p:cNvSpPr/>
          <p:nvPr/>
        </p:nvSpPr>
        <p:spPr>
          <a:xfrm>
            <a:off x="6683119" y="9020940"/>
            <a:ext cx="399570" cy="17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spc="30" kern="0" dirty="0">
                <a:solidFill>
                  <a:srgbClr val="12151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Jetti</a:t>
            </a:r>
            <a:endParaRPr lang="en-US" sz="1100" dirty="0"/>
          </a:p>
        </p:txBody>
      </p:sp>
      <p:sp>
        <p:nvSpPr>
          <p:cNvPr id="94" name="Text 92"/>
          <p:cNvSpPr/>
          <p:nvPr/>
        </p:nvSpPr>
        <p:spPr>
          <a:xfrm>
            <a:off x="6683119" y="9219655"/>
            <a:ext cx="1078939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硫化鉱から銅を回収する</a:t>
            </a:r>
            <a:endParaRPr lang="en-US" sz="670" dirty="0"/>
          </a:p>
        </p:txBody>
      </p:sp>
      <p:sp>
        <p:nvSpPr>
          <p:cNvPr id="95" name="Text 93"/>
          <p:cNvSpPr/>
          <p:nvPr/>
        </p:nvSpPr>
        <p:spPr>
          <a:xfrm>
            <a:off x="8919296" y="8881179"/>
            <a:ext cx="549376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20" kern="0" dirty="0">
                <a:solidFill>
                  <a:srgbClr val="A8622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リサイクル</a:t>
            </a:r>
            <a:endParaRPr lang="en-US" sz="580" dirty="0"/>
          </a:p>
        </p:txBody>
      </p:sp>
      <p:sp>
        <p:nvSpPr>
          <p:cNvPr id="96" name="Text 94"/>
          <p:cNvSpPr/>
          <p:nvPr/>
        </p:nvSpPr>
        <p:spPr>
          <a:xfrm>
            <a:off x="8919296" y="9020940"/>
            <a:ext cx="810773" cy="17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spc="30" kern="0" dirty="0">
                <a:solidFill>
                  <a:srgbClr val="12151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DESCycle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8919296" y="9219655"/>
            <a:ext cx="1265870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電子スクラップから銅を回収</a:t>
            </a:r>
            <a:endParaRPr lang="en-US" sz="670" dirty="0"/>
          </a:p>
        </p:txBody>
      </p:sp>
      <p:sp>
        <p:nvSpPr>
          <p:cNvPr id="98" name="Text 96"/>
          <p:cNvSpPr/>
          <p:nvPr/>
        </p:nvSpPr>
        <p:spPr>
          <a:xfrm>
            <a:off x="11612872" y="7216752"/>
            <a:ext cx="767534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A8622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取り組み事例</a:t>
            </a:r>
            <a:endParaRPr lang="en-US" sz="660" dirty="0"/>
          </a:p>
        </p:txBody>
      </p:sp>
      <p:sp>
        <p:nvSpPr>
          <p:cNvPr id="99" name="Text 97"/>
          <p:cNvSpPr/>
          <p:nvPr/>
        </p:nvSpPr>
        <p:spPr>
          <a:xfrm>
            <a:off x="11612872" y="7413688"/>
            <a:ext cx="1426813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Jetti × 三菱商事</a:t>
            </a:r>
            <a:endParaRPr lang="en-US" sz="1200" dirty="0"/>
          </a:p>
        </p:txBody>
      </p:sp>
      <p:sp>
        <p:nvSpPr>
          <p:cNvPr id="100" name="Text 98"/>
          <p:cNvSpPr/>
          <p:nvPr/>
        </p:nvSpPr>
        <p:spPr>
          <a:xfrm>
            <a:off x="11612872" y="8586442"/>
            <a:ext cx="3153517" cy="62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6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銅鉱石からの銅分回収に関する革新技術を持つ米Jettiに出資参画。同社</a:t>
            </a:r>
            <a:endParaRPr lang="en-US" sz="67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6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技術で生産される環境価値の高い銅地金を販売するほか、当社のネット</a:t>
            </a:r>
            <a:endParaRPr lang="en-US" sz="67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6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ワークを生かし、低品位の鉱石に課題を抱える鉱山への技術導入を共同</a:t>
            </a:r>
            <a:endParaRPr lang="en-US" sz="67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67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で検討しています。</a:t>
            </a:r>
            <a:endParaRPr lang="en-US" sz="670" dirty="0"/>
          </a:p>
        </p:txBody>
      </p:sp>
      <p:sp>
        <p:nvSpPr>
          <p:cNvPr id="101" name="Text 99"/>
          <p:cNvSpPr/>
          <p:nvPr/>
        </p:nvSpPr>
        <p:spPr>
          <a:xfrm>
            <a:off x="508222" y="10316906"/>
            <a:ext cx="202594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00" spc="16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08</a:t>
            </a:r>
            <a:endParaRPr lang="en-US" sz="600" dirty="0"/>
          </a:p>
        </p:txBody>
      </p:sp>
      <p:sp>
        <p:nvSpPr>
          <p:cNvPr id="102" name="Text 100"/>
          <p:cNvSpPr/>
          <p:nvPr/>
        </p:nvSpPr>
        <p:spPr>
          <a:xfrm>
            <a:off x="14458915" y="10316906"/>
            <a:ext cx="202594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00" spc="16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09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7055" y="3303443"/>
            <a:ext cx="866896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パートナーシップ</a:t>
            </a:r>
            <a:endParaRPr lang="en-US" sz="580" dirty="0"/>
          </a:p>
        </p:txBody>
      </p:sp>
      <p:sp>
        <p:nvSpPr>
          <p:cNvPr id="3" name="Text 1"/>
          <p:cNvSpPr/>
          <p:nvPr/>
        </p:nvSpPr>
        <p:spPr>
          <a:xfrm>
            <a:off x="7737680" y="1905832"/>
            <a:ext cx="861218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80" spc="14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社会を支える資源</a:t>
            </a:r>
            <a:endParaRPr lang="en-US" sz="580" dirty="0"/>
          </a:p>
        </p:txBody>
      </p:sp>
      <p:sp>
        <p:nvSpPr>
          <p:cNvPr id="4" name="Text 2"/>
          <p:cNvSpPr/>
          <p:nvPr/>
        </p:nvSpPr>
        <p:spPr>
          <a:xfrm>
            <a:off x="5539620" y="3551201"/>
            <a:ext cx="1896105" cy="1219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600"/>
              </a:lnSpc>
              <a:buNone/>
            </a:pPr>
            <a:r>
              <a:rPr lang="en-US" sz="12000" spc="-480" kern="0" dirty="0">
                <a:solidFill>
                  <a:srgbClr val="000000">
                    <a:alpha val="0"/>
                  </a:srgbClr>
                </a:solidFill>
                <a:latin typeface="Inter Tight Light" pitchFamily="34" charset="0"/>
                <a:ea typeface="Inter Tight Light" pitchFamily="34" charset="-122"/>
                <a:cs typeface="Inter Tight Light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508222" y="3760843"/>
            <a:ext cx="373583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第3章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508222" y="3900604"/>
            <a:ext cx="855322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60" spc="60" kern="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選ばれ続ける理由</a:t>
            </a:r>
            <a:endParaRPr lang="en-US" sz="660" dirty="0"/>
          </a:p>
        </p:txBody>
      </p:sp>
      <p:sp>
        <p:nvSpPr>
          <p:cNvPr id="7" name="Text 5"/>
          <p:cNvSpPr/>
          <p:nvPr/>
        </p:nvSpPr>
        <p:spPr>
          <a:xfrm>
            <a:off x="508222" y="4137435"/>
            <a:ext cx="3837255" cy="466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72"/>
              </a:lnSpc>
              <a:buNone/>
            </a:pPr>
            <a:r>
              <a:rPr lang="en-US" sz="3600" spc="-90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Partner of choice.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8222" y="4880122"/>
            <a:ext cx="3559916" cy="219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資源業界に不可欠な存在として、選ばれ続ける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8222" y="5205067"/>
            <a:ext cx="291036" cy="217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800" spc="-54" kern="0" dirty="0">
                <a:solidFill>
                  <a:srgbClr val="9C7442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9388" y="5212372"/>
            <a:ext cx="1090732" cy="177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企業文化的親和性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89388" y="5405433"/>
            <a:ext cx="1520715" cy="134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資源メジャーと同じ、中長期の視座</a:t>
            </a:r>
            <a:endParaRPr lang="en-US" sz="660" dirty="0"/>
          </a:p>
        </p:txBody>
      </p:sp>
      <p:sp>
        <p:nvSpPr>
          <p:cNvPr id="12" name="Text 10"/>
          <p:cNvSpPr/>
          <p:nvPr/>
        </p:nvSpPr>
        <p:spPr>
          <a:xfrm>
            <a:off x="3837076" y="5205067"/>
            <a:ext cx="341263" cy="217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800" spc="-54" kern="0" dirty="0">
                <a:solidFill>
                  <a:srgbClr val="9C7442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218242" y="5212372"/>
            <a:ext cx="598511" cy="177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JV経営力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18242" y="5405433"/>
            <a:ext cx="1521807" cy="134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実質的な経営貢献と、高い目利き力</a:t>
            </a:r>
            <a:endParaRPr lang="en-US" sz="660" dirty="0"/>
          </a:p>
        </p:txBody>
      </p:sp>
      <p:sp>
        <p:nvSpPr>
          <p:cNvPr id="15" name="Text 13"/>
          <p:cNvSpPr/>
          <p:nvPr/>
        </p:nvSpPr>
        <p:spPr>
          <a:xfrm>
            <a:off x="508222" y="5713289"/>
            <a:ext cx="348906" cy="217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800" spc="-54" kern="0" dirty="0">
                <a:solidFill>
                  <a:srgbClr val="9C7442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9388" y="5720594"/>
            <a:ext cx="960798" cy="177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健全な財務基盤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9388" y="5913655"/>
            <a:ext cx="1154061" cy="134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リスクを分かち合える体力</a:t>
            </a:r>
            <a:endParaRPr lang="en-US" sz="660" dirty="0"/>
          </a:p>
        </p:txBody>
      </p:sp>
      <p:sp>
        <p:nvSpPr>
          <p:cNvPr id="18" name="Text 16"/>
          <p:cNvSpPr/>
          <p:nvPr/>
        </p:nvSpPr>
        <p:spPr>
          <a:xfrm>
            <a:off x="3837076" y="5713289"/>
            <a:ext cx="352400" cy="217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800" spc="-54" kern="0" dirty="0">
                <a:solidFill>
                  <a:srgbClr val="9C7442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218242" y="5720594"/>
            <a:ext cx="570777" cy="177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深い知見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218242" y="5913655"/>
            <a:ext cx="1705025" cy="134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66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マクロ環境とバリューチェーンへの理解</a:t>
            </a:r>
            <a:endParaRPr lang="en-US" sz="660" dirty="0"/>
          </a:p>
        </p:txBody>
      </p:sp>
      <p:sp>
        <p:nvSpPr>
          <p:cNvPr id="21" name="Text 19"/>
          <p:cNvSpPr/>
          <p:nvPr/>
        </p:nvSpPr>
        <p:spPr>
          <a:xfrm>
            <a:off x="508222" y="6323790"/>
            <a:ext cx="703550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JVへの貢献</a:t>
            </a:r>
            <a:endParaRPr lang="en-US" sz="660" dirty="0"/>
          </a:p>
        </p:txBody>
      </p:sp>
      <p:sp>
        <p:nvSpPr>
          <p:cNvPr id="22" name="Text 20"/>
          <p:cNvSpPr/>
          <p:nvPr/>
        </p:nvSpPr>
        <p:spPr>
          <a:xfrm>
            <a:off x="1397610" y="6323790"/>
            <a:ext cx="1257353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60" spc="60" kern="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経営から現場まで伴走する</a:t>
            </a:r>
            <a:endParaRPr lang="en-US" sz="660" dirty="0"/>
          </a:p>
        </p:txBody>
      </p:sp>
      <p:sp>
        <p:nvSpPr>
          <p:cNvPr id="23" name="Text 21"/>
          <p:cNvSpPr/>
          <p:nvPr/>
        </p:nvSpPr>
        <p:spPr>
          <a:xfrm>
            <a:off x="660689" y="6635394"/>
            <a:ext cx="310909" cy="177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spc="3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経営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60689" y="6839350"/>
            <a:ext cx="1733196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E9D6A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中長期計画・資本政策・販売戦略に参画</a:t>
            </a:r>
            <a:endParaRPr lang="en-US" sz="670" dirty="0"/>
          </a:p>
        </p:txBody>
      </p:sp>
      <p:sp>
        <p:nvSpPr>
          <p:cNvPr id="25" name="Text 23"/>
          <p:cNvSpPr/>
          <p:nvPr/>
        </p:nvSpPr>
        <p:spPr>
          <a:xfrm>
            <a:off x="3989543" y="6635394"/>
            <a:ext cx="310909" cy="177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spc="3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現場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989543" y="6839350"/>
            <a:ext cx="1916414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E9D6A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人材派遣とベストプラクティスで操業を支援</a:t>
            </a:r>
            <a:endParaRPr lang="en-US" sz="670" dirty="0"/>
          </a:p>
        </p:txBody>
      </p:sp>
      <p:sp>
        <p:nvSpPr>
          <p:cNvPr id="27" name="Text 25"/>
          <p:cNvSpPr/>
          <p:nvPr/>
        </p:nvSpPr>
        <p:spPr>
          <a:xfrm>
            <a:off x="1016047" y="8165587"/>
            <a:ext cx="1169566" cy="169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86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会社対会社の関係へ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3221055" y="8165587"/>
            <a:ext cx="1294040" cy="169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86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新たな協業が生まれる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5370874" y="8165587"/>
            <a:ext cx="1540151" cy="169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86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積み重ねが、強み・信頼に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508222" y="8682210"/>
            <a:ext cx="7165096" cy="169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2"/>
              </a:lnSpc>
              <a:buNone/>
            </a:pPr>
            <a:r>
              <a:rPr lang="en-US" sz="720" spc="20" kern="0" dirty="0">
                <a:solidFill>
                  <a:srgbClr val="3D424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資源メジャー各社と、単なる共同出資を越えた「会社対会社」の関係へ。新たな協業が生まれ、その積み重ねが、さらなる強み・知見・信頼につながる。</a:t>
            </a:r>
            <a:endParaRPr lang="en-US" sz="720" dirty="0"/>
          </a:p>
        </p:txBody>
      </p:sp>
      <p:sp>
        <p:nvSpPr>
          <p:cNvPr id="31" name="Text 29"/>
          <p:cNvSpPr/>
          <p:nvPr/>
        </p:nvSpPr>
        <p:spPr>
          <a:xfrm>
            <a:off x="508222" y="9275051"/>
            <a:ext cx="1064090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主なJVパートナー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1651721" y="9216288"/>
            <a:ext cx="3440028" cy="181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500" spc="-45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BHP　　Rio Tinto　　Anglo American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068024" y="2363232"/>
            <a:ext cx="376203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9C7442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第4章</a:t>
            </a:r>
            <a:endParaRPr lang="en-US" sz="660" dirty="0"/>
          </a:p>
        </p:txBody>
      </p:sp>
      <p:sp>
        <p:nvSpPr>
          <p:cNvPr id="34" name="Text 32"/>
          <p:cNvSpPr/>
          <p:nvPr/>
        </p:nvSpPr>
        <p:spPr>
          <a:xfrm>
            <a:off x="8068024" y="2502993"/>
            <a:ext cx="754650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60" spc="60" kern="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何を実現するか</a:t>
            </a:r>
            <a:endParaRPr lang="en-US" sz="660" dirty="0"/>
          </a:p>
        </p:txBody>
      </p:sp>
      <p:sp>
        <p:nvSpPr>
          <p:cNvPr id="35" name="Text 33"/>
          <p:cNvSpPr/>
          <p:nvPr/>
        </p:nvSpPr>
        <p:spPr>
          <a:xfrm>
            <a:off x="8068024" y="2740587"/>
            <a:ext cx="4088169" cy="777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3000" spc="-75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Building the future</a:t>
            </a:r>
            <a:endParaRPr lang="en-US" sz="3000" dirty="0"/>
          </a:p>
          <a:p>
            <a:pPr algn="l" indent="0" marL="0">
              <a:lnSpc>
                <a:spcPts val="3060"/>
              </a:lnSpc>
              <a:buNone/>
            </a:pPr>
            <a:r>
              <a:rPr lang="en-US" sz="3000" spc="-75" kern="0" dirty="0">
                <a:solidFill>
                  <a:srgbClr val="121519"/>
                </a:solidFill>
                <a:latin typeface="Inter Tight SemiBold" pitchFamily="34" charset="0"/>
                <a:ea typeface="Inter Tight SemiBold" pitchFamily="34" charset="-122"/>
                <a:cs typeface="Inter Tight SemiBold" pitchFamily="34" charset="-120"/>
              </a:rPr>
              <a:t>of resources, together.</a:t>
            </a: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8068024" y="3793401"/>
            <a:ext cx="2734234" cy="219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社会の「当たり前」を、支え続ける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195079" y="4203853"/>
            <a:ext cx="940925" cy="173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88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産業構造の転換</a:t>
            </a:r>
            <a:endParaRPr lang="en-US" sz="880" dirty="0"/>
          </a:p>
        </p:txBody>
      </p:sp>
      <p:sp>
        <p:nvSpPr>
          <p:cNvPr id="38" name="Text 36"/>
          <p:cNvSpPr/>
          <p:nvPr/>
        </p:nvSpPr>
        <p:spPr>
          <a:xfrm>
            <a:off x="8195079" y="4427281"/>
            <a:ext cx="2088495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電化・AI・データセンターで、素材の需要が拡大</a:t>
            </a:r>
            <a:endParaRPr lang="en-US" sz="670" dirty="0"/>
          </a:p>
        </p:txBody>
      </p:sp>
      <p:sp>
        <p:nvSpPr>
          <p:cNvPr id="39" name="Text 37"/>
          <p:cNvSpPr/>
          <p:nvPr/>
        </p:nvSpPr>
        <p:spPr>
          <a:xfrm>
            <a:off x="10431256" y="4203853"/>
            <a:ext cx="1068021" cy="173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88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供給制約の深刻化</a:t>
            </a:r>
            <a:endParaRPr lang="en-US" sz="880" dirty="0"/>
          </a:p>
        </p:txBody>
      </p:sp>
      <p:sp>
        <p:nvSpPr>
          <p:cNvPr id="40" name="Text 38"/>
          <p:cNvSpPr/>
          <p:nvPr/>
        </p:nvSpPr>
        <p:spPr>
          <a:xfrm>
            <a:off x="10431256" y="4427281"/>
            <a:ext cx="1449088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良質な資源の開発が、より難しく</a:t>
            </a:r>
            <a:endParaRPr lang="en-US" sz="670" dirty="0"/>
          </a:p>
        </p:txBody>
      </p:sp>
      <p:sp>
        <p:nvSpPr>
          <p:cNvPr id="41" name="Text 39"/>
          <p:cNvSpPr/>
          <p:nvPr/>
        </p:nvSpPr>
        <p:spPr>
          <a:xfrm>
            <a:off x="12667433" y="4203853"/>
            <a:ext cx="1322429" cy="173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880" spc="3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地政学リスクの常態化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12667433" y="4427281"/>
            <a:ext cx="1451053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資源の囲い込みが、供給網に影響</a:t>
            </a:r>
            <a:endParaRPr lang="en-US" sz="670" dirty="0"/>
          </a:p>
        </p:txBody>
      </p:sp>
      <p:sp>
        <p:nvSpPr>
          <p:cNvPr id="43" name="Text 41"/>
          <p:cNvSpPr/>
          <p:nvPr/>
        </p:nvSpPr>
        <p:spPr>
          <a:xfrm>
            <a:off x="9092965" y="5169475"/>
            <a:ext cx="4493476" cy="173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880" spc="3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クリティカルミネラルの供給網確保が重要に。川上資源への参入障壁は高まる</a:t>
            </a:r>
            <a:endParaRPr lang="en-US" sz="880" dirty="0"/>
          </a:p>
        </p:txBody>
      </p:sp>
      <p:sp>
        <p:nvSpPr>
          <p:cNvPr id="44" name="Text 42"/>
          <p:cNvSpPr/>
          <p:nvPr/>
        </p:nvSpPr>
        <p:spPr>
          <a:xfrm>
            <a:off x="8220491" y="5853606"/>
            <a:ext cx="570777" cy="177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spc="3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資源投資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220491" y="6057561"/>
            <a:ext cx="2103344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DFE5E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大規模資産の持分確保と、成長領域への早期参画</a:t>
            </a:r>
            <a:endParaRPr lang="en-US" sz="670" dirty="0"/>
          </a:p>
        </p:txBody>
      </p:sp>
      <p:sp>
        <p:nvSpPr>
          <p:cNvPr id="46" name="Text 44"/>
          <p:cNvSpPr/>
          <p:nvPr/>
        </p:nvSpPr>
        <p:spPr>
          <a:xfrm>
            <a:off x="12032155" y="5853606"/>
            <a:ext cx="952063" cy="177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spc="3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トレーディング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2032155" y="6057561"/>
            <a:ext cx="2290275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DFE5E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権益の引き取りと外部調達で、安定供給の体制を確立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11214474" y="6198116"/>
            <a:ext cx="237753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7D838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連携</a:t>
            </a:r>
            <a:endParaRPr lang="en-US" sz="670" dirty="0"/>
          </a:p>
        </p:txBody>
      </p:sp>
      <p:sp>
        <p:nvSpPr>
          <p:cNvPr id="49" name="Text 47"/>
          <p:cNvSpPr/>
          <p:nvPr/>
        </p:nvSpPr>
        <p:spPr>
          <a:xfrm>
            <a:off x="8068024" y="6572422"/>
            <a:ext cx="6864828" cy="213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spc="50" kern="0" dirty="0">
                <a:solidFill>
                  <a:srgbClr val="121519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「金属＝経済活動を支える礎」。社会に必要な資源を支えることを、私たちの責務と考えています。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296724" y="9325873"/>
            <a:ext cx="2567831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60" spc="190" kern="0" dirty="0">
                <a:solidFill>
                  <a:srgbClr val="E9D6A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グループミッション｜共に、資源の未来を築く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8296724" y="9550762"/>
            <a:ext cx="6607581" cy="3964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040" spc="3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社会が必要とする良質な金属資源を、持続可能な形で安定供給することで、より良い社会の実現に</a:t>
            </a:r>
            <a:endParaRPr lang="en-US" sz="1040" dirty="0"/>
          </a:p>
          <a:p>
            <a:pPr algn="l" indent="0" marL="0">
              <a:lnSpc>
                <a:spcPts val="1560"/>
              </a:lnSpc>
              <a:buNone/>
            </a:pPr>
            <a:r>
              <a:rPr lang="en-US" sz="1040" spc="3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寄与する</a:t>
            </a:r>
            <a:endParaRPr lang="en-US" sz="1040" dirty="0"/>
          </a:p>
        </p:txBody>
      </p:sp>
      <p:sp>
        <p:nvSpPr>
          <p:cNvPr id="52" name="Text 50"/>
          <p:cNvSpPr/>
          <p:nvPr/>
        </p:nvSpPr>
        <p:spPr>
          <a:xfrm>
            <a:off x="8296724" y="10083632"/>
            <a:ext cx="5185294" cy="136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2"/>
              </a:lnSpc>
              <a:buNone/>
            </a:pPr>
            <a:r>
              <a:rPr lang="en-US" sz="670" dirty="0">
                <a:solidFill>
                  <a:srgbClr val="9AA1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contribute to a better society by providing a stable supply of high-quality mineral resources, in a sustainable way.</a:t>
            </a:r>
            <a:endParaRPr lang="en-US" sz="670" dirty="0"/>
          </a:p>
        </p:txBody>
      </p:sp>
      <p:sp>
        <p:nvSpPr>
          <p:cNvPr id="53" name="Text 51"/>
          <p:cNvSpPr/>
          <p:nvPr/>
        </p:nvSpPr>
        <p:spPr>
          <a:xfrm>
            <a:off x="508222" y="10316906"/>
            <a:ext cx="184687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00" spc="16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10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14458915" y="10316906"/>
            <a:ext cx="165252" cy="88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600" spc="160" kern="0" dirty="0">
                <a:solidFill>
                  <a:srgbClr val="7D838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11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2026-10-13T13:08:28Z</dcterms:created>
  <dcterms:modified xsi:type="dcterms:W3CDTF">2026-10-13T13:08:28Z</dcterms:modified>
</cp:coreProperties>
</file>