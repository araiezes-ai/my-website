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都市</a:t>
            </a:r>
            <a:endParaRPr lang="en-US" sz="580" dirty="0"/>
          </a:p>
        </p:txBody>
      </p:sp>
      <p:sp>
        <p:nvSpPr>
          <p:cNvPr id="3" name="Text 1"/>
          <p:cNvSpPr/>
          <p:nvPr/>
        </p:nvSpPr>
        <p:spPr>
          <a:xfrm>
            <a:off x="127055" y="3036626"/>
            <a:ext cx="70202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鉄・銅・アルミ</a:t>
            </a:r>
            <a:endParaRPr lang="en-US" sz="580" dirty="0"/>
          </a:p>
        </p:txBody>
      </p:sp>
      <p:sp>
        <p:nvSpPr>
          <p:cNvPr id="4" name="Text 2"/>
          <p:cNvSpPr/>
          <p:nvPr/>
        </p:nvSpPr>
        <p:spPr>
          <a:xfrm>
            <a:off x="4370709" y="1308672"/>
            <a:ext cx="56335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モビリティ</a:t>
            </a:r>
            <a:endParaRPr lang="en-US" sz="580" dirty="0"/>
          </a:p>
        </p:txBody>
      </p:sp>
      <p:sp>
        <p:nvSpPr>
          <p:cNvPr id="5" name="Text 3"/>
          <p:cNvSpPr/>
          <p:nvPr/>
        </p:nvSpPr>
        <p:spPr>
          <a:xfrm>
            <a:off x="4370709" y="1423022"/>
            <a:ext cx="796142"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鉄・銅・リチウム</a:t>
            </a:r>
            <a:endParaRPr lang="en-US" sz="580" dirty="0"/>
          </a:p>
        </p:txBody>
      </p:sp>
      <p:sp>
        <p:nvSpPr>
          <p:cNvPr id="6" name="Text 4"/>
          <p:cNvSpPr/>
          <p:nvPr/>
        </p:nvSpPr>
        <p:spPr>
          <a:xfrm>
            <a:off x="5362258" y="2322328"/>
            <a:ext cx="1078939"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鉄道の写真（ストック）</a:t>
            </a:r>
            <a:endParaRPr lang="en-US" sz="670" dirty="0"/>
          </a:p>
        </p:txBody>
      </p:sp>
      <p:sp>
        <p:nvSpPr>
          <p:cNvPr id="7" name="Text 5"/>
          <p:cNvSpPr/>
          <p:nvPr/>
        </p:nvSpPr>
        <p:spPr>
          <a:xfrm>
            <a:off x="4370709" y="2922276"/>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Noto Sans JP Medium" pitchFamily="34" charset="0"/>
                <a:ea typeface="Noto Sans JP Medium" pitchFamily="34" charset="-122"/>
                <a:cs typeface="Noto Sans JP Medium" pitchFamily="34" charset="-120"/>
              </a:rPr>
              <a:t>鉄道</a:t>
            </a:r>
            <a:endParaRPr lang="en-US" sz="580" dirty="0"/>
          </a:p>
        </p:txBody>
      </p:sp>
      <p:sp>
        <p:nvSpPr>
          <p:cNvPr id="8" name="Text 6"/>
          <p:cNvSpPr/>
          <p:nvPr/>
        </p:nvSpPr>
        <p:spPr>
          <a:xfrm>
            <a:off x="4370709" y="3036626"/>
            <a:ext cx="32750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Noto Sans JP" pitchFamily="34" charset="0"/>
                <a:ea typeface="Noto Sans JP" pitchFamily="34" charset="-122"/>
                <a:cs typeface="Noto Sans JP" pitchFamily="34" charset="-120"/>
              </a:rPr>
              <a:t>鉄・銅</a:t>
            </a:r>
            <a:endParaRPr lang="en-US" sz="580" dirty="0"/>
          </a:p>
        </p:txBody>
      </p:sp>
      <p:sp>
        <p:nvSpPr>
          <p:cNvPr id="9" name="Text 7"/>
          <p:cNvSpPr/>
          <p:nvPr/>
        </p:nvSpPr>
        <p:spPr>
          <a:xfrm>
            <a:off x="127055" y="4828109"/>
            <a:ext cx="96385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再生可能エネルギー</a:t>
            </a:r>
            <a:endParaRPr lang="en-US" sz="580" dirty="0"/>
          </a:p>
        </p:txBody>
      </p:sp>
      <p:sp>
        <p:nvSpPr>
          <p:cNvPr id="10" name="Text 8"/>
          <p:cNvSpPr/>
          <p:nvPr/>
        </p:nvSpPr>
        <p:spPr>
          <a:xfrm>
            <a:off x="127055" y="4942459"/>
            <a:ext cx="32750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銅・鉄</a:t>
            </a:r>
            <a:endParaRPr lang="en-US" sz="580" dirty="0"/>
          </a:p>
        </p:txBody>
      </p:sp>
      <p:sp>
        <p:nvSpPr>
          <p:cNvPr id="11" name="Text 9"/>
          <p:cNvSpPr/>
          <p:nvPr/>
        </p:nvSpPr>
        <p:spPr>
          <a:xfrm>
            <a:off x="2248882" y="4828109"/>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送電網</a:t>
            </a:r>
            <a:endParaRPr lang="en-US" sz="580" dirty="0"/>
          </a:p>
        </p:txBody>
      </p:sp>
      <p:sp>
        <p:nvSpPr>
          <p:cNvPr id="12" name="Text 10"/>
          <p:cNvSpPr/>
          <p:nvPr/>
        </p:nvSpPr>
        <p:spPr>
          <a:xfrm>
            <a:off x="2248882" y="4942459"/>
            <a:ext cx="51771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銅・アルミ</a:t>
            </a:r>
            <a:endParaRPr lang="en-US" sz="580" dirty="0"/>
          </a:p>
        </p:txBody>
      </p:sp>
      <p:sp>
        <p:nvSpPr>
          <p:cNvPr id="13" name="Text 11"/>
          <p:cNvSpPr/>
          <p:nvPr/>
        </p:nvSpPr>
        <p:spPr>
          <a:xfrm>
            <a:off x="4756054" y="4082047"/>
            <a:ext cx="2291148"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70" dirty="0"/>
          </a:p>
        </p:txBody>
      </p:sp>
      <p:sp>
        <p:nvSpPr>
          <p:cNvPr id="14" name="Text 12"/>
          <p:cNvSpPr/>
          <p:nvPr/>
        </p:nvSpPr>
        <p:spPr>
          <a:xfrm>
            <a:off x="4370709" y="4828109"/>
            <a:ext cx="46093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Noto Sans JP Medium" pitchFamily="34" charset="0"/>
                <a:ea typeface="Noto Sans JP Medium" pitchFamily="34" charset="-122"/>
                <a:cs typeface="Noto Sans JP Medium" pitchFamily="34" charset="-120"/>
              </a:rPr>
              <a:t>デバイス</a:t>
            </a:r>
            <a:endParaRPr lang="en-US" sz="580" dirty="0"/>
          </a:p>
        </p:txBody>
      </p:sp>
      <p:sp>
        <p:nvSpPr>
          <p:cNvPr id="15" name="Text 13"/>
          <p:cNvSpPr/>
          <p:nvPr/>
        </p:nvSpPr>
        <p:spPr>
          <a:xfrm>
            <a:off x="4370709" y="4942459"/>
            <a:ext cx="108025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Noto Sans JP" pitchFamily="34" charset="0"/>
                <a:ea typeface="Noto Sans JP" pitchFamily="34" charset="-122"/>
                <a:cs typeface="Noto Sans JP" pitchFamily="34" charset="-120"/>
              </a:rPr>
              <a:t>銅・リチウム・ニッケル</a:t>
            </a:r>
            <a:endParaRPr lang="en-US" sz="580" dirty="0"/>
          </a:p>
        </p:txBody>
      </p:sp>
      <p:sp>
        <p:nvSpPr>
          <p:cNvPr id="16" name="Text 14"/>
          <p:cNvSpPr/>
          <p:nvPr/>
        </p:nvSpPr>
        <p:spPr>
          <a:xfrm>
            <a:off x="7737680" y="3100154"/>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金属</a:t>
            </a:r>
            <a:endParaRPr lang="en-US" sz="580" dirty="0"/>
          </a:p>
        </p:txBody>
      </p:sp>
      <p:sp>
        <p:nvSpPr>
          <p:cNvPr id="17" name="Text 15"/>
          <p:cNvSpPr/>
          <p:nvPr/>
        </p:nvSpPr>
        <p:spPr>
          <a:xfrm>
            <a:off x="7737680" y="3214504"/>
            <a:ext cx="1168692"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現代の暮らしを支える素材</a:t>
            </a:r>
            <a:endParaRPr lang="en-US" sz="580" dirty="0"/>
          </a:p>
        </p:txBody>
      </p:sp>
      <p:sp>
        <p:nvSpPr>
          <p:cNvPr id="18" name="Text 16"/>
          <p:cNvSpPr/>
          <p:nvPr/>
        </p:nvSpPr>
        <p:spPr>
          <a:xfrm>
            <a:off x="11981333" y="3100154"/>
            <a:ext cx="5537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製錬・精製</a:t>
            </a:r>
            <a:endParaRPr lang="en-US" sz="580" dirty="0"/>
          </a:p>
        </p:txBody>
      </p:sp>
      <p:sp>
        <p:nvSpPr>
          <p:cNvPr id="19" name="Text 17"/>
          <p:cNvSpPr/>
          <p:nvPr/>
        </p:nvSpPr>
        <p:spPr>
          <a:xfrm>
            <a:off x="7737680" y="4828109"/>
            <a:ext cx="45329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海上輸送</a:t>
            </a:r>
            <a:endParaRPr lang="en-US" sz="580" dirty="0"/>
          </a:p>
        </p:txBody>
      </p:sp>
      <p:sp>
        <p:nvSpPr>
          <p:cNvPr id="20" name="Text 18"/>
          <p:cNvSpPr/>
          <p:nvPr/>
        </p:nvSpPr>
        <p:spPr>
          <a:xfrm>
            <a:off x="11053828" y="4828109"/>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銅地金</a:t>
            </a:r>
            <a:endParaRPr lang="en-US" sz="580" dirty="0"/>
          </a:p>
        </p:txBody>
      </p:sp>
      <p:sp>
        <p:nvSpPr>
          <p:cNvPr id="21" name="Text 19"/>
          <p:cNvSpPr/>
          <p:nvPr/>
        </p:nvSpPr>
        <p:spPr>
          <a:xfrm>
            <a:off x="508222" y="5565031"/>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導入</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9532"/>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います。人口の増加と新興国の発展、そして社会の電化によって、金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属の需要はこれからも拡大を続けます。一方で、良質な資源の開発は</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年々難しくなり、地政学的なリスクも常態化しつつあります。</a:t>
            </a:r>
            <a:endParaRPr lang="en-US" sz="770" dirty="0"/>
          </a:p>
        </p:txBody>
      </p:sp>
      <p:sp>
        <p:nvSpPr>
          <p:cNvPr id="26" name="Text 24"/>
          <p:cNvSpPr/>
          <p:nvPr/>
        </p:nvSpPr>
        <p:spPr>
          <a:xfrm>
            <a:off x="4319887" y="7877441"/>
            <a:ext cx="64655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需要と供給</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需要</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供給</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5343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ギャップ</a:t>
            </a:r>
            <a:endParaRPr lang="en-US" sz="660" dirty="0"/>
          </a:p>
        </p:txBody>
      </p:sp>
      <p:sp>
        <p:nvSpPr>
          <p:cNvPr id="33" name="Text 31"/>
          <p:cNvSpPr/>
          <p:nvPr/>
        </p:nvSpPr>
        <p:spPr>
          <a:xfrm>
            <a:off x="4396120" y="9372630"/>
            <a:ext cx="2017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現在</a:t>
            </a:r>
            <a:endParaRPr lang="en-US" sz="540" dirty="0"/>
          </a:p>
        </p:txBody>
      </p:sp>
      <p:sp>
        <p:nvSpPr>
          <p:cNvPr id="34" name="Text 32"/>
          <p:cNvSpPr/>
          <p:nvPr/>
        </p:nvSpPr>
        <p:spPr>
          <a:xfrm>
            <a:off x="6543358" y="9372630"/>
            <a:ext cx="2017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将来</a:t>
            </a:r>
            <a:endParaRPr lang="en-US" sz="540" dirty="0"/>
          </a:p>
        </p:txBody>
      </p:sp>
      <p:sp>
        <p:nvSpPr>
          <p:cNvPr id="35" name="Text 33"/>
          <p:cNvSpPr/>
          <p:nvPr/>
        </p:nvSpPr>
        <p:spPr>
          <a:xfrm>
            <a:off x="8068024" y="5565031"/>
            <a:ext cx="89484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コアメッセージ</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8365"/>
            <a:ext cx="4243654"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必要とする場所へ届けて、はじめて力になる。私たちは、世界有数の資産に関わり、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投資とトレーディングの両輪で川上から川下までをつなぎます。フェアな立場だから</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こそ、埋められる隙間がある。多様なパートナーと使い手の間に立ち、その時々の最</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適解を導く。世界に眠る価値を、社会の力へ。</a:t>
            </a:r>
            <a:endParaRPr lang="en-US" sz="770" dirty="0"/>
          </a:p>
        </p:txBody>
      </p:sp>
      <p:sp>
        <p:nvSpPr>
          <p:cNvPr id="40" name="Text 38"/>
          <p:cNvSpPr/>
          <p:nvPr/>
        </p:nvSpPr>
        <p:spPr>
          <a:xfrm>
            <a:off x="12260855" y="7496274"/>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目次</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1619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我々は何者か</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52273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資産の強み</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520550"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原料炭と銅</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71184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資源から価値へ</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8116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パートナーシップ</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8116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バリューチェーン</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76233"/>
            <a:ext cx="1737345"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4000" dirty="0"/>
          </a:p>
        </p:txBody>
      </p:sp>
      <p:sp>
        <p:nvSpPr>
          <p:cNvPr id="3" name="Text 1"/>
          <p:cNvSpPr/>
          <p:nvPr/>
        </p:nvSpPr>
        <p:spPr>
          <a:xfrm>
            <a:off x="12705550" y="76233"/>
            <a:ext cx="2168202"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4000" dirty="0"/>
          </a:p>
        </p:txBody>
      </p:sp>
      <p:sp>
        <p:nvSpPr>
          <p:cNvPr id="4" name="Text 2"/>
          <p:cNvSpPr/>
          <p:nvPr/>
        </p:nvSpPr>
        <p:spPr>
          <a:xfrm>
            <a:off x="508222" y="508222"/>
            <a:ext cx="103722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01｜我々は何者か</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7979"/>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に、経済価値・環境価値・社会価値の同時実現を目指す総合商社で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す。そのなかで金属資源グループは、社会に不可欠な金属資源を世界</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から確保し、安定的に届ける役割を担っています。原料炭と銅は、全</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社としてコミットする中核事業です。</a:t>
            </a:r>
            <a:endParaRPr lang="en-US" sz="770" dirty="0"/>
          </a:p>
        </p:txBody>
      </p:sp>
      <p:sp>
        <p:nvSpPr>
          <p:cNvPr id="9" name="Text 7"/>
          <p:cNvSpPr/>
          <p:nvPr/>
        </p:nvSpPr>
        <p:spPr>
          <a:xfrm>
            <a:off x="4116598" y="1777189"/>
            <a:ext cx="11365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グループミッション</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508222" y="3352677"/>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組織</a:t>
            </a:r>
            <a:endParaRPr lang="en-US" sz="660" dirty="0"/>
          </a:p>
        </p:txBody>
      </p:sp>
      <p:sp>
        <p:nvSpPr>
          <p:cNvPr id="12" name="Text 10"/>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3" name="Text 11"/>
          <p:cNvSpPr/>
          <p:nvPr/>
        </p:nvSpPr>
        <p:spPr>
          <a:xfrm>
            <a:off x="3432285" y="3714785"/>
            <a:ext cx="631704"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グループCEO</a:t>
            </a:r>
            <a:endParaRPr lang="en-US" sz="640" dirty="0"/>
          </a:p>
        </p:txBody>
      </p:sp>
      <p:sp>
        <p:nvSpPr>
          <p:cNvPr id="14" name="Text 12"/>
          <p:cNvSpPr/>
          <p:nvPr/>
        </p:nvSpPr>
        <p:spPr>
          <a:xfrm>
            <a:off x="622572" y="4280182"/>
            <a:ext cx="24081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投資</a:t>
            </a:r>
            <a:endParaRPr lang="en-US" sz="560" dirty="0"/>
          </a:p>
        </p:txBody>
      </p:sp>
      <p:sp>
        <p:nvSpPr>
          <p:cNvPr id="15" name="Text 13"/>
          <p:cNvSpPr/>
          <p:nvPr/>
        </p:nvSpPr>
        <p:spPr>
          <a:xfrm>
            <a:off x="622572" y="4407238"/>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6" name="Text 14"/>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7" name="Text 15"/>
          <p:cNvSpPr/>
          <p:nvPr/>
        </p:nvSpPr>
        <p:spPr>
          <a:xfrm>
            <a:off x="508222" y="5025235"/>
            <a:ext cx="90445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主要関係会社：MDP</a:t>
            </a:r>
            <a:endParaRPr lang="en-US" sz="670" dirty="0"/>
          </a:p>
        </p:txBody>
      </p:sp>
      <p:sp>
        <p:nvSpPr>
          <p:cNvPr id="18" name="Text 16"/>
          <p:cNvSpPr/>
          <p:nvPr/>
        </p:nvSpPr>
        <p:spPr>
          <a:xfrm>
            <a:off x="2807926" y="4280182"/>
            <a:ext cx="24081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投資</a:t>
            </a:r>
            <a:endParaRPr lang="en-US" sz="560" dirty="0"/>
          </a:p>
        </p:txBody>
      </p:sp>
      <p:sp>
        <p:nvSpPr>
          <p:cNvPr id="19" name="Text 17"/>
          <p:cNvSpPr/>
          <p:nvPr/>
        </p:nvSpPr>
        <p:spPr>
          <a:xfrm>
            <a:off x="2807926" y="4407238"/>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0" name="Text 18"/>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1" name="Text 19"/>
          <p:cNvSpPr/>
          <p:nvPr/>
        </p:nvSpPr>
        <p:spPr>
          <a:xfrm>
            <a:off x="2693577" y="5025235"/>
            <a:ext cx="118441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主要関係会社：MCI · MCIP</a:t>
            </a:r>
            <a:endParaRPr lang="en-US" sz="670" dirty="0"/>
          </a:p>
        </p:txBody>
      </p:sp>
      <p:sp>
        <p:nvSpPr>
          <p:cNvPr id="22" name="Text 20"/>
          <p:cNvSpPr/>
          <p:nvPr/>
        </p:nvSpPr>
        <p:spPr>
          <a:xfrm>
            <a:off x="4993281" y="4280182"/>
            <a:ext cx="72648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トレーディング</a:t>
            </a:r>
            <a:endParaRPr lang="en-US" sz="560" dirty="0"/>
          </a:p>
        </p:txBody>
      </p:sp>
      <p:sp>
        <p:nvSpPr>
          <p:cNvPr id="23" name="Text 21"/>
          <p:cNvSpPr/>
          <p:nvPr/>
        </p:nvSpPr>
        <p:spPr>
          <a:xfrm>
            <a:off x="4993281" y="4407238"/>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4" name="Text 22"/>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5" name="Text 23"/>
          <p:cNvSpPr/>
          <p:nvPr/>
        </p:nvSpPr>
        <p:spPr>
          <a:xfrm>
            <a:off x="4878931" y="5025235"/>
            <a:ext cx="157989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主要関係会社：RtM · Triland Metals</a:t>
            </a:r>
            <a:endParaRPr lang="en-US" sz="670" dirty="0"/>
          </a:p>
        </p:txBody>
      </p:sp>
      <p:sp>
        <p:nvSpPr>
          <p:cNvPr id="26" name="Text 24"/>
          <p:cNvSpPr/>
          <p:nvPr/>
        </p:nvSpPr>
        <p:spPr>
          <a:xfrm>
            <a:off x="508222" y="5461798"/>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三綱領</a:t>
            </a:r>
            <a:endParaRPr lang="en-US" sz="660" dirty="0"/>
          </a:p>
        </p:txBody>
      </p:sp>
      <p:sp>
        <p:nvSpPr>
          <p:cNvPr id="27" name="Text 25"/>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28" name="Text 26"/>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29" name="Text 27"/>
          <p:cNvSpPr/>
          <p:nvPr/>
        </p:nvSpPr>
        <p:spPr>
          <a:xfrm>
            <a:off x="508222" y="5970020"/>
            <a:ext cx="72014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しょきほうこう</a:t>
            </a:r>
            <a:endParaRPr lang="en-US" sz="640" dirty="0"/>
          </a:p>
        </p:txBody>
      </p:sp>
      <p:sp>
        <p:nvSpPr>
          <p:cNvPr id="30" name="Text 28"/>
          <p:cNvSpPr/>
          <p:nvPr/>
        </p:nvSpPr>
        <p:spPr>
          <a:xfrm>
            <a:off x="508222" y="6117913"/>
            <a:ext cx="2200522"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70" dirty="0"/>
          </a:p>
        </p:txBody>
      </p:sp>
      <p:sp>
        <p:nvSpPr>
          <p:cNvPr id="31" name="Text 29"/>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2" name="Text 30"/>
          <p:cNvSpPr/>
          <p:nvPr/>
        </p:nvSpPr>
        <p:spPr>
          <a:xfrm>
            <a:off x="2693577" y="5970020"/>
            <a:ext cx="72014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しょじこうめい</a:t>
            </a:r>
            <a:endParaRPr lang="en-US" sz="640" dirty="0"/>
          </a:p>
        </p:txBody>
      </p:sp>
      <p:sp>
        <p:nvSpPr>
          <p:cNvPr id="33" name="Text 31"/>
          <p:cNvSpPr/>
          <p:nvPr/>
        </p:nvSpPr>
        <p:spPr>
          <a:xfrm>
            <a:off x="2693577" y="6117913"/>
            <a:ext cx="163711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70" dirty="0"/>
          </a:p>
        </p:txBody>
      </p:sp>
      <p:sp>
        <p:nvSpPr>
          <p:cNvPr id="34" name="Text 32"/>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5" name="Text 33"/>
          <p:cNvSpPr/>
          <p:nvPr/>
        </p:nvSpPr>
        <p:spPr>
          <a:xfrm>
            <a:off x="4878931" y="5970020"/>
            <a:ext cx="91144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りつぎょうぼうえき</a:t>
            </a:r>
            <a:endParaRPr lang="en-US" sz="640" dirty="0"/>
          </a:p>
        </p:txBody>
      </p:sp>
      <p:sp>
        <p:nvSpPr>
          <p:cNvPr id="36" name="Text 34"/>
          <p:cNvSpPr/>
          <p:nvPr/>
        </p:nvSpPr>
        <p:spPr>
          <a:xfrm>
            <a:off x="4878931" y="6117913"/>
            <a:ext cx="210705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70" dirty="0"/>
          </a:p>
        </p:txBody>
      </p:sp>
      <p:sp>
        <p:nvSpPr>
          <p:cNvPr id="37" name="Text 35"/>
          <p:cNvSpPr/>
          <p:nvPr/>
        </p:nvSpPr>
        <p:spPr>
          <a:xfrm>
            <a:off x="8068024" y="508222"/>
            <a:ext cx="93699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02｜資産の強み</a:t>
            </a:r>
            <a:endParaRPr lang="en-US" sz="660" dirty="0"/>
          </a:p>
        </p:txBody>
      </p:sp>
      <p:sp>
        <p:nvSpPr>
          <p:cNvPr id="38" name="Text 36"/>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39" name="Text 37"/>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0" name="Text 38"/>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1" name="Text 39"/>
          <p:cNvSpPr/>
          <p:nvPr/>
        </p:nvSpPr>
        <p:spPr>
          <a:xfrm>
            <a:off x="8068024" y="2568141"/>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位に入る優良鉱山に早くから参画し、現在では資金があっても手に入</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らない資産のポートフォリオを築いてきました。その中核が、原料炭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と銅です。</a:t>
            </a:r>
            <a:endParaRPr lang="en-US" sz="770" dirty="0"/>
          </a:p>
        </p:txBody>
      </p:sp>
      <p:sp>
        <p:nvSpPr>
          <p:cNvPr id="42" name="Text 40"/>
          <p:cNvSpPr/>
          <p:nvPr/>
        </p:nvSpPr>
        <p:spPr>
          <a:xfrm>
            <a:off x="12395455" y="5352411"/>
            <a:ext cx="1095318"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原料炭</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豪州 ボーエン・ベースン</a:t>
            </a:r>
            <a:endParaRPr lang="en-US" sz="860" dirty="0"/>
          </a:p>
        </p:txBody>
      </p:sp>
      <p:sp>
        <p:nvSpPr>
          <p:cNvPr id="43" name="Text 41"/>
          <p:cNvSpPr/>
          <p:nvPr/>
        </p:nvSpPr>
        <p:spPr>
          <a:xfrm>
            <a:off x="9938519" y="5409586"/>
            <a:ext cx="611613"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銅</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チリ・ペルー</a:t>
            </a:r>
            <a:endParaRPr lang="en-US" sz="860" dirty="0"/>
          </a:p>
        </p:txBody>
      </p:sp>
      <p:sp>
        <p:nvSpPr>
          <p:cNvPr id="44" name="Text 42"/>
          <p:cNvSpPr/>
          <p:nvPr/>
        </p:nvSpPr>
        <p:spPr>
          <a:xfrm>
            <a:off x="8334841" y="4237499"/>
            <a:ext cx="237753"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銅</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米国</a:t>
            </a:r>
            <a:endParaRPr lang="en-US" sz="860" dirty="0"/>
          </a:p>
        </p:txBody>
      </p:sp>
      <p:sp>
        <p:nvSpPr>
          <p:cNvPr id="45" name="Text 43"/>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46" name="Text 44"/>
          <p:cNvSpPr/>
          <p:nvPr/>
        </p:nvSpPr>
        <p:spPr>
          <a:xfrm>
            <a:off x="8068024" y="6731162"/>
            <a:ext cx="42118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5鉱山中</a:t>
            </a:r>
            <a:endParaRPr lang="en-US" sz="580" dirty="0"/>
          </a:p>
        </p:txBody>
      </p:sp>
      <p:sp>
        <p:nvSpPr>
          <p:cNvPr id="47" name="Text 45"/>
          <p:cNvSpPr/>
          <p:nvPr/>
        </p:nvSpPr>
        <p:spPr>
          <a:xfrm>
            <a:off x="8068024" y="6866349"/>
            <a:ext cx="176158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70" dirty="0"/>
          </a:p>
        </p:txBody>
      </p:sp>
      <p:sp>
        <p:nvSpPr>
          <p:cNvPr id="48" name="Text 46"/>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49" name="Text 47"/>
          <p:cNvSpPr/>
          <p:nvPr/>
        </p:nvSpPr>
        <p:spPr>
          <a:xfrm>
            <a:off x="10304201" y="6731162"/>
            <a:ext cx="3582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シェア</a:t>
            </a:r>
            <a:endParaRPr lang="en-US" sz="580" dirty="0"/>
          </a:p>
        </p:txBody>
      </p:sp>
      <p:sp>
        <p:nvSpPr>
          <p:cNvPr id="50" name="Text 48"/>
          <p:cNvSpPr/>
          <p:nvPr/>
        </p:nvSpPr>
        <p:spPr>
          <a:xfrm>
            <a:off x="10304201" y="6866349"/>
            <a:ext cx="192733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70" dirty="0"/>
          </a:p>
        </p:txBody>
      </p:sp>
      <p:sp>
        <p:nvSpPr>
          <p:cNvPr id="51" name="Text 49"/>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2" name="Text 50"/>
          <p:cNvSpPr/>
          <p:nvPr/>
        </p:nvSpPr>
        <p:spPr>
          <a:xfrm>
            <a:off x="12540377" y="6731162"/>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年以上</a:t>
            </a:r>
            <a:endParaRPr lang="en-US" sz="580" dirty="0"/>
          </a:p>
        </p:txBody>
      </p:sp>
      <p:sp>
        <p:nvSpPr>
          <p:cNvPr id="53" name="Text 51"/>
          <p:cNvSpPr/>
          <p:nvPr/>
        </p:nvSpPr>
        <p:spPr>
          <a:xfrm>
            <a:off x="12540377" y="6866349"/>
            <a:ext cx="79854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原料炭の炭鉱寿命</a:t>
            </a:r>
            <a:endParaRPr lang="en-US" sz="670" dirty="0"/>
          </a:p>
        </p:txBody>
      </p:sp>
      <p:sp>
        <p:nvSpPr>
          <p:cNvPr id="54" name="Text 52"/>
          <p:cNvSpPr/>
          <p:nvPr/>
        </p:nvSpPr>
        <p:spPr>
          <a:xfrm>
            <a:off x="508222" y="8131552"/>
            <a:ext cx="76338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歩み｜先見性</a:t>
            </a:r>
            <a:endParaRPr lang="en-US" sz="660" dirty="0"/>
          </a:p>
        </p:txBody>
      </p:sp>
      <p:sp>
        <p:nvSpPr>
          <p:cNvPr id="55" name="Text 53"/>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56" name="Text 54"/>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57" name="Text 55"/>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58" name="Text 56"/>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59" name="Text 57"/>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0" name="Text 58"/>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1" name="Text 59"/>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2" name="Text 60"/>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3" name="Text 61"/>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4" name="Text 62"/>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5" name="Text 63"/>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66" name="Text 64"/>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67" name="Text 65"/>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68" name="Text 66"/>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69" name="Text 67"/>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0" name="Text 68"/>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1" name="Text 69"/>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2" name="Text 70"/>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3" name="Text 71"/>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4" name="Text 72"/>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69525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02｜原料炭</a:t>
            </a:r>
            <a:endParaRPr lang="en-US" sz="660" dirty="0"/>
          </a:p>
        </p:txBody>
      </p:sp>
      <p:sp>
        <p:nvSpPr>
          <p:cNvPr id="3" name="Text 1"/>
          <p:cNvSpPr/>
          <p:nvPr/>
        </p:nvSpPr>
        <p:spPr>
          <a:xfrm>
            <a:off x="8068024" y="508222"/>
            <a:ext cx="45787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02｜銅</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豪州クイーンズランド州ボーエン・ベースンで世界最高品位の原料炭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事業に参画しています。炭鉱（露天掘4・坑内掘1）に加え、港湾と鉄</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道までを自社で保有し、山から港まで全体最適で運営。保有鉱山は高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品位のものに集約し、高品位原料の供給を通じて鉄鋼業の脱炭素にも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貢献しています。</a:t>
            </a:r>
            <a:endParaRPr lang="en-US" sz="77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5257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出資構成</a:t>
            </a:r>
            <a:endParaRPr lang="en-US" sz="660" dirty="0"/>
          </a:p>
        </p:txBody>
      </p:sp>
      <p:sp>
        <p:nvSpPr>
          <p:cNvPr id="20" name="Text 18"/>
          <p:cNvSpPr/>
          <p:nvPr/>
        </p:nvSpPr>
        <p:spPr>
          <a:xfrm>
            <a:off x="909836" y="7566155"/>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三菱商事</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設立</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33143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所在地</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保有資産</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炭鉱寿命</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1184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海上輸出シェア</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4184692"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partner the copper</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industry calls first.</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す。そのなかで私たちは、規模で世界上位15に入る優良鉱山に複数参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画し、日本最大・世界第20位の持分生産量を有しています。特定の1社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に偏らず、主要メジャーのほぼすべてと共同事業・取引を行い、販売</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を通じた幅広い関係から、新しい案件で“声がかかる存在”であり続け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ています。</a:t>
            </a:r>
            <a:endParaRPr lang="en-US" sz="770" dirty="0"/>
          </a:p>
        </p:txBody>
      </p:sp>
      <p:sp>
        <p:nvSpPr>
          <p:cNvPr id="40" name="Text 38"/>
          <p:cNvSpPr/>
          <p:nvPr/>
        </p:nvSpPr>
        <p:spPr>
          <a:xfrm>
            <a:off x="11498522" y="5742908"/>
            <a:ext cx="100491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主要鉱山への参画</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084399"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チリ・1988</a:t>
            </a:r>
            <a:endParaRPr lang="en-US" sz="640" dirty="0"/>
          </a:p>
        </p:txBody>
      </p:sp>
      <p:sp>
        <p:nvSpPr>
          <p:cNvPr id="47" name="Text 45"/>
          <p:cNvSpPr/>
          <p:nvPr/>
        </p:nvSpPr>
        <p:spPr>
          <a:xfrm>
            <a:off x="12464144" y="6441714"/>
            <a:ext cx="1283340"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チリ・1997</a:t>
            </a:r>
            <a:endParaRPr lang="en-US" sz="640" dirty="0"/>
          </a:p>
        </p:txBody>
      </p:sp>
      <p:sp>
        <p:nvSpPr>
          <p:cNvPr id="48" name="Text 46"/>
          <p:cNvSpPr/>
          <p:nvPr/>
        </p:nvSpPr>
        <p:spPr>
          <a:xfrm>
            <a:off x="12612243" y="6606886"/>
            <a:ext cx="1140303"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ペルー・1999</a:t>
            </a:r>
            <a:endParaRPr lang="en-US" sz="640" dirty="0"/>
          </a:p>
        </p:txBody>
      </p:sp>
      <p:sp>
        <p:nvSpPr>
          <p:cNvPr id="49" name="Text 47"/>
          <p:cNvSpPr/>
          <p:nvPr/>
        </p:nvSpPr>
        <p:spPr>
          <a:xfrm>
            <a:off x="13501632" y="6772058"/>
            <a:ext cx="1534910"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チリ・2011</a:t>
            </a:r>
            <a:endParaRPr lang="en-US" sz="640" dirty="0"/>
          </a:p>
        </p:txBody>
      </p:sp>
      <p:sp>
        <p:nvSpPr>
          <p:cNvPr id="50" name="Text 48"/>
          <p:cNvSpPr/>
          <p:nvPr/>
        </p:nvSpPr>
        <p:spPr>
          <a:xfrm>
            <a:off x="13501632" y="6937230"/>
            <a:ext cx="121913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ペルー・2011</a:t>
            </a:r>
            <a:endParaRPr lang="en-US" sz="640" dirty="0"/>
          </a:p>
        </p:txBody>
      </p:sp>
      <p:sp>
        <p:nvSpPr>
          <p:cNvPr id="51" name="Text 49"/>
          <p:cNvSpPr/>
          <p:nvPr/>
        </p:nvSpPr>
        <p:spPr>
          <a:xfrm>
            <a:off x="12789029" y="7102402"/>
            <a:ext cx="1449525"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チリ・開発中・2023</a:t>
            </a:r>
            <a:endParaRPr lang="en-US" sz="640" dirty="0"/>
          </a:p>
        </p:txBody>
      </p:sp>
      <p:sp>
        <p:nvSpPr>
          <p:cNvPr id="52" name="Text 50"/>
          <p:cNvSpPr/>
          <p:nvPr/>
        </p:nvSpPr>
        <p:spPr>
          <a:xfrm>
            <a:off x="12749959" y="7267574"/>
            <a:ext cx="1636892"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米国・開発中・2025</a:t>
            </a:r>
            <a:endParaRPr lang="en-US" sz="640" dirty="0"/>
          </a:p>
        </p:txBody>
      </p:sp>
      <p:sp>
        <p:nvSpPr>
          <p:cNvPr id="53" name="Text 51"/>
          <p:cNvSpPr/>
          <p:nvPr/>
        </p:nvSpPr>
        <p:spPr>
          <a:xfrm>
            <a:off x="8068024" y="7216752"/>
            <a:ext cx="18635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会社別 世界銅生産量（2025年）</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532630" y="9065410"/>
            <a:ext cx="60266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Noto Sans JP Medium" pitchFamily="34" charset="0"/>
                <a:ea typeface="Noto Sans JP Medium" pitchFamily="34" charset="-122"/>
                <a:cs typeface="Noto Sans JP Medium" pitchFamily="34" charset="-120"/>
              </a:rPr>
              <a:t>#20 三菱商事</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2733"/>
            <a:ext cx="2574383" cy="408610"/>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能で、オペレーターシップを求めないパートナーとしては最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大規模。</a:t>
            </a:r>
            <a:endParaRPr lang="en-US" sz="670" dirty="0"/>
          </a:p>
        </p:txBody>
      </p:sp>
      <p:sp>
        <p:nvSpPr>
          <p:cNvPr id="78" name="Text 76"/>
          <p:cNvSpPr/>
          <p:nvPr/>
        </p:nvSpPr>
        <p:spPr>
          <a:xfrm>
            <a:off x="508222" y="9757862"/>
            <a:ext cx="5257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市場構造</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356986"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Noto Sans JP Medium" pitchFamily="34" charset="0"/>
                <a:ea typeface="Noto Sans JP Medium" pitchFamily="34" charset="-122"/>
                <a:cs typeface="Noto Sans JP Medium" pitchFamily="34" charset="-120"/>
              </a:rPr>
              <a:t>原料炭</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4455"/>
            <a:ext cx="197493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70" dirty="0"/>
          </a:p>
        </p:txBody>
      </p:sp>
      <p:sp>
        <p:nvSpPr>
          <p:cNvPr id="83" name="Text 81"/>
          <p:cNvSpPr/>
          <p:nvPr/>
        </p:nvSpPr>
        <p:spPr>
          <a:xfrm>
            <a:off x="8068024" y="9961151"/>
            <a:ext cx="153022"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Noto Sans JP Medium" pitchFamily="34" charset="0"/>
                <a:ea typeface="Noto Sans JP Medium" pitchFamily="34" charset="-122"/>
                <a:cs typeface="Noto Sans JP Medium" pitchFamily="34" charset="-120"/>
              </a:rPr>
              <a:t>銅</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4455"/>
            <a:ext cx="20618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7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330344"/>
            <a:ext cx="2203579"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4000" dirty="0"/>
          </a:p>
        </p:txBody>
      </p:sp>
      <p:sp>
        <p:nvSpPr>
          <p:cNvPr id="3" name="Text 1"/>
          <p:cNvSpPr/>
          <p:nvPr/>
        </p:nvSpPr>
        <p:spPr>
          <a:xfrm>
            <a:off x="12705550" y="330344"/>
            <a:ext cx="2197901"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4000" dirty="0"/>
          </a:p>
        </p:txBody>
      </p:sp>
      <p:sp>
        <p:nvSpPr>
          <p:cNvPr id="4" name="Text 2"/>
          <p:cNvSpPr/>
          <p:nvPr/>
        </p:nvSpPr>
        <p:spPr>
          <a:xfrm>
            <a:off x="508222" y="508222"/>
            <a:ext cx="117764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03｜資源から価値へ</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5471"/>
            <a:ext cx="7248516" cy="361981"/>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めて価値になります。原料炭と銅に加え、私たちは鉄鉱石、電池資源、アルミ、肥料、二次資源へと事業領域を広げています。</a:t>
            </a:r>
            <a:endParaRPr lang="en-US" sz="770" dirty="0"/>
          </a:p>
        </p:txBody>
      </p:sp>
      <p:sp>
        <p:nvSpPr>
          <p:cNvPr id="9" name="Text 7"/>
          <p:cNvSpPr/>
          <p:nvPr/>
        </p:nvSpPr>
        <p:spPr>
          <a:xfrm>
            <a:off x="1448433" y="3454544"/>
            <a:ext cx="390398"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80" dirty="0"/>
          </a:p>
        </p:txBody>
      </p:sp>
      <p:sp>
        <p:nvSpPr>
          <p:cNvPr id="10" name="Text 8"/>
          <p:cNvSpPr/>
          <p:nvPr/>
        </p:nvSpPr>
        <p:spPr>
          <a:xfrm>
            <a:off x="1448433" y="3660183"/>
            <a:ext cx="12898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IOC（カナダ）・CMP（チリ）</a:t>
            </a:r>
            <a:endParaRPr lang="en-US" sz="670" dirty="0"/>
          </a:p>
        </p:txBody>
      </p:sp>
      <p:sp>
        <p:nvSpPr>
          <p:cNvPr id="11" name="Text 9"/>
          <p:cNvSpPr/>
          <p:nvPr/>
        </p:nvSpPr>
        <p:spPr>
          <a:xfrm>
            <a:off x="3659198"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80" dirty="0"/>
          </a:p>
        </p:txBody>
      </p:sp>
      <p:sp>
        <p:nvSpPr>
          <p:cNvPr id="12" name="Text 10"/>
          <p:cNvSpPr/>
          <p:nvPr/>
        </p:nvSpPr>
        <p:spPr>
          <a:xfrm>
            <a:off x="3659198" y="3660183"/>
            <a:ext cx="1004473"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Turnagain（カナダ）・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Kalgoorlie（豪州）</a:t>
            </a:r>
            <a:endParaRPr lang="en-US" sz="670" dirty="0"/>
          </a:p>
        </p:txBody>
      </p:sp>
      <p:sp>
        <p:nvSpPr>
          <p:cNvPr id="13" name="Text 11"/>
          <p:cNvSpPr/>
          <p:nvPr/>
        </p:nvSpPr>
        <p:spPr>
          <a:xfrm>
            <a:off x="5869964"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80" dirty="0"/>
          </a:p>
        </p:txBody>
      </p:sp>
      <p:sp>
        <p:nvSpPr>
          <p:cNvPr id="14" name="Text 12"/>
          <p:cNvSpPr/>
          <p:nvPr/>
        </p:nvSpPr>
        <p:spPr>
          <a:xfrm>
            <a:off x="5869964" y="3660183"/>
            <a:ext cx="104749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PAK Lithium（カナダ）</a:t>
            </a:r>
            <a:endParaRPr lang="en-US" sz="670" dirty="0"/>
          </a:p>
        </p:txBody>
      </p:sp>
      <p:sp>
        <p:nvSpPr>
          <p:cNvPr id="15" name="Text 13"/>
          <p:cNvSpPr/>
          <p:nvPr/>
        </p:nvSpPr>
        <p:spPr>
          <a:xfrm>
            <a:off x="1448433" y="4775921"/>
            <a:ext cx="1520934"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80" dirty="0"/>
          </a:p>
        </p:txBody>
      </p:sp>
      <p:sp>
        <p:nvSpPr>
          <p:cNvPr id="16" name="Text 14"/>
          <p:cNvSpPr/>
          <p:nvPr/>
        </p:nvSpPr>
        <p:spPr>
          <a:xfrm>
            <a:off x="1448433" y="4981560"/>
            <a:ext cx="1306051"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Aurukun（豪州）・Arctial（北</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欧）</a:t>
            </a:r>
            <a:endParaRPr lang="en-US" sz="670" dirty="0"/>
          </a:p>
        </p:txBody>
      </p:sp>
      <p:sp>
        <p:nvSpPr>
          <p:cNvPr id="17" name="Text 15"/>
          <p:cNvSpPr/>
          <p:nvPr/>
        </p:nvSpPr>
        <p:spPr>
          <a:xfrm>
            <a:off x="3659198"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80" dirty="0"/>
          </a:p>
        </p:txBody>
      </p:sp>
      <p:sp>
        <p:nvSpPr>
          <p:cNvPr id="18" name="Text 16"/>
          <p:cNvSpPr/>
          <p:nvPr/>
        </p:nvSpPr>
        <p:spPr>
          <a:xfrm>
            <a:off x="3659198" y="4981560"/>
            <a:ext cx="9260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Woodsmith（英国）</a:t>
            </a:r>
            <a:endParaRPr lang="en-US" sz="670" dirty="0"/>
          </a:p>
        </p:txBody>
      </p:sp>
      <p:sp>
        <p:nvSpPr>
          <p:cNvPr id="19" name="Text 17"/>
          <p:cNvSpPr/>
          <p:nvPr/>
        </p:nvSpPr>
        <p:spPr>
          <a:xfrm>
            <a:off x="5869964"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80" dirty="0"/>
          </a:p>
        </p:txBody>
      </p:sp>
      <p:sp>
        <p:nvSpPr>
          <p:cNvPr id="20" name="Text 18"/>
          <p:cNvSpPr/>
          <p:nvPr/>
        </p:nvSpPr>
        <p:spPr>
          <a:xfrm>
            <a:off x="5869964" y="4981560"/>
            <a:ext cx="116781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リサイクル由来の金属資源</a:t>
            </a:r>
            <a:endParaRPr lang="en-US" sz="670" dirty="0"/>
          </a:p>
        </p:txBody>
      </p:sp>
      <p:sp>
        <p:nvSpPr>
          <p:cNvPr id="21" name="Text 19"/>
          <p:cNvSpPr/>
          <p:nvPr/>
        </p:nvSpPr>
        <p:spPr>
          <a:xfrm>
            <a:off x="508222" y="6002578"/>
            <a:ext cx="17301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銅のバリューチェーンと新技術</a:t>
            </a:r>
            <a:endParaRPr lang="en-US" sz="660" dirty="0"/>
          </a:p>
        </p:txBody>
      </p:sp>
      <p:sp>
        <p:nvSpPr>
          <p:cNvPr id="22" name="Text 20"/>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3" name="Text 21"/>
          <p:cNvSpPr/>
          <p:nvPr/>
        </p:nvSpPr>
        <p:spPr>
          <a:xfrm>
            <a:off x="609866" y="6523506"/>
            <a:ext cx="26024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採掘</a:t>
            </a:r>
            <a:endParaRPr lang="en-US" sz="720" dirty="0"/>
          </a:p>
        </p:txBody>
      </p:sp>
      <p:sp>
        <p:nvSpPr>
          <p:cNvPr id="24" name="Text 22"/>
          <p:cNvSpPr/>
          <p:nvPr/>
        </p:nvSpPr>
        <p:spPr>
          <a:xfrm>
            <a:off x="609866"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採掘</a:t>
            </a:r>
            <a:endParaRPr lang="en-US" sz="670" dirty="0"/>
          </a:p>
        </p:txBody>
      </p:sp>
      <p:sp>
        <p:nvSpPr>
          <p:cNvPr id="25" name="Text 23"/>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26" name="Text 24"/>
          <p:cNvSpPr/>
          <p:nvPr/>
        </p:nvSpPr>
        <p:spPr>
          <a:xfrm>
            <a:off x="1931244" y="6523506"/>
            <a:ext cx="364848"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銅精鉱</a:t>
            </a:r>
            <a:endParaRPr lang="en-US" sz="720" dirty="0"/>
          </a:p>
        </p:txBody>
      </p:sp>
      <p:sp>
        <p:nvSpPr>
          <p:cNvPr id="27" name="Text 25"/>
          <p:cNvSpPr/>
          <p:nvPr/>
        </p:nvSpPr>
        <p:spPr>
          <a:xfrm>
            <a:off x="1931244"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選鉱・浸出</a:t>
            </a:r>
            <a:endParaRPr lang="en-US" sz="670" dirty="0"/>
          </a:p>
        </p:txBody>
      </p:sp>
      <p:sp>
        <p:nvSpPr>
          <p:cNvPr id="28" name="Text 26"/>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29" name="Text 27"/>
          <p:cNvSpPr/>
          <p:nvPr/>
        </p:nvSpPr>
        <p:spPr>
          <a:xfrm>
            <a:off x="3252621" y="6523506"/>
            <a:ext cx="364848"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銅地金</a:t>
            </a:r>
            <a:endParaRPr lang="en-US" sz="720" dirty="0"/>
          </a:p>
        </p:txBody>
      </p:sp>
      <p:sp>
        <p:nvSpPr>
          <p:cNvPr id="30" name="Text 28"/>
          <p:cNvSpPr/>
          <p:nvPr/>
        </p:nvSpPr>
        <p:spPr>
          <a:xfrm>
            <a:off x="3252621"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製錬・精製</a:t>
            </a:r>
            <a:endParaRPr lang="en-US" sz="670" dirty="0"/>
          </a:p>
        </p:txBody>
      </p:sp>
      <p:sp>
        <p:nvSpPr>
          <p:cNvPr id="31" name="Text 29"/>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2" name="Text 30"/>
          <p:cNvSpPr/>
          <p:nvPr/>
        </p:nvSpPr>
        <p:spPr>
          <a:xfrm>
            <a:off x="4573998" y="6523506"/>
            <a:ext cx="46945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最終用途</a:t>
            </a:r>
            <a:endParaRPr lang="en-US" sz="720" dirty="0"/>
          </a:p>
        </p:txBody>
      </p:sp>
      <p:sp>
        <p:nvSpPr>
          <p:cNvPr id="33" name="Text 31"/>
          <p:cNvSpPr/>
          <p:nvPr/>
        </p:nvSpPr>
        <p:spPr>
          <a:xfrm>
            <a:off x="4573998" y="6658693"/>
            <a:ext cx="42468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最終製品</a:t>
            </a:r>
            <a:endParaRPr lang="en-US" sz="670" dirty="0"/>
          </a:p>
        </p:txBody>
      </p:sp>
      <p:sp>
        <p:nvSpPr>
          <p:cNvPr id="34" name="Text 32"/>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35" name="Text 33"/>
          <p:cNvSpPr/>
          <p:nvPr/>
        </p:nvSpPr>
        <p:spPr>
          <a:xfrm>
            <a:off x="5895375" y="6523506"/>
            <a:ext cx="58584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リサイクル</a:t>
            </a:r>
            <a:endParaRPr lang="en-US" sz="720" dirty="0"/>
          </a:p>
        </p:txBody>
      </p:sp>
      <p:sp>
        <p:nvSpPr>
          <p:cNvPr id="36" name="Text 34"/>
          <p:cNvSpPr/>
          <p:nvPr/>
        </p:nvSpPr>
        <p:spPr>
          <a:xfrm>
            <a:off x="5895375"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37" name="Text 35"/>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38" name="Text 36"/>
          <p:cNvSpPr/>
          <p:nvPr/>
        </p:nvSpPr>
        <p:spPr>
          <a:xfrm>
            <a:off x="622572" y="7527244"/>
            <a:ext cx="98110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スタートアップ｜選鉱</a:t>
            </a:r>
            <a:endParaRPr lang="en-US" sz="540" dirty="0"/>
          </a:p>
        </p:txBody>
      </p:sp>
      <p:sp>
        <p:nvSpPr>
          <p:cNvPr id="39" name="Text 37"/>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0" name="Text 38"/>
          <p:cNvSpPr/>
          <p:nvPr/>
        </p:nvSpPr>
        <p:spPr>
          <a:xfrm>
            <a:off x="622572"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浮遊選鉱の高度化で、回収率・処</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理能力を向上</a:t>
            </a:r>
            <a:endParaRPr lang="en-US" sz="670" dirty="0"/>
          </a:p>
        </p:txBody>
      </p:sp>
      <p:sp>
        <p:nvSpPr>
          <p:cNvPr id="41" name="Text 39"/>
          <p:cNvSpPr/>
          <p:nvPr/>
        </p:nvSpPr>
        <p:spPr>
          <a:xfrm>
            <a:off x="2274293" y="7527244"/>
            <a:ext cx="98110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スタートアップ｜浸出</a:t>
            </a:r>
            <a:endParaRPr lang="en-US" sz="540" dirty="0"/>
          </a:p>
        </p:txBody>
      </p:sp>
      <p:sp>
        <p:nvSpPr>
          <p:cNvPr id="42" name="Text 40"/>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3" name="Text 41"/>
          <p:cNvSpPr/>
          <p:nvPr/>
        </p:nvSpPr>
        <p:spPr>
          <a:xfrm>
            <a:off x="2274293"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新しい触媒で、硫化鉱から銅をリ</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ーチング</a:t>
            </a:r>
            <a:endParaRPr lang="en-US" sz="670" dirty="0"/>
          </a:p>
        </p:txBody>
      </p:sp>
      <p:sp>
        <p:nvSpPr>
          <p:cNvPr id="44" name="Text 42"/>
          <p:cNvSpPr/>
          <p:nvPr/>
        </p:nvSpPr>
        <p:spPr>
          <a:xfrm>
            <a:off x="3926015" y="7527244"/>
            <a:ext cx="1347324"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トレーディング｜100%子会社</a:t>
            </a:r>
            <a:endParaRPr lang="en-US" sz="540" dirty="0"/>
          </a:p>
        </p:txBody>
      </p:sp>
      <p:sp>
        <p:nvSpPr>
          <p:cNvPr id="45" name="Text 43"/>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46" name="Text 44"/>
          <p:cNvSpPr/>
          <p:nvPr/>
        </p:nvSpPr>
        <p:spPr>
          <a:xfrm>
            <a:off x="3926015" y="7789487"/>
            <a:ext cx="1451272"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LME・CMEでのブローカー・ヘッ</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ジ機能</a:t>
            </a:r>
            <a:endParaRPr lang="en-US" sz="670" dirty="0"/>
          </a:p>
        </p:txBody>
      </p:sp>
      <p:sp>
        <p:nvSpPr>
          <p:cNvPr id="47" name="Text 45"/>
          <p:cNvSpPr/>
          <p:nvPr/>
        </p:nvSpPr>
        <p:spPr>
          <a:xfrm>
            <a:off x="5577736" y="7527244"/>
            <a:ext cx="795050"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リサイクル｜回収</a:t>
            </a:r>
            <a:endParaRPr lang="en-US" sz="540" dirty="0"/>
          </a:p>
        </p:txBody>
      </p:sp>
      <p:sp>
        <p:nvSpPr>
          <p:cNvPr id="48" name="Text 46"/>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49" name="Text 47"/>
          <p:cNvSpPr/>
          <p:nvPr/>
        </p:nvSpPr>
        <p:spPr>
          <a:xfrm>
            <a:off x="5577736" y="7789487"/>
            <a:ext cx="145280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電子スクラップから銅・貴金属を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50" name="Text 48"/>
          <p:cNvSpPr/>
          <p:nvPr/>
        </p:nvSpPr>
        <p:spPr>
          <a:xfrm>
            <a:off x="508222" y="8484957"/>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す。業界のボトルネック——鉱石品位の低下、回収率、リサイクル——</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に挑むスタートアップへの投資を通じ、山を持つだけでも、売るだけ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でもない、川上から川下までのフットプリントを広げています。</a:t>
            </a:r>
            <a:endParaRPr lang="en-US" sz="770" dirty="0"/>
          </a:p>
        </p:txBody>
      </p:sp>
      <p:sp>
        <p:nvSpPr>
          <p:cNvPr id="51" name="Text 49"/>
          <p:cNvSpPr/>
          <p:nvPr/>
        </p:nvSpPr>
        <p:spPr>
          <a:xfrm>
            <a:off x="4065776" y="9661776"/>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銅鉱山</a:t>
            </a:r>
            <a:endParaRPr lang="en-US" sz="580" dirty="0"/>
          </a:p>
        </p:txBody>
      </p:sp>
      <p:sp>
        <p:nvSpPr>
          <p:cNvPr id="52" name="Text 50"/>
          <p:cNvSpPr/>
          <p:nvPr/>
        </p:nvSpPr>
        <p:spPr>
          <a:xfrm>
            <a:off x="4065776" y="9776126"/>
            <a:ext cx="23906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チリ</a:t>
            </a:r>
            <a:endParaRPr lang="en-US" sz="580" dirty="0"/>
          </a:p>
        </p:txBody>
      </p:sp>
      <p:sp>
        <p:nvSpPr>
          <p:cNvPr id="53" name="Text 51"/>
          <p:cNvSpPr/>
          <p:nvPr/>
        </p:nvSpPr>
        <p:spPr>
          <a:xfrm>
            <a:off x="8068024" y="508222"/>
            <a:ext cx="13056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04｜パートナーシップ</a:t>
            </a:r>
            <a:endParaRPr lang="en-US" sz="660" dirty="0"/>
          </a:p>
        </p:txBody>
      </p:sp>
      <p:sp>
        <p:nvSpPr>
          <p:cNvPr id="54" name="Text 52"/>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55" name="Text 53"/>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56" name="Text 54"/>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57" name="Text 55"/>
          <p:cNvSpPr/>
          <p:nvPr/>
        </p:nvSpPr>
        <p:spPr>
          <a:xfrm>
            <a:off x="8068024" y="1868939"/>
            <a:ext cx="7248516" cy="54297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こと。BHP、Rio Tinto、Anglo Americanをはじめとする業界最大手とJVを組み、単なる共同出資者に留まらず、人材派遣・ガバナンス参画・総</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合力で事業価値の最大化に貢献してきました。</a:t>
            </a:r>
            <a:endParaRPr lang="en-US" sz="770" dirty="0"/>
          </a:p>
        </p:txBody>
      </p:sp>
      <p:sp>
        <p:nvSpPr>
          <p:cNvPr id="58" name="Text 56"/>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59" name="Text 57"/>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0" name="Text 58"/>
          <p:cNvSpPr/>
          <p:nvPr/>
        </p:nvSpPr>
        <p:spPr>
          <a:xfrm>
            <a:off x="8474602" y="3142829"/>
            <a:ext cx="256695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70" dirty="0"/>
          </a:p>
        </p:txBody>
      </p:sp>
      <p:sp>
        <p:nvSpPr>
          <p:cNvPr id="61" name="Text 59"/>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2" name="Text 60"/>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63" name="Text 61"/>
          <p:cNvSpPr/>
          <p:nvPr/>
        </p:nvSpPr>
        <p:spPr>
          <a:xfrm>
            <a:off x="11803456" y="3142829"/>
            <a:ext cx="16360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70" dirty="0"/>
          </a:p>
        </p:txBody>
      </p:sp>
      <p:sp>
        <p:nvSpPr>
          <p:cNvPr id="64" name="Text 62"/>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65" name="Text 63"/>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66" name="Text 64"/>
          <p:cNvSpPr/>
          <p:nvPr/>
        </p:nvSpPr>
        <p:spPr>
          <a:xfrm>
            <a:off x="8474602" y="4083040"/>
            <a:ext cx="238002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70" dirty="0"/>
          </a:p>
        </p:txBody>
      </p:sp>
      <p:sp>
        <p:nvSpPr>
          <p:cNvPr id="67" name="Text 65"/>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68" name="Text 6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69" name="Text 67"/>
          <p:cNvSpPr/>
          <p:nvPr/>
        </p:nvSpPr>
        <p:spPr>
          <a:xfrm>
            <a:off x="11803456" y="4083040"/>
            <a:ext cx="20135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70" dirty="0"/>
          </a:p>
        </p:txBody>
      </p:sp>
      <p:sp>
        <p:nvSpPr>
          <p:cNvPr id="70" name="Text 68"/>
          <p:cNvSpPr/>
          <p:nvPr/>
        </p:nvSpPr>
        <p:spPr>
          <a:xfrm>
            <a:off x="8068024" y="4900769"/>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販売網</a:t>
            </a:r>
            <a:endParaRPr lang="en-US" sz="660" dirty="0"/>
          </a:p>
        </p:txBody>
      </p:sp>
      <p:sp>
        <p:nvSpPr>
          <p:cNvPr id="71" name="Text 6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72" name="Text 70"/>
          <p:cNvSpPr/>
          <p:nvPr/>
        </p:nvSpPr>
        <p:spPr>
          <a:xfrm>
            <a:off x="8068024" y="6951119"/>
            <a:ext cx="410695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シンガポール（拠点集約）・日本・インド・中国・米国・英国・UAE・インドネシア・タイ・チリ</a:t>
            </a:r>
            <a:endParaRPr lang="en-US" sz="670" dirty="0"/>
          </a:p>
        </p:txBody>
      </p:sp>
      <p:sp>
        <p:nvSpPr>
          <p:cNvPr id="73" name="Text 7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74" name="Text 72"/>
          <p:cNvSpPr/>
          <p:nvPr/>
        </p:nvSpPr>
        <p:spPr>
          <a:xfrm>
            <a:off x="13023188" y="5574163"/>
            <a:ext cx="30654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業界</a:t>
            </a:r>
            <a:endParaRPr lang="en-US" sz="580" dirty="0"/>
          </a:p>
        </p:txBody>
      </p:sp>
      <p:sp>
        <p:nvSpPr>
          <p:cNvPr id="75" name="Text 7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76" name="Text 74"/>
          <p:cNvSpPr/>
          <p:nvPr/>
        </p:nvSpPr>
        <p:spPr>
          <a:xfrm>
            <a:off x="13023188" y="6184029"/>
            <a:ext cx="30850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カ国</a:t>
            </a:r>
            <a:endParaRPr lang="en-US" sz="580" dirty="0"/>
          </a:p>
        </p:txBody>
      </p:sp>
      <p:sp>
        <p:nvSpPr>
          <p:cNvPr id="77" name="Text 7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78" name="Text 76"/>
          <p:cNvSpPr/>
          <p:nvPr/>
        </p:nvSpPr>
        <p:spPr>
          <a:xfrm>
            <a:off x="13023188" y="6793896"/>
            <a:ext cx="56400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社の販売先</a:t>
            </a:r>
            <a:endParaRPr lang="en-US" sz="580" dirty="0"/>
          </a:p>
        </p:txBody>
      </p:sp>
      <p:sp>
        <p:nvSpPr>
          <p:cNvPr id="79" name="Text 77"/>
          <p:cNvSpPr/>
          <p:nvPr/>
        </p:nvSpPr>
        <p:spPr>
          <a:xfrm>
            <a:off x="8068024" y="7540148"/>
            <a:ext cx="46202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JV実績</a:t>
            </a:r>
            <a:endParaRPr lang="en-US" sz="660" dirty="0"/>
          </a:p>
        </p:txBody>
      </p:sp>
      <p:sp>
        <p:nvSpPr>
          <p:cNvPr id="80" name="Text 7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81" name="Text 7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82" name="Text 8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83" name="Text 8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84" name="Text 82"/>
          <p:cNvSpPr/>
          <p:nvPr/>
        </p:nvSpPr>
        <p:spPr>
          <a:xfrm>
            <a:off x="12794488" y="7738863"/>
            <a:ext cx="892009"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他社ロゴは使用せず</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社名テキストで表記</a:t>
            </a:r>
            <a:endParaRPr lang="en-US" sz="670" dirty="0"/>
          </a:p>
        </p:txBody>
      </p:sp>
      <p:sp>
        <p:nvSpPr>
          <p:cNvPr id="85" name="Text 83"/>
          <p:cNvSpPr/>
          <p:nvPr/>
        </p:nvSpPr>
        <p:spPr>
          <a:xfrm>
            <a:off x="8068024" y="8302481"/>
            <a:ext cx="160937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パートナーに評価される理由</a:t>
            </a:r>
            <a:endParaRPr lang="en-US" sz="660" dirty="0"/>
          </a:p>
        </p:txBody>
      </p:sp>
      <p:sp>
        <p:nvSpPr>
          <p:cNvPr id="86" name="Text 8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87" name="Text 85"/>
          <p:cNvSpPr/>
          <p:nvPr/>
        </p:nvSpPr>
        <p:spPr>
          <a:xfrm>
            <a:off x="8220491" y="8649787"/>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88" name="Text 86"/>
          <p:cNvSpPr/>
          <p:nvPr/>
        </p:nvSpPr>
        <p:spPr>
          <a:xfrm>
            <a:off x="8220491" y="8860922"/>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資源事業は長期にわたる。短期的リターンを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求める投資家とは一線を画す。</a:t>
            </a:r>
            <a:endParaRPr lang="en-US" sz="670" dirty="0"/>
          </a:p>
        </p:txBody>
      </p:sp>
      <p:sp>
        <p:nvSpPr>
          <p:cNvPr id="89" name="Text 87"/>
          <p:cNvSpPr/>
          <p:nvPr/>
        </p:nvSpPr>
        <p:spPr>
          <a:xfrm>
            <a:off x="10456667" y="8649787"/>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90" name="Text 88"/>
          <p:cNvSpPr/>
          <p:nvPr/>
        </p:nvSpPr>
        <p:spPr>
          <a:xfrm>
            <a:off x="10456667" y="8860922"/>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リスクの高い案件ほど、資金面の分担を担保</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する。</a:t>
            </a:r>
            <a:endParaRPr lang="en-US" sz="670" dirty="0"/>
          </a:p>
        </p:txBody>
      </p:sp>
      <p:sp>
        <p:nvSpPr>
          <p:cNvPr id="91" name="Text 89"/>
          <p:cNvSpPr/>
          <p:nvPr/>
        </p:nvSpPr>
        <p:spPr>
          <a:xfrm>
            <a:off x="12692844" y="8649787"/>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92" name="Text 90"/>
          <p:cNvSpPr/>
          <p:nvPr/>
        </p:nvSpPr>
        <p:spPr>
          <a:xfrm>
            <a:off x="12692844" y="8860922"/>
            <a:ext cx="1920126"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幅広い産業接点を通じ、多様なバリューチェ</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ーンに知見を提供する。</a:t>
            </a:r>
            <a:endParaRPr lang="en-US" sz="670" dirty="0"/>
          </a:p>
        </p:txBody>
      </p:sp>
      <p:sp>
        <p:nvSpPr>
          <p:cNvPr id="93" name="Text 91"/>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94" name="Text 92"/>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95" name="Text 93"/>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96" name="Text 94"/>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832605" y="76233"/>
            <a:ext cx="2126274"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4000" dirty="0"/>
          </a:p>
        </p:txBody>
      </p:sp>
      <p:sp>
        <p:nvSpPr>
          <p:cNvPr id="3" name="Text 1"/>
          <p:cNvSpPr/>
          <p:nvPr/>
        </p:nvSpPr>
        <p:spPr>
          <a:xfrm>
            <a:off x="508222" y="508222"/>
            <a:ext cx="16567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05｜バリューチェーン全体像</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77953"/>
            <a:ext cx="10712625" cy="518386"/>
          </a:xfrm>
          <a:prstGeom prst="rect">
            <a:avLst/>
          </a:prstGeom>
          <a:noFill/>
          <a:ln/>
        </p:spPr>
        <p:txBody>
          <a:bodyPr wrap="none" lIns="0" tIns="0" rIns="0" bIns="0" rtlCol="0" anchor="t"/>
          <a:lstStyle/>
          <a:p>
            <a:pPr algn="l" indent="0" marL="0">
              <a:lnSpc>
                <a:spcPts val="4080"/>
              </a:lnSpc>
              <a:buNone/>
            </a:pPr>
            <a:r>
              <a:rPr lang="en-US" sz="4000" spc="-100"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0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川上</a:t>
            </a:r>
            <a:endParaRPr lang="en-US" sz="600" dirty="0"/>
          </a:p>
        </p:txBody>
      </p:sp>
      <p:sp>
        <p:nvSpPr>
          <p:cNvPr id="8" name="Text 6"/>
          <p:cNvSpPr/>
          <p:nvPr/>
        </p:nvSpPr>
        <p:spPr>
          <a:xfrm>
            <a:off x="635277" y="2604638"/>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1247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Noto Sans JP Medium" pitchFamily="34" charset="0"/>
                <a:ea typeface="Noto Sans JP Medium" pitchFamily="34" charset="-122"/>
                <a:cs typeface="Noto Sans JP Medium" pitchFamily="34" charset="-120"/>
              </a:rPr>
              <a:t>トレーディング（RtM）</a:t>
            </a:r>
            <a:endParaRPr lang="en-US" sz="600" dirty="0"/>
          </a:p>
        </p:txBody>
      </p:sp>
      <p:sp>
        <p:nvSpPr>
          <p:cNvPr id="10" name="Text 8"/>
          <p:cNvSpPr/>
          <p:nvPr/>
        </p:nvSpPr>
        <p:spPr>
          <a:xfrm>
            <a:off x="3557554" y="2604638"/>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川中</a:t>
            </a:r>
            <a:endParaRPr lang="en-US" sz="600" dirty="0"/>
          </a:p>
        </p:txBody>
      </p:sp>
      <p:sp>
        <p:nvSpPr>
          <p:cNvPr id="12" name="Text 10"/>
          <p:cNvSpPr/>
          <p:nvPr/>
        </p:nvSpPr>
        <p:spPr>
          <a:xfrm>
            <a:off x="6225719" y="2604638"/>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1247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Noto Sans JP Medium" pitchFamily="34" charset="0"/>
                <a:ea typeface="Noto Sans JP Medium" pitchFamily="34" charset="-122"/>
                <a:cs typeface="Noto Sans JP Medium" pitchFamily="34" charset="-120"/>
              </a:rPr>
              <a:t>トレーディング（RtM）</a:t>
            </a:r>
            <a:endParaRPr lang="en-US" sz="600" dirty="0"/>
          </a:p>
        </p:txBody>
      </p:sp>
      <p:sp>
        <p:nvSpPr>
          <p:cNvPr id="14" name="Text 12"/>
          <p:cNvSpPr/>
          <p:nvPr/>
        </p:nvSpPr>
        <p:spPr>
          <a:xfrm>
            <a:off x="9147996" y="2604638"/>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川下</a:t>
            </a:r>
            <a:endParaRPr lang="en-US" sz="600" dirty="0"/>
          </a:p>
        </p:txBody>
      </p:sp>
      <p:sp>
        <p:nvSpPr>
          <p:cNvPr id="16" name="Text 14"/>
          <p:cNvSpPr/>
          <p:nvPr/>
        </p:nvSpPr>
        <p:spPr>
          <a:xfrm>
            <a:off x="11816161" y="2604638"/>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6367"/>
            <a:ext cx="173079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鉱山会社／当社資産（BMA・IOC ほか）</a:t>
            </a:r>
            <a:endParaRPr lang="en-US" sz="67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6367"/>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6367"/>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鋼材を製造</a:t>
            </a:r>
            <a:endParaRPr lang="en-US" sz="67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6367"/>
            <a:ext cx="17277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7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6367"/>
            <a:ext cx="9771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インフラ・モビリティ</a:t>
            </a:r>
            <a:endParaRPr lang="en-US" sz="670" dirty="0"/>
          </a:p>
        </p:txBody>
      </p:sp>
      <p:sp>
        <p:nvSpPr>
          <p:cNvPr id="28" name="Text 26"/>
          <p:cNvSpPr/>
          <p:nvPr/>
        </p:nvSpPr>
        <p:spPr>
          <a:xfrm>
            <a:off x="482811" y="3964131"/>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9044"/>
            <a:ext cx="12892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Escondida・Quellaveco ほか</a:t>
            </a:r>
            <a:endParaRPr lang="en-US" sz="67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9044"/>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9044"/>
            <a:ext cx="89113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銅地金・アルミ地金</a:t>
            </a:r>
            <a:endParaRPr lang="en-US" sz="67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9044"/>
            <a:ext cx="92476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RtM・Triland Metals</a:t>
            </a:r>
            <a:endParaRPr lang="en-US" sz="67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9044"/>
            <a:ext cx="70507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配線・モーター</a:t>
            </a:r>
            <a:endParaRPr lang="en-US" sz="670" dirty="0"/>
          </a:p>
        </p:txBody>
      </p:sp>
      <p:sp>
        <p:nvSpPr>
          <p:cNvPr id="39" name="Text 37"/>
          <p:cNvSpPr/>
          <p:nvPr/>
        </p:nvSpPr>
        <p:spPr>
          <a:xfrm>
            <a:off x="635277" y="5387153"/>
            <a:ext cx="4470765"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Noto Sans JP Medium" pitchFamily="34" charset="0"/>
                <a:ea typeface="Noto Sans JP Medium" pitchFamily="34" charset="-122"/>
                <a:cs typeface="Noto Sans JP Medium" pitchFamily="34" charset="-120"/>
              </a:rPr>
              <a:t>投資</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766175"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Noto Sans JP Medium" pitchFamily="34" charset="0"/>
                <a:ea typeface="Noto Sans JP Medium" pitchFamily="34" charset="-122"/>
                <a:cs typeface="Noto Sans JP Medium" pitchFamily="34" charset="-120"/>
              </a:rPr>
              <a:t>トレーディング（RtM）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好循環</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13972" y="6399023"/>
            <a:ext cx="1621387" cy="136203"/>
          </a:xfrm>
          <a:prstGeom prst="rect">
            <a:avLst/>
          </a:prstGeom>
          <a:noFill/>
          <a:ln/>
        </p:spPr>
        <p:txBody>
          <a:bodyPr wrap="none" lIns="0" tIns="0" rIns="0" bIns="0" rtlCol="0" anchor="t"/>
          <a:lstStyle/>
          <a:p>
            <a:pPr algn="ctr" indent="0" marL="0">
              <a:lnSpc>
                <a:spcPts val="1072"/>
              </a:lnSpc>
              <a:buNone/>
            </a:pPr>
            <a:r>
              <a:rPr lang="en-US" sz="67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70" dirty="0"/>
          </a:p>
        </p:txBody>
      </p:sp>
      <p:sp>
        <p:nvSpPr>
          <p:cNvPr id="44" name="Text 42"/>
          <p:cNvSpPr/>
          <p:nvPr/>
        </p:nvSpPr>
        <p:spPr>
          <a:xfrm>
            <a:off x="473540" y="8203211"/>
            <a:ext cx="2102252" cy="136203"/>
          </a:xfrm>
          <a:prstGeom prst="rect">
            <a:avLst/>
          </a:prstGeom>
          <a:noFill/>
          <a:ln/>
        </p:spPr>
        <p:txBody>
          <a:bodyPr wrap="none" lIns="0" tIns="0" rIns="0" bIns="0" rtlCol="0" anchor="t"/>
          <a:lstStyle/>
          <a:p>
            <a:pPr algn="ctr" indent="0" marL="0">
              <a:lnSpc>
                <a:spcPts val="1072"/>
              </a:lnSpc>
              <a:buNone/>
            </a:pPr>
            <a:r>
              <a:rPr lang="en-US" sz="67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70" dirty="0"/>
          </a:p>
        </p:txBody>
      </p:sp>
      <p:sp>
        <p:nvSpPr>
          <p:cNvPr id="45" name="Text 43"/>
          <p:cNvSpPr/>
          <p:nvPr/>
        </p:nvSpPr>
        <p:spPr>
          <a:xfrm>
            <a:off x="1143499" y="7264716"/>
            <a:ext cx="349125"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投資</a:t>
            </a:r>
            <a:endParaRPr lang="en-US" sz="1100" dirty="0"/>
          </a:p>
        </p:txBody>
      </p:sp>
      <p:sp>
        <p:nvSpPr>
          <p:cNvPr id="46" name="Text 44"/>
          <p:cNvSpPr/>
          <p:nvPr/>
        </p:nvSpPr>
        <p:spPr>
          <a:xfrm>
            <a:off x="1143499" y="7417182"/>
            <a:ext cx="501115"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販売</a:t>
            </a:r>
            <a:endParaRPr lang="en-US" sz="1100" dirty="0"/>
          </a:p>
        </p:txBody>
      </p:sp>
      <p:sp>
        <p:nvSpPr>
          <p:cNvPr id="47" name="Text 45"/>
          <p:cNvSpPr/>
          <p:nvPr/>
        </p:nvSpPr>
        <p:spPr>
          <a:xfrm>
            <a:off x="2668165" y="6497332"/>
            <a:ext cx="4942459"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を付加して欧州・シンガポール・米州の顧客に届けます。顧客と接するRtMを通じて得た市場の生</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きた情報は、資源投資の判断へ還元されます。肥料資源では、本格投資に先立ちシンガポールにト</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レーディングデスクを設け、市場理解を深めてから投資へ——この「事業機会の発掘」こそ、投資</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と販売を併せ持つ私たちのアイデンティティです。</a:t>
            </a:r>
            <a:endParaRPr lang="en-US" sz="770" dirty="0"/>
          </a:p>
        </p:txBody>
      </p:sp>
      <p:sp>
        <p:nvSpPr>
          <p:cNvPr id="48" name="Text 46"/>
          <p:cNvSpPr/>
          <p:nvPr/>
        </p:nvSpPr>
        <p:spPr>
          <a:xfrm>
            <a:off x="2668165" y="7724974"/>
            <a:ext cx="69481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RtMの機能</a:t>
            </a:r>
            <a:endParaRPr lang="en-US" sz="660" dirty="0"/>
          </a:p>
        </p:txBody>
      </p:sp>
      <p:sp>
        <p:nvSpPr>
          <p:cNvPr id="49" name="Text 47"/>
          <p:cNvSpPr/>
          <p:nvPr/>
        </p:nvSpPr>
        <p:spPr>
          <a:xfrm>
            <a:off x="2744399" y="7949100"/>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販売・調達</a:t>
            </a:r>
            <a:endParaRPr lang="en-US" sz="670" dirty="0"/>
          </a:p>
        </p:txBody>
      </p:sp>
      <p:sp>
        <p:nvSpPr>
          <p:cNvPr id="50" name="Text 48"/>
          <p:cNvSpPr/>
          <p:nvPr/>
        </p:nvSpPr>
        <p:spPr>
          <a:xfrm>
            <a:off x="3633787" y="7949100"/>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物流</a:t>
            </a:r>
            <a:endParaRPr lang="en-US" sz="670" dirty="0"/>
          </a:p>
        </p:txBody>
      </p:sp>
      <p:sp>
        <p:nvSpPr>
          <p:cNvPr id="51" name="Text 49"/>
          <p:cNvSpPr/>
          <p:nvPr/>
        </p:nvSpPr>
        <p:spPr>
          <a:xfrm>
            <a:off x="4523176" y="7949100"/>
            <a:ext cx="60790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ファイナンス</a:t>
            </a:r>
            <a:endParaRPr lang="en-US" sz="670" dirty="0"/>
          </a:p>
        </p:txBody>
      </p:sp>
      <p:sp>
        <p:nvSpPr>
          <p:cNvPr id="52" name="Text 50"/>
          <p:cNvSpPr/>
          <p:nvPr/>
        </p:nvSpPr>
        <p:spPr>
          <a:xfrm>
            <a:off x="5412564" y="7949100"/>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リスク管理</a:t>
            </a:r>
            <a:endParaRPr lang="en-US" sz="670" dirty="0"/>
          </a:p>
        </p:txBody>
      </p:sp>
      <p:sp>
        <p:nvSpPr>
          <p:cNvPr id="53" name="Text 51"/>
          <p:cNvSpPr/>
          <p:nvPr/>
        </p:nvSpPr>
        <p:spPr>
          <a:xfrm>
            <a:off x="6301953" y="7949100"/>
            <a:ext cx="3312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脱炭素</a:t>
            </a:r>
            <a:endParaRPr lang="en-US" sz="670" dirty="0"/>
          </a:p>
        </p:txBody>
      </p:sp>
      <p:sp>
        <p:nvSpPr>
          <p:cNvPr id="54" name="Text 52"/>
          <p:cNvSpPr/>
          <p:nvPr/>
        </p:nvSpPr>
        <p:spPr>
          <a:xfrm>
            <a:off x="8881179" y="6301953"/>
            <a:ext cx="7697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私たちの約束</a:t>
            </a:r>
            <a:endParaRPr lang="en-US" sz="660" dirty="0"/>
          </a:p>
        </p:txBody>
      </p:sp>
      <p:sp>
        <p:nvSpPr>
          <p:cNvPr id="55" name="Text 53"/>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56" name="Text 54"/>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57" name="Text 55"/>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58" name="Text 56"/>
          <p:cNvSpPr/>
          <p:nvPr/>
        </p:nvSpPr>
        <p:spPr>
          <a:xfrm>
            <a:off x="8881179" y="8309429"/>
            <a:ext cx="127285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三菱商事　金属資源グループ</a:t>
            </a:r>
            <a:endParaRPr lang="en-US" sz="640" dirty="0"/>
          </a:p>
        </p:txBody>
      </p:sp>
      <p:sp>
        <p:nvSpPr>
          <p:cNvPr id="59" name="Text 57"/>
          <p:cNvSpPr/>
          <p:nvPr/>
        </p:nvSpPr>
        <p:spPr>
          <a:xfrm>
            <a:off x="8881179" y="8444616"/>
            <a:ext cx="2985149" cy="136203"/>
          </a:xfrm>
          <a:prstGeom prst="rect">
            <a:avLst/>
          </a:prstGeom>
          <a:noFill/>
          <a:ln/>
        </p:spPr>
        <p:txBody>
          <a:bodyPr wrap="none" lIns="0" tIns="0" rIns="0" bIns="0" rtlCol="0" anchor="t"/>
          <a:lstStyle/>
          <a:p>
            <a:pPr algn="l" indent="0" marL="0">
              <a:lnSpc>
                <a:spcPts val="1072"/>
              </a:lnSpc>
              <a:buNone/>
            </a:pPr>
            <a:r>
              <a:rPr lang="en-US" sz="670" dirty="0">
                <a:solidFill>
                  <a:srgbClr val="9AA1A8"/>
                </a:solidFill>
                <a:latin typeface="Noto Sans JP" pitchFamily="34" charset="0"/>
                <a:ea typeface="Noto Sans JP" pitchFamily="34" charset="-122"/>
                <a:cs typeface="Noto Sans JP" pitchFamily="34" charset="-120"/>
              </a:rPr>
              <a:t>〒100-8086 東京都千代田区丸の内2-3-1｜www.mitsubishicorp.com</a:t>
            </a:r>
            <a:endParaRPr lang="en-US" sz="670" dirty="0"/>
          </a:p>
        </p:txBody>
      </p:sp>
      <p:sp>
        <p:nvSpPr>
          <p:cNvPr id="60" name="Text 58"/>
          <p:cNvSpPr/>
          <p:nvPr/>
        </p:nvSpPr>
        <p:spPr>
          <a:xfrm>
            <a:off x="127055" y="10011973"/>
            <a:ext cx="5537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港湾・鉄道</a:t>
            </a:r>
            <a:endParaRPr lang="en-US" sz="580" dirty="0"/>
          </a:p>
        </p:txBody>
      </p:sp>
      <p:sp>
        <p:nvSpPr>
          <p:cNvPr id="61" name="Text 59"/>
          <p:cNvSpPr/>
          <p:nvPr/>
        </p:nvSpPr>
        <p:spPr>
          <a:xfrm>
            <a:off x="5171159" y="10011973"/>
            <a:ext cx="45329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海上輸送</a:t>
            </a:r>
            <a:endParaRPr lang="en-US" sz="580" dirty="0"/>
          </a:p>
        </p:txBody>
      </p:sp>
      <p:sp>
        <p:nvSpPr>
          <p:cNvPr id="62" name="Text 60"/>
          <p:cNvSpPr/>
          <p:nvPr/>
        </p:nvSpPr>
        <p:spPr>
          <a:xfrm>
            <a:off x="10253379" y="10011973"/>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操業</a:t>
            </a:r>
            <a:endParaRPr lang="en-US" sz="580" dirty="0"/>
          </a:p>
        </p:txBody>
      </p:sp>
      <p:sp>
        <p:nvSpPr>
          <p:cNvPr id="63" name="Text 61"/>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4" name="Text 62"/>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65" name="Text 63"/>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66" name="Text 64"/>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2026-10-07T11:49:15Z</dcterms:created>
  <dcterms:modified xsi:type="dcterms:W3CDTF">2026-10-07T11:49:15Z</dcterms:modified>
</cp:coreProperties>
</file>