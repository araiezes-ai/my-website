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都市</a:t>
            </a:r>
            <a:endParaRPr lang="en-US" sz="580" dirty="0"/>
          </a:p>
        </p:txBody>
      </p:sp>
      <p:sp>
        <p:nvSpPr>
          <p:cNvPr id="3" name="Text 1"/>
          <p:cNvSpPr/>
          <p:nvPr/>
        </p:nvSpPr>
        <p:spPr>
          <a:xfrm>
            <a:off x="127055" y="3036626"/>
            <a:ext cx="70202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鉄・銅・アルミ</a:t>
            </a:r>
            <a:endParaRPr lang="en-US" sz="580" dirty="0"/>
          </a:p>
        </p:txBody>
      </p:sp>
      <p:sp>
        <p:nvSpPr>
          <p:cNvPr id="4" name="Text 2"/>
          <p:cNvSpPr/>
          <p:nvPr/>
        </p:nvSpPr>
        <p:spPr>
          <a:xfrm>
            <a:off x="4370709" y="1308672"/>
            <a:ext cx="56335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モビリティ</a:t>
            </a:r>
            <a:endParaRPr lang="en-US" sz="580" dirty="0"/>
          </a:p>
        </p:txBody>
      </p:sp>
      <p:sp>
        <p:nvSpPr>
          <p:cNvPr id="5" name="Text 3"/>
          <p:cNvSpPr/>
          <p:nvPr/>
        </p:nvSpPr>
        <p:spPr>
          <a:xfrm>
            <a:off x="4370709" y="1423022"/>
            <a:ext cx="79614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鉄・銅・リチウム</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鉄道</a:t>
            </a:r>
            <a:endParaRPr lang="en-US" sz="580" dirty="0"/>
          </a:p>
        </p:txBody>
      </p:sp>
      <p:sp>
        <p:nvSpPr>
          <p:cNvPr id="8" name="Text 6"/>
          <p:cNvSpPr/>
          <p:nvPr/>
        </p:nvSpPr>
        <p:spPr>
          <a:xfrm>
            <a:off x="4370709" y="3036626"/>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鉄・銅</a:t>
            </a:r>
            <a:endParaRPr lang="en-US" sz="580" dirty="0"/>
          </a:p>
        </p:txBody>
      </p:sp>
      <p:sp>
        <p:nvSpPr>
          <p:cNvPr id="9" name="Text 7"/>
          <p:cNvSpPr/>
          <p:nvPr/>
        </p:nvSpPr>
        <p:spPr>
          <a:xfrm>
            <a:off x="127055" y="4828109"/>
            <a:ext cx="96385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再生可能エネルギー</a:t>
            </a:r>
            <a:endParaRPr lang="en-US" sz="580" dirty="0"/>
          </a:p>
        </p:txBody>
      </p:sp>
      <p:sp>
        <p:nvSpPr>
          <p:cNvPr id="10" name="Text 8"/>
          <p:cNvSpPr/>
          <p:nvPr/>
        </p:nvSpPr>
        <p:spPr>
          <a:xfrm>
            <a:off x="127055" y="4942459"/>
            <a:ext cx="32750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銅・鉄</a:t>
            </a:r>
            <a:endParaRPr lang="en-US" sz="580" dirty="0"/>
          </a:p>
        </p:txBody>
      </p:sp>
      <p:sp>
        <p:nvSpPr>
          <p:cNvPr id="11" name="Text 9"/>
          <p:cNvSpPr/>
          <p:nvPr/>
        </p:nvSpPr>
        <p:spPr>
          <a:xfrm>
            <a:off x="2248882"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送電網</a:t>
            </a:r>
            <a:endParaRPr lang="en-US" sz="580" dirty="0"/>
          </a:p>
        </p:txBody>
      </p:sp>
      <p:sp>
        <p:nvSpPr>
          <p:cNvPr id="12" name="Text 10"/>
          <p:cNvSpPr/>
          <p:nvPr/>
        </p:nvSpPr>
        <p:spPr>
          <a:xfrm>
            <a:off x="2248882" y="4942459"/>
            <a:ext cx="51771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銅・アルミ</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46093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Noto Sans JP Medium" pitchFamily="34" charset="0"/>
                <a:ea typeface="Noto Sans JP Medium" pitchFamily="34" charset="-122"/>
                <a:cs typeface="Noto Sans JP Medium" pitchFamily="34" charset="-120"/>
              </a:rPr>
              <a:t>デバイス</a:t>
            </a:r>
            <a:endParaRPr lang="en-US" sz="580" dirty="0"/>
          </a:p>
        </p:txBody>
      </p:sp>
      <p:sp>
        <p:nvSpPr>
          <p:cNvPr id="15" name="Text 13"/>
          <p:cNvSpPr/>
          <p:nvPr/>
        </p:nvSpPr>
        <p:spPr>
          <a:xfrm>
            <a:off x="4370709" y="4942459"/>
            <a:ext cx="108025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Noto Sans JP" pitchFamily="34" charset="0"/>
                <a:ea typeface="Noto Sans JP" pitchFamily="34" charset="-122"/>
                <a:cs typeface="Noto Sans JP" pitchFamily="34" charset="-120"/>
              </a:rPr>
              <a:t>銅・リチウム・ニッケル</a:t>
            </a:r>
            <a:endParaRPr lang="en-US" sz="580" dirty="0"/>
          </a:p>
        </p:txBody>
      </p:sp>
      <p:sp>
        <p:nvSpPr>
          <p:cNvPr id="16" name="Text 14"/>
          <p:cNvSpPr/>
          <p:nvPr/>
        </p:nvSpPr>
        <p:spPr>
          <a:xfrm>
            <a:off x="7737680" y="3100154"/>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金属</a:t>
            </a:r>
            <a:endParaRPr lang="en-US" sz="580" dirty="0"/>
          </a:p>
        </p:txBody>
      </p:sp>
      <p:sp>
        <p:nvSpPr>
          <p:cNvPr id="17" name="Text 15"/>
          <p:cNvSpPr/>
          <p:nvPr/>
        </p:nvSpPr>
        <p:spPr>
          <a:xfrm>
            <a:off x="7737680" y="3214504"/>
            <a:ext cx="1168692"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現代の暮らしを支える素材</a:t>
            </a:r>
            <a:endParaRPr lang="en-US" sz="580" dirty="0"/>
          </a:p>
        </p:txBody>
      </p:sp>
      <p:sp>
        <p:nvSpPr>
          <p:cNvPr id="18" name="Text 16"/>
          <p:cNvSpPr/>
          <p:nvPr/>
        </p:nvSpPr>
        <p:spPr>
          <a:xfrm>
            <a:off x="11981333" y="3100154"/>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製錬・精製</a:t>
            </a:r>
            <a:endParaRPr lang="en-US" sz="580" dirty="0"/>
          </a:p>
        </p:txBody>
      </p:sp>
      <p:sp>
        <p:nvSpPr>
          <p:cNvPr id="19" name="Text 17"/>
          <p:cNvSpPr/>
          <p:nvPr/>
        </p:nvSpPr>
        <p:spPr>
          <a:xfrm>
            <a:off x="7737680" y="4828109"/>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20" name="Text 18"/>
          <p:cNvSpPr/>
          <p:nvPr/>
        </p:nvSpPr>
        <p:spPr>
          <a:xfrm>
            <a:off x="11053828" y="4828109"/>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銅地金</a:t>
            </a:r>
            <a:endParaRPr lang="en-US" sz="580" dirty="0"/>
          </a:p>
        </p:txBody>
      </p:sp>
      <p:sp>
        <p:nvSpPr>
          <p:cNvPr id="21" name="Text 19"/>
          <p:cNvSpPr/>
          <p:nvPr/>
        </p:nvSpPr>
        <p:spPr>
          <a:xfrm>
            <a:off x="508222" y="5565031"/>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導入</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64655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需要と供給</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需要</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供給</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5343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ギャップ</a:t>
            </a:r>
            <a:endParaRPr lang="en-US" sz="660" dirty="0"/>
          </a:p>
        </p:txBody>
      </p:sp>
      <p:sp>
        <p:nvSpPr>
          <p:cNvPr id="33" name="Text 31"/>
          <p:cNvSpPr/>
          <p:nvPr/>
        </p:nvSpPr>
        <p:spPr>
          <a:xfrm>
            <a:off x="4396120"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現在</a:t>
            </a:r>
            <a:endParaRPr lang="en-US" sz="540" dirty="0"/>
          </a:p>
        </p:txBody>
      </p:sp>
      <p:sp>
        <p:nvSpPr>
          <p:cNvPr id="34" name="Text 32"/>
          <p:cNvSpPr/>
          <p:nvPr/>
        </p:nvSpPr>
        <p:spPr>
          <a:xfrm>
            <a:off x="6543358" y="9372630"/>
            <a:ext cx="2017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将来</a:t>
            </a:r>
            <a:endParaRPr lang="en-US" sz="540" dirty="0"/>
          </a:p>
        </p:txBody>
      </p:sp>
      <p:sp>
        <p:nvSpPr>
          <p:cNvPr id="35" name="Text 33"/>
          <p:cNvSpPr/>
          <p:nvPr/>
        </p:nvSpPr>
        <p:spPr>
          <a:xfrm>
            <a:off x="8068024" y="5565031"/>
            <a:ext cx="89484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コアメッセージ</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目次</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1619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我々は何者か</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52273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資産の強み</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520550"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原料炭と銅</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資源から価値へ</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パートナーシップ</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8116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バリューチェーン</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03722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01｜我々は何者か</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365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グループミッション</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508222" y="3352677"/>
            <a:ext cx="28841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組織</a:t>
            </a:r>
            <a:endParaRPr lang="en-US" sz="660" dirty="0"/>
          </a:p>
        </p:txBody>
      </p:sp>
      <p:sp>
        <p:nvSpPr>
          <p:cNvPr id="12" name="Text 10"/>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3" name="Text 11"/>
          <p:cNvSpPr/>
          <p:nvPr/>
        </p:nvSpPr>
        <p:spPr>
          <a:xfrm>
            <a:off x="3432285" y="3714785"/>
            <a:ext cx="631704"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グループCEO</a:t>
            </a:r>
            <a:endParaRPr lang="en-US" sz="640" dirty="0"/>
          </a:p>
        </p:txBody>
      </p:sp>
      <p:sp>
        <p:nvSpPr>
          <p:cNvPr id="14" name="Text 12"/>
          <p:cNvSpPr/>
          <p:nvPr/>
        </p:nvSpPr>
        <p:spPr>
          <a:xfrm>
            <a:off x="622572"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5" name="Text 13"/>
          <p:cNvSpPr/>
          <p:nvPr/>
        </p:nvSpPr>
        <p:spPr>
          <a:xfrm>
            <a:off x="622572" y="4407238"/>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6" name="Text 14"/>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7" name="Text 15"/>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18" name="Text 16"/>
          <p:cNvSpPr/>
          <p:nvPr/>
        </p:nvSpPr>
        <p:spPr>
          <a:xfrm>
            <a:off x="2807926" y="4280182"/>
            <a:ext cx="24081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投資</a:t>
            </a:r>
            <a:endParaRPr lang="en-US" sz="560" dirty="0"/>
          </a:p>
        </p:txBody>
      </p:sp>
      <p:sp>
        <p:nvSpPr>
          <p:cNvPr id="19" name="Text 17"/>
          <p:cNvSpPr/>
          <p:nvPr/>
        </p:nvSpPr>
        <p:spPr>
          <a:xfrm>
            <a:off x="2807926" y="4407238"/>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0" name="Text 18"/>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1" name="Text 19"/>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2" name="Text 20"/>
          <p:cNvSpPr/>
          <p:nvPr/>
        </p:nvSpPr>
        <p:spPr>
          <a:xfrm>
            <a:off x="4993281" y="4280182"/>
            <a:ext cx="726480"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Noto Sans JP" pitchFamily="34" charset="0"/>
                <a:ea typeface="Noto Sans JP" pitchFamily="34" charset="-122"/>
                <a:cs typeface="Noto Sans JP" pitchFamily="34" charset="-120"/>
              </a:rPr>
              <a:t>トレーディング</a:t>
            </a:r>
            <a:endParaRPr lang="en-US" sz="560" dirty="0"/>
          </a:p>
        </p:txBody>
      </p:sp>
      <p:sp>
        <p:nvSpPr>
          <p:cNvPr id="23" name="Text 21"/>
          <p:cNvSpPr/>
          <p:nvPr/>
        </p:nvSpPr>
        <p:spPr>
          <a:xfrm>
            <a:off x="4993281" y="4407238"/>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4" name="Text 22"/>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5" name="Text 23"/>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26" name="Text 24"/>
          <p:cNvSpPr/>
          <p:nvPr/>
        </p:nvSpPr>
        <p:spPr>
          <a:xfrm>
            <a:off x="508222" y="5461798"/>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三綱領</a:t>
            </a:r>
            <a:endParaRPr lang="en-US" sz="660" dirty="0"/>
          </a:p>
        </p:txBody>
      </p:sp>
      <p:sp>
        <p:nvSpPr>
          <p:cNvPr id="27" name="Text 25"/>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28" name="Text 26"/>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29" name="Text 27"/>
          <p:cNvSpPr/>
          <p:nvPr/>
        </p:nvSpPr>
        <p:spPr>
          <a:xfrm>
            <a:off x="508222"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しょきほうこう</a:t>
            </a:r>
            <a:endParaRPr lang="en-US" sz="640" dirty="0"/>
          </a:p>
        </p:txBody>
      </p:sp>
      <p:sp>
        <p:nvSpPr>
          <p:cNvPr id="30" name="Text 28"/>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1" name="Text 29"/>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2" name="Text 30"/>
          <p:cNvSpPr/>
          <p:nvPr/>
        </p:nvSpPr>
        <p:spPr>
          <a:xfrm>
            <a:off x="2693577" y="5970020"/>
            <a:ext cx="72014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しょじこうめい</a:t>
            </a:r>
            <a:endParaRPr lang="en-US" sz="640" dirty="0"/>
          </a:p>
        </p:txBody>
      </p:sp>
      <p:sp>
        <p:nvSpPr>
          <p:cNvPr id="33" name="Text 31"/>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4" name="Text 32"/>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5" name="Text 33"/>
          <p:cNvSpPr/>
          <p:nvPr/>
        </p:nvSpPr>
        <p:spPr>
          <a:xfrm>
            <a:off x="4878931" y="5970020"/>
            <a:ext cx="91144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Noto Sans JP Medium" pitchFamily="34" charset="0"/>
                <a:ea typeface="Noto Sans JP Medium" pitchFamily="34" charset="-122"/>
                <a:cs typeface="Noto Sans JP Medium" pitchFamily="34" charset="-120"/>
              </a:rPr>
              <a:t>りつぎょうぼうえき</a:t>
            </a:r>
            <a:endParaRPr lang="en-US" sz="640" dirty="0"/>
          </a:p>
        </p:txBody>
      </p:sp>
      <p:sp>
        <p:nvSpPr>
          <p:cNvPr id="36" name="Text 34"/>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37" name="Text 35"/>
          <p:cNvSpPr/>
          <p:nvPr/>
        </p:nvSpPr>
        <p:spPr>
          <a:xfrm>
            <a:off x="8068024" y="508222"/>
            <a:ext cx="93699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02｜資産の強み</a:t>
            </a:r>
            <a:endParaRPr lang="en-US" sz="660" dirty="0"/>
          </a:p>
        </p:txBody>
      </p:sp>
      <p:sp>
        <p:nvSpPr>
          <p:cNvPr id="38" name="Text 36"/>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39" name="Text 37"/>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0" name="Text 38"/>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1" name="Text 39"/>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2" name="Text 40"/>
          <p:cNvSpPr/>
          <p:nvPr/>
        </p:nvSpPr>
        <p:spPr>
          <a:xfrm>
            <a:off x="12395455" y="5352411"/>
            <a:ext cx="109531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原料炭</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豪州 ボーエン・ベースン</a:t>
            </a:r>
            <a:endParaRPr lang="en-US" sz="860" dirty="0"/>
          </a:p>
        </p:txBody>
      </p:sp>
      <p:sp>
        <p:nvSpPr>
          <p:cNvPr id="43" name="Text 41"/>
          <p:cNvSpPr/>
          <p:nvPr/>
        </p:nvSpPr>
        <p:spPr>
          <a:xfrm>
            <a:off x="9938519" y="5409586"/>
            <a:ext cx="61161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チリ・ペルー</a:t>
            </a:r>
            <a:endParaRPr lang="en-US" sz="860" dirty="0"/>
          </a:p>
        </p:txBody>
      </p:sp>
      <p:sp>
        <p:nvSpPr>
          <p:cNvPr id="44" name="Text 42"/>
          <p:cNvSpPr/>
          <p:nvPr/>
        </p:nvSpPr>
        <p:spPr>
          <a:xfrm>
            <a:off x="8334841" y="4237499"/>
            <a:ext cx="237753"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銅</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米国</a:t>
            </a:r>
            <a:endParaRPr lang="en-US" sz="860" dirty="0"/>
          </a:p>
        </p:txBody>
      </p:sp>
      <p:sp>
        <p:nvSpPr>
          <p:cNvPr id="45" name="Text 43"/>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46" name="Text 44"/>
          <p:cNvSpPr/>
          <p:nvPr/>
        </p:nvSpPr>
        <p:spPr>
          <a:xfrm>
            <a:off x="8068024" y="6731162"/>
            <a:ext cx="42118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5鉱山中</a:t>
            </a:r>
            <a:endParaRPr lang="en-US" sz="580" dirty="0"/>
          </a:p>
        </p:txBody>
      </p:sp>
      <p:sp>
        <p:nvSpPr>
          <p:cNvPr id="47" name="Text 45"/>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48" name="Text 46"/>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49" name="Text 47"/>
          <p:cNvSpPr/>
          <p:nvPr/>
        </p:nvSpPr>
        <p:spPr>
          <a:xfrm>
            <a:off x="10304201" y="6731162"/>
            <a:ext cx="3582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シェア</a:t>
            </a:r>
            <a:endParaRPr lang="en-US" sz="580" dirty="0"/>
          </a:p>
        </p:txBody>
      </p:sp>
      <p:sp>
        <p:nvSpPr>
          <p:cNvPr id="50" name="Text 48"/>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1" name="Text 49"/>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2" name="Text 50"/>
          <p:cNvSpPr/>
          <p:nvPr/>
        </p:nvSpPr>
        <p:spPr>
          <a:xfrm>
            <a:off x="12540377" y="6731162"/>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Noto Sans JP Medium" pitchFamily="34" charset="0"/>
                <a:ea typeface="Noto Sans JP Medium" pitchFamily="34" charset="-122"/>
                <a:cs typeface="Noto Sans JP Medium" pitchFamily="34" charset="-120"/>
              </a:rPr>
              <a:t>年以上</a:t>
            </a:r>
            <a:endParaRPr lang="en-US" sz="580" dirty="0"/>
          </a:p>
        </p:txBody>
      </p:sp>
      <p:sp>
        <p:nvSpPr>
          <p:cNvPr id="53" name="Text 51"/>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4" name="Text 52"/>
          <p:cNvSpPr/>
          <p:nvPr/>
        </p:nvSpPr>
        <p:spPr>
          <a:xfrm>
            <a:off x="508222" y="8131552"/>
            <a:ext cx="76338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歩み｜先見性</a:t>
            </a:r>
            <a:endParaRPr lang="en-US" sz="660" dirty="0"/>
          </a:p>
        </p:txBody>
      </p:sp>
      <p:sp>
        <p:nvSpPr>
          <p:cNvPr id="55" name="Text 53"/>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56" name="Text 54"/>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57" name="Text 55"/>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58" name="Text 56"/>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59" name="Text 57"/>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0" name="Text 58"/>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1" name="Text 59"/>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2" name="Text 60"/>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3" name="Text 61"/>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4" name="Text 62"/>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5" name="Text 63"/>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66" name="Text 64"/>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67" name="Text 65"/>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68" name="Text 66"/>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69" name="Text 67"/>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0" name="Text 68"/>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1" name="Text 69"/>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2" name="Text 70"/>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3" name="Text 71"/>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4" name="Text 72"/>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69525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02｜原料炭</a:t>
            </a:r>
            <a:endParaRPr lang="en-US" sz="660" dirty="0"/>
          </a:p>
        </p:txBody>
      </p:sp>
      <p:sp>
        <p:nvSpPr>
          <p:cNvPr id="3" name="Text 1"/>
          <p:cNvSpPr/>
          <p:nvPr/>
        </p:nvSpPr>
        <p:spPr>
          <a:xfrm>
            <a:off x="8068024" y="508222"/>
            <a:ext cx="4578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02｜銅</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出資構成</a:t>
            </a:r>
            <a:endParaRPr lang="en-US" sz="660" dirty="0"/>
          </a:p>
        </p:txBody>
      </p:sp>
      <p:sp>
        <p:nvSpPr>
          <p:cNvPr id="20" name="Text 18"/>
          <p:cNvSpPr/>
          <p:nvPr/>
        </p:nvSpPr>
        <p:spPr>
          <a:xfrm>
            <a:off x="909836" y="7566155"/>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Noto Sans JP Medium" pitchFamily="34" charset="0"/>
                <a:ea typeface="Noto Sans JP Medium" pitchFamily="34" charset="-122"/>
                <a:cs typeface="Noto Sans JP Medium" pitchFamily="34" charset="-120"/>
              </a:rPr>
              <a:t>三菱商事</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23797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設立</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33143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所在地</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保有資産</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2490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炭鉱寿命</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1184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Noto Sans JP Medium" pitchFamily="34" charset="0"/>
                <a:ea typeface="Noto Sans JP Medium" pitchFamily="34" charset="-122"/>
                <a:cs typeface="Noto Sans JP Medium" pitchFamily="34" charset="-120"/>
              </a:rPr>
              <a:t>海上輸出シェア</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100491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主要鉱山への参画</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84399"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チリ・1988</a:t>
            </a:r>
            <a:endParaRPr lang="en-US" sz="640" dirty="0"/>
          </a:p>
        </p:txBody>
      </p:sp>
      <p:sp>
        <p:nvSpPr>
          <p:cNvPr id="47" name="Text 45"/>
          <p:cNvSpPr/>
          <p:nvPr/>
        </p:nvSpPr>
        <p:spPr>
          <a:xfrm>
            <a:off x="12464144" y="6441714"/>
            <a:ext cx="128334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チリ・1997</a:t>
            </a:r>
            <a:endParaRPr lang="en-US" sz="640" dirty="0"/>
          </a:p>
        </p:txBody>
      </p:sp>
      <p:sp>
        <p:nvSpPr>
          <p:cNvPr id="48" name="Text 46"/>
          <p:cNvSpPr/>
          <p:nvPr/>
        </p:nvSpPr>
        <p:spPr>
          <a:xfrm>
            <a:off x="12612243" y="6606886"/>
            <a:ext cx="1140303"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ペルー・1999</a:t>
            </a:r>
            <a:endParaRPr lang="en-US" sz="640" dirty="0"/>
          </a:p>
        </p:txBody>
      </p:sp>
      <p:sp>
        <p:nvSpPr>
          <p:cNvPr id="49" name="Text 47"/>
          <p:cNvSpPr/>
          <p:nvPr/>
        </p:nvSpPr>
        <p:spPr>
          <a:xfrm>
            <a:off x="13501632" y="6772058"/>
            <a:ext cx="1534910"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チリ・2011</a:t>
            </a:r>
            <a:endParaRPr lang="en-US" sz="640" dirty="0"/>
          </a:p>
        </p:txBody>
      </p:sp>
      <p:sp>
        <p:nvSpPr>
          <p:cNvPr id="50" name="Text 48"/>
          <p:cNvSpPr/>
          <p:nvPr/>
        </p:nvSpPr>
        <p:spPr>
          <a:xfrm>
            <a:off x="13501632" y="6937230"/>
            <a:ext cx="121913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ペルー・2011</a:t>
            </a:r>
            <a:endParaRPr lang="en-US" sz="640" dirty="0"/>
          </a:p>
        </p:txBody>
      </p:sp>
      <p:sp>
        <p:nvSpPr>
          <p:cNvPr id="51" name="Text 49"/>
          <p:cNvSpPr/>
          <p:nvPr/>
        </p:nvSpPr>
        <p:spPr>
          <a:xfrm>
            <a:off x="12789029" y="7102402"/>
            <a:ext cx="1449525"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チリ・開発中・2023</a:t>
            </a:r>
            <a:endParaRPr lang="en-US" sz="640" dirty="0"/>
          </a:p>
        </p:txBody>
      </p:sp>
      <p:sp>
        <p:nvSpPr>
          <p:cNvPr id="52" name="Text 50"/>
          <p:cNvSpPr/>
          <p:nvPr/>
        </p:nvSpPr>
        <p:spPr>
          <a:xfrm>
            <a:off x="12749959" y="7267574"/>
            <a:ext cx="1636892"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米国・開発中・2025</a:t>
            </a:r>
            <a:endParaRPr lang="en-US" sz="640" dirty="0"/>
          </a:p>
        </p:txBody>
      </p:sp>
      <p:sp>
        <p:nvSpPr>
          <p:cNvPr id="53" name="Text 51"/>
          <p:cNvSpPr/>
          <p:nvPr/>
        </p:nvSpPr>
        <p:spPr>
          <a:xfrm>
            <a:off x="8068024" y="7216752"/>
            <a:ext cx="18635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会社別 世界銅生産量（2025年）</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532630" y="9065410"/>
            <a:ext cx="60266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Noto Sans JP Medium" pitchFamily="34" charset="0"/>
                <a:ea typeface="Noto Sans JP Medium" pitchFamily="34" charset="-122"/>
                <a:cs typeface="Noto Sans JP Medium" pitchFamily="34" charset="-120"/>
              </a:rPr>
              <a:t>#20 三菱商事</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52579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市場構造</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356986"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原料炭</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153022"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Noto Sans JP Medium" pitchFamily="34" charset="0"/>
                <a:ea typeface="Noto Sans JP Medium" pitchFamily="34" charset="-122"/>
                <a:cs typeface="Noto Sans JP Medium" pitchFamily="34" charset="-120"/>
              </a:rPr>
              <a:t>銅</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117764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03｜資源から価値へ</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0" name="Text 8"/>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1" name="Text 9"/>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2" name="Text 10"/>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3" name="Text 11"/>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4" name="Text 12"/>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5" name="Text 13"/>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16" name="Text 14"/>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17" name="Text 15"/>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18" name="Text 16"/>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19" name="Text 17"/>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0" name="Text 18"/>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1" name="Text 19"/>
          <p:cNvSpPr/>
          <p:nvPr/>
        </p:nvSpPr>
        <p:spPr>
          <a:xfrm>
            <a:off x="508222" y="6002578"/>
            <a:ext cx="17301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銅のバリューチェーンと新技術</a:t>
            </a:r>
            <a:endParaRPr lang="en-US" sz="660" dirty="0"/>
          </a:p>
        </p:txBody>
      </p:sp>
      <p:sp>
        <p:nvSpPr>
          <p:cNvPr id="22" name="Text 20"/>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3" name="Text 21"/>
          <p:cNvSpPr/>
          <p:nvPr/>
        </p:nvSpPr>
        <p:spPr>
          <a:xfrm>
            <a:off x="609866" y="6523506"/>
            <a:ext cx="2602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採掘</a:t>
            </a:r>
            <a:endParaRPr lang="en-US" sz="720" dirty="0"/>
          </a:p>
        </p:txBody>
      </p:sp>
      <p:sp>
        <p:nvSpPr>
          <p:cNvPr id="24" name="Text 22"/>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25" name="Text 23"/>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26" name="Text 24"/>
          <p:cNvSpPr/>
          <p:nvPr/>
        </p:nvSpPr>
        <p:spPr>
          <a:xfrm>
            <a:off x="1931244"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銅精鉱</a:t>
            </a:r>
            <a:endParaRPr lang="en-US" sz="720" dirty="0"/>
          </a:p>
        </p:txBody>
      </p:sp>
      <p:sp>
        <p:nvSpPr>
          <p:cNvPr id="27" name="Text 25"/>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28" name="Text 26"/>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29" name="Text 27"/>
          <p:cNvSpPr/>
          <p:nvPr/>
        </p:nvSpPr>
        <p:spPr>
          <a:xfrm>
            <a:off x="3252621" y="6523506"/>
            <a:ext cx="364848"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銅地金</a:t>
            </a:r>
            <a:endParaRPr lang="en-US" sz="720" dirty="0"/>
          </a:p>
        </p:txBody>
      </p:sp>
      <p:sp>
        <p:nvSpPr>
          <p:cNvPr id="30" name="Text 28"/>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1" name="Text 29"/>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2" name="Text 30"/>
          <p:cNvSpPr/>
          <p:nvPr/>
        </p:nvSpPr>
        <p:spPr>
          <a:xfrm>
            <a:off x="4573998" y="6523506"/>
            <a:ext cx="46945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最終用途</a:t>
            </a:r>
            <a:endParaRPr lang="en-US" sz="720" dirty="0"/>
          </a:p>
        </p:txBody>
      </p:sp>
      <p:sp>
        <p:nvSpPr>
          <p:cNvPr id="33" name="Text 31"/>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34" name="Text 32"/>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35" name="Text 33"/>
          <p:cNvSpPr/>
          <p:nvPr/>
        </p:nvSpPr>
        <p:spPr>
          <a:xfrm>
            <a:off x="5895375" y="6523506"/>
            <a:ext cx="58584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リサイクル</a:t>
            </a:r>
            <a:endParaRPr lang="en-US" sz="720" dirty="0"/>
          </a:p>
        </p:txBody>
      </p:sp>
      <p:sp>
        <p:nvSpPr>
          <p:cNvPr id="36" name="Text 34"/>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37" name="Text 35"/>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38" name="Text 36"/>
          <p:cNvSpPr/>
          <p:nvPr/>
        </p:nvSpPr>
        <p:spPr>
          <a:xfrm>
            <a:off x="622572"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スタートアップ｜選鉱</a:t>
            </a:r>
            <a:endParaRPr lang="en-US" sz="540" dirty="0"/>
          </a:p>
        </p:txBody>
      </p:sp>
      <p:sp>
        <p:nvSpPr>
          <p:cNvPr id="39" name="Text 37"/>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0" name="Text 38"/>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1" name="Text 39"/>
          <p:cNvSpPr/>
          <p:nvPr/>
        </p:nvSpPr>
        <p:spPr>
          <a:xfrm>
            <a:off x="2274293" y="7527244"/>
            <a:ext cx="98110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スタートアップ｜浸出</a:t>
            </a:r>
            <a:endParaRPr lang="en-US" sz="540" dirty="0"/>
          </a:p>
        </p:txBody>
      </p:sp>
      <p:sp>
        <p:nvSpPr>
          <p:cNvPr id="42" name="Text 40"/>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3" name="Text 41"/>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44" name="Text 42"/>
          <p:cNvSpPr/>
          <p:nvPr/>
        </p:nvSpPr>
        <p:spPr>
          <a:xfrm>
            <a:off x="3926015" y="7527244"/>
            <a:ext cx="1347324"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トレーディング｜100%子会社</a:t>
            </a:r>
            <a:endParaRPr lang="en-US" sz="540" dirty="0"/>
          </a:p>
        </p:txBody>
      </p:sp>
      <p:sp>
        <p:nvSpPr>
          <p:cNvPr id="45" name="Text 43"/>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46" name="Text 44"/>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47" name="Text 45"/>
          <p:cNvSpPr/>
          <p:nvPr/>
        </p:nvSpPr>
        <p:spPr>
          <a:xfrm>
            <a:off x="5577736" y="7527244"/>
            <a:ext cx="795050"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リサイクル｜回収</a:t>
            </a:r>
            <a:endParaRPr lang="en-US" sz="540" dirty="0"/>
          </a:p>
        </p:txBody>
      </p:sp>
      <p:sp>
        <p:nvSpPr>
          <p:cNvPr id="48" name="Text 46"/>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49" name="Text 47"/>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0" name="Text 48"/>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1" name="Text 49"/>
          <p:cNvSpPr/>
          <p:nvPr/>
        </p:nvSpPr>
        <p:spPr>
          <a:xfrm>
            <a:off x="4065776" y="9661776"/>
            <a:ext cx="35261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銅鉱山</a:t>
            </a:r>
            <a:endParaRPr lang="en-US" sz="580" dirty="0"/>
          </a:p>
        </p:txBody>
      </p:sp>
      <p:sp>
        <p:nvSpPr>
          <p:cNvPr id="52" name="Text 50"/>
          <p:cNvSpPr/>
          <p:nvPr/>
        </p:nvSpPr>
        <p:spPr>
          <a:xfrm>
            <a:off x="4065776" y="9776126"/>
            <a:ext cx="23906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Noto Sans JP" pitchFamily="34" charset="0"/>
                <a:ea typeface="Noto Sans JP" pitchFamily="34" charset="-122"/>
                <a:cs typeface="Noto Sans JP" pitchFamily="34" charset="-120"/>
              </a:rPr>
              <a:t>チリ</a:t>
            </a:r>
            <a:endParaRPr lang="en-US" sz="580" dirty="0"/>
          </a:p>
        </p:txBody>
      </p:sp>
      <p:sp>
        <p:nvSpPr>
          <p:cNvPr id="53" name="Text 51"/>
          <p:cNvSpPr/>
          <p:nvPr/>
        </p:nvSpPr>
        <p:spPr>
          <a:xfrm>
            <a:off x="8068024" y="508222"/>
            <a:ext cx="13056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04｜パートナーシップ</a:t>
            </a:r>
            <a:endParaRPr lang="en-US" sz="660" dirty="0"/>
          </a:p>
        </p:txBody>
      </p:sp>
      <p:sp>
        <p:nvSpPr>
          <p:cNvPr id="54" name="Text 52"/>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55" name="Text 53"/>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56" name="Text 54"/>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57" name="Text 55"/>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58" name="Text 56"/>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59" name="Text 57"/>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0" name="Text 58"/>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1" name="Text 59"/>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2" name="Text 60"/>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63" name="Text 61"/>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64" name="Text 62"/>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65" name="Text 63"/>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66" name="Text 64"/>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67" name="Text 65"/>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68" name="Text 6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69" name="Text 6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70" name="Text 68"/>
          <p:cNvSpPr/>
          <p:nvPr/>
        </p:nvSpPr>
        <p:spPr>
          <a:xfrm>
            <a:off x="8068024" y="490076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販売網</a:t>
            </a:r>
            <a:endParaRPr lang="en-US" sz="660" dirty="0"/>
          </a:p>
        </p:txBody>
      </p:sp>
      <p:sp>
        <p:nvSpPr>
          <p:cNvPr id="71" name="Text 6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72" name="Text 70"/>
          <p:cNvSpPr/>
          <p:nvPr/>
        </p:nvSpPr>
        <p:spPr>
          <a:xfrm>
            <a:off x="8068024" y="6951119"/>
            <a:ext cx="410695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シンガポール（拠点集約）・日本・インド・中国・米国・英国・UAE・インドネシア・タイ・チリ</a:t>
            </a:r>
            <a:endParaRPr lang="en-US" sz="670" dirty="0"/>
          </a:p>
        </p:txBody>
      </p:sp>
      <p:sp>
        <p:nvSpPr>
          <p:cNvPr id="73" name="Text 7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74" name="Text 72"/>
          <p:cNvSpPr/>
          <p:nvPr/>
        </p:nvSpPr>
        <p:spPr>
          <a:xfrm>
            <a:off x="13023188" y="5574163"/>
            <a:ext cx="30654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業界</a:t>
            </a:r>
            <a:endParaRPr lang="en-US" sz="580" dirty="0"/>
          </a:p>
        </p:txBody>
      </p:sp>
      <p:sp>
        <p:nvSpPr>
          <p:cNvPr id="75" name="Text 7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76" name="Text 74"/>
          <p:cNvSpPr/>
          <p:nvPr/>
        </p:nvSpPr>
        <p:spPr>
          <a:xfrm>
            <a:off x="13023188" y="6184029"/>
            <a:ext cx="3085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カ国</a:t>
            </a:r>
            <a:endParaRPr lang="en-US" sz="580" dirty="0"/>
          </a:p>
        </p:txBody>
      </p:sp>
      <p:sp>
        <p:nvSpPr>
          <p:cNvPr id="77" name="Text 7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78" name="Text 76"/>
          <p:cNvSpPr/>
          <p:nvPr/>
        </p:nvSpPr>
        <p:spPr>
          <a:xfrm>
            <a:off x="13023188" y="6793896"/>
            <a:ext cx="56400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　社の販売先</a:t>
            </a:r>
            <a:endParaRPr lang="en-US" sz="580" dirty="0"/>
          </a:p>
        </p:txBody>
      </p:sp>
      <p:sp>
        <p:nvSpPr>
          <p:cNvPr id="79" name="Text 77"/>
          <p:cNvSpPr/>
          <p:nvPr/>
        </p:nvSpPr>
        <p:spPr>
          <a:xfrm>
            <a:off x="8068024" y="7540148"/>
            <a:ext cx="46202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JV実績</a:t>
            </a:r>
            <a:endParaRPr lang="en-US" sz="660" dirty="0"/>
          </a:p>
        </p:txBody>
      </p:sp>
      <p:sp>
        <p:nvSpPr>
          <p:cNvPr id="80" name="Text 7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81" name="Text 7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82" name="Text 8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83" name="Text 8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84" name="Text 8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85" name="Text 83"/>
          <p:cNvSpPr/>
          <p:nvPr/>
        </p:nvSpPr>
        <p:spPr>
          <a:xfrm>
            <a:off x="8068024" y="8302481"/>
            <a:ext cx="160937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パートナーに評価される理由</a:t>
            </a:r>
            <a:endParaRPr lang="en-US" sz="660" dirty="0"/>
          </a:p>
        </p:txBody>
      </p:sp>
      <p:sp>
        <p:nvSpPr>
          <p:cNvPr id="86" name="Text 8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87" name="Text 85"/>
          <p:cNvSpPr/>
          <p:nvPr/>
        </p:nvSpPr>
        <p:spPr>
          <a:xfrm>
            <a:off x="8220491" y="8649787"/>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88" name="Text 86"/>
          <p:cNvSpPr/>
          <p:nvPr/>
        </p:nvSpPr>
        <p:spPr>
          <a:xfrm>
            <a:off x="8220491"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89" name="Text 87"/>
          <p:cNvSpPr/>
          <p:nvPr/>
        </p:nvSpPr>
        <p:spPr>
          <a:xfrm>
            <a:off x="10456667" y="8649787"/>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90" name="Text 88"/>
          <p:cNvSpPr/>
          <p:nvPr/>
        </p:nvSpPr>
        <p:spPr>
          <a:xfrm>
            <a:off x="10456667" y="8860922"/>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91" name="Text 89"/>
          <p:cNvSpPr/>
          <p:nvPr/>
        </p:nvSpPr>
        <p:spPr>
          <a:xfrm>
            <a:off x="12692844" y="8649787"/>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92" name="Text 90"/>
          <p:cNvSpPr/>
          <p:nvPr/>
        </p:nvSpPr>
        <p:spPr>
          <a:xfrm>
            <a:off x="12692844" y="8860922"/>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93" name="Text 91"/>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94" name="Text 92"/>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95" name="Text 93"/>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96" name="Text 94"/>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16567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05｜バリューチェーン全体像</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川上</a:t>
            </a:r>
            <a:endParaRPr lang="en-US" sz="600" dirty="0"/>
          </a:p>
        </p:txBody>
      </p:sp>
      <p:sp>
        <p:nvSpPr>
          <p:cNvPr id="8" name="Text 6"/>
          <p:cNvSpPr/>
          <p:nvPr/>
        </p:nvSpPr>
        <p:spPr>
          <a:xfrm>
            <a:off x="635277" y="2604638"/>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0" name="Text 8"/>
          <p:cNvSpPr/>
          <p:nvPr/>
        </p:nvSpPr>
        <p:spPr>
          <a:xfrm>
            <a:off x="3557554"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川中</a:t>
            </a:r>
            <a:endParaRPr lang="en-US" sz="600" dirty="0"/>
          </a:p>
        </p:txBody>
      </p:sp>
      <p:sp>
        <p:nvSpPr>
          <p:cNvPr id="12" name="Text 10"/>
          <p:cNvSpPr/>
          <p:nvPr/>
        </p:nvSpPr>
        <p:spPr>
          <a:xfrm>
            <a:off x="6225719" y="2604638"/>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1247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Noto Sans JP Medium" pitchFamily="34" charset="0"/>
                <a:ea typeface="Noto Sans JP Medium" pitchFamily="34" charset="-122"/>
                <a:cs typeface="Noto Sans JP Medium" pitchFamily="34" charset="-120"/>
              </a:rPr>
              <a:t>トレーディング（RtM）</a:t>
            </a:r>
            <a:endParaRPr lang="en-US" sz="600" dirty="0"/>
          </a:p>
        </p:txBody>
      </p:sp>
      <p:sp>
        <p:nvSpPr>
          <p:cNvPr id="14" name="Text 12"/>
          <p:cNvSpPr/>
          <p:nvPr/>
        </p:nvSpPr>
        <p:spPr>
          <a:xfrm>
            <a:off x="9147996" y="2604638"/>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26330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Noto Sans JP Medium" pitchFamily="34" charset="0"/>
                <a:ea typeface="Noto Sans JP Medium" pitchFamily="34" charset="-122"/>
                <a:cs typeface="Noto Sans JP Medium" pitchFamily="34" charset="-120"/>
              </a:rPr>
              <a:t>川下</a:t>
            </a:r>
            <a:endParaRPr lang="en-US" sz="600" dirty="0"/>
          </a:p>
        </p:txBody>
      </p:sp>
      <p:sp>
        <p:nvSpPr>
          <p:cNvPr id="16" name="Text 14"/>
          <p:cNvSpPr/>
          <p:nvPr/>
        </p:nvSpPr>
        <p:spPr>
          <a:xfrm>
            <a:off x="11816161" y="2604638"/>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447076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投資</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766175"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Noto Sans JP Medium" pitchFamily="34" charset="0"/>
                <a:ea typeface="Noto Sans JP Medium" pitchFamily="34" charset="-122"/>
                <a:cs typeface="Noto Sans JP Medium" pitchFamily="34" charset="-120"/>
              </a:rPr>
              <a:t>トレーディング（RtM）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40699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好循環</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34912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投資</a:t>
            </a:r>
            <a:endParaRPr lang="en-US" sz="1100" dirty="0"/>
          </a:p>
        </p:txBody>
      </p:sp>
      <p:sp>
        <p:nvSpPr>
          <p:cNvPr id="46" name="Text 44"/>
          <p:cNvSpPr/>
          <p:nvPr/>
        </p:nvSpPr>
        <p:spPr>
          <a:xfrm>
            <a:off x="1143499" y="7417182"/>
            <a:ext cx="501115"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販売</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69481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RtMの機能</a:t>
            </a:r>
            <a:endParaRPr lang="en-US" sz="660" dirty="0"/>
          </a:p>
        </p:txBody>
      </p:sp>
      <p:sp>
        <p:nvSpPr>
          <p:cNvPr id="49" name="Text 47"/>
          <p:cNvSpPr/>
          <p:nvPr/>
        </p:nvSpPr>
        <p:spPr>
          <a:xfrm>
            <a:off x="2744399"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0" name="Text 48"/>
          <p:cNvSpPr/>
          <p:nvPr/>
        </p:nvSpPr>
        <p:spPr>
          <a:xfrm>
            <a:off x="3633787" y="7949100"/>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1" name="Text 49"/>
          <p:cNvSpPr/>
          <p:nvPr/>
        </p:nvSpPr>
        <p:spPr>
          <a:xfrm>
            <a:off x="4523176" y="7949100"/>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2" name="Text 50"/>
          <p:cNvSpPr/>
          <p:nvPr/>
        </p:nvSpPr>
        <p:spPr>
          <a:xfrm>
            <a:off x="5412564" y="7949100"/>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3" name="Text 51"/>
          <p:cNvSpPr/>
          <p:nvPr/>
        </p:nvSpPr>
        <p:spPr>
          <a:xfrm>
            <a:off x="6301953" y="7949100"/>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4" name="Text 52"/>
          <p:cNvSpPr/>
          <p:nvPr/>
        </p:nvSpPr>
        <p:spPr>
          <a:xfrm>
            <a:off x="8881179" y="6301953"/>
            <a:ext cx="7697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Noto Sans JP Medium" pitchFamily="34" charset="0"/>
                <a:ea typeface="Noto Sans JP Medium" pitchFamily="34" charset="-122"/>
                <a:cs typeface="Noto Sans JP Medium" pitchFamily="34" charset="-120"/>
              </a:rPr>
              <a:t>私たちの約束</a:t>
            </a:r>
            <a:endParaRPr lang="en-US" sz="660" dirty="0"/>
          </a:p>
        </p:txBody>
      </p:sp>
      <p:sp>
        <p:nvSpPr>
          <p:cNvPr id="55" name="Text 53"/>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56" name="Text 54"/>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57" name="Text 55"/>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58" name="Text 56"/>
          <p:cNvSpPr/>
          <p:nvPr/>
        </p:nvSpPr>
        <p:spPr>
          <a:xfrm>
            <a:off x="8881179" y="8309429"/>
            <a:ext cx="127285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三菱商事　金属資源グループ</a:t>
            </a:r>
            <a:endParaRPr lang="en-US" sz="640" dirty="0"/>
          </a:p>
        </p:txBody>
      </p:sp>
      <p:sp>
        <p:nvSpPr>
          <p:cNvPr id="59" name="Text 57"/>
          <p:cNvSpPr/>
          <p:nvPr/>
        </p:nvSpPr>
        <p:spPr>
          <a:xfrm>
            <a:off x="8881179" y="8444616"/>
            <a:ext cx="2985149"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〒100-8086 東京都千代田区丸の内2-3-1｜www.mitsubishicorp.com</a:t>
            </a:r>
            <a:endParaRPr lang="en-US" sz="670" dirty="0"/>
          </a:p>
        </p:txBody>
      </p:sp>
      <p:sp>
        <p:nvSpPr>
          <p:cNvPr id="60" name="Text 58"/>
          <p:cNvSpPr/>
          <p:nvPr/>
        </p:nvSpPr>
        <p:spPr>
          <a:xfrm>
            <a:off x="127055" y="10011973"/>
            <a:ext cx="5537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港湾・鉄道</a:t>
            </a:r>
            <a:endParaRPr lang="en-US" sz="580" dirty="0"/>
          </a:p>
        </p:txBody>
      </p:sp>
      <p:sp>
        <p:nvSpPr>
          <p:cNvPr id="61" name="Text 59"/>
          <p:cNvSpPr/>
          <p:nvPr/>
        </p:nvSpPr>
        <p:spPr>
          <a:xfrm>
            <a:off x="5171159" y="10011973"/>
            <a:ext cx="45329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海上輸送</a:t>
            </a:r>
            <a:endParaRPr lang="en-US" sz="580" dirty="0"/>
          </a:p>
        </p:txBody>
      </p:sp>
      <p:sp>
        <p:nvSpPr>
          <p:cNvPr id="62" name="Text 60"/>
          <p:cNvSpPr/>
          <p:nvPr/>
        </p:nvSpPr>
        <p:spPr>
          <a:xfrm>
            <a:off x="10253379" y="10011973"/>
            <a:ext cx="25216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Noto Sans JP Medium" pitchFamily="34" charset="0"/>
                <a:ea typeface="Noto Sans JP Medium" pitchFamily="34" charset="-122"/>
                <a:cs typeface="Noto Sans JP Medium" pitchFamily="34" charset="-120"/>
              </a:rPr>
              <a:t>操業</a:t>
            </a:r>
            <a:endParaRPr lang="en-US" sz="580" dirty="0"/>
          </a:p>
        </p:txBody>
      </p:sp>
      <p:sp>
        <p:nvSpPr>
          <p:cNvPr id="63" name="Text 61"/>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4" name="Text 62"/>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65" name="Text 63"/>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66" name="Text 64"/>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2026-10-07T10:10:10Z</dcterms:created>
  <dcterms:modified xsi:type="dcterms:W3CDTF">2026-10-07T10:10:10Z</dcterms:modified>
</cp:coreProperties>
</file>