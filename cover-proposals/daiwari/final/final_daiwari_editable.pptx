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5113000" cy="10693400"/>
  <p:notesSz cx="10693400" cy="15113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P02-03 導入（コアメッセージ・目次）（台割 完成版・PwC様レビュー10/2反映）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P04-05 第1章 WHO（台割 完成版・PwC様レビュー10/2反映）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P06-07 第2章 資産の強み・原料炭／銅（台割 完成版・PwC様レビュー10/2反映）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P08-09 第2章 トレーディング／事業一覧（台割 完成版・PwC様レビュー10/2反映）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P10-11 第3章 PROOF／第4章 VISION・締め（台割 完成版・PwC様レビュー10/2反映）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jpe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jpe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jpeg"/><Relationship Id="rId4" Type="http://schemas.openxmlformats.org/officeDocument/2006/relationships/image" Target="../media/image-4-4.jpeg"/><Relationship Id="rId5" Type="http://schemas.openxmlformats.org/officeDocument/2006/relationships/image" Target="../media/image-4-5.jpeg"/><Relationship Id="rId6" Type="http://schemas.openxmlformats.org/officeDocument/2006/relationships/image" Target="../media/image-4-6.jpeg"/><Relationship Id="rId7" Type="http://schemas.openxmlformats.org/officeDocument/2006/relationships/image" Target="../media/image-4-7.jpe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0" y="0"/>
            <a:ext cx="15113000" cy="10693400"/>
          </a:xfrm>
          <a:prstGeom prst="rect">
            <a:avLst/>
          </a:prstGeom>
          <a:solidFill>
            <a:srgbClr val="E6E8EB"/>
          </a:solidFill>
          <a:ln/>
        </p:spPr>
      </p:sp>
      <p:sp>
        <p:nvSpPr>
          <p:cNvPr id="4" name="t0_1"/>
          <p:cNvSpPr txBox="1"/>
          <p:nvPr/>
        </p:nvSpPr>
        <p:spPr>
          <a:xfrm>
            <a:off x="508000" y="4572000"/>
            <a:ext cx="7409180" cy="453231"/>
          </a:xfrm>
          <a:prstGeom prst="rect">
            <a:avLst/>
          </a:prstGeom>
          <a:noFill/>
          <a:ln/>
        </p:spPr>
        <p:txBody>
          <a:bodyPr wrap="square" lIns="0" tIns="0" rIns="0" bIns="0" rtlCol="0" anchor="t"/>
          <a:lstStyle/>
          <a:p>
            <a:pPr algn="l" indent="0" marL="0">
              <a:lnSpc>
                <a:spcPts val="1360"/>
              </a:lnSpc>
              <a:buNone/>
            </a:pPr>
            <a:r>
              <a:rPr lang="en-US" sz="1300" dirty="0">
                <a:solidFill>
                  <a:srgbClr val="555555"/>
                </a:solidFill>
                <a:latin typeface="Yu Gothic" pitchFamily="34" charset="0"/>
                <a:ea typeface="Yu Gothic" pitchFamily="34" charset="-122"/>
                <a:cs typeface="Yu Gothic" pitchFamily="34" charset="-120"/>
              </a:rPr>
              <a:t>見開きビジュアル（イラスト／写真）</a:t>
            </a:r>
            <a:endParaRPr lang="en-US" sz="1300" dirty="0"/>
          </a:p>
          <a:p>
            <a:pPr algn="l" indent="0" marL="0">
              <a:lnSpc>
                <a:spcPts val="1360"/>
              </a:lnSpc>
              <a:buNone/>
            </a:pPr>
            <a:r>
              <a:rPr lang="en-US" sz="800" dirty="0">
                <a:solidFill>
                  <a:srgbClr val="555555"/>
                </a:solidFill>
                <a:latin typeface="Yu Gothic" pitchFamily="34" charset="0"/>
                <a:ea typeface="Yu Gothic" pitchFamily="34" charset="-122"/>
                <a:cs typeface="Yu Gothic" pitchFamily="34" charset="-120"/>
              </a:rPr>
              <a:t>選定された表紙案の表現に合わせて決定</a:t>
            </a:r>
            <a:endParaRPr lang="en-US" sz="1300" dirty="0"/>
          </a:p>
        </p:txBody>
      </p:sp>
      <p:sp>
        <p:nvSpPr>
          <p:cNvPr id="5" name="t0_2"/>
          <p:cNvSpPr txBox="1"/>
          <p:nvPr/>
        </p:nvSpPr>
        <p:spPr>
          <a:xfrm>
            <a:off x="508000" y="5207000"/>
            <a:ext cx="7409180" cy="549473"/>
          </a:xfrm>
          <a:prstGeom prst="rect">
            <a:avLst/>
          </a:prstGeom>
          <a:noFill/>
          <a:ln/>
        </p:spPr>
        <p:txBody>
          <a:bodyPr wrap="square" lIns="0" tIns="0" rIns="0" bIns="0" rtlCol="0" anchor="t"/>
          <a:lstStyle/>
          <a:p>
            <a:pPr algn="l" indent="0" marL="0">
              <a:lnSpc>
                <a:spcPts val="1444"/>
              </a:lnSpc>
              <a:buNone/>
            </a:pPr>
            <a:r>
              <a:rPr lang="en-US" sz="760" dirty="0">
                <a:solidFill>
                  <a:srgbClr val="555555"/>
                </a:solidFill>
                <a:latin typeface="Yu Gothic" pitchFamily="34" charset="0"/>
                <a:ea typeface="Yu Gothic" pitchFamily="34" charset="-122"/>
                <a:cs typeface="Yu Gothic" pitchFamily="34" charset="-120"/>
              </a:rPr>
              <a:t>表紙案①の場合：鋼のヘアライン（細い線）で描いた世界地図・拠点から立ち上がる線</a:t>
            </a:r>
            <a:endParaRPr lang="en-US" sz="760" dirty="0"/>
          </a:p>
          <a:p>
            <a:pPr algn="l" indent="0" marL="0">
              <a:lnSpc>
                <a:spcPts val="1444"/>
              </a:lnSpc>
              <a:buNone/>
            </a:pPr>
            <a:r>
              <a:rPr lang="en-US" sz="760" dirty="0">
                <a:solidFill>
                  <a:srgbClr val="555555"/>
                </a:solidFill>
                <a:latin typeface="Yu Gothic" pitchFamily="34" charset="0"/>
                <a:ea typeface="Yu Gothic" pitchFamily="34" charset="-122"/>
                <a:cs typeface="Yu Gothic" pitchFamily="34" charset="-120"/>
              </a:rPr>
              <a:t>表紙案②の場合：ガラスの地球儀と金色の軌道線</a:t>
            </a:r>
            <a:endParaRPr lang="en-US" sz="760" dirty="0"/>
          </a:p>
          <a:p>
            <a:pPr algn="l" indent="0" marL="0">
              <a:lnSpc>
                <a:spcPts val="1444"/>
              </a:lnSpc>
              <a:buNone/>
            </a:pPr>
            <a:r>
              <a:rPr lang="en-US" sz="760" dirty="0">
                <a:solidFill>
                  <a:srgbClr val="555555"/>
                </a:solidFill>
                <a:latin typeface="Yu Gothic" pitchFamily="34" charset="0"/>
                <a:ea typeface="Yu Gothic" pitchFamily="34" charset="-122"/>
                <a:cs typeface="Yu Gothic" pitchFamily="34" charset="-120"/>
              </a:rPr>
              <a:t>表紙案③の場合：鉱山写真を短冊状に再構成したビジュアル</a:t>
            </a:r>
            <a:endParaRPr lang="en-US" sz="760" dirty="0"/>
          </a:p>
        </p:txBody>
      </p:sp>
      <p:sp>
        <p:nvSpPr>
          <p:cNvPr id="6" name="t0_3"/>
          <p:cNvSpPr txBox="1"/>
          <p:nvPr/>
        </p:nvSpPr>
        <p:spPr>
          <a:xfrm>
            <a:off x="508000" y="5969000"/>
            <a:ext cx="7409180" cy="118070"/>
          </a:xfrm>
          <a:prstGeom prst="rect">
            <a:avLst/>
          </a:prstGeom>
          <a:noFill/>
          <a:ln/>
        </p:spPr>
        <p:txBody>
          <a:bodyPr wrap="none" lIns="0" tIns="0" rIns="0" bIns="0" rtlCol="0" anchor="t"/>
          <a:lstStyle/>
          <a:p>
            <a:pPr algn="l" indent="0" marL="0">
              <a:lnSpc>
                <a:spcPts val="930"/>
              </a:lnSpc>
              <a:buNone/>
            </a:pPr>
            <a:r>
              <a:rPr lang="en-US" sz="620" dirty="0">
                <a:solidFill>
                  <a:srgbClr val="9A5A60"/>
                </a:solidFill>
                <a:latin typeface="Yu Gothic" pitchFamily="34" charset="0"/>
                <a:ea typeface="Yu Gothic" pitchFamily="34" charset="-122"/>
                <a:cs typeface="Yu Gothic" pitchFamily="34" charset="-120"/>
              </a:rPr>
              <a:t>※台割は表紙3案のいずれにも寄せないため、ここではグレーの枠のみ。構成（コアメッセージ・ビジュアル・目次を1見開きに置くこと）はPwC様の台割ver.0（P1–P2）に準拠</a:t>
            </a:r>
            <a:endParaRPr lang="en-US" sz="620" dirty="0"/>
          </a:p>
        </p:txBody>
      </p:sp>
      <p:sp>
        <p:nvSpPr>
          <p:cNvPr id="7" name="Shape 4"/>
          <p:cNvSpPr/>
          <p:nvPr/>
        </p:nvSpPr>
        <p:spPr>
          <a:xfrm>
            <a:off x="457200" y="508000"/>
            <a:ext cx="5588000" cy="3683000"/>
          </a:xfrm>
          <a:prstGeom prst="rect">
            <a:avLst/>
          </a:prstGeom>
          <a:solidFill>
            <a:srgbClr val="FFFFFF"/>
          </a:solidFill>
          <a:ln/>
        </p:spPr>
      </p:sp>
      <p:sp>
        <p:nvSpPr>
          <p:cNvPr id="8" name="t0_5"/>
          <p:cNvSpPr txBox="1"/>
          <p:nvPr/>
        </p:nvSpPr>
        <p:spPr>
          <a:xfrm>
            <a:off x="711200" y="736600"/>
            <a:ext cx="1140539" cy="139700"/>
          </a:xfrm>
          <a:prstGeom prst="rect">
            <a:avLst/>
          </a:prstGeom>
          <a:noFill/>
          <a:ln/>
        </p:spPr>
        <p:txBody>
          <a:bodyPr wrap="none" lIns="0" tIns="0" rIns="0" bIns="0" rtlCol="0" anchor="t"/>
          <a:lstStyle/>
          <a:p>
            <a:pPr algn="l" indent="0" marL="0">
              <a:lnSpc>
                <a:spcPts val="962"/>
              </a:lnSpc>
              <a:buNone/>
            </a:pPr>
            <a:r>
              <a:rPr lang="en-US" sz="740" spc="120" kern="0" dirty="0">
                <a:solidFill>
                  <a:srgbClr val="555555"/>
                </a:solidFill>
                <a:latin typeface="Yu Gothic" pitchFamily="34" charset="0"/>
                <a:ea typeface="Yu Gothic" pitchFamily="34" charset="-122"/>
                <a:cs typeface="Yu Gothic" pitchFamily="34" charset="-120"/>
              </a:rPr>
              <a:t>導入｜コアメッセージ</a:t>
            </a:r>
            <a:endParaRPr lang="en-US" sz="740" dirty="0"/>
          </a:p>
        </p:txBody>
      </p:sp>
      <p:sp>
        <p:nvSpPr>
          <p:cNvPr id="9" name="t0_6"/>
          <p:cNvSpPr txBox="1"/>
          <p:nvPr/>
        </p:nvSpPr>
        <p:spPr>
          <a:xfrm>
            <a:off x="4902200" y="711200"/>
            <a:ext cx="1014016" cy="177800"/>
          </a:xfrm>
          <a:prstGeom prst="roundRect">
            <a:avLst>
              <a:gd name="adj" fmla="val 257143"/>
            </a:avLst>
          </a:prstGeom>
          <a:noFill/>
          <a:ln w="12700">
            <a:solidFill>
              <a:srgbClr val="AAAAAA"/>
            </a:solidFill>
            <a:prstDash val="solid"/>
          </a:ln>
        </p:spPr>
        <p:txBody>
          <a:bodyPr wrap="square" lIns="25400" tIns="38100" rIns="38100" bIns="25400" rtlCol="0" anchor="t"/>
          <a:lstStyle/>
          <a:p>
            <a:pPr algn="l" indent="0" marL="0">
              <a:lnSpc>
                <a:spcPts val="858"/>
              </a:lnSpc>
              <a:buNone/>
            </a:pPr>
            <a:r>
              <a:rPr lang="en-US" sz="660" spc="50" kern="0" dirty="0">
                <a:solidFill>
                  <a:srgbClr val="777777"/>
                </a:solidFill>
                <a:latin typeface="Yu Gothic" pitchFamily="34" charset="0"/>
                <a:ea typeface="Yu Gothic" pitchFamily="34" charset="-122"/>
                <a:cs typeface="Yu Gothic" pitchFamily="34" charset="-120"/>
              </a:rPr>
              <a:t>読み手の心理：興味</a:t>
            </a:r>
            <a:endParaRPr lang="en-US" sz="660" dirty="0"/>
          </a:p>
        </p:txBody>
      </p:sp>
      <p:sp>
        <p:nvSpPr>
          <p:cNvPr id="10" name="t0_7"/>
          <p:cNvSpPr txBox="1"/>
          <p:nvPr/>
        </p:nvSpPr>
        <p:spPr>
          <a:xfrm>
            <a:off x="711200" y="1016000"/>
            <a:ext cx="5295900" cy="792163"/>
          </a:xfrm>
          <a:prstGeom prst="rect">
            <a:avLst/>
          </a:prstGeom>
          <a:noFill/>
          <a:ln/>
        </p:spPr>
        <p:txBody>
          <a:bodyPr wrap="square" lIns="0" tIns="0" rIns="0" bIns="0" rtlCol="0" anchor="t"/>
          <a:lstStyle/>
          <a:p>
            <a:pPr algn="l" indent="0" marL="0">
              <a:lnSpc>
                <a:spcPts val="3120"/>
              </a:lnSpc>
              <a:buNone/>
            </a:pPr>
            <a:r>
              <a:rPr lang="en-US" sz="2600" spc="80" kern="0" dirty="0">
                <a:solidFill>
                  <a:srgbClr val="222222"/>
                </a:solidFill>
                <a:latin typeface="Yu Gothic" pitchFamily="34" charset="0"/>
                <a:ea typeface="Yu Gothic" pitchFamily="34" charset="-122"/>
                <a:cs typeface="Yu Gothic" pitchFamily="34" charset="-120"/>
              </a:rPr>
              <a:t>Strength to Hold.</a:t>
            </a:r>
            <a:endParaRPr lang="en-US" sz="2600" dirty="0"/>
          </a:p>
          <a:p>
            <a:pPr algn="l" indent="0" marL="0">
              <a:lnSpc>
                <a:spcPts val="3120"/>
              </a:lnSpc>
              <a:buNone/>
            </a:pPr>
            <a:r>
              <a:rPr lang="en-US" sz="2600" spc="80" kern="0" dirty="0">
                <a:solidFill>
                  <a:srgbClr val="222222"/>
                </a:solidFill>
                <a:latin typeface="Yu Gothic" pitchFamily="34" charset="0"/>
                <a:ea typeface="Yu Gothic" pitchFamily="34" charset="-122"/>
                <a:cs typeface="Yu Gothic" pitchFamily="34" charset="-120"/>
              </a:rPr>
              <a:t>Power to Connect.</a:t>
            </a:r>
            <a:endParaRPr lang="en-US" sz="2600" dirty="0"/>
          </a:p>
        </p:txBody>
      </p:sp>
      <p:sp>
        <p:nvSpPr>
          <p:cNvPr id="11" name="t0_8"/>
          <p:cNvSpPr txBox="1"/>
          <p:nvPr/>
        </p:nvSpPr>
        <p:spPr>
          <a:xfrm>
            <a:off x="711200" y="1854200"/>
            <a:ext cx="1230106" cy="114300"/>
          </a:xfrm>
          <a:prstGeom prst="rect">
            <a:avLst/>
          </a:prstGeom>
          <a:noFill/>
          <a:ln/>
        </p:spPr>
        <p:txBody>
          <a:bodyPr wrap="none" lIns="0" tIns="0" rIns="0" bIns="0" rtlCol="0" anchor="t"/>
          <a:lstStyle/>
          <a:p>
            <a:pPr algn="l" indent="0" marL="0">
              <a:lnSpc>
                <a:spcPts val="780"/>
              </a:lnSpc>
              <a:buNone/>
            </a:pPr>
            <a:r>
              <a:rPr lang="en-US" sz="600" spc="60" kern="0" dirty="0">
                <a:solidFill>
                  <a:srgbClr val="666666"/>
                </a:solidFill>
                <a:latin typeface="Yu Gothic" pitchFamily="34" charset="0"/>
                <a:ea typeface="Yu Gothic" pitchFamily="34" charset="-122"/>
                <a:cs typeface="Yu Gothic" pitchFamily="34" charset="-120"/>
              </a:rPr>
              <a:t>参考訳：持つ力と、つなぐ力。</a:t>
            </a:r>
            <a:endParaRPr lang="en-US" sz="600" dirty="0"/>
          </a:p>
        </p:txBody>
      </p:sp>
      <p:sp>
        <p:nvSpPr>
          <p:cNvPr id="12" name="t0_9"/>
          <p:cNvSpPr txBox="1"/>
          <p:nvPr/>
        </p:nvSpPr>
        <p:spPr>
          <a:xfrm>
            <a:off x="2413000" y="1854200"/>
            <a:ext cx="519906" cy="139700"/>
          </a:xfrm>
          <a:prstGeom prst="rect">
            <a:avLst/>
          </a:prstGeom>
          <a:solidFill>
            <a:srgbClr val="2A6FB0"/>
          </a:solidFill>
          <a:ln/>
        </p:spPr>
        <p:txBody>
          <a:bodyPr wrap="none" lIns="25400" tIns="38100" rIns="38100" bIns="25400" rtlCol="0" anchor="ctr"/>
          <a:lstStyle/>
          <a:p>
            <a:pPr algn="l" indent="0" marL="0">
              <a:buNone/>
            </a:pPr>
            <a:r>
              <a:rPr lang="en-US" sz="620" dirty="0">
                <a:solidFill>
                  <a:srgbClr val="FFFFFF"/>
                </a:solidFill>
                <a:latin typeface="Yu Gothic" pitchFamily="34" charset="0"/>
                <a:ea typeface="Yu Gothic" pitchFamily="34" charset="-122"/>
                <a:cs typeface="Yu Gothic" pitchFamily="34" charset="-120"/>
              </a:rPr>
              <a:t>英文を主に</a:t>
            </a:r>
            <a:endParaRPr lang="en-US" sz="620" dirty="0"/>
          </a:p>
        </p:txBody>
      </p:sp>
      <p:sp>
        <p:nvSpPr>
          <p:cNvPr id="13" name="t0_10"/>
          <p:cNvSpPr txBox="1"/>
          <p:nvPr/>
        </p:nvSpPr>
        <p:spPr>
          <a:xfrm>
            <a:off x="711200" y="2082800"/>
            <a:ext cx="5295900" cy="1113234"/>
          </a:xfrm>
          <a:prstGeom prst="rect">
            <a:avLst/>
          </a:prstGeom>
          <a:noFill/>
          <a:ln/>
        </p:spPr>
        <p:txBody>
          <a:bodyPr wrap="square" lIns="0" tIns="0" rIns="0" bIns="0" rtlCol="0" anchor="t"/>
          <a:lstStyle/>
          <a:p>
            <a:pPr algn="l" indent="0" marL="0">
              <a:lnSpc>
                <a:spcPts val="1462"/>
              </a:lnSpc>
              <a:buNone/>
            </a:pPr>
            <a:r>
              <a:rPr lang="en-US" sz="860" dirty="0">
                <a:solidFill>
                  <a:srgbClr val="9AA0A6"/>
                </a:solidFill>
                <a:latin typeface="Yu Gothic" pitchFamily="34" charset="0"/>
                <a:ea typeface="Yu Gothic" pitchFamily="34" charset="-122"/>
                <a:cs typeface="Yu Gothic" pitchFamily="34" charset="-120"/>
              </a:rPr>
              <a:t>Xxxxxxxxx, xx xxxxx xxx, xx xxx xxxx xxxxx. Xx xxxxx xxxxxxx xx xxxxxxxx xxxx, xxxxxxx xxxx, xxx xxxxxxx xxxx xx xxxxx xxxx'xx xxxxxx. Xxxx xxxx xx xxxx xxxxxx xxxx xxxxx. Xx xxxxxx xxxx xxxxx-xxxxx xxxxxx, xxxxxxxxxx xxx xxxxx xxxxx xxxx xxxxxxxx xx xxxxxxxxxx xxxxxxx xxxxxxxxxx xxx xxxxxxx. Xxxxxxx xx xxxxx xx xxxx xxxxxx, xx xxx xxxxxx xxxx xxxxxx xxxxxx. Xxxxxxx xx xxxxx xxxxxxx xxxxxxx xxxxxxxx xxx xxxxx, xx xxxx xxx xxxxx xxxxxx xxx xxxxx xxxxxx. Xxxxxxx xx xxxx xxx xxxxxx, xx xxxx xxx xxxxx xxxxxxx xx xxx xxxxx xxxx xxxxx xxx xxxxxxx.</a:t>
            </a:r>
            <a:endParaRPr lang="en-US" sz="860" dirty="0"/>
          </a:p>
        </p:txBody>
      </p:sp>
      <p:sp>
        <p:nvSpPr>
          <p:cNvPr id="14" name="t0_11"/>
          <p:cNvSpPr txBox="1"/>
          <p:nvPr/>
        </p:nvSpPr>
        <p:spPr>
          <a:xfrm>
            <a:off x="711200" y="3327400"/>
            <a:ext cx="2189544" cy="114300"/>
          </a:xfrm>
          <a:prstGeom prst="rect">
            <a:avLst/>
          </a:prstGeom>
          <a:noFill/>
          <a:ln/>
        </p:spPr>
        <p:txBody>
          <a:bodyPr wrap="none" lIns="0" tIns="0" rIns="0" bIns="0" rtlCol="0" anchor="t"/>
          <a:lstStyle/>
          <a:p>
            <a:pPr algn="l" indent="0" marL="0">
              <a:lnSpc>
                <a:spcPts val="754"/>
              </a:lnSpc>
              <a:buNone/>
            </a:pPr>
            <a:r>
              <a:rPr lang="en-US" sz="580" spc="30" kern="0" dirty="0">
                <a:solidFill>
                  <a:srgbClr val="B0B4B8"/>
                </a:solidFill>
                <a:latin typeface="Yu Gothic" pitchFamily="34" charset="0"/>
                <a:ea typeface="Yu Gothic" pitchFamily="34" charset="-122"/>
                <a:cs typeface="Yu Gothic" pitchFamily="34" charset="-120"/>
              </a:rPr>
              <a:t>▸コアメッセージ本文（英文）92語／547字（A-1案と同量）</a:t>
            </a:r>
            <a:endParaRPr lang="en-US" sz="580" dirty="0"/>
          </a:p>
        </p:txBody>
      </p:sp>
      <p:sp>
        <p:nvSpPr>
          <p:cNvPr id="15" name="t0_12"/>
          <p:cNvSpPr txBox="1"/>
          <p:nvPr/>
        </p:nvSpPr>
        <p:spPr>
          <a:xfrm>
            <a:off x="711200" y="3530600"/>
            <a:ext cx="5295900" cy="236141"/>
          </a:xfrm>
          <a:prstGeom prst="rect">
            <a:avLst/>
          </a:prstGeom>
          <a:noFill/>
          <a:ln/>
        </p:spPr>
        <p:txBody>
          <a:bodyPr wrap="square" lIns="0" tIns="0" rIns="0" bIns="0" rtlCol="0" anchor="t"/>
          <a:lstStyle/>
          <a:p>
            <a:pPr algn="l" indent="0" marL="0">
              <a:lnSpc>
                <a:spcPts val="930"/>
              </a:lnSpc>
              <a:buNone/>
            </a:pPr>
            <a:r>
              <a:rPr lang="en-US" sz="620" dirty="0">
                <a:solidFill>
                  <a:srgbClr val="9A5A60"/>
                </a:solidFill>
                <a:latin typeface="Yu Gothic" pitchFamily="34" charset="0"/>
                <a:ea typeface="Yu Gothic" pitchFamily="34" charset="-122"/>
                <a:cs typeface="Yu Gothic" pitchFamily="34" charset="-120"/>
              </a:rPr>
              <a:t>※最新版のコアメッセージに差し替え予定（PwC様レビューNo.2）。現在はA-1ブラッシュアップ案を仮置き。英語版冊子のため英文を主とし、和文は社内確認用の参考訳</a:t>
            </a:r>
            <a:endParaRPr lang="en-US" sz="620" dirty="0"/>
          </a:p>
        </p:txBody>
      </p:sp>
      <p:sp>
        <p:nvSpPr>
          <p:cNvPr id="16" name="Shape 13"/>
          <p:cNvSpPr/>
          <p:nvPr/>
        </p:nvSpPr>
        <p:spPr>
          <a:xfrm>
            <a:off x="8585200" y="5842000"/>
            <a:ext cx="5969000" cy="4318000"/>
          </a:xfrm>
          <a:prstGeom prst="rect">
            <a:avLst/>
          </a:prstGeom>
          <a:solidFill>
            <a:srgbClr val="FFFFFF"/>
          </a:solidFill>
          <a:ln/>
        </p:spPr>
      </p:sp>
      <p:sp>
        <p:nvSpPr>
          <p:cNvPr id="17" name="t0_15"/>
          <p:cNvSpPr txBox="1"/>
          <p:nvPr/>
        </p:nvSpPr>
        <p:spPr>
          <a:xfrm>
            <a:off x="8839200" y="6070600"/>
            <a:ext cx="509445" cy="320040"/>
          </a:xfrm>
          <a:prstGeom prst="rect">
            <a:avLst/>
          </a:prstGeom>
          <a:noFill/>
          <a:ln/>
        </p:spPr>
        <p:txBody>
          <a:bodyPr wrap="none" lIns="0" tIns="0" rIns="0" bIns="0" rtlCol="0" anchor="t"/>
          <a:lstStyle/>
          <a:p>
            <a:pPr algn="l" indent="0" marL="0">
              <a:lnSpc>
                <a:spcPts val="2520"/>
              </a:lnSpc>
              <a:buNone/>
            </a:pPr>
            <a:r>
              <a:rPr lang="en-US" sz="1800" spc="80" kern="0" dirty="0">
                <a:solidFill>
                  <a:srgbClr val="222222"/>
                </a:solidFill>
                <a:latin typeface="Yu Gothic" pitchFamily="34" charset="0"/>
                <a:ea typeface="Yu Gothic" pitchFamily="34" charset="-122"/>
                <a:cs typeface="Yu Gothic" pitchFamily="34" charset="-120"/>
              </a:rPr>
              <a:t>目次</a:t>
            </a:r>
            <a:endParaRPr lang="en-US" sz="1800" dirty="0"/>
          </a:p>
        </p:txBody>
      </p:sp>
      <p:sp>
        <p:nvSpPr>
          <p:cNvPr id="18" name="Shape 15"/>
          <p:cNvSpPr/>
          <p:nvPr/>
        </p:nvSpPr>
        <p:spPr>
          <a:xfrm>
            <a:off x="8839200" y="6604000"/>
            <a:ext cx="5334000" cy="0"/>
          </a:xfrm>
          <a:prstGeom prst="line">
            <a:avLst/>
          </a:prstGeom>
          <a:noFill/>
          <a:ln w="12700">
            <a:solidFill>
              <a:srgbClr val="CFD2D5"/>
            </a:solidFill>
            <a:prstDash val="solid"/>
          </a:ln>
        </p:spPr>
      </p:sp>
      <p:sp>
        <p:nvSpPr>
          <p:cNvPr id="19" name="t0_17"/>
          <p:cNvSpPr txBox="1"/>
          <p:nvPr/>
        </p:nvSpPr>
        <p:spPr>
          <a:xfrm>
            <a:off x="8839200" y="6705600"/>
            <a:ext cx="187087" cy="114300"/>
          </a:xfrm>
          <a:prstGeom prst="rect">
            <a:avLst/>
          </a:prstGeom>
          <a:noFill/>
          <a:ln/>
        </p:spPr>
        <p:txBody>
          <a:bodyPr wrap="none" lIns="0" tIns="0" rIns="0" bIns="0" rtlCol="0" anchor="t"/>
          <a:lstStyle/>
          <a:p>
            <a:pPr algn="l" indent="0" marL="0">
              <a:lnSpc>
                <a:spcPts val="780"/>
              </a:lnSpc>
              <a:buNone/>
            </a:pPr>
            <a:r>
              <a:rPr lang="en-US" sz="600" spc="60" kern="0" dirty="0">
                <a:solidFill>
                  <a:srgbClr val="666666"/>
                </a:solidFill>
                <a:latin typeface="Yu Gothic" pitchFamily="34" charset="0"/>
                <a:ea typeface="Yu Gothic" pitchFamily="34" charset="-122"/>
                <a:cs typeface="Yu Gothic" pitchFamily="34" charset="-120"/>
              </a:rPr>
              <a:t>導入</a:t>
            </a:r>
            <a:endParaRPr lang="en-US" sz="600" dirty="0"/>
          </a:p>
        </p:txBody>
      </p:sp>
      <p:sp>
        <p:nvSpPr>
          <p:cNvPr id="20" name="t0_18"/>
          <p:cNvSpPr txBox="1"/>
          <p:nvPr/>
        </p:nvSpPr>
        <p:spPr>
          <a:xfrm>
            <a:off x="9474200" y="6692900"/>
            <a:ext cx="4371340" cy="168910"/>
          </a:xfrm>
          <a:prstGeom prst="rect">
            <a:avLst/>
          </a:prstGeom>
          <a:noFill/>
          <a:ln/>
        </p:spPr>
        <p:txBody>
          <a:bodyPr wrap="none" lIns="0" tIns="0" rIns="0" bIns="0" rtlCol="0" anchor="t"/>
          <a:lstStyle/>
          <a:p>
            <a:pPr algn="l" indent="0" marL="0">
              <a:lnSpc>
                <a:spcPts val="1330"/>
              </a:lnSpc>
              <a:buNone/>
            </a:pPr>
            <a:r>
              <a:rPr lang="en-US" sz="950" dirty="0">
                <a:solidFill>
                  <a:srgbClr val="222222"/>
                </a:solidFill>
                <a:latin typeface="Yu Gothic" pitchFamily="34" charset="0"/>
                <a:ea typeface="Yu Gothic" pitchFamily="34" charset="-122"/>
                <a:cs typeface="Yu Gothic" pitchFamily="34" charset="-120"/>
              </a:rPr>
              <a:t>コアメッセージ</a:t>
            </a:r>
            <a:endParaRPr lang="en-US" sz="950" dirty="0"/>
          </a:p>
        </p:txBody>
      </p:sp>
      <p:sp>
        <p:nvSpPr>
          <p:cNvPr id="21" name="t0_19"/>
          <p:cNvSpPr txBox="1"/>
          <p:nvPr/>
        </p:nvSpPr>
        <p:spPr>
          <a:xfrm>
            <a:off x="13919200" y="6705600"/>
            <a:ext cx="149320" cy="117348"/>
          </a:xfrm>
          <a:prstGeom prst="rect">
            <a:avLst/>
          </a:prstGeom>
          <a:noFill/>
          <a:ln/>
        </p:spPr>
        <p:txBody>
          <a:bodyPr wrap="none" lIns="0" tIns="0" rIns="0" bIns="0" rtlCol="0" anchor="t"/>
          <a:lstStyle/>
          <a:p>
            <a:pPr algn="l" indent="0" marL="0">
              <a:lnSpc>
                <a:spcPts val="858"/>
              </a:lnSpc>
              <a:buNone/>
            </a:pPr>
            <a:r>
              <a:rPr lang="en-US" sz="660" spc="140" kern="0" dirty="0">
                <a:solidFill>
                  <a:srgbClr val="999999"/>
                </a:solidFill>
                <a:latin typeface="Yu Gothic" pitchFamily="34" charset="0"/>
                <a:ea typeface="Yu Gothic" pitchFamily="34" charset="-122"/>
                <a:cs typeface="Yu Gothic" pitchFamily="34" charset="-120"/>
              </a:rPr>
              <a:t>02</a:t>
            </a:r>
            <a:endParaRPr lang="en-US" sz="660" dirty="0"/>
          </a:p>
        </p:txBody>
      </p:sp>
      <p:sp>
        <p:nvSpPr>
          <p:cNvPr id="22" name="Shape 19"/>
          <p:cNvSpPr/>
          <p:nvPr/>
        </p:nvSpPr>
        <p:spPr>
          <a:xfrm>
            <a:off x="8839200" y="7162800"/>
            <a:ext cx="5334000" cy="0"/>
          </a:xfrm>
          <a:prstGeom prst="line">
            <a:avLst/>
          </a:prstGeom>
          <a:noFill/>
          <a:ln w="12700">
            <a:solidFill>
              <a:srgbClr val="CFD2D5"/>
            </a:solidFill>
            <a:prstDash val="solid"/>
          </a:ln>
        </p:spPr>
      </p:sp>
      <p:sp>
        <p:nvSpPr>
          <p:cNvPr id="23" name="t0_21"/>
          <p:cNvSpPr txBox="1"/>
          <p:nvPr/>
        </p:nvSpPr>
        <p:spPr>
          <a:xfrm>
            <a:off x="8839200" y="7264400"/>
            <a:ext cx="240332" cy="114300"/>
          </a:xfrm>
          <a:prstGeom prst="rect">
            <a:avLst/>
          </a:prstGeom>
          <a:noFill/>
          <a:ln/>
        </p:spPr>
        <p:txBody>
          <a:bodyPr wrap="none" lIns="0" tIns="0" rIns="0" bIns="0" rtlCol="0" anchor="t"/>
          <a:lstStyle/>
          <a:p>
            <a:pPr algn="l" indent="0" marL="0">
              <a:lnSpc>
                <a:spcPts val="780"/>
              </a:lnSpc>
              <a:buNone/>
            </a:pPr>
            <a:r>
              <a:rPr lang="en-US" sz="600" spc="60" kern="0" dirty="0">
                <a:solidFill>
                  <a:srgbClr val="666666"/>
                </a:solidFill>
                <a:latin typeface="Yu Gothic" pitchFamily="34" charset="0"/>
                <a:ea typeface="Yu Gothic" pitchFamily="34" charset="-122"/>
                <a:cs typeface="Yu Gothic" pitchFamily="34" charset="-120"/>
              </a:rPr>
              <a:t>第1章</a:t>
            </a:r>
            <a:endParaRPr lang="en-US" sz="600" dirty="0"/>
          </a:p>
        </p:txBody>
      </p:sp>
      <p:sp>
        <p:nvSpPr>
          <p:cNvPr id="24" name="t0_22"/>
          <p:cNvSpPr txBox="1"/>
          <p:nvPr/>
        </p:nvSpPr>
        <p:spPr>
          <a:xfrm>
            <a:off x="9474200" y="7251700"/>
            <a:ext cx="4371340" cy="168910"/>
          </a:xfrm>
          <a:prstGeom prst="rect">
            <a:avLst/>
          </a:prstGeom>
          <a:noFill/>
          <a:ln/>
        </p:spPr>
        <p:txBody>
          <a:bodyPr wrap="none" lIns="0" tIns="0" rIns="0" bIns="0" rtlCol="0" anchor="t"/>
          <a:lstStyle/>
          <a:p>
            <a:pPr algn="l" indent="0" marL="0">
              <a:lnSpc>
                <a:spcPts val="1330"/>
              </a:lnSpc>
              <a:buNone/>
            </a:pPr>
            <a:r>
              <a:rPr lang="en-US" sz="950" dirty="0">
                <a:solidFill>
                  <a:srgbClr val="222222"/>
                </a:solidFill>
                <a:latin typeface="Yu Gothic" pitchFamily="34" charset="0"/>
                <a:ea typeface="Yu Gothic" pitchFamily="34" charset="-122"/>
                <a:cs typeface="Yu Gothic" pitchFamily="34" charset="-120"/>
              </a:rPr>
              <a:t>WHO｜我々は何者か　—　三菱商事・金属資源グループとは：全体像・歩み</a:t>
            </a:r>
            <a:endParaRPr lang="en-US" sz="950" dirty="0"/>
          </a:p>
        </p:txBody>
      </p:sp>
      <p:sp>
        <p:nvSpPr>
          <p:cNvPr id="25" name="t0_23"/>
          <p:cNvSpPr txBox="1"/>
          <p:nvPr/>
        </p:nvSpPr>
        <p:spPr>
          <a:xfrm>
            <a:off x="13919200" y="7264400"/>
            <a:ext cx="149320" cy="117348"/>
          </a:xfrm>
          <a:prstGeom prst="rect">
            <a:avLst/>
          </a:prstGeom>
          <a:noFill/>
          <a:ln/>
        </p:spPr>
        <p:txBody>
          <a:bodyPr wrap="none" lIns="0" tIns="0" rIns="0" bIns="0" rtlCol="0" anchor="t"/>
          <a:lstStyle/>
          <a:p>
            <a:pPr algn="l" indent="0" marL="0">
              <a:lnSpc>
                <a:spcPts val="858"/>
              </a:lnSpc>
              <a:buNone/>
            </a:pPr>
            <a:r>
              <a:rPr lang="en-US" sz="660" spc="140" kern="0" dirty="0">
                <a:solidFill>
                  <a:srgbClr val="999999"/>
                </a:solidFill>
                <a:latin typeface="Yu Gothic" pitchFamily="34" charset="0"/>
                <a:ea typeface="Yu Gothic" pitchFamily="34" charset="-122"/>
                <a:cs typeface="Yu Gothic" pitchFamily="34" charset="-120"/>
              </a:rPr>
              <a:t>04</a:t>
            </a:r>
            <a:endParaRPr lang="en-US" sz="660" dirty="0"/>
          </a:p>
        </p:txBody>
      </p:sp>
      <p:sp>
        <p:nvSpPr>
          <p:cNvPr id="26" name="Shape 23"/>
          <p:cNvSpPr/>
          <p:nvPr/>
        </p:nvSpPr>
        <p:spPr>
          <a:xfrm>
            <a:off x="8839200" y="7721600"/>
            <a:ext cx="5334000" cy="0"/>
          </a:xfrm>
          <a:prstGeom prst="line">
            <a:avLst/>
          </a:prstGeom>
          <a:noFill/>
          <a:ln w="12700">
            <a:solidFill>
              <a:srgbClr val="CFD2D5"/>
            </a:solidFill>
            <a:prstDash val="solid"/>
          </a:ln>
        </p:spPr>
      </p:sp>
      <p:sp>
        <p:nvSpPr>
          <p:cNvPr id="27" name="t0_25"/>
          <p:cNvSpPr txBox="1"/>
          <p:nvPr/>
        </p:nvSpPr>
        <p:spPr>
          <a:xfrm>
            <a:off x="8839200" y="7823200"/>
            <a:ext cx="240332" cy="114300"/>
          </a:xfrm>
          <a:prstGeom prst="rect">
            <a:avLst/>
          </a:prstGeom>
          <a:noFill/>
          <a:ln/>
        </p:spPr>
        <p:txBody>
          <a:bodyPr wrap="none" lIns="0" tIns="0" rIns="0" bIns="0" rtlCol="0" anchor="t"/>
          <a:lstStyle/>
          <a:p>
            <a:pPr algn="l" indent="0" marL="0">
              <a:lnSpc>
                <a:spcPts val="780"/>
              </a:lnSpc>
              <a:buNone/>
            </a:pPr>
            <a:r>
              <a:rPr lang="en-US" sz="600" spc="60" kern="0" dirty="0">
                <a:solidFill>
                  <a:srgbClr val="666666"/>
                </a:solidFill>
                <a:latin typeface="Yu Gothic" pitchFamily="34" charset="0"/>
                <a:ea typeface="Yu Gothic" pitchFamily="34" charset="-122"/>
                <a:cs typeface="Yu Gothic" pitchFamily="34" charset="-120"/>
              </a:rPr>
              <a:t>第2章</a:t>
            </a:r>
            <a:endParaRPr lang="en-US" sz="600" dirty="0"/>
          </a:p>
        </p:txBody>
      </p:sp>
      <p:sp>
        <p:nvSpPr>
          <p:cNvPr id="28" name="t0_26"/>
          <p:cNvSpPr txBox="1"/>
          <p:nvPr/>
        </p:nvSpPr>
        <p:spPr>
          <a:xfrm>
            <a:off x="9474200" y="7810500"/>
            <a:ext cx="4371340" cy="168910"/>
          </a:xfrm>
          <a:prstGeom prst="rect">
            <a:avLst/>
          </a:prstGeom>
          <a:noFill/>
          <a:ln/>
        </p:spPr>
        <p:txBody>
          <a:bodyPr wrap="none" lIns="0" tIns="0" rIns="0" bIns="0" rtlCol="0" anchor="t"/>
          <a:lstStyle/>
          <a:p>
            <a:pPr algn="l" indent="0" marL="0">
              <a:lnSpc>
                <a:spcPts val="1330"/>
              </a:lnSpc>
              <a:buNone/>
            </a:pPr>
            <a:r>
              <a:rPr lang="en-US" sz="950" dirty="0">
                <a:solidFill>
                  <a:srgbClr val="222222"/>
                </a:solidFill>
                <a:latin typeface="Yu Gothic" pitchFamily="34" charset="0"/>
                <a:ea typeface="Yu Gothic" pitchFamily="34" charset="-122"/>
                <a:cs typeface="Yu Gothic" pitchFamily="34" charset="-120"/>
              </a:rPr>
              <a:t>HOW/WHAT｜独自価値　—　機能・強み</a:t>
            </a:r>
            <a:endParaRPr lang="en-US" sz="950" dirty="0"/>
          </a:p>
        </p:txBody>
      </p:sp>
      <p:sp>
        <p:nvSpPr>
          <p:cNvPr id="29" name="t0_27"/>
          <p:cNvSpPr txBox="1"/>
          <p:nvPr/>
        </p:nvSpPr>
        <p:spPr>
          <a:xfrm>
            <a:off x="13919200" y="7823200"/>
            <a:ext cx="149320" cy="117348"/>
          </a:xfrm>
          <a:prstGeom prst="rect">
            <a:avLst/>
          </a:prstGeom>
          <a:noFill/>
          <a:ln/>
        </p:spPr>
        <p:txBody>
          <a:bodyPr wrap="none" lIns="0" tIns="0" rIns="0" bIns="0" rtlCol="0" anchor="t"/>
          <a:lstStyle/>
          <a:p>
            <a:pPr algn="l" indent="0" marL="0">
              <a:lnSpc>
                <a:spcPts val="858"/>
              </a:lnSpc>
              <a:buNone/>
            </a:pPr>
            <a:r>
              <a:rPr lang="en-US" sz="660" spc="140" kern="0" dirty="0">
                <a:solidFill>
                  <a:srgbClr val="999999"/>
                </a:solidFill>
                <a:latin typeface="Yu Gothic" pitchFamily="34" charset="0"/>
                <a:ea typeface="Yu Gothic" pitchFamily="34" charset="-122"/>
                <a:cs typeface="Yu Gothic" pitchFamily="34" charset="-120"/>
              </a:rPr>
              <a:t>06</a:t>
            </a:r>
            <a:endParaRPr lang="en-US" sz="660" dirty="0"/>
          </a:p>
        </p:txBody>
      </p:sp>
      <p:sp>
        <p:nvSpPr>
          <p:cNvPr id="30" name="Shape 27"/>
          <p:cNvSpPr/>
          <p:nvPr/>
        </p:nvSpPr>
        <p:spPr>
          <a:xfrm>
            <a:off x="8839200" y="8280400"/>
            <a:ext cx="5334000" cy="0"/>
          </a:xfrm>
          <a:prstGeom prst="line">
            <a:avLst/>
          </a:prstGeom>
          <a:noFill/>
          <a:ln w="12700">
            <a:solidFill>
              <a:srgbClr val="CFD2D5"/>
            </a:solidFill>
            <a:prstDash val="solid"/>
          </a:ln>
        </p:spPr>
      </p:sp>
      <p:sp>
        <p:nvSpPr>
          <p:cNvPr id="31" name="t0_29"/>
          <p:cNvSpPr txBox="1"/>
          <p:nvPr/>
        </p:nvSpPr>
        <p:spPr>
          <a:xfrm>
            <a:off x="8839200" y="8382000"/>
            <a:ext cx="240332" cy="114300"/>
          </a:xfrm>
          <a:prstGeom prst="rect">
            <a:avLst/>
          </a:prstGeom>
          <a:noFill/>
          <a:ln/>
        </p:spPr>
        <p:txBody>
          <a:bodyPr wrap="none" lIns="0" tIns="0" rIns="0" bIns="0" rtlCol="0" anchor="t"/>
          <a:lstStyle/>
          <a:p>
            <a:pPr algn="l" indent="0" marL="0">
              <a:lnSpc>
                <a:spcPts val="780"/>
              </a:lnSpc>
              <a:buNone/>
            </a:pPr>
            <a:r>
              <a:rPr lang="en-US" sz="600" spc="60" kern="0" dirty="0">
                <a:solidFill>
                  <a:srgbClr val="666666"/>
                </a:solidFill>
                <a:latin typeface="Yu Gothic" pitchFamily="34" charset="0"/>
                <a:ea typeface="Yu Gothic" pitchFamily="34" charset="-122"/>
                <a:cs typeface="Yu Gothic" pitchFamily="34" charset="-120"/>
              </a:rPr>
              <a:t>第3章</a:t>
            </a:r>
            <a:endParaRPr lang="en-US" sz="600" dirty="0"/>
          </a:p>
        </p:txBody>
      </p:sp>
      <p:sp>
        <p:nvSpPr>
          <p:cNvPr id="32" name="t0_30"/>
          <p:cNvSpPr txBox="1"/>
          <p:nvPr/>
        </p:nvSpPr>
        <p:spPr>
          <a:xfrm>
            <a:off x="9474200" y="8369300"/>
            <a:ext cx="4371340" cy="168910"/>
          </a:xfrm>
          <a:prstGeom prst="rect">
            <a:avLst/>
          </a:prstGeom>
          <a:noFill/>
          <a:ln/>
        </p:spPr>
        <p:txBody>
          <a:bodyPr wrap="none" lIns="0" tIns="0" rIns="0" bIns="0" rtlCol="0" anchor="t"/>
          <a:lstStyle/>
          <a:p>
            <a:pPr algn="l" indent="0" marL="0">
              <a:lnSpc>
                <a:spcPts val="1330"/>
              </a:lnSpc>
              <a:buNone/>
            </a:pPr>
            <a:r>
              <a:rPr lang="en-US" sz="950" dirty="0">
                <a:solidFill>
                  <a:srgbClr val="222222"/>
                </a:solidFill>
                <a:latin typeface="Yu Gothic" pitchFamily="34" charset="0"/>
                <a:ea typeface="Yu Gothic" pitchFamily="34" charset="-122"/>
                <a:cs typeface="Yu Gothic" pitchFamily="34" charset="-120"/>
              </a:rPr>
              <a:t>PROOF｜選ばれ続ける理由　—　実績・関係・評価</a:t>
            </a:r>
            <a:endParaRPr lang="en-US" sz="950" dirty="0"/>
          </a:p>
        </p:txBody>
      </p:sp>
      <p:sp>
        <p:nvSpPr>
          <p:cNvPr id="33" name="t0_31"/>
          <p:cNvSpPr txBox="1"/>
          <p:nvPr/>
        </p:nvSpPr>
        <p:spPr>
          <a:xfrm>
            <a:off x="13919200" y="8382000"/>
            <a:ext cx="149320" cy="117348"/>
          </a:xfrm>
          <a:prstGeom prst="rect">
            <a:avLst/>
          </a:prstGeom>
          <a:noFill/>
          <a:ln/>
        </p:spPr>
        <p:txBody>
          <a:bodyPr wrap="none" lIns="0" tIns="0" rIns="0" bIns="0" rtlCol="0" anchor="t"/>
          <a:lstStyle/>
          <a:p>
            <a:pPr algn="l" indent="0" marL="0">
              <a:lnSpc>
                <a:spcPts val="858"/>
              </a:lnSpc>
              <a:buNone/>
            </a:pPr>
            <a:r>
              <a:rPr lang="en-US" sz="660" spc="140" kern="0" dirty="0">
                <a:solidFill>
                  <a:srgbClr val="999999"/>
                </a:solidFill>
                <a:latin typeface="Yu Gothic" pitchFamily="34" charset="0"/>
                <a:ea typeface="Yu Gothic" pitchFamily="34" charset="-122"/>
                <a:cs typeface="Yu Gothic" pitchFamily="34" charset="-120"/>
              </a:rPr>
              <a:t>10</a:t>
            </a:r>
            <a:endParaRPr lang="en-US" sz="660" dirty="0"/>
          </a:p>
        </p:txBody>
      </p:sp>
      <p:sp>
        <p:nvSpPr>
          <p:cNvPr id="34" name="Shape 31"/>
          <p:cNvSpPr/>
          <p:nvPr/>
        </p:nvSpPr>
        <p:spPr>
          <a:xfrm>
            <a:off x="8839200" y="8839200"/>
            <a:ext cx="5334000" cy="0"/>
          </a:xfrm>
          <a:prstGeom prst="line">
            <a:avLst/>
          </a:prstGeom>
          <a:noFill/>
          <a:ln w="12700">
            <a:solidFill>
              <a:srgbClr val="CFD2D5"/>
            </a:solidFill>
            <a:prstDash val="solid"/>
          </a:ln>
        </p:spPr>
      </p:sp>
      <p:sp>
        <p:nvSpPr>
          <p:cNvPr id="35" name="t0_33"/>
          <p:cNvSpPr txBox="1"/>
          <p:nvPr/>
        </p:nvSpPr>
        <p:spPr>
          <a:xfrm>
            <a:off x="8839200" y="8940800"/>
            <a:ext cx="240332" cy="114300"/>
          </a:xfrm>
          <a:prstGeom prst="rect">
            <a:avLst/>
          </a:prstGeom>
          <a:noFill/>
          <a:ln/>
        </p:spPr>
        <p:txBody>
          <a:bodyPr wrap="none" lIns="0" tIns="0" rIns="0" bIns="0" rtlCol="0" anchor="t"/>
          <a:lstStyle/>
          <a:p>
            <a:pPr algn="l" indent="0" marL="0">
              <a:lnSpc>
                <a:spcPts val="780"/>
              </a:lnSpc>
              <a:buNone/>
            </a:pPr>
            <a:r>
              <a:rPr lang="en-US" sz="600" spc="60" kern="0" dirty="0">
                <a:solidFill>
                  <a:srgbClr val="666666"/>
                </a:solidFill>
                <a:latin typeface="Yu Gothic" pitchFamily="34" charset="0"/>
                <a:ea typeface="Yu Gothic" pitchFamily="34" charset="-122"/>
                <a:cs typeface="Yu Gothic" pitchFamily="34" charset="-120"/>
              </a:rPr>
              <a:t>第4章</a:t>
            </a:r>
            <a:endParaRPr lang="en-US" sz="600" dirty="0"/>
          </a:p>
        </p:txBody>
      </p:sp>
      <p:sp>
        <p:nvSpPr>
          <p:cNvPr id="36" name="t0_34"/>
          <p:cNvSpPr txBox="1"/>
          <p:nvPr/>
        </p:nvSpPr>
        <p:spPr>
          <a:xfrm>
            <a:off x="9474200" y="8928100"/>
            <a:ext cx="4371340" cy="168910"/>
          </a:xfrm>
          <a:prstGeom prst="rect">
            <a:avLst/>
          </a:prstGeom>
          <a:noFill/>
          <a:ln/>
        </p:spPr>
        <p:txBody>
          <a:bodyPr wrap="none" lIns="0" tIns="0" rIns="0" bIns="0" rtlCol="0" anchor="t"/>
          <a:lstStyle/>
          <a:p>
            <a:pPr algn="l" indent="0" marL="0">
              <a:lnSpc>
                <a:spcPts val="1330"/>
              </a:lnSpc>
              <a:buNone/>
            </a:pPr>
            <a:r>
              <a:rPr lang="en-US" sz="950" dirty="0">
                <a:solidFill>
                  <a:srgbClr val="222222"/>
                </a:solidFill>
                <a:latin typeface="Yu Gothic" pitchFamily="34" charset="0"/>
                <a:ea typeface="Yu Gothic" pitchFamily="34" charset="-122"/>
                <a:cs typeface="Yu Gothic" pitchFamily="34" charset="-120"/>
              </a:rPr>
              <a:t>VISION｜何を実現するか　—　社会課題への取り組み</a:t>
            </a:r>
            <a:endParaRPr lang="en-US" sz="950" dirty="0"/>
          </a:p>
        </p:txBody>
      </p:sp>
      <p:sp>
        <p:nvSpPr>
          <p:cNvPr id="37" name="t0_35"/>
          <p:cNvSpPr txBox="1"/>
          <p:nvPr/>
        </p:nvSpPr>
        <p:spPr>
          <a:xfrm>
            <a:off x="13919200" y="8940800"/>
            <a:ext cx="149320" cy="117348"/>
          </a:xfrm>
          <a:prstGeom prst="rect">
            <a:avLst/>
          </a:prstGeom>
          <a:noFill/>
          <a:ln/>
        </p:spPr>
        <p:txBody>
          <a:bodyPr wrap="none" lIns="0" tIns="0" rIns="0" bIns="0" rtlCol="0" anchor="t"/>
          <a:lstStyle/>
          <a:p>
            <a:pPr algn="l" indent="0" marL="0">
              <a:lnSpc>
                <a:spcPts val="858"/>
              </a:lnSpc>
              <a:buNone/>
            </a:pPr>
            <a:r>
              <a:rPr lang="en-US" sz="660" spc="140" kern="0" dirty="0">
                <a:solidFill>
                  <a:srgbClr val="999999"/>
                </a:solidFill>
                <a:latin typeface="Yu Gothic" pitchFamily="34" charset="0"/>
                <a:ea typeface="Yu Gothic" pitchFamily="34" charset="-122"/>
                <a:cs typeface="Yu Gothic" pitchFamily="34" charset="-120"/>
              </a:rPr>
              <a:t>11</a:t>
            </a:r>
            <a:endParaRPr lang="en-US" sz="660" dirty="0"/>
          </a:p>
        </p:txBody>
      </p:sp>
      <p:sp>
        <p:nvSpPr>
          <p:cNvPr id="38" name="t0_36"/>
          <p:cNvSpPr txBox="1"/>
          <p:nvPr/>
        </p:nvSpPr>
        <p:spPr>
          <a:xfrm>
            <a:off x="609600" y="10261600"/>
            <a:ext cx="149320" cy="117348"/>
          </a:xfrm>
          <a:prstGeom prst="rect">
            <a:avLst/>
          </a:prstGeom>
          <a:noFill/>
          <a:ln/>
        </p:spPr>
        <p:txBody>
          <a:bodyPr wrap="none" lIns="0" tIns="0" rIns="0" bIns="0" rtlCol="0" anchor="t"/>
          <a:lstStyle/>
          <a:p>
            <a:pPr algn="l" indent="0" marL="0">
              <a:lnSpc>
                <a:spcPts val="858"/>
              </a:lnSpc>
              <a:buNone/>
            </a:pPr>
            <a:r>
              <a:rPr lang="en-US" sz="660" spc="140" kern="0" dirty="0">
                <a:solidFill>
                  <a:srgbClr val="999999"/>
                </a:solidFill>
                <a:latin typeface="Yu Gothic" pitchFamily="34" charset="0"/>
                <a:ea typeface="Yu Gothic" pitchFamily="34" charset="-122"/>
                <a:cs typeface="Yu Gothic" pitchFamily="34" charset="-120"/>
              </a:rPr>
              <a:t>02</a:t>
            </a:r>
            <a:endParaRPr lang="en-US" sz="660" dirty="0"/>
          </a:p>
        </p:txBody>
      </p:sp>
      <p:sp>
        <p:nvSpPr>
          <p:cNvPr id="39" name="t0_37"/>
          <p:cNvSpPr txBox="1"/>
          <p:nvPr/>
        </p:nvSpPr>
        <p:spPr>
          <a:xfrm>
            <a:off x="14262100" y="10261600"/>
            <a:ext cx="149320" cy="117348"/>
          </a:xfrm>
          <a:prstGeom prst="rect">
            <a:avLst/>
          </a:prstGeom>
          <a:noFill/>
          <a:ln/>
        </p:spPr>
        <p:txBody>
          <a:bodyPr wrap="none" lIns="0" tIns="0" rIns="0" bIns="0" rtlCol="0" anchor="t"/>
          <a:lstStyle/>
          <a:p>
            <a:pPr algn="l" indent="0" marL="0">
              <a:lnSpc>
                <a:spcPts val="858"/>
              </a:lnSpc>
              <a:buNone/>
            </a:pPr>
            <a:r>
              <a:rPr lang="en-US" sz="660" spc="140" kern="0" dirty="0">
                <a:solidFill>
                  <a:srgbClr val="999999"/>
                </a:solidFill>
                <a:latin typeface="Yu Gothic" pitchFamily="34" charset="0"/>
                <a:ea typeface="Yu Gothic" pitchFamily="34" charset="-122"/>
                <a:cs typeface="Yu Gothic" pitchFamily="34" charset="-120"/>
              </a:rPr>
              <a:t>03</a:t>
            </a:r>
            <a:endParaRPr lang="en-US" sz="660" dirty="0"/>
          </a:p>
        </p:txBody>
      </p:sp>
      <p:sp>
        <p:nvSpPr>
          <p:cNvPr id="40" name="t0_38"/>
          <p:cNvSpPr txBox="1"/>
          <p:nvPr/>
        </p:nvSpPr>
        <p:spPr>
          <a:xfrm>
            <a:off x="3810000" y="10261600"/>
            <a:ext cx="4690864" cy="152400"/>
          </a:xfrm>
          <a:prstGeom prst="rect">
            <a:avLst/>
          </a:prstGeom>
          <a:solidFill>
            <a:srgbClr val="FFFFFF"/>
          </a:solidFill>
          <a:ln/>
        </p:spPr>
        <p:txBody>
          <a:bodyPr wrap="none" lIns="25400" tIns="38100" rIns="38100" bIns="25400" rtlCol="0" anchor="ctr"/>
          <a:lstStyle/>
          <a:p>
            <a:pPr algn="l" indent="0" marL="0">
              <a:buNone/>
            </a:pPr>
            <a:r>
              <a:rPr lang="en-US" sz="660" spc="50" kern="0" dirty="0">
                <a:solidFill>
                  <a:srgbClr val="999999"/>
                </a:solidFill>
                <a:latin typeface="Yu Gothic" pitchFamily="34" charset="0"/>
                <a:ea typeface="Yu Gothic" pitchFamily="34" charset="-122"/>
                <a:cs typeface="Yu Gothic" pitchFamily="34" charset="-120"/>
              </a:rPr>
              <a:t>台割 完成版（構成確認用・PwC様レビュー10/2反映）— 青ラベル＝改善点／本文は日本語字数、英語語数は目安</a:t>
            </a:r>
            <a:endParaRPr lang="en-US" sz="660" dirty="0"/>
          </a:p>
        </p:txBody>
      </p:sp>
      <p:sp>
        <p:nvSpPr>
          <p:cNvPr id="41" name="Shape 38"/>
          <p:cNvSpPr/>
          <p:nvPr/>
        </p:nvSpPr>
        <p:spPr>
          <a:xfrm>
            <a:off x="7556500" y="0"/>
            <a:ext cx="0" cy="10693400"/>
          </a:xfrm>
          <a:prstGeom prst="line">
            <a:avLst/>
          </a:prstGeom>
          <a:noFill/>
          <a:ln w="9525">
            <a:solidFill>
              <a:srgbClr val="D5D8DB"/>
            </a:solidFill>
            <a:prstDash val="dash"/>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1_0"/>
          <p:cNvSpPr txBox="1"/>
          <p:nvPr/>
        </p:nvSpPr>
        <p:spPr>
          <a:xfrm>
            <a:off x="609600" y="431800"/>
            <a:ext cx="3542538" cy="139700"/>
          </a:xfrm>
          <a:prstGeom prst="rect">
            <a:avLst/>
          </a:prstGeom>
          <a:noFill/>
          <a:ln/>
        </p:spPr>
        <p:txBody>
          <a:bodyPr wrap="none" lIns="0" tIns="0" rIns="0" bIns="0" rtlCol="0" anchor="t"/>
          <a:lstStyle/>
          <a:p>
            <a:pPr algn="l" indent="0" marL="0">
              <a:lnSpc>
                <a:spcPts val="962"/>
              </a:lnSpc>
              <a:buNone/>
            </a:pPr>
            <a:r>
              <a:rPr lang="en-US" sz="740" spc="120" kern="0" dirty="0">
                <a:solidFill>
                  <a:srgbClr val="555555"/>
                </a:solidFill>
                <a:latin typeface="Yu Gothic" pitchFamily="34" charset="0"/>
                <a:ea typeface="Yu Gothic" pitchFamily="34" charset="-122"/>
                <a:cs typeface="Yu Gothic" pitchFamily="34" charset="-120"/>
              </a:rPr>
              <a:t>第1章　WHO｜我々は何者か　—　三菱商事・金属資源グループとは</a:t>
            </a:r>
            <a:endParaRPr lang="en-US" sz="740" dirty="0"/>
          </a:p>
        </p:txBody>
      </p:sp>
      <p:sp>
        <p:nvSpPr>
          <p:cNvPr id="4" name="t1_1"/>
          <p:cNvSpPr txBox="1"/>
          <p:nvPr/>
        </p:nvSpPr>
        <p:spPr>
          <a:xfrm>
            <a:off x="6070600" y="406400"/>
            <a:ext cx="1014016" cy="177800"/>
          </a:xfrm>
          <a:prstGeom prst="roundRect">
            <a:avLst>
              <a:gd name="adj" fmla="val 257143"/>
            </a:avLst>
          </a:prstGeom>
          <a:noFill/>
          <a:ln w="12700">
            <a:solidFill>
              <a:srgbClr val="AAAAAA"/>
            </a:solidFill>
            <a:prstDash val="solid"/>
          </a:ln>
        </p:spPr>
        <p:txBody>
          <a:bodyPr wrap="square" lIns="25400" tIns="38100" rIns="38100" bIns="25400" rtlCol="0" anchor="t"/>
          <a:lstStyle/>
          <a:p>
            <a:pPr algn="l" indent="0" marL="0">
              <a:lnSpc>
                <a:spcPts val="858"/>
              </a:lnSpc>
              <a:buNone/>
            </a:pPr>
            <a:r>
              <a:rPr lang="en-US" sz="660" spc="50" kern="0" dirty="0">
                <a:solidFill>
                  <a:srgbClr val="777777"/>
                </a:solidFill>
                <a:latin typeface="Yu Gothic" pitchFamily="34" charset="0"/>
                <a:ea typeface="Yu Gothic" pitchFamily="34" charset="-122"/>
                <a:cs typeface="Yu Gothic" pitchFamily="34" charset="-120"/>
              </a:rPr>
              <a:t>読み手の心理：理解</a:t>
            </a:r>
            <a:endParaRPr lang="en-US" sz="660" dirty="0"/>
          </a:p>
        </p:txBody>
      </p:sp>
      <p:sp>
        <p:nvSpPr>
          <p:cNvPr id="5" name="t1_2"/>
          <p:cNvSpPr txBox="1"/>
          <p:nvPr/>
        </p:nvSpPr>
        <p:spPr>
          <a:xfrm>
            <a:off x="609600" y="762000"/>
            <a:ext cx="6352540" cy="320040"/>
          </a:xfrm>
          <a:prstGeom prst="rect">
            <a:avLst/>
          </a:prstGeom>
          <a:noFill/>
          <a:ln/>
        </p:spPr>
        <p:txBody>
          <a:bodyPr wrap="none" lIns="0" tIns="0" rIns="0" bIns="0" rtlCol="0" anchor="t"/>
          <a:lstStyle/>
          <a:p>
            <a:pPr algn="l" indent="0" marL="0">
              <a:lnSpc>
                <a:spcPts val="2520"/>
              </a:lnSpc>
              <a:buNone/>
            </a:pPr>
            <a:r>
              <a:rPr lang="en-US" sz="1800" spc="80" kern="0" dirty="0">
                <a:solidFill>
                  <a:srgbClr val="222222"/>
                </a:solidFill>
                <a:latin typeface="Yu Gothic" pitchFamily="34" charset="0"/>
                <a:ea typeface="Yu Gothic" pitchFamily="34" charset="-122"/>
                <a:cs typeface="Yu Gothic" pitchFamily="34" charset="-120"/>
              </a:rPr>
              <a:t>三菱商事とは</a:t>
            </a:r>
            <a:endParaRPr lang="en-US" sz="1800" dirty="0"/>
          </a:p>
        </p:txBody>
      </p:sp>
      <p:sp>
        <p:nvSpPr>
          <p:cNvPr id="6" name="t1_3"/>
          <p:cNvSpPr txBox="1"/>
          <p:nvPr/>
        </p:nvSpPr>
        <p:spPr>
          <a:xfrm>
            <a:off x="609600" y="1117600"/>
            <a:ext cx="6352540" cy="196850"/>
          </a:xfrm>
          <a:prstGeom prst="rect">
            <a:avLst/>
          </a:prstGeom>
          <a:noFill/>
          <a:ln/>
        </p:spPr>
        <p:txBody>
          <a:bodyPr wrap="none" lIns="0" tIns="0" rIns="0" bIns="0" rtlCol="0" anchor="t"/>
          <a:lstStyle/>
          <a:p>
            <a:pPr algn="l" indent="0" marL="0">
              <a:lnSpc>
                <a:spcPts val="1550"/>
              </a:lnSpc>
              <a:buNone/>
            </a:pPr>
            <a:r>
              <a:rPr lang="en-US" sz="1000" spc="30" kern="0" dirty="0">
                <a:solidFill>
                  <a:srgbClr val="444444"/>
                </a:solidFill>
                <a:latin typeface="Yu Gothic" pitchFamily="34" charset="0"/>
                <a:ea typeface="Yu Gothic" pitchFamily="34" charset="-122"/>
                <a:cs typeface="Yu Gothic" pitchFamily="34" charset="-120"/>
              </a:rPr>
              <a:t>三綱領に基づき、経済価値・環境価値・社会価値の同時実現を志す総合商社</a:t>
            </a:r>
            <a:endParaRPr lang="en-US" sz="1000" dirty="0"/>
          </a:p>
        </p:txBody>
      </p:sp>
      <p:sp>
        <p:nvSpPr>
          <p:cNvPr id="7" name="t1_4"/>
          <p:cNvSpPr txBox="1"/>
          <p:nvPr/>
        </p:nvSpPr>
        <p:spPr>
          <a:xfrm>
            <a:off x="609600" y="1371600"/>
            <a:ext cx="3050540" cy="692944"/>
          </a:xfrm>
          <a:prstGeom prst="rect">
            <a:avLst/>
          </a:prstGeom>
          <a:noFill/>
          <a:ln/>
        </p:spPr>
        <p:txBody>
          <a:bodyPr wrap="square" lIns="0" tIns="0" rIns="0" bIns="0" rtlCol="0" anchor="t"/>
          <a:lstStyle/>
          <a:p>
            <a:pPr algn="l" indent="0" marL="0">
              <a:lnSpc>
                <a:spcPts val="1365"/>
              </a:lnSpc>
              <a:buNone/>
            </a:pPr>
            <a:r>
              <a:rPr lang="en-US" sz="7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ＸＸＸＸＸＸＸＸＸＸＸＸＸＸＸＸＸＸＸＸＸＸＸＸＸＸＸＸＸＸＸＸＸＸＸＸＸＸＸＸＸＸＸＸＸＸＸＸＸＸＸＸＸＸＸＸＸＸＸＸＸＸＸＸＸＸＸＸＸＸＸＸＸＸＸＸＸＸＸＸＸＸＸＸＸＸＸＸＸＸ</a:t>
            </a:r>
            <a:endParaRPr lang="en-US" sz="780" dirty="0"/>
          </a:p>
        </p:txBody>
      </p:sp>
      <p:sp>
        <p:nvSpPr>
          <p:cNvPr id="8" name="t1_5"/>
          <p:cNvSpPr txBox="1"/>
          <p:nvPr/>
        </p:nvSpPr>
        <p:spPr>
          <a:xfrm>
            <a:off x="609600" y="2077641"/>
            <a:ext cx="938292" cy="114300"/>
          </a:xfrm>
          <a:prstGeom prst="rect">
            <a:avLst/>
          </a:prstGeom>
          <a:noFill/>
          <a:ln/>
        </p:spPr>
        <p:txBody>
          <a:bodyPr wrap="none" lIns="0" tIns="0" rIns="0" bIns="0" rtlCol="0" anchor="t"/>
          <a:lstStyle/>
          <a:p>
            <a:pPr algn="l" indent="0" marL="0">
              <a:lnSpc>
                <a:spcPts val="754"/>
              </a:lnSpc>
              <a:buNone/>
            </a:pPr>
            <a:r>
              <a:rPr lang="en-US" sz="580" spc="30" kern="0" dirty="0">
                <a:solidFill>
                  <a:srgbClr val="B0B4B8"/>
                </a:solidFill>
                <a:latin typeface="Yu Gothic" pitchFamily="34" charset="0"/>
                <a:ea typeface="Yu Gothic" pitchFamily="34" charset="-122"/>
                <a:cs typeface="Yu Gothic" pitchFamily="34" charset="-120"/>
              </a:rPr>
              <a:t>▸本文 90字／英語 約50語</a:t>
            </a:r>
            <a:endParaRPr lang="en-US" sz="580" dirty="0"/>
          </a:p>
        </p:txBody>
      </p:sp>
      <p:pic>
        <p:nvPicPr>
          <p:cNvPr id="9" name="Image 0" descr="preencoded.png">    </p:cNvPr>
          <p:cNvPicPr>
            <a:picLocks noChangeAspect="1"/>
          </p:cNvPicPr>
          <p:nvPr/>
        </p:nvPicPr>
        <p:blipFill>
          <a:blip r:embed="rId1"/>
          <a:stretch>
            <a:fillRect/>
          </a:stretch>
        </p:blipFill>
        <p:spPr>
          <a:xfrm>
            <a:off x="3784600" y="1320800"/>
            <a:ext cx="3162300" cy="1524000"/>
          </a:xfrm>
          <a:prstGeom prst="rect">
            <a:avLst/>
          </a:prstGeom>
        </p:spPr>
      </p:pic>
      <p:sp>
        <p:nvSpPr>
          <p:cNvPr id="10" name="t1_7"/>
          <p:cNvSpPr txBox="1"/>
          <p:nvPr/>
        </p:nvSpPr>
        <p:spPr>
          <a:xfrm>
            <a:off x="4953000" y="1587500"/>
            <a:ext cx="805180" cy="139700"/>
          </a:xfrm>
          <a:prstGeom prst="rect">
            <a:avLst/>
          </a:prstGeom>
          <a:noFill/>
          <a:ln/>
        </p:spPr>
        <p:txBody>
          <a:bodyPr wrap="none" lIns="0" tIns="0" rIns="0" bIns="0" rtlCol="0" anchor="t"/>
          <a:lstStyle/>
          <a:p>
            <a:pPr algn="ctr" indent="0" marL="0">
              <a:lnSpc>
                <a:spcPts val="988"/>
              </a:lnSpc>
              <a:buNone/>
            </a:pPr>
            <a:r>
              <a:rPr lang="en-US" sz="760" dirty="0">
                <a:solidFill>
                  <a:srgbClr val="222222"/>
                </a:solidFill>
                <a:latin typeface="Yu Gothic" pitchFamily="34" charset="0"/>
                <a:ea typeface="Yu Gothic" pitchFamily="34" charset="-122"/>
                <a:cs typeface="Yu Gothic" pitchFamily="34" charset="-120"/>
              </a:rPr>
              <a:t>経済価値</a:t>
            </a:r>
            <a:endParaRPr lang="en-US" sz="760" dirty="0"/>
          </a:p>
        </p:txBody>
      </p:sp>
      <p:sp>
        <p:nvSpPr>
          <p:cNvPr id="11" name="t1_8"/>
          <p:cNvSpPr txBox="1"/>
          <p:nvPr/>
        </p:nvSpPr>
        <p:spPr>
          <a:xfrm>
            <a:off x="4318000" y="2349500"/>
            <a:ext cx="805180" cy="139700"/>
          </a:xfrm>
          <a:prstGeom prst="rect">
            <a:avLst/>
          </a:prstGeom>
          <a:noFill/>
          <a:ln/>
        </p:spPr>
        <p:txBody>
          <a:bodyPr wrap="none" lIns="0" tIns="0" rIns="0" bIns="0" rtlCol="0" anchor="t"/>
          <a:lstStyle/>
          <a:p>
            <a:pPr algn="ctr" indent="0" marL="0">
              <a:lnSpc>
                <a:spcPts val="988"/>
              </a:lnSpc>
              <a:buNone/>
            </a:pPr>
            <a:r>
              <a:rPr lang="en-US" sz="760" dirty="0">
                <a:solidFill>
                  <a:srgbClr val="222222"/>
                </a:solidFill>
                <a:latin typeface="Yu Gothic" pitchFamily="34" charset="0"/>
                <a:ea typeface="Yu Gothic" pitchFamily="34" charset="-122"/>
                <a:cs typeface="Yu Gothic" pitchFamily="34" charset="-120"/>
              </a:rPr>
              <a:t>環境価値</a:t>
            </a:r>
            <a:endParaRPr lang="en-US" sz="760" dirty="0"/>
          </a:p>
        </p:txBody>
      </p:sp>
      <p:sp>
        <p:nvSpPr>
          <p:cNvPr id="12" name="t1_9"/>
          <p:cNvSpPr txBox="1"/>
          <p:nvPr/>
        </p:nvSpPr>
        <p:spPr>
          <a:xfrm>
            <a:off x="5588000" y="2349500"/>
            <a:ext cx="805180" cy="139700"/>
          </a:xfrm>
          <a:prstGeom prst="rect">
            <a:avLst/>
          </a:prstGeom>
          <a:noFill/>
          <a:ln/>
        </p:spPr>
        <p:txBody>
          <a:bodyPr wrap="none" lIns="0" tIns="0" rIns="0" bIns="0" rtlCol="0" anchor="t"/>
          <a:lstStyle/>
          <a:p>
            <a:pPr algn="ctr" indent="0" marL="0">
              <a:lnSpc>
                <a:spcPts val="988"/>
              </a:lnSpc>
              <a:buNone/>
            </a:pPr>
            <a:r>
              <a:rPr lang="en-US" sz="760" dirty="0">
                <a:solidFill>
                  <a:srgbClr val="222222"/>
                </a:solidFill>
                <a:latin typeface="Yu Gothic" pitchFamily="34" charset="0"/>
                <a:ea typeface="Yu Gothic" pitchFamily="34" charset="-122"/>
                <a:cs typeface="Yu Gothic" pitchFamily="34" charset="-120"/>
              </a:rPr>
              <a:t>社会価値</a:t>
            </a:r>
            <a:endParaRPr lang="en-US" sz="760" dirty="0"/>
          </a:p>
        </p:txBody>
      </p:sp>
      <p:sp>
        <p:nvSpPr>
          <p:cNvPr id="13" name="t1_10"/>
          <p:cNvSpPr txBox="1"/>
          <p:nvPr/>
        </p:nvSpPr>
        <p:spPr>
          <a:xfrm>
            <a:off x="4902200" y="2057400"/>
            <a:ext cx="910844" cy="211534"/>
          </a:xfrm>
          <a:prstGeom prst="rect">
            <a:avLst/>
          </a:prstGeom>
          <a:noFill/>
          <a:ln/>
        </p:spPr>
        <p:txBody>
          <a:bodyPr wrap="square" lIns="0" tIns="0" rIns="0" bIns="0" rtlCol="0" anchor="t"/>
          <a:lstStyle/>
          <a:p>
            <a:pPr algn="ctr" indent="0" marL="0">
              <a:lnSpc>
                <a:spcPts val="832"/>
              </a:lnSpc>
              <a:buNone/>
            </a:pPr>
            <a:r>
              <a:rPr lang="en-US" sz="640" dirty="0">
                <a:solidFill>
                  <a:srgbClr val="555555"/>
                </a:solidFill>
                <a:latin typeface="Yu Gothic" pitchFamily="34" charset="0"/>
                <a:ea typeface="Yu Gothic" pitchFamily="34" charset="-122"/>
                <a:cs typeface="Yu Gothic" pitchFamily="34" charset="-120"/>
              </a:rPr>
              <a:t>3つの価値の</a:t>
            </a:r>
            <a:endParaRPr lang="en-US" sz="640" dirty="0"/>
          </a:p>
          <a:p>
            <a:pPr algn="ctr" indent="0" marL="0">
              <a:lnSpc>
                <a:spcPts val="832"/>
              </a:lnSpc>
              <a:buNone/>
            </a:pPr>
            <a:r>
              <a:rPr lang="en-US" sz="640" dirty="0">
                <a:solidFill>
                  <a:srgbClr val="555555"/>
                </a:solidFill>
                <a:latin typeface="Yu Gothic" pitchFamily="34" charset="0"/>
                <a:ea typeface="Yu Gothic" pitchFamily="34" charset="-122"/>
                <a:cs typeface="Yu Gothic" pitchFamily="34" charset="-120"/>
              </a:rPr>
              <a:t>同時実現</a:t>
            </a:r>
            <a:endParaRPr lang="en-US" sz="640" dirty="0"/>
          </a:p>
        </p:txBody>
      </p:sp>
      <p:sp>
        <p:nvSpPr>
          <p:cNvPr id="14" name="t1_11"/>
          <p:cNvSpPr txBox="1"/>
          <p:nvPr/>
        </p:nvSpPr>
        <p:spPr>
          <a:xfrm>
            <a:off x="3962400" y="3048000"/>
            <a:ext cx="3116580" cy="101600"/>
          </a:xfrm>
          <a:prstGeom prst="rect">
            <a:avLst/>
          </a:prstGeom>
          <a:noFill/>
          <a:ln/>
        </p:spPr>
        <p:txBody>
          <a:bodyPr wrap="none" lIns="0" tIns="0" rIns="0" bIns="0" rtlCol="0" anchor="t"/>
          <a:lstStyle/>
          <a:p>
            <a:pPr algn="l" indent="0" marL="0">
              <a:lnSpc>
                <a:spcPts val="728"/>
              </a:lnSpc>
              <a:buNone/>
            </a:pPr>
            <a:r>
              <a:rPr lang="en-US" sz="560" dirty="0">
                <a:solidFill>
                  <a:srgbClr val="888888"/>
                </a:solidFill>
                <a:latin typeface="Yu Gothic" pitchFamily="34" charset="0"/>
                <a:ea typeface="Yu Gothic" pitchFamily="34" charset="-122"/>
                <a:cs typeface="Yu Gothic" pitchFamily="34" charset="-120"/>
              </a:rPr>
              <a:t>図の出典・簡略化元：金属資源G_P46（Core Principles &amp; Vision）</a:t>
            </a:r>
            <a:endParaRPr lang="en-US" sz="560" dirty="0"/>
          </a:p>
        </p:txBody>
      </p:sp>
      <p:pic>
        <p:nvPicPr>
          <p:cNvPr id="15" name="Image 1" descr="preencoded.png">    </p:cNvPr>
          <p:cNvPicPr>
            <a:picLocks noChangeAspect="1"/>
          </p:cNvPicPr>
          <p:nvPr/>
        </p:nvPicPr>
        <p:blipFill>
          <a:blip r:embed="rId2"/>
          <a:stretch>
            <a:fillRect/>
          </a:stretch>
        </p:blipFill>
        <p:spPr>
          <a:xfrm>
            <a:off x="609600" y="2692400"/>
            <a:ext cx="1092200" cy="584200"/>
          </a:xfrm>
          <a:prstGeom prst="rect">
            <a:avLst/>
          </a:prstGeom>
        </p:spPr>
      </p:pic>
      <p:sp>
        <p:nvSpPr>
          <p:cNvPr id="16" name="t1_13"/>
          <p:cNvSpPr txBox="1"/>
          <p:nvPr/>
        </p:nvSpPr>
        <p:spPr>
          <a:xfrm>
            <a:off x="609600" y="3327400"/>
            <a:ext cx="1280668" cy="117872"/>
          </a:xfrm>
          <a:prstGeom prst="rect">
            <a:avLst/>
          </a:prstGeom>
          <a:noFill/>
          <a:ln/>
        </p:spPr>
        <p:txBody>
          <a:bodyPr wrap="none" lIns="0" tIns="0" rIns="0" bIns="0" rtlCol="0" anchor="t"/>
          <a:lstStyle/>
          <a:p>
            <a:pPr algn="l" indent="0" marL="0">
              <a:lnSpc>
                <a:spcPts val="928"/>
              </a:lnSpc>
              <a:buNone/>
            </a:pPr>
            <a:r>
              <a:rPr lang="en-US" sz="640" dirty="0">
                <a:solidFill>
                  <a:srgbClr val="555555"/>
                </a:solidFill>
                <a:latin typeface="Yu Gothic" pitchFamily="34" charset="0"/>
                <a:ea typeface="Yu Gothic" pitchFamily="34" charset="-122"/>
                <a:cs typeface="Yu Gothic" pitchFamily="34" charset="-120"/>
              </a:rPr>
              <a:t>三綱領</a:t>
            </a:r>
            <a:endParaRPr lang="en-US" sz="640" dirty="0"/>
          </a:p>
        </p:txBody>
      </p:sp>
      <p:sp>
        <p:nvSpPr>
          <p:cNvPr id="17" name="t1_14"/>
          <p:cNvSpPr txBox="1"/>
          <p:nvPr/>
        </p:nvSpPr>
        <p:spPr>
          <a:xfrm>
            <a:off x="1778000" y="2692400"/>
            <a:ext cx="660400" cy="5842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00" dirty="0">
                <a:solidFill>
                  <a:srgbClr val="222222"/>
                </a:solidFill>
                <a:latin typeface="Yu Gothic" pitchFamily="34" charset="0"/>
                <a:ea typeface="Yu Gothic" pitchFamily="34" charset="-122"/>
                <a:cs typeface="Yu Gothic" pitchFamily="34" charset="-120"/>
              </a:rPr>
              <a:t>所期奉公</a:t>
            </a:r>
            <a:endParaRPr lang="en-US" sz="700" dirty="0"/>
          </a:p>
          <a:p>
            <a:pPr algn="ctr" indent="0" marL="0">
              <a:lnSpc>
                <a:spcPts val="999"/>
              </a:lnSpc>
              <a:buNone/>
            </a:pPr>
            <a:r>
              <a:rPr lang="en-US" sz="560" dirty="0">
                <a:solidFill>
                  <a:srgbClr val="777777"/>
                </a:solidFill>
                <a:latin typeface="Yu Gothic" pitchFamily="34" charset="0"/>
                <a:ea typeface="Yu Gothic" pitchFamily="34" charset="-122"/>
                <a:cs typeface="Yu Gothic" pitchFamily="34" charset="-120"/>
              </a:rPr>
              <a:t>社会への貢献</a:t>
            </a:r>
            <a:endParaRPr lang="en-US" sz="700" dirty="0"/>
          </a:p>
        </p:txBody>
      </p:sp>
      <p:sp>
        <p:nvSpPr>
          <p:cNvPr id="18" name="t1_15"/>
          <p:cNvSpPr txBox="1"/>
          <p:nvPr/>
        </p:nvSpPr>
        <p:spPr>
          <a:xfrm>
            <a:off x="2489200" y="2692400"/>
            <a:ext cx="660400" cy="5842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00" dirty="0">
                <a:solidFill>
                  <a:srgbClr val="222222"/>
                </a:solidFill>
                <a:latin typeface="Yu Gothic" pitchFamily="34" charset="0"/>
                <a:ea typeface="Yu Gothic" pitchFamily="34" charset="-122"/>
                <a:cs typeface="Yu Gothic" pitchFamily="34" charset="-120"/>
              </a:rPr>
              <a:t>処事光明</a:t>
            </a:r>
            <a:endParaRPr lang="en-US" sz="700" dirty="0"/>
          </a:p>
          <a:p>
            <a:pPr algn="ctr" indent="0" marL="0">
              <a:lnSpc>
                <a:spcPts val="999"/>
              </a:lnSpc>
              <a:buNone/>
            </a:pPr>
            <a:r>
              <a:rPr lang="en-US" sz="560" dirty="0">
                <a:solidFill>
                  <a:srgbClr val="777777"/>
                </a:solidFill>
                <a:latin typeface="Yu Gothic" pitchFamily="34" charset="0"/>
                <a:ea typeface="Yu Gothic" pitchFamily="34" charset="-122"/>
                <a:cs typeface="Yu Gothic" pitchFamily="34" charset="-120"/>
              </a:rPr>
              <a:t>公明正大</a:t>
            </a:r>
            <a:endParaRPr lang="en-US" sz="700" dirty="0"/>
          </a:p>
        </p:txBody>
      </p:sp>
      <p:sp>
        <p:nvSpPr>
          <p:cNvPr id="19" name="t1_16"/>
          <p:cNvSpPr txBox="1"/>
          <p:nvPr/>
        </p:nvSpPr>
        <p:spPr>
          <a:xfrm>
            <a:off x="3200400" y="2692400"/>
            <a:ext cx="660400" cy="5842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00" dirty="0">
                <a:solidFill>
                  <a:srgbClr val="222222"/>
                </a:solidFill>
                <a:latin typeface="Yu Gothic" pitchFamily="34" charset="0"/>
                <a:ea typeface="Yu Gothic" pitchFamily="34" charset="-122"/>
                <a:cs typeface="Yu Gothic" pitchFamily="34" charset="-120"/>
              </a:rPr>
              <a:t>立業貿易</a:t>
            </a:r>
            <a:endParaRPr lang="en-US" sz="700" dirty="0"/>
          </a:p>
          <a:p>
            <a:pPr algn="ctr" indent="0" marL="0">
              <a:lnSpc>
                <a:spcPts val="999"/>
              </a:lnSpc>
              <a:buNone/>
            </a:pPr>
            <a:r>
              <a:rPr lang="en-US" sz="560" dirty="0">
                <a:solidFill>
                  <a:srgbClr val="777777"/>
                </a:solidFill>
                <a:latin typeface="Yu Gothic" pitchFamily="34" charset="0"/>
                <a:ea typeface="Yu Gothic" pitchFamily="34" charset="-122"/>
                <a:cs typeface="Yu Gothic" pitchFamily="34" charset="-120"/>
              </a:rPr>
              <a:t>グローバルな視野</a:t>
            </a:r>
            <a:endParaRPr lang="en-US" sz="700" dirty="0"/>
          </a:p>
        </p:txBody>
      </p:sp>
      <p:sp>
        <p:nvSpPr>
          <p:cNvPr id="20" name="t1_17"/>
          <p:cNvSpPr txBox="1"/>
          <p:nvPr/>
        </p:nvSpPr>
        <p:spPr>
          <a:xfrm>
            <a:off x="609600" y="3556000"/>
            <a:ext cx="1562576" cy="139700"/>
          </a:xfrm>
          <a:prstGeom prst="rect">
            <a:avLst/>
          </a:prstGeom>
          <a:noFill/>
          <a:ln/>
        </p:spPr>
        <p:txBody>
          <a:bodyPr wrap="none" lIns="0" tIns="0" rIns="0" bIns="0" rtlCol="0" anchor="t"/>
          <a:lstStyle/>
          <a:p>
            <a:pPr algn="l" indent="0" marL="0">
              <a:lnSpc>
                <a:spcPts val="988"/>
              </a:lnSpc>
              <a:buNone/>
            </a:pPr>
            <a:r>
              <a:rPr lang="en-US" sz="760" dirty="0">
                <a:solidFill>
                  <a:srgbClr val="222222"/>
                </a:solidFill>
                <a:latin typeface="Yu Gothic" pitchFamily="34" charset="0"/>
                <a:ea typeface="Yu Gothic" pitchFamily="34" charset="-122"/>
                <a:cs typeface="Yu Gothic" pitchFamily="34" charset="-120"/>
              </a:rPr>
              <a:t>全社の事業グループ（7グループ）</a:t>
            </a:r>
            <a:endParaRPr lang="en-US" sz="760" dirty="0"/>
          </a:p>
        </p:txBody>
      </p:sp>
      <p:sp>
        <p:nvSpPr>
          <p:cNvPr id="21" name="t1_18"/>
          <p:cNvSpPr txBox="1"/>
          <p:nvPr/>
        </p:nvSpPr>
        <p:spPr>
          <a:xfrm>
            <a:off x="609600" y="3759200"/>
            <a:ext cx="863600" cy="381000"/>
          </a:xfrm>
          <a:prstGeom prst="rect">
            <a:avLst/>
          </a:prstGeom>
          <a:noFill/>
          <a:ln w="12700">
            <a:solidFill>
              <a:srgbClr val="9AA0A6"/>
            </a:solidFill>
            <a:prstDash val="solid"/>
          </a:ln>
        </p:spPr>
        <p:txBody>
          <a:bodyPr wrap="square" lIns="25400" tIns="38100" rIns="38100" bIns="25400" rtlCol="0" anchor="ctr"/>
          <a:lstStyle/>
          <a:p>
            <a:pPr algn="ctr" indent="0" marL="0">
              <a:lnSpc>
                <a:spcPts val="750"/>
              </a:lnSpc>
              <a:buNone/>
            </a:pPr>
            <a:r>
              <a:rPr lang="en-US" sz="600" dirty="0">
                <a:solidFill>
                  <a:srgbClr val="222222"/>
                </a:solidFill>
                <a:latin typeface="Yu Gothic" pitchFamily="34" charset="0"/>
                <a:ea typeface="Yu Gothic" pitchFamily="34" charset="-122"/>
                <a:cs typeface="Yu Gothic" pitchFamily="34" charset="-120"/>
              </a:rPr>
              <a:t>エネルギー&amp;パワー</a:t>
            </a:r>
            <a:endParaRPr lang="en-US" sz="600" dirty="0"/>
          </a:p>
          <a:p>
            <a:pPr algn="ctr" indent="0" marL="0">
              <a:lnSpc>
                <a:spcPts val="750"/>
              </a:lnSpc>
              <a:buNone/>
            </a:pPr>
            <a:r>
              <a:rPr lang="en-US" sz="600" dirty="0">
                <a:solidFill>
                  <a:srgbClr val="222222"/>
                </a:solidFill>
                <a:latin typeface="Yu Gothic" pitchFamily="34" charset="0"/>
                <a:ea typeface="Yu Gothic" pitchFamily="34" charset="-122"/>
                <a:cs typeface="Yu Gothic" pitchFamily="34" charset="-120"/>
              </a:rPr>
              <a:t>ソリューション</a:t>
            </a:r>
            <a:endParaRPr lang="en-US" sz="600" dirty="0"/>
          </a:p>
        </p:txBody>
      </p:sp>
      <p:sp>
        <p:nvSpPr>
          <p:cNvPr id="22" name="t1_19"/>
          <p:cNvSpPr txBox="1"/>
          <p:nvPr/>
        </p:nvSpPr>
        <p:spPr>
          <a:xfrm>
            <a:off x="1515070" y="3759200"/>
            <a:ext cx="863600" cy="381000"/>
          </a:xfrm>
          <a:prstGeom prst="rect">
            <a:avLst/>
          </a:prstGeom>
          <a:noFill/>
          <a:ln w="12700">
            <a:solidFill>
              <a:srgbClr val="9AA0A6"/>
            </a:solidFill>
            <a:prstDash val="solid"/>
          </a:ln>
        </p:spPr>
        <p:txBody>
          <a:bodyPr wrap="square" lIns="25400" tIns="38100" rIns="38100" bIns="25400" rtlCol="0" anchor="ctr"/>
          <a:lstStyle/>
          <a:p>
            <a:pPr algn="ctr" indent="0" marL="0">
              <a:lnSpc>
                <a:spcPts val="750"/>
              </a:lnSpc>
              <a:buNone/>
            </a:pPr>
            <a:r>
              <a:rPr lang="en-US" sz="600" dirty="0">
                <a:solidFill>
                  <a:srgbClr val="222222"/>
                </a:solidFill>
                <a:latin typeface="Yu Gothic" pitchFamily="34" charset="0"/>
                <a:ea typeface="Yu Gothic" pitchFamily="34" charset="-122"/>
                <a:cs typeface="Yu Gothic" pitchFamily="34" charset="-120"/>
              </a:rPr>
              <a:t>マテリアル</a:t>
            </a:r>
            <a:endParaRPr lang="en-US" sz="600" dirty="0"/>
          </a:p>
          <a:p>
            <a:pPr algn="ctr" indent="0" marL="0">
              <a:lnSpc>
                <a:spcPts val="750"/>
              </a:lnSpc>
              <a:buNone/>
            </a:pPr>
            <a:r>
              <a:rPr lang="en-US" sz="600" dirty="0">
                <a:solidFill>
                  <a:srgbClr val="222222"/>
                </a:solidFill>
                <a:latin typeface="Yu Gothic" pitchFamily="34" charset="0"/>
                <a:ea typeface="Yu Gothic" pitchFamily="34" charset="-122"/>
                <a:cs typeface="Yu Gothic" pitchFamily="34" charset="-120"/>
              </a:rPr>
              <a:t>ソリューション</a:t>
            </a:r>
            <a:endParaRPr lang="en-US" sz="600" dirty="0"/>
          </a:p>
        </p:txBody>
      </p:sp>
      <p:sp>
        <p:nvSpPr>
          <p:cNvPr id="23" name="t1_20"/>
          <p:cNvSpPr txBox="1"/>
          <p:nvPr/>
        </p:nvSpPr>
        <p:spPr>
          <a:xfrm>
            <a:off x="2420541" y="3759200"/>
            <a:ext cx="863600" cy="381000"/>
          </a:xfrm>
          <a:prstGeom prst="rect">
            <a:avLst/>
          </a:prstGeom>
          <a:solidFill>
            <a:srgbClr val="3C4045"/>
          </a:solidFill>
          <a:ln w="12700">
            <a:solidFill>
              <a:srgbClr val="3C4045"/>
            </a:solidFill>
            <a:prstDash val="solid"/>
          </a:ln>
        </p:spPr>
        <p:txBody>
          <a:bodyPr wrap="square" lIns="25400" tIns="38100" rIns="38100" bIns="25400" rtlCol="0" anchor="ctr"/>
          <a:lstStyle/>
          <a:p>
            <a:pPr algn="ctr" indent="0" marL="0">
              <a:lnSpc>
                <a:spcPts val="750"/>
              </a:lnSpc>
              <a:buNone/>
            </a:pPr>
            <a:r>
              <a:rPr lang="en-US" sz="600" dirty="0">
                <a:solidFill>
                  <a:srgbClr val="FFFFFF"/>
                </a:solidFill>
                <a:latin typeface="Yu Gothic" pitchFamily="34" charset="0"/>
                <a:ea typeface="Yu Gothic" pitchFamily="34" charset="-122"/>
                <a:cs typeface="Yu Gothic" pitchFamily="34" charset="-120"/>
              </a:rPr>
              <a:t>金属資源</a:t>
            </a:r>
            <a:endParaRPr lang="en-US" sz="600" dirty="0"/>
          </a:p>
        </p:txBody>
      </p:sp>
      <p:sp>
        <p:nvSpPr>
          <p:cNvPr id="24" name="t1_21"/>
          <p:cNvSpPr txBox="1"/>
          <p:nvPr/>
        </p:nvSpPr>
        <p:spPr>
          <a:xfrm>
            <a:off x="3326011" y="3759200"/>
            <a:ext cx="863600" cy="381000"/>
          </a:xfrm>
          <a:prstGeom prst="rect">
            <a:avLst/>
          </a:prstGeom>
          <a:noFill/>
          <a:ln w="12700">
            <a:solidFill>
              <a:srgbClr val="9AA0A6"/>
            </a:solidFill>
            <a:prstDash val="solid"/>
          </a:ln>
        </p:spPr>
        <p:txBody>
          <a:bodyPr wrap="square" lIns="25400" tIns="38100" rIns="38100" bIns="25400" rtlCol="0" anchor="ctr"/>
          <a:lstStyle/>
          <a:p>
            <a:pPr algn="ctr" indent="0" marL="0">
              <a:lnSpc>
                <a:spcPts val="750"/>
              </a:lnSpc>
              <a:buNone/>
            </a:pPr>
            <a:r>
              <a:rPr lang="en-US" sz="600" dirty="0">
                <a:solidFill>
                  <a:srgbClr val="222222"/>
                </a:solidFill>
                <a:latin typeface="Yu Gothic" pitchFamily="34" charset="0"/>
                <a:ea typeface="Yu Gothic" pitchFamily="34" charset="-122"/>
                <a:cs typeface="Yu Gothic" pitchFamily="34" charset="-120"/>
              </a:rPr>
              <a:t>社会インフラ</a:t>
            </a:r>
            <a:endParaRPr lang="en-US" sz="600" dirty="0"/>
          </a:p>
        </p:txBody>
      </p:sp>
      <p:sp>
        <p:nvSpPr>
          <p:cNvPr id="25" name="t1_22"/>
          <p:cNvSpPr txBox="1"/>
          <p:nvPr/>
        </p:nvSpPr>
        <p:spPr>
          <a:xfrm>
            <a:off x="4231481" y="3759200"/>
            <a:ext cx="863600" cy="381000"/>
          </a:xfrm>
          <a:prstGeom prst="rect">
            <a:avLst/>
          </a:prstGeom>
          <a:noFill/>
          <a:ln w="12700">
            <a:solidFill>
              <a:srgbClr val="9AA0A6"/>
            </a:solidFill>
            <a:prstDash val="solid"/>
          </a:ln>
        </p:spPr>
        <p:txBody>
          <a:bodyPr wrap="square" lIns="25400" tIns="38100" rIns="38100" bIns="25400" rtlCol="0" anchor="ctr"/>
          <a:lstStyle/>
          <a:p>
            <a:pPr algn="ctr" indent="0" marL="0">
              <a:lnSpc>
                <a:spcPts val="750"/>
              </a:lnSpc>
              <a:buNone/>
            </a:pPr>
            <a:r>
              <a:rPr lang="en-US" sz="600" dirty="0">
                <a:solidFill>
                  <a:srgbClr val="222222"/>
                </a:solidFill>
                <a:latin typeface="Yu Gothic" pitchFamily="34" charset="0"/>
                <a:ea typeface="Yu Gothic" pitchFamily="34" charset="-122"/>
                <a:cs typeface="Yu Gothic" pitchFamily="34" charset="-120"/>
              </a:rPr>
              <a:t>モビリティ</a:t>
            </a:r>
            <a:endParaRPr lang="en-US" sz="600" dirty="0"/>
          </a:p>
        </p:txBody>
      </p:sp>
      <p:sp>
        <p:nvSpPr>
          <p:cNvPr id="26" name="t1_23"/>
          <p:cNvSpPr txBox="1"/>
          <p:nvPr/>
        </p:nvSpPr>
        <p:spPr>
          <a:xfrm>
            <a:off x="5137150" y="3759200"/>
            <a:ext cx="863600" cy="381000"/>
          </a:xfrm>
          <a:prstGeom prst="rect">
            <a:avLst/>
          </a:prstGeom>
          <a:noFill/>
          <a:ln w="12700">
            <a:solidFill>
              <a:srgbClr val="9AA0A6"/>
            </a:solidFill>
            <a:prstDash val="solid"/>
          </a:ln>
        </p:spPr>
        <p:txBody>
          <a:bodyPr wrap="square" lIns="25400" tIns="38100" rIns="38100" bIns="25400" rtlCol="0" anchor="ctr"/>
          <a:lstStyle/>
          <a:p>
            <a:pPr algn="ctr" indent="0" marL="0">
              <a:lnSpc>
                <a:spcPts val="750"/>
              </a:lnSpc>
              <a:buNone/>
            </a:pPr>
            <a:r>
              <a:rPr lang="en-US" sz="600" dirty="0">
                <a:solidFill>
                  <a:srgbClr val="222222"/>
                </a:solidFill>
                <a:latin typeface="Yu Gothic" pitchFamily="34" charset="0"/>
                <a:ea typeface="Yu Gothic" pitchFamily="34" charset="-122"/>
                <a:cs typeface="Yu Gothic" pitchFamily="34" charset="-120"/>
              </a:rPr>
              <a:t>食品産業</a:t>
            </a:r>
            <a:endParaRPr lang="en-US" sz="600" dirty="0"/>
          </a:p>
        </p:txBody>
      </p:sp>
      <p:sp>
        <p:nvSpPr>
          <p:cNvPr id="27" name="t1_24"/>
          <p:cNvSpPr txBox="1"/>
          <p:nvPr/>
        </p:nvSpPr>
        <p:spPr>
          <a:xfrm>
            <a:off x="6042620" y="3759200"/>
            <a:ext cx="863600" cy="381000"/>
          </a:xfrm>
          <a:prstGeom prst="rect">
            <a:avLst/>
          </a:prstGeom>
          <a:noFill/>
          <a:ln w="12700">
            <a:solidFill>
              <a:srgbClr val="9AA0A6"/>
            </a:solidFill>
            <a:prstDash val="solid"/>
          </a:ln>
        </p:spPr>
        <p:txBody>
          <a:bodyPr wrap="square" lIns="25400" tIns="38100" rIns="38100" bIns="25400" rtlCol="0" anchor="ctr"/>
          <a:lstStyle/>
          <a:p>
            <a:pPr algn="ctr" indent="0" marL="0">
              <a:lnSpc>
                <a:spcPts val="750"/>
              </a:lnSpc>
              <a:buNone/>
            </a:pPr>
            <a:r>
              <a:rPr lang="en-US" sz="600" dirty="0">
                <a:solidFill>
                  <a:srgbClr val="222222"/>
                </a:solidFill>
                <a:latin typeface="Yu Gothic" pitchFamily="34" charset="0"/>
                <a:ea typeface="Yu Gothic" pitchFamily="34" charset="-122"/>
                <a:cs typeface="Yu Gothic" pitchFamily="34" charset="-120"/>
              </a:rPr>
              <a:t>S.L.C.</a:t>
            </a:r>
            <a:endParaRPr lang="en-US" sz="600" dirty="0"/>
          </a:p>
        </p:txBody>
      </p:sp>
      <p:sp>
        <p:nvSpPr>
          <p:cNvPr id="28" name="t1_25"/>
          <p:cNvSpPr txBox="1"/>
          <p:nvPr/>
        </p:nvSpPr>
        <p:spPr>
          <a:xfrm>
            <a:off x="609600" y="4216400"/>
            <a:ext cx="6603492" cy="118070"/>
          </a:xfrm>
          <a:prstGeom prst="rect">
            <a:avLst/>
          </a:prstGeom>
          <a:noFill/>
          <a:ln/>
        </p:spPr>
        <p:txBody>
          <a:bodyPr wrap="none" lIns="0" tIns="0" rIns="0" bIns="0" rtlCol="0" anchor="t"/>
          <a:lstStyle/>
          <a:p>
            <a:pPr algn="l" indent="0" marL="0">
              <a:lnSpc>
                <a:spcPts val="930"/>
              </a:lnSpc>
              <a:buNone/>
            </a:pPr>
            <a:r>
              <a:rPr lang="en-US" sz="620" dirty="0">
                <a:solidFill>
                  <a:srgbClr val="9A5A60"/>
                </a:solidFill>
                <a:latin typeface="Yu Gothic" pitchFamily="34" charset="0"/>
                <a:ea typeface="Yu Gothic" pitchFamily="34" charset="-122"/>
                <a:cs typeface="Yu Gothic" pitchFamily="34" charset="-120"/>
              </a:rPr>
              <a:t>※三綱領と「3つの価値の同時実現」を示す（PwC様レビューNo.3）。グループ構成は三菱商事公式サイトの7グループ（同No.4）。金属資源Gのみ濃色で示し、他は等価に並べる</a:t>
            </a:r>
            <a:endParaRPr lang="en-US" sz="620" dirty="0"/>
          </a:p>
        </p:txBody>
      </p:sp>
      <p:sp>
        <p:nvSpPr>
          <p:cNvPr id="29" name="Shape 24"/>
          <p:cNvSpPr/>
          <p:nvPr/>
        </p:nvSpPr>
        <p:spPr>
          <a:xfrm>
            <a:off x="609600" y="4495800"/>
            <a:ext cx="6337300" cy="0"/>
          </a:xfrm>
          <a:prstGeom prst="line">
            <a:avLst/>
          </a:prstGeom>
          <a:noFill/>
          <a:ln w="12700">
            <a:solidFill>
              <a:srgbClr val="CFD2D5"/>
            </a:solidFill>
            <a:prstDash val="solid"/>
          </a:ln>
        </p:spPr>
      </p:sp>
      <p:sp>
        <p:nvSpPr>
          <p:cNvPr id="30" name="t1_27"/>
          <p:cNvSpPr txBox="1"/>
          <p:nvPr/>
        </p:nvSpPr>
        <p:spPr>
          <a:xfrm>
            <a:off x="609600" y="4622800"/>
            <a:ext cx="6352540" cy="320040"/>
          </a:xfrm>
          <a:prstGeom prst="rect">
            <a:avLst/>
          </a:prstGeom>
          <a:noFill/>
          <a:ln/>
        </p:spPr>
        <p:txBody>
          <a:bodyPr wrap="none" lIns="0" tIns="0" rIns="0" bIns="0" rtlCol="0" anchor="t"/>
          <a:lstStyle/>
          <a:p>
            <a:pPr algn="l" indent="0" marL="0">
              <a:lnSpc>
                <a:spcPts val="2520"/>
              </a:lnSpc>
              <a:buNone/>
            </a:pPr>
            <a:r>
              <a:rPr lang="en-US" sz="1800" spc="80" kern="0" dirty="0">
                <a:solidFill>
                  <a:srgbClr val="222222"/>
                </a:solidFill>
                <a:latin typeface="Yu Gothic" pitchFamily="34" charset="0"/>
                <a:ea typeface="Yu Gothic" pitchFamily="34" charset="-122"/>
                <a:cs typeface="Yu Gothic" pitchFamily="34" charset="-120"/>
              </a:rPr>
              <a:t>金属資源グループの位置付け・役割</a:t>
            </a:r>
            <a:endParaRPr lang="en-US" sz="1800" dirty="0"/>
          </a:p>
        </p:txBody>
      </p:sp>
      <p:sp>
        <p:nvSpPr>
          <p:cNvPr id="31" name="t1_28"/>
          <p:cNvSpPr txBox="1"/>
          <p:nvPr/>
        </p:nvSpPr>
        <p:spPr>
          <a:xfrm>
            <a:off x="609600" y="4978400"/>
            <a:ext cx="6352540" cy="196850"/>
          </a:xfrm>
          <a:prstGeom prst="rect">
            <a:avLst/>
          </a:prstGeom>
          <a:noFill/>
          <a:ln/>
        </p:spPr>
        <p:txBody>
          <a:bodyPr wrap="none" lIns="0" tIns="0" rIns="0" bIns="0" rtlCol="0" anchor="t"/>
          <a:lstStyle/>
          <a:p>
            <a:pPr algn="l" indent="0" marL="0">
              <a:lnSpc>
                <a:spcPts val="1550"/>
              </a:lnSpc>
              <a:buNone/>
            </a:pPr>
            <a:r>
              <a:rPr lang="en-US" sz="1000" spc="30" kern="0" dirty="0">
                <a:solidFill>
                  <a:srgbClr val="444444"/>
                </a:solidFill>
                <a:latin typeface="Yu Gothic" pitchFamily="34" charset="0"/>
                <a:ea typeface="Yu Gothic" pitchFamily="34" charset="-122"/>
                <a:cs typeface="Yu Gothic" pitchFamily="34" charset="-120"/>
              </a:rPr>
              <a:t>三菱商事の中で、金属資源グループが担う位置付けと役割</a:t>
            </a:r>
            <a:endParaRPr lang="en-US" sz="1000" dirty="0"/>
          </a:p>
        </p:txBody>
      </p:sp>
      <p:sp>
        <p:nvSpPr>
          <p:cNvPr id="32" name="t1_29"/>
          <p:cNvSpPr txBox="1"/>
          <p:nvPr/>
        </p:nvSpPr>
        <p:spPr>
          <a:xfrm>
            <a:off x="609600" y="5207000"/>
            <a:ext cx="3050540" cy="519708"/>
          </a:xfrm>
          <a:prstGeom prst="rect">
            <a:avLst/>
          </a:prstGeom>
          <a:noFill/>
          <a:ln/>
        </p:spPr>
        <p:txBody>
          <a:bodyPr wrap="square" lIns="0" tIns="0" rIns="0" bIns="0" rtlCol="0" anchor="t"/>
          <a:lstStyle/>
          <a:p>
            <a:pPr algn="l" indent="0" marL="0">
              <a:lnSpc>
                <a:spcPts val="1365"/>
              </a:lnSpc>
              <a:buNone/>
            </a:pPr>
            <a:r>
              <a:rPr lang="en-US" sz="7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ＸＸＸＸＸＸＸＸＸＸＸＸＸＸＸＸＸＸＸＸＸＸＸＸＸＸＸＸＸＸＸＸＸＸＸＸＸＸＸＸＸＸＸＸＸＸＸＸＸＸＸＸＸＸＸＸＸＸＸＸＸＸＸＸＸＸＸＸＸＸＸＸＸＸＸＸＸＸＸＸ</a:t>
            </a:r>
            <a:endParaRPr lang="en-US" sz="780" dirty="0"/>
          </a:p>
        </p:txBody>
      </p:sp>
      <p:sp>
        <p:nvSpPr>
          <p:cNvPr id="33" name="t1_30"/>
          <p:cNvSpPr txBox="1"/>
          <p:nvPr/>
        </p:nvSpPr>
        <p:spPr>
          <a:xfrm>
            <a:off x="609600" y="5739606"/>
            <a:ext cx="938292" cy="114300"/>
          </a:xfrm>
          <a:prstGeom prst="rect">
            <a:avLst/>
          </a:prstGeom>
          <a:noFill/>
          <a:ln/>
        </p:spPr>
        <p:txBody>
          <a:bodyPr wrap="none" lIns="0" tIns="0" rIns="0" bIns="0" rtlCol="0" anchor="t"/>
          <a:lstStyle/>
          <a:p>
            <a:pPr algn="l" indent="0" marL="0">
              <a:lnSpc>
                <a:spcPts val="754"/>
              </a:lnSpc>
              <a:buNone/>
            </a:pPr>
            <a:r>
              <a:rPr lang="en-US" sz="580" spc="30" kern="0" dirty="0">
                <a:solidFill>
                  <a:srgbClr val="B0B4B8"/>
                </a:solidFill>
                <a:latin typeface="Yu Gothic" pitchFamily="34" charset="0"/>
                <a:ea typeface="Yu Gothic" pitchFamily="34" charset="-122"/>
                <a:cs typeface="Yu Gothic" pitchFamily="34" charset="-120"/>
              </a:rPr>
              <a:t>▸本文 80字／英語 約44語</a:t>
            </a:r>
            <a:endParaRPr lang="en-US" sz="580" dirty="0"/>
          </a:p>
        </p:txBody>
      </p:sp>
      <p:pic>
        <p:nvPicPr>
          <p:cNvPr id="34" name="Image 2" descr="preencoded.png">    </p:cNvPr>
          <p:cNvPicPr>
            <a:picLocks noChangeAspect="1"/>
          </p:cNvPicPr>
          <p:nvPr/>
        </p:nvPicPr>
        <p:blipFill>
          <a:blip r:embed="rId3"/>
          <a:stretch>
            <a:fillRect/>
          </a:stretch>
        </p:blipFill>
        <p:spPr>
          <a:xfrm>
            <a:off x="3784600" y="5130800"/>
            <a:ext cx="1574800" cy="1574800"/>
          </a:xfrm>
          <a:prstGeom prst="rect">
            <a:avLst/>
          </a:prstGeom>
        </p:spPr>
      </p:pic>
      <p:sp>
        <p:nvSpPr>
          <p:cNvPr id="35" name="t1_32"/>
          <p:cNvSpPr txBox="1"/>
          <p:nvPr/>
        </p:nvSpPr>
        <p:spPr>
          <a:xfrm>
            <a:off x="4191000" y="5791200"/>
            <a:ext cx="752348" cy="139700"/>
          </a:xfrm>
          <a:prstGeom prst="rect">
            <a:avLst/>
          </a:prstGeom>
          <a:noFill/>
          <a:ln/>
        </p:spPr>
        <p:txBody>
          <a:bodyPr wrap="none" lIns="0" tIns="0" rIns="0" bIns="0" rtlCol="0" anchor="t"/>
          <a:lstStyle/>
          <a:p>
            <a:pPr algn="ctr" indent="0" marL="0">
              <a:lnSpc>
                <a:spcPts val="962"/>
              </a:lnSpc>
              <a:buNone/>
            </a:pPr>
            <a:r>
              <a:rPr lang="en-US" sz="740" dirty="0">
                <a:solidFill>
                  <a:srgbClr val="222222"/>
                </a:solidFill>
                <a:latin typeface="Yu Gothic" pitchFamily="34" charset="0"/>
                <a:ea typeface="Yu Gothic" pitchFamily="34" charset="-122"/>
                <a:cs typeface="Yu Gothic" pitchFamily="34" charset="-120"/>
              </a:rPr>
              <a:t>約14兆円</a:t>
            </a:r>
            <a:endParaRPr lang="en-US" sz="740" dirty="0"/>
          </a:p>
        </p:txBody>
      </p:sp>
      <p:sp>
        <p:nvSpPr>
          <p:cNvPr id="36" name="t1_33"/>
          <p:cNvSpPr txBox="1"/>
          <p:nvPr/>
        </p:nvSpPr>
        <p:spPr>
          <a:xfrm>
            <a:off x="4191000" y="5943600"/>
            <a:ext cx="752348" cy="101600"/>
          </a:xfrm>
          <a:prstGeom prst="rect">
            <a:avLst/>
          </a:prstGeom>
          <a:noFill/>
          <a:ln/>
        </p:spPr>
        <p:txBody>
          <a:bodyPr wrap="none" lIns="0" tIns="0" rIns="0" bIns="0" rtlCol="0" anchor="t"/>
          <a:lstStyle/>
          <a:p>
            <a:pPr algn="ctr" indent="0" marL="0">
              <a:lnSpc>
                <a:spcPts val="702"/>
              </a:lnSpc>
              <a:buNone/>
            </a:pPr>
            <a:r>
              <a:rPr lang="en-US" sz="540" dirty="0">
                <a:solidFill>
                  <a:srgbClr val="777777"/>
                </a:solidFill>
                <a:latin typeface="Yu Gothic" pitchFamily="34" charset="0"/>
                <a:ea typeface="Yu Gothic" pitchFamily="34" charset="-122"/>
                <a:cs typeface="Yu Gothic" pitchFamily="34" charset="-120"/>
              </a:rPr>
              <a:t>投融資残高</a:t>
            </a:r>
            <a:endParaRPr lang="en-US" sz="540" dirty="0"/>
          </a:p>
        </p:txBody>
      </p:sp>
      <p:sp>
        <p:nvSpPr>
          <p:cNvPr id="37" name="Shape 31"/>
          <p:cNvSpPr/>
          <p:nvPr/>
        </p:nvSpPr>
        <p:spPr>
          <a:xfrm>
            <a:off x="5486400" y="5283200"/>
            <a:ext cx="101600" cy="101600"/>
          </a:xfrm>
          <a:prstGeom prst="rect">
            <a:avLst/>
          </a:prstGeom>
          <a:solidFill>
            <a:srgbClr val="3C4045"/>
          </a:solidFill>
          <a:ln/>
        </p:spPr>
      </p:sp>
      <p:sp>
        <p:nvSpPr>
          <p:cNvPr id="38" name="t1_35"/>
          <p:cNvSpPr txBox="1"/>
          <p:nvPr/>
        </p:nvSpPr>
        <p:spPr>
          <a:xfrm>
            <a:off x="5638800" y="5257800"/>
            <a:ext cx="1465580" cy="127000"/>
          </a:xfrm>
          <a:prstGeom prst="rect">
            <a:avLst/>
          </a:prstGeom>
          <a:noFill/>
          <a:ln/>
        </p:spPr>
        <p:txBody>
          <a:bodyPr wrap="none" lIns="0" tIns="0" rIns="0" bIns="0" rtlCol="0" anchor="t"/>
          <a:lstStyle/>
          <a:p>
            <a:pPr algn="l" indent="0" marL="0">
              <a:lnSpc>
                <a:spcPts val="910"/>
              </a:lnSpc>
              <a:buNone/>
            </a:pPr>
            <a:r>
              <a:rPr lang="en-US" sz="700" b="1" dirty="0">
                <a:solidFill>
                  <a:srgbClr val="222222"/>
                </a:solidFill>
                <a:latin typeface="Yu Gothic" pitchFamily="34" charset="0"/>
                <a:ea typeface="Yu Gothic" pitchFamily="34" charset="-122"/>
                <a:cs typeface="Yu Gothic" pitchFamily="34" charset="-120"/>
              </a:rPr>
              <a:t>金属資源　約20%</a:t>
            </a:r>
            <a:endParaRPr lang="en-US" sz="700" dirty="0"/>
          </a:p>
        </p:txBody>
      </p:sp>
      <p:sp>
        <p:nvSpPr>
          <p:cNvPr id="39" name="Shape 33"/>
          <p:cNvSpPr/>
          <p:nvPr/>
        </p:nvSpPr>
        <p:spPr>
          <a:xfrm>
            <a:off x="5486400" y="5537200"/>
            <a:ext cx="101600" cy="101600"/>
          </a:xfrm>
          <a:prstGeom prst="rect">
            <a:avLst/>
          </a:prstGeom>
          <a:solidFill>
            <a:srgbClr val="B9BEC4"/>
          </a:solidFill>
          <a:ln/>
        </p:spPr>
      </p:sp>
      <p:sp>
        <p:nvSpPr>
          <p:cNvPr id="40" name="t1_37"/>
          <p:cNvSpPr txBox="1"/>
          <p:nvPr/>
        </p:nvSpPr>
        <p:spPr>
          <a:xfrm>
            <a:off x="5638800" y="5511800"/>
            <a:ext cx="1465580" cy="127000"/>
          </a:xfrm>
          <a:prstGeom prst="rect">
            <a:avLst/>
          </a:prstGeom>
          <a:noFill/>
          <a:ln/>
        </p:spPr>
        <p:txBody>
          <a:bodyPr wrap="none" lIns="0" tIns="0" rIns="0" bIns="0" rtlCol="0" anchor="t"/>
          <a:lstStyle/>
          <a:p>
            <a:pPr algn="l" indent="0" marL="0">
              <a:lnSpc>
                <a:spcPts val="910"/>
              </a:lnSpc>
              <a:buNone/>
            </a:pPr>
            <a:r>
              <a:rPr lang="en-US" sz="700" dirty="0">
                <a:solidFill>
                  <a:srgbClr val="555555"/>
                </a:solidFill>
                <a:latin typeface="Yu Gothic" pitchFamily="34" charset="0"/>
                <a:ea typeface="Yu Gothic" pitchFamily="34" charset="-122"/>
                <a:cs typeface="Yu Gothic" pitchFamily="34" charset="-120"/>
              </a:rPr>
              <a:t>食料資源　約10%</a:t>
            </a:r>
            <a:endParaRPr lang="en-US" sz="700" dirty="0"/>
          </a:p>
        </p:txBody>
      </p:sp>
      <p:sp>
        <p:nvSpPr>
          <p:cNvPr id="41" name="Shape 35"/>
          <p:cNvSpPr/>
          <p:nvPr/>
        </p:nvSpPr>
        <p:spPr>
          <a:xfrm>
            <a:off x="5486400" y="5791200"/>
            <a:ext cx="101600" cy="101600"/>
          </a:xfrm>
          <a:prstGeom prst="rect">
            <a:avLst/>
          </a:prstGeom>
          <a:solidFill>
            <a:srgbClr val="A5ABB2"/>
          </a:solidFill>
          <a:ln/>
        </p:spPr>
      </p:sp>
      <p:sp>
        <p:nvSpPr>
          <p:cNvPr id="42" name="t1_39"/>
          <p:cNvSpPr txBox="1"/>
          <p:nvPr/>
        </p:nvSpPr>
        <p:spPr>
          <a:xfrm>
            <a:off x="5638800" y="5765800"/>
            <a:ext cx="1465580" cy="127000"/>
          </a:xfrm>
          <a:prstGeom prst="rect">
            <a:avLst/>
          </a:prstGeom>
          <a:noFill/>
          <a:ln/>
        </p:spPr>
        <p:txBody>
          <a:bodyPr wrap="none" lIns="0" tIns="0" rIns="0" bIns="0" rtlCol="0" anchor="t"/>
          <a:lstStyle/>
          <a:p>
            <a:pPr algn="l" indent="0" marL="0">
              <a:lnSpc>
                <a:spcPts val="910"/>
              </a:lnSpc>
              <a:buNone/>
            </a:pPr>
            <a:r>
              <a:rPr lang="en-US" sz="700" dirty="0">
                <a:solidFill>
                  <a:srgbClr val="555555"/>
                </a:solidFill>
                <a:latin typeface="Yu Gothic" pitchFamily="34" charset="0"/>
                <a:ea typeface="Yu Gothic" pitchFamily="34" charset="-122"/>
                <a:cs typeface="Yu Gothic" pitchFamily="34" charset="-120"/>
              </a:rPr>
              <a:t>C to B VC　約10%</a:t>
            </a:r>
            <a:endParaRPr lang="en-US" sz="700" dirty="0"/>
          </a:p>
        </p:txBody>
      </p:sp>
      <p:sp>
        <p:nvSpPr>
          <p:cNvPr id="43" name="Shape 37"/>
          <p:cNvSpPr/>
          <p:nvPr/>
        </p:nvSpPr>
        <p:spPr>
          <a:xfrm>
            <a:off x="5486400" y="6045200"/>
            <a:ext cx="101600" cy="101600"/>
          </a:xfrm>
          <a:prstGeom prst="rect">
            <a:avLst/>
          </a:prstGeom>
          <a:solidFill>
            <a:srgbClr val="C9CDD2"/>
          </a:solidFill>
          <a:ln/>
        </p:spPr>
      </p:sp>
      <p:sp>
        <p:nvSpPr>
          <p:cNvPr id="44" name="t1_41"/>
          <p:cNvSpPr txBox="1"/>
          <p:nvPr/>
        </p:nvSpPr>
        <p:spPr>
          <a:xfrm>
            <a:off x="5638800" y="6019800"/>
            <a:ext cx="1465580" cy="127000"/>
          </a:xfrm>
          <a:prstGeom prst="rect">
            <a:avLst/>
          </a:prstGeom>
          <a:noFill/>
          <a:ln/>
        </p:spPr>
        <p:txBody>
          <a:bodyPr wrap="none" lIns="0" tIns="0" rIns="0" bIns="0" rtlCol="0" anchor="t"/>
          <a:lstStyle/>
          <a:p>
            <a:pPr algn="l" indent="0" marL="0">
              <a:lnSpc>
                <a:spcPts val="910"/>
              </a:lnSpc>
              <a:buNone/>
            </a:pPr>
            <a:r>
              <a:rPr lang="en-US" sz="700" dirty="0">
                <a:solidFill>
                  <a:srgbClr val="555555"/>
                </a:solidFill>
                <a:latin typeface="Yu Gothic" pitchFamily="34" charset="0"/>
                <a:ea typeface="Yu Gothic" pitchFamily="34" charset="-122"/>
                <a:cs typeface="Yu Gothic" pitchFamily="34" charset="-120"/>
              </a:rPr>
              <a:t>基盤事業　約30%</a:t>
            </a:r>
            <a:endParaRPr lang="en-US" sz="700" dirty="0"/>
          </a:p>
        </p:txBody>
      </p:sp>
      <p:sp>
        <p:nvSpPr>
          <p:cNvPr id="45" name="Shape 39"/>
          <p:cNvSpPr/>
          <p:nvPr/>
        </p:nvSpPr>
        <p:spPr>
          <a:xfrm>
            <a:off x="5486400" y="6299200"/>
            <a:ext cx="101600" cy="101600"/>
          </a:xfrm>
          <a:prstGeom prst="rect">
            <a:avLst/>
          </a:prstGeom>
          <a:solidFill>
            <a:srgbClr val="DCDFE2"/>
          </a:solidFill>
          <a:ln/>
        </p:spPr>
      </p:sp>
      <p:sp>
        <p:nvSpPr>
          <p:cNvPr id="46" name="t1_43"/>
          <p:cNvSpPr txBox="1"/>
          <p:nvPr/>
        </p:nvSpPr>
        <p:spPr>
          <a:xfrm>
            <a:off x="5638800" y="6273800"/>
            <a:ext cx="1465580" cy="127000"/>
          </a:xfrm>
          <a:prstGeom prst="rect">
            <a:avLst/>
          </a:prstGeom>
          <a:noFill/>
          <a:ln/>
        </p:spPr>
        <p:txBody>
          <a:bodyPr wrap="none" lIns="0" tIns="0" rIns="0" bIns="0" rtlCol="0" anchor="t"/>
          <a:lstStyle/>
          <a:p>
            <a:pPr algn="l" indent="0" marL="0">
              <a:lnSpc>
                <a:spcPts val="910"/>
              </a:lnSpc>
              <a:buNone/>
            </a:pPr>
            <a:r>
              <a:rPr lang="en-US" sz="700" dirty="0">
                <a:solidFill>
                  <a:srgbClr val="555555"/>
                </a:solidFill>
                <a:latin typeface="Yu Gothic" pitchFamily="34" charset="0"/>
                <a:ea typeface="Yu Gothic" pitchFamily="34" charset="-122"/>
                <a:cs typeface="Yu Gothic" pitchFamily="34" charset="-120"/>
              </a:rPr>
              <a:t>エネルギーVC　約30%</a:t>
            </a:r>
            <a:endParaRPr lang="en-US" sz="700" dirty="0"/>
          </a:p>
        </p:txBody>
      </p:sp>
      <p:sp>
        <p:nvSpPr>
          <p:cNvPr id="47" name="t1_44"/>
          <p:cNvSpPr txBox="1"/>
          <p:nvPr/>
        </p:nvSpPr>
        <p:spPr>
          <a:xfrm>
            <a:off x="3784600" y="6756400"/>
            <a:ext cx="3301492" cy="101600"/>
          </a:xfrm>
          <a:prstGeom prst="rect">
            <a:avLst/>
          </a:prstGeom>
          <a:noFill/>
          <a:ln/>
        </p:spPr>
        <p:txBody>
          <a:bodyPr wrap="none" lIns="0" tIns="0" rIns="0" bIns="0" rtlCol="0" anchor="t"/>
          <a:lstStyle/>
          <a:p>
            <a:pPr algn="l" indent="0" marL="0">
              <a:lnSpc>
                <a:spcPts val="728"/>
              </a:lnSpc>
              <a:buNone/>
            </a:pPr>
            <a:r>
              <a:rPr lang="en-US" sz="560" dirty="0">
                <a:solidFill>
                  <a:srgbClr val="888888"/>
                </a:solidFill>
                <a:latin typeface="Yu Gothic" pitchFamily="34" charset="0"/>
                <a:ea typeface="Yu Gothic" pitchFamily="34" charset="-122"/>
                <a:cs typeface="Yu Gothic" pitchFamily="34" charset="-120"/>
              </a:rPr>
              <a:t>図の出典・簡略化元：Investor Day P6（ポートフォリオ構成・2026年度見通し）</a:t>
            </a:r>
            <a:endParaRPr lang="en-US" sz="560" dirty="0"/>
          </a:p>
        </p:txBody>
      </p:sp>
      <p:sp>
        <p:nvSpPr>
          <p:cNvPr id="48" name="t1_45"/>
          <p:cNvSpPr txBox="1"/>
          <p:nvPr/>
        </p:nvSpPr>
        <p:spPr>
          <a:xfrm>
            <a:off x="609600" y="6350000"/>
            <a:ext cx="909399" cy="139700"/>
          </a:xfrm>
          <a:prstGeom prst="rect">
            <a:avLst/>
          </a:prstGeom>
          <a:noFill/>
          <a:ln/>
        </p:spPr>
        <p:txBody>
          <a:bodyPr wrap="none" lIns="0" tIns="0" rIns="0" bIns="0" rtlCol="0" anchor="t"/>
          <a:lstStyle/>
          <a:p>
            <a:pPr algn="l" indent="0" marL="0">
              <a:lnSpc>
                <a:spcPts val="988"/>
              </a:lnSpc>
              <a:buNone/>
            </a:pPr>
            <a:r>
              <a:rPr lang="en-US" sz="760" dirty="0">
                <a:solidFill>
                  <a:srgbClr val="222222"/>
                </a:solidFill>
                <a:latin typeface="Yu Gothic" pitchFamily="34" charset="0"/>
                <a:ea typeface="Yu Gothic" pitchFamily="34" charset="-122"/>
                <a:cs typeface="Yu Gothic" pitchFamily="34" charset="-120"/>
              </a:rPr>
              <a:t>グループミッション</a:t>
            </a:r>
            <a:endParaRPr lang="en-US" sz="760" dirty="0"/>
          </a:p>
        </p:txBody>
      </p:sp>
      <p:sp>
        <p:nvSpPr>
          <p:cNvPr id="49" name="t1_46"/>
          <p:cNvSpPr txBox="1"/>
          <p:nvPr/>
        </p:nvSpPr>
        <p:spPr>
          <a:xfrm>
            <a:off x="609600" y="6527800"/>
            <a:ext cx="3050540" cy="333375"/>
          </a:xfrm>
          <a:prstGeom prst="rect">
            <a:avLst/>
          </a:prstGeom>
          <a:noFill/>
          <a:ln/>
        </p:spPr>
        <p:txBody>
          <a:bodyPr wrap="square" lIns="0" tIns="0" rIns="0" bIns="0" rtlCol="0" anchor="t"/>
          <a:lstStyle/>
          <a:p>
            <a:pPr algn="l" indent="0" marL="0">
              <a:lnSpc>
                <a:spcPts val="1312"/>
              </a:lnSpc>
              <a:buNone/>
            </a:pPr>
            <a:r>
              <a:rPr lang="en-US" sz="820" dirty="0">
                <a:solidFill>
                  <a:srgbClr val="222222"/>
                </a:solidFill>
                <a:latin typeface="Yu Gothic" pitchFamily="34" charset="0"/>
                <a:ea typeface="Yu Gothic" pitchFamily="34" charset="-122"/>
                <a:cs typeface="Yu Gothic" pitchFamily="34" charset="-120"/>
              </a:rPr>
              <a:t>「社会が必要とする良質な金属資源を、持続可能な形で安定供給することで、より良い社会の実現に寄与する」</a:t>
            </a:r>
            <a:endParaRPr lang="en-US" sz="820" dirty="0"/>
          </a:p>
        </p:txBody>
      </p:sp>
      <p:sp>
        <p:nvSpPr>
          <p:cNvPr id="50" name="t1_47"/>
          <p:cNvSpPr txBox="1"/>
          <p:nvPr/>
        </p:nvSpPr>
        <p:spPr>
          <a:xfrm>
            <a:off x="609600" y="6959600"/>
            <a:ext cx="6603492" cy="118070"/>
          </a:xfrm>
          <a:prstGeom prst="rect">
            <a:avLst/>
          </a:prstGeom>
          <a:noFill/>
          <a:ln/>
        </p:spPr>
        <p:txBody>
          <a:bodyPr wrap="none" lIns="0" tIns="0" rIns="0" bIns="0" rtlCol="0" anchor="t"/>
          <a:lstStyle/>
          <a:p>
            <a:pPr algn="l" indent="0" marL="0">
              <a:lnSpc>
                <a:spcPts val="930"/>
              </a:lnSpc>
              <a:buNone/>
            </a:pPr>
            <a:r>
              <a:rPr lang="en-US" sz="620" dirty="0">
                <a:solidFill>
                  <a:srgbClr val="9A5A60"/>
                </a:solidFill>
                <a:latin typeface="Yu Gothic" pitchFamily="34" charset="0"/>
                <a:ea typeface="Yu Gothic" pitchFamily="34" charset="-122"/>
                <a:cs typeface="Yu Gothic" pitchFamily="34" charset="-120"/>
              </a:rPr>
              <a:t>※収益面は事実ベースで表示し、誇示する表現は避ける（PwC様レビューNo.4）</a:t>
            </a:r>
            <a:endParaRPr lang="en-US" sz="620" dirty="0"/>
          </a:p>
        </p:txBody>
      </p:sp>
      <p:sp>
        <p:nvSpPr>
          <p:cNvPr id="51" name="t1_48"/>
          <p:cNvSpPr txBox="1"/>
          <p:nvPr/>
        </p:nvSpPr>
        <p:spPr>
          <a:xfrm>
            <a:off x="609600" y="7264400"/>
            <a:ext cx="1069340" cy="190500"/>
          </a:xfrm>
          <a:prstGeom prst="rect">
            <a:avLst/>
          </a:prstGeom>
          <a:noFill/>
          <a:ln/>
        </p:spPr>
        <p:txBody>
          <a:bodyPr wrap="none" lIns="0" tIns="0" rIns="0" bIns="0" rtlCol="0" anchor="t"/>
          <a:lstStyle/>
          <a:p>
            <a:pPr algn="l" indent="0" marL="0">
              <a:lnSpc>
                <a:spcPts val="1300"/>
              </a:lnSpc>
              <a:buNone/>
            </a:pPr>
            <a:r>
              <a:rPr lang="en-US" sz="1000" dirty="0">
                <a:solidFill>
                  <a:srgbClr val="222222"/>
                </a:solidFill>
                <a:latin typeface="Yu Gothic" pitchFamily="34" charset="0"/>
                <a:ea typeface="Yu Gothic" pitchFamily="34" charset="-122"/>
                <a:cs typeface="Yu Gothic" pitchFamily="34" charset="-120"/>
              </a:rPr>
              <a:t>組織図・事業体制</a:t>
            </a:r>
            <a:endParaRPr lang="en-US" sz="1000" dirty="0"/>
          </a:p>
        </p:txBody>
      </p:sp>
      <p:sp>
        <p:nvSpPr>
          <p:cNvPr id="52" name="t1_49"/>
          <p:cNvSpPr txBox="1"/>
          <p:nvPr/>
        </p:nvSpPr>
        <p:spPr>
          <a:xfrm>
            <a:off x="1676400" y="7289800"/>
            <a:ext cx="563364" cy="139700"/>
          </a:xfrm>
          <a:prstGeom prst="rect">
            <a:avLst/>
          </a:prstGeom>
          <a:solidFill>
            <a:srgbClr val="2A6FB0"/>
          </a:solidFill>
          <a:ln/>
        </p:spPr>
        <p:txBody>
          <a:bodyPr wrap="none" lIns="25400" tIns="38100" rIns="38100" bIns="25400" rtlCol="0" anchor="ctr"/>
          <a:lstStyle/>
          <a:p>
            <a:pPr algn="l" indent="0" marL="0">
              <a:buNone/>
            </a:pPr>
            <a:r>
              <a:rPr lang="en-US" sz="620" spc="30" kern="0" dirty="0">
                <a:solidFill>
                  <a:srgbClr val="FFFFFF"/>
                </a:solidFill>
                <a:latin typeface="Yu Gothic" pitchFamily="34" charset="0"/>
                <a:ea typeface="Yu Gothic" pitchFamily="34" charset="-122"/>
                <a:cs typeface="Yu Gothic" pitchFamily="34" charset="-120"/>
              </a:rPr>
              <a:t>改善① 移動</a:t>
            </a:r>
            <a:endParaRPr lang="en-US" sz="620" dirty="0"/>
          </a:p>
        </p:txBody>
      </p:sp>
      <p:sp>
        <p:nvSpPr>
          <p:cNvPr id="53" name="t1_50"/>
          <p:cNvSpPr txBox="1"/>
          <p:nvPr/>
        </p:nvSpPr>
        <p:spPr>
          <a:xfrm>
            <a:off x="609600" y="7467600"/>
            <a:ext cx="2541207" cy="165298"/>
          </a:xfrm>
          <a:prstGeom prst="rect">
            <a:avLst/>
          </a:prstGeom>
          <a:noFill/>
          <a:ln/>
        </p:spPr>
        <p:txBody>
          <a:bodyPr wrap="none" lIns="0" tIns="0" rIns="0" bIns="0" rtlCol="0" anchor="t"/>
          <a:lstStyle/>
          <a:p>
            <a:pPr algn="l" indent="0" marL="0">
              <a:lnSpc>
                <a:spcPts val="1302"/>
              </a:lnSpc>
              <a:buNone/>
            </a:pPr>
            <a:r>
              <a:rPr lang="en-US" sz="840" spc="30" kern="0" dirty="0">
                <a:solidFill>
                  <a:srgbClr val="444444"/>
                </a:solidFill>
                <a:latin typeface="Yu Gothic" pitchFamily="34" charset="0"/>
                <a:ea typeface="Yu Gothic" pitchFamily="34" charset="-122"/>
                <a:cs typeface="Yu Gothic" pitchFamily="34" charset="-120"/>
              </a:rPr>
              <a:t>投資を担う2本部と、トレーディングを担う1本部</a:t>
            </a:r>
            <a:endParaRPr lang="en-US" sz="840" dirty="0"/>
          </a:p>
        </p:txBody>
      </p:sp>
      <p:sp>
        <p:nvSpPr>
          <p:cNvPr id="54" name="t1_51"/>
          <p:cNvSpPr txBox="1"/>
          <p:nvPr/>
        </p:nvSpPr>
        <p:spPr>
          <a:xfrm>
            <a:off x="3022600" y="7696200"/>
            <a:ext cx="1524000" cy="2286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グループCEO</a:t>
            </a:r>
            <a:endParaRPr lang="en-US" sz="740" dirty="0"/>
          </a:p>
        </p:txBody>
      </p:sp>
      <p:sp>
        <p:nvSpPr>
          <p:cNvPr id="55" name="t1_52"/>
          <p:cNvSpPr txBox="1"/>
          <p:nvPr/>
        </p:nvSpPr>
        <p:spPr>
          <a:xfrm>
            <a:off x="5435600" y="7696200"/>
            <a:ext cx="1397000" cy="228600"/>
          </a:xfrm>
          <a:prstGeom prst="rect">
            <a:avLst/>
          </a:prstGeom>
          <a:noFill/>
          <a:ln w="12700">
            <a:solidFill>
              <a:srgbClr val="9AA0A6"/>
            </a:solidFill>
            <a:prstDash val="dash"/>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グループCEOオフィス</a:t>
            </a:r>
            <a:endParaRPr lang="en-US" sz="740" dirty="0"/>
          </a:p>
        </p:txBody>
      </p:sp>
      <p:sp>
        <p:nvSpPr>
          <p:cNvPr id="56" name="Shape 50"/>
          <p:cNvSpPr/>
          <p:nvPr/>
        </p:nvSpPr>
        <p:spPr>
          <a:xfrm>
            <a:off x="3784600" y="7924800"/>
            <a:ext cx="0" cy="101600"/>
          </a:xfrm>
          <a:prstGeom prst="line">
            <a:avLst/>
          </a:prstGeom>
          <a:noFill/>
          <a:ln w="12700">
            <a:solidFill>
              <a:srgbClr val="888888"/>
            </a:solidFill>
            <a:prstDash val="solid"/>
          </a:ln>
        </p:spPr>
      </p:sp>
      <p:sp>
        <p:nvSpPr>
          <p:cNvPr id="57" name="Shape 51"/>
          <p:cNvSpPr/>
          <p:nvPr/>
        </p:nvSpPr>
        <p:spPr>
          <a:xfrm>
            <a:off x="1689100" y="8026400"/>
            <a:ext cx="4318000" cy="0"/>
          </a:xfrm>
          <a:prstGeom prst="line">
            <a:avLst/>
          </a:prstGeom>
          <a:noFill/>
          <a:ln w="12700">
            <a:solidFill>
              <a:srgbClr val="888888"/>
            </a:solidFill>
            <a:prstDash val="solid"/>
          </a:ln>
        </p:spPr>
      </p:sp>
      <p:sp>
        <p:nvSpPr>
          <p:cNvPr id="58" name="Shape 52"/>
          <p:cNvSpPr/>
          <p:nvPr/>
        </p:nvSpPr>
        <p:spPr>
          <a:xfrm>
            <a:off x="1689100" y="8026400"/>
            <a:ext cx="0" cy="101600"/>
          </a:xfrm>
          <a:prstGeom prst="line">
            <a:avLst/>
          </a:prstGeom>
          <a:noFill/>
          <a:ln w="12700">
            <a:solidFill>
              <a:srgbClr val="888888"/>
            </a:solidFill>
            <a:prstDash val="solid"/>
          </a:ln>
        </p:spPr>
      </p:sp>
      <p:sp>
        <p:nvSpPr>
          <p:cNvPr id="59" name="t1_56"/>
          <p:cNvSpPr txBox="1"/>
          <p:nvPr/>
        </p:nvSpPr>
        <p:spPr>
          <a:xfrm>
            <a:off x="736600" y="8128000"/>
            <a:ext cx="1905000" cy="3302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鉄鋼原料本部</a:t>
            </a:r>
            <a:endParaRPr lang="en-US" sz="740" dirty="0"/>
          </a:p>
          <a:p>
            <a:pPr algn="ctr" indent="0" marL="0">
              <a:lnSpc>
                <a:spcPts val="999"/>
              </a:lnSpc>
              <a:buNone/>
            </a:pPr>
            <a:r>
              <a:rPr lang="en-US" sz="580" dirty="0">
                <a:solidFill>
                  <a:srgbClr val="888888"/>
                </a:solidFill>
                <a:latin typeface="Yu Gothic" pitchFamily="34" charset="0"/>
                <a:ea typeface="Yu Gothic" pitchFamily="34" charset="-122"/>
                <a:cs typeface="Yu Gothic" pitchFamily="34" charset="-120"/>
              </a:rPr>
              <a:t>（投資）</a:t>
            </a:r>
            <a:endParaRPr lang="en-US" sz="740" dirty="0"/>
          </a:p>
        </p:txBody>
      </p:sp>
      <p:sp>
        <p:nvSpPr>
          <p:cNvPr id="60" name="Shape 54"/>
          <p:cNvSpPr/>
          <p:nvPr/>
        </p:nvSpPr>
        <p:spPr>
          <a:xfrm>
            <a:off x="3848100" y="8026400"/>
            <a:ext cx="0" cy="101600"/>
          </a:xfrm>
          <a:prstGeom prst="line">
            <a:avLst/>
          </a:prstGeom>
          <a:noFill/>
          <a:ln w="12700">
            <a:solidFill>
              <a:srgbClr val="888888"/>
            </a:solidFill>
            <a:prstDash val="solid"/>
          </a:ln>
        </p:spPr>
      </p:sp>
      <p:sp>
        <p:nvSpPr>
          <p:cNvPr id="61" name="t1_58"/>
          <p:cNvSpPr txBox="1"/>
          <p:nvPr/>
        </p:nvSpPr>
        <p:spPr>
          <a:xfrm>
            <a:off x="2895600" y="8128000"/>
            <a:ext cx="1905000" cy="3302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クリティカルミネラル本部</a:t>
            </a:r>
            <a:endParaRPr lang="en-US" sz="740" dirty="0"/>
          </a:p>
          <a:p>
            <a:pPr algn="ctr" indent="0" marL="0">
              <a:lnSpc>
                <a:spcPts val="999"/>
              </a:lnSpc>
              <a:buNone/>
            </a:pPr>
            <a:r>
              <a:rPr lang="en-US" sz="580" dirty="0">
                <a:solidFill>
                  <a:srgbClr val="888888"/>
                </a:solidFill>
                <a:latin typeface="Yu Gothic" pitchFamily="34" charset="0"/>
                <a:ea typeface="Yu Gothic" pitchFamily="34" charset="-122"/>
                <a:cs typeface="Yu Gothic" pitchFamily="34" charset="-120"/>
              </a:rPr>
              <a:t>（投資）</a:t>
            </a:r>
            <a:endParaRPr lang="en-US" sz="740" dirty="0"/>
          </a:p>
        </p:txBody>
      </p:sp>
      <p:sp>
        <p:nvSpPr>
          <p:cNvPr id="62" name="Shape 56"/>
          <p:cNvSpPr/>
          <p:nvPr/>
        </p:nvSpPr>
        <p:spPr>
          <a:xfrm>
            <a:off x="6007100" y="8026400"/>
            <a:ext cx="0" cy="101600"/>
          </a:xfrm>
          <a:prstGeom prst="line">
            <a:avLst/>
          </a:prstGeom>
          <a:noFill/>
          <a:ln w="12700">
            <a:solidFill>
              <a:srgbClr val="888888"/>
            </a:solidFill>
            <a:prstDash val="solid"/>
          </a:ln>
        </p:spPr>
      </p:sp>
      <p:sp>
        <p:nvSpPr>
          <p:cNvPr id="63" name="t1_60"/>
          <p:cNvSpPr txBox="1"/>
          <p:nvPr/>
        </p:nvSpPr>
        <p:spPr>
          <a:xfrm>
            <a:off x="5054600" y="8128000"/>
            <a:ext cx="1905000" cy="3302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金属資源トレーディング本部</a:t>
            </a:r>
            <a:endParaRPr lang="en-US" sz="740" dirty="0"/>
          </a:p>
          <a:p>
            <a:pPr algn="ctr" indent="0" marL="0">
              <a:lnSpc>
                <a:spcPts val="999"/>
              </a:lnSpc>
              <a:buNone/>
            </a:pPr>
            <a:r>
              <a:rPr lang="en-US" sz="580" dirty="0">
                <a:solidFill>
                  <a:srgbClr val="888888"/>
                </a:solidFill>
                <a:latin typeface="Yu Gothic" pitchFamily="34" charset="0"/>
                <a:ea typeface="Yu Gothic" pitchFamily="34" charset="-122"/>
                <a:cs typeface="Yu Gothic" pitchFamily="34" charset="-120"/>
              </a:rPr>
              <a:t>（トレーディング）</a:t>
            </a:r>
            <a:endParaRPr lang="en-US" sz="740" dirty="0"/>
          </a:p>
        </p:txBody>
      </p:sp>
      <p:sp>
        <p:nvSpPr>
          <p:cNvPr id="64" name="t1_61"/>
          <p:cNvSpPr txBox="1"/>
          <p:nvPr/>
        </p:nvSpPr>
        <p:spPr>
          <a:xfrm>
            <a:off x="609600" y="8585200"/>
            <a:ext cx="567436" cy="127000"/>
          </a:xfrm>
          <a:prstGeom prst="rect">
            <a:avLst/>
          </a:prstGeom>
          <a:noFill/>
          <a:ln/>
        </p:spPr>
        <p:txBody>
          <a:bodyPr wrap="none" lIns="0" tIns="0" rIns="0" bIns="0" rtlCol="0" anchor="t"/>
          <a:lstStyle/>
          <a:p>
            <a:pPr algn="l" indent="0" marL="0">
              <a:lnSpc>
                <a:spcPts val="910"/>
              </a:lnSpc>
              <a:buNone/>
            </a:pPr>
            <a:r>
              <a:rPr lang="en-US" sz="700" dirty="0">
                <a:solidFill>
                  <a:srgbClr val="444444"/>
                </a:solidFill>
                <a:latin typeface="Yu Gothic" pitchFamily="34" charset="0"/>
                <a:ea typeface="Yu Gothic" pitchFamily="34" charset="-122"/>
                <a:cs typeface="Yu Gothic" pitchFamily="34" charset="-120"/>
              </a:rPr>
              <a:t>主要関係会社</a:t>
            </a:r>
            <a:endParaRPr lang="en-US" sz="700" dirty="0"/>
          </a:p>
        </p:txBody>
      </p:sp>
      <p:sp>
        <p:nvSpPr>
          <p:cNvPr id="65" name="t1_62"/>
          <p:cNvSpPr txBox="1"/>
          <p:nvPr/>
        </p:nvSpPr>
        <p:spPr>
          <a:xfrm>
            <a:off x="609600" y="8763000"/>
            <a:ext cx="1193800" cy="3810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MDP</a:t>
            </a:r>
            <a:endParaRPr lang="en-US" sz="740" dirty="0"/>
          </a:p>
          <a:p>
            <a:pPr algn="ctr" indent="0" marL="0">
              <a:lnSpc>
                <a:spcPts val="999"/>
              </a:lnSpc>
              <a:buNone/>
            </a:pPr>
            <a:r>
              <a:rPr lang="en-US" sz="560" dirty="0">
                <a:solidFill>
                  <a:srgbClr val="888888"/>
                </a:solidFill>
                <a:latin typeface="Yu Gothic" pitchFamily="34" charset="0"/>
                <a:ea typeface="Yu Gothic" pitchFamily="34" charset="-122"/>
                <a:cs typeface="Yu Gothic" pitchFamily="34" charset="-120"/>
              </a:rPr>
              <a:t>原料炭</a:t>
            </a:r>
            <a:endParaRPr lang="en-US" sz="740" dirty="0"/>
          </a:p>
        </p:txBody>
      </p:sp>
      <p:sp>
        <p:nvSpPr>
          <p:cNvPr id="66" name="t1_63"/>
          <p:cNvSpPr txBox="1"/>
          <p:nvPr/>
        </p:nvSpPr>
        <p:spPr>
          <a:xfrm>
            <a:off x="1879600" y="8763000"/>
            <a:ext cx="1193800" cy="3810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MCI</a:t>
            </a:r>
            <a:endParaRPr lang="en-US" sz="740" dirty="0"/>
          </a:p>
          <a:p>
            <a:pPr algn="ctr" indent="0" marL="0">
              <a:lnSpc>
                <a:spcPts val="999"/>
              </a:lnSpc>
              <a:buNone/>
            </a:pPr>
            <a:r>
              <a:rPr lang="en-US" sz="560" dirty="0">
                <a:solidFill>
                  <a:srgbClr val="888888"/>
                </a:solidFill>
                <a:latin typeface="Yu Gothic" pitchFamily="34" charset="0"/>
                <a:ea typeface="Yu Gothic" pitchFamily="34" charset="-122"/>
                <a:cs typeface="Yu Gothic" pitchFamily="34" charset="-120"/>
              </a:rPr>
              <a:t>南米の銅・鉄鉱石</a:t>
            </a:r>
            <a:endParaRPr lang="en-US" sz="740" dirty="0"/>
          </a:p>
        </p:txBody>
      </p:sp>
      <p:sp>
        <p:nvSpPr>
          <p:cNvPr id="67" name="t1_64"/>
          <p:cNvSpPr txBox="1"/>
          <p:nvPr/>
        </p:nvSpPr>
        <p:spPr>
          <a:xfrm>
            <a:off x="3149600" y="8763000"/>
            <a:ext cx="1193800" cy="3810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MCIP</a:t>
            </a:r>
            <a:endParaRPr lang="en-US" sz="740" dirty="0"/>
          </a:p>
          <a:p>
            <a:pPr algn="ctr" indent="0" marL="0">
              <a:lnSpc>
                <a:spcPts val="999"/>
              </a:lnSpc>
              <a:buNone/>
            </a:pPr>
            <a:r>
              <a:rPr lang="en-US" sz="560" dirty="0">
                <a:solidFill>
                  <a:srgbClr val="888888"/>
                </a:solidFill>
                <a:latin typeface="Yu Gothic" pitchFamily="34" charset="0"/>
                <a:ea typeface="Yu Gothic" pitchFamily="34" charset="-122"/>
                <a:cs typeface="Yu Gothic" pitchFamily="34" charset="-120"/>
              </a:rPr>
              <a:t>ペルーの銅</a:t>
            </a:r>
            <a:endParaRPr lang="en-US" sz="740" dirty="0"/>
          </a:p>
        </p:txBody>
      </p:sp>
      <p:sp>
        <p:nvSpPr>
          <p:cNvPr id="68" name="t1_65"/>
          <p:cNvSpPr txBox="1"/>
          <p:nvPr/>
        </p:nvSpPr>
        <p:spPr>
          <a:xfrm>
            <a:off x="4419600" y="8763000"/>
            <a:ext cx="1193800" cy="3810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RtM</a:t>
            </a:r>
            <a:endParaRPr lang="en-US" sz="740" dirty="0"/>
          </a:p>
          <a:p>
            <a:pPr algn="ctr" indent="0" marL="0">
              <a:lnSpc>
                <a:spcPts val="999"/>
              </a:lnSpc>
              <a:buNone/>
            </a:pPr>
            <a:r>
              <a:rPr lang="en-US" sz="560" dirty="0">
                <a:solidFill>
                  <a:srgbClr val="888888"/>
                </a:solidFill>
                <a:latin typeface="Yu Gothic" pitchFamily="34" charset="0"/>
                <a:ea typeface="Yu Gothic" pitchFamily="34" charset="-122"/>
                <a:cs typeface="Yu Gothic" pitchFamily="34" charset="-120"/>
              </a:rPr>
              <a:t>トレーディング</a:t>
            </a:r>
            <a:endParaRPr lang="en-US" sz="740" dirty="0"/>
          </a:p>
        </p:txBody>
      </p:sp>
      <p:sp>
        <p:nvSpPr>
          <p:cNvPr id="69" name="t1_66"/>
          <p:cNvSpPr txBox="1"/>
          <p:nvPr/>
        </p:nvSpPr>
        <p:spPr>
          <a:xfrm>
            <a:off x="5689600" y="8763000"/>
            <a:ext cx="1193800" cy="3810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Triland Metals</a:t>
            </a:r>
            <a:endParaRPr lang="en-US" sz="740" dirty="0"/>
          </a:p>
          <a:p>
            <a:pPr algn="ctr" indent="0" marL="0">
              <a:lnSpc>
                <a:spcPts val="999"/>
              </a:lnSpc>
              <a:buNone/>
            </a:pPr>
            <a:r>
              <a:rPr lang="en-US" sz="560" dirty="0">
                <a:solidFill>
                  <a:srgbClr val="888888"/>
                </a:solidFill>
                <a:latin typeface="Yu Gothic" pitchFamily="34" charset="0"/>
                <a:ea typeface="Yu Gothic" pitchFamily="34" charset="-122"/>
                <a:cs typeface="Yu Gothic" pitchFamily="34" charset="-120"/>
              </a:rPr>
              <a:t>金属取引（ブローカー・ヘッジ）</a:t>
            </a:r>
            <a:endParaRPr lang="en-US" sz="740" dirty="0"/>
          </a:p>
        </p:txBody>
      </p:sp>
      <p:sp>
        <p:nvSpPr>
          <p:cNvPr id="70" name="t1_67"/>
          <p:cNvSpPr txBox="1"/>
          <p:nvPr/>
        </p:nvSpPr>
        <p:spPr>
          <a:xfrm>
            <a:off x="609600" y="9245600"/>
            <a:ext cx="6603492" cy="118070"/>
          </a:xfrm>
          <a:prstGeom prst="rect">
            <a:avLst/>
          </a:prstGeom>
          <a:noFill/>
          <a:ln/>
        </p:spPr>
        <p:txBody>
          <a:bodyPr wrap="none" lIns="0" tIns="0" rIns="0" bIns="0" rtlCol="0" anchor="t"/>
          <a:lstStyle/>
          <a:p>
            <a:pPr algn="l" indent="0" marL="0">
              <a:lnSpc>
                <a:spcPts val="930"/>
              </a:lnSpc>
              <a:buNone/>
            </a:pPr>
            <a:r>
              <a:rPr lang="en-US" sz="620" dirty="0">
                <a:solidFill>
                  <a:srgbClr val="9A5A60"/>
                </a:solidFill>
                <a:latin typeface="Yu Gothic" pitchFamily="34" charset="0"/>
                <a:ea typeface="Yu Gothic" pitchFamily="34" charset="-122"/>
                <a:cs typeface="Yu Gothic" pitchFamily="34" charset="-120"/>
              </a:rPr>
              <a:t>※本部長名などの個人名は記載しない（PwC様レビューNo.5）</a:t>
            </a:r>
            <a:endParaRPr lang="en-US" sz="620" dirty="0"/>
          </a:p>
        </p:txBody>
      </p:sp>
      <p:sp>
        <p:nvSpPr>
          <p:cNvPr id="71" name="t1_68"/>
          <p:cNvSpPr txBox="1"/>
          <p:nvPr/>
        </p:nvSpPr>
        <p:spPr>
          <a:xfrm>
            <a:off x="8166100" y="431800"/>
            <a:ext cx="1506030" cy="139700"/>
          </a:xfrm>
          <a:prstGeom prst="rect">
            <a:avLst/>
          </a:prstGeom>
          <a:noFill/>
          <a:ln/>
        </p:spPr>
        <p:txBody>
          <a:bodyPr wrap="none" lIns="0" tIns="0" rIns="0" bIns="0" rtlCol="0" anchor="t"/>
          <a:lstStyle/>
          <a:p>
            <a:pPr algn="l" indent="0" marL="0">
              <a:lnSpc>
                <a:spcPts val="962"/>
              </a:lnSpc>
              <a:buNone/>
            </a:pPr>
            <a:r>
              <a:rPr lang="en-US" sz="740" spc="120" kern="0" dirty="0">
                <a:solidFill>
                  <a:srgbClr val="555555"/>
                </a:solidFill>
                <a:latin typeface="Yu Gothic" pitchFamily="34" charset="0"/>
                <a:ea typeface="Yu Gothic" pitchFamily="34" charset="-122"/>
                <a:cs typeface="Yu Gothic" pitchFamily="34" charset="-120"/>
              </a:rPr>
              <a:t>第1章　WHO｜我々は何者か</a:t>
            </a:r>
            <a:endParaRPr lang="en-US" sz="740" dirty="0"/>
          </a:p>
        </p:txBody>
      </p:sp>
      <p:sp>
        <p:nvSpPr>
          <p:cNvPr id="72" name="t1_69"/>
          <p:cNvSpPr txBox="1"/>
          <p:nvPr/>
        </p:nvSpPr>
        <p:spPr>
          <a:xfrm>
            <a:off x="13627100" y="406400"/>
            <a:ext cx="1014016" cy="177800"/>
          </a:xfrm>
          <a:prstGeom prst="roundRect">
            <a:avLst>
              <a:gd name="adj" fmla="val 257143"/>
            </a:avLst>
          </a:prstGeom>
          <a:noFill/>
          <a:ln w="12700">
            <a:solidFill>
              <a:srgbClr val="AAAAAA"/>
            </a:solidFill>
            <a:prstDash val="solid"/>
          </a:ln>
        </p:spPr>
        <p:txBody>
          <a:bodyPr wrap="square" lIns="25400" tIns="38100" rIns="38100" bIns="25400" rtlCol="0" anchor="t"/>
          <a:lstStyle/>
          <a:p>
            <a:pPr algn="l" indent="0" marL="0">
              <a:lnSpc>
                <a:spcPts val="858"/>
              </a:lnSpc>
              <a:buNone/>
            </a:pPr>
            <a:r>
              <a:rPr lang="en-US" sz="660" spc="50" kern="0" dirty="0">
                <a:solidFill>
                  <a:srgbClr val="777777"/>
                </a:solidFill>
                <a:latin typeface="Yu Gothic" pitchFamily="34" charset="0"/>
                <a:ea typeface="Yu Gothic" pitchFamily="34" charset="-122"/>
                <a:cs typeface="Yu Gothic" pitchFamily="34" charset="-120"/>
              </a:rPr>
              <a:t>読み手の心理：理解</a:t>
            </a:r>
            <a:endParaRPr lang="en-US" sz="660" dirty="0"/>
          </a:p>
        </p:txBody>
      </p:sp>
      <p:sp>
        <p:nvSpPr>
          <p:cNvPr id="73" name="t1_70"/>
          <p:cNvSpPr txBox="1"/>
          <p:nvPr/>
        </p:nvSpPr>
        <p:spPr>
          <a:xfrm>
            <a:off x="8166100" y="762000"/>
            <a:ext cx="6352540" cy="320040"/>
          </a:xfrm>
          <a:prstGeom prst="rect">
            <a:avLst/>
          </a:prstGeom>
          <a:noFill/>
          <a:ln/>
        </p:spPr>
        <p:txBody>
          <a:bodyPr wrap="none" lIns="0" tIns="0" rIns="0" bIns="0" rtlCol="0" anchor="t"/>
          <a:lstStyle/>
          <a:p>
            <a:pPr algn="l" indent="0" marL="0">
              <a:lnSpc>
                <a:spcPts val="2520"/>
              </a:lnSpc>
              <a:buNone/>
            </a:pPr>
            <a:r>
              <a:rPr lang="en-US" sz="1800" spc="80" kern="0" dirty="0">
                <a:solidFill>
                  <a:srgbClr val="222222"/>
                </a:solidFill>
                <a:latin typeface="Yu Gothic" pitchFamily="34" charset="0"/>
                <a:ea typeface="Yu Gothic" pitchFamily="34" charset="-122"/>
                <a:cs typeface="Yu Gothic" pitchFamily="34" charset="-120"/>
              </a:rPr>
              <a:t>金属資源グループの事業と機能の変遷</a:t>
            </a:r>
            <a:endParaRPr lang="en-US" sz="1800" dirty="0"/>
          </a:p>
        </p:txBody>
      </p:sp>
      <p:sp>
        <p:nvSpPr>
          <p:cNvPr id="74" name="t1_71"/>
          <p:cNvSpPr txBox="1"/>
          <p:nvPr/>
        </p:nvSpPr>
        <p:spPr>
          <a:xfrm>
            <a:off x="8166100" y="1117600"/>
            <a:ext cx="6352540" cy="196850"/>
          </a:xfrm>
          <a:prstGeom prst="rect">
            <a:avLst/>
          </a:prstGeom>
          <a:noFill/>
          <a:ln/>
        </p:spPr>
        <p:txBody>
          <a:bodyPr wrap="none" lIns="0" tIns="0" rIns="0" bIns="0" rtlCol="0" anchor="t"/>
          <a:lstStyle/>
          <a:p>
            <a:pPr algn="l" indent="0" marL="0">
              <a:lnSpc>
                <a:spcPts val="1550"/>
              </a:lnSpc>
              <a:buNone/>
            </a:pPr>
            <a:r>
              <a:rPr lang="en-US" sz="1000" spc="30" kern="0" dirty="0">
                <a:solidFill>
                  <a:srgbClr val="444444"/>
                </a:solidFill>
                <a:latin typeface="Yu Gothic" pitchFamily="34" charset="0"/>
                <a:ea typeface="Yu Gothic" pitchFamily="34" charset="-122"/>
                <a:cs typeface="Yu Gothic" pitchFamily="34" charset="-120"/>
              </a:rPr>
              <a:t>時代の変化を先読みし、事業モデルを変革してきた歩み</a:t>
            </a:r>
            <a:endParaRPr lang="en-US" sz="1000" dirty="0"/>
          </a:p>
        </p:txBody>
      </p:sp>
      <p:sp>
        <p:nvSpPr>
          <p:cNvPr id="75" name="t1_72"/>
          <p:cNvSpPr txBox="1"/>
          <p:nvPr/>
        </p:nvSpPr>
        <p:spPr>
          <a:xfrm>
            <a:off x="12357100" y="838200"/>
            <a:ext cx="563364" cy="139700"/>
          </a:xfrm>
          <a:prstGeom prst="rect">
            <a:avLst/>
          </a:prstGeom>
          <a:solidFill>
            <a:srgbClr val="2A6FB0"/>
          </a:solidFill>
          <a:ln/>
        </p:spPr>
        <p:txBody>
          <a:bodyPr wrap="none" lIns="25400" tIns="38100" rIns="38100" bIns="25400" rtlCol="0" anchor="ctr"/>
          <a:lstStyle/>
          <a:p>
            <a:pPr algn="l" indent="0" marL="0">
              <a:buNone/>
            </a:pPr>
            <a:r>
              <a:rPr lang="en-US" sz="620" spc="30" kern="0" dirty="0">
                <a:solidFill>
                  <a:srgbClr val="FFFFFF"/>
                </a:solidFill>
                <a:latin typeface="Yu Gothic" pitchFamily="34" charset="0"/>
                <a:ea typeface="Yu Gothic" pitchFamily="34" charset="-122"/>
                <a:cs typeface="Yu Gothic" pitchFamily="34" charset="-120"/>
              </a:rPr>
              <a:t>改善② 拡大</a:t>
            </a:r>
            <a:endParaRPr lang="en-US" sz="620" dirty="0"/>
          </a:p>
        </p:txBody>
      </p:sp>
      <p:sp>
        <p:nvSpPr>
          <p:cNvPr id="76" name="t1_73"/>
          <p:cNvSpPr txBox="1"/>
          <p:nvPr/>
        </p:nvSpPr>
        <p:spPr>
          <a:xfrm>
            <a:off x="8166100" y="1371600"/>
            <a:ext cx="6603492" cy="173236"/>
          </a:xfrm>
          <a:prstGeom prst="rect">
            <a:avLst/>
          </a:prstGeom>
          <a:noFill/>
          <a:ln/>
        </p:spPr>
        <p:txBody>
          <a:bodyPr wrap="none" lIns="0" tIns="0" rIns="0" bIns="0" rtlCol="0" anchor="t"/>
          <a:lstStyle/>
          <a:p>
            <a:pPr algn="l" indent="0" marL="0">
              <a:lnSpc>
                <a:spcPts val="1365"/>
              </a:lnSpc>
              <a:buNone/>
            </a:pPr>
            <a:r>
              <a:rPr lang="en-US" sz="7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ＸＸＸＸＸＸＸＸＸＸＸＸＸＸＸＸＸＸＸＸＸＸＸＸＸＸＸＸＸＸＸＸＸＸＸＸＸＸＸＸＸＸＸＸＸＸＸＸＸＸＸＸＸＸＸＸＸＸＸＸ</a:t>
            </a:r>
            <a:endParaRPr lang="en-US" sz="780" dirty="0"/>
          </a:p>
        </p:txBody>
      </p:sp>
      <p:sp>
        <p:nvSpPr>
          <p:cNvPr id="77" name="t1_74"/>
          <p:cNvSpPr txBox="1"/>
          <p:nvPr/>
        </p:nvSpPr>
        <p:spPr>
          <a:xfrm>
            <a:off x="8166100" y="1557536"/>
            <a:ext cx="938292" cy="114300"/>
          </a:xfrm>
          <a:prstGeom prst="rect">
            <a:avLst/>
          </a:prstGeom>
          <a:noFill/>
          <a:ln/>
        </p:spPr>
        <p:txBody>
          <a:bodyPr wrap="none" lIns="0" tIns="0" rIns="0" bIns="0" rtlCol="0" anchor="t"/>
          <a:lstStyle/>
          <a:p>
            <a:pPr algn="l" indent="0" marL="0">
              <a:lnSpc>
                <a:spcPts val="754"/>
              </a:lnSpc>
              <a:buNone/>
            </a:pPr>
            <a:r>
              <a:rPr lang="en-US" sz="580" spc="30" kern="0" dirty="0">
                <a:solidFill>
                  <a:srgbClr val="B0B4B8"/>
                </a:solidFill>
                <a:latin typeface="Yu Gothic" pitchFamily="34" charset="0"/>
                <a:ea typeface="Yu Gothic" pitchFamily="34" charset="-122"/>
                <a:cs typeface="Yu Gothic" pitchFamily="34" charset="-120"/>
              </a:rPr>
              <a:t>▸本文 60字／英語 約33語</a:t>
            </a:r>
            <a:endParaRPr lang="en-US" sz="580" dirty="0"/>
          </a:p>
        </p:txBody>
      </p:sp>
      <p:pic>
        <p:nvPicPr>
          <p:cNvPr id="78" name="Image 3" descr="preencoded.png">    </p:cNvPr>
          <p:cNvPicPr>
            <a:picLocks noChangeAspect="1"/>
          </p:cNvPicPr>
          <p:nvPr/>
        </p:nvPicPr>
        <p:blipFill>
          <a:blip r:embed="rId4"/>
          <a:stretch>
            <a:fillRect/>
          </a:stretch>
        </p:blipFill>
        <p:spPr>
          <a:xfrm>
            <a:off x="8166100" y="2108200"/>
            <a:ext cx="6337300" cy="914400"/>
          </a:xfrm>
          <a:prstGeom prst="rect">
            <a:avLst/>
          </a:prstGeom>
        </p:spPr>
      </p:pic>
      <p:sp>
        <p:nvSpPr>
          <p:cNvPr id="79" name="t1_76"/>
          <p:cNvSpPr txBox="1"/>
          <p:nvPr/>
        </p:nvSpPr>
        <p:spPr>
          <a:xfrm>
            <a:off x="12357100" y="1752600"/>
            <a:ext cx="1431322" cy="114300"/>
          </a:xfrm>
          <a:prstGeom prst="rect">
            <a:avLst/>
          </a:prstGeom>
          <a:noFill/>
          <a:ln/>
        </p:spPr>
        <p:txBody>
          <a:bodyPr wrap="none" lIns="0" tIns="0" rIns="0" bIns="0" rtlCol="0" anchor="t"/>
          <a:lstStyle/>
          <a:p>
            <a:pPr algn="l" indent="0" marL="0">
              <a:lnSpc>
                <a:spcPts val="754"/>
              </a:lnSpc>
              <a:buNone/>
            </a:pPr>
            <a:r>
              <a:rPr lang="en-US" sz="580" dirty="0">
                <a:solidFill>
                  <a:srgbClr val="3C4045"/>
                </a:solidFill>
                <a:latin typeface="Yu Gothic" pitchFamily="34" charset="0"/>
                <a:ea typeface="Yu Gothic" pitchFamily="34" charset="-122"/>
                <a:cs typeface="Yu Gothic" pitchFamily="34" charset="-120"/>
              </a:rPr>
              <a:t>━</a:t>
            </a:r>
            <a:pPr algn="l" indent="0" marL="0">
              <a:lnSpc>
                <a:spcPts val="754"/>
              </a:lnSpc>
              <a:buNone/>
            </a:pPr>
            <a:r>
              <a:rPr lang="en-US" sz="580" dirty="0">
                <a:solidFill>
                  <a:srgbClr val="666666"/>
                </a:solidFill>
                <a:latin typeface="Yu Gothic" pitchFamily="34" charset="0"/>
                <a:ea typeface="Yu Gothic" pitchFamily="34" charset="-122"/>
                <a:cs typeface="Yu Gothic" pitchFamily="34" charset="-120"/>
              </a:rPr>
              <a:t> 原料炭価格　</a:t>
            </a:r>
            <a:pPr algn="l" indent="0" marL="0">
              <a:lnSpc>
                <a:spcPts val="754"/>
              </a:lnSpc>
              <a:buNone/>
            </a:pPr>
            <a:r>
              <a:rPr lang="en-US" sz="580" dirty="0">
                <a:solidFill>
                  <a:srgbClr val="B5BAC0"/>
                </a:solidFill>
                <a:latin typeface="Yu Gothic" pitchFamily="34" charset="0"/>
                <a:ea typeface="Yu Gothic" pitchFamily="34" charset="-122"/>
                <a:cs typeface="Yu Gothic" pitchFamily="34" charset="-120"/>
              </a:rPr>
              <a:t>━</a:t>
            </a:r>
            <a:pPr algn="l" indent="0" marL="0">
              <a:lnSpc>
                <a:spcPts val="754"/>
              </a:lnSpc>
              <a:buNone/>
            </a:pPr>
            <a:r>
              <a:rPr lang="en-US" sz="580" dirty="0">
                <a:solidFill>
                  <a:srgbClr val="666666"/>
                </a:solidFill>
                <a:latin typeface="Yu Gothic" pitchFamily="34" charset="0"/>
                <a:ea typeface="Yu Gothic" pitchFamily="34" charset="-122"/>
                <a:cs typeface="Yu Gothic" pitchFamily="34" charset="-120"/>
              </a:rPr>
              <a:t> 銅価格（推移の概形）</a:t>
            </a:r>
            <a:endParaRPr lang="en-US" sz="580" dirty="0"/>
          </a:p>
        </p:txBody>
      </p:sp>
      <p:sp>
        <p:nvSpPr>
          <p:cNvPr id="80" name="t1_77"/>
          <p:cNvSpPr txBox="1"/>
          <p:nvPr/>
        </p:nvSpPr>
        <p:spPr>
          <a:xfrm>
            <a:off x="8259961" y="1930400"/>
            <a:ext cx="858012" cy="184547"/>
          </a:xfrm>
          <a:prstGeom prst="rect">
            <a:avLst/>
          </a:prstGeom>
          <a:noFill/>
          <a:ln/>
        </p:spPr>
        <p:txBody>
          <a:bodyPr wrap="square" lIns="0" tIns="0" rIns="0" bIns="0" rtlCol="0" anchor="t"/>
          <a:lstStyle/>
          <a:p>
            <a:pPr algn="ctr" indent="0" marL="0">
              <a:lnSpc>
                <a:spcPts val="728"/>
              </a:lnSpc>
              <a:buNone/>
            </a:pPr>
            <a:r>
              <a:rPr lang="en-US" sz="560" dirty="0">
                <a:solidFill>
                  <a:srgbClr val="777777"/>
                </a:solidFill>
                <a:latin typeface="Yu Gothic" pitchFamily="34" charset="0"/>
                <a:ea typeface="Yu Gothic" pitchFamily="34" charset="-122"/>
                <a:cs typeface="Yu Gothic" pitchFamily="34" charset="-120"/>
              </a:rPr>
              <a:t>冷戦終結・</a:t>
            </a:r>
            <a:endParaRPr lang="en-US" sz="560" dirty="0"/>
          </a:p>
          <a:p>
            <a:pPr algn="ctr" indent="0" marL="0">
              <a:lnSpc>
                <a:spcPts val="728"/>
              </a:lnSpc>
              <a:buNone/>
            </a:pPr>
            <a:r>
              <a:rPr lang="en-US" sz="560" dirty="0">
                <a:solidFill>
                  <a:srgbClr val="777777"/>
                </a:solidFill>
                <a:latin typeface="Yu Gothic" pitchFamily="34" charset="0"/>
                <a:ea typeface="Yu Gothic" pitchFamily="34" charset="-122"/>
                <a:cs typeface="Yu Gothic" pitchFamily="34" charset="-120"/>
              </a:rPr>
              <a:t>日本が需要牽引</a:t>
            </a:r>
            <a:endParaRPr lang="en-US" sz="560" dirty="0"/>
          </a:p>
        </p:txBody>
      </p:sp>
      <p:sp>
        <p:nvSpPr>
          <p:cNvPr id="81" name="t1_78"/>
          <p:cNvSpPr txBox="1"/>
          <p:nvPr/>
        </p:nvSpPr>
        <p:spPr>
          <a:xfrm>
            <a:off x="9594056" y="1930400"/>
            <a:ext cx="858012" cy="99568"/>
          </a:xfrm>
          <a:prstGeom prst="rect">
            <a:avLst/>
          </a:prstGeom>
          <a:noFill/>
          <a:ln/>
        </p:spPr>
        <p:txBody>
          <a:bodyPr wrap="none" lIns="0" tIns="0" rIns="0" bIns="0" rtlCol="0" anchor="t"/>
          <a:lstStyle/>
          <a:p>
            <a:pPr algn="ctr" indent="0" marL="0">
              <a:lnSpc>
                <a:spcPts val="728"/>
              </a:lnSpc>
              <a:buNone/>
            </a:pPr>
            <a:r>
              <a:rPr lang="en-US" sz="560" dirty="0">
                <a:solidFill>
                  <a:srgbClr val="777777"/>
                </a:solidFill>
                <a:latin typeface="Yu Gothic" pitchFamily="34" charset="0"/>
                <a:ea typeface="Yu Gothic" pitchFamily="34" charset="-122"/>
                <a:cs typeface="Yu Gothic" pitchFamily="34" charset="-120"/>
              </a:rPr>
              <a:t>業界再編</a:t>
            </a:r>
            <a:endParaRPr lang="en-US" sz="560" dirty="0"/>
          </a:p>
        </p:txBody>
      </p:sp>
      <p:sp>
        <p:nvSpPr>
          <p:cNvPr id="82" name="t1_79"/>
          <p:cNvSpPr txBox="1"/>
          <p:nvPr/>
        </p:nvSpPr>
        <p:spPr>
          <a:xfrm>
            <a:off x="10511234" y="1930400"/>
            <a:ext cx="858012" cy="99568"/>
          </a:xfrm>
          <a:prstGeom prst="rect">
            <a:avLst/>
          </a:prstGeom>
          <a:noFill/>
          <a:ln/>
        </p:spPr>
        <p:txBody>
          <a:bodyPr wrap="none" lIns="0" tIns="0" rIns="0" bIns="0" rtlCol="0" anchor="t"/>
          <a:lstStyle/>
          <a:p>
            <a:pPr algn="ctr" indent="0" marL="0">
              <a:lnSpc>
                <a:spcPts val="728"/>
              </a:lnSpc>
              <a:buNone/>
            </a:pPr>
            <a:r>
              <a:rPr lang="en-US" sz="560" dirty="0">
                <a:solidFill>
                  <a:srgbClr val="777777"/>
                </a:solidFill>
                <a:latin typeface="Yu Gothic" pitchFamily="34" charset="0"/>
                <a:ea typeface="Yu Gothic" pitchFamily="34" charset="-122"/>
                <a:cs typeface="Yu Gothic" pitchFamily="34" charset="-120"/>
              </a:rPr>
              <a:t>中国台頭</a:t>
            </a:r>
            <a:endParaRPr lang="en-US" sz="560" dirty="0"/>
          </a:p>
        </p:txBody>
      </p:sp>
      <p:sp>
        <p:nvSpPr>
          <p:cNvPr id="83" name="t1_80"/>
          <p:cNvSpPr txBox="1"/>
          <p:nvPr/>
        </p:nvSpPr>
        <p:spPr>
          <a:xfrm>
            <a:off x="11261725" y="1930400"/>
            <a:ext cx="858012" cy="99568"/>
          </a:xfrm>
          <a:prstGeom prst="rect">
            <a:avLst/>
          </a:prstGeom>
          <a:noFill/>
          <a:ln/>
        </p:spPr>
        <p:txBody>
          <a:bodyPr wrap="none" lIns="0" tIns="0" rIns="0" bIns="0" rtlCol="0" anchor="t"/>
          <a:lstStyle/>
          <a:p>
            <a:pPr algn="ctr" indent="0" marL="0">
              <a:lnSpc>
                <a:spcPts val="728"/>
              </a:lnSpc>
              <a:buNone/>
            </a:pPr>
            <a:r>
              <a:rPr lang="en-US" sz="560" dirty="0">
                <a:solidFill>
                  <a:srgbClr val="777777"/>
                </a:solidFill>
                <a:latin typeface="Yu Gothic" pitchFamily="34" charset="0"/>
                <a:ea typeface="Yu Gothic" pitchFamily="34" charset="-122"/>
                <a:cs typeface="Yu Gothic" pitchFamily="34" charset="-120"/>
              </a:rPr>
              <a:t>世界金融危機</a:t>
            </a:r>
            <a:endParaRPr lang="en-US" sz="560" dirty="0"/>
          </a:p>
        </p:txBody>
      </p:sp>
      <p:sp>
        <p:nvSpPr>
          <p:cNvPr id="84" name="t1_81"/>
          <p:cNvSpPr txBox="1"/>
          <p:nvPr/>
        </p:nvSpPr>
        <p:spPr>
          <a:xfrm>
            <a:off x="12429133" y="1930400"/>
            <a:ext cx="858012" cy="99568"/>
          </a:xfrm>
          <a:prstGeom prst="rect">
            <a:avLst/>
          </a:prstGeom>
          <a:noFill/>
          <a:ln/>
        </p:spPr>
        <p:txBody>
          <a:bodyPr wrap="none" lIns="0" tIns="0" rIns="0" bIns="0" rtlCol="0" anchor="t"/>
          <a:lstStyle/>
          <a:p>
            <a:pPr algn="ctr" indent="0" marL="0">
              <a:lnSpc>
                <a:spcPts val="728"/>
              </a:lnSpc>
              <a:buNone/>
            </a:pPr>
            <a:r>
              <a:rPr lang="en-US" sz="560" dirty="0">
                <a:solidFill>
                  <a:srgbClr val="777777"/>
                </a:solidFill>
                <a:latin typeface="Yu Gothic" pitchFamily="34" charset="0"/>
                <a:ea typeface="Yu Gothic" pitchFamily="34" charset="-122"/>
                <a:cs typeface="Yu Gothic" pitchFamily="34" charset="-120"/>
              </a:rPr>
              <a:t>中国危機</a:t>
            </a:r>
            <a:endParaRPr lang="en-US" sz="560" dirty="0"/>
          </a:p>
        </p:txBody>
      </p:sp>
      <p:sp>
        <p:nvSpPr>
          <p:cNvPr id="85" name="t1_82"/>
          <p:cNvSpPr txBox="1"/>
          <p:nvPr/>
        </p:nvSpPr>
        <p:spPr>
          <a:xfrm>
            <a:off x="13429853" y="1930400"/>
            <a:ext cx="858012" cy="99568"/>
          </a:xfrm>
          <a:prstGeom prst="rect">
            <a:avLst/>
          </a:prstGeom>
          <a:noFill/>
          <a:ln/>
        </p:spPr>
        <p:txBody>
          <a:bodyPr wrap="none" lIns="0" tIns="0" rIns="0" bIns="0" rtlCol="0" anchor="t"/>
          <a:lstStyle/>
          <a:p>
            <a:pPr algn="ctr" indent="0" marL="0">
              <a:lnSpc>
                <a:spcPts val="728"/>
              </a:lnSpc>
              <a:buNone/>
            </a:pPr>
            <a:r>
              <a:rPr lang="en-US" sz="560" dirty="0">
                <a:solidFill>
                  <a:srgbClr val="777777"/>
                </a:solidFill>
                <a:latin typeface="Yu Gothic" pitchFamily="34" charset="0"/>
                <a:ea typeface="Yu Gothic" pitchFamily="34" charset="-122"/>
                <a:cs typeface="Yu Gothic" pitchFamily="34" charset="-120"/>
              </a:rPr>
              <a:t>脱炭素・地政学</a:t>
            </a:r>
            <a:endParaRPr lang="en-US" sz="560" dirty="0"/>
          </a:p>
        </p:txBody>
      </p:sp>
      <p:sp>
        <p:nvSpPr>
          <p:cNvPr id="86" name="Shape 79"/>
          <p:cNvSpPr/>
          <p:nvPr/>
        </p:nvSpPr>
        <p:spPr>
          <a:xfrm>
            <a:off x="8166100" y="3175000"/>
            <a:ext cx="6337300" cy="0"/>
          </a:xfrm>
          <a:prstGeom prst="line">
            <a:avLst/>
          </a:prstGeom>
          <a:noFill/>
          <a:ln w="12700">
            <a:solidFill>
              <a:srgbClr val="3C4045"/>
            </a:solidFill>
            <a:prstDash val="solid"/>
          </a:ln>
        </p:spPr>
      </p:sp>
      <p:sp>
        <p:nvSpPr>
          <p:cNvPr id="87" name="Shape 80"/>
          <p:cNvSpPr/>
          <p:nvPr/>
        </p:nvSpPr>
        <p:spPr>
          <a:xfrm>
            <a:off x="8128000" y="3136900"/>
            <a:ext cx="76200" cy="76200"/>
          </a:xfrm>
          <a:prstGeom prst="ellipse">
            <a:avLst/>
          </a:prstGeom>
          <a:solidFill>
            <a:srgbClr val="3C4045"/>
          </a:solidFill>
          <a:ln/>
        </p:spPr>
      </p:sp>
      <p:sp>
        <p:nvSpPr>
          <p:cNvPr id="88" name="t1_85"/>
          <p:cNvSpPr txBox="1"/>
          <p:nvPr/>
        </p:nvSpPr>
        <p:spPr>
          <a:xfrm>
            <a:off x="8140700" y="3251200"/>
            <a:ext cx="1201420" cy="205581"/>
          </a:xfrm>
          <a:prstGeom prst="rect">
            <a:avLst/>
          </a:prstGeom>
          <a:noFill/>
          <a:ln/>
        </p:spPr>
        <p:txBody>
          <a:bodyPr wrap="square" lIns="0" tIns="0" rIns="0" bIns="0" rtlCol="0" anchor="t"/>
          <a:lstStyle/>
          <a:p>
            <a:pPr algn="l" indent="0" marL="0">
              <a:lnSpc>
                <a:spcPts val="810"/>
              </a:lnSpc>
              <a:buNone/>
            </a:pPr>
            <a:r>
              <a:rPr lang="en-US" sz="600" dirty="0">
                <a:solidFill>
                  <a:srgbClr val="222222"/>
                </a:solidFill>
                <a:latin typeface="Yu Gothic" pitchFamily="34" charset="0"/>
                <a:ea typeface="Yu Gothic" pitchFamily="34" charset="-122"/>
                <a:cs typeface="Yu Gothic" pitchFamily="34" charset="-120"/>
              </a:rPr>
              <a:t>'88 MEL</a:t>
            </a:r>
            <a:endParaRPr lang="en-US" sz="600" dirty="0"/>
          </a:p>
          <a:p>
            <a:pPr algn="l" indent="0" marL="0">
              <a:lnSpc>
                <a:spcPts val="810"/>
              </a:lnSpc>
              <a:buNone/>
            </a:pPr>
            <a:r>
              <a:rPr lang="en-US" sz="600" dirty="0">
                <a:solidFill>
                  <a:srgbClr val="222222"/>
                </a:solidFill>
                <a:latin typeface="Yu Gothic" pitchFamily="34" charset="0"/>
                <a:ea typeface="Yu Gothic" pitchFamily="34" charset="-122"/>
                <a:cs typeface="Yu Gothic" pitchFamily="34" charset="-120"/>
              </a:rPr>
              <a:t>'97 MLP／'99 CMA参画</a:t>
            </a:r>
            <a:endParaRPr lang="en-US" sz="600" dirty="0"/>
          </a:p>
        </p:txBody>
      </p:sp>
      <p:sp>
        <p:nvSpPr>
          <p:cNvPr id="89" name="Shape 82"/>
          <p:cNvSpPr/>
          <p:nvPr/>
        </p:nvSpPr>
        <p:spPr>
          <a:xfrm>
            <a:off x="8794948" y="3136900"/>
            <a:ext cx="76200" cy="76200"/>
          </a:xfrm>
          <a:prstGeom prst="ellipse">
            <a:avLst/>
          </a:prstGeom>
          <a:solidFill>
            <a:srgbClr val="3C4045"/>
          </a:solidFill>
          <a:ln/>
        </p:spPr>
      </p:sp>
      <p:sp>
        <p:nvSpPr>
          <p:cNvPr id="90" name="t1_87"/>
          <p:cNvSpPr txBox="1"/>
          <p:nvPr/>
        </p:nvSpPr>
        <p:spPr>
          <a:xfrm>
            <a:off x="8807648" y="3251200"/>
            <a:ext cx="1201420" cy="106680"/>
          </a:xfrm>
          <a:prstGeom prst="rect">
            <a:avLst/>
          </a:prstGeom>
          <a:noFill/>
          <a:ln/>
        </p:spPr>
        <p:txBody>
          <a:bodyPr wrap="none" lIns="0" tIns="0" rIns="0" bIns="0" rtlCol="0" anchor="t"/>
          <a:lstStyle/>
          <a:p>
            <a:pPr algn="l" indent="0" marL="0">
              <a:lnSpc>
                <a:spcPts val="810"/>
              </a:lnSpc>
              <a:buNone/>
            </a:pPr>
            <a:r>
              <a:rPr lang="en-US" sz="600" dirty="0">
                <a:solidFill>
                  <a:srgbClr val="222222"/>
                </a:solidFill>
                <a:latin typeface="Yu Gothic" pitchFamily="34" charset="0"/>
                <a:ea typeface="Yu Gothic" pitchFamily="34" charset="-122"/>
                <a:cs typeface="Yu Gothic" pitchFamily="34" charset="-120"/>
              </a:rPr>
              <a:t>'92 IOC参画</a:t>
            </a:r>
            <a:endParaRPr lang="en-US" sz="600" dirty="0"/>
          </a:p>
        </p:txBody>
      </p:sp>
      <p:sp>
        <p:nvSpPr>
          <p:cNvPr id="91" name="Shape 84"/>
          <p:cNvSpPr/>
          <p:nvPr/>
        </p:nvSpPr>
        <p:spPr>
          <a:xfrm>
            <a:off x="10129242" y="3136900"/>
            <a:ext cx="76200" cy="76200"/>
          </a:xfrm>
          <a:prstGeom prst="ellipse">
            <a:avLst/>
          </a:prstGeom>
          <a:solidFill>
            <a:srgbClr val="3C4045"/>
          </a:solidFill>
          <a:ln/>
        </p:spPr>
      </p:sp>
      <p:sp>
        <p:nvSpPr>
          <p:cNvPr id="92" name="t1_89"/>
          <p:cNvSpPr txBox="1"/>
          <p:nvPr/>
        </p:nvSpPr>
        <p:spPr>
          <a:xfrm>
            <a:off x="10141942" y="3251200"/>
            <a:ext cx="1201420" cy="106680"/>
          </a:xfrm>
          <a:prstGeom prst="rect">
            <a:avLst/>
          </a:prstGeom>
          <a:noFill/>
          <a:ln/>
        </p:spPr>
        <p:txBody>
          <a:bodyPr wrap="none" lIns="0" tIns="0" rIns="0" bIns="0" rtlCol="0" anchor="t"/>
          <a:lstStyle/>
          <a:p>
            <a:pPr algn="l" indent="0" marL="0">
              <a:lnSpc>
                <a:spcPts val="810"/>
              </a:lnSpc>
              <a:buNone/>
            </a:pPr>
            <a:r>
              <a:rPr lang="en-US" sz="600" dirty="0">
                <a:solidFill>
                  <a:srgbClr val="222222"/>
                </a:solidFill>
                <a:latin typeface="Yu Gothic" pitchFamily="34" charset="0"/>
                <a:ea typeface="Yu Gothic" pitchFamily="34" charset="-122"/>
                <a:cs typeface="Yu Gothic" pitchFamily="34" charset="-120"/>
              </a:rPr>
              <a:t>'00 BMA組成</a:t>
            </a:r>
            <a:endParaRPr lang="en-US" sz="600" dirty="0"/>
          </a:p>
        </p:txBody>
      </p:sp>
      <p:sp>
        <p:nvSpPr>
          <p:cNvPr id="93" name="Shape 86"/>
          <p:cNvSpPr/>
          <p:nvPr/>
        </p:nvSpPr>
        <p:spPr>
          <a:xfrm>
            <a:off x="12046942" y="3136900"/>
            <a:ext cx="76200" cy="76200"/>
          </a:xfrm>
          <a:prstGeom prst="ellipse">
            <a:avLst/>
          </a:prstGeom>
          <a:solidFill>
            <a:srgbClr val="3C4045"/>
          </a:solidFill>
          <a:ln/>
        </p:spPr>
      </p:sp>
      <p:sp>
        <p:nvSpPr>
          <p:cNvPr id="94" name="t1_91"/>
          <p:cNvSpPr txBox="1"/>
          <p:nvPr/>
        </p:nvSpPr>
        <p:spPr>
          <a:xfrm>
            <a:off x="12059642" y="3251200"/>
            <a:ext cx="1201420" cy="205581"/>
          </a:xfrm>
          <a:prstGeom prst="rect">
            <a:avLst/>
          </a:prstGeom>
          <a:noFill/>
          <a:ln/>
        </p:spPr>
        <p:txBody>
          <a:bodyPr wrap="square" lIns="0" tIns="0" rIns="0" bIns="0" rtlCol="0" anchor="t"/>
          <a:lstStyle/>
          <a:p>
            <a:pPr algn="l" indent="0" marL="0">
              <a:lnSpc>
                <a:spcPts val="810"/>
              </a:lnSpc>
              <a:buNone/>
            </a:pPr>
            <a:r>
              <a:rPr lang="en-US" sz="600" dirty="0">
                <a:solidFill>
                  <a:srgbClr val="222222"/>
                </a:solidFill>
                <a:latin typeface="Yu Gothic" pitchFamily="34" charset="0"/>
                <a:ea typeface="Yu Gothic" pitchFamily="34" charset="-122"/>
                <a:cs typeface="Yu Gothic" pitchFamily="34" charset="-120"/>
              </a:rPr>
              <a:t>'11/12 AAQ・AAS参画</a:t>
            </a:r>
            <a:endParaRPr lang="en-US" sz="600" dirty="0"/>
          </a:p>
          <a:p>
            <a:pPr algn="l" indent="0" marL="0">
              <a:lnSpc>
                <a:spcPts val="810"/>
              </a:lnSpc>
              <a:buNone/>
            </a:pPr>
            <a:r>
              <a:rPr lang="en-US" sz="600" dirty="0">
                <a:solidFill>
                  <a:srgbClr val="222222"/>
                </a:solidFill>
                <a:latin typeface="Yu Gothic" pitchFamily="34" charset="0"/>
                <a:ea typeface="Yu Gothic" pitchFamily="34" charset="-122"/>
                <a:cs typeface="Yu Gothic" pitchFamily="34" charset="-120"/>
              </a:rPr>
              <a:t>'12 RtM設立</a:t>
            </a:r>
            <a:endParaRPr lang="en-US" sz="600" dirty="0"/>
          </a:p>
        </p:txBody>
      </p:sp>
      <p:sp>
        <p:nvSpPr>
          <p:cNvPr id="95" name="Shape 88"/>
          <p:cNvSpPr/>
          <p:nvPr/>
        </p:nvSpPr>
        <p:spPr>
          <a:xfrm>
            <a:off x="13131006" y="3136900"/>
            <a:ext cx="76200" cy="76200"/>
          </a:xfrm>
          <a:prstGeom prst="ellipse">
            <a:avLst/>
          </a:prstGeom>
          <a:solidFill>
            <a:srgbClr val="3C4045"/>
          </a:solidFill>
          <a:ln/>
        </p:spPr>
      </p:sp>
      <p:sp>
        <p:nvSpPr>
          <p:cNvPr id="96" name="t1_93"/>
          <p:cNvSpPr txBox="1"/>
          <p:nvPr/>
        </p:nvSpPr>
        <p:spPr>
          <a:xfrm>
            <a:off x="13143706" y="3251200"/>
            <a:ext cx="1201420" cy="106680"/>
          </a:xfrm>
          <a:prstGeom prst="rect">
            <a:avLst/>
          </a:prstGeom>
          <a:noFill/>
          <a:ln/>
        </p:spPr>
        <p:txBody>
          <a:bodyPr wrap="none" lIns="0" tIns="0" rIns="0" bIns="0" rtlCol="0" anchor="t"/>
          <a:lstStyle/>
          <a:p>
            <a:pPr algn="l" indent="0" marL="0">
              <a:lnSpc>
                <a:spcPts val="810"/>
              </a:lnSpc>
              <a:buNone/>
            </a:pPr>
            <a:r>
              <a:rPr lang="en-US" sz="600" dirty="0">
                <a:solidFill>
                  <a:srgbClr val="222222"/>
                </a:solidFill>
                <a:latin typeface="Yu Gothic" pitchFamily="34" charset="0"/>
                <a:ea typeface="Yu Gothic" pitchFamily="34" charset="-122"/>
                <a:cs typeface="Yu Gothic" pitchFamily="34" charset="-120"/>
              </a:rPr>
              <a:t>'18 AAQ買増</a:t>
            </a:r>
            <a:endParaRPr lang="en-US" sz="600" dirty="0"/>
          </a:p>
        </p:txBody>
      </p:sp>
      <p:sp>
        <p:nvSpPr>
          <p:cNvPr id="97" name="Shape 90"/>
          <p:cNvSpPr/>
          <p:nvPr/>
        </p:nvSpPr>
        <p:spPr>
          <a:xfrm>
            <a:off x="8166100" y="3606800"/>
            <a:ext cx="1219200" cy="0"/>
          </a:xfrm>
          <a:prstGeom prst="line">
            <a:avLst/>
          </a:prstGeom>
          <a:noFill/>
          <a:ln w="12700">
            <a:solidFill>
              <a:srgbClr val="3C4045"/>
            </a:solidFill>
            <a:prstDash val="solid"/>
          </a:ln>
        </p:spPr>
      </p:sp>
      <p:sp>
        <p:nvSpPr>
          <p:cNvPr id="98" name="t1_94"/>
          <p:cNvSpPr txBox="1"/>
          <p:nvPr/>
        </p:nvSpPr>
        <p:spPr>
          <a:xfrm>
            <a:off x="8166100" y="3606800"/>
            <a:ext cx="1280668" cy="177800"/>
          </a:xfrm>
          <a:prstGeom prst="rect">
            <a:avLst/>
          </a:prstGeom>
          <a:noFill/>
          <a:ln/>
        </p:spPr>
        <p:txBody>
          <a:bodyPr wrap="square" lIns="0" tIns="0" rIns="0" bIns="0" rtlCol="0" anchor="t"/>
          <a:lstStyle/>
          <a:p>
            <a:pPr algn="l" indent="0" marL="0">
              <a:lnSpc>
                <a:spcPts val="910"/>
              </a:lnSpc>
              <a:buNone/>
            </a:pPr>
            <a:r>
              <a:rPr lang="en-US" sz="700" dirty="0">
                <a:solidFill>
                  <a:srgbClr val="222222"/>
                </a:solidFill>
                <a:latin typeface="Yu Gothic" pitchFamily="34" charset="0"/>
                <a:ea typeface="Yu Gothic" pitchFamily="34" charset="-122"/>
                <a:cs typeface="Yu Gothic" pitchFamily="34" charset="-120"/>
              </a:rPr>
              <a:t>〜1990年代</a:t>
            </a:r>
            <a:endParaRPr lang="en-US" sz="700" dirty="0"/>
          </a:p>
        </p:txBody>
      </p:sp>
      <p:sp>
        <p:nvSpPr>
          <p:cNvPr id="99" name="t1_95"/>
          <p:cNvSpPr txBox="1"/>
          <p:nvPr/>
        </p:nvSpPr>
        <p:spPr>
          <a:xfrm>
            <a:off x="8166100" y="3810000"/>
            <a:ext cx="1254252" cy="235744"/>
          </a:xfrm>
          <a:prstGeom prst="rect">
            <a:avLst/>
          </a:prstGeom>
          <a:noFill/>
          <a:ln/>
        </p:spPr>
        <p:txBody>
          <a:bodyPr wrap="square" lIns="0" tIns="0" rIns="0" bIns="0" rtlCol="0" anchor="t"/>
          <a:lstStyle/>
          <a:p>
            <a:pPr algn="l" indent="0" marL="0">
              <a:lnSpc>
                <a:spcPts val="928"/>
              </a:lnSpc>
              <a:buNone/>
            </a:pPr>
            <a:r>
              <a:rPr lang="en-US" sz="640" dirty="0">
                <a:solidFill>
                  <a:srgbClr val="555555"/>
                </a:solidFill>
                <a:latin typeface="Yu Gothic" pitchFamily="34" charset="0"/>
                <a:ea typeface="Yu Gothic" pitchFamily="34" charset="-122"/>
                <a:cs typeface="Yu Gothic" pitchFamily="34" charset="-120"/>
              </a:rPr>
              <a:t>トレーディングに参入し、少数株主として出資</a:t>
            </a:r>
            <a:endParaRPr lang="en-US" sz="640" dirty="0"/>
          </a:p>
        </p:txBody>
      </p:sp>
      <p:sp>
        <p:nvSpPr>
          <p:cNvPr id="100" name="t1_96"/>
          <p:cNvSpPr txBox="1"/>
          <p:nvPr/>
        </p:nvSpPr>
        <p:spPr>
          <a:xfrm>
            <a:off x="8166100" y="4165600"/>
            <a:ext cx="1254252" cy="213122"/>
          </a:xfrm>
          <a:prstGeom prst="rect">
            <a:avLst/>
          </a:prstGeom>
          <a:noFill/>
          <a:ln/>
        </p:spPr>
        <p:txBody>
          <a:bodyPr wrap="square" lIns="0" tIns="0" rIns="0" bIns="0" rtlCol="0" anchor="t"/>
          <a:lstStyle/>
          <a:p>
            <a:pPr algn="l" indent="0" marL="0">
              <a:lnSpc>
                <a:spcPts val="840"/>
              </a:lnSpc>
              <a:buNone/>
            </a:pPr>
            <a:r>
              <a:rPr lang="en-US" sz="5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a:t>
            </a:r>
            <a:endParaRPr lang="en-US" sz="560" dirty="0"/>
          </a:p>
        </p:txBody>
      </p:sp>
      <p:sp>
        <p:nvSpPr>
          <p:cNvPr id="101" name="Shape 94"/>
          <p:cNvSpPr/>
          <p:nvPr/>
        </p:nvSpPr>
        <p:spPr>
          <a:xfrm>
            <a:off x="9442450" y="3606800"/>
            <a:ext cx="1219200" cy="0"/>
          </a:xfrm>
          <a:prstGeom prst="line">
            <a:avLst/>
          </a:prstGeom>
          <a:noFill/>
          <a:ln w="12700">
            <a:solidFill>
              <a:srgbClr val="3C4045"/>
            </a:solidFill>
            <a:prstDash val="solid"/>
          </a:ln>
        </p:spPr>
      </p:sp>
      <p:sp>
        <p:nvSpPr>
          <p:cNvPr id="102" name="t1_97"/>
          <p:cNvSpPr txBox="1"/>
          <p:nvPr/>
        </p:nvSpPr>
        <p:spPr>
          <a:xfrm>
            <a:off x="9442450" y="3606800"/>
            <a:ext cx="1280668" cy="177800"/>
          </a:xfrm>
          <a:prstGeom prst="rect">
            <a:avLst/>
          </a:prstGeom>
          <a:noFill/>
          <a:ln/>
        </p:spPr>
        <p:txBody>
          <a:bodyPr wrap="square" lIns="0" tIns="0" rIns="0" bIns="0" rtlCol="0" anchor="t"/>
          <a:lstStyle/>
          <a:p>
            <a:pPr algn="l" indent="0" marL="0">
              <a:lnSpc>
                <a:spcPts val="910"/>
              </a:lnSpc>
              <a:buNone/>
            </a:pPr>
            <a:r>
              <a:rPr lang="en-US" sz="700" dirty="0">
                <a:solidFill>
                  <a:srgbClr val="222222"/>
                </a:solidFill>
                <a:latin typeface="Yu Gothic" pitchFamily="34" charset="0"/>
                <a:ea typeface="Yu Gothic" pitchFamily="34" charset="-122"/>
                <a:cs typeface="Yu Gothic" pitchFamily="34" charset="-120"/>
              </a:rPr>
              <a:t>1990年代</a:t>
            </a:r>
            <a:endParaRPr lang="en-US" sz="700" dirty="0"/>
          </a:p>
        </p:txBody>
      </p:sp>
      <p:sp>
        <p:nvSpPr>
          <p:cNvPr id="103" name="t1_98"/>
          <p:cNvSpPr txBox="1"/>
          <p:nvPr/>
        </p:nvSpPr>
        <p:spPr>
          <a:xfrm>
            <a:off x="9442450" y="3810000"/>
            <a:ext cx="1254252" cy="235744"/>
          </a:xfrm>
          <a:prstGeom prst="rect">
            <a:avLst/>
          </a:prstGeom>
          <a:noFill/>
          <a:ln/>
        </p:spPr>
        <p:txBody>
          <a:bodyPr wrap="square" lIns="0" tIns="0" rIns="0" bIns="0" rtlCol="0" anchor="t"/>
          <a:lstStyle/>
          <a:p>
            <a:pPr algn="l" indent="0" marL="0">
              <a:lnSpc>
                <a:spcPts val="928"/>
              </a:lnSpc>
              <a:buNone/>
            </a:pPr>
            <a:r>
              <a:rPr lang="en-US" sz="640" dirty="0">
                <a:solidFill>
                  <a:srgbClr val="555555"/>
                </a:solidFill>
                <a:latin typeface="Yu Gothic" pitchFamily="34" charset="0"/>
                <a:ea typeface="Yu Gothic" pitchFamily="34" charset="-122"/>
                <a:cs typeface="Yu Gothic" pitchFamily="34" charset="-120"/>
              </a:rPr>
              <a:t>口銭モデルから投資モデルへ。JV運営の知見を蓄積</a:t>
            </a:r>
            <a:endParaRPr lang="en-US" sz="640" dirty="0"/>
          </a:p>
        </p:txBody>
      </p:sp>
      <p:sp>
        <p:nvSpPr>
          <p:cNvPr id="104" name="t1_99"/>
          <p:cNvSpPr txBox="1"/>
          <p:nvPr/>
        </p:nvSpPr>
        <p:spPr>
          <a:xfrm>
            <a:off x="9442450" y="4165600"/>
            <a:ext cx="1254252" cy="213122"/>
          </a:xfrm>
          <a:prstGeom prst="rect">
            <a:avLst/>
          </a:prstGeom>
          <a:noFill/>
          <a:ln/>
        </p:spPr>
        <p:txBody>
          <a:bodyPr wrap="square" lIns="0" tIns="0" rIns="0" bIns="0" rtlCol="0" anchor="t"/>
          <a:lstStyle/>
          <a:p>
            <a:pPr algn="l" indent="0" marL="0">
              <a:lnSpc>
                <a:spcPts val="840"/>
              </a:lnSpc>
              <a:buNone/>
            </a:pPr>
            <a:r>
              <a:rPr lang="en-US" sz="5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a:t>
            </a:r>
            <a:endParaRPr lang="en-US" sz="560" dirty="0"/>
          </a:p>
        </p:txBody>
      </p:sp>
      <p:sp>
        <p:nvSpPr>
          <p:cNvPr id="105" name="Shape 98"/>
          <p:cNvSpPr/>
          <p:nvPr/>
        </p:nvSpPr>
        <p:spPr>
          <a:xfrm>
            <a:off x="10718800" y="3606800"/>
            <a:ext cx="1219200" cy="0"/>
          </a:xfrm>
          <a:prstGeom prst="line">
            <a:avLst/>
          </a:prstGeom>
          <a:noFill/>
          <a:ln w="12700">
            <a:solidFill>
              <a:srgbClr val="3C4045"/>
            </a:solidFill>
            <a:prstDash val="solid"/>
          </a:ln>
        </p:spPr>
      </p:sp>
      <p:sp>
        <p:nvSpPr>
          <p:cNvPr id="106" name="t1_100"/>
          <p:cNvSpPr txBox="1"/>
          <p:nvPr/>
        </p:nvSpPr>
        <p:spPr>
          <a:xfrm>
            <a:off x="10718800" y="3606800"/>
            <a:ext cx="1280668" cy="177800"/>
          </a:xfrm>
          <a:prstGeom prst="rect">
            <a:avLst/>
          </a:prstGeom>
          <a:noFill/>
          <a:ln/>
        </p:spPr>
        <p:txBody>
          <a:bodyPr wrap="square" lIns="0" tIns="0" rIns="0" bIns="0" rtlCol="0" anchor="t"/>
          <a:lstStyle/>
          <a:p>
            <a:pPr algn="l" indent="0" marL="0">
              <a:lnSpc>
                <a:spcPts val="910"/>
              </a:lnSpc>
              <a:buNone/>
            </a:pPr>
            <a:r>
              <a:rPr lang="en-US" sz="700" dirty="0">
                <a:solidFill>
                  <a:srgbClr val="222222"/>
                </a:solidFill>
                <a:latin typeface="Yu Gothic" pitchFamily="34" charset="0"/>
                <a:ea typeface="Yu Gothic" pitchFamily="34" charset="-122"/>
                <a:cs typeface="Yu Gothic" pitchFamily="34" charset="-120"/>
              </a:rPr>
              <a:t>2000年代</a:t>
            </a:r>
            <a:endParaRPr lang="en-US" sz="700" dirty="0"/>
          </a:p>
        </p:txBody>
      </p:sp>
      <p:sp>
        <p:nvSpPr>
          <p:cNvPr id="107" name="t1_101"/>
          <p:cNvSpPr txBox="1"/>
          <p:nvPr/>
        </p:nvSpPr>
        <p:spPr>
          <a:xfrm>
            <a:off x="10718800" y="3810000"/>
            <a:ext cx="1254252" cy="235744"/>
          </a:xfrm>
          <a:prstGeom prst="rect">
            <a:avLst/>
          </a:prstGeom>
          <a:noFill/>
          <a:ln/>
        </p:spPr>
        <p:txBody>
          <a:bodyPr wrap="square" lIns="0" tIns="0" rIns="0" bIns="0" rtlCol="0" anchor="t"/>
          <a:lstStyle/>
          <a:p>
            <a:pPr algn="l" indent="0" marL="0">
              <a:lnSpc>
                <a:spcPts val="928"/>
              </a:lnSpc>
              <a:buNone/>
            </a:pPr>
            <a:r>
              <a:rPr lang="en-US" sz="640" dirty="0">
                <a:solidFill>
                  <a:srgbClr val="555555"/>
                </a:solidFill>
                <a:latin typeface="Yu Gothic" pitchFamily="34" charset="0"/>
                <a:ea typeface="Yu Gothic" pitchFamily="34" charset="-122"/>
                <a:cs typeface="Yu Gothic" pitchFamily="34" charset="-120"/>
              </a:rPr>
              <a:t>中国の成長を捉え、事業経営に関与（BHPと50:50）</a:t>
            </a:r>
            <a:endParaRPr lang="en-US" sz="640" dirty="0"/>
          </a:p>
        </p:txBody>
      </p:sp>
      <p:sp>
        <p:nvSpPr>
          <p:cNvPr id="108" name="t1_102"/>
          <p:cNvSpPr txBox="1"/>
          <p:nvPr/>
        </p:nvSpPr>
        <p:spPr>
          <a:xfrm>
            <a:off x="10718800" y="4165600"/>
            <a:ext cx="1254252" cy="213122"/>
          </a:xfrm>
          <a:prstGeom prst="rect">
            <a:avLst/>
          </a:prstGeom>
          <a:noFill/>
          <a:ln/>
        </p:spPr>
        <p:txBody>
          <a:bodyPr wrap="square" lIns="0" tIns="0" rIns="0" bIns="0" rtlCol="0" anchor="t"/>
          <a:lstStyle/>
          <a:p>
            <a:pPr algn="l" indent="0" marL="0">
              <a:lnSpc>
                <a:spcPts val="840"/>
              </a:lnSpc>
              <a:buNone/>
            </a:pPr>
            <a:r>
              <a:rPr lang="en-US" sz="5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a:t>
            </a:r>
            <a:endParaRPr lang="en-US" sz="560" dirty="0"/>
          </a:p>
        </p:txBody>
      </p:sp>
      <p:sp>
        <p:nvSpPr>
          <p:cNvPr id="109" name="Shape 102"/>
          <p:cNvSpPr/>
          <p:nvPr/>
        </p:nvSpPr>
        <p:spPr>
          <a:xfrm>
            <a:off x="11995150" y="3606800"/>
            <a:ext cx="1219200" cy="0"/>
          </a:xfrm>
          <a:prstGeom prst="line">
            <a:avLst/>
          </a:prstGeom>
          <a:noFill/>
          <a:ln w="12700">
            <a:solidFill>
              <a:srgbClr val="3C4045"/>
            </a:solidFill>
            <a:prstDash val="solid"/>
          </a:ln>
        </p:spPr>
      </p:sp>
      <p:sp>
        <p:nvSpPr>
          <p:cNvPr id="110" name="t1_103"/>
          <p:cNvSpPr txBox="1"/>
          <p:nvPr/>
        </p:nvSpPr>
        <p:spPr>
          <a:xfrm>
            <a:off x="11995150" y="3606800"/>
            <a:ext cx="1280668" cy="177800"/>
          </a:xfrm>
          <a:prstGeom prst="rect">
            <a:avLst/>
          </a:prstGeom>
          <a:noFill/>
          <a:ln/>
        </p:spPr>
        <p:txBody>
          <a:bodyPr wrap="square" lIns="0" tIns="0" rIns="0" bIns="0" rtlCol="0" anchor="t"/>
          <a:lstStyle/>
          <a:p>
            <a:pPr algn="l" indent="0" marL="0">
              <a:lnSpc>
                <a:spcPts val="910"/>
              </a:lnSpc>
              <a:buNone/>
            </a:pPr>
            <a:r>
              <a:rPr lang="en-US" sz="700" dirty="0">
                <a:solidFill>
                  <a:srgbClr val="222222"/>
                </a:solidFill>
                <a:latin typeface="Yu Gothic" pitchFamily="34" charset="0"/>
                <a:ea typeface="Yu Gothic" pitchFamily="34" charset="-122"/>
                <a:cs typeface="Yu Gothic" pitchFamily="34" charset="-120"/>
              </a:rPr>
              <a:t>2010年代</a:t>
            </a:r>
            <a:endParaRPr lang="en-US" sz="700" dirty="0"/>
          </a:p>
        </p:txBody>
      </p:sp>
      <p:sp>
        <p:nvSpPr>
          <p:cNvPr id="111" name="t1_104"/>
          <p:cNvSpPr txBox="1"/>
          <p:nvPr/>
        </p:nvSpPr>
        <p:spPr>
          <a:xfrm>
            <a:off x="11995150" y="3810000"/>
            <a:ext cx="1254252" cy="235744"/>
          </a:xfrm>
          <a:prstGeom prst="rect">
            <a:avLst/>
          </a:prstGeom>
          <a:noFill/>
          <a:ln/>
        </p:spPr>
        <p:txBody>
          <a:bodyPr wrap="square" lIns="0" tIns="0" rIns="0" bIns="0" rtlCol="0" anchor="t"/>
          <a:lstStyle/>
          <a:p>
            <a:pPr algn="l" indent="0" marL="0">
              <a:lnSpc>
                <a:spcPts val="928"/>
              </a:lnSpc>
              <a:buNone/>
            </a:pPr>
            <a:r>
              <a:rPr lang="en-US" sz="640" dirty="0">
                <a:solidFill>
                  <a:srgbClr val="555555"/>
                </a:solidFill>
                <a:latin typeface="Yu Gothic" pitchFamily="34" charset="0"/>
                <a:ea typeface="Yu Gothic" pitchFamily="34" charset="-122"/>
                <a:cs typeface="Yu Gothic" pitchFamily="34" charset="-120"/>
              </a:rPr>
              <a:t>原料炭偏重から脱却。共同出資者に留まらず資産価値を最大化</a:t>
            </a:r>
            <a:endParaRPr lang="en-US" sz="640" dirty="0"/>
          </a:p>
        </p:txBody>
      </p:sp>
      <p:sp>
        <p:nvSpPr>
          <p:cNvPr id="112" name="t1_105"/>
          <p:cNvSpPr txBox="1"/>
          <p:nvPr/>
        </p:nvSpPr>
        <p:spPr>
          <a:xfrm>
            <a:off x="11995150" y="4165600"/>
            <a:ext cx="1254252" cy="213122"/>
          </a:xfrm>
          <a:prstGeom prst="rect">
            <a:avLst/>
          </a:prstGeom>
          <a:noFill/>
          <a:ln/>
        </p:spPr>
        <p:txBody>
          <a:bodyPr wrap="square" lIns="0" tIns="0" rIns="0" bIns="0" rtlCol="0" anchor="t"/>
          <a:lstStyle/>
          <a:p>
            <a:pPr algn="l" indent="0" marL="0">
              <a:lnSpc>
                <a:spcPts val="840"/>
              </a:lnSpc>
              <a:buNone/>
            </a:pPr>
            <a:r>
              <a:rPr lang="en-US" sz="5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a:t>
            </a:r>
            <a:endParaRPr lang="en-US" sz="560" dirty="0"/>
          </a:p>
        </p:txBody>
      </p:sp>
      <p:sp>
        <p:nvSpPr>
          <p:cNvPr id="113" name="Shape 106"/>
          <p:cNvSpPr/>
          <p:nvPr/>
        </p:nvSpPr>
        <p:spPr>
          <a:xfrm>
            <a:off x="13271500" y="3606800"/>
            <a:ext cx="1219200" cy="0"/>
          </a:xfrm>
          <a:prstGeom prst="line">
            <a:avLst/>
          </a:prstGeom>
          <a:noFill/>
          <a:ln w="12700">
            <a:solidFill>
              <a:srgbClr val="3C4045"/>
            </a:solidFill>
            <a:prstDash val="solid"/>
          </a:ln>
        </p:spPr>
      </p:sp>
      <p:sp>
        <p:nvSpPr>
          <p:cNvPr id="114" name="t1_106"/>
          <p:cNvSpPr txBox="1"/>
          <p:nvPr/>
        </p:nvSpPr>
        <p:spPr>
          <a:xfrm>
            <a:off x="13271500" y="3606800"/>
            <a:ext cx="1280668" cy="177800"/>
          </a:xfrm>
          <a:prstGeom prst="rect">
            <a:avLst/>
          </a:prstGeom>
          <a:noFill/>
          <a:ln/>
        </p:spPr>
        <p:txBody>
          <a:bodyPr wrap="square" lIns="0" tIns="0" rIns="0" bIns="0" rtlCol="0" anchor="t"/>
          <a:lstStyle/>
          <a:p>
            <a:pPr algn="l" indent="0" marL="0">
              <a:lnSpc>
                <a:spcPts val="910"/>
              </a:lnSpc>
              <a:buNone/>
            </a:pPr>
            <a:r>
              <a:rPr lang="en-US" sz="700" dirty="0">
                <a:solidFill>
                  <a:srgbClr val="222222"/>
                </a:solidFill>
                <a:latin typeface="Yu Gothic" pitchFamily="34" charset="0"/>
                <a:ea typeface="Yu Gothic" pitchFamily="34" charset="-122"/>
                <a:cs typeface="Yu Gothic" pitchFamily="34" charset="-120"/>
              </a:rPr>
              <a:t>2020年代〜</a:t>
            </a:r>
            <a:endParaRPr lang="en-US" sz="700" dirty="0"/>
          </a:p>
        </p:txBody>
      </p:sp>
      <p:sp>
        <p:nvSpPr>
          <p:cNvPr id="115" name="t1_107"/>
          <p:cNvSpPr txBox="1"/>
          <p:nvPr/>
        </p:nvSpPr>
        <p:spPr>
          <a:xfrm>
            <a:off x="13271500" y="3810000"/>
            <a:ext cx="1254252" cy="235744"/>
          </a:xfrm>
          <a:prstGeom prst="rect">
            <a:avLst/>
          </a:prstGeom>
          <a:noFill/>
          <a:ln/>
        </p:spPr>
        <p:txBody>
          <a:bodyPr wrap="square" lIns="0" tIns="0" rIns="0" bIns="0" rtlCol="0" anchor="t"/>
          <a:lstStyle/>
          <a:p>
            <a:pPr algn="l" indent="0" marL="0">
              <a:lnSpc>
                <a:spcPts val="928"/>
              </a:lnSpc>
              <a:buNone/>
            </a:pPr>
            <a:r>
              <a:rPr lang="en-US" sz="640" dirty="0">
                <a:solidFill>
                  <a:srgbClr val="555555"/>
                </a:solidFill>
                <a:latin typeface="Yu Gothic" pitchFamily="34" charset="0"/>
                <a:ea typeface="Yu Gothic" pitchFamily="34" charset="-122"/>
                <a:cs typeface="Yu Gothic" pitchFamily="34" charset="-120"/>
              </a:rPr>
              <a:t>地域特化から、グローバルなトレーダーへ</a:t>
            </a:r>
            <a:endParaRPr lang="en-US" sz="640" dirty="0"/>
          </a:p>
        </p:txBody>
      </p:sp>
      <p:sp>
        <p:nvSpPr>
          <p:cNvPr id="116" name="t1_108"/>
          <p:cNvSpPr txBox="1"/>
          <p:nvPr/>
        </p:nvSpPr>
        <p:spPr>
          <a:xfrm>
            <a:off x="13271500" y="4165600"/>
            <a:ext cx="1254252" cy="213122"/>
          </a:xfrm>
          <a:prstGeom prst="rect">
            <a:avLst/>
          </a:prstGeom>
          <a:noFill/>
          <a:ln/>
        </p:spPr>
        <p:txBody>
          <a:bodyPr wrap="square" lIns="0" tIns="0" rIns="0" bIns="0" rtlCol="0" anchor="t"/>
          <a:lstStyle/>
          <a:p>
            <a:pPr algn="l" indent="0" marL="0">
              <a:lnSpc>
                <a:spcPts val="840"/>
              </a:lnSpc>
              <a:buNone/>
            </a:pPr>
            <a:r>
              <a:rPr lang="en-US" sz="5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a:t>
            </a:r>
            <a:endParaRPr lang="en-US" sz="560" dirty="0"/>
          </a:p>
        </p:txBody>
      </p:sp>
      <p:sp>
        <p:nvSpPr>
          <p:cNvPr id="117" name="t1_109"/>
          <p:cNvSpPr txBox="1"/>
          <p:nvPr/>
        </p:nvSpPr>
        <p:spPr>
          <a:xfrm>
            <a:off x="8166100" y="4521200"/>
            <a:ext cx="6603492" cy="101600"/>
          </a:xfrm>
          <a:prstGeom prst="rect">
            <a:avLst/>
          </a:prstGeom>
          <a:noFill/>
          <a:ln/>
        </p:spPr>
        <p:txBody>
          <a:bodyPr wrap="none" lIns="0" tIns="0" rIns="0" bIns="0" rtlCol="0" anchor="t"/>
          <a:lstStyle/>
          <a:p>
            <a:pPr algn="l" indent="0" marL="0">
              <a:lnSpc>
                <a:spcPts val="728"/>
              </a:lnSpc>
              <a:buNone/>
            </a:pPr>
            <a:r>
              <a:rPr lang="en-US" sz="560" dirty="0">
                <a:solidFill>
                  <a:srgbClr val="888888"/>
                </a:solidFill>
                <a:latin typeface="Yu Gothic" pitchFamily="34" charset="0"/>
                <a:ea typeface="Yu Gothic" pitchFamily="34" charset="-122"/>
                <a:cs typeface="Yu Gothic" pitchFamily="34" charset="-120"/>
              </a:rPr>
              <a:t>図の出典・簡略化元：金属資源G_P30（主要金属資源権益の参画経緯）。価格推移は概形、案件・思惑は要点のみ抜粋</a:t>
            </a:r>
            <a:endParaRPr lang="en-US" sz="560" dirty="0"/>
          </a:p>
        </p:txBody>
      </p:sp>
      <p:sp>
        <p:nvSpPr>
          <p:cNvPr id="118" name="t1_110"/>
          <p:cNvSpPr txBox="1"/>
          <p:nvPr/>
        </p:nvSpPr>
        <p:spPr>
          <a:xfrm>
            <a:off x="8166100" y="4648200"/>
            <a:ext cx="6603492" cy="118070"/>
          </a:xfrm>
          <a:prstGeom prst="rect">
            <a:avLst/>
          </a:prstGeom>
          <a:noFill/>
          <a:ln/>
        </p:spPr>
        <p:txBody>
          <a:bodyPr wrap="none" lIns="0" tIns="0" rIns="0" bIns="0" rtlCol="0" anchor="t"/>
          <a:lstStyle/>
          <a:p>
            <a:pPr algn="l" indent="0" marL="0">
              <a:lnSpc>
                <a:spcPts val="930"/>
              </a:lnSpc>
              <a:buNone/>
            </a:pPr>
            <a:r>
              <a:rPr lang="en-US" sz="620" dirty="0">
                <a:solidFill>
                  <a:srgbClr val="9A5A60"/>
                </a:solidFill>
                <a:latin typeface="Yu Gothic" pitchFamily="34" charset="0"/>
                <a:ea typeface="Yu Gothic" pitchFamily="34" charset="-122"/>
                <a:cs typeface="Yu Gothic" pitchFamily="34" charset="-120"/>
              </a:rPr>
              <a:t>※案件の詳細には立ち入らず、一級資産への早期参画を「先見性」として前向きに表現（PwC様レビューNo.6）</a:t>
            </a:r>
            <a:endParaRPr lang="en-US" sz="620" dirty="0"/>
          </a:p>
        </p:txBody>
      </p:sp>
      <p:sp>
        <p:nvSpPr>
          <p:cNvPr id="119" name="Shape 112"/>
          <p:cNvSpPr/>
          <p:nvPr/>
        </p:nvSpPr>
        <p:spPr>
          <a:xfrm>
            <a:off x="8166100" y="4851400"/>
            <a:ext cx="6337300" cy="0"/>
          </a:xfrm>
          <a:prstGeom prst="line">
            <a:avLst/>
          </a:prstGeom>
          <a:noFill/>
          <a:ln w="12700">
            <a:solidFill>
              <a:srgbClr val="CFD2D5"/>
            </a:solidFill>
            <a:prstDash val="solid"/>
          </a:ln>
        </p:spPr>
      </p:sp>
      <p:sp>
        <p:nvSpPr>
          <p:cNvPr id="120" name="t1_112"/>
          <p:cNvSpPr txBox="1"/>
          <p:nvPr/>
        </p:nvSpPr>
        <p:spPr>
          <a:xfrm>
            <a:off x="8166100" y="4927600"/>
            <a:ext cx="6352540" cy="320040"/>
          </a:xfrm>
          <a:prstGeom prst="rect">
            <a:avLst/>
          </a:prstGeom>
          <a:noFill/>
          <a:ln/>
        </p:spPr>
        <p:txBody>
          <a:bodyPr wrap="none" lIns="0" tIns="0" rIns="0" bIns="0" rtlCol="0" anchor="t"/>
          <a:lstStyle/>
          <a:p>
            <a:pPr algn="l" indent="0" marL="0">
              <a:lnSpc>
                <a:spcPts val="2520"/>
              </a:lnSpc>
              <a:buNone/>
            </a:pPr>
            <a:r>
              <a:rPr lang="en-US" sz="1800" spc="80" kern="0" dirty="0">
                <a:solidFill>
                  <a:srgbClr val="222222"/>
                </a:solidFill>
                <a:latin typeface="Yu Gothic" pitchFamily="34" charset="0"/>
                <a:ea typeface="Yu Gothic" pitchFamily="34" charset="-122"/>
                <a:cs typeface="Yu Gothic" pitchFamily="34" charset="-120"/>
              </a:rPr>
              <a:t>バリューチェーン全体像</a:t>
            </a:r>
            <a:endParaRPr lang="en-US" sz="1800" dirty="0"/>
          </a:p>
        </p:txBody>
      </p:sp>
      <p:sp>
        <p:nvSpPr>
          <p:cNvPr id="121" name="t1_113"/>
          <p:cNvSpPr txBox="1"/>
          <p:nvPr/>
        </p:nvSpPr>
        <p:spPr>
          <a:xfrm>
            <a:off x="8166100" y="5283200"/>
            <a:ext cx="6352540" cy="196850"/>
          </a:xfrm>
          <a:prstGeom prst="rect">
            <a:avLst/>
          </a:prstGeom>
          <a:noFill/>
          <a:ln/>
        </p:spPr>
        <p:txBody>
          <a:bodyPr wrap="none" lIns="0" tIns="0" rIns="0" bIns="0" rtlCol="0" anchor="t"/>
          <a:lstStyle/>
          <a:p>
            <a:pPr algn="l" indent="0" marL="0">
              <a:lnSpc>
                <a:spcPts val="1550"/>
              </a:lnSpc>
              <a:buNone/>
            </a:pPr>
            <a:r>
              <a:rPr lang="en-US" sz="1000" spc="30" kern="0" dirty="0">
                <a:solidFill>
                  <a:srgbClr val="444444"/>
                </a:solidFill>
                <a:latin typeface="Yu Gothic" pitchFamily="34" charset="0"/>
                <a:ea typeface="Yu Gothic" pitchFamily="34" charset="-122"/>
                <a:cs typeface="Yu Gothic" pitchFamily="34" charset="-120"/>
              </a:rPr>
              <a:t>投資と販売の両輪で、川上から川下までに関わる</a:t>
            </a:r>
            <a:endParaRPr lang="en-US" sz="1000" dirty="0"/>
          </a:p>
        </p:txBody>
      </p:sp>
      <p:sp>
        <p:nvSpPr>
          <p:cNvPr id="122" name="t1_114"/>
          <p:cNvSpPr txBox="1"/>
          <p:nvPr/>
        </p:nvSpPr>
        <p:spPr>
          <a:xfrm>
            <a:off x="8166100" y="5486400"/>
            <a:ext cx="1270000" cy="203200"/>
          </a:xfrm>
          <a:prstGeom prst="rect">
            <a:avLst/>
          </a:prstGeom>
          <a:solidFill>
            <a:srgbClr val="3C4045"/>
          </a:solidFill>
          <a:ln/>
        </p:spPr>
        <p:txBody>
          <a:bodyPr wrap="none" lIns="25400" tIns="38100" rIns="38100" bIns="25400" rtlCol="0" anchor="ctr"/>
          <a:lstStyle/>
          <a:p>
            <a:pPr algn="ctr" indent="0" marL="0">
              <a:buNone/>
            </a:pPr>
            <a:r>
              <a:rPr lang="en-US" sz="700" dirty="0">
                <a:solidFill>
                  <a:srgbClr val="FFFFFF"/>
                </a:solidFill>
                <a:latin typeface="Yu Gothic" pitchFamily="34" charset="0"/>
                <a:ea typeface="Yu Gothic" pitchFamily="34" charset="-122"/>
                <a:cs typeface="Yu Gothic" pitchFamily="34" charset="-120"/>
              </a:rPr>
              <a:t>鉱山</a:t>
            </a:r>
            <a:endParaRPr lang="en-US" sz="700" dirty="0"/>
          </a:p>
        </p:txBody>
      </p:sp>
      <p:sp>
        <p:nvSpPr>
          <p:cNvPr id="123" name="t1_115"/>
          <p:cNvSpPr txBox="1"/>
          <p:nvPr/>
        </p:nvSpPr>
        <p:spPr>
          <a:xfrm>
            <a:off x="9486900" y="5486400"/>
            <a:ext cx="812800" cy="203200"/>
          </a:xfrm>
          <a:prstGeom prst="rect">
            <a:avLst/>
          </a:prstGeom>
          <a:solidFill>
            <a:srgbClr val="8A9096"/>
          </a:solidFill>
          <a:ln/>
        </p:spPr>
        <p:txBody>
          <a:bodyPr wrap="none" lIns="25400" tIns="38100" rIns="38100" bIns="25400" rtlCol="0" anchor="ctr"/>
          <a:lstStyle/>
          <a:p>
            <a:pPr algn="ctr" indent="0" marL="0">
              <a:buNone/>
            </a:pPr>
            <a:r>
              <a:rPr lang="en-US" sz="700" dirty="0">
                <a:solidFill>
                  <a:srgbClr val="FFFFFF"/>
                </a:solidFill>
                <a:latin typeface="Yu Gothic" pitchFamily="34" charset="0"/>
                <a:ea typeface="Yu Gothic" pitchFamily="34" charset="-122"/>
                <a:cs typeface="Yu Gothic" pitchFamily="34" charset="-120"/>
              </a:rPr>
              <a:t>トレーディング</a:t>
            </a:r>
            <a:endParaRPr lang="en-US" sz="700" dirty="0"/>
          </a:p>
        </p:txBody>
      </p:sp>
      <p:sp>
        <p:nvSpPr>
          <p:cNvPr id="124" name="t1_116"/>
          <p:cNvSpPr txBox="1"/>
          <p:nvPr/>
        </p:nvSpPr>
        <p:spPr>
          <a:xfrm>
            <a:off x="10350500" y="5486400"/>
            <a:ext cx="1397000" cy="203200"/>
          </a:xfrm>
          <a:prstGeom prst="rect">
            <a:avLst/>
          </a:prstGeom>
          <a:solidFill>
            <a:srgbClr val="3C4045"/>
          </a:solidFill>
          <a:ln/>
        </p:spPr>
        <p:txBody>
          <a:bodyPr wrap="none" lIns="25400" tIns="38100" rIns="38100" bIns="25400" rtlCol="0" anchor="ctr"/>
          <a:lstStyle/>
          <a:p>
            <a:pPr algn="ctr" indent="0" marL="0">
              <a:buNone/>
            </a:pPr>
            <a:r>
              <a:rPr lang="en-US" sz="700" dirty="0">
                <a:solidFill>
                  <a:srgbClr val="FFFFFF"/>
                </a:solidFill>
                <a:latin typeface="Yu Gothic" pitchFamily="34" charset="0"/>
                <a:ea typeface="Yu Gothic" pitchFamily="34" charset="-122"/>
                <a:cs typeface="Yu Gothic" pitchFamily="34" charset="-120"/>
              </a:rPr>
              <a:t>製鉄／製錬</a:t>
            </a:r>
            <a:endParaRPr lang="en-US" sz="700" dirty="0"/>
          </a:p>
        </p:txBody>
      </p:sp>
      <p:sp>
        <p:nvSpPr>
          <p:cNvPr id="125" name="t1_117"/>
          <p:cNvSpPr txBox="1"/>
          <p:nvPr/>
        </p:nvSpPr>
        <p:spPr>
          <a:xfrm>
            <a:off x="11798300" y="5486400"/>
            <a:ext cx="812800" cy="203200"/>
          </a:xfrm>
          <a:prstGeom prst="rect">
            <a:avLst/>
          </a:prstGeom>
          <a:solidFill>
            <a:srgbClr val="8A9096"/>
          </a:solidFill>
          <a:ln/>
        </p:spPr>
        <p:txBody>
          <a:bodyPr wrap="none" lIns="25400" tIns="38100" rIns="38100" bIns="25400" rtlCol="0" anchor="ctr"/>
          <a:lstStyle/>
          <a:p>
            <a:pPr algn="ctr" indent="0" marL="0">
              <a:buNone/>
            </a:pPr>
            <a:r>
              <a:rPr lang="en-US" sz="700" dirty="0">
                <a:solidFill>
                  <a:srgbClr val="FFFFFF"/>
                </a:solidFill>
                <a:latin typeface="Yu Gothic" pitchFamily="34" charset="0"/>
                <a:ea typeface="Yu Gothic" pitchFamily="34" charset="-122"/>
                <a:cs typeface="Yu Gothic" pitchFamily="34" charset="-120"/>
              </a:rPr>
              <a:t>トレーディング</a:t>
            </a:r>
            <a:endParaRPr lang="en-US" sz="700" dirty="0"/>
          </a:p>
        </p:txBody>
      </p:sp>
      <p:sp>
        <p:nvSpPr>
          <p:cNvPr id="126" name="t1_118"/>
          <p:cNvSpPr txBox="1"/>
          <p:nvPr/>
        </p:nvSpPr>
        <p:spPr>
          <a:xfrm>
            <a:off x="12661900" y="5486400"/>
            <a:ext cx="1841500" cy="203200"/>
          </a:xfrm>
          <a:prstGeom prst="rect">
            <a:avLst/>
          </a:prstGeom>
          <a:solidFill>
            <a:srgbClr val="3C4045"/>
          </a:solidFill>
          <a:ln/>
        </p:spPr>
        <p:txBody>
          <a:bodyPr wrap="none" lIns="25400" tIns="38100" rIns="38100" bIns="25400" rtlCol="0" anchor="ctr"/>
          <a:lstStyle/>
          <a:p>
            <a:pPr algn="ctr" indent="0" marL="0">
              <a:buNone/>
            </a:pPr>
            <a:r>
              <a:rPr lang="en-US" sz="700" dirty="0">
                <a:solidFill>
                  <a:srgbClr val="FFFFFF"/>
                </a:solidFill>
                <a:latin typeface="Yu Gothic" pitchFamily="34" charset="0"/>
                <a:ea typeface="Yu Gothic" pitchFamily="34" charset="-122"/>
                <a:cs typeface="Yu Gothic" pitchFamily="34" charset="-120"/>
              </a:rPr>
              <a:t>最終製品／需要家</a:t>
            </a:r>
            <a:endParaRPr lang="en-US" sz="700" dirty="0"/>
          </a:p>
        </p:txBody>
      </p:sp>
      <p:sp>
        <p:nvSpPr>
          <p:cNvPr id="127" name="t1_119"/>
          <p:cNvSpPr txBox="1"/>
          <p:nvPr/>
        </p:nvSpPr>
        <p:spPr>
          <a:xfrm>
            <a:off x="8013700" y="5994400"/>
            <a:ext cx="144780" cy="182563"/>
          </a:xfrm>
          <a:prstGeom prst="rect">
            <a:avLst/>
          </a:prstGeom>
          <a:noFill/>
          <a:ln/>
        </p:spPr>
        <p:txBody>
          <a:bodyPr wrap="square" lIns="0" tIns="0" rIns="0" bIns="0" rtlCol="0" anchor="t"/>
          <a:lstStyle/>
          <a:p>
            <a:pPr algn="l" indent="0" marL="0">
              <a:lnSpc>
                <a:spcPts val="720"/>
              </a:lnSpc>
              <a:buNone/>
            </a:pPr>
            <a:r>
              <a:rPr lang="en-US" sz="600" dirty="0">
                <a:solidFill>
                  <a:srgbClr val="555555"/>
                </a:solidFill>
                <a:latin typeface="Yu Gothic" pitchFamily="34" charset="0"/>
                <a:ea typeface="Yu Gothic" pitchFamily="34" charset="-122"/>
                <a:cs typeface="Yu Gothic" pitchFamily="34" charset="-120"/>
              </a:rPr>
              <a:t>鉄鋼</a:t>
            </a:r>
            <a:endParaRPr lang="en-US" sz="600" dirty="0"/>
          </a:p>
        </p:txBody>
      </p:sp>
      <p:sp>
        <p:nvSpPr>
          <p:cNvPr id="128" name="t1_120"/>
          <p:cNvSpPr txBox="1"/>
          <p:nvPr/>
        </p:nvSpPr>
        <p:spPr>
          <a:xfrm>
            <a:off x="8166100" y="5740400"/>
            <a:ext cx="1270000" cy="889000"/>
          </a:xfrm>
          <a:prstGeom prst="rect">
            <a:avLst/>
          </a:prstGeom>
          <a:solidFill>
            <a:srgbClr val="F1F2F4"/>
          </a:solid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鉱山会社</a:t>
            </a:r>
            <a:endParaRPr lang="en-US" sz="740" dirty="0"/>
          </a:p>
          <a:p>
            <a:pPr algn="ctr" indent="0" marL="0">
              <a:lnSpc>
                <a:spcPts val="999"/>
              </a:lnSpc>
              <a:buNone/>
            </a:pPr>
            <a:r>
              <a:rPr lang="en-US" sz="600" dirty="0">
                <a:solidFill>
                  <a:srgbClr val="222222"/>
                </a:solidFill>
                <a:latin typeface="Yu Gothic" pitchFamily="34" charset="0"/>
                <a:ea typeface="Yu Gothic" pitchFamily="34" charset="-122"/>
                <a:cs typeface="Yu Gothic" pitchFamily="34" charset="-120"/>
              </a:rPr>
              <a:t>原料炭・鉄鉱石</a:t>
            </a:r>
            <a:endParaRPr lang="en-US" sz="740" dirty="0"/>
          </a:p>
          <a:p>
            <a:pPr algn="ctr" indent="0" marL="0">
              <a:lnSpc>
                <a:spcPts val="999"/>
              </a:lnSpc>
              <a:buNone/>
            </a:pPr>
            <a:r>
              <a:rPr lang="en-US" sz="560" dirty="0">
                <a:solidFill>
                  <a:srgbClr val="777777"/>
                </a:solidFill>
                <a:latin typeface="Yu Gothic" pitchFamily="34" charset="0"/>
                <a:ea typeface="Yu Gothic" pitchFamily="34" charset="-122"/>
                <a:cs typeface="Yu Gothic" pitchFamily="34" charset="-120"/>
              </a:rPr>
              <a:t>鉄鋼原料本部</a:t>
            </a:r>
            <a:endParaRPr lang="en-US" sz="740" dirty="0"/>
          </a:p>
        </p:txBody>
      </p:sp>
      <p:sp>
        <p:nvSpPr>
          <p:cNvPr id="129" name="t1_121"/>
          <p:cNvSpPr txBox="1"/>
          <p:nvPr/>
        </p:nvSpPr>
        <p:spPr>
          <a:xfrm>
            <a:off x="10350500" y="5740400"/>
            <a:ext cx="1397000" cy="889000"/>
          </a:xfrm>
          <a:prstGeom prst="rect">
            <a:avLst/>
          </a:prstGeom>
          <a:solidFill>
            <a:srgbClr val="F1F2F4"/>
          </a:solid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製鉄会社</a:t>
            </a:r>
            <a:endParaRPr lang="en-US" sz="740" dirty="0"/>
          </a:p>
          <a:p>
            <a:pPr algn="ctr" indent="0" marL="0">
              <a:lnSpc>
                <a:spcPts val="999"/>
              </a:lnSpc>
              <a:buNone/>
            </a:pPr>
            <a:r>
              <a:rPr lang="en-US" sz="600" dirty="0">
                <a:solidFill>
                  <a:srgbClr val="222222"/>
                </a:solidFill>
                <a:latin typeface="Yu Gothic" pitchFamily="34" charset="0"/>
                <a:ea typeface="Yu Gothic" pitchFamily="34" charset="-122"/>
                <a:cs typeface="Yu Gothic" pitchFamily="34" charset="-120"/>
              </a:rPr>
              <a:t>鋼材</a:t>
            </a:r>
            <a:endParaRPr lang="en-US" sz="740" dirty="0"/>
          </a:p>
        </p:txBody>
      </p:sp>
      <p:sp>
        <p:nvSpPr>
          <p:cNvPr id="130" name="t1_122"/>
          <p:cNvSpPr txBox="1"/>
          <p:nvPr/>
        </p:nvSpPr>
        <p:spPr>
          <a:xfrm>
            <a:off x="11798300" y="5740400"/>
            <a:ext cx="812800" cy="889000"/>
          </a:xfrm>
          <a:prstGeom prst="rect">
            <a:avLst/>
          </a:prstGeom>
          <a:noFill/>
          <a:ln w="12700">
            <a:solidFill>
              <a:srgbClr val="9AA0A6"/>
            </a:solidFill>
            <a:prstDash val="dash"/>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メタルワン</a:t>
            </a:r>
            <a:endParaRPr lang="en-US" sz="740" dirty="0"/>
          </a:p>
          <a:p>
            <a:pPr algn="ctr" indent="0" marL="0">
              <a:lnSpc>
                <a:spcPts val="999"/>
              </a:lnSpc>
              <a:buNone/>
            </a:pPr>
            <a:r>
              <a:rPr lang="en-US" sz="540" dirty="0">
                <a:solidFill>
                  <a:srgbClr val="777777"/>
                </a:solidFill>
                <a:latin typeface="Yu Gothic" pitchFamily="34" charset="0"/>
                <a:ea typeface="Yu Gothic" pitchFamily="34" charset="-122"/>
                <a:cs typeface="Yu Gothic" pitchFamily="34" charset="-120"/>
              </a:rPr>
              <a:t>別グループ</a:t>
            </a:r>
            <a:endParaRPr lang="en-US" sz="740" dirty="0"/>
          </a:p>
        </p:txBody>
      </p:sp>
      <p:sp>
        <p:nvSpPr>
          <p:cNvPr id="131" name="t1_123"/>
          <p:cNvSpPr txBox="1"/>
          <p:nvPr/>
        </p:nvSpPr>
        <p:spPr>
          <a:xfrm>
            <a:off x="12661900" y="5740400"/>
            <a:ext cx="1841500" cy="8890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600" dirty="0">
                <a:solidFill>
                  <a:srgbClr val="777777"/>
                </a:solidFill>
                <a:latin typeface="Yu Gothic" pitchFamily="34" charset="0"/>
                <a:ea typeface="Yu Gothic" pitchFamily="34" charset="-122"/>
                <a:cs typeface="Yu Gothic" pitchFamily="34" charset="-120"/>
              </a:rPr>
              <a:t>主な最終用途</a:t>
            </a:r>
            <a:endParaRPr lang="en-US" sz="600" dirty="0"/>
          </a:p>
          <a:p>
            <a:pPr algn="ctr" indent="0" marL="0">
              <a:lnSpc>
                <a:spcPts val="999"/>
              </a:lnSpc>
              <a:buNone/>
            </a:pPr>
            <a:r>
              <a:rPr lang="en-US" sz="660" dirty="0">
                <a:solidFill>
                  <a:srgbClr val="222222"/>
                </a:solidFill>
                <a:latin typeface="Yu Gothic" pitchFamily="34" charset="0"/>
                <a:ea typeface="Yu Gothic" pitchFamily="34" charset="-122"/>
                <a:cs typeface="Yu Gothic" pitchFamily="34" charset="-120"/>
              </a:rPr>
              <a:t>建材・自動車用鋼板</a:t>
            </a:r>
            <a:endParaRPr lang="en-US" sz="600" dirty="0"/>
          </a:p>
        </p:txBody>
      </p:sp>
      <p:sp>
        <p:nvSpPr>
          <p:cNvPr id="132" name="t1_124"/>
          <p:cNvSpPr txBox="1"/>
          <p:nvPr/>
        </p:nvSpPr>
        <p:spPr>
          <a:xfrm>
            <a:off x="8013700" y="6934200"/>
            <a:ext cx="144780" cy="365125"/>
          </a:xfrm>
          <a:prstGeom prst="rect">
            <a:avLst/>
          </a:prstGeom>
          <a:noFill/>
          <a:ln/>
        </p:spPr>
        <p:txBody>
          <a:bodyPr wrap="square" lIns="0" tIns="0" rIns="0" bIns="0" rtlCol="0" anchor="t"/>
          <a:lstStyle/>
          <a:p>
            <a:pPr algn="l" indent="0" marL="0">
              <a:lnSpc>
                <a:spcPts val="720"/>
              </a:lnSpc>
              <a:buNone/>
            </a:pPr>
            <a:r>
              <a:rPr lang="en-US" sz="600" dirty="0">
                <a:solidFill>
                  <a:srgbClr val="555555"/>
                </a:solidFill>
                <a:latin typeface="Yu Gothic" pitchFamily="34" charset="0"/>
                <a:ea typeface="Yu Gothic" pitchFamily="34" charset="-122"/>
                <a:cs typeface="Yu Gothic" pitchFamily="34" charset="-120"/>
              </a:rPr>
              <a:t>非鉄金属</a:t>
            </a:r>
            <a:endParaRPr lang="en-US" sz="600" dirty="0"/>
          </a:p>
        </p:txBody>
      </p:sp>
      <p:sp>
        <p:nvSpPr>
          <p:cNvPr id="133" name="t1_125"/>
          <p:cNvSpPr txBox="1"/>
          <p:nvPr/>
        </p:nvSpPr>
        <p:spPr>
          <a:xfrm>
            <a:off x="8166100" y="6680200"/>
            <a:ext cx="1270000" cy="889000"/>
          </a:xfrm>
          <a:prstGeom prst="rect">
            <a:avLst/>
          </a:prstGeom>
          <a:solidFill>
            <a:srgbClr val="F1F2F4"/>
          </a:solid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鉱山会社</a:t>
            </a:r>
            <a:endParaRPr lang="en-US" sz="740" dirty="0"/>
          </a:p>
          <a:p>
            <a:pPr algn="ctr" indent="0" marL="0">
              <a:lnSpc>
                <a:spcPts val="999"/>
              </a:lnSpc>
              <a:buNone/>
            </a:pPr>
            <a:r>
              <a:rPr lang="en-US" sz="600" dirty="0">
                <a:solidFill>
                  <a:srgbClr val="222222"/>
                </a:solidFill>
                <a:latin typeface="Yu Gothic" pitchFamily="34" charset="0"/>
                <a:ea typeface="Yu Gothic" pitchFamily="34" charset="-122"/>
                <a:cs typeface="Yu Gothic" pitchFamily="34" charset="-120"/>
              </a:rPr>
              <a:t>銅鉱石・ボーキサイト</a:t>
            </a:r>
            <a:endParaRPr lang="en-US" sz="740" dirty="0"/>
          </a:p>
          <a:p>
            <a:pPr algn="ctr" indent="0" marL="0">
              <a:lnSpc>
                <a:spcPts val="999"/>
              </a:lnSpc>
              <a:buNone/>
            </a:pPr>
            <a:r>
              <a:rPr lang="en-US" sz="560" dirty="0">
                <a:solidFill>
                  <a:srgbClr val="777777"/>
                </a:solidFill>
                <a:latin typeface="Yu Gothic" pitchFamily="34" charset="0"/>
                <a:ea typeface="Yu Gothic" pitchFamily="34" charset="-122"/>
                <a:cs typeface="Yu Gothic" pitchFamily="34" charset="-120"/>
              </a:rPr>
              <a:t>クリティカルミネラル本部</a:t>
            </a:r>
            <a:endParaRPr lang="en-US" sz="740" dirty="0"/>
          </a:p>
        </p:txBody>
      </p:sp>
      <p:sp>
        <p:nvSpPr>
          <p:cNvPr id="134" name="t1_126"/>
          <p:cNvSpPr txBox="1"/>
          <p:nvPr/>
        </p:nvSpPr>
        <p:spPr>
          <a:xfrm>
            <a:off x="10350500" y="6680200"/>
            <a:ext cx="1397000" cy="889000"/>
          </a:xfrm>
          <a:prstGeom prst="rect">
            <a:avLst/>
          </a:prstGeom>
          <a:solidFill>
            <a:srgbClr val="F1F2F4"/>
          </a:solid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製錬会社</a:t>
            </a:r>
            <a:endParaRPr lang="en-US" sz="740" dirty="0"/>
          </a:p>
          <a:p>
            <a:pPr algn="ctr" indent="0" marL="0">
              <a:lnSpc>
                <a:spcPts val="999"/>
              </a:lnSpc>
              <a:buNone/>
            </a:pPr>
            <a:r>
              <a:rPr lang="en-US" sz="600" dirty="0">
                <a:solidFill>
                  <a:srgbClr val="222222"/>
                </a:solidFill>
                <a:latin typeface="Yu Gothic" pitchFamily="34" charset="0"/>
                <a:ea typeface="Yu Gothic" pitchFamily="34" charset="-122"/>
                <a:cs typeface="Yu Gothic" pitchFamily="34" charset="-120"/>
              </a:rPr>
              <a:t>銅地金・アルミ地金</a:t>
            </a:r>
            <a:endParaRPr lang="en-US" sz="740" dirty="0"/>
          </a:p>
          <a:p>
            <a:pPr algn="ctr" indent="0" marL="0">
              <a:lnSpc>
                <a:spcPts val="999"/>
              </a:lnSpc>
              <a:buNone/>
            </a:pPr>
            <a:r>
              <a:rPr lang="en-US" sz="560" dirty="0">
                <a:solidFill>
                  <a:srgbClr val="777777"/>
                </a:solidFill>
                <a:latin typeface="Yu Gothic" pitchFamily="34" charset="0"/>
                <a:ea typeface="Yu Gothic" pitchFamily="34" charset="-122"/>
                <a:cs typeface="Yu Gothic" pitchFamily="34" charset="-120"/>
              </a:rPr>
              <a:t>クリティカルミネラル本部</a:t>
            </a:r>
            <a:endParaRPr lang="en-US" sz="740" dirty="0"/>
          </a:p>
        </p:txBody>
      </p:sp>
      <p:sp>
        <p:nvSpPr>
          <p:cNvPr id="135" name="t1_127"/>
          <p:cNvSpPr txBox="1"/>
          <p:nvPr/>
        </p:nvSpPr>
        <p:spPr>
          <a:xfrm>
            <a:off x="11798300" y="6680200"/>
            <a:ext cx="812800" cy="8890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RtM</a:t>
            </a:r>
            <a:endParaRPr lang="en-US" sz="740" dirty="0"/>
          </a:p>
          <a:p>
            <a:pPr algn="ctr" indent="0" marL="0">
              <a:lnSpc>
                <a:spcPts val="999"/>
              </a:lnSpc>
              <a:buNone/>
            </a:pPr>
            <a:r>
              <a:rPr lang="en-US" sz="540" dirty="0">
                <a:solidFill>
                  <a:srgbClr val="777777"/>
                </a:solidFill>
                <a:latin typeface="Yu Gothic" pitchFamily="34" charset="0"/>
                <a:ea typeface="Yu Gothic" pitchFamily="34" charset="-122"/>
                <a:cs typeface="Yu Gothic" pitchFamily="34" charset="-120"/>
              </a:rPr>
              <a:t>金属資源トレーディング本部</a:t>
            </a:r>
            <a:endParaRPr lang="en-US" sz="740" dirty="0"/>
          </a:p>
        </p:txBody>
      </p:sp>
      <p:sp>
        <p:nvSpPr>
          <p:cNvPr id="136" name="t1_128"/>
          <p:cNvSpPr txBox="1"/>
          <p:nvPr/>
        </p:nvSpPr>
        <p:spPr>
          <a:xfrm>
            <a:off x="12661900" y="6680200"/>
            <a:ext cx="1841500" cy="8890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600" dirty="0">
                <a:solidFill>
                  <a:srgbClr val="777777"/>
                </a:solidFill>
                <a:latin typeface="Yu Gothic" pitchFamily="34" charset="0"/>
                <a:ea typeface="Yu Gothic" pitchFamily="34" charset="-122"/>
                <a:cs typeface="Yu Gothic" pitchFamily="34" charset="-120"/>
              </a:rPr>
              <a:t>主な最終用途</a:t>
            </a:r>
            <a:endParaRPr lang="en-US" sz="600" dirty="0"/>
          </a:p>
          <a:p>
            <a:pPr algn="ctr" indent="0" marL="0">
              <a:lnSpc>
                <a:spcPts val="999"/>
              </a:lnSpc>
              <a:buNone/>
            </a:pPr>
            <a:r>
              <a:rPr lang="en-US" sz="660" dirty="0">
                <a:solidFill>
                  <a:srgbClr val="222222"/>
                </a:solidFill>
                <a:latin typeface="Yu Gothic" pitchFamily="34" charset="0"/>
                <a:ea typeface="Yu Gothic" pitchFamily="34" charset="-122"/>
                <a:cs typeface="Yu Gothic" pitchFamily="34" charset="-120"/>
              </a:rPr>
              <a:t>電線・再エネ発電・EV内配線／モーター</a:t>
            </a:r>
            <a:endParaRPr lang="en-US" sz="600" dirty="0"/>
          </a:p>
        </p:txBody>
      </p:sp>
      <p:sp>
        <p:nvSpPr>
          <p:cNvPr id="137" name="t1_129"/>
          <p:cNvSpPr txBox="1"/>
          <p:nvPr/>
        </p:nvSpPr>
        <p:spPr>
          <a:xfrm>
            <a:off x="9486900" y="5740400"/>
            <a:ext cx="812800" cy="18288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RtM</a:t>
            </a:r>
            <a:endParaRPr lang="en-US" sz="740" dirty="0"/>
          </a:p>
          <a:p>
            <a:pPr algn="ctr" indent="0" marL="0">
              <a:lnSpc>
                <a:spcPts val="999"/>
              </a:lnSpc>
              <a:buNone/>
            </a:pPr>
            <a:r>
              <a:rPr lang="en-US" sz="540" dirty="0">
                <a:solidFill>
                  <a:srgbClr val="777777"/>
                </a:solidFill>
                <a:latin typeface="Yu Gothic" pitchFamily="34" charset="0"/>
                <a:ea typeface="Yu Gothic" pitchFamily="34" charset="-122"/>
                <a:cs typeface="Yu Gothic" pitchFamily="34" charset="-120"/>
              </a:rPr>
              <a:t>金属資源</a:t>
            </a:r>
            <a:endParaRPr lang="en-US" sz="740" dirty="0"/>
          </a:p>
          <a:p>
            <a:pPr algn="ctr" indent="0" marL="0">
              <a:lnSpc>
                <a:spcPts val="999"/>
              </a:lnSpc>
              <a:buNone/>
            </a:pPr>
            <a:r>
              <a:rPr lang="en-US" sz="540" dirty="0">
                <a:solidFill>
                  <a:srgbClr val="777777"/>
                </a:solidFill>
                <a:latin typeface="Yu Gothic" pitchFamily="34" charset="0"/>
                <a:ea typeface="Yu Gothic" pitchFamily="34" charset="-122"/>
                <a:cs typeface="Yu Gothic" pitchFamily="34" charset="-120"/>
              </a:rPr>
              <a:t>トレーディング本部</a:t>
            </a:r>
            <a:endParaRPr lang="en-US" sz="740" dirty="0"/>
          </a:p>
        </p:txBody>
      </p:sp>
      <p:sp>
        <p:nvSpPr>
          <p:cNvPr id="138" name="Shape 131"/>
          <p:cNvSpPr/>
          <p:nvPr/>
        </p:nvSpPr>
        <p:spPr>
          <a:xfrm>
            <a:off x="8166100" y="7670800"/>
            <a:ext cx="3581400" cy="0"/>
          </a:xfrm>
          <a:prstGeom prst="line">
            <a:avLst/>
          </a:prstGeom>
          <a:noFill/>
          <a:ln w="25400">
            <a:solidFill>
              <a:srgbClr val="3C4045"/>
            </a:solidFill>
            <a:prstDash val="solid"/>
          </a:ln>
        </p:spPr>
      </p:sp>
      <p:sp>
        <p:nvSpPr>
          <p:cNvPr id="139" name="t1_130"/>
          <p:cNvSpPr txBox="1"/>
          <p:nvPr/>
        </p:nvSpPr>
        <p:spPr>
          <a:xfrm>
            <a:off x="8166100" y="7670800"/>
            <a:ext cx="3737356" cy="177800"/>
          </a:xfrm>
          <a:prstGeom prst="rect">
            <a:avLst/>
          </a:prstGeom>
          <a:noFill/>
          <a:ln/>
        </p:spPr>
        <p:txBody>
          <a:bodyPr wrap="square" lIns="0" tIns="0" rIns="0" bIns="0" rtlCol="0" anchor="t"/>
          <a:lstStyle/>
          <a:p>
            <a:pPr algn="ctr" indent="0" marL="0">
              <a:lnSpc>
                <a:spcPts val="910"/>
              </a:lnSpc>
              <a:buNone/>
            </a:pPr>
            <a:r>
              <a:rPr lang="en-US" sz="700" dirty="0">
                <a:solidFill>
                  <a:srgbClr val="222222"/>
                </a:solidFill>
                <a:latin typeface="Yu Gothic" pitchFamily="34" charset="0"/>
                <a:ea typeface="Yu Gothic" pitchFamily="34" charset="-122"/>
                <a:cs typeface="Yu Gothic" pitchFamily="34" charset="-120"/>
              </a:rPr>
              <a:t>資源投資（鉱山・製鉄／製錬）</a:t>
            </a:r>
            <a:endParaRPr lang="en-US" sz="700" dirty="0"/>
          </a:p>
        </p:txBody>
      </p:sp>
      <p:sp>
        <p:nvSpPr>
          <p:cNvPr id="140" name="Shape 133"/>
          <p:cNvSpPr/>
          <p:nvPr/>
        </p:nvSpPr>
        <p:spPr>
          <a:xfrm>
            <a:off x="9486900" y="7899400"/>
            <a:ext cx="3124200" cy="0"/>
          </a:xfrm>
          <a:prstGeom prst="line">
            <a:avLst/>
          </a:prstGeom>
          <a:noFill/>
          <a:ln w="25400">
            <a:solidFill>
              <a:srgbClr val="8A9096"/>
            </a:solidFill>
            <a:prstDash val="solid"/>
          </a:ln>
        </p:spPr>
      </p:sp>
      <p:sp>
        <p:nvSpPr>
          <p:cNvPr id="141" name="t1_131"/>
          <p:cNvSpPr txBox="1"/>
          <p:nvPr/>
        </p:nvSpPr>
        <p:spPr>
          <a:xfrm>
            <a:off x="9486900" y="7899400"/>
            <a:ext cx="3261868" cy="177800"/>
          </a:xfrm>
          <a:prstGeom prst="rect">
            <a:avLst/>
          </a:prstGeom>
          <a:noFill/>
          <a:ln/>
        </p:spPr>
        <p:txBody>
          <a:bodyPr wrap="square" lIns="0" tIns="0" rIns="0" bIns="0" rtlCol="0" anchor="t"/>
          <a:lstStyle/>
          <a:p>
            <a:pPr algn="ctr" indent="0" marL="0">
              <a:lnSpc>
                <a:spcPts val="910"/>
              </a:lnSpc>
              <a:buNone/>
            </a:pPr>
            <a:r>
              <a:rPr lang="en-US" sz="700" dirty="0">
                <a:solidFill>
                  <a:srgbClr val="222222"/>
                </a:solidFill>
                <a:latin typeface="Yu Gothic" pitchFamily="34" charset="0"/>
                <a:ea typeface="Yu Gothic" pitchFamily="34" charset="-122"/>
                <a:cs typeface="Yu Gothic" pitchFamily="34" charset="-120"/>
              </a:rPr>
              <a:t>トレーディング（RtM）</a:t>
            </a:r>
            <a:endParaRPr lang="en-US" sz="700" dirty="0"/>
          </a:p>
        </p:txBody>
      </p:sp>
      <p:sp>
        <p:nvSpPr>
          <p:cNvPr id="142" name="t1_132"/>
          <p:cNvSpPr txBox="1"/>
          <p:nvPr/>
        </p:nvSpPr>
        <p:spPr>
          <a:xfrm>
            <a:off x="12738100" y="7747000"/>
            <a:ext cx="1848612" cy="319881"/>
          </a:xfrm>
          <a:prstGeom prst="rect">
            <a:avLst/>
          </a:prstGeom>
          <a:noFill/>
          <a:ln/>
        </p:spPr>
        <p:txBody>
          <a:bodyPr wrap="square" lIns="0" tIns="0" rIns="0" bIns="0" rtlCol="0" anchor="t"/>
          <a:lstStyle/>
          <a:p>
            <a:pPr algn="ctr" indent="0" marL="0">
              <a:lnSpc>
                <a:spcPts val="1260"/>
              </a:lnSpc>
              <a:buNone/>
            </a:pPr>
            <a:r>
              <a:rPr lang="en-US" sz="900" b="1" dirty="0">
                <a:solidFill>
                  <a:srgbClr val="222222"/>
                </a:solidFill>
                <a:latin typeface="Yu Gothic" pitchFamily="34" charset="0"/>
                <a:ea typeface="Yu Gothic" pitchFamily="34" charset="-122"/>
                <a:cs typeface="Yu Gothic" pitchFamily="34" charset="-120"/>
              </a:rPr>
              <a:t>＝ 投資と販売の</a:t>
            </a:r>
            <a:endParaRPr lang="en-US" sz="900" dirty="0"/>
          </a:p>
          <a:p>
            <a:pPr algn="ctr" indent="0" marL="0">
              <a:lnSpc>
                <a:spcPts val="1260"/>
              </a:lnSpc>
              <a:buNone/>
            </a:pPr>
            <a:r>
              <a:rPr lang="en-US" sz="900" b="1" dirty="0">
                <a:solidFill>
                  <a:srgbClr val="222222"/>
                </a:solidFill>
                <a:latin typeface="Yu Gothic" pitchFamily="34" charset="0"/>
                <a:ea typeface="Yu Gothic" pitchFamily="34" charset="-122"/>
                <a:cs typeface="Yu Gothic" pitchFamily="34" charset="-120"/>
              </a:rPr>
              <a:t>「両輪」</a:t>
            </a:r>
            <a:endParaRPr lang="en-US" sz="900" dirty="0"/>
          </a:p>
        </p:txBody>
      </p:sp>
      <p:sp>
        <p:nvSpPr>
          <p:cNvPr id="143" name="t1_133"/>
          <p:cNvSpPr txBox="1"/>
          <p:nvPr/>
        </p:nvSpPr>
        <p:spPr>
          <a:xfrm>
            <a:off x="8166100" y="8305800"/>
            <a:ext cx="1422400" cy="304800"/>
          </a:xfrm>
          <a:prstGeom prst="rect">
            <a:avLst/>
          </a:prstGeom>
          <a:noFill/>
          <a:ln w="12700">
            <a:solidFill>
              <a:srgbClr val="9AA0A6"/>
            </a:solidFill>
            <a:prstDash val="solid"/>
          </a:ln>
        </p:spPr>
        <p:txBody>
          <a:bodyPr wrap="square" lIns="25400" tIns="38100" rIns="38100" bIns="25400" rtlCol="0" anchor="ctr"/>
          <a:lstStyle/>
          <a:p>
            <a:pPr algn="ctr" indent="0" marL="0">
              <a:lnSpc>
                <a:spcPts val="918"/>
              </a:lnSpc>
              <a:buNone/>
            </a:pPr>
            <a:r>
              <a:rPr lang="en-US" sz="680" dirty="0">
                <a:solidFill>
                  <a:srgbClr val="222222"/>
                </a:solidFill>
                <a:latin typeface="Yu Gothic" pitchFamily="34" charset="0"/>
                <a:ea typeface="Yu Gothic" pitchFamily="34" charset="-122"/>
                <a:cs typeface="Yu Gothic" pitchFamily="34" charset="-120"/>
              </a:rPr>
              <a:t>川上｜資源開発・保有</a:t>
            </a:r>
            <a:endParaRPr lang="en-US" sz="680" dirty="0"/>
          </a:p>
        </p:txBody>
      </p:sp>
      <p:sp>
        <p:nvSpPr>
          <p:cNvPr id="144" name="t1_134"/>
          <p:cNvSpPr txBox="1"/>
          <p:nvPr/>
        </p:nvSpPr>
        <p:spPr>
          <a:xfrm>
            <a:off x="9613900" y="8369300"/>
            <a:ext cx="131778" cy="165100"/>
          </a:xfrm>
          <a:prstGeom prst="rect">
            <a:avLst/>
          </a:prstGeom>
          <a:noFill/>
          <a:ln/>
        </p:spPr>
        <p:txBody>
          <a:bodyPr wrap="none" lIns="0" tIns="0" rIns="0" bIns="0" rtlCol="0" anchor="t"/>
          <a:lstStyle/>
          <a:p>
            <a:pPr algn="l" indent="0" marL="0">
              <a:lnSpc>
                <a:spcPts val="1170"/>
              </a:lnSpc>
              <a:buNone/>
            </a:pPr>
            <a:r>
              <a:rPr lang="en-US" sz="900" dirty="0">
                <a:solidFill>
                  <a:srgbClr val="888888"/>
                </a:solidFill>
                <a:latin typeface="Yu Gothic" pitchFamily="34" charset="0"/>
                <a:ea typeface="Yu Gothic" pitchFamily="34" charset="-122"/>
                <a:cs typeface="Yu Gothic" pitchFamily="34" charset="-120"/>
              </a:rPr>
              <a:t>→</a:t>
            </a:r>
            <a:endParaRPr lang="en-US" sz="900" dirty="0"/>
          </a:p>
        </p:txBody>
      </p:sp>
      <p:sp>
        <p:nvSpPr>
          <p:cNvPr id="145" name="t1_135"/>
          <p:cNvSpPr txBox="1"/>
          <p:nvPr/>
        </p:nvSpPr>
        <p:spPr>
          <a:xfrm>
            <a:off x="9766300" y="8305800"/>
            <a:ext cx="1422400" cy="304800"/>
          </a:xfrm>
          <a:prstGeom prst="rect">
            <a:avLst/>
          </a:prstGeom>
          <a:noFill/>
          <a:ln w="12700">
            <a:solidFill>
              <a:srgbClr val="9AA0A6"/>
            </a:solidFill>
            <a:prstDash val="solid"/>
          </a:ln>
        </p:spPr>
        <p:txBody>
          <a:bodyPr wrap="square" lIns="25400" tIns="38100" rIns="38100" bIns="25400" rtlCol="0" anchor="ctr"/>
          <a:lstStyle/>
          <a:p>
            <a:pPr algn="ctr" indent="0" marL="0">
              <a:lnSpc>
                <a:spcPts val="918"/>
              </a:lnSpc>
              <a:buNone/>
            </a:pPr>
            <a:r>
              <a:rPr lang="en-US" sz="680" dirty="0">
                <a:solidFill>
                  <a:srgbClr val="222222"/>
                </a:solidFill>
                <a:latin typeface="Yu Gothic" pitchFamily="34" charset="0"/>
                <a:ea typeface="Yu Gothic" pitchFamily="34" charset="-122"/>
                <a:cs typeface="Yu Gothic" pitchFamily="34" charset="-120"/>
              </a:rPr>
              <a:t>川中｜製鉄・製錬</a:t>
            </a:r>
            <a:endParaRPr lang="en-US" sz="680" dirty="0"/>
          </a:p>
        </p:txBody>
      </p:sp>
      <p:sp>
        <p:nvSpPr>
          <p:cNvPr id="146" name="t1_136"/>
          <p:cNvSpPr txBox="1"/>
          <p:nvPr/>
        </p:nvSpPr>
        <p:spPr>
          <a:xfrm>
            <a:off x="11214100" y="8369300"/>
            <a:ext cx="131778" cy="165100"/>
          </a:xfrm>
          <a:prstGeom prst="rect">
            <a:avLst/>
          </a:prstGeom>
          <a:noFill/>
          <a:ln/>
        </p:spPr>
        <p:txBody>
          <a:bodyPr wrap="none" lIns="0" tIns="0" rIns="0" bIns="0" rtlCol="0" anchor="t"/>
          <a:lstStyle/>
          <a:p>
            <a:pPr algn="l" indent="0" marL="0">
              <a:lnSpc>
                <a:spcPts val="1170"/>
              </a:lnSpc>
              <a:buNone/>
            </a:pPr>
            <a:r>
              <a:rPr lang="en-US" sz="900" dirty="0">
                <a:solidFill>
                  <a:srgbClr val="888888"/>
                </a:solidFill>
                <a:latin typeface="Yu Gothic" pitchFamily="34" charset="0"/>
                <a:ea typeface="Yu Gothic" pitchFamily="34" charset="-122"/>
                <a:cs typeface="Yu Gothic" pitchFamily="34" charset="-120"/>
              </a:rPr>
              <a:t>→</a:t>
            </a:r>
            <a:endParaRPr lang="en-US" sz="900" dirty="0"/>
          </a:p>
        </p:txBody>
      </p:sp>
      <p:sp>
        <p:nvSpPr>
          <p:cNvPr id="147" name="t1_137"/>
          <p:cNvSpPr txBox="1"/>
          <p:nvPr/>
        </p:nvSpPr>
        <p:spPr>
          <a:xfrm>
            <a:off x="11366500" y="8305800"/>
            <a:ext cx="1422400" cy="304800"/>
          </a:xfrm>
          <a:prstGeom prst="rect">
            <a:avLst/>
          </a:prstGeom>
          <a:noFill/>
          <a:ln w="12700">
            <a:solidFill>
              <a:srgbClr val="9AA0A6"/>
            </a:solidFill>
            <a:prstDash val="solid"/>
          </a:ln>
        </p:spPr>
        <p:txBody>
          <a:bodyPr wrap="square" lIns="25400" tIns="38100" rIns="38100" bIns="25400" rtlCol="0" anchor="ctr"/>
          <a:lstStyle/>
          <a:p>
            <a:pPr algn="ctr" indent="0" marL="0">
              <a:lnSpc>
                <a:spcPts val="918"/>
              </a:lnSpc>
              <a:buNone/>
            </a:pPr>
            <a:r>
              <a:rPr lang="en-US" sz="680" dirty="0">
                <a:solidFill>
                  <a:srgbClr val="222222"/>
                </a:solidFill>
                <a:latin typeface="Yu Gothic" pitchFamily="34" charset="0"/>
                <a:ea typeface="Yu Gothic" pitchFamily="34" charset="-122"/>
                <a:cs typeface="Yu Gothic" pitchFamily="34" charset="-120"/>
              </a:rPr>
              <a:t>中間流通｜トレーディング（RtM）</a:t>
            </a:r>
            <a:endParaRPr lang="en-US" sz="680" dirty="0"/>
          </a:p>
        </p:txBody>
      </p:sp>
      <p:sp>
        <p:nvSpPr>
          <p:cNvPr id="148" name="t1_138"/>
          <p:cNvSpPr txBox="1"/>
          <p:nvPr/>
        </p:nvSpPr>
        <p:spPr>
          <a:xfrm>
            <a:off x="12814300" y="8369300"/>
            <a:ext cx="131778" cy="165100"/>
          </a:xfrm>
          <a:prstGeom prst="rect">
            <a:avLst/>
          </a:prstGeom>
          <a:noFill/>
          <a:ln/>
        </p:spPr>
        <p:txBody>
          <a:bodyPr wrap="none" lIns="0" tIns="0" rIns="0" bIns="0" rtlCol="0" anchor="t"/>
          <a:lstStyle/>
          <a:p>
            <a:pPr algn="l" indent="0" marL="0">
              <a:lnSpc>
                <a:spcPts val="1170"/>
              </a:lnSpc>
              <a:buNone/>
            </a:pPr>
            <a:r>
              <a:rPr lang="en-US" sz="900" dirty="0">
                <a:solidFill>
                  <a:srgbClr val="888888"/>
                </a:solidFill>
                <a:latin typeface="Yu Gothic" pitchFamily="34" charset="0"/>
                <a:ea typeface="Yu Gothic" pitchFamily="34" charset="-122"/>
                <a:cs typeface="Yu Gothic" pitchFamily="34" charset="-120"/>
              </a:rPr>
              <a:t>→</a:t>
            </a:r>
            <a:endParaRPr lang="en-US" sz="900" dirty="0"/>
          </a:p>
        </p:txBody>
      </p:sp>
      <p:sp>
        <p:nvSpPr>
          <p:cNvPr id="149" name="t1_139"/>
          <p:cNvSpPr txBox="1"/>
          <p:nvPr/>
        </p:nvSpPr>
        <p:spPr>
          <a:xfrm>
            <a:off x="12966700" y="8305800"/>
            <a:ext cx="1422400" cy="304800"/>
          </a:xfrm>
          <a:prstGeom prst="rect">
            <a:avLst/>
          </a:prstGeom>
          <a:noFill/>
          <a:ln w="12700">
            <a:solidFill>
              <a:srgbClr val="9AA0A6"/>
            </a:solidFill>
            <a:prstDash val="solid"/>
          </a:ln>
        </p:spPr>
        <p:txBody>
          <a:bodyPr wrap="square" lIns="25400" tIns="38100" rIns="38100" bIns="25400" rtlCol="0" anchor="ctr"/>
          <a:lstStyle/>
          <a:p>
            <a:pPr algn="ctr" indent="0" marL="0">
              <a:lnSpc>
                <a:spcPts val="918"/>
              </a:lnSpc>
              <a:buNone/>
            </a:pPr>
            <a:r>
              <a:rPr lang="en-US" sz="680" dirty="0">
                <a:solidFill>
                  <a:srgbClr val="222222"/>
                </a:solidFill>
                <a:latin typeface="Yu Gothic" pitchFamily="34" charset="0"/>
                <a:ea typeface="Yu Gothic" pitchFamily="34" charset="-122"/>
                <a:cs typeface="Yu Gothic" pitchFamily="34" charset="-120"/>
              </a:rPr>
              <a:t>川下｜最終製品・需要家</a:t>
            </a:r>
            <a:endParaRPr lang="en-US" sz="680" dirty="0"/>
          </a:p>
        </p:txBody>
      </p:sp>
      <p:sp>
        <p:nvSpPr>
          <p:cNvPr id="150" name="t1_140"/>
          <p:cNvSpPr txBox="1"/>
          <p:nvPr/>
        </p:nvSpPr>
        <p:spPr>
          <a:xfrm>
            <a:off x="8166100" y="8686800"/>
            <a:ext cx="6603492" cy="101600"/>
          </a:xfrm>
          <a:prstGeom prst="rect">
            <a:avLst/>
          </a:prstGeom>
          <a:noFill/>
          <a:ln/>
        </p:spPr>
        <p:txBody>
          <a:bodyPr wrap="none" lIns="0" tIns="0" rIns="0" bIns="0" rtlCol="0" anchor="t"/>
          <a:lstStyle/>
          <a:p>
            <a:pPr algn="l" indent="0" marL="0">
              <a:lnSpc>
                <a:spcPts val="728"/>
              </a:lnSpc>
              <a:buNone/>
            </a:pPr>
            <a:r>
              <a:rPr lang="en-US" sz="560" dirty="0">
                <a:solidFill>
                  <a:srgbClr val="888888"/>
                </a:solidFill>
                <a:latin typeface="Yu Gothic" pitchFamily="34" charset="0"/>
                <a:ea typeface="Yu Gothic" pitchFamily="34" charset="-122"/>
                <a:cs typeface="Yu Gothic" pitchFamily="34" charset="-120"/>
              </a:rPr>
              <a:t>図の出典・簡略化元：金属資源G_P3（金属資源のバリューチェーンと事業領域）。写真は省略</a:t>
            </a:r>
            <a:endParaRPr lang="en-US" sz="560" dirty="0"/>
          </a:p>
        </p:txBody>
      </p:sp>
      <p:sp>
        <p:nvSpPr>
          <p:cNvPr id="151" name="t1_141"/>
          <p:cNvSpPr txBox="1"/>
          <p:nvPr/>
        </p:nvSpPr>
        <p:spPr>
          <a:xfrm>
            <a:off x="8166100" y="8813800"/>
            <a:ext cx="6603492" cy="118070"/>
          </a:xfrm>
          <a:prstGeom prst="rect">
            <a:avLst/>
          </a:prstGeom>
          <a:noFill/>
          <a:ln/>
        </p:spPr>
        <p:txBody>
          <a:bodyPr wrap="none" lIns="0" tIns="0" rIns="0" bIns="0" rtlCol="0" anchor="t"/>
          <a:lstStyle/>
          <a:p>
            <a:pPr algn="l" indent="0" marL="0">
              <a:lnSpc>
                <a:spcPts val="930"/>
              </a:lnSpc>
              <a:buNone/>
            </a:pPr>
            <a:r>
              <a:rPr lang="en-US" sz="620" dirty="0">
                <a:solidFill>
                  <a:srgbClr val="9A5A60"/>
                </a:solidFill>
                <a:latin typeface="Yu Gothic" pitchFamily="34" charset="0"/>
                <a:ea typeface="Yu Gothic" pitchFamily="34" charset="-122"/>
                <a:cs typeface="Yu Gothic" pitchFamily="34" charset="-120"/>
              </a:rPr>
              <a:t>※「投資と販売の両輪」を軸に表現（PwC様レビューNo.7）。規模には言及しない。鋼材販売のメタルワンは別グループ</a:t>
            </a:r>
            <a:endParaRPr lang="en-US" sz="620" dirty="0"/>
          </a:p>
        </p:txBody>
      </p:sp>
      <p:sp>
        <p:nvSpPr>
          <p:cNvPr id="152" name="t1_142"/>
          <p:cNvSpPr txBox="1"/>
          <p:nvPr/>
        </p:nvSpPr>
        <p:spPr>
          <a:xfrm>
            <a:off x="609600" y="10261600"/>
            <a:ext cx="149320" cy="117348"/>
          </a:xfrm>
          <a:prstGeom prst="rect">
            <a:avLst/>
          </a:prstGeom>
          <a:noFill/>
          <a:ln/>
        </p:spPr>
        <p:txBody>
          <a:bodyPr wrap="none" lIns="0" tIns="0" rIns="0" bIns="0" rtlCol="0" anchor="t"/>
          <a:lstStyle/>
          <a:p>
            <a:pPr algn="l" indent="0" marL="0">
              <a:lnSpc>
                <a:spcPts val="858"/>
              </a:lnSpc>
              <a:buNone/>
            </a:pPr>
            <a:r>
              <a:rPr lang="en-US" sz="660" spc="140" kern="0" dirty="0">
                <a:solidFill>
                  <a:srgbClr val="999999"/>
                </a:solidFill>
                <a:latin typeface="Yu Gothic" pitchFamily="34" charset="0"/>
                <a:ea typeface="Yu Gothic" pitchFamily="34" charset="-122"/>
                <a:cs typeface="Yu Gothic" pitchFamily="34" charset="-120"/>
              </a:rPr>
              <a:t>04</a:t>
            </a:r>
            <a:endParaRPr lang="en-US" sz="660" dirty="0"/>
          </a:p>
        </p:txBody>
      </p:sp>
      <p:sp>
        <p:nvSpPr>
          <p:cNvPr id="153" name="t1_143"/>
          <p:cNvSpPr txBox="1"/>
          <p:nvPr/>
        </p:nvSpPr>
        <p:spPr>
          <a:xfrm>
            <a:off x="14262100" y="10261600"/>
            <a:ext cx="149320" cy="117348"/>
          </a:xfrm>
          <a:prstGeom prst="rect">
            <a:avLst/>
          </a:prstGeom>
          <a:noFill/>
          <a:ln/>
        </p:spPr>
        <p:txBody>
          <a:bodyPr wrap="none" lIns="0" tIns="0" rIns="0" bIns="0" rtlCol="0" anchor="t"/>
          <a:lstStyle/>
          <a:p>
            <a:pPr algn="l" indent="0" marL="0">
              <a:lnSpc>
                <a:spcPts val="858"/>
              </a:lnSpc>
              <a:buNone/>
            </a:pPr>
            <a:r>
              <a:rPr lang="en-US" sz="660" spc="140" kern="0" dirty="0">
                <a:solidFill>
                  <a:srgbClr val="999999"/>
                </a:solidFill>
                <a:latin typeface="Yu Gothic" pitchFamily="34" charset="0"/>
                <a:ea typeface="Yu Gothic" pitchFamily="34" charset="-122"/>
                <a:cs typeface="Yu Gothic" pitchFamily="34" charset="-120"/>
              </a:rPr>
              <a:t>05</a:t>
            </a:r>
            <a:endParaRPr lang="en-US" sz="660" dirty="0"/>
          </a:p>
        </p:txBody>
      </p:sp>
      <p:sp>
        <p:nvSpPr>
          <p:cNvPr id="154" name="t1_144"/>
          <p:cNvSpPr txBox="1"/>
          <p:nvPr/>
        </p:nvSpPr>
        <p:spPr>
          <a:xfrm>
            <a:off x="3810000" y="10261600"/>
            <a:ext cx="4690864" cy="152400"/>
          </a:xfrm>
          <a:prstGeom prst="rect">
            <a:avLst/>
          </a:prstGeom>
          <a:solidFill>
            <a:srgbClr val="FFFFFF"/>
          </a:solidFill>
          <a:ln/>
        </p:spPr>
        <p:txBody>
          <a:bodyPr wrap="none" lIns="25400" tIns="38100" rIns="38100" bIns="25400" rtlCol="0" anchor="ctr"/>
          <a:lstStyle/>
          <a:p>
            <a:pPr algn="l" indent="0" marL="0">
              <a:buNone/>
            </a:pPr>
            <a:r>
              <a:rPr lang="en-US" sz="660" spc="50" kern="0" dirty="0">
                <a:solidFill>
                  <a:srgbClr val="999999"/>
                </a:solidFill>
                <a:latin typeface="Yu Gothic" pitchFamily="34" charset="0"/>
                <a:ea typeface="Yu Gothic" pitchFamily="34" charset="-122"/>
                <a:cs typeface="Yu Gothic" pitchFamily="34" charset="-120"/>
              </a:rPr>
              <a:t>台割 完成版（構成確認用・PwC様レビュー10/2反映）— 青ラベル＝改善点／本文は日本語字数、英語語数は目安</a:t>
            </a:r>
            <a:endParaRPr lang="en-US" sz="660" dirty="0"/>
          </a:p>
        </p:txBody>
      </p:sp>
      <p:sp>
        <p:nvSpPr>
          <p:cNvPr id="155" name="Shape 148"/>
          <p:cNvSpPr/>
          <p:nvPr/>
        </p:nvSpPr>
        <p:spPr>
          <a:xfrm>
            <a:off x="7556500" y="0"/>
            <a:ext cx="0" cy="10693400"/>
          </a:xfrm>
          <a:prstGeom prst="line">
            <a:avLst/>
          </a:prstGeom>
          <a:noFill/>
          <a:ln w="9525">
            <a:solidFill>
              <a:srgbClr val="D5D8DB"/>
            </a:solidFill>
            <a:prstDash val="dash"/>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2_0"/>
          <p:cNvSpPr txBox="1"/>
          <p:nvPr/>
        </p:nvSpPr>
        <p:spPr>
          <a:xfrm>
            <a:off x="609600" y="431800"/>
            <a:ext cx="2574433" cy="139700"/>
          </a:xfrm>
          <a:prstGeom prst="rect">
            <a:avLst/>
          </a:prstGeom>
          <a:noFill/>
          <a:ln/>
        </p:spPr>
        <p:txBody>
          <a:bodyPr wrap="none" lIns="0" tIns="0" rIns="0" bIns="0" rtlCol="0" anchor="t"/>
          <a:lstStyle/>
          <a:p>
            <a:pPr algn="l" indent="0" marL="0">
              <a:lnSpc>
                <a:spcPts val="962"/>
              </a:lnSpc>
              <a:buNone/>
            </a:pPr>
            <a:r>
              <a:rPr lang="en-US" sz="740" spc="120" kern="0" dirty="0">
                <a:solidFill>
                  <a:srgbClr val="555555"/>
                </a:solidFill>
                <a:latin typeface="Yu Gothic" pitchFamily="34" charset="0"/>
                <a:ea typeface="Yu Gothic" pitchFamily="34" charset="-122"/>
                <a:cs typeface="Yu Gothic" pitchFamily="34" charset="-120"/>
              </a:rPr>
              <a:t>第2章　HOW/WHAT｜独自価値　—　機能・強み</a:t>
            </a:r>
            <a:endParaRPr lang="en-US" sz="740" dirty="0"/>
          </a:p>
        </p:txBody>
      </p:sp>
      <p:sp>
        <p:nvSpPr>
          <p:cNvPr id="4" name="t2_1"/>
          <p:cNvSpPr txBox="1"/>
          <p:nvPr/>
        </p:nvSpPr>
        <p:spPr>
          <a:xfrm>
            <a:off x="6070600" y="406400"/>
            <a:ext cx="1014016" cy="177800"/>
          </a:xfrm>
          <a:prstGeom prst="roundRect">
            <a:avLst>
              <a:gd name="adj" fmla="val 257143"/>
            </a:avLst>
          </a:prstGeom>
          <a:noFill/>
          <a:ln w="12700">
            <a:solidFill>
              <a:srgbClr val="AAAAAA"/>
            </a:solidFill>
            <a:prstDash val="solid"/>
          </a:ln>
        </p:spPr>
        <p:txBody>
          <a:bodyPr wrap="square" lIns="25400" tIns="38100" rIns="38100" bIns="25400" rtlCol="0" anchor="t"/>
          <a:lstStyle/>
          <a:p>
            <a:pPr algn="l" indent="0" marL="0">
              <a:lnSpc>
                <a:spcPts val="858"/>
              </a:lnSpc>
              <a:buNone/>
            </a:pPr>
            <a:r>
              <a:rPr lang="en-US" sz="660" spc="50" kern="0" dirty="0">
                <a:solidFill>
                  <a:srgbClr val="777777"/>
                </a:solidFill>
                <a:latin typeface="Yu Gothic" pitchFamily="34" charset="0"/>
                <a:ea typeface="Yu Gothic" pitchFamily="34" charset="-122"/>
                <a:cs typeface="Yu Gothic" pitchFamily="34" charset="-120"/>
              </a:rPr>
              <a:t>読み手の心理：納得</a:t>
            </a:r>
            <a:endParaRPr lang="en-US" sz="660" dirty="0"/>
          </a:p>
        </p:txBody>
      </p:sp>
      <p:sp>
        <p:nvSpPr>
          <p:cNvPr id="5" name="t2_2"/>
          <p:cNvSpPr txBox="1"/>
          <p:nvPr/>
        </p:nvSpPr>
        <p:spPr>
          <a:xfrm>
            <a:off x="609600" y="762000"/>
            <a:ext cx="6352540" cy="320040"/>
          </a:xfrm>
          <a:prstGeom prst="rect">
            <a:avLst/>
          </a:prstGeom>
          <a:noFill/>
          <a:ln/>
        </p:spPr>
        <p:txBody>
          <a:bodyPr wrap="none" lIns="0" tIns="0" rIns="0" bIns="0" rtlCol="0" anchor="t"/>
          <a:lstStyle/>
          <a:p>
            <a:pPr algn="l" indent="0" marL="0">
              <a:lnSpc>
                <a:spcPts val="2520"/>
              </a:lnSpc>
              <a:buNone/>
            </a:pPr>
            <a:r>
              <a:rPr lang="en-US" sz="1800" spc="80" kern="0" dirty="0">
                <a:solidFill>
                  <a:srgbClr val="222222"/>
                </a:solidFill>
                <a:latin typeface="Yu Gothic" pitchFamily="34" charset="0"/>
                <a:ea typeface="Yu Gothic" pitchFamily="34" charset="-122"/>
                <a:cs typeface="Yu Gothic" pitchFamily="34" charset="-120"/>
              </a:rPr>
              <a:t>わが社資産の強み</a:t>
            </a:r>
            <a:endParaRPr lang="en-US" sz="1800" dirty="0"/>
          </a:p>
        </p:txBody>
      </p:sp>
      <p:sp>
        <p:nvSpPr>
          <p:cNvPr id="6" name="t2_3"/>
          <p:cNvSpPr txBox="1"/>
          <p:nvPr/>
        </p:nvSpPr>
        <p:spPr>
          <a:xfrm>
            <a:off x="609600" y="1117600"/>
            <a:ext cx="6352540" cy="196850"/>
          </a:xfrm>
          <a:prstGeom prst="rect">
            <a:avLst/>
          </a:prstGeom>
          <a:noFill/>
          <a:ln/>
        </p:spPr>
        <p:txBody>
          <a:bodyPr wrap="none" lIns="0" tIns="0" rIns="0" bIns="0" rtlCol="0" anchor="t"/>
          <a:lstStyle/>
          <a:p>
            <a:pPr algn="l" indent="0" marL="0">
              <a:lnSpc>
                <a:spcPts val="1550"/>
              </a:lnSpc>
              <a:buNone/>
            </a:pPr>
            <a:r>
              <a:rPr lang="en-US" sz="1000" spc="30" kern="0" dirty="0">
                <a:solidFill>
                  <a:srgbClr val="444444"/>
                </a:solidFill>
                <a:latin typeface="Yu Gothic" pitchFamily="34" charset="0"/>
                <a:ea typeface="Yu Gothic" pitchFamily="34" charset="-122"/>
                <a:cs typeface="Yu Gothic" pitchFamily="34" charset="-120"/>
              </a:rPr>
              <a:t>バリューチェーンの起点で、一級資産を保有する</a:t>
            </a:r>
            <a:endParaRPr lang="en-US" sz="1000" dirty="0"/>
          </a:p>
        </p:txBody>
      </p:sp>
      <p:sp>
        <p:nvSpPr>
          <p:cNvPr id="7" name="t2_4"/>
          <p:cNvSpPr txBox="1"/>
          <p:nvPr/>
        </p:nvSpPr>
        <p:spPr>
          <a:xfrm>
            <a:off x="609600" y="1371600"/>
            <a:ext cx="6603492" cy="173236"/>
          </a:xfrm>
          <a:prstGeom prst="rect">
            <a:avLst/>
          </a:prstGeom>
          <a:noFill/>
          <a:ln/>
        </p:spPr>
        <p:txBody>
          <a:bodyPr wrap="none" lIns="0" tIns="0" rIns="0" bIns="0" rtlCol="0" anchor="t"/>
          <a:lstStyle/>
          <a:p>
            <a:pPr algn="l" indent="0" marL="0">
              <a:lnSpc>
                <a:spcPts val="1365"/>
              </a:lnSpc>
              <a:buNone/>
            </a:pPr>
            <a:r>
              <a:rPr lang="en-US" sz="7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ＸＸＸＸＸＸＸＸＸＸＸＸＸＸＸＸＸＸＸＸＸＸＸＸＸＸＸＸＸＸＸＸＸＸＸＸＸＸＸＸＸＸＸＸＸＸＸＸＸＸＸＸＸＸＸＸＸＸＸＸ</a:t>
            </a:r>
            <a:endParaRPr lang="en-US" sz="780" dirty="0"/>
          </a:p>
        </p:txBody>
      </p:sp>
      <p:sp>
        <p:nvSpPr>
          <p:cNvPr id="8" name="t2_5"/>
          <p:cNvSpPr txBox="1"/>
          <p:nvPr/>
        </p:nvSpPr>
        <p:spPr>
          <a:xfrm>
            <a:off x="609600" y="1557536"/>
            <a:ext cx="938292" cy="114300"/>
          </a:xfrm>
          <a:prstGeom prst="rect">
            <a:avLst/>
          </a:prstGeom>
          <a:noFill/>
          <a:ln/>
        </p:spPr>
        <p:txBody>
          <a:bodyPr wrap="none" lIns="0" tIns="0" rIns="0" bIns="0" rtlCol="0" anchor="t"/>
          <a:lstStyle/>
          <a:p>
            <a:pPr algn="l" indent="0" marL="0">
              <a:lnSpc>
                <a:spcPts val="754"/>
              </a:lnSpc>
              <a:buNone/>
            </a:pPr>
            <a:r>
              <a:rPr lang="en-US" sz="580" spc="30" kern="0" dirty="0">
                <a:solidFill>
                  <a:srgbClr val="B0B4B8"/>
                </a:solidFill>
                <a:latin typeface="Yu Gothic" pitchFamily="34" charset="0"/>
                <a:ea typeface="Yu Gothic" pitchFamily="34" charset="-122"/>
                <a:cs typeface="Yu Gothic" pitchFamily="34" charset="-120"/>
              </a:rPr>
              <a:t>▸本文 60字／英語 約33語</a:t>
            </a:r>
            <a:endParaRPr lang="en-US" sz="580" dirty="0"/>
          </a:p>
        </p:txBody>
      </p:sp>
      <p:sp>
        <p:nvSpPr>
          <p:cNvPr id="9" name="t2_6"/>
          <p:cNvSpPr txBox="1"/>
          <p:nvPr/>
        </p:nvSpPr>
        <p:spPr>
          <a:xfrm>
            <a:off x="609600" y="1778000"/>
            <a:ext cx="3222244" cy="241300"/>
          </a:xfrm>
          <a:prstGeom prst="rect">
            <a:avLst/>
          </a:prstGeom>
          <a:noFill/>
          <a:ln/>
        </p:spPr>
        <p:txBody>
          <a:bodyPr wrap="none" lIns="0" tIns="0" rIns="0" bIns="0" rtlCol="0" anchor="t"/>
          <a:lstStyle/>
          <a:p>
            <a:pPr algn="l" indent="0" marL="0">
              <a:lnSpc>
                <a:spcPts val="1300"/>
              </a:lnSpc>
              <a:buNone/>
            </a:pPr>
            <a:r>
              <a:rPr lang="en-US" sz="1000" b="1" dirty="0">
                <a:solidFill>
                  <a:srgbClr val="222222"/>
                </a:solidFill>
                <a:latin typeface="Yu Gothic" pitchFamily="34" charset="0"/>
                <a:ea typeface="Yu Gothic" pitchFamily="34" charset="-122"/>
                <a:cs typeface="Yu Gothic" pitchFamily="34" charset="-120"/>
              </a:rPr>
              <a:t>原料炭</a:t>
            </a:r>
            <a:pPr algn="l" indent="0" marL="0">
              <a:lnSpc>
                <a:spcPts val="1300"/>
              </a:lnSpc>
              <a:buNone/>
            </a:pPr>
            <a:r>
              <a:rPr lang="en-US" sz="700" dirty="0">
                <a:solidFill>
                  <a:srgbClr val="666666"/>
                </a:solidFill>
                <a:latin typeface="Yu Gothic" pitchFamily="34" charset="0"/>
                <a:ea typeface="Yu Gothic" pitchFamily="34" charset="-122"/>
                <a:cs typeface="Yu Gothic" pitchFamily="34" charset="-120"/>
              </a:rPr>
              <a:t>　世界最大級の原料炭事業</a:t>
            </a:r>
            <a:endParaRPr lang="en-US" sz="1000" dirty="0"/>
          </a:p>
        </p:txBody>
      </p:sp>
      <p:sp>
        <p:nvSpPr>
          <p:cNvPr id="10" name="t2_7"/>
          <p:cNvSpPr txBox="1"/>
          <p:nvPr/>
        </p:nvSpPr>
        <p:spPr>
          <a:xfrm>
            <a:off x="609600" y="2082800"/>
            <a:ext cx="673100" cy="114300"/>
          </a:xfrm>
          <a:prstGeom prst="rect">
            <a:avLst/>
          </a:prstGeom>
          <a:noFill/>
          <a:ln/>
        </p:spPr>
        <p:txBody>
          <a:bodyPr wrap="none" lIns="0" tIns="0" rIns="0" bIns="0" rtlCol="0" anchor="t"/>
          <a:lstStyle/>
          <a:p>
            <a:pPr algn="l" indent="0" marL="0">
              <a:lnSpc>
                <a:spcPts val="832"/>
              </a:lnSpc>
              <a:buNone/>
            </a:pPr>
            <a:r>
              <a:rPr lang="en-US" sz="640" spc="80" kern="0" dirty="0">
                <a:solidFill>
                  <a:srgbClr val="777777"/>
                </a:solidFill>
                <a:latin typeface="Yu Gothic" pitchFamily="34" charset="0"/>
                <a:ea typeface="Yu Gothic" pitchFamily="34" charset="-122"/>
                <a:cs typeface="Yu Gothic" pitchFamily="34" charset="-120"/>
              </a:rPr>
              <a:t>Market</a:t>
            </a:r>
            <a:endParaRPr lang="en-US" sz="640" dirty="0"/>
          </a:p>
        </p:txBody>
      </p:sp>
      <p:sp>
        <p:nvSpPr>
          <p:cNvPr id="11" name="t2_8"/>
          <p:cNvSpPr txBox="1"/>
          <p:nvPr/>
        </p:nvSpPr>
        <p:spPr>
          <a:xfrm>
            <a:off x="1270000" y="2057400"/>
            <a:ext cx="2522220" cy="186690"/>
          </a:xfrm>
          <a:prstGeom prst="rect">
            <a:avLst/>
          </a:prstGeom>
          <a:noFill/>
          <a:ln/>
        </p:spPr>
        <p:txBody>
          <a:bodyPr wrap="none" lIns="0" tIns="0" rIns="0" bIns="0" rtlCol="0" anchor="t"/>
          <a:lstStyle/>
          <a:p>
            <a:pPr algn="l" indent="0" marL="0">
              <a:lnSpc>
                <a:spcPts val="1260"/>
              </a:lnSpc>
              <a:buNone/>
            </a:pPr>
            <a:r>
              <a:rPr lang="en-US" sz="1050" dirty="0">
                <a:solidFill>
                  <a:srgbClr val="222222"/>
                </a:solidFill>
                <a:latin typeface="Yu Gothic" pitchFamily="34" charset="0"/>
                <a:ea typeface="Yu Gothic" pitchFamily="34" charset="-122"/>
                <a:cs typeface="Yu Gothic" pitchFamily="34" charset="-120"/>
              </a:rPr>
              <a:t>上位5社で約80%</a:t>
            </a:r>
            <a:endParaRPr lang="en-US" sz="1050" dirty="0"/>
          </a:p>
        </p:txBody>
      </p:sp>
      <p:sp>
        <p:nvSpPr>
          <p:cNvPr id="12" name="t2_9"/>
          <p:cNvSpPr txBox="1"/>
          <p:nvPr/>
        </p:nvSpPr>
        <p:spPr>
          <a:xfrm>
            <a:off x="1270000" y="2273300"/>
            <a:ext cx="2522220" cy="117872"/>
          </a:xfrm>
          <a:prstGeom prst="rect">
            <a:avLst/>
          </a:prstGeom>
          <a:noFill/>
          <a:ln/>
        </p:spPr>
        <p:txBody>
          <a:bodyPr wrap="none" lIns="0" tIns="0" rIns="0" bIns="0" rtlCol="0" anchor="t"/>
          <a:lstStyle/>
          <a:p>
            <a:pPr algn="l" indent="0" marL="0">
              <a:lnSpc>
                <a:spcPts val="928"/>
              </a:lnSpc>
              <a:buNone/>
            </a:pPr>
            <a:r>
              <a:rPr lang="en-US" sz="640" dirty="0">
                <a:solidFill>
                  <a:srgbClr val="555555"/>
                </a:solidFill>
                <a:latin typeface="Yu Gothic" pitchFamily="34" charset="0"/>
                <a:ea typeface="Yu Gothic" pitchFamily="34" charset="-122"/>
                <a:cs typeface="Yu Gothic" pitchFamily="34" charset="-120"/>
              </a:rPr>
              <a:t>寡占度が高く、供給は漸減</a:t>
            </a:r>
            <a:endParaRPr lang="en-US" sz="640" dirty="0"/>
          </a:p>
        </p:txBody>
      </p:sp>
      <p:sp>
        <p:nvSpPr>
          <p:cNvPr id="13" name="t2_10"/>
          <p:cNvSpPr txBox="1"/>
          <p:nvPr/>
        </p:nvSpPr>
        <p:spPr>
          <a:xfrm>
            <a:off x="609600" y="2590800"/>
            <a:ext cx="673100" cy="114300"/>
          </a:xfrm>
          <a:prstGeom prst="rect">
            <a:avLst/>
          </a:prstGeom>
          <a:noFill/>
          <a:ln/>
        </p:spPr>
        <p:txBody>
          <a:bodyPr wrap="none" lIns="0" tIns="0" rIns="0" bIns="0" rtlCol="0" anchor="t"/>
          <a:lstStyle/>
          <a:p>
            <a:pPr algn="l" indent="0" marL="0">
              <a:lnSpc>
                <a:spcPts val="832"/>
              </a:lnSpc>
              <a:buNone/>
            </a:pPr>
            <a:r>
              <a:rPr lang="en-US" sz="640" spc="80" kern="0" dirty="0">
                <a:solidFill>
                  <a:srgbClr val="777777"/>
                </a:solidFill>
                <a:latin typeface="Yu Gothic" pitchFamily="34" charset="0"/>
                <a:ea typeface="Yu Gothic" pitchFamily="34" charset="-122"/>
                <a:cs typeface="Yu Gothic" pitchFamily="34" charset="-120"/>
              </a:rPr>
              <a:t>Scale</a:t>
            </a:r>
            <a:endParaRPr lang="en-US" sz="640" dirty="0"/>
          </a:p>
        </p:txBody>
      </p:sp>
      <p:sp>
        <p:nvSpPr>
          <p:cNvPr id="14" name="t2_11"/>
          <p:cNvSpPr txBox="1"/>
          <p:nvPr/>
        </p:nvSpPr>
        <p:spPr>
          <a:xfrm>
            <a:off x="1270000" y="2565400"/>
            <a:ext cx="2522220" cy="186690"/>
          </a:xfrm>
          <a:prstGeom prst="rect">
            <a:avLst/>
          </a:prstGeom>
          <a:noFill/>
          <a:ln/>
        </p:spPr>
        <p:txBody>
          <a:bodyPr wrap="none" lIns="0" tIns="0" rIns="0" bIns="0" rtlCol="0" anchor="t"/>
          <a:lstStyle/>
          <a:p>
            <a:pPr algn="l" indent="0" marL="0">
              <a:lnSpc>
                <a:spcPts val="1260"/>
              </a:lnSpc>
              <a:buNone/>
            </a:pPr>
            <a:r>
              <a:rPr lang="en-US" sz="1050" dirty="0">
                <a:solidFill>
                  <a:srgbClr val="222222"/>
                </a:solidFill>
                <a:latin typeface="Yu Gothic" pitchFamily="34" charset="0"/>
                <a:ea typeface="Yu Gothic" pitchFamily="34" charset="-122"/>
                <a:cs typeface="Yu Gothic" pitchFamily="34" charset="-120"/>
              </a:rPr>
              <a:t>BMAで約50%</a:t>
            </a:r>
            <a:endParaRPr lang="en-US" sz="1050" dirty="0"/>
          </a:p>
        </p:txBody>
      </p:sp>
      <p:sp>
        <p:nvSpPr>
          <p:cNvPr id="15" name="t2_12"/>
          <p:cNvSpPr txBox="1"/>
          <p:nvPr/>
        </p:nvSpPr>
        <p:spPr>
          <a:xfrm>
            <a:off x="1270000" y="2781300"/>
            <a:ext cx="2522220" cy="117872"/>
          </a:xfrm>
          <a:prstGeom prst="rect">
            <a:avLst/>
          </a:prstGeom>
          <a:noFill/>
          <a:ln/>
        </p:spPr>
        <p:txBody>
          <a:bodyPr wrap="none" lIns="0" tIns="0" rIns="0" bIns="0" rtlCol="0" anchor="t"/>
          <a:lstStyle/>
          <a:p>
            <a:pPr algn="l" indent="0" marL="0">
              <a:lnSpc>
                <a:spcPts val="928"/>
              </a:lnSpc>
              <a:buNone/>
            </a:pPr>
            <a:r>
              <a:rPr lang="en-US" sz="640" dirty="0">
                <a:solidFill>
                  <a:srgbClr val="555555"/>
                </a:solidFill>
                <a:latin typeface="Yu Gothic" pitchFamily="34" charset="0"/>
                <a:ea typeface="Yu Gothic" pitchFamily="34" charset="-122"/>
                <a:cs typeface="Yu Gothic" pitchFamily="34" charset="-120"/>
              </a:rPr>
              <a:t>一級強粘炭供給に占めるシェア</a:t>
            </a:r>
            <a:endParaRPr lang="en-US" sz="640" dirty="0"/>
          </a:p>
        </p:txBody>
      </p:sp>
      <p:sp>
        <p:nvSpPr>
          <p:cNvPr id="16" name="t2_13"/>
          <p:cNvSpPr txBox="1"/>
          <p:nvPr/>
        </p:nvSpPr>
        <p:spPr>
          <a:xfrm>
            <a:off x="609600" y="3098800"/>
            <a:ext cx="673100" cy="114300"/>
          </a:xfrm>
          <a:prstGeom prst="rect">
            <a:avLst/>
          </a:prstGeom>
          <a:noFill/>
          <a:ln/>
        </p:spPr>
        <p:txBody>
          <a:bodyPr wrap="none" lIns="0" tIns="0" rIns="0" bIns="0" rtlCol="0" anchor="t"/>
          <a:lstStyle/>
          <a:p>
            <a:pPr algn="l" indent="0" marL="0">
              <a:lnSpc>
                <a:spcPts val="832"/>
              </a:lnSpc>
              <a:buNone/>
            </a:pPr>
            <a:r>
              <a:rPr lang="en-US" sz="640" spc="80" kern="0" dirty="0">
                <a:solidFill>
                  <a:srgbClr val="777777"/>
                </a:solidFill>
                <a:latin typeface="Yu Gothic" pitchFamily="34" charset="0"/>
                <a:ea typeface="Yu Gothic" pitchFamily="34" charset="-122"/>
                <a:cs typeface="Yu Gothic" pitchFamily="34" charset="-120"/>
              </a:rPr>
              <a:t>Quality</a:t>
            </a:r>
            <a:endParaRPr lang="en-US" sz="640" dirty="0"/>
          </a:p>
        </p:txBody>
      </p:sp>
      <p:sp>
        <p:nvSpPr>
          <p:cNvPr id="17" name="t2_14"/>
          <p:cNvSpPr txBox="1"/>
          <p:nvPr/>
        </p:nvSpPr>
        <p:spPr>
          <a:xfrm>
            <a:off x="1270000" y="3073400"/>
            <a:ext cx="2522220" cy="186690"/>
          </a:xfrm>
          <a:prstGeom prst="rect">
            <a:avLst/>
          </a:prstGeom>
          <a:noFill/>
          <a:ln/>
        </p:spPr>
        <p:txBody>
          <a:bodyPr wrap="none" lIns="0" tIns="0" rIns="0" bIns="0" rtlCol="0" anchor="t"/>
          <a:lstStyle/>
          <a:p>
            <a:pPr algn="l" indent="0" marL="0">
              <a:lnSpc>
                <a:spcPts val="1260"/>
              </a:lnSpc>
              <a:buNone/>
            </a:pPr>
            <a:r>
              <a:rPr lang="en-US" sz="1050" dirty="0">
                <a:solidFill>
                  <a:srgbClr val="222222"/>
                </a:solidFill>
                <a:latin typeface="Yu Gothic" pitchFamily="34" charset="0"/>
                <a:ea typeface="Yu Gothic" pitchFamily="34" charset="-122"/>
                <a:cs typeface="Yu Gothic" pitchFamily="34" charset="-120"/>
              </a:rPr>
              <a:t>高品位に集約</a:t>
            </a:r>
            <a:endParaRPr lang="en-US" sz="1050" dirty="0"/>
          </a:p>
        </p:txBody>
      </p:sp>
      <p:sp>
        <p:nvSpPr>
          <p:cNvPr id="18" name="t2_15"/>
          <p:cNvSpPr txBox="1"/>
          <p:nvPr/>
        </p:nvSpPr>
        <p:spPr>
          <a:xfrm>
            <a:off x="1270000" y="3289300"/>
            <a:ext cx="2522220" cy="117872"/>
          </a:xfrm>
          <a:prstGeom prst="rect">
            <a:avLst/>
          </a:prstGeom>
          <a:noFill/>
          <a:ln/>
        </p:spPr>
        <p:txBody>
          <a:bodyPr wrap="none" lIns="0" tIns="0" rIns="0" bIns="0" rtlCol="0" anchor="t"/>
          <a:lstStyle/>
          <a:p>
            <a:pPr algn="l" indent="0" marL="0">
              <a:lnSpc>
                <a:spcPts val="928"/>
              </a:lnSpc>
              <a:buNone/>
            </a:pPr>
            <a:r>
              <a:rPr lang="en-US" sz="640" dirty="0">
                <a:solidFill>
                  <a:srgbClr val="555555"/>
                </a:solidFill>
                <a:latin typeface="Yu Gothic" pitchFamily="34" charset="0"/>
                <a:ea typeface="Yu Gothic" pitchFamily="34" charset="-122"/>
                <a:cs typeface="Yu Gothic" pitchFamily="34" charset="-120"/>
              </a:rPr>
              <a:t>港湾・鉄道も自社保有し全体最適</a:t>
            </a:r>
            <a:endParaRPr lang="en-US" sz="640" dirty="0"/>
          </a:p>
        </p:txBody>
      </p:sp>
      <p:sp>
        <p:nvSpPr>
          <p:cNvPr id="19" name="t2_16"/>
          <p:cNvSpPr txBox="1"/>
          <p:nvPr/>
        </p:nvSpPr>
        <p:spPr>
          <a:xfrm>
            <a:off x="3860800" y="1778000"/>
            <a:ext cx="3222244" cy="241300"/>
          </a:xfrm>
          <a:prstGeom prst="rect">
            <a:avLst/>
          </a:prstGeom>
          <a:noFill/>
          <a:ln/>
        </p:spPr>
        <p:txBody>
          <a:bodyPr wrap="none" lIns="0" tIns="0" rIns="0" bIns="0" rtlCol="0" anchor="t"/>
          <a:lstStyle/>
          <a:p>
            <a:pPr algn="l" indent="0" marL="0">
              <a:lnSpc>
                <a:spcPts val="1300"/>
              </a:lnSpc>
              <a:buNone/>
            </a:pPr>
            <a:r>
              <a:rPr lang="en-US" sz="1000" b="1" dirty="0">
                <a:solidFill>
                  <a:srgbClr val="222222"/>
                </a:solidFill>
                <a:latin typeface="Yu Gothic" pitchFamily="34" charset="0"/>
                <a:ea typeface="Yu Gothic" pitchFamily="34" charset="-122"/>
                <a:cs typeface="Yu Gothic" pitchFamily="34" charset="-120"/>
              </a:rPr>
              <a:t>銅</a:t>
            </a:r>
            <a:pPr algn="l" indent="0" marL="0">
              <a:lnSpc>
                <a:spcPts val="1300"/>
              </a:lnSpc>
              <a:buNone/>
            </a:pPr>
            <a:r>
              <a:rPr lang="en-US" sz="700" dirty="0">
                <a:solidFill>
                  <a:srgbClr val="666666"/>
                </a:solidFill>
                <a:latin typeface="Yu Gothic" pitchFamily="34" charset="0"/>
                <a:ea typeface="Yu Gothic" pitchFamily="34" charset="-122"/>
                <a:cs typeface="Yu Gothic" pitchFamily="34" charset="-120"/>
              </a:rPr>
              <a:t>　世界トップクラスの資産</a:t>
            </a:r>
            <a:endParaRPr lang="en-US" sz="1000" dirty="0"/>
          </a:p>
        </p:txBody>
      </p:sp>
      <p:sp>
        <p:nvSpPr>
          <p:cNvPr id="20" name="t2_17"/>
          <p:cNvSpPr txBox="1"/>
          <p:nvPr/>
        </p:nvSpPr>
        <p:spPr>
          <a:xfrm>
            <a:off x="3860800" y="2082800"/>
            <a:ext cx="673100" cy="114300"/>
          </a:xfrm>
          <a:prstGeom prst="rect">
            <a:avLst/>
          </a:prstGeom>
          <a:noFill/>
          <a:ln/>
        </p:spPr>
        <p:txBody>
          <a:bodyPr wrap="none" lIns="0" tIns="0" rIns="0" bIns="0" rtlCol="0" anchor="t"/>
          <a:lstStyle/>
          <a:p>
            <a:pPr algn="l" indent="0" marL="0">
              <a:lnSpc>
                <a:spcPts val="832"/>
              </a:lnSpc>
              <a:buNone/>
            </a:pPr>
            <a:r>
              <a:rPr lang="en-US" sz="640" spc="80" kern="0" dirty="0">
                <a:solidFill>
                  <a:srgbClr val="777777"/>
                </a:solidFill>
                <a:latin typeface="Yu Gothic" pitchFamily="34" charset="0"/>
                <a:ea typeface="Yu Gothic" pitchFamily="34" charset="-122"/>
                <a:cs typeface="Yu Gothic" pitchFamily="34" charset="-120"/>
              </a:rPr>
              <a:t>Market</a:t>
            </a:r>
            <a:endParaRPr lang="en-US" sz="640" dirty="0"/>
          </a:p>
        </p:txBody>
      </p:sp>
      <p:sp>
        <p:nvSpPr>
          <p:cNvPr id="21" name="t2_18"/>
          <p:cNvSpPr txBox="1"/>
          <p:nvPr/>
        </p:nvSpPr>
        <p:spPr>
          <a:xfrm>
            <a:off x="4521200" y="2057400"/>
            <a:ext cx="2522220" cy="186690"/>
          </a:xfrm>
          <a:prstGeom prst="rect">
            <a:avLst/>
          </a:prstGeom>
          <a:noFill/>
          <a:ln/>
        </p:spPr>
        <p:txBody>
          <a:bodyPr wrap="none" lIns="0" tIns="0" rIns="0" bIns="0" rtlCol="0" anchor="t"/>
          <a:lstStyle/>
          <a:p>
            <a:pPr algn="l" indent="0" marL="0">
              <a:lnSpc>
                <a:spcPts val="1260"/>
              </a:lnSpc>
              <a:buNone/>
            </a:pPr>
            <a:r>
              <a:rPr lang="en-US" sz="1050" dirty="0">
                <a:solidFill>
                  <a:srgbClr val="222222"/>
                </a:solidFill>
                <a:latin typeface="Yu Gothic" pitchFamily="34" charset="0"/>
                <a:ea typeface="Yu Gothic" pitchFamily="34" charset="-122"/>
                <a:cs typeface="Yu Gothic" pitchFamily="34" charset="-120"/>
              </a:rPr>
              <a:t>上位5社で約25%</a:t>
            </a:r>
            <a:endParaRPr lang="en-US" sz="1050" dirty="0"/>
          </a:p>
        </p:txBody>
      </p:sp>
      <p:sp>
        <p:nvSpPr>
          <p:cNvPr id="22" name="t2_19"/>
          <p:cNvSpPr txBox="1"/>
          <p:nvPr/>
        </p:nvSpPr>
        <p:spPr>
          <a:xfrm>
            <a:off x="4521200" y="2273300"/>
            <a:ext cx="2522220" cy="117872"/>
          </a:xfrm>
          <a:prstGeom prst="rect">
            <a:avLst/>
          </a:prstGeom>
          <a:noFill/>
          <a:ln/>
        </p:spPr>
        <p:txBody>
          <a:bodyPr wrap="none" lIns="0" tIns="0" rIns="0" bIns="0" rtlCol="0" anchor="t"/>
          <a:lstStyle/>
          <a:p>
            <a:pPr algn="l" indent="0" marL="0">
              <a:lnSpc>
                <a:spcPts val="928"/>
              </a:lnSpc>
              <a:buNone/>
            </a:pPr>
            <a:r>
              <a:rPr lang="en-US" sz="640" dirty="0">
                <a:solidFill>
                  <a:srgbClr val="555555"/>
                </a:solidFill>
                <a:latin typeface="Yu Gothic" pitchFamily="34" charset="0"/>
                <a:ea typeface="Yu Gothic" pitchFamily="34" charset="-122"/>
                <a:cs typeface="Yu Gothic" pitchFamily="34" charset="-120"/>
              </a:rPr>
              <a:t>寡占化が進まず、再編の機運</a:t>
            </a:r>
            <a:endParaRPr lang="en-US" sz="640" dirty="0"/>
          </a:p>
        </p:txBody>
      </p:sp>
      <p:sp>
        <p:nvSpPr>
          <p:cNvPr id="23" name="t2_20"/>
          <p:cNvSpPr txBox="1"/>
          <p:nvPr/>
        </p:nvSpPr>
        <p:spPr>
          <a:xfrm>
            <a:off x="3860800" y="2590800"/>
            <a:ext cx="673100" cy="114300"/>
          </a:xfrm>
          <a:prstGeom prst="rect">
            <a:avLst/>
          </a:prstGeom>
          <a:noFill/>
          <a:ln/>
        </p:spPr>
        <p:txBody>
          <a:bodyPr wrap="none" lIns="0" tIns="0" rIns="0" bIns="0" rtlCol="0" anchor="t"/>
          <a:lstStyle/>
          <a:p>
            <a:pPr algn="l" indent="0" marL="0">
              <a:lnSpc>
                <a:spcPts val="832"/>
              </a:lnSpc>
              <a:buNone/>
            </a:pPr>
            <a:r>
              <a:rPr lang="en-US" sz="640" spc="80" kern="0" dirty="0">
                <a:solidFill>
                  <a:srgbClr val="777777"/>
                </a:solidFill>
                <a:latin typeface="Yu Gothic" pitchFamily="34" charset="0"/>
                <a:ea typeface="Yu Gothic" pitchFamily="34" charset="-122"/>
                <a:cs typeface="Yu Gothic" pitchFamily="34" charset="-120"/>
              </a:rPr>
              <a:t>Scale</a:t>
            </a:r>
            <a:endParaRPr lang="en-US" sz="640" dirty="0"/>
          </a:p>
        </p:txBody>
      </p:sp>
      <p:sp>
        <p:nvSpPr>
          <p:cNvPr id="24" name="t2_21"/>
          <p:cNvSpPr txBox="1"/>
          <p:nvPr/>
        </p:nvSpPr>
        <p:spPr>
          <a:xfrm>
            <a:off x="4521200" y="2565400"/>
            <a:ext cx="2522220" cy="186690"/>
          </a:xfrm>
          <a:prstGeom prst="rect">
            <a:avLst/>
          </a:prstGeom>
          <a:noFill/>
          <a:ln/>
        </p:spPr>
        <p:txBody>
          <a:bodyPr wrap="none" lIns="0" tIns="0" rIns="0" bIns="0" rtlCol="0" anchor="t"/>
          <a:lstStyle/>
          <a:p>
            <a:pPr algn="l" indent="0" marL="0">
              <a:lnSpc>
                <a:spcPts val="1260"/>
              </a:lnSpc>
              <a:buNone/>
            </a:pPr>
            <a:r>
              <a:rPr lang="en-US" sz="1050" dirty="0">
                <a:solidFill>
                  <a:srgbClr val="222222"/>
                </a:solidFill>
                <a:latin typeface="Yu Gothic" pitchFamily="34" charset="0"/>
                <a:ea typeface="Yu Gothic" pitchFamily="34" charset="-122"/>
                <a:cs typeface="Yu Gothic" pitchFamily="34" charset="-120"/>
              </a:rPr>
              <a:t>ノンオペレーターとして世界最大</a:t>
            </a:r>
            <a:endParaRPr lang="en-US" sz="1050" dirty="0"/>
          </a:p>
        </p:txBody>
      </p:sp>
      <p:sp>
        <p:nvSpPr>
          <p:cNvPr id="25" name="t2_22"/>
          <p:cNvSpPr txBox="1"/>
          <p:nvPr/>
        </p:nvSpPr>
        <p:spPr>
          <a:xfrm>
            <a:off x="4521200" y="2781300"/>
            <a:ext cx="2522220" cy="117872"/>
          </a:xfrm>
          <a:prstGeom prst="rect">
            <a:avLst/>
          </a:prstGeom>
          <a:noFill/>
          <a:ln/>
        </p:spPr>
        <p:txBody>
          <a:bodyPr wrap="none" lIns="0" tIns="0" rIns="0" bIns="0" rtlCol="0" anchor="t"/>
          <a:lstStyle/>
          <a:p>
            <a:pPr algn="l" indent="0" marL="0">
              <a:lnSpc>
                <a:spcPts val="928"/>
              </a:lnSpc>
              <a:buNone/>
            </a:pPr>
            <a:r>
              <a:rPr lang="en-US" sz="640" dirty="0">
                <a:solidFill>
                  <a:srgbClr val="555555"/>
                </a:solidFill>
                <a:latin typeface="Yu Gothic" pitchFamily="34" charset="0"/>
                <a:ea typeface="Yu Gothic" pitchFamily="34" charset="-122"/>
                <a:cs typeface="Yu Gothic" pitchFamily="34" charset="-120"/>
              </a:rPr>
              <a:t>持分生産量 世界20位・本邦首位</a:t>
            </a:r>
            <a:endParaRPr lang="en-US" sz="640" dirty="0"/>
          </a:p>
        </p:txBody>
      </p:sp>
      <p:sp>
        <p:nvSpPr>
          <p:cNvPr id="26" name="t2_23"/>
          <p:cNvSpPr txBox="1"/>
          <p:nvPr/>
        </p:nvSpPr>
        <p:spPr>
          <a:xfrm>
            <a:off x="3860800" y="3098800"/>
            <a:ext cx="673100" cy="114300"/>
          </a:xfrm>
          <a:prstGeom prst="rect">
            <a:avLst/>
          </a:prstGeom>
          <a:noFill/>
          <a:ln/>
        </p:spPr>
        <p:txBody>
          <a:bodyPr wrap="none" lIns="0" tIns="0" rIns="0" bIns="0" rtlCol="0" anchor="t"/>
          <a:lstStyle/>
          <a:p>
            <a:pPr algn="l" indent="0" marL="0">
              <a:lnSpc>
                <a:spcPts val="832"/>
              </a:lnSpc>
              <a:buNone/>
            </a:pPr>
            <a:r>
              <a:rPr lang="en-US" sz="640" spc="80" kern="0" dirty="0">
                <a:solidFill>
                  <a:srgbClr val="777777"/>
                </a:solidFill>
                <a:latin typeface="Yu Gothic" pitchFamily="34" charset="0"/>
                <a:ea typeface="Yu Gothic" pitchFamily="34" charset="-122"/>
                <a:cs typeface="Yu Gothic" pitchFamily="34" charset="-120"/>
              </a:rPr>
              <a:t>Quality</a:t>
            </a:r>
            <a:endParaRPr lang="en-US" sz="640" dirty="0"/>
          </a:p>
        </p:txBody>
      </p:sp>
      <p:sp>
        <p:nvSpPr>
          <p:cNvPr id="27" name="t2_24"/>
          <p:cNvSpPr txBox="1"/>
          <p:nvPr/>
        </p:nvSpPr>
        <p:spPr>
          <a:xfrm>
            <a:off x="4521200" y="3073400"/>
            <a:ext cx="2522220" cy="186690"/>
          </a:xfrm>
          <a:prstGeom prst="rect">
            <a:avLst/>
          </a:prstGeom>
          <a:noFill/>
          <a:ln/>
        </p:spPr>
        <p:txBody>
          <a:bodyPr wrap="none" lIns="0" tIns="0" rIns="0" bIns="0" rtlCol="0" anchor="t"/>
          <a:lstStyle/>
          <a:p>
            <a:pPr algn="l" indent="0" marL="0">
              <a:lnSpc>
                <a:spcPts val="1260"/>
              </a:lnSpc>
              <a:buNone/>
            </a:pPr>
            <a:r>
              <a:rPr lang="en-US" sz="1050" dirty="0">
                <a:solidFill>
                  <a:srgbClr val="222222"/>
                </a:solidFill>
                <a:latin typeface="Yu Gothic" pitchFamily="34" charset="0"/>
                <a:ea typeface="Yu Gothic" pitchFamily="34" charset="-122"/>
                <a:cs typeface="Yu Gothic" pitchFamily="34" charset="-120"/>
              </a:rPr>
              <a:t>5鉱山すべて世界Top15</a:t>
            </a:r>
            <a:endParaRPr lang="en-US" sz="1050" dirty="0"/>
          </a:p>
        </p:txBody>
      </p:sp>
      <p:sp>
        <p:nvSpPr>
          <p:cNvPr id="28" name="t2_25"/>
          <p:cNvSpPr txBox="1"/>
          <p:nvPr/>
        </p:nvSpPr>
        <p:spPr>
          <a:xfrm>
            <a:off x="4521200" y="3289300"/>
            <a:ext cx="2522220" cy="117872"/>
          </a:xfrm>
          <a:prstGeom prst="rect">
            <a:avLst/>
          </a:prstGeom>
          <a:noFill/>
          <a:ln/>
        </p:spPr>
        <p:txBody>
          <a:bodyPr wrap="none" lIns="0" tIns="0" rIns="0" bIns="0" rtlCol="0" anchor="t"/>
          <a:lstStyle/>
          <a:p>
            <a:pPr algn="l" indent="0" marL="0">
              <a:lnSpc>
                <a:spcPts val="928"/>
              </a:lnSpc>
              <a:buNone/>
            </a:pPr>
            <a:r>
              <a:rPr lang="en-US" sz="640" dirty="0">
                <a:solidFill>
                  <a:srgbClr val="555555"/>
                </a:solidFill>
                <a:latin typeface="Yu Gothic" pitchFamily="34" charset="0"/>
                <a:ea typeface="Yu Gothic" pitchFamily="34" charset="-122"/>
                <a:cs typeface="Yu Gothic" pitchFamily="34" charset="-120"/>
              </a:rPr>
              <a:t>平均コストは世界上位25%</a:t>
            </a:r>
            <a:endParaRPr lang="en-US" sz="640" dirty="0"/>
          </a:p>
        </p:txBody>
      </p:sp>
      <p:sp>
        <p:nvSpPr>
          <p:cNvPr id="29" name="t2_26"/>
          <p:cNvSpPr txBox="1"/>
          <p:nvPr/>
        </p:nvSpPr>
        <p:spPr>
          <a:xfrm>
            <a:off x="609600" y="3632200"/>
            <a:ext cx="6603492" cy="101600"/>
          </a:xfrm>
          <a:prstGeom prst="rect">
            <a:avLst/>
          </a:prstGeom>
          <a:noFill/>
          <a:ln/>
        </p:spPr>
        <p:txBody>
          <a:bodyPr wrap="none" lIns="0" tIns="0" rIns="0" bIns="0" rtlCol="0" anchor="t"/>
          <a:lstStyle/>
          <a:p>
            <a:pPr algn="l" indent="0" marL="0">
              <a:lnSpc>
                <a:spcPts val="728"/>
              </a:lnSpc>
              <a:buNone/>
            </a:pPr>
            <a:r>
              <a:rPr lang="en-US" sz="560" dirty="0">
                <a:solidFill>
                  <a:srgbClr val="888888"/>
                </a:solidFill>
                <a:latin typeface="Yu Gothic" pitchFamily="34" charset="0"/>
                <a:ea typeface="Yu Gothic" pitchFamily="34" charset="-122"/>
                <a:cs typeface="Yu Gothic" pitchFamily="34" charset="-120"/>
              </a:rPr>
              <a:t>図の出典・簡略化元：金属資源G_P6（わが社資産の強み）。Market／Scale／Quality の要点のみ抽出</a:t>
            </a:r>
            <a:endParaRPr lang="en-US" sz="560" dirty="0"/>
          </a:p>
        </p:txBody>
      </p:sp>
      <p:sp>
        <p:nvSpPr>
          <p:cNvPr id="30" name="t2_27"/>
          <p:cNvSpPr txBox="1"/>
          <p:nvPr/>
        </p:nvSpPr>
        <p:spPr>
          <a:xfrm>
            <a:off x="609600" y="3784600"/>
            <a:ext cx="6603492" cy="118070"/>
          </a:xfrm>
          <a:prstGeom prst="rect">
            <a:avLst/>
          </a:prstGeom>
          <a:noFill/>
          <a:ln/>
        </p:spPr>
        <p:txBody>
          <a:bodyPr wrap="none" lIns="0" tIns="0" rIns="0" bIns="0" rtlCol="0" anchor="t"/>
          <a:lstStyle/>
          <a:p>
            <a:pPr algn="l" indent="0" marL="0">
              <a:lnSpc>
                <a:spcPts val="930"/>
              </a:lnSpc>
              <a:buNone/>
            </a:pPr>
            <a:r>
              <a:rPr lang="en-US" sz="620" dirty="0">
                <a:solidFill>
                  <a:srgbClr val="9A5A60"/>
                </a:solidFill>
                <a:latin typeface="Yu Gothic" pitchFamily="34" charset="0"/>
                <a:ea typeface="Yu Gothic" pitchFamily="34" charset="-122"/>
                <a:cs typeface="Yu Gothic" pitchFamily="34" charset="-120"/>
              </a:rPr>
              <a:t>※第2章の起点（PwC様レビューNo.12）。数値は事実ベースで表示し、誇示する表現は避ける</a:t>
            </a:r>
            <a:endParaRPr lang="en-US" sz="620" dirty="0"/>
          </a:p>
        </p:txBody>
      </p:sp>
      <p:sp>
        <p:nvSpPr>
          <p:cNvPr id="31" name="Shape 28"/>
          <p:cNvSpPr/>
          <p:nvPr/>
        </p:nvSpPr>
        <p:spPr>
          <a:xfrm>
            <a:off x="609600" y="4064000"/>
            <a:ext cx="6337300" cy="0"/>
          </a:xfrm>
          <a:prstGeom prst="line">
            <a:avLst/>
          </a:prstGeom>
          <a:noFill/>
          <a:ln w="12700">
            <a:solidFill>
              <a:srgbClr val="CFD2D5"/>
            </a:solidFill>
            <a:prstDash val="solid"/>
          </a:ln>
        </p:spPr>
      </p:sp>
      <p:sp>
        <p:nvSpPr>
          <p:cNvPr id="32" name="t2_29"/>
          <p:cNvSpPr txBox="1"/>
          <p:nvPr/>
        </p:nvSpPr>
        <p:spPr>
          <a:xfrm>
            <a:off x="609600" y="4216400"/>
            <a:ext cx="6352540" cy="320040"/>
          </a:xfrm>
          <a:prstGeom prst="rect">
            <a:avLst/>
          </a:prstGeom>
          <a:noFill/>
          <a:ln/>
        </p:spPr>
        <p:txBody>
          <a:bodyPr wrap="none" lIns="0" tIns="0" rIns="0" bIns="0" rtlCol="0" anchor="t"/>
          <a:lstStyle/>
          <a:p>
            <a:pPr algn="l" indent="0" marL="0">
              <a:lnSpc>
                <a:spcPts val="2520"/>
              </a:lnSpc>
              <a:buNone/>
            </a:pPr>
            <a:r>
              <a:rPr lang="en-US" sz="1800" spc="80" kern="0" dirty="0">
                <a:solidFill>
                  <a:srgbClr val="222222"/>
                </a:solidFill>
                <a:latin typeface="Yu Gothic" pitchFamily="34" charset="0"/>
                <a:ea typeface="Yu Gothic" pitchFamily="34" charset="-122"/>
                <a:cs typeface="Yu Gothic" pitchFamily="34" charset="-120"/>
              </a:rPr>
              <a:t>原料炭事業</a:t>
            </a:r>
            <a:endParaRPr lang="en-US" sz="1800" dirty="0"/>
          </a:p>
        </p:txBody>
      </p:sp>
      <p:sp>
        <p:nvSpPr>
          <p:cNvPr id="33" name="t2_30"/>
          <p:cNvSpPr txBox="1"/>
          <p:nvPr/>
        </p:nvSpPr>
        <p:spPr>
          <a:xfrm>
            <a:off x="609600" y="4572000"/>
            <a:ext cx="6352540" cy="196850"/>
          </a:xfrm>
          <a:prstGeom prst="rect">
            <a:avLst/>
          </a:prstGeom>
          <a:noFill/>
          <a:ln/>
        </p:spPr>
        <p:txBody>
          <a:bodyPr wrap="none" lIns="0" tIns="0" rIns="0" bIns="0" rtlCol="0" anchor="t"/>
          <a:lstStyle/>
          <a:p>
            <a:pPr algn="l" indent="0" marL="0">
              <a:lnSpc>
                <a:spcPts val="1550"/>
              </a:lnSpc>
              <a:buNone/>
            </a:pPr>
            <a:r>
              <a:rPr lang="en-US" sz="1000" spc="30" kern="0" dirty="0">
                <a:solidFill>
                  <a:srgbClr val="444444"/>
                </a:solidFill>
                <a:latin typeface="Yu Gothic" pitchFamily="34" charset="0"/>
                <a:ea typeface="Yu Gothic" pitchFamily="34" charset="-122"/>
                <a:cs typeface="Yu Gothic" pitchFamily="34" charset="-120"/>
              </a:rPr>
              <a:t>鉄の主原料“産業のコメ”を、世界最高品位で届ける</a:t>
            </a:r>
            <a:endParaRPr lang="en-US" sz="1000" dirty="0"/>
          </a:p>
        </p:txBody>
      </p:sp>
      <p:sp>
        <p:nvSpPr>
          <p:cNvPr id="34" name="t2_31"/>
          <p:cNvSpPr txBox="1"/>
          <p:nvPr/>
        </p:nvSpPr>
        <p:spPr>
          <a:xfrm>
            <a:off x="609600" y="4800600"/>
            <a:ext cx="6603492" cy="177800"/>
          </a:xfrm>
          <a:prstGeom prst="rect">
            <a:avLst/>
          </a:prstGeom>
          <a:noFill/>
          <a:ln/>
        </p:spPr>
        <p:txBody>
          <a:bodyPr wrap="none" lIns="0" tIns="0" rIns="0" bIns="0" rtlCol="0" anchor="t"/>
          <a:lstStyle/>
          <a:p>
            <a:pPr algn="l" indent="0" marL="0">
              <a:lnSpc>
                <a:spcPts val="1248"/>
              </a:lnSpc>
              <a:buNone/>
            </a:pPr>
            <a:r>
              <a:rPr lang="en-US" sz="960" dirty="0">
                <a:solidFill>
                  <a:srgbClr val="222222"/>
                </a:solidFill>
                <a:latin typeface="Yu Gothic" pitchFamily="34" charset="0"/>
                <a:ea typeface="Yu Gothic" pitchFamily="34" charset="-122"/>
                <a:cs typeface="Yu Gothic" pitchFamily="34" charset="-120"/>
              </a:rPr>
              <a:t>BHPと50:50の合弁（BMA）で、原料炭の一級資産に参画</a:t>
            </a:r>
            <a:endParaRPr lang="en-US" sz="960" dirty="0"/>
          </a:p>
        </p:txBody>
      </p:sp>
      <p:sp>
        <p:nvSpPr>
          <p:cNvPr id="35" name="t2_32"/>
          <p:cNvSpPr txBox="1"/>
          <p:nvPr/>
        </p:nvSpPr>
        <p:spPr>
          <a:xfrm>
            <a:off x="609600" y="5054600"/>
            <a:ext cx="1422400" cy="5080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888888"/>
                </a:solidFill>
                <a:latin typeface="Yu Gothic" pitchFamily="34" charset="0"/>
                <a:ea typeface="Yu Gothic" pitchFamily="34" charset="-122"/>
                <a:cs typeface="Yu Gothic" pitchFamily="34" charset="-120"/>
              </a:rPr>
              <a:t>1</a:t>
            </a:r>
            <a:endParaRPr lang="en-US" sz="740" dirty="0"/>
          </a:p>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世界最高品位の</a:t>
            </a:r>
            <a:endParaRPr lang="en-US" sz="740" dirty="0"/>
          </a:p>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原料炭を保有</a:t>
            </a:r>
            <a:endParaRPr lang="en-US" sz="740" dirty="0"/>
          </a:p>
        </p:txBody>
      </p:sp>
      <p:sp>
        <p:nvSpPr>
          <p:cNvPr id="36" name="t2_33"/>
          <p:cNvSpPr txBox="1"/>
          <p:nvPr/>
        </p:nvSpPr>
        <p:spPr>
          <a:xfrm>
            <a:off x="2057400" y="5207000"/>
            <a:ext cx="144780" cy="190500"/>
          </a:xfrm>
          <a:prstGeom prst="rect">
            <a:avLst/>
          </a:prstGeom>
          <a:noFill/>
          <a:ln/>
        </p:spPr>
        <p:txBody>
          <a:bodyPr wrap="none" lIns="0" tIns="0" rIns="0" bIns="0" rtlCol="0" anchor="t"/>
          <a:lstStyle/>
          <a:p>
            <a:pPr algn="l" indent="0" marL="0">
              <a:lnSpc>
                <a:spcPts val="1300"/>
              </a:lnSpc>
              <a:buNone/>
            </a:pPr>
            <a:r>
              <a:rPr lang="en-US" sz="1000" dirty="0">
                <a:solidFill>
                  <a:srgbClr val="888888"/>
                </a:solidFill>
                <a:latin typeface="Yu Gothic" pitchFamily="34" charset="0"/>
                <a:ea typeface="Yu Gothic" pitchFamily="34" charset="-122"/>
                <a:cs typeface="Yu Gothic" pitchFamily="34" charset="-120"/>
              </a:rPr>
              <a:t>→</a:t>
            </a:r>
            <a:endParaRPr lang="en-US" sz="1000" dirty="0"/>
          </a:p>
        </p:txBody>
      </p:sp>
      <p:sp>
        <p:nvSpPr>
          <p:cNvPr id="37" name="t2_34"/>
          <p:cNvSpPr txBox="1"/>
          <p:nvPr/>
        </p:nvSpPr>
        <p:spPr>
          <a:xfrm>
            <a:off x="2209800" y="5054600"/>
            <a:ext cx="1422400" cy="5080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888888"/>
                </a:solidFill>
                <a:latin typeface="Yu Gothic" pitchFamily="34" charset="0"/>
                <a:ea typeface="Yu Gothic" pitchFamily="34" charset="-122"/>
                <a:cs typeface="Yu Gothic" pitchFamily="34" charset="-120"/>
              </a:rPr>
              <a:t>2</a:t>
            </a:r>
            <a:endParaRPr lang="en-US" sz="740" dirty="0"/>
          </a:p>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原料炭は鉄の主原料</a:t>
            </a:r>
            <a:endParaRPr lang="en-US" sz="740" dirty="0"/>
          </a:p>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＝“産業のコメ”</a:t>
            </a:r>
            <a:endParaRPr lang="en-US" sz="740" dirty="0"/>
          </a:p>
        </p:txBody>
      </p:sp>
      <p:sp>
        <p:nvSpPr>
          <p:cNvPr id="38" name="t2_35"/>
          <p:cNvSpPr txBox="1"/>
          <p:nvPr/>
        </p:nvSpPr>
        <p:spPr>
          <a:xfrm>
            <a:off x="3657600" y="5207000"/>
            <a:ext cx="144780" cy="190500"/>
          </a:xfrm>
          <a:prstGeom prst="rect">
            <a:avLst/>
          </a:prstGeom>
          <a:noFill/>
          <a:ln/>
        </p:spPr>
        <p:txBody>
          <a:bodyPr wrap="none" lIns="0" tIns="0" rIns="0" bIns="0" rtlCol="0" anchor="t"/>
          <a:lstStyle/>
          <a:p>
            <a:pPr algn="l" indent="0" marL="0">
              <a:lnSpc>
                <a:spcPts val="1300"/>
              </a:lnSpc>
              <a:buNone/>
            </a:pPr>
            <a:r>
              <a:rPr lang="en-US" sz="1000" dirty="0">
                <a:solidFill>
                  <a:srgbClr val="888888"/>
                </a:solidFill>
                <a:latin typeface="Yu Gothic" pitchFamily="34" charset="0"/>
                <a:ea typeface="Yu Gothic" pitchFamily="34" charset="-122"/>
                <a:cs typeface="Yu Gothic" pitchFamily="34" charset="-120"/>
              </a:rPr>
              <a:t>→</a:t>
            </a:r>
            <a:endParaRPr lang="en-US" sz="1000" dirty="0"/>
          </a:p>
        </p:txBody>
      </p:sp>
      <p:sp>
        <p:nvSpPr>
          <p:cNvPr id="39" name="t2_36"/>
          <p:cNvSpPr txBox="1"/>
          <p:nvPr/>
        </p:nvSpPr>
        <p:spPr>
          <a:xfrm>
            <a:off x="3810000" y="5054600"/>
            <a:ext cx="1422400" cy="5080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888888"/>
                </a:solidFill>
                <a:latin typeface="Yu Gothic" pitchFamily="34" charset="0"/>
                <a:ea typeface="Yu Gothic" pitchFamily="34" charset="-122"/>
                <a:cs typeface="Yu Gothic" pitchFamily="34" charset="-120"/>
              </a:rPr>
              <a:t>3</a:t>
            </a:r>
            <a:endParaRPr lang="en-US" sz="740" dirty="0"/>
          </a:p>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鉄は今後も</a:t>
            </a:r>
            <a:endParaRPr lang="en-US" sz="740" dirty="0"/>
          </a:p>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底堅く必要とされる</a:t>
            </a:r>
            <a:endParaRPr lang="en-US" sz="740" dirty="0"/>
          </a:p>
        </p:txBody>
      </p:sp>
      <p:sp>
        <p:nvSpPr>
          <p:cNvPr id="40" name="t2_37"/>
          <p:cNvSpPr txBox="1"/>
          <p:nvPr/>
        </p:nvSpPr>
        <p:spPr>
          <a:xfrm>
            <a:off x="5257800" y="5207000"/>
            <a:ext cx="144780" cy="190500"/>
          </a:xfrm>
          <a:prstGeom prst="rect">
            <a:avLst/>
          </a:prstGeom>
          <a:noFill/>
          <a:ln/>
        </p:spPr>
        <p:txBody>
          <a:bodyPr wrap="none" lIns="0" tIns="0" rIns="0" bIns="0" rtlCol="0" anchor="t"/>
          <a:lstStyle/>
          <a:p>
            <a:pPr algn="l" indent="0" marL="0">
              <a:lnSpc>
                <a:spcPts val="1300"/>
              </a:lnSpc>
              <a:buNone/>
            </a:pPr>
            <a:r>
              <a:rPr lang="en-US" sz="1000" dirty="0">
                <a:solidFill>
                  <a:srgbClr val="888888"/>
                </a:solidFill>
                <a:latin typeface="Yu Gothic" pitchFamily="34" charset="0"/>
                <a:ea typeface="Yu Gothic" pitchFamily="34" charset="-122"/>
                <a:cs typeface="Yu Gothic" pitchFamily="34" charset="-120"/>
              </a:rPr>
              <a:t>→</a:t>
            </a:r>
            <a:endParaRPr lang="en-US" sz="1000" dirty="0"/>
          </a:p>
        </p:txBody>
      </p:sp>
      <p:sp>
        <p:nvSpPr>
          <p:cNvPr id="41" name="t2_38"/>
          <p:cNvSpPr txBox="1"/>
          <p:nvPr/>
        </p:nvSpPr>
        <p:spPr>
          <a:xfrm>
            <a:off x="5410200" y="5054600"/>
            <a:ext cx="1422400" cy="5080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888888"/>
                </a:solidFill>
                <a:latin typeface="Yu Gothic" pitchFamily="34" charset="0"/>
                <a:ea typeface="Yu Gothic" pitchFamily="34" charset="-122"/>
                <a:cs typeface="Yu Gothic" pitchFamily="34" charset="-120"/>
              </a:rPr>
              <a:t>4</a:t>
            </a:r>
            <a:endParaRPr lang="en-US" sz="740" dirty="0"/>
          </a:p>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ゆえに</a:t>
            </a:r>
            <a:endParaRPr lang="en-US" sz="740" dirty="0"/>
          </a:p>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社会に不可欠</a:t>
            </a:r>
            <a:endParaRPr lang="en-US" sz="740" dirty="0"/>
          </a:p>
        </p:txBody>
      </p:sp>
      <p:sp>
        <p:nvSpPr>
          <p:cNvPr id="42" name="t2_39"/>
          <p:cNvSpPr txBox="1"/>
          <p:nvPr/>
        </p:nvSpPr>
        <p:spPr>
          <a:xfrm>
            <a:off x="609600" y="5613400"/>
            <a:ext cx="1491996" cy="213122"/>
          </a:xfrm>
          <a:prstGeom prst="rect">
            <a:avLst/>
          </a:prstGeom>
          <a:noFill/>
          <a:ln/>
        </p:spPr>
        <p:txBody>
          <a:bodyPr wrap="square" lIns="0" tIns="0" rIns="0" bIns="0" rtlCol="0" anchor="t"/>
          <a:lstStyle/>
          <a:p>
            <a:pPr algn="l" indent="0" marL="0">
              <a:lnSpc>
                <a:spcPts val="840"/>
              </a:lnSpc>
              <a:buNone/>
            </a:pPr>
            <a:r>
              <a:rPr lang="en-US" sz="5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a:t>
            </a:r>
            <a:endParaRPr lang="en-US" sz="560" dirty="0"/>
          </a:p>
        </p:txBody>
      </p:sp>
      <p:sp>
        <p:nvSpPr>
          <p:cNvPr id="43" name="t2_40"/>
          <p:cNvSpPr txBox="1"/>
          <p:nvPr/>
        </p:nvSpPr>
        <p:spPr>
          <a:xfrm>
            <a:off x="2209800" y="5613400"/>
            <a:ext cx="1491996" cy="213122"/>
          </a:xfrm>
          <a:prstGeom prst="rect">
            <a:avLst/>
          </a:prstGeom>
          <a:noFill/>
          <a:ln/>
        </p:spPr>
        <p:txBody>
          <a:bodyPr wrap="square" lIns="0" tIns="0" rIns="0" bIns="0" rtlCol="0" anchor="t"/>
          <a:lstStyle/>
          <a:p>
            <a:pPr algn="l" indent="0" marL="0">
              <a:lnSpc>
                <a:spcPts val="840"/>
              </a:lnSpc>
              <a:buNone/>
            </a:pPr>
            <a:r>
              <a:rPr lang="en-US" sz="5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a:t>
            </a:r>
            <a:endParaRPr lang="en-US" sz="560" dirty="0"/>
          </a:p>
        </p:txBody>
      </p:sp>
      <p:sp>
        <p:nvSpPr>
          <p:cNvPr id="44" name="t2_41"/>
          <p:cNvSpPr txBox="1"/>
          <p:nvPr/>
        </p:nvSpPr>
        <p:spPr>
          <a:xfrm>
            <a:off x="3810000" y="5613400"/>
            <a:ext cx="1491996" cy="213122"/>
          </a:xfrm>
          <a:prstGeom prst="rect">
            <a:avLst/>
          </a:prstGeom>
          <a:noFill/>
          <a:ln/>
        </p:spPr>
        <p:txBody>
          <a:bodyPr wrap="square" lIns="0" tIns="0" rIns="0" bIns="0" rtlCol="0" anchor="t"/>
          <a:lstStyle/>
          <a:p>
            <a:pPr algn="l" indent="0" marL="0">
              <a:lnSpc>
                <a:spcPts val="840"/>
              </a:lnSpc>
              <a:buNone/>
            </a:pPr>
            <a:r>
              <a:rPr lang="en-US" sz="5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a:t>
            </a:r>
            <a:endParaRPr lang="en-US" sz="560" dirty="0"/>
          </a:p>
        </p:txBody>
      </p:sp>
      <p:sp>
        <p:nvSpPr>
          <p:cNvPr id="45" name="t2_42"/>
          <p:cNvSpPr txBox="1"/>
          <p:nvPr/>
        </p:nvSpPr>
        <p:spPr>
          <a:xfrm>
            <a:off x="5410200" y="5613400"/>
            <a:ext cx="1491996" cy="213122"/>
          </a:xfrm>
          <a:prstGeom prst="rect">
            <a:avLst/>
          </a:prstGeom>
          <a:noFill/>
          <a:ln/>
        </p:spPr>
        <p:txBody>
          <a:bodyPr wrap="square" lIns="0" tIns="0" rIns="0" bIns="0" rtlCol="0" anchor="t"/>
          <a:lstStyle/>
          <a:p>
            <a:pPr algn="l" indent="0" marL="0">
              <a:lnSpc>
                <a:spcPts val="840"/>
              </a:lnSpc>
              <a:buNone/>
            </a:pPr>
            <a:r>
              <a:rPr lang="en-US" sz="5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a:t>
            </a:r>
            <a:endParaRPr lang="en-US" sz="560" dirty="0"/>
          </a:p>
        </p:txBody>
      </p:sp>
      <p:pic>
        <p:nvPicPr>
          <p:cNvPr id="46" name="Image 0" descr="preencoded.png">    </p:cNvPr>
          <p:cNvPicPr>
            <a:picLocks noChangeAspect="1"/>
          </p:cNvPicPr>
          <p:nvPr/>
        </p:nvPicPr>
        <p:blipFill>
          <a:blip r:embed="rId1"/>
          <a:stretch>
            <a:fillRect/>
          </a:stretch>
        </p:blipFill>
        <p:spPr>
          <a:xfrm>
            <a:off x="609600" y="6223000"/>
            <a:ext cx="1905000" cy="2540000"/>
          </a:xfrm>
          <a:prstGeom prst="rect">
            <a:avLst/>
          </a:prstGeom>
        </p:spPr>
      </p:pic>
      <p:sp>
        <p:nvSpPr>
          <p:cNvPr id="47" name="t2_44"/>
          <p:cNvSpPr txBox="1"/>
          <p:nvPr/>
        </p:nvSpPr>
        <p:spPr>
          <a:xfrm>
            <a:off x="609600" y="8788400"/>
            <a:ext cx="1993900" cy="117872"/>
          </a:xfrm>
          <a:prstGeom prst="rect">
            <a:avLst/>
          </a:prstGeom>
          <a:noFill/>
          <a:ln/>
        </p:spPr>
        <p:txBody>
          <a:bodyPr wrap="none" lIns="0" tIns="0" rIns="0" bIns="0" rtlCol="0" anchor="t"/>
          <a:lstStyle/>
          <a:p>
            <a:pPr algn="l" indent="0" marL="0">
              <a:lnSpc>
                <a:spcPts val="928"/>
              </a:lnSpc>
              <a:buNone/>
            </a:pPr>
            <a:r>
              <a:rPr lang="en-US" sz="640" dirty="0">
                <a:solidFill>
                  <a:srgbClr val="555555"/>
                </a:solidFill>
                <a:latin typeface="Yu Gothic" pitchFamily="34" charset="0"/>
                <a:ea typeface="Yu Gothic" pitchFamily="34" charset="-122"/>
                <a:cs typeface="Yu Gothic" pitchFamily="34" charset="-120"/>
              </a:rPr>
              <a:t>写真：BMAの鉱山（流用：粗原稿）</a:t>
            </a:r>
            <a:endParaRPr lang="en-US" sz="640" dirty="0"/>
          </a:p>
        </p:txBody>
      </p:sp>
      <p:sp>
        <p:nvSpPr>
          <p:cNvPr id="48" name="t2_45"/>
          <p:cNvSpPr txBox="1"/>
          <p:nvPr/>
        </p:nvSpPr>
        <p:spPr>
          <a:xfrm>
            <a:off x="2692400" y="6223000"/>
            <a:ext cx="403368" cy="139700"/>
          </a:xfrm>
          <a:prstGeom prst="rect">
            <a:avLst/>
          </a:prstGeom>
          <a:noFill/>
          <a:ln/>
        </p:spPr>
        <p:txBody>
          <a:bodyPr wrap="none" lIns="0" tIns="0" rIns="0" bIns="0" rtlCol="0" anchor="t"/>
          <a:lstStyle/>
          <a:p>
            <a:pPr algn="l" indent="0" marL="0">
              <a:lnSpc>
                <a:spcPts val="962"/>
              </a:lnSpc>
              <a:buNone/>
            </a:pPr>
            <a:r>
              <a:rPr lang="en-US" sz="740" dirty="0">
                <a:solidFill>
                  <a:srgbClr val="222222"/>
                </a:solidFill>
                <a:latin typeface="Yu Gothic" pitchFamily="34" charset="0"/>
                <a:ea typeface="Yu Gothic" pitchFamily="34" charset="-122"/>
                <a:cs typeface="Yu Gothic" pitchFamily="34" charset="-120"/>
              </a:rPr>
              <a:t>出資構成</a:t>
            </a:r>
            <a:endParaRPr lang="en-US" sz="740" dirty="0"/>
          </a:p>
        </p:txBody>
      </p:sp>
      <p:sp>
        <p:nvSpPr>
          <p:cNvPr id="49" name="t2_46"/>
          <p:cNvSpPr txBox="1"/>
          <p:nvPr/>
        </p:nvSpPr>
        <p:spPr>
          <a:xfrm>
            <a:off x="2692400" y="6400800"/>
            <a:ext cx="1016000" cy="2540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三菱商事</a:t>
            </a:r>
            <a:endParaRPr lang="en-US" sz="740" dirty="0"/>
          </a:p>
        </p:txBody>
      </p:sp>
      <p:sp>
        <p:nvSpPr>
          <p:cNvPr id="50" name="Shape 46"/>
          <p:cNvSpPr/>
          <p:nvPr/>
        </p:nvSpPr>
        <p:spPr>
          <a:xfrm>
            <a:off x="3200400" y="6654800"/>
            <a:ext cx="0" cy="127000"/>
          </a:xfrm>
          <a:prstGeom prst="line">
            <a:avLst/>
          </a:prstGeom>
          <a:noFill/>
          <a:ln w="12700">
            <a:solidFill>
              <a:srgbClr val="888888"/>
            </a:solidFill>
            <a:prstDash val="solid"/>
          </a:ln>
        </p:spPr>
      </p:sp>
      <p:sp>
        <p:nvSpPr>
          <p:cNvPr id="51" name="t2_48"/>
          <p:cNvSpPr txBox="1"/>
          <p:nvPr/>
        </p:nvSpPr>
        <p:spPr>
          <a:xfrm>
            <a:off x="3251200" y="6667500"/>
            <a:ext cx="227743" cy="117872"/>
          </a:xfrm>
          <a:prstGeom prst="rect">
            <a:avLst/>
          </a:prstGeom>
          <a:noFill/>
          <a:ln/>
        </p:spPr>
        <p:txBody>
          <a:bodyPr wrap="none" lIns="0" tIns="0" rIns="0" bIns="0" rtlCol="0" anchor="t"/>
          <a:lstStyle/>
          <a:p>
            <a:pPr algn="l" indent="0" marL="0">
              <a:lnSpc>
                <a:spcPts val="928"/>
              </a:lnSpc>
              <a:buNone/>
            </a:pPr>
            <a:r>
              <a:rPr lang="en-US" sz="640" dirty="0">
                <a:solidFill>
                  <a:srgbClr val="555555"/>
                </a:solidFill>
                <a:latin typeface="Yu Gothic" pitchFamily="34" charset="0"/>
                <a:ea typeface="Yu Gothic" pitchFamily="34" charset="-122"/>
                <a:cs typeface="Yu Gothic" pitchFamily="34" charset="-120"/>
              </a:rPr>
              <a:t>100%</a:t>
            </a:r>
            <a:endParaRPr lang="en-US" sz="640" dirty="0"/>
          </a:p>
        </p:txBody>
      </p:sp>
      <p:sp>
        <p:nvSpPr>
          <p:cNvPr id="52" name="t2_49"/>
          <p:cNvSpPr txBox="1"/>
          <p:nvPr/>
        </p:nvSpPr>
        <p:spPr>
          <a:xfrm>
            <a:off x="2692400" y="6781800"/>
            <a:ext cx="1016000" cy="2540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MDP</a:t>
            </a:r>
            <a:endParaRPr lang="en-US" sz="740" dirty="0"/>
          </a:p>
        </p:txBody>
      </p:sp>
      <p:sp>
        <p:nvSpPr>
          <p:cNvPr id="53" name="t2_50"/>
          <p:cNvSpPr txBox="1"/>
          <p:nvPr/>
        </p:nvSpPr>
        <p:spPr>
          <a:xfrm>
            <a:off x="3835400" y="6781800"/>
            <a:ext cx="787400" cy="2540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BHP</a:t>
            </a:r>
            <a:endParaRPr lang="en-US" sz="740" dirty="0"/>
          </a:p>
        </p:txBody>
      </p:sp>
      <p:sp>
        <p:nvSpPr>
          <p:cNvPr id="54" name="Shape 50"/>
          <p:cNvSpPr/>
          <p:nvPr/>
        </p:nvSpPr>
        <p:spPr>
          <a:xfrm>
            <a:off x="3200400" y="7035800"/>
            <a:ext cx="0" cy="152400"/>
          </a:xfrm>
          <a:prstGeom prst="line">
            <a:avLst/>
          </a:prstGeom>
          <a:noFill/>
          <a:ln w="12700">
            <a:solidFill>
              <a:srgbClr val="888888"/>
            </a:solidFill>
            <a:prstDash val="solid"/>
          </a:ln>
        </p:spPr>
      </p:sp>
      <p:sp>
        <p:nvSpPr>
          <p:cNvPr id="55" name="Shape 51"/>
          <p:cNvSpPr/>
          <p:nvPr/>
        </p:nvSpPr>
        <p:spPr>
          <a:xfrm>
            <a:off x="4229100" y="7035800"/>
            <a:ext cx="0" cy="152400"/>
          </a:xfrm>
          <a:prstGeom prst="line">
            <a:avLst/>
          </a:prstGeom>
          <a:noFill/>
          <a:ln w="12700">
            <a:solidFill>
              <a:srgbClr val="888888"/>
            </a:solidFill>
            <a:prstDash val="solid"/>
          </a:ln>
        </p:spPr>
      </p:sp>
      <p:sp>
        <p:nvSpPr>
          <p:cNvPr id="56" name="t2_53"/>
          <p:cNvSpPr txBox="1"/>
          <p:nvPr/>
        </p:nvSpPr>
        <p:spPr>
          <a:xfrm>
            <a:off x="3251200" y="7061200"/>
            <a:ext cx="179451" cy="117872"/>
          </a:xfrm>
          <a:prstGeom prst="rect">
            <a:avLst/>
          </a:prstGeom>
          <a:noFill/>
          <a:ln/>
        </p:spPr>
        <p:txBody>
          <a:bodyPr wrap="none" lIns="0" tIns="0" rIns="0" bIns="0" rtlCol="0" anchor="t"/>
          <a:lstStyle/>
          <a:p>
            <a:pPr algn="l" indent="0" marL="0">
              <a:lnSpc>
                <a:spcPts val="928"/>
              </a:lnSpc>
              <a:buNone/>
            </a:pPr>
            <a:r>
              <a:rPr lang="en-US" sz="640" dirty="0">
                <a:solidFill>
                  <a:srgbClr val="555555"/>
                </a:solidFill>
                <a:latin typeface="Yu Gothic" pitchFamily="34" charset="0"/>
                <a:ea typeface="Yu Gothic" pitchFamily="34" charset="-122"/>
                <a:cs typeface="Yu Gothic" pitchFamily="34" charset="-120"/>
              </a:rPr>
              <a:t>50%</a:t>
            </a:r>
            <a:endParaRPr lang="en-US" sz="640" dirty="0"/>
          </a:p>
        </p:txBody>
      </p:sp>
      <p:sp>
        <p:nvSpPr>
          <p:cNvPr id="57" name="t2_54"/>
          <p:cNvSpPr txBox="1"/>
          <p:nvPr/>
        </p:nvSpPr>
        <p:spPr>
          <a:xfrm>
            <a:off x="4279900" y="7061200"/>
            <a:ext cx="179451" cy="117872"/>
          </a:xfrm>
          <a:prstGeom prst="rect">
            <a:avLst/>
          </a:prstGeom>
          <a:noFill/>
          <a:ln/>
        </p:spPr>
        <p:txBody>
          <a:bodyPr wrap="none" lIns="0" tIns="0" rIns="0" bIns="0" rtlCol="0" anchor="t"/>
          <a:lstStyle/>
          <a:p>
            <a:pPr algn="l" indent="0" marL="0">
              <a:lnSpc>
                <a:spcPts val="928"/>
              </a:lnSpc>
              <a:buNone/>
            </a:pPr>
            <a:r>
              <a:rPr lang="en-US" sz="640" dirty="0">
                <a:solidFill>
                  <a:srgbClr val="555555"/>
                </a:solidFill>
                <a:latin typeface="Yu Gothic" pitchFamily="34" charset="0"/>
                <a:ea typeface="Yu Gothic" pitchFamily="34" charset="-122"/>
                <a:cs typeface="Yu Gothic" pitchFamily="34" charset="-120"/>
              </a:rPr>
              <a:t>50%</a:t>
            </a:r>
            <a:endParaRPr lang="en-US" sz="640" dirty="0"/>
          </a:p>
        </p:txBody>
      </p:sp>
      <p:sp>
        <p:nvSpPr>
          <p:cNvPr id="58" name="t2_55"/>
          <p:cNvSpPr txBox="1"/>
          <p:nvPr/>
        </p:nvSpPr>
        <p:spPr>
          <a:xfrm>
            <a:off x="2692400" y="7188200"/>
            <a:ext cx="1930400" cy="330200"/>
          </a:xfrm>
          <a:prstGeom prst="rect">
            <a:avLst/>
          </a:prstGeom>
          <a:solidFill>
            <a:srgbClr val="F1F2F4"/>
          </a:solid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BMA</a:t>
            </a:r>
            <a:endParaRPr lang="en-US" sz="740" dirty="0"/>
          </a:p>
          <a:p>
            <a:pPr algn="ctr" indent="0" marL="0">
              <a:lnSpc>
                <a:spcPts val="999"/>
              </a:lnSpc>
              <a:buNone/>
            </a:pPr>
            <a:r>
              <a:rPr lang="en-US" sz="560" dirty="0">
                <a:solidFill>
                  <a:srgbClr val="777777"/>
                </a:solidFill>
                <a:latin typeface="Yu Gothic" pitchFamily="34" charset="0"/>
                <a:ea typeface="Yu Gothic" pitchFamily="34" charset="-122"/>
                <a:cs typeface="Yu Gothic" pitchFamily="34" charset="-120"/>
              </a:rPr>
              <a:t>BHP Mitsubishi Alliance</a:t>
            </a:r>
            <a:endParaRPr lang="en-US" sz="740" dirty="0"/>
          </a:p>
        </p:txBody>
      </p:sp>
      <p:sp>
        <p:nvSpPr>
          <p:cNvPr id="59" name="t2_56"/>
          <p:cNvSpPr txBox="1"/>
          <p:nvPr/>
        </p:nvSpPr>
        <p:spPr>
          <a:xfrm>
            <a:off x="2692400" y="7696200"/>
            <a:ext cx="541020" cy="114300"/>
          </a:xfrm>
          <a:prstGeom prst="rect">
            <a:avLst/>
          </a:prstGeom>
          <a:noFill/>
          <a:ln/>
        </p:spPr>
        <p:txBody>
          <a:bodyPr wrap="none" lIns="0" tIns="0" rIns="0" bIns="0" rtlCol="0" anchor="t"/>
          <a:lstStyle/>
          <a:p>
            <a:pPr algn="l" indent="0" marL="0">
              <a:lnSpc>
                <a:spcPts val="832"/>
              </a:lnSpc>
              <a:buNone/>
            </a:pPr>
            <a:r>
              <a:rPr lang="en-US" sz="640" dirty="0">
                <a:solidFill>
                  <a:srgbClr val="777777"/>
                </a:solidFill>
                <a:latin typeface="Yu Gothic" pitchFamily="34" charset="0"/>
                <a:ea typeface="Yu Gothic" pitchFamily="34" charset="-122"/>
                <a:cs typeface="Yu Gothic" pitchFamily="34" charset="-120"/>
              </a:rPr>
              <a:t>参画</a:t>
            </a:r>
            <a:endParaRPr lang="en-US" sz="640" dirty="0"/>
          </a:p>
        </p:txBody>
      </p:sp>
      <p:sp>
        <p:nvSpPr>
          <p:cNvPr id="60" name="t2_57"/>
          <p:cNvSpPr txBox="1"/>
          <p:nvPr/>
        </p:nvSpPr>
        <p:spPr>
          <a:xfrm>
            <a:off x="3225800" y="7696200"/>
            <a:ext cx="3882644" cy="127000"/>
          </a:xfrm>
          <a:prstGeom prst="rect">
            <a:avLst/>
          </a:prstGeom>
          <a:noFill/>
          <a:ln/>
        </p:spPr>
        <p:txBody>
          <a:bodyPr wrap="none" lIns="0" tIns="0" rIns="0" bIns="0" rtlCol="0" anchor="t"/>
          <a:lstStyle/>
          <a:p>
            <a:pPr algn="l" indent="0" marL="0">
              <a:lnSpc>
                <a:spcPts val="884"/>
              </a:lnSpc>
              <a:buNone/>
            </a:pPr>
            <a:r>
              <a:rPr lang="en-US" sz="680" dirty="0">
                <a:solidFill>
                  <a:srgbClr val="222222"/>
                </a:solidFill>
                <a:latin typeface="Yu Gothic" pitchFamily="34" charset="0"/>
                <a:ea typeface="Yu Gothic" pitchFamily="34" charset="-122"/>
                <a:cs typeface="Yu Gothic" pitchFamily="34" charset="-120"/>
              </a:rPr>
              <a:t>1968年 MDP設立／2001年 BMA組成（持分50%）</a:t>
            </a:r>
            <a:endParaRPr lang="en-US" sz="680" dirty="0"/>
          </a:p>
        </p:txBody>
      </p:sp>
      <p:sp>
        <p:nvSpPr>
          <p:cNvPr id="61" name="t2_58"/>
          <p:cNvSpPr txBox="1"/>
          <p:nvPr/>
        </p:nvSpPr>
        <p:spPr>
          <a:xfrm>
            <a:off x="2692400" y="7886700"/>
            <a:ext cx="541020" cy="114300"/>
          </a:xfrm>
          <a:prstGeom prst="rect">
            <a:avLst/>
          </a:prstGeom>
          <a:noFill/>
          <a:ln/>
        </p:spPr>
        <p:txBody>
          <a:bodyPr wrap="none" lIns="0" tIns="0" rIns="0" bIns="0" rtlCol="0" anchor="t"/>
          <a:lstStyle/>
          <a:p>
            <a:pPr algn="l" indent="0" marL="0">
              <a:lnSpc>
                <a:spcPts val="832"/>
              </a:lnSpc>
              <a:buNone/>
            </a:pPr>
            <a:r>
              <a:rPr lang="en-US" sz="640" dirty="0">
                <a:solidFill>
                  <a:srgbClr val="777777"/>
                </a:solidFill>
                <a:latin typeface="Yu Gothic" pitchFamily="34" charset="0"/>
                <a:ea typeface="Yu Gothic" pitchFamily="34" charset="-122"/>
                <a:cs typeface="Yu Gothic" pitchFamily="34" charset="-120"/>
              </a:rPr>
              <a:t>拠点</a:t>
            </a:r>
            <a:endParaRPr lang="en-US" sz="640" dirty="0"/>
          </a:p>
        </p:txBody>
      </p:sp>
      <p:sp>
        <p:nvSpPr>
          <p:cNvPr id="62" name="t2_59"/>
          <p:cNvSpPr txBox="1"/>
          <p:nvPr/>
        </p:nvSpPr>
        <p:spPr>
          <a:xfrm>
            <a:off x="3225800" y="7886700"/>
            <a:ext cx="3882644" cy="127000"/>
          </a:xfrm>
          <a:prstGeom prst="rect">
            <a:avLst/>
          </a:prstGeom>
          <a:noFill/>
          <a:ln/>
        </p:spPr>
        <p:txBody>
          <a:bodyPr wrap="none" lIns="0" tIns="0" rIns="0" bIns="0" rtlCol="0" anchor="t"/>
          <a:lstStyle/>
          <a:p>
            <a:pPr algn="l" indent="0" marL="0">
              <a:lnSpc>
                <a:spcPts val="884"/>
              </a:lnSpc>
              <a:buNone/>
            </a:pPr>
            <a:r>
              <a:rPr lang="en-US" sz="680" dirty="0">
                <a:solidFill>
                  <a:srgbClr val="222222"/>
                </a:solidFill>
                <a:latin typeface="Yu Gothic" pitchFamily="34" charset="0"/>
                <a:ea typeface="Yu Gothic" pitchFamily="34" charset="-122"/>
                <a:cs typeface="Yu Gothic" pitchFamily="34" charset="-120"/>
              </a:rPr>
              <a:t>豪州クイーンズランド州 Bowen Basin</a:t>
            </a:r>
            <a:endParaRPr lang="en-US" sz="680" dirty="0"/>
          </a:p>
        </p:txBody>
      </p:sp>
      <p:sp>
        <p:nvSpPr>
          <p:cNvPr id="63" name="t2_60"/>
          <p:cNvSpPr txBox="1"/>
          <p:nvPr/>
        </p:nvSpPr>
        <p:spPr>
          <a:xfrm>
            <a:off x="2692400" y="8077200"/>
            <a:ext cx="541020" cy="114300"/>
          </a:xfrm>
          <a:prstGeom prst="rect">
            <a:avLst/>
          </a:prstGeom>
          <a:noFill/>
          <a:ln/>
        </p:spPr>
        <p:txBody>
          <a:bodyPr wrap="none" lIns="0" tIns="0" rIns="0" bIns="0" rtlCol="0" anchor="t"/>
          <a:lstStyle/>
          <a:p>
            <a:pPr algn="l" indent="0" marL="0">
              <a:lnSpc>
                <a:spcPts val="832"/>
              </a:lnSpc>
              <a:buNone/>
            </a:pPr>
            <a:r>
              <a:rPr lang="en-US" sz="640" dirty="0">
                <a:solidFill>
                  <a:srgbClr val="777777"/>
                </a:solidFill>
                <a:latin typeface="Yu Gothic" pitchFamily="34" charset="0"/>
                <a:ea typeface="Yu Gothic" pitchFamily="34" charset="-122"/>
                <a:cs typeface="Yu Gothic" pitchFamily="34" charset="-120"/>
              </a:rPr>
              <a:t>保有資産</a:t>
            </a:r>
            <a:endParaRPr lang="en-US" sz="640" dirty="0"/>
          </a:p>
        </p:txBody>
      </p:sp>
      <p:sp>
        <p:nvSpPr>
          <p:cNvPr id="64" name="t2_61"/>
          <p:cNvSpPr txBox="1"/>
          <p:nvPr/>
        </p:nvSpPr>
        <p:spPr>
          <a:xfrm>
            <a:off x="3225800" y="8077200"/>
            <a:ext cx="3882644" cy="127000"/>
          </a:xfrm>
          <a:prstGeom prst="rect">
            <a:avLst/>
          </a:prstGeom>
          <a:noFill/>
          <a:ln/>
        </p:spPr>
        <p:txBody>
          <a:bodyPr wrap="none" lIns="0" tIns="0" rIns="0" bIns="0" rtlCol="0" anchor="t"/>
          <a:lstStyle/>
          <a:p>
            <a:pPr algn="l" indent="0" marL="0">
              <a:lnSpc>
                <a:spcPts val="884"/>
              </a:lnSpc>
              <a:buNone/>
            </a:pPr>
            <a:r>
              <a:rPr lang="en-US" sz="680" dirty="0">
                <a:solidFill>
                  <a:srgbClr val="222222"/>
                </a:solidFill>
                <a:latin typeface="Yu Gothic" pitchFamily="34" charset="0"/>
                <a:ea typeface="Yu Gothic" pitchFamily="34" charset="-122"/>
                <a:cs typeface="Yu Gothic" pitchFamily="34" charset="-120"/>
              </a:rPr>
              <a:t>炭鉱（露天掘4・坑内掘1）・港・鉄道</a:t>
            </a:r>
            <a:endParaRPr lang="en-US" sz="680" dirty="0"/>
          </a:p>
        </p:txBody>
      </p:sp>
      <p:sp>
        <p:nvSpPr>
          <p:cNvPr id="65" name="t2_62"/>
          <p:cNvSpPr txBox="1"/>
          <p:nvPr/>
        </p:nvSpPr>
        <p:spPr>
          <a:xfrm>
            <a:off x="2692400" y="8267700"/>
            <a:ext cx="541020" cy="114300"/>
          </a:xfrm>
          <a:prstGeom prst="rect">
            <a:avLst/>
          </a:prstGeom>
          <a:noFill/>
          <a:ln/>
        </p:spPr>
        <p:txBody>
          <a:bodyPr wrap="none" lIns="0" tIns="0" rIns="0" bIns="0" rtlCol="0" anchor="t"/>
          <a:lstStyle/>
          <a:p>
            <a:pPr algn="l" indent="0" marL="0">
              <a:lnSpc>
                <a:spcPts val="832"/>
              </a:lnSpc>
              <a:buNone/>
            </a:pPr>
            <a:r>
              <a:rPr lang="en-US" sz="640" dirty="0">
                <a:solidFill>
                  <a:srgbClr val="777777"/>
                </a:solidFill>
                <a:latin typeface="Yu Gothic" pitchFamily="34" charset="0"/>
                <a:ea typeface="Yu Gothic" pitchFamily="34" charset="-122"/>
                <a:cs typeface="Yu Gothic" pitchFamily="34" charset="-120"/>
              </a:rPr>
              <a:t>生産量</a:t>
            </a:r>
            <a:endParaRPr lang="en-US" sz="640" dirty="0"/>
          </a:p>
        </p:txBody>
      </p:sp>
      <p:sp>
        <p:nvSpPr>
          <p:cNvPr id="66" name="t2_63"/>
          <p:cNvSpPr txBox="1"/>
          <p:nvPr/>
        </p:nvSpPr>
        <p:spPr>
          <a:xfrm>
            <a:off x="3225800" y="8267700"/>
            <a:ext cx="3882644" cy="127000"/>
          </a:xfrm>
          <a:prstGeom prst="rect">
            <a:avLst/>
          </a:prstGeom>
          <a:noFill/>
          <a:ln/>
        </p:spPr>
        <p:txBody>
          <a:bodyPr wrap="none" lIns="0" tIns="0" rIns="0" bIns="0" rtlCol="0" anchor="t"/>
          <a:lstStyle/>
          <a:p>
            <a:pPr algn="l" indent="0" marL="0">
              <a:lnSpc>
                <a:spcPts val="884"/>
              </a:lnSpc>
              <a:buNone/>
            </a:pPr>
            <a:r>
              <a:rPr lang="en-US" sz="680" dirty="0">
                <a:solidFill>
                  <a:srgbClr val="222222"/>
                </a:solidFill>
                <a:latin typeface="Yu Gothic" pitchFamily="34" charset="0"/>
                <a:ea typeface="Yu Gothic" pitchFamily="34" charset="-122"/>
                <a:cs typeface="Yu Gothic" pitchFamily="34" charset="-120"/>
              </a:rPr>
              <a:t>39百万t（当社持分20百万t）2026年度見通し</a:t>
            </a:r>
            <a:endParaRPr lang="en-US" sz="680" dirty="0"/>
          </a:p>
        </p:txBody>
      </p:sp>
      <p:sp>
        <p:nvSpPr>
          <p:cNvPr id="67" name="t2_64"/>
          <p:cNvSpPr txBox="1"/>
          <p:nvPr/>
        </p:nvSpPr>
        <p:spPr>
          <a:xfrm>
            <a:off x="2692400" y="8458200"/>
            <a:ext cx="541020" cy="114300"/>
          </a:xfrm>
          <a:prstGeom prst="rect">
            <a:avLst/>
          </a:prstGeom>
          <a:noFill/>
          <a:ln/>
        </p:spPr>
        <p:txBody>
          <a:bodyPr wrap="none" lIns="0" tIns="0" rIns="0" bIns="0" rtlCol="0" anchor="t"/>
          <a:lstStyle/>
          <a:p>
            <a:pPr algn="l" indent="0" marL="0">
              <a:lnSpc>
                <a:spcPts val="832"/>
              </a:lnSpc>
              <a:buNone/>
            </a:pPr>
            <a:r>
              <a:rPr lang="en-US" sz="640" dirty="0">
                <a:solidFill>
                  <a:srgbClr val="777777"/>
                </a:solidFill>
                <a:latin typeface="Yu Gothic" pitchFamily="34" charset="0"/>
                <a:ea typeface="Yu Gothic" pitchFamily="34" charset="-122"/>
                <a:cs typeface="Yu Gothic" pitchFamily="34" charset="-120"/>
              </a:rPr>
              <a:t>特記</a:t>
            </a:r>
            <a:endParaRPr lang="en-US" sz="640" dirty="0"/>
          </a:p>
        </p:txBody>
      </p:sp>
      <p:sp>
        <p:nvSpPr>
          <p:cNvPr id="68" name="t2_65"/>
          <p:cNvSpPr txBox="1"/>
          <p:nvPr/>
        </p:nvSpPr>
        <p:spPr>
          <a:xfrm>
            <a:off x="3225800" y="8458200"/>
            <a:ext cx="3882644" cy="127000"/>
          </a:xfrm>
          <a:prstGeom prst="rect">
            <a:avLst/>
          </a:prstGeom>
          <a:noFill/>
          <a:ln/>
        </p:spPr>
        <p:txBody>
          <a:bodyPr wrap="none" lIns="0" tIns="0" rIns="0" bIns="0" rtlCol="0" anchor="t"/>
          <a:lstStyle/>
          <a:p>
            <a:pPr algn="l" indent="0" marL="0">
              <a:lnSpc>
                <a:spcPts val="884"/>
              </a:lnSpc>
              <a:buNone/>
            </a:pPr>
            <a:r>
              <a:rPr lang="en-US" sz="680" dirty="0">
                <a:solidFill>
                  <a:srgbClr val="222222"/>
                </a:solidFill>
                <a:latin typeface="Yu Gothic" pitchFamily="34" charset="0"/>
                <a:ea typeface="Yu Gothic" pitchFamily="34" charset="-122"/>
                <a:cs typeface="Yu Gothic" pitchFamily="34" charset="-120"/>
              </a:rPr>
              <a:t>炭鉱寿命60年以上／海上輸出市場シェア約20%</a:t>
            </a:r>
            <a:endParaRPr lang="en-US" sz="680" dirty="0"/>
          </a:p>
        </p:txBody>
      </p:sp>
      <p:pic>
        <p:nvPicPr>
          <p:cNvPr id="69" name="Image 1" descr="preencoded.png">    </p:cNvPr>
          <p:cNvPicPr>
            <a:picLocks noChangeAspect="1"/>
          </p:cNvPicPr>
          <p:nvPr/>
        </p:nvPicPr>
        <p:blipFill>
          <a:blip r:embed="rId2"/>
          <a:stretch>
            <a:fillRect/>
          </a:stretch>
        </p:blipFill>
        <p:spPr>
          <a:xfrm>
            <a:off x="4800600" y="6223000"/>
            <a:ext cx="2146300" cy="1320800"/>
          </a:xfrm>
          <a:prstGeom prst="rect">
            <a:avLst/>
          </a:prstGeom>
        </p:spPr>
      </p:pic>
      <p:sp>
        <p:nvSpPr>
          <p:cNvPr id="70" name="t2_67"/>
          <p:cNvSpPr txBox="1"/>
          <p:nvPr/>
        </p:nvSpPr>
        <p:spPr>
          <a:xfrm>
            <a:off x="6722269" y="7204075"/>
            <a:ext cx="937260" cy="191294"/>
          </a:xfrm>
          <a:prstGeom prst="rect">
            <a:avLst/>
          </a:prstGeom>
          <a:noFill/>
          <a:ln/>
        </p:spPr>
        <p:txBody>
          <a:bodyPr wrap="square" lIns="0" tIns="0" rIns="0" bIns="0" rtlCol="0" anchor="t"/>
          <a:lstStyle/>
          <a:p>
            <a:pPr algn="l" indent="0" marL="0">
              <a:lnSpc>
                <a:spcPts val="754"/>
              </a:lnSpc>
              <a:buNone/>
            </a:pPr>
            <a:r>
              <a:rPr lang="en-US" sz="580" dirty="0">
                <a:solidFill>
                  <a:srgbClr val="222222"/>
                </a:solidFill>
                <a:latin typeface="Yu Gothic" pitchFamily="34" charset="0"/>
                <a:ea typeface="Yu Gothic" pitchFamily="34" charset="-122"/>
                <a:cs typeface="Yu Gothic" pitchFamily="34" charset="-120"/>
              </a:rPr>
              <a:t>Bowen Basin</a:t>
            </a:r>
            <a:endParaRPr lang="en-US" sz="580" dirty="0"/>
          </a:p>
          <a:p>
            <a:pPr algn="l" indent="0" marL="0">
              <a:lnSpc>
                <a:spcPts val="754"/>
              </a:lnSpc>
              <a:buNone/>
            </a:pPr>
            <a:r>
              <a:rPr lang="en-US" sz="580" dirty="0">
                <a:solidFill>
                  <a:srgbClr val="222222"/>
                </a:solidFill>
                <a:latin typeface="Yu Gothic" pitchFamily="34" charset="0"/>
                <a:ea typeface="Yu Gothic" pitchFamily="34" charset="-122"/>
                <a:cs typeface="Yu Gothic" pitchFamily="34" charset="-120"/>
              </a:rPr>
              <a:t>（クイーンズランド州）</a:t>
            </a:r>
            <a:endParaRPr lang="en-US" sz="580" dirty="0"/>
          </a:p>
        </p:txBody>
      </p:sp>
      <p:sp>
        <p:nvSpPr>
          <p:cNvPr id="71" name="t2_68"/>
          <p:cNvSpPr txBox="1"/>
          <p:nvPr/>
        </p:nvSpPr>
        <p:spPr>
          <a:xfrm>
            <a:off x="2692400" y="8712200"/>
            <a:ext cx="4437380" cy="101600"/>
          </a:xfrm>
          <a:prstGeom prst="rect">
            <a:avLst/>
          </a:prstGeom>
          <a:noFill/>
          <a:ln/>
        </p:spPr>
        <p:txBody>
          <a:bodyPr wrap="none" lIns="0" tIns="0" rIns="0" bIns="0" rtlCol="0" anchor="t"/>
          <a:lstStyle/>
          <a:p>
            <a:pPr algn="l" indent="0" marL="0">
              <a:lnSpc>
                <a:spcPts val="728"/>
              </a:lnSpc>
              <a:buNone/>
            </a:pPr>
            <a:r>
              <a:rPr lang="en-US" sz="560" dirty="0">
                <a:solidFill>
                  <a:srgbClr val="888888"/>
                </a:solidFill>
                <a:latin typeface="Yu Gothic" pitchFamily="34" charset="0"/>
                <a:ea typeface="Yu Gothic" pitchFamily="34" charset="-122"/>
                <a:cs typeface="Yu Gothic" pitchFamily="34" charset="-120"/>
              </a:rPr>
              <a:t>図の出典・簡略化元：金属資源G_P7（原料炭事業）。表・出資構成・地図を簡略化</a:t>
            </a:r>
            <a:endParaRPr lang="en-US" sz="560" dirty="0"/>
          </a:p>
        </p:txBody>
      </p:sp>
      <p:sp>
        <p:nvSpPr>
          <p:cNvPr id="72" name="t2_69"/>
          <p:cNvSpPr txBox="1"/>
          <p:nvPr/>
        </p:nvSpPr>
        <p:spPr>
          <a:xfrm>
            <a:off x="609600" y="9042400"/>
            <a:ext cx="6603492" cy="118070"/>
          </a:xfrm>
          <a:prstGeom prst="rect">
            <a:avLst/>
          </a:prstGeom>
          <a:noFill/>
          <a:ln/>
        </p:spPr>
        <p:txBody>
          <a:bodyPr wrap="none" lIns="0" tIns="0" rIns="0" bIns="0" rtlCol="0" anchor="t"/>
          <a:lstStyle/>
          <a:p>
            <a:pPr algn="l" indent="0" marL="0">
              <a:lnSpc>
                <a:spcPts val="930"/>
              </a:lnSpc>
              <a:buNone/>
            </a:pPr>
            <a:r>
              <a:rPr lang="en-US" sz="620" dirty="0">
                <a:solidFill>
                  <a:srgbClr val="9A5A60"/>
                </a:solidFill>
                <a:latin typeface="Yu Gothic" pitchFamily="34" charset="0"/>
                <a:ea typeface="Yu Gothic" pitchFamily="34" charset="-122"/>
                <a:cs typeface="Yu Gothic" pitchFamily="34" charset="-120"/>
              </a:rPr>
              <a:t>※①〜④の文脈で、社会における必要性を中心に訴求（PwC様レビューNo.13）。他社ロゴ（BHP・BMA）は使用せずテキスト表記</a:t>
            </a:r>
            <a:endParaRPr lang="en-US" sz="620" dirty="0"/>
          </a:p>
        </p:txBody>
      </p:sp>
      <p:sp>
        <p:nvSpPr>
          <p:cNvPr id="73" name="t2_70"/>
          <p:cNvSpPr txBox="1"/>
          <p:nvPr/>
        </p:nvSpPr>
        <p:spPr>
          <a:xfrm>
            <a:off x="8166100" y="431800"/>
            <a:ext cx="1666589" cy="139700"/>
          </a:xfrm>
          <a:prstGeom prst="rect">
            <a:avLst/>
          </a:prstGeom>
          <a:noFill/>
          <a:ln/>
        </p:spPr>
        <p:txBody>
          <a:bodyPr wrap="none" lIns="0" tIns="0" rIns="0" bIns="0" rtlCol="0" anchor="t"/>
          <a:lstStyle/>
          <a:p>
            <a:pPr algn="l" indent="0" marL="0">
              <a:lnSpc>
                <a:spcPts val="962"/>
              </a:lnSpc>
              <a:buNone/>
            </a:pPr>
            <a:r>
              <a:rPr lang="en-US" sz="740" spc="120" kern="0" dirty="0">
                <a:solidFill>
                  <a:srgbClr val="555555"/>
                </a:solidFill>
                <a:latin typeface="Yu Gothic" pitchFamily="34" charset="0"/>
                <a:ea typeface="Yu Gothic" pitchFamily="34" charset="-122"/>
                <a:cs typeface="Yu Gothic" pitchFamily="34" charset="-120"/>
              </a:rPr>
              <a:t>第2章　HOW/WHAT｜独自価値</a:t>
            </a:r>
            <a:endParaRPr lang="en-US" sz="740" dirty="0"/>
          </a:p>
        </p:txBody>
      </p:sp>
      <p:sp>
        <p:nvSpPr>
          <p:cNvPr id="74" name="t2_71"/>
          <p:cNvSpPr txBox="1"/>
          <p:nvPr/>
        </p:nvSpPr>
        <p:spPr>
          <a:xfrm>
            <a:off x="13627100" y="406400"/>
            <a:ext cx="1014016" cy="177800"/>
          </a:xfrm>
          <a:prstGeom prst="roundRect">
            <a:avLst>
              <a:gd name="adj" fmla="val 257143"/>
            </a:avLst>
          </a:prstGeom>
          <a:noFill/>
          <a:ln w="12700">
            <a:solidFill>
              <a:srgbClr val="AAAAAA"/>
            </a:solidFill>
            <a:prstDash val="solid"/>
          </a:ln>
        </p:spPr>
        <p:txBody>
          <a:bodyPr wrap="square" lIns="25400" tIns="38100" rIns="38100" bIns="25400" rtlCol="0" anchor="t"/>
          <a:lstStyle/>
          <a:p>
            <a:pPr algn="l" indent="0" marL="0">
              <a:lnSpc>
                <a:spcPts val="858"/>
              </a:lnSpc>
              <a:buNone/>
            </a:pPr>
            <a:r>
              <a:rPr lang="en-US" sz="660" spc="50" kern="0" dirty="0">
                <a:solidFill>
                  <a:srgbClr val="777777"/>
                </a:solidFill>
                <a:latin typeface="Yu Gothic" pitchFamily="34" charset="0"/>
                <a:ea typeface="Yu Gothic" pitchFamily="34" charset="-122"/>
                <a:cs typeface="Yu Gothic" pitchFamily="34" charset="-120"/>
              </a:rPr>
              <a:t>読み手の心理：納得</a:t>
            </a:r>
            <a:endParaRPr lang="en-US" sz="660" dirty="0"/>
          </a:p>
        </p:txBody>
      </p:sp>
      <p:sp>
        <p:nvSpPr>
          <p:cNvPr id="75" name="t2_72"/>
          <p:cNvSpPr txBox="1"/>
          <p:nvPr/>
        </p:nvSpPr>
        <p:spPr>
          <a:xfrm>
            <a:off x="8166100" y="762000"/>
            <a:ext cx="6352540" cy="320040"/>
          </a:xfrm>
          <a:prstGeom prst="rect">
            <a:avLst/>
          </a:prstGeom>
          <a:noFill/>
          <a:ln/>
        </p:spPr>
        <p:txBody>
          <a:bodyPr wrap="none" lIns="0" tIns="0" rIns="0" bIns="0" rtlCol="0" anchor="t"/>
          <a:lstStyle/>
          <a:p>
            <a:pPr algn="l" indent="0" marL="0">
              <a:lnSpc>
                <a:spcPts val="2520"/>
              </a:lnSpc>
              <a:buNone/>
            </a:pPr>
            <a:r>
              <a:rPr lang="en-US" sz="1800" spc="80" kern="0" dirty="0">
                <a:solidFill>
                  <a:srgbClr val="222222"/>
                </a:solidFill>
                <a:latin typeface="Yu Gothic" pitchFamily="34" charset="0"/>
                <a:ea typeface="Yu Gothic" pitchFamily="34" charset="-122"/>
                <a:cs typeface="Yu Gothic" pitchFamily="34" charset="-120"/>
              </a:rPr>
              <a:t>銅事業</a:t>
            </a:r>
            <a:endParaRPr lang="en-US" sz="1800" dirty="0"/>
          </a:p>
        </p:txBody>
      </p:sp>
      <p:sp>
        <p:nvSpPr>
          <p:cNvPr id="76" name="t2_73"/>
          <p:cNvSpPr txBox="1"/>
          <p:nvPr/>
        </p:nvSpPr>
        <p:spPr>
          <a:xfrm>
            <a:off x="8166100" y="1117600"/>
            <a:ext cx="6352540" cy="196850"/>
          </a:xfrm>
          <a:prstGeom prst="rect">
            <a:avLst/>
          </a:prstGeom>
          <a:noFill/>
          <a:ln/>
        </p:spPr>
        <p:txBody>
          <a:bodyPr wrap="none" lIns="0" tIns="0" rIns="0" bIns="0" rtlCol="0" anchor="t"/>
          <a:lstStyle/>
          <a:p>
            <a:pPr algn="l" indent="0" marL="0">
              <a:lnSpc>
                <a:spcPts val="1550"/>
              </a:lnSpc>
              <a:buNone/>
            </a:pPr>
            <a:r>
              <a:rPr lang="en-US" sz="1000" spc="30" kern="0" dirty="0">
                <a:solidFill>
                  <a:srgbClr val="444444"/>
                </a:solidFill>
                <a:latin typeface="Yu Gothic" pitchFamily="34" charset="0"/>
                <a:ea typeface="Yu Gothic" pitchFamily="34" charset="-122"/>
                <a:cs typeface="Yu Gothic" pitchFamily="34" charset="-120"/>
              </a:rPr>
              <a:t>自社操業を伴わずに、世界最大級の銅ポジションを築く</a:t>
            </a:r>
            <a:endParaRPr lang="en-US" sz="1000" dirty="0"/>
          </a:p>
        </p:txBody>
      </p:sp>
      <p:sp>
        <p:nvSpPr>
          <p:cNvPr id="77" name="t2_74"/>
          <p:cNvSpPr txBox="1"/>
          <p:nvPr/>
        </p:nvSpPr>
        <p:spPr>
          <a:xfrm>
            <a:off x="8166100" y="1371600"/>
            <a:ext cx="3182620" cy="190500"/>
          </a:xfrm>
          <a:prstGeom prst="rect">
            <a:avLst/>
          </a:prstGeom>
          <a:noFill/>
          <a:ln/>
        </p:spPr>
        <p:txBody>
          <a:bodyPr wrap="none" lIns="0" tIns="0" rIns="0" bIns="0" rtlCol="0" anchor="t"/>
          <a:lstStyle/>
          <a:p>
            <a:pPr algn="l" indent="0" marL="0">
              <a:lnSpc>
                <a:spcPts val="1365"/>
              </a:lnSpc>
              <a:buNone/>
            </a:pPr>
            <a:r>
              <a:rPr lang="en-US" sz="1050" dirty="0">
                <a:solidFill>
                  <a:srgbClr val="222222"/>
                </a:solidFill>
                <a:latin typeface="Yu Gothic" pitchFamily="34" charset="0"/>
                <a:ea typeface="Yu Gothic" pitchFamily="34" charset="-122"/>
                <a:cs typeface="Yu Gothic" pitchFamily="34" charset="-120"/>
              </a:rPr>
              <a:t>ノンオペレーターとして世界最大の銅生産者</a:t>
            </a:r>
            <a:endParaRPr lang="en-US" sz="1050" dirty="0"/>
          </a:p>
        </p:txBody>
      </p:sp>
      <p:sp>
        <p:nvSpPr>
          <p:cNvPr id="78" name="t2_75"/>
          <p:cNvSpPr txBox="1"/>
          <p:nvPr/>
        </p:nvSpPr>
        <p:spPr>
          <a:xfrm>
            <a:off x="8166100" y="1625600"/>
            <a:ext cx="3182620" cy="692944"/>
          </a:xfrm>
          <a:prstGeom prst="rect">
            <a:avLst/>
          </a:prstGeom>
          <a:noFill/>
          <a:ln/>
        </p:spPr>
        <p:txBody>
          <a:bodyPr wrap="square" lIns="0" tIns="0" rIns="0" bIns="0" rtlCol="0" anchor="t"/>
          <a:lstStyle/>
          <a:p>
            <a:pPr algn="l" indent="0" marL="0">
              <a:lnSpc>
                <a:spcPts val="1365"/>
              </a:lnSpc>
              <a:buNone/>
            </a:pPr>
            <a:r>
              <a:rPr lang="en-US" sz="7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a:t>
            </a:r>
            <a:endParaRPr lang="en-US" sz="780" dirty="0"/>
          </a:p>
        </p:txBody>
      </p:sp>
      <p:sp>
        <p:nvSpPr>
          <p:cNvPr id="79" name="t2_76"/>
          <p:cNvSpPr txBox="1"/>
          <p:nvPr/>
        </p:nvSpPr>
        <p:spPr>
          <a:xfrm>
            <a:off x="8166100" y="2331641"/>
            <a:ext cx="985965" cy="114300"/>
          </a:xfrm>
          <a:prstGeom prst="rect">
            <a:avLst/>
          </a:prstGeom>
          <a:noFill/>
          <a:ln/>
        </p:spPr>
        <p:txBody>
          <a:bodyPr wrap="none" lIns="0" tIns="0" rIns="0" bIns="0" rtlCol="0" anchor="t"/>
          <a:lstStyle/>
          <a:p>
            <a:pPr algn="l" indent="0" marL="0">
              <a:lnSpc>
                <a:spcPts val="754"/>
              </a:lnSpc>
              <a:buNone/>
            </a:pPr>
            <a:r>
              <a:rPr lang="en-US" sz="580" spc="30" kern="0" dirty="0">
                <a:solidFill>
                  <a:srgbClr val="B0B4B8"/>
                </a:solidFill>
                <a:latin typeface="Yu Gothic" pitchFamily="34" charset="0"/>
                <a:ea typeface="Yu Gothic" pitchFamily="34" charset="-122"/>
                <a:cs typeface="Yu Gothic" pitchFamily="34" charset="-120"/>
              </a:rPr>
              <a:t>▸本文 100字／英語 約55語</a:t>
            </a:r>
            <a:endParaRPr lang="en-US" sz="580" dirty="0"/>
          </a:p>
        </p:txBody>
      </p:sp>
      <p:pic>
        <p:nvPicPr>
          <p:cNvPr id="80" name="Image 2" descr="preencoded.png">    </p:cNvPr>
          <p:cNvPicPr>
            <a:picLocks noChangeAspect="1"/>
          </p:cNvPicPr>
          <p:nvPr/>
        </p:nvPicPr>
        <p:blipFill>
          <a:blip r:embed="rId3"/>
          <a:stretch>
            <a:fillRect/>
          </a:stretch>
        </p:blipFill>
        <p:spPr>
          <a:xfrm>
            <a:off x="11455400" y="762000"/>
            <a:ext cx="3048000" cy="2032000"/>
          </a:xfrm>
          <a:prstGeom prst="rect">
            <a:avLst/>
          </a:prstGeom>
        </p:spPr>
      </p:pic>
      <p:sp>
        <p:nvSpPr>
          <p:cNvPr id="81" name="t2_78"/>
          <p:cNvSpPr txBox="1"/>
          <p:nvPr/>
        </p:nvSpPr>
        <p:spPr>
          <a:xfrm>
            <a:off x="11455400" y="2832100"/>
            <a:ext cx="3182620" cy="117872"/>
          </a:xfrm>
          <a:prstGeom prst="rect">
            <a:avLst/>
          </a:prstGeom>
          <a:noFill/>
          <a:ln/>
        </p:spPr>
        <p:txBody>
          <a:bodyPr wrap="none" lIns="0" tIns="0" rIns="0" bIns="0" rtlCol="0" anchor="t"/>
          <a:lstStyle/>
          <a:p>
            <a:pPr algn="l" indent="0" marL="0">
              <a:lnSpc>
                <a:spcPts val="928"/>
              </a:lnSpc>
              <a:buNone/>
            </a:pPr>
            <a:r>
              <a:rPr lang="en-US" sz="640" dirty="0">
                <a:solidFill>
                  <a:srgbClr val="555555"/>
                </a:solidFill>
                <a:latin typeface="Yu Gothic" pitchFamily="34" charset="0"/>
                <a:ea typeface="Yu Gothic" pitchFamily="34" charset="-122"/>
                <a:cs typeface="Yu Gothic" pitchFamily="34" charset="-120"/>
              </a:rPr>
              <a:t>写真：銅鉱山（流用：三菱商事サイト）</a:t>
            </a:r>
            <a:endParaRPr lang="en-US" sz="640" dirty="0"/>
          </a:p>
        </p:txBody>
      </p:sp>
      <p:sp>
        <p:nvSpPr>
          <p:cNvPr id="82" name="t2_79"/>
          <p:cNvSpPr txBox="1"/>
          <p:nvPr/>
        </p:nvSpPr>
        <p:spPr>
          <a:xfrm>
            <a:off x="8166100" y="3124200"/>
            <a:ext cx="3182620" cy="165100"/>
          </a:xfrm>
          <a:prstGeom prst="rect">
            <a:avLst/>
          </a:prstGeom>
          <a:noFill/>
          <a:ln/>
        </p:spPr>
        <p:txBody>
          <a:bodyPr wrap="none" lIns="0" tIns="0" rIns="0" bIns="0" rtlCol="0" anchor="t"/>
          <a:lstStyle/>
          <a:p>
            <a:pPr algn="l" indent="0" marL="0">
              <a:lnSpc>
                <a:spcPts val="1170"/>
              </a:lnSpc>
              <a:buNone/>
            </a:pPr>
            <a:r>
              <a:rPr lang="en-US" sz="900" dirty="0">
                <a:solidFill>
                  <a:srgbClr val="222222"/>
                </a:solidFill>
                <a:latin typeface="Yu Gothic" pitchFamily="34" charset="0"/>
                <a:ea typeface="Yu Gothic" pitchFamily="34" charset="-122"/>
                <a:cs typeface="Yu Gothic" pitchFamily="34" charset="-120"/>
              </a:rPr>
              <a:t>Tier1アセットの保有</a:t>
            </a:r>
            <a:endParaRPr lang="en-US" sz="900" dirty="0"/>
          </a:p>
        </p:txBody>
      </p:sp>
      <p:sp>
        <p:nvSpPr>
          <p:cNvPr id="83" name="t2_80"/>
          <p:cNvSpPr txBox="1"/>
          <p:nvPr/>
        </p:nvSpPr>
        <p:spPr>
          <a:xfrm>
            <a:off x="8166100" y="3289300"/>
            <a:ext cx="3182620" cy="117872"/>
          </a:xfrm>
          <a:prstGeom prst="rect">
            <a:avLst/>
          </a:prstGeom>
          <a:noFill/>
          <a:ln/>
        </p:spPr>
        <p:txBody>
          <a:bodyPr wrap="none" lIns="0" tIns="0" rIns="0" bIns="0" rtlCol="0" anchor="t"/>
          <a:lstStyle/>
          <a:p>
            <a:pPr algn="l" indent="0" marL="0">
              <a:lnSpc>
                <a:spcPts val="928"/>
              </a:lnSpc>
              <a:buNone/>
            </a:pPr>
            <a:r>
              <a:rPr lang="en-US" sz="640" dirty="0">
                <a:solidFill>
                  <a:srgbClr val="555555"/>
                </a:solidFill>
                <a:latin typeface="Yu Gothic" pitchFamily="34" charset="0"/>
                <a:ea typeface="Yu Gothic" pitchFamily="34" charset="-122"/>
                <a:cs typeface="Yu Gothic" pitchFamily="34" charset="-120"/>
              </a:rPr>
              <a:t>規模で世界上位の優良鉱山に参画</a:t>
            </a:r>
            <a:endParaRPr lang="en-US" sz="640" dirty="0"/>
          </a:p>
        </p:txBody>
      </p:sp>
      <p:sp>
        <p:nvSpPr>
          <p:cNvPr id="84" name="t2_81"/>
          <p:cNvSpPr txBox="1"/>
          <p:nvPr/>
        </p:nvSpPr>
        <p:spPr>
          <a:xfrm>
            <a:off x="8166100" y="3454400"/>
            <a:ext cx="3182620" cy="213122"/>
          </a:xfrm>
          <a:prstGeom prst="rect">
            <a:avLst/>
          </a:prstGeom>
          <a:noFill/>
          <a:ln/>
        </p:spPr>
        <p:txBody>
          <a:bodyPr wrap="square" lIns="0" tIns="0" rIns="0" bIns="0" rtlCol="0" anchor="t"/>
          <a:lstStyle/>
          <a:p>
            <a:pPr algn="l" indent="0" marL="0">
              <a:lnSpc>
                <a:spcPts val="840"/>
              </a:lnSpc>
              <a:buNone/>
            </a:pPr>
            <a:r>
              <a:rPr lang="en-US" sz="5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ＸＸＸＸＸＸＸＸＸＸＸＸＸＸＸＸＸＸＸＸＸＸＸＸＸＸＸＸＸＸＸＸＸＸＸＸＸＸＸＸＸＸＸＸＸＸＸＸＸＸ</a:t>
            </a:r>
            <a:endParaRPr lang="en-US" sz="560" dirty="0"/>
          </a:p>
        </p:txBody>
      </p:sp>
      <p:sp>
        <p:nvSpPr>
          <p:cNvPr id="85" name="t2_82"/>
          <p:cNvSpPr txBox="1"/>
          <p:nvPr/>
        </p:nvSpPr>
        <p:spPr>
          <a:xfrm>
            <a:off x="11417300" y="3124200"/>
            <a:ext cx="3182620" cy="165100"/>
          </a:xfrm>
          <a:prstGeom prst="rect">
            <a:avLst/>
          </a:prstGeom>
          <a:noFill/>
          <a:ln/>
        </p:spPr>
        <p:txBody>
          <a:bodyPr wrap="none" lIns="0" tIns="0" rIns="0" bIns="0" rtlCol="0" anchor="t"/>
          <a:lstStyle/>
          <a:p>
            <a:pPr algn="l" indent="0" marL="0">
              <a:lnSpc>
                <a:spcPts val="1170"/>
              </a:lnSpc>
              <a:buNone/>
            </a:pPr>
            <a:r>
              <a:rPr lang="en-US" sz="900" dirty="0">
                <a:solidFill>
                  <a:srgbClr val="222222"/>
                </a:solidFill>
                <a:latin typeface="Yu Gothic" pitchFamily="34" charset="0"/>
                <a:ea typeface="Yu Gothic" pitchFamily="34" charset="-122"/>
                <a:cs typeface="Yu Gothic" pitchFamily="34" charset="-120"/>
              </a:rPr>
              <a:t>主要メジャー各社との協業</a:t>
            </a:r>
            <a:endParaRPr lang="en-US" sz="900" dirty="0"/>
          </a:p>
        </p:txBody>
      </p:sp>
      <p:sp>
        <p:nvSpPr>
          <p:cNvPr id="86" name="t2_83"/>
          <p:cNvSpPr txBox="1"/>
          <p:nvPr/>
        </p:nvSpPr>
        <p:spPr>
          <a:xfrm>
            <a:off x="11417300" y="3289300"/>
            <a:ext cx="3182620" cy="117872"/>
          </a:xfrm>
          <a:prstGeom prst="rect">
            <a:avLst/>
          </a:prstGeom>
          <a:noFill/>
          <a:ln/>
        </p:spPr>
        <p:txBody>
          <a:bodyPr wrap="none" lIns="0" tIns="0" rIns="0" bIns="0" rtlCol="0" anchor="t"/>
          <a:lstStyle/>
          <a:p>
            <a:pPr algn="l" indent="0" marL="0">
              <a:lnSpc>
                <a:spcPts val="928"/>
              </a:lnSpc>
              <a:buNone/>
            </a:pPr>
            <a:r>
              <a:rPr lang="en-US" sz="640" dirty="0">
                <a:solidFill>
                  <a:srgbClr val="555555"/>
                </a:solidFill>
                <a:latin typeface="Yu Gothic" pitchFamily="34" charset="0"/>
                <a:ea typeface="Yu Gothic" pitchFamily="34" charset="-122"/>
                <a:cs typeface="Yu Gothic" pitchFamily="34" charset="-120"/>
              </a:rPr>
              <a:t>特定1社に偏らず、ほぼすべてのメジャーと共同事業・取引</a:t>
            </a:r>
            <a:endParaRPr lang="en-US" sz="640" dirty="0"/>
          </a:p>
        </p:txBody>
      </p:sp>
      <p:sp>
        <p:nvSpPr>
          <p:cNvPr id="87" name="t2_84"/>
          <p:cNvSpPr txBox="1"/>
          <p:nvPr/>
        </p:nvSpPr>
        <p:spPr>
          <a:xfrm>
            <a:off x="11417300" y="3454400"/>
            <a:ext cx="3182620" cy="213122"/>
          </a:xfrm>
          <a:prstGeom prst="rect">
            <a:avLst/>
          </a:prstGeom>
          <a:noFill/>
          <a:ln/>
        </p:spPr>
        <p:txBody>
          <a:bodyPr wrap="square" lIns="0" tIns="0" rIns="0" bIns="0" rtlCol="0" anchor="t"/>
          <a:lstStyle/>
          <a:p>
            <a:pPr algn="l" indent="0" marL="0">
              <a:lnSpc>
                <a:spcPts val="840"/>
              </a:lnSpc>
              <a:buNone/>
            </a:pPr>
            <a:r>
              <a:rPr lang="en-US" sz="5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ＸＸＸＸＸＸＸＸＸＸＸＸＸＸＸＸＸＸＸＸＸＸＸＸＸＸＸＸＸＸＸＸＸＸＸＸＸＸＸＸＸＸＸＸＸＸＸＸＸＸ</a:t>
            </a:r>
            <a:endParaRPr lang="en-US" sz="560" dirty="0"/>
          </a:p>
        </p:txBody>
      </p:sp>
      <p:sp>
        <p:nvSpPr>
          <p:cNvPr id="88" name="t2_85"/>
          <p:cNvSpPr txBox="1"/>
          <p:nvPr/>
        </p:nvSpPr>
        <p:spPr>
          <a:xfrm>
            <a:off x="8166100" y="3860800"/>
            <a:ext cx="3182620" cy="165100"/>
          </a:xfrm>
          <a:prstGeom prst="rect">
            <a:avLst/>
          </a:prstGeom>
          <a:noFill/>
          <a:ln/>
        </p:spPr>
        <p:txBody>
          <a:bodyPr wrap="none" lIns="0" tIns="0" rIns="0" bIns="0" rtlCol="0" anchor="t"/>
          <a:lstStyle/>
          <a:p>
            <a:pPr algn="l" indent="0" marL="0">
              <a:lnSpc>
                <a:spcPts val="1170"/>
              </a:lnSpc>
              <a:buNone/>
            </a:pPr>
            <a:r>
              <a:rPr lang="en-US" sz="900" dirty="0">
                <a:solidFill>
                  <a:srgbClr val="222222"/>
                </a:solidFill>
                <a:latin typeface="Yu Gothic" pitchFamily="34" charset="0"/>
                <a:ea typeface="Yu Gothic" pitchFamily="34" charset="-122"/>
                <a:cs typeface="Yu Gothic" pitchFamily="34" charset="-120"/>
              </a:rPr>
              <a:t>トレーディングによる関係構築</a:t>
            </a:r>
            <a:endParaRPr lang="en-US" sz="900" dirty="0"/>
          </a:p>
        </p:txBody>
      </p:sp>
      <p:sp>
        <p:nvSpPr>
          <p:cNvPr id="89" name="t2_86"/>
          <p:cNvSpPr txBox="1"/>
          <p:nvPr/>
        </p:nvSpPr>
        <p:spPr>
          <a:xfrm>
            <a:off x="8166100" y="4025900"/>
            <a:ext cx="3182620" cy="117872"/>
          </a:xfrm>
          <a:prstGeom prst="rect">
            <a:avLst/>
          </a:prstGeom>
          <a:noFill/>
          <a:ln/>
        </p:spPr>
        <p:txBody>
          <a:bodyPr wrap="none" lIns="0" tIns="0" rIns="0" bIns="0" rtlCol="0" anchor="t"/>
          <a:lstStyle/>
          <a:p>
            <a:pPr algn="l" indent="0" marL="0">
              <a:lnSpc>
                <a:spcPts val="928"/>
              </a:lnSpc>
              <a:buNone/>
            </a:pPr>
            <a:r>
              <a:rPr lang="en-US" sz="640" dirty="0">
                <a:solidFill>
                  <a:srgbClr val="555555"/>
                </a:solidFill>
                <a:latin typeface="Yu Gothic" pitchFamily="34" charset="0"/>
                <a:ea typeface="Yu Gothic" pitchFamily="34" charset="-122"/>
                <a:cs typeface="Yu Gothic" pitchFamily="34" charset="-120"/>
              </a:rPr>
              <a:t>販売を通じて業界内の幅広いリレーションを形成</a:t>
            </a:r>
            <a:endParaRPr lang="en-US" sz="640" dirty="0"/>
          </a:p>
        </p:txBody>
      </p:sp>
      <p:sp>
        <p:nvSpPr>
          <p:cNvPr id="90" name="t2_87"/>
          <p:cNvSpPr txBox="1"/>
          <p:nvPr/>
        </p:nvSpPr>
        <p:spPr>
          <a:xfrm>
            <a:off x="8166100" y="4191000"/>
            <a:ext cx="3182620" cy="213122"/>
          </a:xfrm>
          <a:prstGeom prst="rect">
            <a:avLst/>
          </a:prstGeom>
          <a:noFill/>
          <a:ln/>
        </p:spPr>
        <p:txBody>
          <a:bodyPr wrap="square" lIns="0" tIns="0" rIns="0" bIns="0" rtlCol="0" anchor="t"/>
          <a:lstStyle/>
          <a:p>
            <a:pPr algn="l" indent="0" marL="0">
              <a:lnSpc>
                <a:spcPts val="840"/>
              </a:lnSpc>
              <a:buNone/>
            </a:pPr>
            <a:r>
              <a:rPr lang="en-US" sz="5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ＸＸＸＸＸＸＸＸＸＸＸＸＸＸＸＸＸＸＸＸＸＸＸＸＸＸＸＸＸＸＸＸＸＸＸＸＸＸＸＸＸＸＸＸＸＸＸＸＸＸ</a:t>
            </a:r>
            <a:endParaRPr lang="en-US" sz="560" dirty="0"/>
          </a:p>
        </p:txBody>
      </p:sp>
      <p:sp>
        <p:nvSpPr>
          <p:cNvPr id="91" name="t2_88"/>
          <p:cNvSpPr txBox="1"/>
          <p:nvPr/>
        </p:nvSpPr>
        <p:spPr>
          <a:xfrm>
            <a:off x="11417300" y="3860800"/>
            <a:ext cx="3182620" cy="165100"/>
          </a:xfrm>
          <a:prstGeom prst="rect">
            <a:avLst/>
          </a:prstGeom>
          <a:noFill/>
          <a:ln/>
        </p:spPr>
        <p:txBody>
          <a:bodyPr wrap="none" lIns="0" tIns="0" rIns="0" bIns="0" rtlCol="0" anchor="t"/>
          <a:lstStyle/>
          <a:p>
            <a:pPr algn="l" indent="0" marL="0">
              <a:lnSpc>
                <a:spcPts val="1170"/>
              </a:lnSpc>
              <a:buNone/>
            </a:pPr>
            <a:r>
              <a:rPr lang="en-US" sz="900" dirty="0">
                <a:solidFill>
                  <a:srgbClr val="222222"/>
                </a:solidFill>
                <a:latin typeface="Yu Gothic" pitchFamily="34" charset="0"/>
                <a:ea typeface="Yu Gothic" pitchFamily="34" charset="-122"/>
                <a:cs typeface="Yu Gothic" pitchFamily="34" charset="-120"/>
              </a:rPr>
              <a:t>新技術・スタートアップへの投資</a:t>
            </a:r>
            <a:endParaRPr lang="en-US" sz="900" dirty="0"/>
          </a:p>
        </p:txBody>
      </p:sp>
      <p:sp>
        <p:nvSpPr>
          <p:cNvPr id="92" name="t2_89"/>
          <p:cNvSpPr txBox="1"/>
          <p:nvPr/>
        </p:nvSpPr>
        <p:spPr>
          <a:xfrm>
            <a:off x="11417300" y="4025900"/>
            <a:ext cx="3182620" cy="117872"/>
          </a:xfrm>
          <a:prstGeom prst="rect">
            <a:avLst/>
          </a:prstGeom>
          <a:noFill/>
          <a:ln/>
        </p:spPr>
        <p:txBody>
          <a:bodyPr wrap="none" lIns="0" tIns="0" rIns="0" bIns="0" rtlCol="0" anchor="t"/>
          <a:lstStyle/>
          <a:p>
            <a:pPr algn="l" indent="0" marL="0">
              <a:lnSpc>
                <a:spcPts val="928"/>
              </a:lnSpc>
              <a:buNone/>
            </a:pPr>
            <a:r>
              <a:rPr lang="en-US" sz="640" dirty="0">
                <a:solidFill>
                  <a:srgbClr val="555555"/>
                </a:solidFill>
                <a:latin typeface="Yu Gothic" pitchFamily="34" charset="0"/>
                <a:ea typeface="Yu Gothic" pitchFamily="34" charset="-122"/>
                <a:cs typeface="Yu Gothic" pitchFamily="34" charset="-120"/>
              </a:rPr>
              <a:t>業界のボトルネックに挑む技術に投資</a:t>
            </a:r>
            <a:endParaRPr lang="en-US" sz="640" dirty="0"/>
          </a:p>
        </p:txBody>
      </p:sp>
      <p:sp>
        <p:nvSpPr>
          <p:cNvPr id="93" name="t2_90"/>
          <p:cNvSpPr txBox="1"/>
          <p:nvPr/>
        </p:nvSpPr>
        <p:spPr>
          <a:xfrm>
            <a:off x="11417300" y="4191000"/>
            <a:ext cx="3182620" cy="213122"/>
          </a:xfrm>
          <a:prstGeom prst="rect">
            <a:avLst/>
          </a:prstGeom>
          <a:noFill/>
          <a:ln/>
        </p:spPr>
        <p:txBody>
          <a:bodyPr wrap="square" lIns="0" tIns="0" rIns="0" bIns="0" rtlCol="0" anchor="t"/>
          <a:lstStyle/>
          <a:p>
            <a:pPr algn="l" indent="0" marL="0">
              <a:lnSpc>
                <a:spcPts val="840"/>
              </a:lnSpc>
              <a:buNone/>
            </a:pPr>
            <a:r>
              <a:rPr lang="en-US" sz="5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ＸＸＸＸＸＸＸＸＸＸＸＸＸＸＸＸＸＸＸＸＸＸＸＸＸＸＸＸＸＸＸＸＸＸＸＸＸＸＸＸＸＸＸＸＸＸＸＸＸＸ</a:t>
            </a:r>
            <a:endParaRPr lang="en-US" sz="560" dirty="0"/>
          </a:p>
        </p:txBody>
      </p:sp>
      <p:sp>
        <p:nvSpPr>
          <p:cNvPr id="94" name="Shape 88"/>
          <p:cNvSpPr/>
          <p:nvPr/>
        </p:nvSpPr>
        <p:spPr>
          <a:xfrm>
            <a:off x="8166100" y="4673600"/>
            <a:ext cx="6337300" cy="0"/>
          </a:xfrm>
          <a:prstGeom prst="line">
            <a:avLst/>
          </a:prstGeom>
          <a:noFill/>
          <a:ln w="12700">
            <a:solidFill>
              <a:srgbClr val="CFD2D5"/>
            </a:solidFill>
            <a:prstDash val="solid"/>
          </a:ln>
        </p:spPr>
      </p:sp>
      <p:sp>
        <p:nvSpPr>
          <p:cNvPr id="95" name="t2_92"/>
          <p:cNvSpPr txBox="1"/>
          <p:nvPr/>
        </p:nvSpPr>
        <p:spPr>
          <a:xfrm>
            <a:off x="8166100" y="4826000"/>
            <a:ext cx="1118870" cy="152400"/>
          </a:xfrm>
          <a:prstGeom prst="rect">
            <a:avLst/>
          </a:prstGeom>
          <a:noFill/>
          <a:ln/>
        </p:spPr>
        <p:txBody>
          <a:bodyPr wrap="none" lIns="0" tIns="0" rIns="0" bIns="0" rtlCol="0" anchor="t"/>
          <a:lstStyle/>
          <a:p>
            <a:pPr algn="l" indent="0" marL="0">
              <a:lnSpc>
                <a:spcPts val="1092"/>
              </a:lnSpc>
              <a:buNone/>
            </a:pPr>
            <a:r>
              <a:rPr lang="en-US" sz="840" dirty="0">
                <a:solidFill>
                  <a:srgbClr val="222222"/>
                </a:solidFill>
                <a:latin typeface="Yu Gothic" pitchFamily="34" charset="0"/>
                <a:ea typeface="Yu Gothic" pitchFamily="34" charset="-122"/>
                <a:cs typeface="Yu Gothic" pitchFamily="34" charset="-120"/>
              </a:rPr>
              <a:t>保有案件（主要鉱山）</a:t>
            </a:r>
            <a:endParaRPr lang="en-US" sz="840" dirty="0"/>
          </a:p>
        </p:txBody>
      </p:sp>
      <p:sp>
        <p:nvSpPr>
          <p:cNvPr id="96" name="t2_93"/>
          <p:cNvSpPr txBox="1"/>
          <p:nvPr/>
        </p:nvSpPr>
        <p:spPr>
          <a:xfrm>
            <a:off x="8166100" y="5080000"/>
            <a:ext cx="990600" cy="190500"/>
          </a:xfrm>
          <a:prstGeom prst="rect">
            <a:avLst/>
          </a:prstGeom>
          <a:solidFill>
            <a:srgbClr val="3C4045"/>
          </a:solidFill>
          <a:ln/>
        </p:spPr>
        <p:txBody>
          <a:bodyPr wrap="square" lIns="25400" tIns="38100" rIns="38100" bIns="25400" rtlCol="0" anchor="ctr"/>
          <a:lstStyle/>
          <a:p>
            <a:pPr algn="l" indent="0" marL="0">
              <a:buNone/>
            </a:pPr>
            <a:r>
              <a:rPr lang="en-US" sz="600" dirty="0">
                <a:solidFill>
                  <a:srgbClr val="FFFFFF"/>
                </a:solidFill>
                <a:latin typeface="Yu Gothic" pitchFamily="34" charset="0"/>
                <a:ea typeface="Yu Gothic" pitchFamily="34" charset="-122"/>
                <a:cs typeface="Yu Gothic" pitchFamily="34" charset="-120"/>
              </a:rPr>
              <a:t>鉱山</a:t>
            </a:r>
            <a:endParaRPr lang="en-US" sz="600" dirty="0"/>
          </a:p>
        </p:txBody>
      </p:sp>
      <p:sp>
        <p:nvSpPr>
          <p:cNvPr id="97" name="t2_94"/>
          <p:cNvSpPr txBox="1"/>
          <p:nvPr/>
        </p:nvSpPr>
        <p:spPr>
          <a:xfrm>
            <a:off x="9156700" y="5080000"/>
            <a:ext cx="431800" cy="190500"/>
          </a:xfrm>
          <a:prstGeom prst="rect">
            <a:avLst/>
          </a:prstGeom>
          <a:solidFill>
            <a:srgbClr val="3C4045"/>
          </a:solidFill>
          <a:ln/>
        </p:spPr>
        <p:txBody>
          <a:bodyPr wrap="square" lIns="25400" tIns="38100" rIns="38100" bIns="25400" rtlCol="0" anchor="ctr"/>
          <a:lstStyle/>
          <a:p>
            <a:pPr algn="l" indent="0" marL="0">
              <a:buNone/>
            </a:pPr>
            <a:r>
              <a:rPr lang="en-US" sz="600" dirty="0">
                <a:solidFill>
                  <a:srgbClr val="FFFFFF"/>
                </a:solidFill>
                <a:latin typeface="Yu Gothic" pitchFamily="34" charset="0"/>
                <a:ea typeface="Yu Gothic" pitchFamily="34" charset="-122"/>
                <a:cs typeface="Yu Gothic" pitchFamily="34" charset="-120"/>
              </a:rPr>
              <a:t>所在国</a:t>
            </a:r>
            <a:endParaRPr lang="en-US" sz="600" dirty="0"/>
          </a:p>
        </p:txBody>
      </p:sp>
      <p:sp>
        <p:nvSpPr>
          <p:cNvPr id="98" name="t2_95"/>
          <p:cNvSpPr txBox="1"/>
          <p:nvPr/>
        </p:nvSpPr>
        <p:spPr>
          <a:xfrm>
            <a:off x="9588500" y="5080000"/>
            <a:ext cx="609600" cy="190500"/>
          </a:xfrm>
          <a:prstGeom prst="rect">
            <a:avLst/>
          </a:prstGeom>
          <a:solidFill>
            <a:srgbClr val="3C4045"/>
          </a:solidFill>
          <a:ln/>
        </p:spPr>
        <p:txBody>
          <a:bodyPr wrap="square" lIns="25400" tIns="38100" rIns="38100" bIns="25400" rtlCol="0" anchor="ctr"/>
          <a:lstStyle/>
          <a:p>
            <a:pPr algn="l" indent="0" marL="0">
              <a:buNone/>
            </a:pPr>
            <a:r>
              <a:rPr lang="en-US" sz="600" dirty="0">
                <a:solidFill>
                  <a:srgbClr val="FFFFFF"/>
                </a:solidFill>
                <a:latin typeface="Yu Gothic" pitchFamily="34" charset="0"/>
                <a:ea typeface="Yu Gothic" pitchFamily="34" charset="-122"/>
                <a:cs typeface="Yu Gothic" pitchFamily="34" charset="-120"/>
              </a:rPr>
              <a:t>鉱山別生産量</a:t>
            </a:r>
            <a:endParaRPr lang="en-US" sz="600" dirty="0"/>
          </a:p>
        </p:txBody>
      </p:sp>
      <p:sp>
        <p:nvSpPr>
          <p:cNvPr id="99" name="t2_96"/>
          <p:cNvSpPr txBox="1"/>
          <p:nvPr/>
        </p:nvSpPr>
        <p:spPr>
          <a:xfrm>
            <a:off x="10198100" y="5080000"/>
            <a:ext cx="457200" cy="190500"/>
          </a:xfrm>
          <a:prstGeom prst="rect">
            <a:avLst/>
          </a:prstGeom>
          <a:solidFill>
            <a:srgbClr val="3C4045"/>
          </a:solidFill>
          <a:ln/>
        </p:spPr>
        <p:txBody>
          <a:bodyPr wrap="square" lIns="25400" tIns="38100" rIns="38100" bIns="25400" rtlCol="0" anchor="ctr"/>
          <a:lstStyle/>
          <a:p>
            <a:pPr algn="l" indent="0" marL="0">
              <a:buNone/>
            </a:pPr>
            <a:r>
              <a:rPr lang="en-US" sz="600" dirty="0">
                <a:solidFill>
                  <a:srgbClr val="FFFFFF"/>
                </a:solidFill>
                <a:latin typeface="Yu Gothic" pitchFamily="34" charset="0"/>
                <a:ea typeface="Yu Gothic" pitchFamily="34" charset="-122"/>
                <a:cs typeface="Yu Gothic" pitchFamily="34" charset="-120"/>
              </a:rPr>
              <a:t>出資比率</a:t>
            </a:r>
            <a:endParaRPr lang="en-US" sz="600" dirty="0"/>
          </a:p>
        </p:txBody>
      </p:sp>
      <p:sp>
        <p:nvSpPr>
          <p:cNvPr id="100" name="t2_97"/>
          <p:cNvSpPr txBox="1"/>
          <p:nvPr/>
        </p:nvSpPr>
        <p:spPr>
          <a:xfrm>
            <a:off x="10655300" y="5080000"/>
            <a:ext cx="558800" cy="190500"/>
          </a:xfrm>
          <a:prstGeom prst="rect">
            <a:avLst/>
          </a:prstGeom>
          <a:solidFill>
            <a:srgbClr val="3C4045"/>
          </a:solidFill>
          <a:ln/>
        </p:spPr>
        <p:txBody>
          <a:bodyPr wrap="square" lIns="25400" tIns="38100" rIns="38100" bIns="25400" rtlCol="0" anchor="ctr"/>
          <a:lstStyle/>
          <a:p>
            <a:pPr algn="l" indent="0" marL="0">
              <a:buNone/>
            </a:pPr>
            <a:r>
              <a:rPr lang="en-US" sz="600" dirty="0">
                <a:solidFill>
                  <a:srgbClr val="FFFFFF"/>
                </a:solidFill>
                <a:latin typeface="Yu Gothic" pitchFamily="34" charset="0"/>
                <a:ea typeface="Yu Gothic" pitchFamily="34" charset="-122"/>
                <a:cs typeface="Yu Gothic" pitchFamily="34" charset="-120"/>
              </a:rPr>
              <a:t>参画時期</a:t>
            </a:r>
            <a:endParaRPr lang="en-US" sz="600" dirty="0"/>
          </a:p>
        </p:txBody>
      </p:sp>
      <p:sp>
        <p:nvSpPr>
          <p:cNvPr id="101" name="t2_98"/>
          <p:cNvSpPr txBox="1"/>
          <p:nvPr/>
        </p:nvSpPr>
        <p:spPr>
          <a:xfrm>
            <a:off x="8166100" y="5308600"/>
            <a:ext cx="990600" cy="304800"/>
          </a:xfrm>
          <a:prstGeom prst="rect">
            <a:avLst/>
          </a:prstGeom>
          <a:solidFill>
            <a:srgbClr val="F1F2F4"/>
          </a:solidFill>
          <a:ln/>
        </p:spPr>
        <p:txBody>
          <a:bodyPr wrap="square" lIns="25400" tIns="38100" rIns="38100" bIns="25400" rtlCol="0" anchor="t"/>
          <a:lstStyle/>
          <a:p>
            <a:pPr algn="l" indent="0" marL="0">
              <a:lnSpc>
                <a:spcPts val="936"/>
              </a:lnSpc>
              <a:buNone/>
            </a:pPr>
            <a:r>
              <a:rPr lang="en-US" sz="720" dirty="0">
                <a:solidFill>
                  <a:srgbClr val="222222"/>
                </a:solidFill>
                <a:latin typeface="Yu Gothic" pitchFamily="34" charset="0"/>
                <a:ea typeface="Yu Gothic" pitchFamily="34" charset="-122"/>
                <a:cs typeface="Yu Gothic" pitchFamily="34" charset="-120"/>
              </a:rPr>
              <a:t>Escondida</a:t>
            </a:r>
            <a:endParaRPr lang="en-US" sz="720" dirty="0"/>
          </a:p>
        </p:txBody>
      </p:sp>
      <p:sp>
        <p:nvSpPr>
          <p:cNvPr id="102" name="t2_99"/>
          <p:cNvSpPr txBox="1"/>
          <p:nvPr/>
        </p:nvSpPr>
        <p:spPr>
          <a:xfrm>
            <a:off x="9156700" y="5308600"/>
            <a:ext cx="431800" cy="304800"/>
          </a:xfrm>
          <a:prstGeom prst="rect">
            <a:avLst/>
          </a:prstGeom>
          <a:solidFill>
            <a:srgbClr val="F1F2F4"/>
          </a:solidFill>
          <a:ln/>
        </p:spPr>
        <p:txBody>
          <a:bodyPr wrap="square" lIns="25400" tIns="38100" rIns="38100" bIns="25400" rtlCol="0" anchor="t"/>
          <a:lstStyle/>
          <a:p>
            <a:pPr algn="l" indent="0" marL="0">
              <a:lnSpc>
                <a:spcPts val="936"/>
              </a:lnSpc>
              <a:buNone/>
            </a:pPr>
            <a:r>
              <a:rPr lang="en-US" sz="720" dirty="0">
                <a:solidFill>
                  <a:srgbClr val="222222"/>
                </a:solidFill>
                <a:latin typeface="Yu Gothic" pitchFamily="34" charset="0"/>
                <a:ea typeface="Yu Gothic" pitchFamily="34" charset="-122"/>
                <a:cs typeface="Yu Gothic" pitchFamily="34" charset="-120"/>
              </a:rPr>
              <a:t>チリ</a:t>
            </a:r>
            <a:endParaRPr lang="en-US" sz="720" dirty="0"/>
          </a:p>
        </p:txBody>
      </p:sp>
      <p:sp>
        <p:nvSpPr>
          <p:cNvPr id="103" name="t2_100"/>
          <p:cNvSpPr txBox="1"/>
          <p:nvPr/>
        </p:nvSpPr>
        <p:spPr>
          <a:xfrm>
            <a:off x="9588500" y="5308600"/>
            <a:ext cx="609600" cy="304800"/>
          </a:xfrm>
          <a:prstGeom prst="rect">
            <a:avLst/>
          </a:prstGeom>
          <a:solidFill>
            <a:srgbClr val="F1F2F4"/>
          </a:solidFill>
          <a:ln/>
        </p:spPr>
        <p:txBody>
          <a:bodyPr wrap="square" lIns="25400" tIns="38100" rIns="38100" bIns="25400" rtlCol="0" anchor="t"/>
          <a:lstStyle/>
          <a:p>
            <a:pPr algn="l" indent="0" marL="0">
              <a:lnSpc>
                <a:spcPts val="936"/>
              </a:lnSpc>
              <a:buNone/>
            </a:pPr>
            <a:r>
              <a:rPr lang="en-US" sz="720" dirty="0">
                <a:solidFill>
                  <a:srgbClr val="222222"/>
                </a:solidFill>
                <a:latin typeface="Yu Gothic" pitchFamily="34" charset="0"/>
                <a:ea typeface="Yu Gothic" pitchFamily="34" charset="-122"/>
                <a:cs typeface="Yu Gothic" pitchFamily="34" charset="-120"/>
              </a:rPr>
              <a:t>1位</a:t>
            </a:r>
            <a:endParaRPr lang="en-US" sz="720" dirty="0"/>
          </a:p>
        </p:txBody>
      </p:sp>
      <p:sp>
        <p:nvSpPr>
          <p:cNvPr id="104" name="t2_101"/>
          <p:cNvSpPr txBox="1"/>
          <p:nvPr/>
        </p:nvSpPr>
        <p:spPr>
          <a:xfrm>
            <a:off x="10198100" y="5308600"/>
            <a:ext cx="457200" cy="304800"/>
          </a:xfrm>
          <a:prstGeom prst="rect">
            <a:avLst/>
          </a:prstGeom>
          <a:solidFill>
            <a:srgbClr val="F1F2F4"/>
          </a:solidFill>
          <a:ln/>
        </p:spPr>
        <p:txBody>
          <a:bodyPr wrap="square" lIns="25400" tIns="38100" rIns="38100" bIns="25400" rtlCol="0" anchor="t"/>
          <a:lstStyle/>
          <a:p>
            <a:pPr algn="l" indent="0" marL="0">
              <a:lnSpc>
                <a:spcPts val="936"/>
              </a:lnSpc>
              <a:buNone/>
            </a:pPr>
            <a:r>
              <a:rPr lang="en-US" sz="720" dirty="0">
                <a:solidFill>
                  <a:srgbClr val="222222"/>
                </a:solidFill>
                <a:latin typeface="Yu Gothic" pitchFamily="34" charset="0"/>
                <a:ea typeface="Yu Gothic" pitchFamily="34" charset="-122"/>
                <a:cs typeface="Yu Gothic" pitchFamily="34" charset="-120"/>
              </a:rPr>
              <a:t>8.25%</a:t>
            </a:r>
            <a:endParaRPr lang="en-US" sz="720" dirty="0"/>
          </a:p>
        </p:txBody>
      </p:sp>
      <p:sp>
        <p:nvSpPr>
          <p:cNvPr id="105" name="t2_102"/>
          <p:cNvSpPr txBox="1"/>
          <p:nvPr/>
        </p:nvSpPr>
        <p:spPr>
          <a:xfrm>
            <a:off x="10655300" y="5308600"/>
            <a:ext cx="558800" cy="304800"/>
          </a:xfrm>
          <a:prstGeom prst="rect">
            <a:avLst/>
          </a:prstGeom>
          <a:solidFill>
            <a:srgbClr val="F1F2F4"/>
          </a:solidFill>
          <a:ln/>
        </p:spPr>
        <p:txBody>
          <a:bodyPr wrap="square" lIns="25400" tIns="38100" rIns="38100" bIns="25400" rtlCol="0" anchor="t"/>
          <a:lstStyle/>
          <a:p>
            <a:pPr algn="l" indent="0" marL="0">
              <a:lnSpc>
                <a:spcPts val="936"/>
              </a:lnSpc>
              <a:buNone/>
            </a:pPr>
            <a:r>
              <a:rPr lang="en-US" sz="720" dirty="0">
                <a:solidFill>
                  <a:srgbClr val="222222"/>
                </a:solidFill>
                <a:latin typeface="Yu Gothic" pitchFamily="34" charset="0"/>
                <a:ea typeface="Yu Gothic" pitchFamily="34" charset="-122"/>
                <a:cs typeface="Yu Gothic" pitchFamily="34" charset="-120"/>
              </a:rPr>
              <a:t>1988年</a:t>
            </a:r>
            <a:endParaRPr lang="en-US" sz="720" dirty="0"/>
          </a:p>
        </p:txBody>
      </p:sp>
      <p:sp>
        <p:nvSpPr>
          <p:cNvPr id="106" name="t2_103"/>
          <p:cNvSpPr txBox="1"/>
          <p:nvPr/>
        </p:nvSpPr>
        <p:spPr>
          <a:xfrm>
            <a:off x="8166100" y="5613400"/>
            <a:ext cx="1042924" cy="304800"/>
          </a:xfrm>
          <a:prstGeom prst="rect">
            <a:avLst/>
          </a:prstGeom>
          <a:noFill/>
          <a:ln/>
        </p:spPr>
        <p:txBody>
          <a:bodyPr wrap="square" lIns="0" tIns="0" rIns="0" bIns="0" rtlCol="0" anchor="t"/>
          <a:lstStyle/>
          <a:p>
            <a:pPr algn="l" indent="0" marL="0">
              <a:lnSpc>
                <a:spcPts val="936"/>
              </a:lnSpc>
              <a:buNone/>
            </a:pPr>
            <a:r>
              <a:rPr lang="en-US" sz="720" dirty="0">
                <a:solidFill>
                  <a:srgbClr val="222222"/>
                </a:solidFill>
                <a:latin typeface="Yu Gothic" pitchFamily="34" charset="0"/>
                <a:ea typeface="Yu Gothic" pitchFamily="34" charset="-122"/>
                <a:cs typeface="Yu Gothic" pitchFamily="34" charset="-120"/>
              </a:rPr>
              <a:t>Los Pelambres</a:t>
            </a:r>
            <a:endParaRPr lang="en-US" sz="720" dirty="0"/>
          </a:p>
        </p:txBody>
      </p:sp>
      <p:sp>
        <p:nvSpPr>
          <p:cNvPr id="107" name="t2_104"/>
          <p:cNvSpPr txBox="1"/>
          <p:nvPr/>
        </p:nvSpPr>
        <p:spPr>
          <a:xfrm>
            <a:off x="9156700" y="5613400"/>
            <a:ext cx="461772" cy="304800"/>
          </a:xfrm>
          <a:prstGeom prst="rect">
            <a:avLst/>
          </a:prstGeom>
          <a:noFill/>
          <a:ln/>
        </p:spPr>
        <p:txBody>
          <a:bodyPr wrap="square" lIns="0" tIns="0" rIns="0" bIns="0" rtlCol="0" anchor="t"/>
          <a:lstStyle/>
          <a:p>
            <a:pPr algn="l" indent="0" marL="0">
              <a:lnSpc>
                <a:spcPts val="936"/>
              </a:lnSpc>
              <a:buNone/>
            </a:pPr>
            <a:r>
              <a:rPr lang="en-US" sz="720" dirty="0">
                <a:solidFill>
                  <a:srgbClr val="222222"/>
                </a:solidFill>
                <a:latin typeface="Yu Gothic" pitchFamily="34" charset="0"/>
                <a:ea typeface="Yu Gothic" pitchFamily="34" charset="-122"/>
                <a:cs typeface="Yu Gothic" pitchFamily="34" charset="-120"/>
              </a:rPr>
              <a:t>チリ</a:t>
            </a:r>
            <a:endParaRPr lang="en-US" sz="720" dirty="0"/>
          </a:p>
        </p:txBody>
      </p:sp>
      <p:sp>
        <p:nvSpPr>
          <p:cNvPr id="108" name="t2_105"/>
          <p:cNvSpPr txBox="1"/>
          <p:nvPr/>
        </p:nvSpPr>
        <p:spPr>
          <a:xfrm>
            <a:off x="9588500" y="5613400"/>
            <a:ext cx="646684" cy="304800"/>
          </a:xfrm>
          <a:prstGeom prst="rect">
            <a:avLst/>
          </a:prstGeom>
          <a:noFill/>
          <a:ln/>
        </p:spPr>
        <p:txBody>
          <a:bodyPr wrap="square" lIns="0" tIns="0" rIns="0" bIns="0" rtlCol="0" anchor="t"/>
          <a:lstStyle/>
          <a:p>
            <a:pPr algn="l" indent="0" marL="0">
              <a:lnSpc>
                <a:spcPts val="936"/>
              </a:lnSpc>
              <a:buNone/>
            </a:pPr>
            <a:r>
              <a:rPr lang="en-US" sz="720" dirty="0">
                <a:solidFill>
                  <a:srgbClr val="222222"/>
                </a:solidFill>
                <a:latin typeface="Yu Gothic" pitchFamily="34" charset="0"/>
                <a:ea typeface="Yu Gothic" pitchFamily="34" charset="-122"/>
                <a:cs typeface="Yu Gothic" pitchFamily="34" charset="-120"/>
              </a:rPr>
              <a:t>12位</a:t>
            </a:r>
            <a:endParaRPr lang="en-US" sz="720" dirty="0"/>
          </a:p>
        </p:txBody>
      </p:sp>
      <p:sp>
        <p:nvSpPr>
          <p:cNvPr id="109" name="t2_106"/>
          <p:cNvSpPr txBox="1"/>
          <p:nvPr/>
        </p:nvSpPr>
        <p:spPr>
          <a:xfrm>
            <a:off x="10198100" y="5613400"/>
            <a:ext cx="488188" cy="304800"/>
          </a:xfrm>
          <a:prstGeom prst="rect">
            <a:avLst/>
          </a:prstGeom>
          <a:noFill/>
          <a:ln/>
        </p:spPr>
        <p:txBody>
          <a:bodyPr wrap="square" lIns="0" tIns="0" rIns="0" bIns="0" rtlCol="0" anchor="t"/>
          <a:lstStyle/>
          <a:p>
            <a:pPr algn="l" indent="0" marL="0">
              <a:lnSpc>
                <a:spcPts val="936"/>
              </a:lnSpc>
              <a:buNone/>
            </a:pPr>
            <a:r>
              <a:rPr lang="en-US" sz="720" dirty="0">
                <a:solidFill>
                  <a:srgbClr val="222222"/>
                </a:solidFill>
                <a:latin typeface="Yu Gothic" pitchFamily="34" charset="0"/>
                <a:ea typeface="Yu Gothic" pitchFamily="34" charset="-122"/>
                <a:cs typeface="Yu Gothic" pitchFamily="34" charset="-120"/>
              </a:rPr>
              <a:t>5%</a:t>
            </a:r>
            <a:endParaRPr lang="en-US" sz="720" dirty="0"/>
          </a:p>
        </p:txBody>
      </p:sp>
      <p:sp>
        <p:nvSpPr>
          <p:cNvPr id="110" name="t2_107"/>
          <p:cNvSpPr txBox="1"/>
          <p:nvPr/>
        </p:nvSpPr>
        <p:spPr>
          <a:xfrm>
            <a:off x="10655300" y="5613400"/>
            <a:ext cx="593852" cy="304800"/>
          </a:xfrm>
          <a:prstGeom prst="rect">
            <a:avLst/>
          </a:prstGeom>
          <a:noFill/>
          <a:ln/>
        </p:spPr>
        <p:txBody>
          <a:bodyPr wrap="square" lIns="0" tIns="0" rIns="0" bIns="0" rtlCol="0" anchor="t"/>
          <a:lstStyle/>
          <a:p>
            <a:pPr algn="l" indent="0" marL="0">
              <a:lnSpc>
                <a:spcPts val="936"/>
              </a:lnSpc>
              <a:buNone/>
            </a:pPr>
            <a:r>
              <a:rPr lang="en-US" sz="720" dirty="0">
                <a:solidFill>
                  <a:srgbClr val="222222"/>
                </a:solidFill>
                <a:latin typeface="Yu Gothic" pitchFamily="34" charset="0"/>
                <a:ea typeface="Yu Gothic" pitchFamily="34" charset="-122"/>
                <a:cs typeface="Yu Gothic" pitchFamily="34" charset="-120"/>
              </a:rPr>
              <a:t>1997年</a:t>
            </a:r>
            <a:endParaRPr lang="en-US" sz="720" dirty="0"/>
          </a:p>
        </p:txBody>
      </p:sp>
      <p:sp>
        <p:nvSpPr>
          <p:cNvPr id="111" name="t2_108"/>
          <p:cNvSpPr txBox="1"/>
          <p:nvPr/>
        </p:nvSpPr>
        <p:spPr>
          <a:xfrm>
            <a:off x="8166100" y="5918200"/>
            <a:ext cx="990600" cy="304800"/>
          </a:xfrm>
          <a:prstGeom prst="rect">
            <a:avLst/>
          </a:prstGeom>
          <a:solidFill>
            <a:srgbClr val="F1F2F4"/>
          </a:solidFill>
          <a:ln/>
        </p:spPr>
        <p:txBody>
          <a:bodyPr wrap="square" lIns="25400" tIns="38100" rIns="38100" bIns="25400" rtlCol="0" anchor="t"/>
          <a:lstStyle/>
          <a:p>
            <a:pPr algn="l" indent="0" marL="0">
              <a:lnSpc>
                <a:spcPts val="936"/>
              </a:lnSpc>
              <a:buNone/>
            </a:pPr>
            <a:r>
              <a:rPr lang="en-US" sz="720" dirty="0">
                <a:solidFill>
                  <a:srgbClr val="222222"/>
                </a:solidFill>
                <a:latin typeface="Yu Gothic" pitchFamily="34" charset="0"/>
                <a:ea typeface="Yu Gothic" pitchFamily="34" charset="-122"/>
                <a:cs typeface="Yu Gothic" pitchFamily="34" charset="-120"/>
              </a:rPr>
              <a:t>Anglo American Sur</a:t>
            </a:r>
            <a:endParaRPr lang="en-US" sz="720" dirty="0"/>
          </a:p>
        </p:txBody>
      </p:sp>
      <p:sp>
        <p:nvSpPr>
          <p:cNvPr id="112" name="t2_109"/>
          <p:cNvSpPr txBox="1"/>
          <p:nvPr/>
        </p:nvSpPr>
        <p:spPr>
          <a:xfrm>
            <a:off x="9156700" y="5918200"/>
            <a:ext cx="431800" cy="304800"/>
          </a:xfrm>
          <a:prstGeom prst="rect">
            <a:avLst/>
          </a:prstGeom>
          <a:solidFill>
            <a:srgbClr val="F1F2F4"/>
          </a:solidFill>
          <a:ln/>
        </p:spPr>
        <p:txBody>
          <a:bodyPr wrap="square" lIns="25400" tIns="38100" rIns="38100" bIns="25400" rtlCol="0" anchor="t"/>
          <a:lstStyle/>
          <a:p>
            <a:pPr algn="l" indent="0" marL="0">
              <a:lnSpc>
                <a:spcPts val="936"/>
              </a:lnSpc>
              <a:buNone/>
            </a:pPr>
            <a:r>
              <a:rPr lang="en-US" sz="720" dirty="0">
                <a:solidFill>
                  <a:srgbClr val="222222"/>
                </a:solidFill>
                <a:latin typeface="Yu Gothic" pitchFamily="34" charset="0"/>
                <a:ea typeface="Yu Gothic" pitchFamily="34" charset="-122"/>
                <a:cs typeface="Yu Gothic" pitchFamily="34" charset="-120"/>
              </a:rPr>
              <a:t>チリ</a:t>
            </a:r>
            <a:endParaRPr lang="en-US" sz="720" dirty="0"/>
          </a:p>
        </p:txBody>
      </p:sp>
      <p:sp>
        <p:nvSpPr>
          <p:cNvPr id="113" name="t2_110"/>
          <p:cNvSpPr txBox="1"/>
          <p:nvPr/>
        </p:nvSpPr>
        <p:spPr>
          <a:xfrm>
            <a:off x="9588500" y="5918200"/>
            <a:ext cx="609600" cy="304800"/>
          </a:xfrm>
          <a:prstGeom prst="rect">
            <a:avLst/>
          </a:prstGeom>
          <a:solidFill>
            <a:srgbClr val="F1F2F4"/>
          </a:solidFill>
          <a:ln/>
        </p:spPr>
        <p:txBody>
          <a:bodyPr wrap="square" lIns="25400" tIns="38100" rIns="38100" bIns="25400" rtlCol="0" anchor="t"/>
          <a:lstStyle/>
          <a:p>
            <a:pPr algn="l" indent="0" marL="0">
              <a:lnSpc>
                <a:spcPts val="936"/>
              </a:lnSpc>
              <a:buNone/>
            </a:pPr>
            <a:r>
              <a:rPr lang="en-US" sz="720" dirty="0">
                <a:solidFill>
                  <a:srgbClr val="222222"/>
                </a:solidFill>
                <a:latin typeface="Yu Gothic" pitchFamily="34" charset="0"/>
                <a:ea typeface="Yu Gothic" pitchFamily="34" charset="-122"/>
                <a:cs typeface="Yu Gothic" pitchFamily="34" charset="-120"/>
              </a:rPr>
              <a:t>10位*</a:t>
            </a:r>
            <a:endParaRPr lang="en-US" sz="720" dirty="0"/>
          </a:p>
        </p:txBody>
      </p:sp>
      <p:sp>
        <p:nvSpPr>
          <p:cNvPr id="114" name="t2_111"/>
          <p:cNvSpPr txBox="1"/>
          <p:nvPr/>
        </p:nvSpPr>
        <p:spPr>
          <a:xfrm>
            <a:off x="10198100" y="5918200"/>
            <a:ext cx="457200" cy="304800"/>
          </a:xfrm>
          <a:prstGeom prst="rect">
            <a:avLst/>
          </a:prstGeom>
          <a:solidFill>
            <a:srgbClr val="F1F2F4"/>
          </a:solidFill>
          <a:ln/>
        </p:spPr>
        <p:txBody>
          <a:bodyPr wrap="square" lIns="25400" tIns="38100" rIns="38100" bIns="25400" rtlCol="0" anchor="t"/>
          <a:lstStyle/>
          <a:p>
            <a:pPr algn="l" indent="0" marL="0">
              <a:lnSpc>
                <a:spcPts val="936"/>
              </a:lnSpc>
              <a:buNone/>
            </a:pPr>
            <a:r>
              <a:rPr lang="en-US" sz="720" dirty="0">
                <a:solidFill>
                  <a:srgbClr val="222222"/>
                </a:solidFill>
                <a:latin typeface="Yu Gothic" pitchFamily="34" charset="0"/>
                <a:ea typeface="Yu Gothic" pitchFamily="34" charset="-122"/>
                <a:cs typeface="Yu Gothic" pitchFamily="34" charset="-120"/>
              </a:rPr>
              <a:t>20.44%</a:t>
            </a:r>
            <a:endParaRPr lang="en-US" sz="720" dirty="0"/>
          </a:p>
        </p:txBody>
      </p:sp>
      <p:sp>
        <p:nvSpPr>
          <p:cNvPr id="115" name="t2_112"/>
          <p:cNvSpPr txBox="1"/>
          <p:nvPr/>
        </p:nvSpPr>
        <p:spPr>
          <a:xfrm>
            <a:off x="10655300" y="5918200"/>
            <a:ext cx="558800" cy="304800"/>
          </a:xfrm>
          <a:prstGeom prst="rect">
            <a:avLst/>
          </a:prstGeom>
          <a:solidFill>
            <a:srgbClr val="F1F2F4"/>
          </a:solidFill>
          <a:ln/>
        </p:spPr>
        <p:txBody>
          <a:bodyPr wrap="square" lIns="25400" tIns="38100" rIns="38100" bIns="25400" rtlCol="0" anchor="t"/>
          <a:lstStyle/>
          <a:p>
            <a:pPr algn="l" indent="0" marL="0">
              <a:lnSpc>
                <a:spcPts val="936"/>
              </a:lnSpc>
              <a:buNone/>
            </a:pPr>
            <a:r>
              <a:rPr lang="en-US" sz="720" dirty="0">
                <a:solidFill>
                  <a:srgbClr val="222222"/>
                </a:solidFill>
                <a:latin typeface="Yu Gothic" pitchFamily="34" charset="0"/>
                <a:ea typeface="Yu Gothic" pitchFamily="34" charset="-122"/>
                <a:cs typeface="Yu Gothic" pitchFamily="34" charset="-120"/>
              </a:rPr>
              <a:t>2011年</a:t>
            </a:r>
            <a:endParaRPr lang="en-US" sz="720" dirty="0"/>
          </a:p>
        </p:txBody>
      </p:sp>
      <p:sp>
        <p:nvSpPr>
          <p:cNvPr id="116" name="t2_113"/>
          <p:cNvSpPr txBox="1"/>
          <p:nvPr/>
        </p:nvSpPr>
        <p:spPr>
          <a:xfrm>
            <a:off x="8166100" y="6223000"/>
            <a:ext cx="1042924" cy="304800"/>
          </a:xfrm>
          <a:prstGeom prst="rect">
            <a:avLst/>
          </a:prstGeom>
          <a:noFill/>
          <a:ln/>
        </p:spPr>
        <p:txBody>
          <a:bodyPr wrap="square" lIns="0" tIns="0" rIns="0" bIns="0" rtlCol="0" anchor="t"/>
          <a:lstStyle/>
          <a:p>
            <a:pPr algn="l" indent="0" marL="0">
              <a:lnSpc>
                <a:spcPts val="936"/>
              </a:lnSpc>
              <a:buNone/>
            </a:pPr>
            <a:r>
              <a:rPr lang="en-US" sz="720" dirty="0">
                <a:solidFill>
                  <a:srgbClr val="222222"/>
                </a:solidFill>
                <a:latin typeface="Yu Gothic" pitchFamily="34" charset="0"/>
                <a:ea typeface="Yu Gothic" pitchFamily="34" charset="-122"/>
                <a:cs typeface="Yu Gothic" pitchFamily="34" charset="-120"/>
              </a:rPr>
              <a:t>Marimaca</a:t>
            </a:r>
            <a:endParaRPr lang="en-US" sz="720" dirty="0"/>
          </a:p>
        </p:txBody>
      </p:sp>
      <p:sp>
        <p:nvSpPr>
          <p:cNvPr id="117" name="t2_114"/>
          <p:cNvSpPr txBox="1"/>
          <p:nvPr/>
        </p:nvSpPr>
        <p:spPr>
          <a:xfrm>
            <a:off x="9156700" y="6223000"/>
            <a:ext cx="461772" cy="304800"/>
          </a:xfrm>
          <a:prstGeom prst="rect">
            <a:avLst/>
          </a:prstGeom>
          <a:noFill/>
          <a:ln/>
        </p:spPr>
        <p:txBody>
          <a:bodyPr wrap="square" lIns="0" tIns="0" rIns="0" bIns="0" rtlCol="0" anchor="t"/>
          <a:lstStyle/>
          <a:p>
            <a:pPr algn="l" indent="0" marL="0">
              <a:lnSpc>
                <a:spcPts val="936"/>
              </a:lnSpc>
              <a:buNone/>
            </a:pPr>
            <a:r>
              <a:rPr lang="en-US" sz="720" dirty="0">
                <a:solidFill>
                  <a:srgbClr val="222222"/>
                </a:solidFill>
                <a:latin typeface="Yu Gothic" pitchFamily="34" charset="0"/>
                <a:ea typeface="Yu Gothic" pitchFamily="34" charset="-122"/>
                <a:cs typeface="Yu Gothic" pitchFamily="34" charset="-120"/>
              </a:rPr>
              <a:t>チリ</a:t>
            </a:r>
            <a:endParaRPr lang="en-US" sz="720" dirty="0"/>
          </a:p>
        </p:txBody>
      </p:sp>
      <p:sp>
        <p:nvSpPr>
          <p:cNvPr id="118" name="t2_115"/>
          <p:cNvSpPr txBox="1"/>
          <p:nvPr/>
        </p:nvSpPr>
        <p:spPr>
          <a:xfrm>
            <a:off x="9588500" y="6223000"/>
            <a:ext cx="646684" cy="304800"/>
          </a:xfrm>
          <a:prstGeom prst="rect">
            <a:avLst/>
          </a:prstGeom>
          <a:noFill/>
          <a:ln/>
        </p:spPr>
        <p:txBody>
          <a:bodyPr wrap="square" lIns="0" tIns="0" rIns="0" bIns="0" rtlCol="0" anchor="t"/>
          <a:lstStyle/>
          <a:p>
            <a:pPr algn="l" indent="0" marL="0">
              <a:lnSpc>
                <a:spcPts val="936"/>
              </a:lnSpc>
              <a:buNone/>
            </a:pPr>
            <a:r>
              <a:rPr lang="en-US" sz="720" dirty="0">
                <a:solidFill>
                  <a:srgbClr val="222222"/>
                </a:solidFill>
                <a:latin typeface="Yu Gothic" pitchFamily="34" charset="0"/>
                <a:ea typeface="Yu Gothic" pitchFamily="34" charset="-122"/>
                <a:cs typeface="Yu Gothic" pitchFamily="34" charset="-120"/>
              </a:rPr>
              <a:t>開発中</a:t>
            </a:r>
            <a:endParaRPr lang="en-US" sz="720" dirty="0"/>
          </a:p>
        </p:txBody>
      </p:sp>
      <p:sp>
        <p:nvSpPr>
          <p:cNvPr id="119" name="t2_116"/>
          <p:cNvSpPr txBox="1"/>
          <p:nvPr/>
        </p:nvSpPr>
        <p:spPr>
          <a:xfrm>
            <a:off x="10198100" y="6223000"/>
            <a:ext cx="488188" cy="304800"/>
          </a:xfrm>
          <a:prstGeom prst="rect">
            <a:avLst/>
          </a:prstGeom>
          <a:noFill/>
          <a:ln/>
        </p:spPr>
        <p:txBody>
          <a:bodyPr wrap="square" lIns="0" tIns="0" rIns="0" bIns="0" rtlCol="0" anchor="t"/>
          <a:lstStyle/>
          <a:p>
            <a:pPr algn="l" indent="0" marL="0">
              <a:lnSpc>
                <a:spcPts val="936"/>
              </a:lnSpc>
              <a:buNone/>
            </a:pPr>
            <a:r>
              <a:rPr lang="en-US" sz="720" dirty="0">
                <a:solidFill>
                  <a:srgbClr val="222222"/>
                </a:solidFill>
                <a:latin typeface="Yu Gothic" pitchFamily="34" charset="0"/>
                <a:ea typeface="Yu Gothic" pitchFamily="34" charset="-122"/>
                <a:cs typeface="Yu Gothic" pitchFamily="34" charset="-120"/>
              </a:rPr>
              <a:t>5%</a:t>
            </a:r>
            <a:endParaRPr lang="en-US" sz="720" dirty="0"/>
          </a:p>
        </p:txBody>
      </p:sp>
      <p:sp>
        <p:nvSpPr>
          <p:cNvPr id="120" name="t2_117"/>
          <p:cNvSpPr txBox="1"/>
          <p:nvPr/>
        </p:nvSpPr>
        <p:spPr>
          <a:xfrm>
            <a:off x="10655300" y="6223000"/>
            <a:ext cx="593852" cy="304800"/>
          </a:xfrm>
          <a:prstGeom prst="rect">
            <a:avLst/>
          </a:prstGeom>
          <a:noFill/>
          <a:ln/>
        </p:spPr>
        <p:txBody>
          <a:bodyPr wrap="square" lIns="0" tIns="0" rIns="0" bIns="0" rtlCol="0" anchor="t"/>
          <a:lstStyle/>
          <a:p>
            <a:pPr algn="l" indent="0" marL="0">
              <a:lnSpc>
                <a:spcPts val="936"/>
              </a:lnSpc>
              <a:buNone/>
            </a:pPr>
            <a:r>
              <a:rPr lang="en-US" sz="720" dirty="0">
                <a:solidFill>
                  <a:srgbClr val="222222"/>
                </a:solidFill>
                <a:latin typeface="Yu Gothic" pitchFamily="34" charset="0"/>
                <a:ea typeface="Yu Gothic" pitchFamily="34" charset="-122"/>
                <a:cs typeface="Yu Gothic" pitchFamily="34" charset="-120"/>
              </a:rPr>
              <a:t>2023年</a:t>
            </a:r>
            <a:endParaRPr lang="en-US" sz="720" dirty="0"/>
          </a:p>
        </p:txBody>
      </p:sp>
      <p:sp>
        <p:nvSpPr>
          <p:cNvPr id="121" name="t2_118"/>
          <p:cNvSpPr txBox="1"/>
          <p:nvPr/>
        </p:nvSpPr>
        <p:spPr>
          <a:xfrm>
            <a:off x="8166100" y="6527800"/>
            <a:ext cx="990600" cy="304800"/>
          </a:xfrm>
          <a:prstGeom prst="rect">
            <a:avLst/>
          </a:prstGeom>
          <a:solidFill>
            <a:srgbClr val="F1F2F4"/>
          </a:solidFill>
          <a:ln/>
        </p:spPr>
        <p:txBody>
          <a:bodyPr wrap="square" lIns="25400" tIns="38100" rIns="38100" bIns="25400" rtlCol="0" anchor="t"/>
          <a:lstStyle/>
          <a:p>
            <a:pPr algn="l" indent="0" marL="0">
              <a:lnSpc>
                <a:spcPts val="936"/>
              </a:lnSpc>
              <a:buNone/>
            </a:pPr>
            <a:r>
              <a:rPr lang="en-US" sz="720" dirty="0">
                <a:solidFill>
                  <a:srgbClr val="222222"/>
                </a:solidFill>
                <a:latin typeface="Yu Gothic" pitchFamily="34" charset="0"/>
                <a:ea typeface="Yu Gothic" pitchFamily="34" charset="-122"/>
                <a:cs typeface="Yu Gothic" pitchFamily="34" charset="-120"/>
              </a:rPr>
              <a:t>Antamina</a:t>
            </a:r>
            <a:endParaRPr lang="en-US" sz="720" dirty="0"/>
          </a:p>
        </p:txBody>
      </p:sp>
      <p:sp>
        <p:nvSpPr>
          <p:cNvPr id="122" name="t2_119"/>
          <p:cNvSpPr txBox="1"/>
          <p:nvPr/>
        </p:nvSpPr>
        <p:spPr>
          <a:xfrm>
            <a:off x="9156700" y="6527800"/>
            <a:ext cx="431800" cy="304800"/>
          </a:xfrm>
          <a:prstGeom prst="rect">
            <a:avLst/>
          </a:prstGeom>
          <a:solidFill>
            <a:srgbClr val="F1F2F4"/>
          </a:solidFill>
          <a:ln/>
        </p:spPr>
        <p:txBody>
          <a:bodyPr wrap="square" lIns="25400" tIns="38100" rIns="38100" bIns="25400" rtlCol="0" anchor="t"/>
          <a:lstStyle/>
          <a:p>
            <a:pPr algn="l" indent="0" marL="0">
              <a:lnSpc>
                <a:spcPts val="936"/>
              </a:lnSpc>
              <a:buNone/>
            </a:pPr>
            <a:r>
              <a:rPr lang="en-US" sz="720" dirty="0">
                <a:solidFill>
                  <a:srgbClr val="222222"/>
                </a:solidFill>
                <a:latin typeface="Yu Gothic" pitchFamily="34" charset="0"/>
                <a:ea typeface="Yu Gothic" pitchFamily="34" charset="-122"/>
                <a:cs typeface="Yu Gothic" pitchFamily="34" charset="-120"/>
              </a:rPr>
              <a:t>ペルー</a:t>
            </a:r>
            <a:endParaRPr lang="en-US" sz="720" dirty="0"/>
          </a:p>
        </p:txBody>
      </p:sp>
      <p:sp>
        <p:nvSpPr>
          <p:cNvPr id="123" name="t2_120"/>
          <p:cNvSpPr txBox="1"/>
          <p:nvPr/>
        </p:nvSpPr>
        <p:spPr>
          <a:xfrm>
            <a:off x="9588500" y="6527800"/>
            <a:ext cx="609600" cy="304800"/>
          </a:xfrm>
          <a:prstGeom prst="rect">
            <a:avLst/>
          </a:prstGeom>
          <a:solidFill>
            <a:srgbClr val="F1F2F4"/>
          </a:solidFill>
          <a:ln/>
        </p:spPr>
        <p:txBody>
          <a:bodyPr wrap="square" lIns="25400" tIns="38100" rIns="38100" bIns="25400" rtlCol="0" anchor="t"/>
          <a:lstStyle/>
          <a:p>
            <a:pPr algn="l" indent="0" marL="0">
              <a:lnSpc>
                <a:spcPts val="936"/>
              </a:lnSpc>
              <a:buNone/>
            </a:pPr>
            <a:r>
              <a:rPr lang="en-US" sz="720" dirty="0">
                <a:solidFill>
                  <a:srgbClr val="222222"/>
                </a:solidFill>
                <a:latin typeface="Yu Gothic" pitchFamily="34" charset="0"/>
                <a:ea typeface="Yu Gothic" pitchFamily="34" charset="-122"/>
                <a:cs typeface="Yu Gothic" pitchFamily="34" charset="-120"/>
              </a:rPr>
              <a:t>4位</a:t>
            </a:r>
            <a:endParaRPr lang="en-US" sz="720" dirty="0"/>
          </a:p>
        </p:txBody>
      </p:sp>
      <p:sp>
        <p:nvSpPr>
          <p:cNvPr id="124" name="t2_121"/>
          <p:cNvSpPr txBox="1"/>
          <p:nvPr/>
        </p:nvSpPr>
        <p:spPr>
          <a:xfrm>
            <a:off x="10198100" y="6527800"/>
            <a:ext cx="457200" cy="304800"/>
          </a:xfrm>
          <a:prstGeom prst="rect">
            <a:avLst/>
          </a:prstGeom>
          <a:solidFill>
            <a:srgbClr val="F1F2F4"/>
          </a:solidFill>
          <a:ln/>
        </p:spPr>
        <p:txBody>
          <a:bodyPr wrap="square" lIns="25400" tIns="38100" rIns="38100" bIns="25400" rtlCol="0" anchor="t"/>
          <a:lstStyle/>
          <a:p>
            <a:pPr algn="l" indent="0" marL="0">
              <a:lnSpc>
                <a:spcPts val="936"/>
              </a:lnSpc>
              <a:buNone/>
            </a:pPr>
            <a:r>
              <a:rPr lang="en-US" sz="720" dirty="0">
                <a:solidFill>
                  <a:srgbClr val="222222"/>
                </a:solidFill>
                <a:latin typeface="Yu Gothic" pitchFamily="34" charset="0"/>
                <a:ea typeface="Yu Gothic" pitchFamily="34" charset="-122"/>
                <a:cs typeface="Yu Gothic" pitchFamily="34" charset="-120"/>
              </a:rPr>
              <a:t>10%</a:t>
            </a:r>
            <a:endParaRPr lang="en-US" sz="720" dirty="0"/>
          </a:p>
        </p:txBody>
      </p:sp>
      <p:sp>
        <p:nvSpPr>
          <p:cNvPr id="125" name="t2_122"/>
          <p:cNvSpPr txBox="1"/>
          <p:nvPr/>
        </p:nvSpPr>
        <p:spPr>
          <a:xfrm>
            <a:off x="10655300" y="6527800"/>
            <a:ext cx="558800" cy="304800"/>
          </a:xfrm>
          <a:prstGeom prst="rect">
            <a:avLst/>
          </a:prstGeom>
          <a:solidFill>
            <a:srgbClr val="F1F2F4"/>
          </a:solidFill>
          <a:ln/>
        </p:spPr>
        <p:txBody>
          <a:bodyPr wrap="square" lIns="25400" tIns="38100" rIns="38100" bIns="25400" rtlCol="0" anchor="t"/>
          <a:lstStyle/>
          <a:p>
            <a:pPr algn="l" indent="0" marL="0">
              <a:lnSpc>
                <a:spcPts val="936"/>
              </a:lnSpc>
              <a:buNone/>
            </a:pPr>
            <a:r>
              <a:rPr lang="en-US" sz="720" dirty="0">
                <a:solidFill>
                  <a:srgbClr val="222222"/>
                </a:solidFill>
                <a:latin typeface="Yu Gothic" pitchFamily="34" charset="0"/>
                <a:ea typeface="Yu Gothic" pitchFamily="34" charset="-122"/>
                <a:cs typeface="Yu Gothic" pitchFamily="34" charset="-120"/>
              </a:rPr>
              <a:t>1999年</a:t>
            </a:r>
            <a:endParaRPr lang="en-US" sz="720" dirty="0"/>
          </a:p>
        </p:txBody>
      </p:sp>
      <p:sp>
        <p:nvSpPr>
          <p:cNvPr id="126" name="t2_123"/>
          <p:cNvSpPr txBox="1"/>
          <p:nvPr/>
        </p:nvSpPr>
        <p:spPr>
          <a:xfrm>
            <a:off x="8166100" y="6832600"/>
            <a:ext cx="1042924" cy="304800"/>
          </a:xfrm>
          <a:prstGeom prst="rect">
            <a:avLst/>
          </a:prstGeom>
          <a:noFill/>
          <a:ln/>
        </p:spPr>
        <p:txBody>
          <a:bodyPr wrap="square" lIns="0" tIns="0" rIns="0" bIns="0" rtlCol="0" anchor="t"/>
          <a:lstStyle/>
          <a:p>
            <a:pPr algn="l" indent="0" marL="0">
              <a:lnSpc>
                <a:spcPts val="936"/>
              </a:lnSpc>
              <a:buNone/>
            </a:pPr>
            <a:r>
              <a:rPr lang="en-US" sz="720" dirty="0">
                <a:solidFill>
                  <a:srgbClr val="222222"/>
                </a:solidFill>
                <a:latin typeface="Yu Gothic" pitchFamily="34" charset="0"/>
                <a:ea typeface="Yu Gothic" pitchFamily="34" charset="-122"/>
                <a:cs typeface="Yu Gothic" pitchFamily="34" charset="-120"/>
              </a:rPr>
              <a:t>Quellaveco</a:t>
            </a:r>
            <a:endParaRPr lang="en-US" sz="720" dirty="0"/>
          </a:p>
        </p:txBody>
      </p:sp>
      <p:sp>
        <p:nvSpPr>
          <p:cNvPr id="127" name="t2_124"/>
          <p:cNvSpPr txBox="1"/>
          <p:nvPr/>
        </p:nvSpPr>
        <p:spPr>
          <a:xfrm>
            <a:off x="9156700" y="6832600"/>
            <a:ext cx="461772" cy="304800"/>
          </a:xfrm>
          <a:prstGeom prst="rect">
            <a:avLst/>
          </a:prstGeom>
          <a:noFill/>
          <a:ln/>
        </p:spPr>
        <p:txBody>
          <a:bodyPr wrap="square" lIns="0" tIns="0" rIns="0" bIns="0" rtlCol="0" anchor="t"/>
          <a:lstStyle/>
          <a:p>
            <a:pPr algn="l" indent="0" marL="0">
              <a:lnSpc>
                <a:spcPts val="936"/>
              </a:lnSpc>
              <a:buNone/>
            </a:pPr>
            <a:r>
              <a:rPr lang="en-US" sz="720" dirty="0">
                <a:solidFill>
                  <a:srgbClr val="222222"/>
                </a:solidFill>
                <a:latin typeface="Yu Gothic" pitchFamily="34" charset="0"/>
                <a:ea typeface="Yu Gothic" pitchFamily="34" charset="-122"/>
                <a:cs typeface="Yu Gothic" pitchFamily="34" charset="-120"/>
              </a:rPr>
              <a:t>ペルー</a:t>
            </a:r>
            <a:endParaRPr lang="en-US" sz="720" dirty="0"/>
          </a:p>
        </p:txBody>
      </p:sp>
      <p:sp>
        <p:nvSpPr>
          <p:cNvPr id="128" name="t2_125"/>
          <p:cNvSpPr txBox="1"/>
          <p:nvPr/>
        </p:nvSpPr>
        <p:spPr>
          <a:xfrm>
            <a:off x="9588500" y="6832600"/>
            <a:ext cx="646684" cy="304800"/>
          </a:xfrm>
          <a:prstGeom prst="rect">
            <a:avLst/>
          </a:prstGeom>
          <a:noFill/>
          <a:ln/>
        </p:spPr>
        <p:txBody>
          <a:bodyPr wrap="square" lIns="0" tIns="0" rIns="0" bIns="0" rtlCol="0" anchor="t"/>
          <a:lstStyle/>
          <a:p>
            <a:pPr algn="l" indent="0" marL="0">
              <a:lnSpc>
                <a:spcPts val="936"/>
              </a:lnSpc>
              <a:buNone/>
            </a:pPr>
            <a:r>
              <a:rPr lang="en-US" sz="720" dirty="0">
                <a:solidFill>
                  <a:srgbClr val="222222"/>
                </a:solidFill>
                <a:latin typeface="Yu Gothic" pitchFamily="34" charset="0"/>
                <a:ea typeface="Yu Gothic" pitchFamily="34" charset="-122"/>
                <a:cs typeface="Yu Gothic" pitchFamily="34" charset="-120"/>
              </a:rPr>
              <a:t>15位</a:t>
            </a:r>
            <a:endParaRPr lang="en-US" sz="720" dirty="0"/>
          </a:p>
        </p:txBody>
      </p:sp>
      <p:sp>
        <p:nvSpPr>
          <p:cNvPr id="129" name="t2_126"/>
          <p:cNvSpPr txBox="1"/>
          <p:nvPr/>
        </p:nvSpPr>
        <p:spPr>
          <a:xfrm>
            <a:off x="10198100" y="6832600"/>
            <a:ext cx="488188" cy="304800"/>
          </a:xfrm>
          <a:prstGeom prst="rect">
            <a:avLst/>
          </a:prstGeom>
          <a:noFill/>
          <a:ln/>
        </p:spPr>
        <p:txBody>
          <a:bodyPr wrap="square" lIns="0" tIns="0" rIns="0" bIns="0" rtlCol="0" anchor="t"/>
          <a:lstStyle/>
          <a:p>
            <a:pPr algn="l" indent="0" marL="0">
              <a:lnSpc>
                <a:spcPts val="936"/>
              </a:lnSpc>
              <a:buNone/>
            </a:pPr>
            <a:r>
              <a:rPr lang="en-US" sz="720" dirty="0">
                <a:solidFill>
                  <a:srgbClr val="222222"/>
                </a:solidFill>
                <a:latin typeface="Yu Gothic" pitchFamily="34" charset="0"/>
                <a:ea typeface="Yu Gothic" pitchFamily="34" charset="-122"/>
                <a:cs typeface="Yu Gothic" pitchFamily="34" charset="-120"/>
              </a:rPr>
              <a:t>40%</a:t>
            </a:r>
            <a:endParaRPr lang="en-US" sz="720" dirty="0"/>
          </a:p>
        </p:txBody>
      </p:sp>
      <p:sp>
        <p:nvSpPr>
          <p:cNvPr id="130" name="t2_127"/>
          <p:cNvSpPr txBox="1"/>
          <p:nvPr/>
        </p:nvSpPr>
        <p:spPr>
          <a:xfrm>
            <a:off x="10655300" y="6832600"/>
            <a:ext cx="593852" cy="304800"/>
          </a:xfrm>
          <a:prstGeom prst="rect">
            <a:avLst/>
          </a:prstGeom>
          <a:noFill/>
          <a:ln/>
        </p:spPr>
        <p:txBody>
          <a:bodyPr wrap="square" lIns="0" tIns="0" rIns="0" bIns="0" rtlCol="0" anchor="t"/>
          <a:lstStyle/>
          <a:p>
            <a:pPr algn="l" indent="0" marL="0">
              <a:lnSpc>
                <a:spcPts val="936"/>
              </a:lnSpc>
              <a:buNone/>
            </a:pPr>
            <a:r>
              <a:rPr lang="en-US" sz="720" dirty="0">
                <a:solidFill>
                  <a:srgbClr val="222222"/>
                </a:solidFill>
                <a:latin typeface="Yu Gothic" pitchFamily="34" charset="0"/>
                <a:ea typeface="Yu Gothic" pitchFamily="34" charset="-122"/>
                <a:cs typeface="Yu Gothic" pitchFamily="34" charset="-120"/>
              </a:rPr>
              <a:t>2011年</a:t>
            </a:r>
            <a:endParaRPr lang="en-US" sz="720" dirty="0"/>
          </a:p>
        </p:txBody>
      </p:sp>
      <p:sp>
        <p:nvSpPr>
          <p:cNvPr id="131" name="t2_128"/>
          <p:cNvSpPr txBox="1"/>
          <p:nvPr/>
        </p:nvSpPr>
        <p:spPr>
          <a:xfrm>
            <a:off x="8166100" y="7137400"/>
            <a:ext cx="990600" cy="304800"/>
          </a:xfrm>
          <a:prstGeom prst="rect">
            <a:avLst/>
          </a:prstGeom>
          <a:solidFill>
            <a:srgbClr val="F1F2F4"/>
          </a:solidFill>
          <a:ln/>
        </p:spPr>
        <p:txBody>
          <a:bodyPr wrap="square" lIns="25400" tIns="38100" rIns="38100" bIns="25400" rtlCol="0" anchor="t"/>
          <a:lstStyle/>
          <a:p>
            <a:pPr algn="l" indent="0" marL="0">
              <a:lnSpc>
                <a:spcPts val="936"/>
              </a:lnSpc>
              <a:buNone/>
            </a:pPr>
            <a:r>
              <a:rPr lang="en-US" sz="720" dirty="0">
                <a:solidFill>
                  <a:srgbClr val="222222"/>
                </a:solidFill>
                <a:latin typeface="Yu Gothic" pitchFamily="34" charset="0"/>
                <a:ea typeface="Yu Gothic" pitchFamily="34" charset="-122"/>
                <a:cs typeface="Yu Gothic" pitchFamily="34" charset="-120"/>
              </a:rPr>
              <a:t>Copper World</a:t>
            </a:r>
            <a:endParaRPr lang="en-US" sz="720" dirty="0"/>
          </a:p>
        </p:txBody>
      </p:sp>
      <p:sp>
        <p:nvSpPr>
          <p:cNvPr id="132" name="t2_129"/>
          <p:cNvSpPr txBox="1"/>
          <p:nvPr/>
        </p:nvSpPr>
        <p:spPr>
          <a:xfrm>
            <a:off x="9156700" y="7137400"/>
            <a:ext cx="431800" cy="304800"/>
          </a:xfrm>
          <a:prstGeom prst="rect">
            <a:avLst/>
          </a:prstGeom>
          <a:solidFill>
            <a:srgbClr val="F1F2F4"/>
          </a:solidFill>
          <a:ln/>
        </p:spPr>
        <p:txBody>
          <a:bodyPr wrap="square" lIns="25400" tIns="38100" rIns="38100" bIns="25400" rtlCol="0" anchor="t"/>
          <a:lstStyle/>
          <a:p>
            <a:pPr algn="l" indent="0" marL="0">
              <a:lnSpc>
                <a:spcPts val="936"/>
              </a:lnSpc>
              <a:buNone/>
            </a:pPr>
            <a:r>
              <a:rPr lang="en-US" sz="720" dirty="0">
                <a:solidFill>
                  <a:srgbClr val="222222"/>
                </a:solidFill>
                <a:latin typeface="Yu Gothic" pitchFamily="34" charset="0"/>
                <a:ea typeface="Yu Gothic" pitchFamily="34" charset="-122"/>
                <a:cs typeface="Yu Gothic" pitchFamily="34" charset="-120"/>
              </a:rPr>
              <a:t>米国</a:t>
            </a:r>
            <a:endParaRPr lang="en-US" sz="720" dirty="0"/>
          </a:p>
        </p:txBody>
      </p:sp>
      <p:sp>
        <p:nvSpPr>
          <p:cNvPr id="133" name="t2_130"/>
          <p:cNvSpPr txBox="1"/>
          <p:nvPr/>
        </p:nvSpPr>
        <p:spPr>
          <a:xfrm>
            <a:off x="9588500" y="7137400"/>
            <a:ext cx="609600" cy="304800"/>
          </a:xfrm>
          <a:prstGeom prst="rect">
            <a:avLst/>
          </a:prstGeom>
          <a:solidFill>
            <a:srgbClr val="F1F2F4"/>
          </a:solidFill>
          <a:ln/>
        </p:spPr>
        <p:txBody>
          <a:bodyPr wrap="square" lIns="25400" tIns="38100" rIns="38100" bIns="25400" rtlCol="0" anchor="t"/>
          <a:lstStyle/>
          <a:p>
            <a:pPr algn="l" indent="0" marL="0">
              <a:lnSpc>
                <a:spcPts val="936"/>
              </a:lnSpc>
              <a:buNone/>
            </a:pPr>
            <a:r>
              <a:rPr lang="en-US" sz="720" dirty="0">
                <a:solidFill>
                  <a:srgbClr val="222222"/>
                </a:solidFill>
                <a:latin typeface="Yu Gothic" pitchFamily="34" charset="0"/>
                <a:ea typeface="Yu Gothic" pitchFamily="34" charset="-122"/>
                <a:cs typeface="Yu Gothic" pitchFamily="34" charset="-120"/>
              </a:rPr>
              <a:t>開発中</a:t>
            </a:r>
            <a:endParaRPr lang="en-US" sz="720" dirty="0"/>
          </a:p>
        </p:txBody>
      </p:sp>
      <p:sp>
        <p:nvSpPr>
          <p:cNvPr id="134" name="t2_131"/>
          <p:cNvSpPr txBox="1"/>
          <p:nvPr/>
        </p:nvSpPr>
        <p:spPr>
          <a:xfrm>
            <a:off x="10198100" y="7137400"/>
            <a:ext cx="457200" cy="304800"/>
          </a:xfrm>
          <a:prstGeom prst="rect">
            <a:avLst/>
          </a:prstGeom>
          <a:solidFill>
            <a:srgbClr val="F1F2F4"/>
          </a:solidFill>
          <a:ln/>
        </p:spPr>
        <p:txBody>
          <a:bodyPr wrap="square" lIns="25400" tIns="38100" rIns="38100" bIns="25400" rtlCol="0" anchor="t"/>
          <a:lstStyle/>
          <a:p>
            <a:pPr algn="l" indent="0" marL="0">
              <a:lnSpc>
                <a:spcPts val="936"/>
              </a:lnSpc>
              <a:buNone/>
            </a:pPr>
            <a:r>
              <a:rPr lang="en-US" sz="720" dirty="0">
                <a:solidFill>
                  <a:srgbClr val="222222"/>
                </a:solidFill>
                <a:latin typeface="Yu Gothic" pitchFamily="34" charset="0"/>
                <a:ea typeface="Yu Gothic" pitchFamily="34" charset="-122"/>
                <a:cs typeface="Yu Gothic" pitchFamily="34" charset="-120"/>
              </a:rPr>
              <a:t>30%</a:t>
            </a:r>
            <a:endParaRPr lang="en-US" sz="720" dirty="0"/>
          </a:p>
        </p:txBody>
      </p:sp>
      <p:sp>
        <p:nvSpPr>
          <p:cNvPr id="135" name="t2_132"/>
          <p:cNvSpPr txBox="1"/>
          <p:nvPr/>
        </p:nvSpPr>
        <p:spPr>
          <a:xfrm>
            <a:off x="10655300" y="7137400"/>
            <a:ext cx="558800" cy="304800"/>
          </a:xfrm>
          <a:prstGeom prst="rect">
            <a:avLst/>
          </a:prstGeom>
          <a:solidFill>
            <a:srgbClr val="F1F2F4"/>
          </a:solidFill>
          <a:ln/>
        </p:spPr>
        <p:txBody>
          <a:bodyPr wrap="square" lIns="25400" tIns="38100" rIns="38100" bIns="25400" rtlCol="0" anchor="t"/>
          <a:lstStyle/>
          <a:p>
            <a:pPr algn="l" indent="0" marL="0">
              <a:lnSpc>
                <a:spcPts val="936"/>
              </a:lnSpc>
              <a:buNone/>
            </a:pPr>
            <a:r>
              <a:rPr lang="en-US" sz="720" dirty="0">
                <a:solidFill>
                  <a:srgbClr val="222222"/>
                </a:solidFill>
                <a:latin typeface="Yu Gothic" pitchFamily="34" charset="0"/>
                <a:ea typeface="Yu Gothic" pitchFamily="34" charset="-122"/>
                <a:cs typeface="Yu Gothic" pitchFamily="34" charset="-120"/>
              </a:rPr>
              <a:t>2025年</a:t>
            </a:r>
            <a:endParaRPr lang="en-US" sz="720" dirty="0"/>
          </a:p>
        </p:txBody>
      </p:sp>
      <p:sp>
        <p:nvSpPr>
          <p:cNvPr id="136" name="t2_133"/>
          <p:cNvSpPr txBox="1"/>
          <p:nvPr/>
        </p:nvSpPr>
        <p:spPr>
          <a:xfrm>
            <a:off x="8166100" y="7493000"/>
            <a:ext cx="3182620" cy="117872"/>
          </a:xfrm>
          <a:prstGeom prst="rect">
            <a:avLst/>
          </a:prstGeom>
          <a:noFill/>
          <a:ln/>
        </p:spPr>
        <p:txBody>
          <a:bodyPr wrap="none" lIns="0" tIns="0" rIns="0" bIns="0" rtlCol="0" anchor="t"/>
          <a:lstStyle/>
          <a:p>
            <a:pPr algn="l" indent="0" marL="0">
              <a:lnSpc>
                <a:spcPts val="928"/>
              </a:lnSpc>
              <a:buNone/>
            </a:pPr>
            <a:r>
              <a:rPr lang="en-US" sz="640" dirty="0">
                <a:solidFill>
                  <a:srgbClr val="555555"/>
                </a:solidFill>
                <a:latin typeface="Yu Gothic" pitchFamily="34" charset="0"/>
                <a:ea typeface="Yu Gothic" pitchFamily="34" charset="-122"/>
                <a:cs typeface="Yu Gothic" pitchFamily="34" charset="-120"/>
              </a:rPr>
              <a:t>* 隣接鉱山との一体操業後の体制</a:t>
            </a:r>
            <a:endParaRPr lang="en-US" sz="640" dirty="0"/>
          </a:p>
        </p:txBody>
      </p:sp>
      <p:sp>
        <p:nvSpPr>
          <p:cNvPr id="137" name="t2_134"/>
          <p:cNvSpPr txBox="1"/>
          <p:nvPr/>
        </p:nvSpPr>
        <p:spPr>
          <a:xfrm>
            <a:off x="11493500" y="4826000"/>
            <a:ext cx="2381472" cy="152400"/>
          </a:xfrm>
          <a:prstGeom prst="rect">
            <a:avLst/>
          </a:prstGeom>
          <a:noFill/>
          <a:ln/>
        </p:spPr>
        <p:txBody>
          <a:bodyPr wrap="none" lIns="0" tIns="0" rIns="0" bIns="0" rtlCol="0" anchor="t"/>
          <a:lstStyle/>
          <a:p>
            <a:pPr algn="l" indent="0" marL="0">
              <a:lnSpc>
                <a:spcPts val="1092"/>
              </a:lnSpc>
              <a:buNone/>
            </a:pPr>
            <a:r>
              <a:rPr lang="en-US" sz="840" dirty="0">
                <a:solidFill>
                  <a:srgbClr val="222222"/>
                </a:solidFill>
                <a:latin typeface="Yu Gothic" pitchFamily="34" charset="0"/>
                <a:ea typeface="Yu Gothic" pitchFamily="34" charset="-122"/>
                <a:cs typeface="Yu Gothic" pitchFamily="34" charset="-120"/>
              </a:rPr>
              <a:t>会社別 世界銅生産量ランキング（2025年・kt）</a:t>
            </a:r>
            <a:endParaRPr lang="en-US" sz="840" dirty="0"/>
          </a:p>
        </p:txBody>
      </p:sp>
      <p:sp>
        <p:nvSpPr>
          <p:cNvPr id="138" name="t2_135"/>
          <p:cNvSpPr txBox="1"/>
          <p:nvPr/>
        </p:nvSpPr>
        <p:spPr>
          <a:xfrm>
            <a:off x="11493500" y="5105400"/>
            <a:ext cx="197612" cy="106680"/>
          </a:xfrm>
          <a:prstGeom prst="rect">
            <a:avLst/>
          </a:prstGeom>
          <a:noFill/>
          <a:ln/>
        </p:spPr>
        <p:txBody>
          <a:bodyPr wrap="none" lIns="0" tIns="0" rIns="0" bIns="0" rtlCol="0" anchor="t"/>
          <a:lstStyle/>
          <a:p>
            <a:pPr algn="r" indent="0" marL="0">
              <a:lnSpc>
                <a:spcPts val="780"/>
              </a:lnSpc>
              <a:buNone/>
            </a:pPr>
            <a:r>
              <a:rPr lang="en-US" sz="600" dirty="0">
                <a:solidFill>
                  <a:srgbClr val="777777"/>
                </a:solidFill>
                <a:latin typeface="Yu Gothic" pitchFamily="34" charset="0"/>
                <a:ea typeface="Yu Gothic" pitchFamily="34" charset="-122"/>
                <a:cs typeface="Yu Gothic" pitchFamily="34" charset="-120"/>
              </a:rPr>
              <a:t>1.</a:t>
            </a:r>
            <a:endParaRPr lang="en-US" sz="600" dirty="0"/>
          </a:p>
        </p:txBody>
      </p:sp>
      <p:sp>
        <p:nvSpPr>
          <p:cNvPr id="139" name="t2_136"/>
          <p:cNvSpPr txBox="1"/>
          <p:nvPr/>
        </p:nvSpPr>
        <p:spPr>
          <a:xfrm>
            <a:off x="11722100" y="5105400"/>
            <a:ext cx="937260" cy="114300"/>
          </a:xfrm>
          <a:prstGeom prst="rect">
            <a:avLst/>
          </a:prstGeom>
          <a:noFill/>
          <a:ln/>
        </p:spPr>
        <p:txBody>
          <a:bodyPr wrap="none" lIns="0" tIns="0" rIns="0" bIns="0" rtlCol="0" anchor="t"/>
          <a:lstStyle/>
          <a:p>
            <a:pPr algn="l" indent="0" marL="0">
              <a:lnSpc>
                <a:spcPts val="806"/>
              </a:lnSpc>
              <a:buNone/>
            </a:pPr>
            <a:r>
              <a:rPr lang="en-US" sz="620" dirty="0">
                <a:solidFill>
                  <a:srgbClr val="222222"/>
                </a:solidFill>
                <a:latin typeface="Yu Gothic" pitchFamily="34" charset="0"/>
                <a:ea typeface="Yu Gothic" pitchFamily="34" charset="-122"/>
                <a:cs typeface="Yu Gothic" pitchFamily="34" charset="-120"/>
              </a:rPr>
              <a:t>BHP</a:t>
            </a:r>
            <a:endParaRPr lang="en-US" sz="620" dirty="0"/>
          </a:p>
        </p:txBody>
      </p:sp>
      <p:sp>
        <p:nvSpPr>
          <p:cNvPr id="140" name="Shape 134"/>
          <p:cNvSpPr/>
          <p:nvPr/>
        </p:nvSpPr>
        <p:spPr>
          <a:xfrm>
            <a:off x="12636500" y="5118100"/>
            <a:ext cx="1397000" cy="139700"/>
          </a:xfrm>
          <a:prstGeom prst="rect">
            <a:avLst/>
          </a:prstGeom>
          <a:solidFill>
            <a:srgbClr val="D6D9DD"/>
          </a:solidFill>
          <a:ln/>
        </p:spPr>
      </p:sp>
      <p:sp>
        <p:nvSpPr>
          <p:cNvPr id="141" name="t2_138"/>
          <p:cNvSpPr txBox="1"/>
          <p:nvPr/>
        </p:nvSpPr>
        <p:spPr>
          <a:xfrm>
            <a:off x="14058900" y="5105400"/>
            <a:ext cx="408940" cy="103124"/>
          </a:xfrm>
          <a:prstGeom prst="rect">
            <a:avLst/>
          </a:prstGeom>
          <a:noFill/>
          <a:ln/>
        </p:spPr>
        <p:txBody>
          <a:bodyPr wrap="none" lIns="0" tIns="0" rIns="0" bIns="0" rtlCol="0" anchor="t"/>
          <a:lstStyle/>
          <a:p>
            <a:pPr algn="l" indent="0" marL="0">
              <a:lnSpc>
                <a:spcPts val="754"/>
              </a:lnSpc>
              <a:buNone/>
            </a:pPr>
            <a:r>
              <a:rPr lang="en-US" sz="580" dirty="0">
                <a:solidFill>
                  <a:srgbClr val="666666"/>
                </a:solidFill>
                <a:latin typeface="Yu Gothic" pitchFamily="34" charset="0"/>
                <a:ea typeface="Yu Gothic" pitchFamily="34" charset="-122"/>
                <a:cs typeface="Yu Gothic" pitchFamily="34" charset="-120"/>
              </a:rPr>
              <a:t>1,501</a:t>
            </a:r>
            <a:endParaRPr lang="en-US" sz="580" dirty="0"/>
          </a:p>
        </p:txBody>
      </p:sp>
      <p:sp>
        <p:nvSpPr>
          <p:cNvPr id="142" name="t2_139"/>
          <p:cNvSpPr txBox="1"/>
          <p:nvPr/>
        </p:nvSpPr>
        <p:spPr>
          <a:xfrm>
            <a:off x="11493500" y="5340350"/>
            <a:ext cx="197612" cy="106680"/>
          </a:xfrm>
          <a:prstGeom prst="rect">
            <a:avLst/>
          </a:prstGeom>
          <a:noFill/>
          <a:ln/>
        </p:spPr>
        <p:txBody>
          <a:bodyPr wrap="none" lIns="0" tIns="0" rIns="0" bIns="0" rtlCol="0" anchor="t"/>
          <a:lstStyle/>
          <a:p>
            <a:pPr algn="r" indent="0" marL="0">
              <a:lnSpc>
                <a:spcPts val="780"/>
              </a:lnSpc>
              <a:buNone/>
            </a:pPr>
            <a:r>
              <a:rPr lang="en-US" sz="600" dirty="0">
                <a:solidFill>
                  <a:srgbClr val="777777"/>
                </a:solidFill>
                <a:latin typeface="Yu Gothic" pitchFamily="34" charset="0"/>
                <a:ea typeface="Yu Gothic" pitchFamily="34" charset="-122"/>
                <a:cs typeface="Yu Gothic" pitchFamily="34" charset="-120"/>
              </a:rPr>
              <a:t>2.</a:t>
            </a:r>
            <a:endParaRPr lang="en-US" sz="600" dirty="0"/>
          </a:p>
        </p:txBody>
      </p:sp>
      <p:sp>
        <p:nvSpPr>
          <p:cNvPr id="143" name="t2_140"/>
          <p:cNvSpPr txBox="1"/>
          <p:nvPr/>
        </p:nvSpPr>
        <p:spPr>
          <a:xfrm>
            <a:off x="11722100" y="5340350"/>
            <a:ext cx="937260" cy="114300"/>
          </a:xfrm>
          <a:prstGeom prst="rect">
            <a:avLst/>
          </a:prstGeom>
          <a:noFill/>
          <a:ln/>
        </p:spPr>
        <p:txBody>
          <a:bodyPr wrap="none" lIns="0" tIns="0" rIns="0" bIns="0" rtlCol="0" anchor="t"/>
          <a:lstStyle/>
          <a:p>
            <a:pPr algn="l" indent="0" marL="0">
              <a:lnSpc>
                <a:spcPts val="806"/>
              </a:lnSpc>
              <a:buNone/>
            </a:pPr>
            <a:r>
              <a:rPr lang="en-US" sz="620" dirty="0">
                <a:solidFill>
                  <a:srgbClr val="222222"/>
                </a:solidFill>
                <a:latin typeface="Yu Gothic" pitchFamily="34" charset="0"/>
                <a:ea typeface="Yu Gothic" pitchFamily="34" charset="-122"/>
                <a:cs typeface="Yu Gothic" pitchFamily="34" charset="-120"/>
              </a:rPr>
              <a:t>Codelco</a:t>
            </a:r>
            <a:endParaRPr lang="en-US" sz="620" dirty="0"/>
          </a:p>
        </p:txBody>
      </p:sp>
      <p:sp>
        <p:nvSpPr>
          <p:cNvPr id="144" name="Shape 138"/>
          <p:cNvSpPr/>
          <p:nvPr/>
        </p:nvSpPr>
        <p:spPr>
          <a:xfrm>
            <a:off x="12636500" y="5353050"/>
            <a:ext cx="1332706" cy="139700"/>
          </a:xfrm>
          <a:prstGeom prst="rect">
            <a:avLst/>
          </a:prstGeom>
          <a:solidFill>
            <a:srgbClr val="D6D9DD"/>
          </a:solidFill>
          <a:ln/>
        </p:spPr>
      </p:sp>
      <p:sp>
        <p:nvSpPr>
          <p:cNvPr id="145" name="t2_142"/>
          <p:cNvSpPr txBox="1"/>
          <p:nvPr/>
        </p:nvSpPr>
        <p:spPr>
          <a:xfrm>
            <a:off x="13994606" y="5340350"/>
            <a:ext cx="408940" cy="103124"/>
          </a:xfrm>
          <a:prstGeom prst="rect">
            <a:avLst/>
          </a:prstGeom>
          <a:noFill/>
          <a:ln/>
        </p:spPr>
        <p:txBody>
          <a:bodyPr wrap="none" lIns="0" tIns="0" rIns="0" bIns="0" rtlCol="0" anchor="t"/>
          <a:lstStyle/>
          <a:p>
            <a:pPr algn="l" indent="0" marL="0">
              <a:lnSpc>
                <a:spcPts val="754"/>
              </a:lnSpc>
              <a:buNone/>
            </a:pPr>
            <a:r>
              <a:rPr lang="en-US" sz="580" dirty="0">
                <a:solidFill>
                  <a:srgbClr val="666666"/>
                </a:solidFill>
                <a:latin typeface="Yu Gothic" pitchFamily="34" charset="0"/>
                <a:ea typeface="Yu Gothic" pitchFamily="34" charset="-122"/>
                <a:cs typeface="Yu Gothic" pitchFamily="34" charset="-120"/>
              </a:rPr>
              <a:t>1,432</a:t>
            </a:r>
            <a:endParaRPr lang="en-US" sz="580" dirty="0"/>
          </a:p>
        </p:txBody>
      </p:sp>
      <p:sp>
        <p:nvSpPr>
          <p:cNvPr id="146" name="t2_143"/>
          <p:cNvSpPr txBox="1"/>
          <p:nvPr/>
        </p:nvSpPr>
        <p:spPr>
          <a:xfrm>
            <a:off x="11493500" y="5575300"/>
            <a:ext cx="197612" cy="106680"/>
          </a:xfrm>
          <a:prstGeom prst="rect">
            <a:avLst/>
          </a:prstGeom>
          <a:noFill/>
          <a:ln/>
        </p:spPr>
        <p:txBody>
          <a:bodyPr wrap="none" lIns="0" tIns="0" rIns="0" bIns="0" rtlCol="0" anchor="t"/>
          <a:lstStyle/>
          <a:p>
            <a:pPr algn="r" indent="0" marL="0">
              <a:lnSpc>
                <a:spcPts val="780"/>
              </a:lnSpc>
              <a:buNone/>
            </a:pPr>
            <a:r>
              <a:rPr lang="en-US" sz="600" dirty="0">
                <a:solidFill>
                  <a:srgbClr val="777777"/>
                </a:solidFill>
                <a:latin typeface="Yu Gothic" pitchFamily="34" charset="0"/>
                <a:ea typeface="Yu Gothic" pitchFamily="34" charset="-122"/>
                <a:cs typeface="Yu Gothic" pitchFamily="34" charset="-120"/>
              </a:rPr>
              <a:t>3.</a:t>
            </a:r>
            <a:endParaRPr lang="en-US" sz="600" dirty="0"/>
          </a:p>
        </p:txBody>
      </p:sp>
      <p:sp>
        <p:nvSpPr>
          <p:cNvPr id="147" name="t2_144"/>
          <p:cNvSpPr txBox="1"/>
          <p:nvPr/>
        </p:nvSpPr>
        <p:spPr>
          <a:xfrm>
            <a:off x="11722100" y="5575300"/>
            <a:ext cx="937260" cy="114300"/>
          </a:xfrm>
          <a:prstGeom prst="rect">
            <a:avLst/>
          </a:prstGeom>
          <a:noFill/>
          <a:ln/>
        </p:spPr>
        <p:txBody>
          <a:bodyPr wrap="none" lIns="0" tIns="0" rIns="0" bIns="0" rtlCol="0" anchor="t"/>
          <a:lstStyle/>
          <a:p>
            <a:pPr algn="l" indent="0" marL="0">
              <a:lnSpc>
                <a:spcPts val="806"/>
              </a:lnSpc>
              <a:buNone/>
            </a:pPr>
            <a:r>
              <a:rPr lang="en-US" sz="620" dirty="0">
                <a:solidFill>
                  <a:srgbClr val="222222"/>
                </a:solidFill>
                <a:latin typeface="Yu Gothic" pitchFamily="34" charset="0"/>
                <a:ea typeface="Yu Gothic" pitchFamily="34" charset="-122"/>
                <a:cs typeface="Yu Gothic" pitchFamily="34" charset="-120"/>
              </a:rPr>
              <a:t>Freeport</a:t>
            </a:r>
            <a:endParaRPr lang="en-US" sz="620" dirty="0"/>
          </a:p>
        </p:txBody>
      </p:sp>
      <p:sp>
        <p:nvSpPr>
          <p:cNvPr id="148" name="Shape 142"/>
          <p:cNvSpPr/>
          <p:nvPr/>
        </p:nvSpPr>
        <p:spPr>
          <a:xfrm>
            <a:off x="12636500" y="5588000"/>
            <a:ext cx="1022747" cy="139700"/>
          </a:xfrm>
          <a:prstGeom prst="rect">
            <a:avLst/>
          </a:prstGeom>
          <a:solidFill>
            <a:srgbClr val="D6D9DD"/>
          </a:solidFill>
          <a:ln/>
        </p:spPr>
      </p:sp>
      <p:sp>
        <p:nvSpPr>
          <p:cNvPr id="149" name="t2_146"/>
          <p:cNvSpPr txBox="1"/>
          <p:nvPr/>
        </p:nvSpPr>
        <p:spPr>
          <a:xfrm>
            <a:off x="13684647" y="5575300"/>
            <a:ext cx="408940" cy="103124"/>
          </a:xfrm>
          <a:prstGeom prst="rect">
            <a:avLst/>
          </a:prstGeom>
          <a:noFill/>
          <a:ln/>
        </p:spPr>
        <p:txBody>
          <a:bodyPr wrap="none" lIns="0" tIns="0" rIns="0" bIns="0" rtlCol="0" anchor="t"/>
          <a:lstStyle/>
          <a:p>
            <a:pPr algn="l" indent="0" marL="0">
              <a:lnSpc>
                <a:spcPts val="754"/>
              </a:lnSpc>
              <a:buNone/>
            </a:pPr>
            <a:r>
              <a:rPr lang="en-US" sz="580" dirty="0">
                <a:solidFill>
                  <a:srgbClr val="666666"/>
                </a:solidFill>
                <a:latin typeface="Yu Gothic" pitchFamily="34" charset="0"/>
                <a:ea typeface="Yu Gothic" pitchFamily="34" charset="-122"/>
                <a:cs typeface="Yu Gothic" pitchFamily="34" charset="-120"/>
              </a:rPr>
              <a:t>1,099</a:t>
            </a:r>
            <a:endParaRPr lang="en-US" sz="580" dirty="0"/>
          </a:p>
        </p:txBody>
      </p:sp>
      <p:sp>
        <p:nvSpPr>
          <p:cNvPr id="150" name="t2_147"/>
          <p:cNvSpPr txBox="1"/>
          <p:nvPr/>
        </p:nvSpPr>
        <p:spPr>
          <a:xfrm>
            <a:off x="11493500" y="5810250"/>
            <a:ext cx="197612" cy="106680"/>
          </a:xfrm>
          <a:prstGeom prst="rect">
            <a:avLst/>
          </a:prstGeom>
          <a:noFill/>
          <a:ln/>
        </p:spPr>
        <p:txBody>
          <a:bodyPr wrap="none" lIns="0" tIns="0" rIns="0" bIns="0" rtlCol="0" anchor="t"/>
          <a:lstStyle/>
          <a:p>
            <a:pPr algn="r" indent="0" marL="0">
              <a:lnSpc>
                <a:spcPts val="780"/>
              </a:lnSpc>
              <a:buNone/>
            </a:pPr>
            <a:r>
              <a:rPr lang="en-US" sz="600" dirty="0">
                <a:solidFill>
                  <a:srgbClr val="777777"/>
                </a:solidFill>
                <a:latin typeface="Yu Gothic" pitchFamily="34" charset="0"/>
                <a:ea typeface="Yu Gothic" pitchFamily="34" charset="-122"/>
                <a:cs typeface="Yu Gothic" pitchFamily="34" charset="-120"/>
              </a:rPr>
              <a:t>4.</a:t>
            </a:r>
            <a:endParaRPr lang="en-US" sz="600" dirty="0"/>
          </a:p>
        </p:txBody>
      </p:sp>
      <p:sp>
        <p:nvSpPr>
          <p:cNvPr id="151" name="t2_148"/>
          <p:cNvSpPr txBox="1"/>
          <p:nvPr/>
        </p:nvSpPr>
        <p:spPr>
          <a:xfrm>
            <a:off x="11722100" y="5810250"/>
            <a:ext cx="937260" cy="114300"/>
          </a:xfrm>
          <a:prstGeom prst="rect">
            <a:avLst/>
          </a:prstGeom>
          <a:noFill/>
          <a:ln/>
        </p:spPr>
        <p:txBody>
          <a:bodyPr wrap="none" lIns="0" tIns="0" rIns="0" bIns="0" rtlCol="0" anchor="t"/>
          <a:lstStyle/>
          <a:p>
            <a:pPr algn="l" indent="0" marL="0">
              <a:lnSpc>
                <a:spcPts val="806"/>
              </a:lnSpc>
              <a:buNone/>
            </a:pPr>
            <a:r>
              <a:rPr lang="en-US" sz="620" dirty="0">
                <a:solidFill>
                  <a:srgbClr val="222222"/>
                </a:solidFill>
                <a:latin typeface="Yu Gothic" pitchFamily="34" charset="0"/>
                <a:ea typeface="Yu Gothic" pitchFamily="34" charset="-122"/>
                <a:cs typeface="Yu Gothic" pitchFamily="34" charset="-120"/>
              </a:rPr>
              <a:t>Southern Copper</a:t>
            </a:r>
            <a:endParaRPr lang="en-US" sz="620" dirty="0"/>
          </a:p>
        </p:txBody>
      </p:sp>
      <p:sp>
        <p:nvSpPr>
          <p:cNvPr id="152" name="Shape 146"/>
          <p:cNvSpPr/>
          <p:nvPr/>
        </p:nvSpPr>
        <p:spPr>
          <a:xfrm>
            <a:off x="12636500" y="5822950"/>
            <a:ext cx="882253" cy="139700"/>
          </a:xfrm>
          <a:prstGeom prst="rect">
            <a:avLst/>
          </a:prstGeom>
          <a:solidFill>
            <a:srgbClr val="D6D9DD"/>
          </a:solidFill>
          <a:ln/>
        </p:spPr>
      </p:sp>
      <p:sp>
        <p:nvSpPr>
          <p:cNvPr id="153" name="t2_150"/>
          <p:cNvSpPr txBox="1"/>
          <p:nvPr/>
        </p:nvSpPr>
        <p:spPr>
          <a:xfrm>
            <a:off x="13544153" y="5810250"/>
            <a:ext cx="408940" cy="103124"/>
          </a:xfrm>
          <a:prstGeom prst="rect">
            <a:avLst/>
          </a:prstGeom>
          <a:noFill/>
          <a:ln/>
        </p:spPr>
        <p:txBody>
          <a:bodyPr wrap="none" lIns="0" tIns="0" rIns="0" bIns="0" rtlCol="0" anchor="t"/>
          <a:lstStyle/>
          <a:p>
            <a:pPr algn="l" indent="0" marL="0">
              <a:lnSpc>
                <a:spcPts val="754"/>
              </a:lnSpc>
              <a:buNone/>
            </a:pPr>
            <a:r>
              <a:rPr lang="en-US" sz="580" dirty="0">
                <a:solidFill>
                  <a:srgbClr val="666666"/>
                </a:solidFill>
                <a:latin typeface="Yu Gothic" pitchFamily="34" charset="0"/>
                <a:ea typeface="Yu Gothic" pitchFamily="34" charset="-122"/>
                <a:cs typeface="Yu Gothic" pitchFamily="34" charset="-120"/>
              </a:rPr>
              <a:t>948</a:t>
            </a:r>
            <a:endParaRPr lang="en-US" sz="580" dirty="0"/>
          </a:p>
        </p:txBody>
      </p:sp>
      <p:sp>
        <p:nvSpPr>
          <p:cNvPr id="154" name="t2_151"/>
          <p:cNvSpPr txBox="1"/>
          <p:nvPr/>
        </p:nvSpPr>
        <p:spPr>
          <a:xfrm>
            <a:off x="11493500" y="6045200"/>
            <a:ext cx="197612" cy="106680"/>
          </a:xfrm>
          <a:prstGeom prst="rect">
            <a:avLst/>
          </a:prstGeom>
          <a:noFill/>
          <a:ln/>
        </p:spPr>
        <p:txBody>
          <a:bodyPr wrap="none" lIns="0" tIns="0" rIns="0" bIns="0" rtlCol="0" anchor="t"/>
          <a:lstStyle/>
          <a:p>
            <a:pPr algn="r" indent="0" marL="0">
              <a:lnSpc>
                <a:spcPts val="780"/>
              </a:lnSpc>
              <a:buNone/>
            </a:pPr>
            <a:r>
              <a:rPr lang="en-US" sz="600" dirty="0">
                <a:solidFill>
                  <a:srgbClr val="777777"/>
                </a:solidFill>
                <a:latin typeface="Yu Gothic" pitchFamily="34" charset="0"/>
                <a:ea typeface="Yu Gothic" pitchFamily="34" charset="-122"/>
                <a:cs typeface="Yu Gothic" pitchFamily="34" charset="-120"/>
              </a:rPr>
              <a:t>5.</a:t>
            </a:r>
            <a:endParaRPr lang="en-US" sz="600" dirty="0"/>
          </a:p>
        </p:txBody>
      </p:sp>
      <p:sp>
        <p:nvSpPr>
          <p:cNvPr id="155" name="t2_152"/>
          <p:cNvSpPr txBox="1"/>
          <p:nvPr/>
        </p:nvSpPr>
        <p:spPr>
          <a:xfrm>
            <a:off x="11722100" y="6045200"/>
            <a:ext cx="937260" cy="114300"/>
          </a:xfrm>
          <a:prstGeom prst="rect">
            <a:avLst/>
          </a:prstGeom>
          <a:noFill/>
          <a:ln/>
        </p:spPr>
        <p:txBody>
          <a:bodyPr wrap="none" lIns="0" tIns="0" rIns="0" bIns="0" rtlCol="0" anchor="t"/>
          <a:lstStyle/>
          <a:p>
            <a:pPr algn="l" indent="0" marL="0">
              <a:lnSpc>
                <a:spcPts val="806"/>
              </a:lnSpc>
              <a:buNone/>
            </a:pPr>
            <a:r>
              <a:rPr lang="en-US" sz="620" dirty="0">
                <a:solidFill>
                  <a:srgbClr val="222222"/>
                </a:solidFill>
                <a:latin typeface="Yu Gothic" pitchFamily="34" charset="0"/>
                <a:ea typeface="Yu Gothic" pitchFamily="34" charset="-122"/>
                <a:cs typeface="Yu Gothic" pitchFamily="34" charset="-120"/>
              </a:rPr>
              <a:t>Zijin Mining</a:t>
            </a:r>
            <a:endParaRPr lang="en-US" sz="620" dirty="0"/>
          </a:p>
        </p:txBody>
      </p:sp>
      <p:sp>
        <p:nvSpPr>
          <p:cNvPr id="156" name="Shape 150"/>
          <p:cNvSpPr/>
          <p:nvPr/>
        </p:nvSpPr>
        <p:spPr>
          <a:xfrm>
            <a:off x="12636500" y="6057900"/>
            <a:ext cx="790972" cy="139700"/>
          </a:xfrm>
          <a:prstGeom prst="rect">
            <a:avLst/>
          </a:prstGeom>
          <a:solidFill>
            <a:srgbClr val="D6D9DD"/>
          </a:solidFill>
          <a:ln/>
        </p:spPr>
      </p:sp>
      <p:sp>
        <p:nvSpPr>
          <p:cNvPr id="157" name="t2_154"/>
          <p:cNvSpPr txBox="1"/>
          <p:nvPr/>
        </p:nvSpPr>
        <p:spPr>
          <a:xfrm>
            <a:off x="13452872" y="6045200"/>
            <a:ext cx="408940" cy="103124"/>
          </a:xfrm>
          <a:prstGeom prst="rect">
            <a:avLst/>
          </a:prstGeom>
          <a:noFill/>
          <a:ln/>
        </p:spPr>
        <p:txBody>
          <a:bodyPr wrap="none" lIns="0" tIns="0" rIns="0" bIns="0" rtlCol="0" anchor="t"/>
          <a:lstStyle/>
          <a:p>
            <a:pPr algn="l" indent="0" marL="0">
              <a:lnSpc>
                <a:spcPts val="754"/>
              </a:lnSpc>
              <a:buNone/>
            </a:pPr>
            <a:r>
              <a:rPr lang="en-US" sz="580" dirty="0">
                <a:solidFill>
                  <a:srgbClr val="666666"/>
                </a:solidFill>
                <a:latin typeface="Yu Gothic" pitchFamily="34" charset="0"/>
                <a:ea typeface="Yu Gothic" pitchFamily="34" charset="-122"/>
                <a:cs typeface="Yu Gothic" pitchFamily="34" charset="-120"/>
              </a:rPr>
              <a:t>850</a:t>
            </a:r>
            <a:endParaRPr lang="en-US" sz="580" dirty="0"/>
          </a:p>
        </p:txBody>
      </p:sp>
      <p:sp>
        <p:nvSpPr>
          <p:cNvPr id="158" name="t2_155"/>
          <p:cNvSpPr txBox="1"/>
          <p:nvPr/>
        </p:nvSpPr>
        <p:spPr>
          <a:xfrm>
            <a:off x="11493500" y="6280150"/>
            <a:ext cx="197612" cy="106680"/>
          </a:xfrm>
          <a:prstGeom prst="rect">
            <a:avLst/>
          </a:prstGeom>
          <a:noFill/>
          <a:ln/>
        </p:spPr>
        <p:txBody>
          <a:bodyPr wrap="none" lIns="0" tIns="0" rIns="0" bIns="0" rtlCol="0" anchor="t"/>
          <a:lstStyle/>
          <a:p>
            <a:pPr algn="r" indent="0" marL="0">
              <a:lnSpc>
                <a:spcPts val="780"/>
              </a:lnSpc>
              <a:buNone/>
            </a:pPr>
            <a:r>
              <a:rPr lang="en-US" sz="600" dirty="0">
                <a:solidFill>
                  <a:srgbClr val="777777"/>
                </a:solidFill>
                <a:latin typeface="Yu Gothic" pitchFamily="34" charset="0"/>
                <a:ea typeface="Yu Gothic" pitchFamily="34" charset="-122"/>
                <a:cs typeface="Yu Gothic" pitchFamily="34" charset="-120"/>
              </a:rPr>
              <a:t>6.</a:t>
            </a:r>
            <a:endParaRPr lang="en-US" sz="600" dirty="0"/>
          </a:p>
        </p:txBody>
      </p:sp>
      <p:sp>
        <p:nvSpPr>
          <p:cNvPr id="159" name="t2_156"/>
          <p:cNvSpPr txBox="1"/>
          <p:nvPr/>
        </p:nvSpPr>
        <p:spPr>
          <a:xfrm>
            <a:off x="11722100" y="6280150"/>
            <a:ext cx="937260" cy="114300"/>
          </a:xfrm>
          <a:prstGeom prst="rect">
            <a:avLst/>
          </a:prstGeom>
          <a:noFill/>
          <a:ln/>
        </p:spPr>
        <p:txBody>
          <a:bodyPr wrap="none" lIns="0" tIns="0" rIns="0" bIns="0" rtlCol="0" anchor="t"/>
          <a:lstStyle/>
          <a:p>
            <a:pPr algn="l" indent="0" marL="0">
              <a:lnSpc>
                <a:spcPts val="806"/>
              </a:lnSpc>
              <a:buNone/>
            </a:pPr>
            <a:r>
              <a:rPr lang="en-US" sz="620" dirty="0">
                <a:solidFill>
                  <a:srgbClr val="222222"/>
                </a:solidFill>
                <a:latin typeface="Yu Gothic" pitchFamily="34" charset="0"/>
                <a:ea typeface="Yu Gothic" pitchFamily="34" charset="-122"/>
                <a:cs typeface="Yu Gothic" pitchFamily="34" charset="-120"/>
              </a:rPr>
              <a:t>Glencore</a:t>
            </a:r>
            <a:endParaRPr lang="en-US" sz="620" dirty="0"/>
          </a:p>
        </p:txBody>
      </p:sp>
      <p:sp>
        <p:nvSpPr>
          <p:cNvPr id="160" name="Shape 154"/>
          <p:cNvSpPr/>
          <p:nvPr/>
        </p:nvSpPr>
        <p:spPr>
          <a:xfrm>
            <a:off x="12636500" y="6292850"/>
            <a:ext cx="755650" cy="139700"/>
          </a:xfrm>
          <a:prstGeom prst="rect">
            <a:avLst/>
          </a:prstGeom>
          <a:solidFill>
            <a:srgbClr val="D6D9DD"/>
          </a:solidFill>
          <a:ln/>
        </p:spPr>
      </p:sp>
      <p:sp>
        <p:nvSpPr>
          <p:cNvPr id="161" name="t2_158"/>
          <p:cNvSpPr txBox="1"/>
          <p:nvPr/>
        </p:nvSpPr>
        <p:spPr>
          <a:xfrm>
            <a:off x="13417550" y="6280150"/>
            <a:ext cx="408940" cy="103124"/>
          </a:xfrm>
          <a:prstGeom prst="rect">
            <a:avLst/>
          </a:prstGeom>
          <a:noFill/>
          <a:ln/>
        </p:spPr>
        <p:txBody>
          <a:bodyPr wrap="none" lIns="0" tIns="0" rIns="0" bIns="0" rtlCol="0" anchor="t"/>
          <a:lstStyle/>
          <a:p>
            <a:pPr algn="l" indent="0" marL="0">
              <a:lnSpc>
                <a:spcPts val="754"/>
              </a:lnSpc>
              <a:buNone/>
            </a:pPr>
            <a:r>
              <a:rPr lang="en-US" sz="580" dirty="0">
                <a:solidFill>
                  <a:srgbClr val="666666"/>
                </a:solidFill>
                <a:latin typeface="Yu Gothic" pitchFamily="34" charset="0"/>
                <a:ea typeface="Yu Gothic" pitchFamily="34" charset="-122"/>
                <a:cs typeface="Yu Gothic" pitchFamily="34" charset="-120"/>
              </a:rPr>
              <a:t>812</a:t>
            </a:r>
            <a:endParaRPr lang="en-US" sz="580" dirty="0"/>
          </a:p>
        </p:txBody>
      </p:sp>
      <p:sp>
        <p:nvSpPr>
          <p:cNvPr id="162" name="t2_159"/>
          <p:cNvSpPr txBox="1"/>
          <p:nvPr/>
        </p:nvSpPr>
        <p:spPr>
          <a:xfrm>
            <a:off x="11493500" y="6515100"/>
            <a:ext cx="197612" cy="106680"/>
          </a:xfrm>
          <a:prstGeom prst="rect">
            <a:avLst/>
          </a:prstGeom>
          <a:noFill/>
          <a:ln/>
        </p:spPr>
        <p:txBody>
          <a:bodyPr wrap="none" lIns="0" tIns="0" rIns="0" bIns="0" rtlCol="0" anchor="t"/>
          <a:lstStyle/>
          <a:p>
            <a:pPr algn="r" indent="0" marL="0">
              <a:lnSpc>
                <a:spcPts val="780"/>
              </a:lnSpc>
              <a:buNone/>
            </a:pPr>
            <a:r>
              <a:rPr lang="en-US" sz="600" dirty="0">
                <a:solidFill>
                  <a:srgbClr val="777777"/>
                </a:solidFill>
                <a:latin typeface="Yu Gothic" pitchFamily="34" charset="0"/>
                <a:ea typeface="Yu Gothic" pitchFamily="34" charset="-122"/>
                <a:cs typeface="Yu Gothic" pitchFamily="34" charset="-120"/>
              </a:rPr>
              <a:t>7.</a:t>
            </a:r>
            <a:endParaRPr lang="en-US" sz="600" dirty="0"/>
          </a:p>
        </p:txBody>
      </p:sp>
      <p:sp>
        <p:nvSpPr>
          <p:cNvPr id="163" name="t2_160"/>
          <p:cNvSpPr txBox="1"/>
          <p:nvPr/>
        </p:nvSpPr>
        <p:spPr>
          <a:xfrm>
            <a:off x="11722100" y="6515100"/>
            <a:ext cx="937260" cy="114300"/>
          </a:xfrm>
          <a:prstGeom prst="rect">
            <a:avLst/>
          </a:prstGeom>
          <a:noFill/>
          <a:ln/>
        </p:spPr>
        <p:txBody>
          <a:bodyPr wrap="none" lIns="0" tIns="0" rIns="0" bIns="0" rtlCol="0" anchor="t"/>
          <a:lstStyle/>
          <a:p>
            <a:pPr algn="l" indent="0" marL="0">
              <a:lnSpc>
                <a:spcPts val="806"/>
              </a:lnSpc>
              <a:buNone/>
            </a:pPr>
            <a:r>
              <a:rPr lang="en-US" sz="620" dirty="0">
                <a:solidFill>
                  <a:srgbClr val="222222"/>
                </a:solidFill>
                <a:latin typeface="Yu Gothic" pitchFamily="34" charset="0"/>
                <a:ea typeface="Yu Gothic" pitchFamily="34" charset="-122"/>
                <a:cs typeface="Yu Gothic" pitchFamily="34" charset="-120"/>
              </a:rPr>
              <a:t>Rio Tinto</a:t>
            </a:r>
            <a:endParaRPr lang="en-US" sz="620" dirty="0"/>
          </a:p>
        </p:txBody>
      </p:sp>
      <p:sp>
        <p:nvSpPr>
          <p:cNvPr id="164" name="Shape 158"/>
          <p:cNvSpPr/>
          <p:nvPr/>
        </p:nvSpPr>
        <p:spPr>
          <a:xfrm>
            <a:off x="12636500" y="6527800"/>
            <a:ext cx="688578" cy="139700"/>
          </a:xfrm>
          <a:prstGeom prst="rect">
            <a:avLst/>
          </a:prstGeom>
          <a:solidFill>
            <a:srgbClr val="D6D9DD"/>
          </a:solidFill>
          <a:ln/>
        </p:spPr>
      </p:sp>
      <p:sp>
        <p:nvSpPr>
          <p:cNvPr id="165" name="t2_162"/>
          <p:cNvSpPr txBox="1"/>
          <p:nvPr/>
        </p:nvSpPr>
        <p:spPr>
          <a:xfrm>
            <a:off x="13350478" y="6515100"/>
            <a:ext cx="408940" cy="103124"/>
          </a:xfrm>
          <a:prstGeom prst="rect">
            <a:avLst/>
          </a:prstGeom>
          <a:noFill/>
          <a:ln/>
        </p:spPr>
        <p:txBody>
          <a:bodyPr wrap="none" lIns="0" tIns="0" rIns="0" bIns="0" rtlCol="0" anchor="t"/>
          <a:lstStyle/>
          <a:p>
            <a:pPr algn="l" indent="0" marL="0">
              <a:lnSpc>
                <a:spcPts val="754"/>
              </a:lnSpc>
              <a:buNone/>
            </a:pPr>
            <a:r>
              <a:rPr lang="en-US" sz="580" dirty="0">
                <a:solidFill>
                  <a:srgbClr val="666666"/>
                </a:solidFill>
                <a:latin typeface="Yu Gothic" pitchFamily="34" charset="0"/>
                <a:ea typeface="Yu Gothic" pitchFamily="34" charset="-122"/>
                <a:cs typeface="Yu Gothic" pitchFamily="34" charset="-120"/>
              </a:rPr>
              <a:t>740</a:t>
            </a:r>
            <a:endParaRPr lang="en-US" sz="580" dirty="0"/>
          </a:p>
        </p:txBody>
      </p:sp>
      <p:sp>
        <p:nvSpPr>
          <p:cNvPr id="166" name="t2_163"/>
          <p:cNvSpPr txBox="1"/>
          <p:nvPr/>
        </p:nvSpPr>
        <p:spPr>
          <a:xfrm>
            <a:off x="11493500" y="6750050"/>
            <a:ext cx="197612" cy="106680"/>
          </a:xfrm>
          <a:prstGeom prst="rect">
            <a:avLst/>
          </a:prstGeom>
          <a:noFill/>
          <a:ln/>
        </p:spPr>
        <p:txBody>
          <a:bodyPr wrap="none" lIns="0" tIns="0" rIns="0" bIns="0" rtlCol="0" anchor="t"/>
          <a:lstStyle/>
          <a:p>
            <a:pPr algn="r" indent="0" marL="0">
              <a:lnSpc>
                <a:spcPts val="780"/>
              </a:lnSpc>
              <a:buNone/>
            </a:pPr>
            <a:r>
              <a:rPr lang="en-US" sz="600" dirty="0">
                <a:solidFill>
                  <a:srgbClr val="777777"/>
                </a:solidFill>
                <a:latin typeface="Yu Gothic" pitchFamily="34" charset="0"/>
                <a:ea typeface="Yu Gothic" pitchFamily="34" charset="-122"/>
                <a:cs typeface="Yu Gothic" pitchFamily="34" charset="-120"/>
              </a:rPr>
              <a:t>8.</a:t>
            </a:r>
            <a:endParaRPr lang="en-US" sz="600" dirty="0"/>
          </a:p>
        </p:txBody>
      </p:sp>
      <p:sp>
        <p:nvSpPr>
          <p:cNvPr id="167" name="t2_164"/>
          <p:cNvSpPr txBox="1"/>
          <p:nvPr/>
        </p:nvSpPr>
        <p:spPr>
          <a:xfrm>
            <a:off x="11722100" y="6750050"/>
            <a:ext cx="937260" cy="114300"/>
          </a:xfrm>
          <a:prstGeom prst="rect">
            <a:avLst/>
          </a:prstGeom>
          <a:noFill/>
          <a:ln/>
        </p:spPr>
        <p:txBody>
          <a:bodyPr wrap="none" lIns="0" tIns="0" rIns="0" bIns="0" rtlCol="0" anchor="t"/>
          <a:lstStyle/>
          <a:p>
            <a:pPr algn="l" indent="0" marL="0">
              <a:lnSpc>
                <a:spcPts val="806"/>
              </a:lnSpc>
              <a:buNone/>
            </a:pPr>
            <a:r>
              <a:rPr lang="en-US" sz="620" dirty="0">
                <a:solidFill>
                  <a:srgbClr val="222222"/>
                </a:solidFill>
                <a:latin typeface="Yu Gothic" pitchFamily="34" charset="0"/>
                <a:ea typeface="Yu Gothic" pitchFamily="34" charset="-122"/>
                <a:cs typeface="Yu Gothic" pitchFamily="34" charset="-120"/>
              </a:rPr>
              <a:t>China Moly</a:t>
            </a:r>
            <a:endParaRPr lang="en-US" sz="620" dirty="0"/>
          </a:p>
        </p:txBody>
      </p:sp>
      <p:sp>
        <p:nvSpPr>
          <p:cNvPr id="168" name="Shape 162"/>
          <p:cNvSpPr/>
          <p:nvPr/>
        </p:nvSpPr>
        <p:spPr>
          <a:xfrm>
            <a:off x="12636500" y="6762750"/>
            <a:ext cx="519311" cy="139700"/>
          </a:xfrm>
          <a:prstGeom prst="rect">
            <a:avLst/>
          </a:prstGeom>
          <a:solidFill>
            <a:srgbClr val="D6D9DD"/>
          </a:solidFill>
          <a:ln/>
        </p:spPr>
      </p:sp>
      <p:sp>
        <p:nvSpPr>
          <p:cNvPr id="169" name="t2_166"/>
          <p:cNvSpPr txBox="1"/>
          <p:nvPr/>
        </p:nvSpPr>
        <p:spPr>
          <a:xfrm>
            <a:off x="13181211" y="6750050"/>
            <a:ext cx="408940" cy="103124"/>
          </a:xfrm>
          <a:prstGeom prst="rect">
            <a:avLst/>
          </a:prstGeom>
          <a:noFill/>
          <a:ln/>
        </p:spPr>
        <p:txBody>
          <a:bodyPr wrap="none" lIns="0" tIns="0" rIns="0" bIns="0" rtlCol="0" anchor="t"/>
          <a:lstStyle/>
          <a:p>
            <a:pPr algn="l" indent="0" marL="0">
              <a:lnSpc>
                <a:spcPts val="754"/>
              </a:lnSpc>
              <a:buNone/>
            </a:pPr>
            <a:r>
              <a:rPr lang="en-US" sz="580" dirty="0">
                <a:solidFill>
                  <a:srgbClr val="666666"/>
                </a:solidFill>
                <a:latin typeface="Yu Gothic" pitchFamily="34" charset="0"/>
                <a:ea typeface="Yu Gothic" pitchFamily="34" charset="-122"/>
                <a:cs typeface="Yu Gothic" pitchFamily="34" charset="-120"/>
              </a:rPr>
              <a:t>558</a:t>
            </a:r>
            <a:endParaRPr lang="en-US" sz="580" dirty="0"/>
          </a:p>
        </p:txBody>
      </p:sp>
      <p:sp>
        <p:nvSpPr>
          <p:cNvPr id="170" name="t2_167"/>
          <p:cNvSpPr txBox="1"/>
          <p:nvPr/>
        </p:nvSpPr>
        <p:spPr>
          <a:xfrm>
            <a:off x="11493500" y="6985000"/>
            <a:ext cx="197612" cy="106680"/>
          </a:xfrm>
          <a:prstGeom prst="rect">
            <a:avLst/>
          </a:prstGeom>
          <a:noFill/>
          <a:ln/>
        </p:spPr>
        <p:txBody>
          <a:bodyPr wrap="none" lIns="0" tIns="0" rIns="0" bIns="0" rtlCol="0" anchor="t"/>
          <a:lstStyle/>
          <a:p>
            <a:pPr algn="r" indent="0" marL="0">
              <a:lnSpc>
                <a:spcPts val="780"/>
              </a:lnSpc>
              <a:buNone/>
            </a:pPr>
            <a:r>
              <a:rPr lang="en-US" sz="600" dirty="0">
                <a:solidFill>
                  <a:srgbClr val="777777"/>
                </a:solidFill>
                <a:latin typeface="Yu Gothic" pitchFamily="34" charset="0"/>
                <a:ea typeface="Yu Gothic" pitchFamily="34" charset="-122"/>
                <a:cs typeface="Yu Gothic" pitchFamily="34" charset="-120"/>
              </a:rPr>
              <a:t>9.</a:t>
            </a:r>
            <a:endParaRPr lang="en-US" sz="600" dirty="0"/>
          </a:p>
        </p:txBody>
      </p:sp>
      <p:sp>
        <p:nvSpPr>
          <p:cNvPr id="171" name="t2_168"/>
          <p:cNvSpPr txBox="1"/>
          <p:nvPr/>
        </p:nvSpPr>
        <p:spPr>
          <a:xfrm>
            <a:off x="11722100" y="6985000"/>
            <a:ext cx="937260" cy="114300"/>
          </a:xfrm>
          <a:prstGeom prst="rect">
            <a:avLst/>
          </a:prstGeom>
          <a:noFill/>
          <a:ln/>
        </p:spPr>
        <p:txBody>
          <a:bodyPr wrap="none" lIns="0" tIns="0" rIns="0" bIns="0" rtlCol="0" anchor="t"/>
          <a:lstStyle/>
          <a:p>
            <a:pPr algn="l" indent="0" marL="0">
              <a:lnSpc>
                <a:spcPts val="806"/>
              </a:lnSpc>
              <a:buNone/>
            </a:pPr>
            <a:r>
              <a:rPr lang="en-US" sz="620" dirty="0">
                <a:solidFill>
                  <a:srgbClr val="222222"/>
                </a:solidFill>
                <a:latin typeface="Yu Gothic" pitchFamily="34" charset="0"/>
                <a:ea typeface="Yu Gothic" pitchFamily="34" charset="-122"/>
                <a:cs typeface="Yu Gothic" pitchFamily="34" charset="-120"/>
              </a:rPr>
              <a:t>KGHM</a:t>
            </a:r>
            <a:endParaRPr lang="en-US" sz="620" dirty="0"/>
          </a:p>
        </p:txBody>
      </p:sp>
      <p:sp>
        <p:nvSpPr>
          <p:cNvPr id="172" name="Shape 166"/>
          <p:cNvSpPr/>
          <p:nvPr/>
        </p:nvSpPr>
        <p:spPr>
          <a:xfrm>
            <a:off x="12636500" y="6997700"/>
            <a:ext cx="500658" cy="139700"/>
          </a:xfrm>
          <a:prstGeom prst="rect">
            <a:avLst/>
          </a:prstGeom>
          <a:solidFill>
            <a:srgbClr val="D6D9DD"/>
          </a:solidFill>
          <a:ln/>
        </p:spPr>
      </p:sp>
      <p:sp>
        <p:nvSpPr>
          <p:cNvPr id="173" name="t2_170"/>
          <p:cNvSpPr txBox="1"/>
          <p:nvPr/>
        </p:nvSpPr>
        <p:spPr>
          <a:xfrm>
            <a:off x="13162558" y="6985000"/>
            <a:ext cx="408940" cy="103124"/>
          </a:xfrm>
          <a:prstGeom prst="rect">
            <a:avLst/>
          </a:prstGeom>
          <a:noFill/>
          <a:ln/>
        </p:spPr>
        <p:txBody>
          <a:bodyPr wrap="none" lIns="0" tIns="0" rIns="0" bIns="0" rtlCol="0" anchor="t"/>
          <a:lstStyle/>
          <a:p>
            <a:pPr algn="l" indent="0" marL="0">
              <a:lnSpc>
                <a:spcPts val="754"/>
              </a:lnSpc>
              <a:buNone/>
            </a:pPr>
            <a:r>
              <a:rPr lang="en-US" sz="580" dirty="0">
                <a:solidFill>
                  <a:srgbClr val="666666"/>
                </a:solidFill>
                <a:latin typeface="Yu Gothic" pitchFamily="34" charset="0"/>
                <a:ea typeface="Yu Gothic" pitchFamily="34" charset="-122"/>
                <a:cs typeface="Yu Gothic" pitchFamily="34" charset="-120"/>
              </a:rPr>
              <a:t>538</a:t>
            </a:r>
            <a:endParaRPr lang="en-US" sz="580" dirty="0"/>
          </a:p>
        </p:txBody>
      </p:sp>
      <p:sp>
        <p:nvSpPr>
          <p:cNvPr id="174" name="t2_171"/>
          <p:cNvSpPr txBox="1"/>
          <p:nvPr/>
        </p:nvSpPr>
        <p:spPr>
          <a:xfrm>
            <a:off x="11493500" y="7219950"/>
            <a:ext cx="197612" cy="106680"/>
          </a:xfrm>
          <a:prstGeom prst="rect">
            <a:avLst/>
          </a:prstGeom>
          <a:noFill/>
          <a:ln/>
        </p:spPr>
        <p:txBody>
          <a:bodyPr wrap="none" lIns="0" tIns="0" rIns="0" bIns="0" rtlCol="0" anchor="t"/>
          <a:lstStyle/>
          <a:p>
            <a:pPr algn="r" indent="0" marL="0">
              <a:lnSpc>
                <a:spcPts val="780"/>
              </a:lnSpc>
              <a:buNone/>
            </a:pPr>
            <a:r>
              <a:rPr lang="en-US" sz="600" dirty="0">
                <a:solidFill>
                  <a:srgbClr val="777777"/>
                </a:solidFill>
                <a:latin typeface="Yu Gothic" pitchFamily="34" charset="0"/>
                <a:ea typeface="Yu Gothic" pitchFamily="34" charset="-122"/>
                <a:cs typeface="Yu Gothic" pitchFamily="34" charset="-120"/>
              </a:rPr>
              <a:t>10.</a:t>
            </a:r>
            <a:endParaRPr lang="en-US" sz="600" dirty="0"/>
          </a:p>
        </p:txBody>
      </p:sp>
      <p:sp>
        <p:nvSpPr>
          <p:cNvPr id="175" name="t2_172"/>
          <p:cNvSpPr txBox="1"/>
          <p:nvPr/>
        </p:nvSpPr>
        <p:spPr>
          <a:xfrm>
            <a:off x="11722100" y="7219950"/>
            <a:ext cx="937260" cy="114300"/>
          </a:xfrm>
          <a:prstGeom prst="rect">
            <a:avLst/>
          </a:prstGeom>
          <a:noFill/>
          <a:ln/>
        </p:spPr>
        <p:txBody>
          <a:bodyPr wrap="none" lIns="0" tIns="0" rIns="0" bIns="0" rtlCol="0" anchor="t"/>
          <a:lstStyle/>
          <a:p>
            <a:pPr algn="l" indent="0" marL="0">
              <a:lnSpc>
                <a:spcPts val="806"/>
              </a:lnSpc>
              <a:buNone/>
            </a:pPr>
            <a:r>
              <a:rPr lang="en-US" sz="620" dirty="0">
                <a:solidFill>
                  <a:srgbClr val="222222"/>
                </a:solidFill>
                <a:latin typeface="Yu Gothic" pitchFamily="34" charset="0"/>
                <a:ea typeface="Yu Gothic" pitchFamily="34" charset="-122"/>
                <a:cs typeface="Yu Gothic" pitchFamily="34" charset="-120"/>
              </a:rPr>
              <a:t>Anglo American</a:t>
            </a:r>
            <a:endParaRPr lang="en-US" sz="620" dirty="0"/>
          </a:p>
        </p:txBody>
      </p:sp>
      <p:sp>
        <p:nvSpPr>
          <p:cNvPr id="176" name="Shape 170"/>
          <p:cNvSpPr/>
          <p:nvPr/>
        </p:nvSpPr>
        <p:spPr>
          <a:xfrm>
            <a:off x="12636500" y="7232650"/>
            <a:ext cx="461566" cy="139700"/>
          </a:xfrm>
          <a:prstGeom prst="rect">
            <a:avLst/>
          </a:prstGeom>
          <a:solidFill>
            <a:srgbClr val="D6D9DD"/>
          </a:solidFill>
          <a:ln/>
        </p:spPr>
      </p:sp>
      <p:sp>
        <p:nvSpPr>
          <p:cNvPr id="177" name="t2_174"/>
          <p:cNvSpPr txBox="1"/>
          <p:nvPr/>
        </p:nvSpPr>
        <p:spPr>
          <a:xfrm>
            <a:off x="13123466" y="7219950"/>
            <a:ext cx="408940" cy="103124"/>
          </a:xfrm>
          <a:prstGeom prst="rect">
            <a:avLst/>
          </a:prstGeom>
          <a:noFill/>
          <a:ln/>
        </p:spPr>
        <p:txBody>
          <a:bodyPr wrap="none" lIns="0" tIns="0" rIns="0" bIns="0" rtlCol="0" anchor="t"/>
          <a:lstStyle/>
          <a:p>
            <a:pPr algn="l" indent="0" marL="0">
              <a:lnSpc>
                <a:spcPts val="754"/>
              </a:lnSpc>
              <a:buNone/>
            </a:pPr>
            <a:r>
              <a:rPr lang="en-US" sz="580" dirty="0">
                <a:solidFill>
                  <a:srgbClr val="666666"/>
                </a:solidFill>
                <a:latin typeface="Yu Gothic" pitchFamily="34" charset="0"/>
                <a:ea typeface="Yu Gothic" pitchFamily="34" charset="-122"/>
                <a:cs typeface="Yu Gothic" pitchFamily="34" charset="-120"/>
              </a:rPr>
              <a:t>496</a:t>
            </a:r>
            <a:endParaRPr lang="en-US" sz="580" dirty="0"/>
          </a:p>
        </p:txBody>
      </p:sp>
      <p:sp>
        <p:nvSpPr>
          <p:cNvPr id="178" name="t2_175"/>
          <p:cNvSpPr txBox="1"/>
          <p:nvPr/>
        </p:nvSpPr>
        <p:spPr>
          <a:xfrm>
            <a:off x="11493500" y="7454900"/>
            <a:ext cx="197612" cy="106680"/>
          </a:xfrm>
          <a:prstGeom prst="rect">
            <a:avLst/>
          </a:prstGeom>
          <a:noFill/>
          <a:ln/>
        </p:spPr>
        <p:txBody>
          <a:bodyPr wrap="none" lIns="0" tIns="0" rIns="0" bIns="0" rtlCol="0" anchor="t"/>
          <a:lstStyle/>
          <a:p>
            <a:pPr algn="r" indent="0" marL="0">
              <a:lnSpc>
                <a:spcPts val="780"/>
              </a:lnSpc>
              <a:buNone/>
            </a:pPr>
            <a:r>
              <a:rPr lang="en-US" sz="600" dirty="0">
                <a:solidFill>
                  <a:srgbClr val="777777"/>
                </a:solidFill>
                <a:latin typeface="Yu Gothic" pitchFamily="34" charset="0"/>
                <a:ea typeface="Yu Gothic" pitchFamily="34" charset="-122"/>
                <a:cs typeface="Yu Gothic" pitchFamily="34" charset="-120"/>
              </a:rPr>
              <a:t>11.</a:t>
            </a:r>
            <a:endParaRPr lang="en-US" sz="600" dirty="0"/>
          </a:p>
        </p:txBody>
      </p:sp>
      <p:sp>
        <p:nvSpPr>
          <p:cNvPr id="179" name="t2_176"/>
          <p:cNvSpPr txBox="1"/>
          <p:nvPr/>
        </p:nvSpPr>
        <p:spPr>
          <a:xfrm>
            <a:off x="11722100" y="7454900"/>
            <a:ext cx="937260" cy="114300"/>
          </a:xfrm>
          <a:prstGeom prst="rect">
            <a:avLst/>
          </a:prstGeom>
          <a:noFill/>
          <a:ln/>
        </p:spPr>
        <p:txBody>
          <a:bodyPr wrap="none" lIns="0" tIns="0" rIns="0" bIns="0" rtlCol="0" anchor="t"/>
          <a:lstStyle/>
          <a:p>
            <a:pPr algn="l" indent="0" marL="0">
              <a:lnSpc>
                <a:spcPts val="806"/>
              </a:lnSpc>
              <a:buNone/>
            </a:pPr>
            <a:r>
              <a:rPr lang="en-US" sz="620" dirty="0">
                <a:solidFill>
                  <a:srgbClr val="222222"/>
                </a:solidFill>
                <a:latin typeface="Yu Gothic" pitchFamily="34" charset="0"/>
                <a:ea typeface="Yu Gothic" pitchFamily="34" charset="-122"/>
                <a:cs typeface="Yu Gothic" pitchFamily="34" charset="-120"/>
              </a:rPr>
              <a:t>Antofagasta</a:t>
            </a:r>
            <a:endParaRPr lang="en-US" sz="620" dirty="0"/>
          </a:p>
        </p:txBody>
      </p:sp>
      <p:sp>
        <p:nvSpPr>
          <p:cNvPr id="180" name="Shape 174"/>
          <p:cNvSpPr/>
          <p:nvPr/>
        </p:nvSpPr>
        <p:spPr>
          <a:xfrm>
            <a:off x="12636500" y="7467600"/>
            <a:ext cx="421481" cy="139700"/>
          </a:xfrm>
          <a:prstGeom prst="rect">
            <a:avLst/>
          </a:prstGeom>
          <a:solidFill>
            <a:srgbClr val="D6D9DD"/>
          </a:solidFill>
          <a:ln/>
        </p:spPr>
      </p:sp>
      <p:sp>
        <p:nvSpPr>
          <p:cNvPr id="181" name="t2_178"/>
          <p:cNvSpPr txBox="1"/>
          <p:nvPr/>
        </p:nvSpPr>
        <p:spPr>
          <a:xfrm>
            <a:off x="13083381" y="7454900"/>
            <a:ext cx="408940" cy="103124"/>
          </a:xfrm>
          <a:prstGeom prst="rect">
            <a:avLst/>
          </a:prstGeom>
          <a:noFill/>
          <a:ln/>
        </p:spPr>
        <p:txBody>
          <a:bodyPr wrap="none" lIns="0" tIns="0" rIns="0" bIns="0" rtlCol="0" anchor="t"/>
          <a:lstStyle/>
          <a:p>
            <a:pPr algn="l" indent="0" marL="0">
              <a:lnSpc>
                <a:spcPts val="754"/>
              </a:lnSpc>
              <a:buNone/>
            </a:pPr>
            <a:r>
              <a:rPr lang="en-US" sz="580" dirty="0">
                <a:solidFill>
                  <a:srgbClr val="666666"/>
                </a:solidFill>
                <a:latin typeface="Yu Gothic" pitchFamily="34" charset="0"/>
                <a:ea typeface="Yu Gothic" pitchFamily="34" charset="-122"/>
                <a:cs typeface="Yu Gothic" pitchFamily="34" charset="-120"/>
              </a:rPr>
              <a:t>453</a:t>
            </a:r>
            <a:endParaRPr lang="en-US" sz="580" dirty="0"/>
          </a:p>
        </p:txBody>
      </p:sp>
      <p:sp>
        <p:nvSpPr>
          <p:cNvPr id="182" name="t2_179"/>
          <p:cNvSpPr txBox="1"/>
          <p:nvPr/>
        </p:nvSpPr>
        <p:spPr>
          <a:xfrm>
            <a:off x="11493500" y="7689850"/>
            <a:ext cx="197612" cy="106680"/>
          </a:xfrm>
          <a:prstGeom prst="rect">
            <a:avLst/>
          </a:prstGeom>
          <a:noFill/>
          <a:ln/>
        </p:spPr>
        <p:txBody>
          <a:bodyPr wrap="none" lIns="0" tIns="0" rIns="0" bIns="0" rtlCol="0" anchor="t"/>
          <a:lstStyle/>
          <a:p>
            <a:pPr algn="r" indent="0" marL="0">
              <a:lnSpc>
                <a:spcPts val="780"/>
              </a:lnSpc>
              <a:buNone/>
            </a:pPr>
            <a:r>
              <a:rPr lang="en-US" sz="600" dirty="0">
                <a:solidFill>
                  <a:srgbClr val="777777"/>
                </a:solidFill>
                <a:latin typeface="Yu Gothic" pitchFamily="34" charset="0"/>
                <a:ea typeface="Yu Gothic" pitchFamily="34" charset="-122"/>
                <a:cs typeface="Yu Gothic" pitchFamily="34" charset="-120"/>
              </a:rPr>
              <a:t>17.</a:t>
            </a:r>
            <a:endParaRPr lang="en-US" sz="600" dirty="0"/>
          </a:p>
        </p:txBody>
      </p:sp>
      <p:sp>
        <p:nvSpPr>
          <p:cNvPr id="183" name="t2_180"/>
          <p:cNvSpPr txBox="1"/>
          <p:nvPr/>
        </p:nvSpPr>
        <p:spPr>
          <a:xfrm>
            <a:off x="11722100" y="7689850"/>
            <a:ext cx="937260" cy="114300"/>
          </a:xfrm>
          <a:prstGeom prst="rect">
            <a:avLst/>
          </a:prstGeom>
          <a:noFill/>
          <a:ln/>
        </p:spPr>
        <p:txBody>
          <a:bodyPr wrap="none" lIns="0" tIns="0" rIns="0" bIns="0" rtlCol="0" anchor="t"/>
          <a:lstStyle/>
          <a:p>
            <a:pPr algn="l" indent="0" marL="0">
              <a:lnSpc>
                <a:spcPts val="806"/>
              </a:lnSpc>
              <a:buNone/>
            </a:pPr>
            <a:r>
              <a:rPr lang="en-US" sz="620" dirty="0">
                <a:solidFill>
                  <a:srgbClr val="222222"/>
                </a:solidFill>
                <a:latin typeface="Yu Gothic" pitchFamily="34" charset="0"/>
                <a:ea typeface="Yu Gothic" pitchFamily="34" charset="-122"/>
                <a:cs typeface="Yu Gothic" pitchFamily="34" charset="-120"/>
              </a:rPr>
              <a:t>Teck</a:t>
            </a:r>
            <a:endParaRPr lang="en-US" sz="620" dirty="0"/>
          </a:p>
        </p:txBody>
      </p:sp>
      <p:sp>
        <p:nvSpPr>
          <p:cNvPr id="184" name="Shape 178"/>
          <p:cNvSpPr/>
          <p:nvPr/>
        </p:nvSpPr>
        <p:spPr>
          <a:xfrm>
            <a:off x="12636500" y="7702550"/>
            <a:ext cx="337741" cy="139700"/>
          </a:xfrm>
          <a:prstGeom prst="rect">
            <a:avLst/>
          </a:prstGeom>
          <a:solidFill>
            <a:srgbClr val="D6D9DD"/>
          </a:solidFill>
          <a:ln/>
        </p:spPr>
      </p:sp>
      <p:sp>
        <p:nvSpPr>
          <p:cNvPr id="185" name="t2_182"/>
          <p:cNvSpPr txBox="1"/>
          <p:nvPr/>
        </p:nvSpPr>
        <p:spPr>
          <a:xfrm>
            <a:off x="12999641" y="7689850"/>
            <a:ext cx="408940" cy="103124"/>
          </a:xfrm>
          <a:prstGeom prst="rect">
            <a:avLst/>
          </a:prstGeom>
          <a:noFill/>
          <a:ln/>
        </p:spPr>
        <p:txBody>
          <a:bodyPr wrap="none" lIns="0" tIns="0" rIns="0" bIns="0" rtlCol="0" anchor="t"/>
          <a:lstStyle/>
          <a:p>
            <a:pPr algn="l" indent="0" marL="0">
              <a:lnSpc>
                <a:spcPts val="754"/>
              </a:lnSpc>
              <a:buNone/>
            </a:pPr>
            <a:r>
              <a:rPr lang="en-US" sz="580" dirty="0">
                <a:solidFill>
                  <a:srgbClr val="666666"/>
                </a:solidFill>
                <a:latin typeface="Yu Gothic" pitchFamily="34" charset="0"/>
                <a:ea typeface="Yu Gothic" pitchFamily="34" charset="-122"/>
                <a:cs typeface="Yu Gothic" pitchFamily="34" charset="-120"/>
              </a:rPr>
              <a:t>363</a:t>
            </a:r>
            <a:endParaRPr lang="en-US" sz="580" dirty="0"/>
          </a:p>
        </p:txBody>
      </p:sp>
      <p:sp>
        <p:nvSpPr>
          <p:cNvPr id="186" name="t2_183"/>
          <p:cNvSpPr txBox="1"/>
          <p:nvPr/>
        </p:nvSpPr>
        <p:spPr>
          <a:xfrm>
            <a:off x="11493500" y="7924800"/>
            <a:ext cx="197612" cy="106680"/>
          </a:xfrm>
          <a:prstGeom prst="rect">
            <a:avLst/>
          </a:prstGeom>
          <a:noFill/>
          <a:ln/>
        </p:spPr>
        <p:txBody>
          <a:bodyPr wrap="none" lIns="0" tIns="0" rIns="0" bIns="0" rtlCol="0" anchor="t"/>
          <a:lstStyle/>
          <a:p>
            <a:pPr algn="r" indent="0" marL="0">
              <a:lnSpc>
                <a:spcPts val="780"/>
              </a:lnSpc>
              <a:buNone/>
            </a:pPr>
            <a:r>
              <a:rPr lang="en-US" sz="600" dirty="0">
                <a:solidFill>
                  <a:srgbClr val="777777"/>
                </a:solidFill>
                <a:latin typeface="Yu Gothic" pitchFamily="34" charset="0"/>
                <a:ea typeface="Yu Gothic" pitchFamily="34" charset="-122"/>
                <a:cs typeface="Yu Gothic" pitchFamily="34" charset="-120"/>
              </a:rPr>
              <a:t>20.</a:t>
            </a:r>
            <a:endParaRPr lang="en-US" sz="600" dirty="0"/>
          </a:p>
        </p:txBody>
      </p:sp>
      <p:sp>
        <p:nvSpPr>
          <p:cNvPr id="187" name="t2_184"/>
          <p:cNvSpPr txBox="1"/>
          <p:nvPr/>
        </p:nvSpPr>
        <p:spPr>
          <a:xfrm>
            <a:off x="11722100" y="7924800"/>
            <a:ext cx="937260" cy="114300"/>
          </a:xfrm>
          <a:prstGeom prst="rect">
            <a:avLst/>
          </a:prstGeom>
          <a:noFill/>
          <a:ln/>
        </p:spPr>
        <p:txBody>
          <a:bodyPr wrap="none" lIns="0" tIns="0" rIns="0" bIns="0" rtlCol="0" anchor="t"/>
          <a:lstStyle/>
          <a:p>
            <a:pPr algn="l" indent="0" marL="0">
              <a:lnSpc>
                <a:spcPts val="806"/>
              </a:lnSpc>
              <a:buNone/>
            </a:pPr>
            <a:r>
              <a:rPr lang="en-US" sz="620" b="1" dirty="0">
                <a:solidFill>
                  <a:srgbClr val="222222"/>
                </a:solidFill>
                <a:latin typeface="Yu Gothic" pitchFamily="34" charset="0"/>
                <a:ea typeface="Yu Gothic" pitchFamily="34" charset="-122"/>
                <a:cs typeface="Yu Gothic" pitchFamily="34" charset="-120"/>
              </a:rPr>
              <a:t>三菱商事</a:t>
            </a:r>
            <a:endParaRPr lang="en-US" sz="620" dirty="0"/>
          </a:p>
        </p:txBody>
      </p:sp>
      <p:sp>
        <p:nvSpPr>
          <p:cNvPr id="188" name="Shape 182"/>
          <p:cNvSpPr/>
          <p:nvPr/>
        </p:nvSpPr>
        <p:spPr>
          <a:xfrm>
            <a:off x="12636500" y="7937500"/>
            <a:ext cx="303411" cy="139700"/>
          </a:xfrm>
          <a:prstGeom prst="rect">
            <a:avLst/>
          </a:prstGeom>
          <a:solidFill>
            <a:srgbClr val="3C4045"/>
          </a:solidFill>
          <a:ln/>
        </p:spPr>
      </p:sp>
      <p:sp>
        <p:nvSpPr>
          <p:cNvPr id="189" name="t2_186"/>
          <p:cNvSpPr txBox="1"/>
          <p:nvPr/>
        </p:nvSpPr>
        <p:spPr>
          <a:xfrm>
            <a:off x="12965311" y="7924800"/>
            <a:ext cx="408940" cy="103124"/>
          </a:xfrm>
          <a:prstGeom prst="rect">
            <a:avLst/>
          </a:prstGeom>
          <a:noFill/>
          <a:ln/>
        </p:spPr>
        <p:txBody>
          <a:bodyPr wrap="none" lIns="0" tIns="0" rIns="0" bIns="0" rtlCol="0" anchor="t"/>
          <a:lstStyle/>
          <a:p>
            <a:pPr algn="l" indent="0" marL="0">
              <a:lnSpc>
                <a:spcPts val="754"/>
              </a:lnSpc>
              <a:buNone/>
            </a:pPr>
            <a:r>
              <a:rPr lang="en-US" sz="580" dirty="0">
                <a:solidFill>
                  <a:srgbClr val="666666"/>
                </a:solidFill>
                <a:latin typeface="Yu Gothic" pitchFamily="34" charset="0"/>
                <a:ea typeface="Yu Gothic" pitchFamily="34" charset="-122"/>
                <a:cs typeface="Yu Gothic" pitchFamily="34" charset="-120"/>
              </a:rPr>
              <a:t>326</a:t>
            </a:r>
            <a:endParaRPr lang="en-US" sz="580" dirty="0"/>
          </a:p>
        </p:txBody>
      </p:sp>
      <p:sp>
        <p:nvSpPr>
          <p:cNvPr id="190" name="t2_187"/>
          <p:cNvSpPr txBox="1"/>
          <p:nvPr/>
        </p:nvSpPr>
        <p:spPr>
          <a:xfrm>
            <a:off x="12636500" y="8128000"/>
            <a:ext cx="1778000" cy="177800"/>
          </a:xfrm>
          <a:prstGeom prst="rect">
            <a:avLst/>
          </a:prstGeom>
          <a:noFill/>
          <a:ln w="12700">
            <a:solidFill>
              <a:srgbClr val="3C4045"/>
            </a:solidFill>
            <a:prstDash val="solid"/>
          </a:ln>
        </p:spPr>
        <p:txBody>
          <a:bodyPr wrap="square" lIns="25400" tIns="38100" rIns="38100" bIns="25400" rtlCol="0" anchor="t"/>
          <a:lstStyle/>
          <a:p>
            <a:pPr algn="l" indent="0" marL="0">
              <a:lnSpc>
                <a:spcPts val="858"/>
              </a:lnSpc>
              <a:buNone/>
            </a:pPr>
            <a:r>
              <a:rPr lang="en-US" sz="660" b="1" dirty="0">
                <a:solidFill>
                  <a:srgbClr val="222222"/>
                </a:solidFill>
                <a:latin typeface="Yu Gothic" pitchFamily="34" charset="0"/>
                <a:ea typeface="Yu Gothic" pitchFamily="34" charset="-122"/>
                <a:cs typeface="Yu Gothic" pitchFamily="34" charset="-120"/>
              </a:rPr>
              <a:t>ノンオペレーターとして世界最大</a:t>
            </a:r>
            <a:endParaRPr lang="en-US" sz="660" dirty="0"/>
          </a:p>
        </p:txBody>
      </p:sp>
      <p:sp>
        <p:nvSpPr>
          <p:cNvPr id="191" name="t2_188"/>
          <p:cNvSpPr txBox="1"/>
          <p:nvPr/>
        </p:nvSpPr>
        <p:spPr>
          <a:xfrm>
            <a:off x="8166100" y="8483600"/>
            <a:ext cx="6603492" cy="101600"/>
          </a:xfrm>
          <a:prstGeom prst="rect">
            <a:avLst/>
          </a:prstGeom>
          <a:noFill/>
          <a:ln/>
        </p:spPr>
        <p:txBody>
          <a:bodyPr wrap="none" lIns="0" tIns="0" rIns="0" bIns="0" rtlCol="0" anchor="t"/>
          <a:lstStyle/>
          <a:p>
            <a:pPr algn="l" indent="0" marL="0">
              <a:lnSpc>
                <a:spcPts val="728"/>
              </a:lnSpc>
              <a:buNone/>
            </a:pPr>
            <a:r>
              <a:rPr lang="en-US" sz="560" dirty="0">
                <a:solidFill>
                  <a:srgbClr val="888888"/>
                </a:solidFill>
                <a:latin typeface="Yu Gothic" pitchFamily="34" charset="0"/>
                <a:ea typeface="Yu Gothic" pitchFamily="34" charset="-122"/>
                <a:cs typeface="Yu Gothic" pitchFamily="34" charset="-120"/>
              </a:rPr>
              <a:t>図の出典・簡略化元：金属資源G_P8（銅事業）を2つの図に分けて簡略化。他社ロゴは使用せず社名をテキスト表記</a:t>
            </a:r>
            <a:endParaRPr lang="en-US" sz="560" dirty="0"/>
          </a:p>
        </p:txBody>
      </p:sp>
      <p:sp>
        <p:nvSpPr>
          <p:cNvPr id="192" name="t2_189"/>
          <p:cNvSpPr txBox="1"/>
          <p:nvPr/>
        </p:nvSpPr>
        <p:spPr>
          <a:xfrm>
            <a:off x="8166100" y="8636000"/>
            <a:ext cx="6603492" cy="118070"/>
          </a:xfrm>
          <a:prstGeom prst="rect">
            <a:avLst/>
          </a:prstGeom>
          <a:noFill/>
          <a:ln/>
        </p:spPr>
        <p:txBody>
          <a:bodyPr wrap="none" lIns="0" tIns="0" rIns="0" bIns="0" rtlCol="0" anchor="t"/>
          <a:lstStyle/>
          <a:p>
            <a:pPr algn="l" indent="0" marL="0">
              <a:lnSpc>
                <a:spcPts val="930"/>
              </a:lnSpc>
              <a:buNone/>
            </a:pPr>
            <a:r>
              <a:rPr lang="en-US" sz="620" dirty="0">
                <a:solidFill>
                  <a:srgbClr val="9A5A60"/>
                </a:solidFill>
                <a:latin typeface="Yu Gothic" pitchFamily="34" charset="0"/>
                <a:ea typeface="Yu Gothic" pitchFamily="34" charset="-122"/>
                <a:cs typeface="Yu Gothic" pitchFamily="34" charset="-120"/>
              </a:rPr>
              <a:t>※★ノンオペレーターとして世界最大を明示し、「声がかかる存在」として訴求（PwC様レビューNo.14）。Green Copperは削除</a:t>
            </a:r>
            <a:endParaRPr lang="en-US" sz="620" dirty="0"/>
          </a:p>
        </p:txBody>
      </p:sp>
      <p:sp>
        <p:nvSpPr>
          <p:cNvPr id="193" name="t2_190"/>
          <p:cNvSpPr txBox="1"/>
          <p:nvPr/>
        </p:nvSpPr>
        <p:spPr>
          <a:xfrm>
            <a:off x="609600" y="10261600"/>
            <a:ext cx="149320" cy="117348"/>
          </a:xfrm>
          <a:prstGeom prst="rect">
            <a:avLst/>
          </a:prstGeom>
          <a:noFill/>
          <a:ln/>
        </p:spPr>
        <p:txBody>
          <a:bodyPr wrap="none" lIns="0" tIns="0" rIns="0" bIns="0" rtlCol="0" anchor="t"/>
          <a:lstStyle/>
          <a:p>
            <a:pPr algn="l" indent="0" marL="0">
              <a:lnSpc>
                <a:spcPts val="858"/>
              </a:lnSpc>
              <a:buNone/>
            </a:pPr>
            <a:r>
              <a:rPr lang="en-US" sz="660" spc="140" kern="0" dirty="0">
                <a:solidFill>
                  <a:srgbClr val="999999"/>
                </a:solidFill>
                <a:latin typeface="Yu Gothic" pitchFamily="34" charset="0"/>
                <a:ea typeface="Yu Gothic" pitchFamily="34" charset="-122"/>
                <a:cs typeface="Yu Gothic" pitchFamily="34" charset="-120"/>
              </a:rPr>
              <a:t>06</a:t>
            </a:r>
            <a:endParaRPr lang="en-US" sz="660" dirty="0"/>
          </a:p>
        </p:txBody>
      </p:sp>
      <p:sp>
        <p:nvSpPr>
          <p:cNvPr id="194" name="t2_191"/>
          <p:cNvSpPr txBox="1"/>
          <p:nvPr/>
        </p:nvSpPr>
        <p:spPr>
          <a:xfrm>
            <a:off x="14262100" y="10261600"/>
            <a:ext cx="149320" cy="117348"/>
          </a:xfrm>
          <a:prstGeom prst="rect">
            <a:avLst/>
          </a:prstGeom>
          <a:noFill/>
          <a:ln/>
        </p:spPr>
        <p:txBody>
          <a:bodyPr wrap="none" lIns="0" tIns="0" rIns="0" bIns="0" rtlCol="0" anchor="t"/>
          <a:lstStyle/>
          <a:p>
            <a:pPr algn="l" indent="0" marL="0">
              <a:lnSpc>
                <a:spcPts val="858"/>
              </a:lnSpc>
              <a:buNone/>
            </a:pPr>
            <a:r>
              <a:rPr lang="en-US" sz="660" spc="140" kern="0" dirty="0">
                <a:solidFill>
                  <a:srgbClr val="999999"/>
                </a:solidFill>
                <a:latin typeface="Yu Gothic" pitchFamily="34" charset="0"/>
                <a:ea typeface="Yu Gothic" pitchFamily="34" charset="-122"/>
                <a:cs typeface="Yu Gothic" pitchFamily="34" charset="-120"/>
              </a:rPr>
              <a:t>07</a:t>
            </a:r>
            <a:endParaRPr lang="en-US" sz="660" dirty="0"/>
          </a:p>
        </p:txBody>
      </p:sp>
      <p:sp>
        <p:nvSpPr>
          <p:cNvPr id="195" name="t2_192"/>
          <p:cNvSpPr txBox="1"/>
          <p:nvPr/>
        </p:nvSpPr>
        <p:spPr>
          <a:xfrm>
            <a:off x="3810000" y="10261600"/>
            <a:ext cx="4690864" cy="152400"/>
          </a:xfrm>
          <a:prstGeom prst="rect">
            <a:avLst/>
          </a:prstGeom>
          <a:solidFill>
            <a:srgbClr val="FFFFFF"/>
          </a:solidFill>
          <a:ln/>
        </p:spPr>
        <p:txBody>
          <a:bodyPr wrap="none" lIns="25400" tIns="38100" rIns="38100" bIns="25400" rtlCol="0" anchor="ctr"/>
          <a:lstStyle/>
          <a:p>
            <a:pPr algn="l" indent="0" marL="0">
              <a:buNone/>
            </a:pPr>
            <a:r>
              <a:rPr lang="en-US" sz="660" spc="50" kern="0" dirty="0">
                <a:solidFill>
                  <a:srgbClr val="999999"/>
                </a:solidFill>
                <a:latin typeface="Yu Gothic" pitchFamily="34" charset="0"/>
                <a:ea typeface="Yu Gothic" pitchFamily="34" charset="-122"/>
                <a:cs typeface="Yu Gothic" pitchFamily="34" charset="-120"/>
              </a:rPr>
              <a:t>台割 完成版（構成確認用・PwC様レビュー10/2反映）— 青ラベル＝改善点／本文は日本語字数、英語語数は目安</a:t>
            </a:r>
            <a:endParaRPr lang="en-US" sz="660" dirty="0"/>
          </a:p>
        </p:txBody>
      </p:sp>
      <p:sp>
        <p:nvSpPr>
          <p:cNvPr id="196" name="Shape 190"/>
          <p:cNvSpPr/>
          <p:nvPr/>
        </p:nvSpPr>
        <p:spPr>
          <a:xfrm>
            <a:off x="7556500" y="0"/>
            <a:ext cx="0" cy="10693400"/>
          </a:xfrm>
          <a:prstGeom prst="line">
            <a:avLst/>
          </a:prstGeom>
          <a:noFill/>
          <a:ln w="9525">
            <a:solidFill>
              <a:srgbClr val="D5D8DB"/>
            </a:solidFill>
            <a:prstDash val="dash"/>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609600" y="2159000"/>
            <a:ext cx="6337300" cy="2540000"/>
          </a:xfrm>
          <a:prstGeom prst="rect">
            <a:avLst/>
          </a:prstGeom>
        </p:spPr>
      </p:pic>
      <p:sp>
        <p:nvSpPr>
          <p:cNvPr id="4" name="t3_1"/>
          <p:cNvSpPr txBox="1"/>
          <p:nvPr/>
        </p:nvSpPr>
        <p:spPr>
          <a:xfrm>
            <a:off x="609600" y="431800"/>
            <a:ext cx="1666589" cy="139700"/>
          </a:xfrm>
          <a:prstGeom prst="rect">
            <a:avLst/>
          </a:prstGeom>
          <a:noFill/>
          <a:ln/>
        </p:spPr>
        <p:txBody>
          <a:bodyPr wrap="none" lIns="0" tIns="0" rIns="0" bIns="0" rtlCol="0" anchor="t"/>
          <a:lstStyle/>
          <a:p>
            <a:pPr algn="l" indent="0" marL="0">
              <a:lnSpc>
                <a:spcPts val="962"/>
              </a:lnSpc>
              <a:buNone/>
            </a:pPr>
            <a:r>
              <a:rPr lang="en-US" sz="740" spc="120" kern="0" dirty="0">
                <a:solidFill>
                  <a:srgbClr val="555555"/>
                </a:solidFill>
                <a:latin typeface="Yu Gothic" pitchFamily="34" charset="0"/>
                <a:ea typeface="Yu Gothic" pitchFamily="34" charset="-122"/>
                <a:cs typeface="Yu Gothic" pitchFamily="34" charset="-120"/>
              </a:rPr>
              <a:t>第2章　HOW/WHAT｜独自価値</a:t>
            </a:r>
            <a:endParaRPr lang="en-US" sz="740" dirty="0"/>
          </a:p>
        </p:txBody>
      </p:sp>
      <p:sp>
        <p:nvSpPr>
          <p:cNvPr id="5" name="t3_2"/>
          <p:cNvSpPr txBox="1"/>
          <p:nvPr/>
        </p:nvSpPr>
        <p:spPr>
          <a:xfrm>
            <a:off x="6070600" y="406400"/>
            <a:ext cx="1014016" cy="177800"/>
          </a:xfrm>
          <a:prstGeom prst="roundRect">
            <a:avLst>
              <a:gd name="adj" fmla="val 257143"/>
            </a:avLst>
          </a:prstGeom>
          <a:noFill/>
          <a:ln w="12700">
            <a:solidFill>
              <a:srgbClr val="AAAAAA"/>
            </a:solidFill>
            <a:prstDash val="solid"/>
          </a:ln>
        </p:spPr>
        <p:txBody>
          <a:bodyPr wrap="square" lIns="25400" tIns="38100" rIns="38100" bIns="25400" rtlCol="0" anchor="t"/>
          <a:lstStyle/>
          <a:p>
            <a:pPr algn="l" indent="0" marL="0">
              <a:lnSpc>
                <a:spcPts val="858"/>
              </a:lnSpc>
              <a:buNone/>
            </a:pPr>
            <a:r>
              <a:rPr lang="en-US" sz="660" spc="50" kern="0" dirty="0">
                <a:solidFill>
                  <a:srgbClr val="777777"/>
                </a:solidFill>
                <a:latin typeface="Yu Gothic" pitchFamily="34" charset="0"/>
                <a:ea typeface="Yu Gothic" pitchFamily="34" charset="-122"/>
                <a:cs typeface="Yu Gothic" pitchFamily="34" charset="-120"/>
              </a:rPr>
              <a:t>読み手の心理：納得</a:t>
            </a:r>
            <a:endParaRPr lang="en-US" sz="660" dirty="0"/>
          </a:p>
        </p:txBody>
      </p:sp>
      <p:sp>
        <p:nvSpPr>
          <p:cNvPr id="6" name="t3_3"/>
          <p:cNvSpPr txBox="1"/>
          <p:nvPr/>
        </p:nvSpPr>
        <p:spPr>
          <a:xfrm>
            <a:off x="609600" y="762000"/>
            <a:ext cx="6352540" cy="320040"/>
          </a:xfrm>
          <a:prstGeom prst="rect">
            <a:avLst/>
          </a:prstGeom>
          <a:noFill/>
          <a:ln/>
        </p:spPr>
        <p:txBody>
          <a:bodyPr wrap="none" lIns="0" tIns="0" rIns="0" bIns="0" rtlCol="0" anchor="t"/>
          <a:lstStyle/>
          <a:p>
            <a:pPr algn="l" indent="0" marL="0">
              <a:lnSpc>
                <a:spcPts val="2520"/>
              </a:lnSpc>
              <a:buNone/>
            </a:pPr>
            <a:r>
              <a:rPr lang="en-US" sz="1800" spc="80" kern="0" dirty="0">
                <a:solidFill>
                  <a:srgbClr val="222222"/>
                </a:solidFill>
                <a:latin typeface="Yu Gothic" pitchFamily="34" charset="0"/>
                <a:ea typeface="Yu Gothic" pitchFamily="34" charset="-122"/>
                <a:cs typeface="Yu Gothic" pitchFamily="34" charset="-120"/>
              </a:rPr>
              <a:t>トレーディング事業</a:t>
            </a:r>
            <a:endParaRPr lang="en-US" sz="1800" dirty="0"/>
          </a:p>
        </p:txBody>
      </p:sp>
      <p:sp>
        <p:nvSpPr>
          <p:cNvPr id="7" name="t3_4"/>
          <p:cNvSpPr txBox="1"/>
          <p:nvPr/>
        </p:nvSpPr>
        <p:spPr>
          <a:xfrm>
            <a:off x="609600" y="1117600"/>
            <a:ext cx="6352540" cy="196850"/>
          </a:xfrm>
          <a:prstGeom prst="rect">
            <a:avLst/>
          </a:prstGeom>
          <a:noFill/>
          <a:ln/>
        </p:spPr>
        <p:txBody>
          <a:bodyPr wrap="none" lIns="0" tIns="0" rIns="0" bIns="0" rtlCol="0" anchor="t"/>
          <a:lstStyle/>
          <a:p>
            <a:pPr algn="l" indent="0" marL="0">
              <a:lnSpc>
                <a:spcPts val="1550"/>
              </a:lnSpc>
              <a:buNone/>
            </a:pPr>
            <a:r>
              <a:rPr lang="en-US" sz="1000" spc="30" kern="0" dirty="0">
                <a:solidFill>
                  <a:srgbClr val="444444"/>
                </a:solidFill>
                <a:latin typeface="Yu Gothic" pitchFamily="34" charset="0"/>
                <a:ea typeface="Yu Gothic" pitchFamily="34" charset="-122"/>
                <a:cs typeface="Yu Gothic" pitchFamily="34" charset="-120"/>
              </a:rPr>
              <a:t>15業界×50カ国×約1,000社の販売網で、市場をつなぐ</a:t>
            </a:r>
            <a:endParaRPr lang="en-US" sz="1000" dirty="0"/>
          </a:p>
        </p:txBody>
      </p:sp>
      <p:sp>
        <p:nvSpPr>
          <p:cNvPr id="8" name="t3_5"/>
          <p:cNvSpPr txBox="1"/>
          <p:nvPr/>
        </p:nvSpPr>
        <p:spPr>
          <a:xfrm>
            <a:off x="609600" y="1346200"/>
            <a:ext cx="3314700" cy="337820"/>
          </a:xfrm>
          <a:prstGeom prst="rect">
            <a:avLst/>
          </a:prstGeom>
          <a:noFill/>
          <a:ln/>
        </p:spPr>
        <p:txBody>
          <a:bodyPr wrap="none" lIns="0" tIns="0" rIns="0" bIns="0" rtlCol="0" anchor="t"/>
          <a:lstStyle/>
          <a:p>
            <a:pPr algn="l" indent="0" marL="0">
              <a:lnSpc>
                <a:spcPts val="2090"/>
              </a:lnSpc>
              <a:buNone/>
            </a:pPr>
            <a:r>
              <a:rPr lang="en-US" sz="1900" dirty="0">
                <a:solidFill>
                  <a:srgbClr val="222222"/>
                </a:solidFill>
                <a:latin typeface="Yu Gothic" pitchFamily="34" charset="0"/>
                <a:ea typeface="Yu Gothic" pitchFamily="34" charset="-122"/>
                <a:cs typeface="Yu Gothic" pitchFamily="34" charset="-120"/>
              </a:rPr>
              <a:t>15</a:t>
            </a:r>
            <a:pPr algn="l" indent="0" marL="0">
              <a:lnSpc>
                <a:spcPts val="2090"/>
              </a:lnSpc>
              <a:buNone/>
            </a:pPr>
            <a:r>
              <a:rPr lang="en-US" sz="800" dirty="0">
                <a:solidFill>
                  <a:srgbClr val="222222"/>
                </a:solidFill>
                <a:latin typeface="Yu Gothic" pitchFamily="34" charset="0"/>
                <a:ea typeface="Yu Gothic" pitchFamily="34" charset="-122"/>
                <a:cs typeface="Yu Gothic" pitchFamily="34" charset="-120"/>
              </a:rPr>
              <a:t>業界</a:t>
            </a:r>
            <a:pPr algn="l" indent="0" marL="0">
              <a:lnSpc>
                <a:spcPts val="2090"/>
              </a:lnSpc>
              <a:buNone/>
            </a:pPr>
            <a:r>
              <a:rPr lang="en-US" sz="1900" dirty="0">
                <a:solidFill>
                  <a:srgbClr val="222222"/>
                </a:solidFill>
                <a:latin typeface="Yu Gothic" pitchFamily="34" charset="0"/>
                <a:ea typeface="Yu Gothic" pitchFamily="34" charset="-122"/>
                <a:cs typeface="Yu Gothic" pitchFamily="34" charset="-120"/>
              </a:rPr>
              <a:t> × 50</a:t>
            </a:r>
            <a:pPr algn="l" indent="0" marL="0">
              <a:lnSpc>
                <a:spcPts val="2090"/>
              </a:lnSpc>
              <a:buNone/>
            </a:pPr>
            <a:r>
              <a:rPr lang="en-US" sz="800" dirty="0">
                <a:solidFill>
                  <a:srgbClr val="222222"/>
                </a:solidFill>
                <a:latin typeface="Yu Gothic" pitchFamily="34" charset="0"/>
                <a:ea typeface="Yu Gothic" pitchFamily="34" charset="-122"/>
                <a:cs typeface="Yu Gothic" pitchFamily="34" charset="-120"/>
              </a:rPr>
              <a:t>カ国</a:t>
            </a:r>
            <a:pPr algn="l" indent="0" marL="0">
              <a:lnSpc>
                <a:spcPts val="2090"/>
              </a:lnSpc>
              <a:buNone/>
            </a:pPr>
            <a:r>
              <a:rPr lang="en-US" sz="1900" dirty="0">
                <a:solidFill>
                  <a:srgbClr val="222222"/>
                </a:solidFill>
                <a:latin typeface="Yu Gothic" pitchFamily="34" charset="0"/>
                <a:ea typeface="Yu Gothic" pitchFamily="34" charset="-122"/>
                <a:cs typeface="Yu Gothic" pitchFamily="34" charset="-120"/>
              </a:rPr>
              <a:t> × 約1,000</a:t>
            </a:r>
            <a:pPr algn="l" indent="0" marL="0">
              <a:lnSpc>
                <a:spcPts val="2090"/>
              </a:lnSpc>
              <a:buNone/>
            </a:pPr>
            <a:r>
              <a:rPr lang="en-US" sz="800" dirty="0">
                <a:solidFill>
                  <a:srgbClr val="222222"/>
                </a:solidFill>
                <a:latin typeface="Yu Gothic" pitchFamily="34" charset="0"/>
                <a:ea typeface="Yu Gothic" pitchFamily="34" charset="-122"/>
                <a:cs typeface="Yu Gothic" pitchFamily="34" charset="-120"/>
              </a:rPr>
              <a:t>社</a:t>
            </a:r>
            <a:endParaRPr lang="en-US" sz="1900" dirty="0"/>
          </a:p>
        </p:txBody>
      </p:sp>
      <p:sp>
        <p:nvSpPr>
          <p:cNvPr id="9" name="t3_6"/>
          <p:cNvSpPr txBox="1"/>
          <p:nvPr/>
        </p:nvSpPr>
        <p:spPr>
          <a:xfrm>
            <a:off x="3937000" y="1371600"/>
            <a:ext cx="1611900" cy="142240"/>
          </a:xfrm>
          <a:prstGeom prst="rect">
            <a:avLst/>
          </a:prstGeom>
          <a:noFill/>
          <a:ln/>
        </p:spPr>
        <p:txBody>
          <a:bodyPr wrap="none" lIns="0" tIns="0" rIns="0" bIns="0" rtlCol="0" anchor="t"/>
          <a:lstStyle/>
          <a:p>
            <a:pPr algn="l" indent="0" marL="0">
              <a:lnSpc>
                <a:spcPts val="1040"/>
              </a:lnSpc>
              <a:buNone/>
            </a:pPr>
            <a:r>
              <a:rPr lang="en-US" sz="800" dirty="0">
                <a:solidFill>
                  <a:srgbClr val="222222"/>
                </a:solidFill>
                <a:latin typeface="Yu Gothic" pitchFamily="34" charset="0"/>
                <a:ea typeface="Yu Gothic" pitchFamily="34" charset="-122"/>
                <a:cs typeface="Yu Gothic" pitchFamily="34" charset="-120"/>
              </a:rPr>
              <a:t>グローバルネットワーク　10拠点</a:t>
            </a:r>
            <a:endParaRPr lang="en-US" sz="800" dirty="0"/>
          </a:p>
        </p:txBody>
      </p:sp>
      <p:sp>
        <p:nvSpPr>
          <p:cNvPr id="10" name="t3_7"/>
          <p:cNvSpPr txBox="1"/>
          <p:nvPr/>
        </p:nvSpPr>
        <p:spPr>
          <a:xfrm>
            <a:off x="3937000" y="1524000"/>
            <a:ext cx="3142996" cy="235744"/>
          </a:xfrm>
          <a:prstGeom prst="rect">
            <a:avLst/>
          </a:prstGeom>
          <a:noFill/>
          <a:ln/>
        </p:spPr>
        <p:txBody>
          <a:bodyPr wrap="square" lIns="0" tIns="0" rIns="0" bIns="0" rtlCol="0" anchor="t"/>
          <a:lstStyle/>
          <a:p>
            <a:pPr algn="l" indent="0" marL="0">
              <a:lnSpc>
                <a:spcPts val="928"/>
              </a:lnSpc>
              <a:buNone/>
            </a:pPr>
            <a:r>
              <a:rPr lang="en-US" sz="640" dirty="0">
                <a:solidFill>
                  <a:srgbClr val="555555"/>
                </a:solidFill>
                <a:latin typeface="Yu Gothic" pitchFamily="34" charset="0"/>
                <a:ea typeface="Yu Gothic" pitchFamily="34" charset="-122"/>
                <a:cs typeface="Yu Gothic" pitchFamily="34" charset="-120"/>
              </a:rPr>
              <a:t>シンガポール・日本・インド・中国・米国・英国・UAE・インドネシア・タイ・チリ</a:t>
            </a:r>
            <a:endParaRPr lang="en-US" sz="640" dirty="0"/>
          </a:p>
        </p:txBody>
      </p:sp>
      <p:sp>
        <p:nvSpPr>
          <p:cNvPr id="11" name="t3_8"/>
          <p:cNvSpPr txBox="1"/>
          <p:nvPr/>
        </p:nvSpPr>
        <p:spPr>
          <a:xfrm>
            <a:off x="609600" y="1778000"/>
            <a:ext cx="6603492" cy="173236"/>
          </a:xfrm>
          <a:prstGeom prst="rect">
            <a:avLst/>
          </a:prstGeom>
          <a:noFill/>
          <a:ln/>
        </p:spPr>
        <p:txBody>
          <a:bodyPr wrap="none" lIns="0" tIns="0" rIns="0" bIns="0" rtlCol="0" anchor="t"/>
          <a:lstStyle/>
          <a:p>
            <a:pPr algn="l" indent="0" marL="0">
              <a:lnSpc>
                <a:spcPts val="1365"/>
              </a:lnSpc>
              <a:buNone/>
            </a:pPr>
            <a:r>
              <a:rPr lang="en-US" sz="7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ＸＸＸＸＸＸＸＸＸＸＸＸＸＸＸＸＸＸＸＸＸＸＸＸＸＸＸＸＸＸＸＸＸＸＸＸＸＸＸＸＸＸＸＸＸＸＸＸＸＸＸＸＸＸＸＸＸＸＸＸ</a:t>
            </a:r>
            <a:endParaRPr lang="en-US" sz="780" dirty="0"/>
          </a:p>
        </p:txBody>
      </p:sp>
      <p:sp>
        <p:nvSpPr>
          <p:cNvPr id="12" name="t3_9"/>
          <p:cNvSpPr txBox="1"/>
          <p:nvPr/>
        </p:nvSpPr>
        <p:spPr>
          <a:xfrm>
            <a:off x="609600" y="1963936"/>
            <a:ext cx="938292" cy="114300"/>
          </a:xfrm>
          <a:prstGeom prst="rect">
            <a:avLst/>
          </a:prstGeom>
          <a:noFill/>
          <a:ln/>
        </p:spPr>
        <p:txBody>
          <a:bodyPr wrap="none" lIns="0" tIns="0" rIns="0" bIns="0" rtlCol="0" anchor="t"/>
          <a:lstStyle/>
          <a:p>
            <a:pPr algn="l" indent="0" marL="0">
              <a:lnSpc>
                <a:spcPts val="754"/>
              </a:lnSpc>
              <a:buNone/>
            </a:pPr>
            <a:r>
              <a:rPr lang="en-US" sz="580" spc="30" kern="0" dirty="0">
                <a:solidFill>
                  <a:srgbClr val="B0B4B8"/>
                </a:solidFill>
                <a:latin typeface="Yu Gothic" pitchFamily="34" charset="0"/>
                <a:ea typeface="Yu Gothic" pitchFamily="34" charset="-122"/>
                <a:cs typeface="Yu Gothic" pitchFamily="34" charset="-120"/>
              </a:rPr>
              <a:t>▸本文 60字／英語 約33語</a:t>
            </a:r>
            <a:endParaRPr lang="en-US" sz="580" dirty="0"/>
          </a:p>
        </p:txBody>
      </p:sp>
      <p:sp>
        <p:nvSpPr>
          <p:cNvPr id="13" name="t3_10"/>
          <p:cNvSpPr txBox="1"/>
          <p:nvPr/>
        </p:nvSpPr>
        <p:spPr>
          <a:xfrm>
            <a:off x="609600" y="2159000"/>
            <a:ext cx="1506030" cy="165100"/>
          </a:xfrm>
          <a:prstGeom prst="rect">
            <a:avLst/>
          </a:prstGeom>
          <a:noFill/>
          <a:ln/>
        </p:spPr>
        <p:txBody>
          <a:bodyPr wrap="none" lIns="0" tIns="0" rIns="0" bIns="0" rtlCol="0" anchor="t"/>
          <a:lstStyle/>
          <a:p>
            <a:pPr algn="l" indent="0" marL="0">
              <a:lnSpc>
                <a:spcPts val="1170"/>
              </a:lnSpc>
              <a:buNone/>
            </a:pPr>
            <a:r>
              <a:rPr lang="en-US" sz="900" dirty="0">
                <a:solidFill>
                  <a:srgbClr val="222222"/>
                </a:solidFill>
                <a:latin typeface="Yu Gothic" pitchFamily="34" charset="0"/>
                <a:ea typeface="Yu Gothic" pitchFamily="34" charset="-122"/>
                <a:cs typeface="Yu Gothic" pitchFamily="34" charset="-120"/>
              </a:rPr>
              <a:t>RtM ＝ Resource to Market</a:t>
            </a:r>
            <a:endParaRPr lang="en-US" sz="900" dirty="0"/>
          </a:p>
        </p:txBody>
      </p:sp>
      <p:sp>
        <p:nvSpPr>
          <p:cNvPr id="14" name="t3_11"/>
          <p:cNvSpPr txBox="1"/>
          <p:nvPr/>
        </p:nvSpPr>
        <p:spPr>
          <a:xfrm>
            <a:off x="2514600" y="2184400"/>
            <a:ext cx="2057876" cy="117872"/>
          </a:xfrm>
          <a:prstGeom prst="rect">
            <a:avLst/>
          </a:prstGeom>
          <a:noFill/>
          <a:ln/>
        </p:spPr>
        <p:txBody>
          <a:bodyPr wrap="none" lIns="0" tIns="0" rIns="0" bIns="0" rtlCol="0" anchor="t"/>
          <a:lstStyle/>
          <a:p>
            <a:pPr algn="l" indent="0" marL="0">
              <a:lnSpc>
                <a:spcPts val="928"/>
              </a:lnSpc>
              <a:buNone/>
            </a:pPr>
            <a:r>
              <a:rPr lang="en-US" sz="640" dirty="0">
                <a:solidFill>
                  <a:srgbClr val="555555"/>
                </a:solidFill>
                <a:latin typeface="Yu Gothic" pitchFamily="34" charset="0"/>
                <a:ea typeface="Yu Gothic" pitchFamily="34" charset="-122"/>
                <a:cs typeface="Yu Gothic" pitchFamily="34" charset="-120"/>
              </a:rPr>
              <a:t>調達（左）と販売（右）をシンガポールのRtMIが結ぶ</a:t>
            </a:r>
            <a:endParaRPr lang="en-US" sz="640" dirty="0"/>
          </a:p>
        </p:txBody>
      </p:sp>
      <p:sp>
        <p:nvSpPr>
          <p:cNvPr id="15" name="t3_12"/>
          <p:cNvSpPr txBox="1"/>
          <p:nvPr/>
        </p:nvSpPr>
        <p:spPr>
          <a:xfrm>
            <a:off x="3213100" y="3149600"/>
            <a:ext cx="1143000" cy="558800"/>
          </a:xfrm>
          <a:prstGeom prst="roundRect">
            <a:avLst>
              <a:gd name="adj" fmla="val 81818"/>
            </a:avLst>
          </a:prstGeom>
          <a:noFill/>
          <a:ln w="12700">
            <a:solidFill>
              <a:srgbClr val="3C4045"/>
            </a:solidFill>
            <a:prstDash val="solid"/>
          </a:ln>
        </p:spPr>
        <p:txBody>
          <a:bodyPr wrap="square" lIns="25400" tIns="38100" rIns="38100" bIns="25400" rtlCol="0" anchor="ctr"/>
          <a:lstStyle/>
          <a:p>
            <a:pPr algn="ctr" indent="0" marL="0">
              <a:lnSpc>
                <a:spcPts val="999"/>
              </a:lnSpc>
              <a:buNone/>
            </a:pPr>
            <a:r>
              <a:rPr lang="en-US" sz="900" b="1" dirty="0">
                <a:solidFill>
                  <a:srgbClr val="222222"/>
                </a:solidFill>
                <a:latin typeface="Yu Gothic" pitchFamily="34" charset="0"/>
                <a:ea typeface="Yu Gothic" pitchFamily="34" charset="-122"/>
                <a:cs typeface="Yu Gothic" pitchFamily="34" charset="-120"/>
              </a:rPr>
              <a:t>RtMI</a:t>
            </a:r>
            <a:endParaRPr lang="en-US" sz="900" dirty="0"/>
          </a:p>
          <a:p>
            <a:pPr algn="ctr" indent="0" marL="0">
              <a:lnSpc>
                <a:spcPts val="999"/>
              </a:lnSpc>
              <a:buNone/>
            </a:pPr>
            <a:r>
              <a:rPr lang="en-US" sz="580" dirty="0">
                <a:solidFill>
                  <a:srgbClr val="222222"/>
                </a:solidFill>
                <a:latin typeface="Yu Gothic" pitchFamily="34" charset="0"/>
                <a:ea typeface="Yu Gothic" pitchFamily="34" charset="-122"/>
                <a:cs typeface="Yu Gothic" pitchFamily="34" charset="-120"/>
              </a:rPr>
              <a:t>シンガポール</a:t>
            </a:r>
            <a:endParaRPr lang="en-US" sz="900" dirty="0"/>
          </a:p>
        </p:txBody>
      </p:sp>
      <p:sp>
        <p:nvSpPr>
          <p:cNvPr id="16" name="t3_13"/>
          <p:cNvSpPr txBox="1"/>
          <p:nvPr/>
        </p:nvSpPr>
        <p:spPr>
          <a:xfrm>
            <a:off x="609600" y="2438400"/>
            <a:ext cx="1397000" cy="381000"/>
          </a:xfrm>
          <a:prstGeom prst="rect">
            <a:avLst/>
          </a:prstGeom>
          <a:solidFill>
            <a:srgbClr val="F1F2F4"/>
          </a:solid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投資先</a:t>
            </a:r>
            <a:endParaRPr lang="en-US" sz="740" dirty="0"/>
          </a:p>
          <a:p>
            <a:pPr algn="ctr" indent="0" marL="0">
              <a:lnSpc>
                <a:spcPts val="999"/>
              </a:lnSpc>
              <a:buNone/>
            </a:pPr>
            <a:r>
              <a:rPr lang="en-US" sz="560" dirty="0">
                <a:solidFill>
                  <a:srgbClr val="666666"/>
                </a:solidFill>
                <a:latin typeface="Yu Gothic" pitchFamily="34" charset="0"/>
                <a:ea typeface="Yu Gothic" pitchFamily="34" charset="-122"/>
                <a:cs typeface="Yu Gothic" pitchFamily="34" charset="-120"/>
              </a:rPr>
              <a:t>鉄鉱石・貴金属・ニッケル・リチウム</a:t>
            </a:r>
            <a:endParaRPr lang="en-US" sz="740" dirty="0"/>
          </a:p>
        </p:txBody>
      </p:sp>
      <p:sp>
        <p:nvSpPr>
          <p:cNvPr id="17" name="t3_14"/>
          <p:cNvSpPr txBox="1"/>
          <p:nvPr/>
        </p:nvSpPr>
        <p:spPr>
          <a:xfrm>
            <a:off x="609600" y="2946400"/>
            <a:ext cx="1397000" cy="381000"/>
          </a:xfrm>
          <a:prstGeom prst="rect">
            <a:avLst/>
          </a:prstGeom>
          <a:solidFill>
            <a:srgbClr val="F1F2F4"/>
          </a:solid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投資先</a:t>
            </a:r>
            <a:endParaRPr lang="en-US" sz="740" dirty="0"/>
          </a:p>
          <a:p>
            <a:pPr algn="ctr" indent="0" marL="0">
              <a:lnSpc>
                <a:spcPts val="999"/>
              </a:lnSpc>
              <a:buNone/>
            </a:pPr>
            <a:r>
              <a:rPr lang="en-US" sz="560" dirty="0">
                <a:solidFill>
                  <a:srgbClr val="666666"/>
                </a:solidFill>
                <a:latin typeface="Yu Gothic" pitchFamily="34" charset="0"/>
                <a:ea typeface="Yu Gothic" pitchFamily="34" charset="-122"/>
                <a:cs typeface="Yu Gothic" pitchFamily="34" charset="-120"/>
              </a:rPr>
              <a:t>鉄鉱石・銅</a:t>
            </a:r>
            <a:endParaRPr lang="en-US" sz="740" dirty="0"/>
          </a:p>
        </p:txBody>
      </p:sp>
      <p:sp>
        <p:nvSpPr>
          <p:cNvPr id="18" name="t3_15"/>
          <p:cNvSpPr txBox="1"/>
          <p:nvPr/>
        </p:nvSpPr>
        <p:spPr>
          <a:xfrm>
            <a:off x="609600" y="3454400"/>
            <a:ext cx="1397000" cy="381000"/>
          </a:xfrm>
          <a:prstGeom prst="rect">
            <a:avLst/>
          </a:prstGeom>
          <a:solidFill>
            <a:srgbClr val="F1F2F4"/>
          </a:solid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他サプライヤー</a:t>
            </a:r>
            <a:endParaRPr lang="en-US" sz="740" dirty="0"/>
          </a:p>
          <a:p>
            <a:pPr algn="ctr" indent="0" marL="0">
              <a:lnSpc>
                <a:spcPts val="999"/>
              </a:lnSpc>
              <a:buNone/>
            </a:pPr>
            <a:r>
              <a:rPr lang="en-US" sz="560" dirty="0">
                <a:solidFill>
                  <a:srgbClr val="666666"/>
                </a:solidFill>
                <a:latin typeface="Yu Gothic" pitchFamily="34" charset="0"/>
                <a:ea typeface="Yu Gothic" pitchFamily="34" charset="-122"/>
                <a:cs typeface="Yu Gothic" pitchFamily="34" charset="-120"/>
              </a:rPr>
              <a:t>一般炭・鉄鉱石・銅・貴金属</a:t>
            </a:r>
            <a:endParaRPr lang="en-US" sz="740" dirty="0"/>
          </a:p>
        </p:txBody>
      </p:sp>
      <p:sp>
        <p:nvSpPr>
          <p:cNvPr id="19" name="t3_16"/>
          <p:cNvSpPr txBox="1"/>
          <p:nvPr/>
        </p:nvSpPr>
        <p:spPr>
          <a:xfrm>
            <a:off x="609600" y="3962400"/>
            <a:ext cx="1397000" cy="381000"/>
          </a:xfrm>
          <a:prstGeom prst="rect">
            <a:avLst/>
          </a:prstGeom>
          <a:solidFill>
            <a:srgbClr val="F1F2F4"/>
          </a:solid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他サプライヤー</a:t>
            </a:r>
            <a:endParaRPr lang="en-US" sz="740" dirty="0"/>
          </a:p>
          <a:p>
            <a:pPr algn="ctr" indent="0" marL="0">
              <a:lnSpc>
                <a:spcPts val="999"/>
              </a:lnSpc>
              <a:buNone/>
            </a:pPr>
            <a:r>
              <a:rPr lang="en-US" sz="560" dirty="0">
                <a:solidFill>
                  <a:srgbClr val="666666"/>
                </a:solidFill>
                <a:latin typeface="Yu Gothic" pitchFamily="34" charset="0"/>
                <a:ea typeface="Yu Gothic" pitchFamily="34" charset="-122"/>
                <a:cs typeface="Yu Gothic" pitchFamily="34" charset="-120"/>
              </a:rPr>
              <a:t>アルミ・貴金属</a:t>
            </a:r>
            <a:endParaRPr lang="en-US" sz="740" dirty="0"/>
          </a:p>
        </p:txBody>
      </p:sp>
      <p:sp>
        <p:nvSpPr>
          <p:cNvPr id="20" name="t3_17"/>
          <p:cNvSpPr txBox="1"/>
          <p:nvPr/>
        </p:nvSpPr>
        <p:spPr>
          <a:xfrm>
            <a:off x="5588000" y="2387600"/>
            <a:ext cx="1358900" cy="2794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RtME</a:t>
            </a:r>
            <a:endParaRPr lang="en-US" sz="740" dirty="0"/>
          </a:p>
          <a:p>
            <a:pPr algn="ctr" indent="0" marL="0">
              <a:lnSpc>
                <a:spcPts val="999"/>
              </a:lnSpc>
              <a:buNone/>
            </a:pPr>
            <a:r>
              <a:rPr lang="en-US" sz="560" dirty="0">
                <a:solidFill>
                  <a:srgbClr val="666666"/>
                </a:solidFill>
                <a:latin typeface="Yu Gothic" pitchFamily="34" charset="0"/>
                <a:ea typeface="Yu Gothic" pitchFamily="34" charset="-122"/>
                <a:cs typeface="Yu Gothic" pitchFamily="34" charset="-120"/>
              </a:rPr>
              <a:t>欧州市場</a:t>
            </a:r>
            <a:endParaRPr lang="en-US" sz="740" dirty="0"/>
          </a:p>
        </p:txBody>
      </p:sp>
      <p:sp>
        <p:nvSpPr>
          <p:cNvPr id="21" name="t3_18"/>
          <p:cNvSpPr txBox="1"/>
          <p:nvPr/>
        </p:nvSpPr>
        <p:spPr>
          <a:xfrm>
            <a:off x="5588000" y="2743200"/>
            <a:ext cx="1358900" cy="2794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RtMB</a:t>
            </a:r>
            <a:endParaRPr lang="en-US" sz="740" dirty="0"/>
          </a:p>
          <a:p>
            <a:pPr algn="ctr" indent="0" marL="0">
              <a:lnSpc>
                <a:spcPts val="999"/>
              </a:lnSpc>
              <a:buNone/>
            </a:pPr>
            <a:r>
              <a:rPr lang="en-US" sz="560" dirty="0">
                <a:solidFill>
                  <a:srgbClr val="666666"/>
                </a:solidFill>
                <a:latin typeface="Yu Gothic" pitchFamily="34" charset="0"/>
                <a:ea typeface="Yu Gothic" pitchFamily="34" charset="-122"/>
                <a:cs typeface="Yu Gothic" pitchFamily="34" charset="-120"/>
              </a:rPr>
              <a:t>インド市場</a:t>
            </a:r>
            <a:endParaRPr lang="en-US" sz="740" dirty="0"/>
          </a:p>
        </p:txBody>
      </p:sp>
      <p:sp>
        <p:nvSpPr>
          <p:cNvPr id="22" name="t3_19"/>
          <p:cNvSpPr txBox="1"/>
          <p:nvPr/>
        </p:nvSpPr>
        <p:spPr>
          <a:xfrm>
            <a:off x="5588000" y="3098800"/>
            <a:ext cx="1358900" cy="2794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RtMJ</a:t>
            </a:r>
            <a:endParaRPr lang="en-US" sz="740" dirty="0"/>
          </a:p>
          <a:p>
            <a:pPr algn="ctr" indent="0" marL="0">
              <a:lnSpc>
                <a:spcPts val="999"/>
              </a:lnSpc>
              <a:buNone/>
            </a:pPr>
            <a:r>
              <a:rPr lang="en-US" sz="560" dirty="0">
                <a:solidFill>
                  <a:srgbClr val="666666"/>
                </a:solidFill>
                <a:latin typeface="Yu Gothic" pitchFamily="34" charset="0"/>
                <a:ea typeface="Yu Gothic" pitchFamily="34" charset="-122"/>
                <a:cs typeface="Yu Gothic" pitchFamily="34" charset="-120"/>
              </a:rPr>
              <a:t>日本市場</a:t>
            </a:r>
            <a:endParaRPr lang="en-US" sz="740" dirty="0"/>
          </a:p>
        </p:txBody>
      </p:sp>
      <p:sp>
        <p:nvSpPr>
          <p:cNvPr id="23" name="t3_20"/>
          <p:cNvSpPr txBox="1"/>
          <p:nvPr/>
        </p:nvSpPr>
        <p:spPr>
          <a:xfrm>
            <a:off x="5588000" y="3454400"/>
            <a:ext cx="1358900" cy="2794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RtMA</a:t>
            </a:r>
            <a:endParaRPr lang="en-US" sz="740" dirty="0"/>
          </a:p>
          <a:p>
            <a:pPr algn="ctr" indent="0" marL="0">
              <a:lnSpc>
                <a:spcPts val="999"/>
              </a:lnSpc>
              <a:buNone/>
            </a:pPr>
            <a:r>
              <a:rPr lang="en-US" sz="560" dirty="0">
                <a:solidFill>
                  <a:srgbClr val="666666"/>
                </a:solidFill>
                <a:latin typeface="Yu Gothic" pitchFamily="34" charset="0"/>
                <a:ea typeface="Yu Gothic" pitchFamily="34" charset="-122"/>
                <a:cs typeface="Yu Gothic" pitchFamily="34" charset="-120"/>
              </a:rPr>
              <a:t>北米市場</a:t>
            </a:r>
            <a:endParaRPr lang="en-US" sz="740" dirty="0"/>
          </a:p>
        </p:txBody>
      </p:sp>
      <p:sp>
        <p:nvSpPr>
          <p:cNvPr id="24" name="t3_21"/>
          <p:cNvSpPr txBox="1"/>
          <p:nvPr/>
        </p:nvSpPr>
        <p:spPr>
          <a:xfrm>
            <a:off x="5588000" y="3810000"/>
            <a:ext cx="1358900" cy="2794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中東・ASEAN</a:t>
            </a:r>
            <a:endParaRPr lang="en-US" sz="740" dirty="0"/>
          </a:p>
          <a:p>
            <a:pPr algn="ctr" indent="0" marL="0">
              <a:lnSpc>
                <a:spcPts val="999"/>
              </a:lnSpc>
              <a:buNone/>
            </a:pPr>
            <a:r>
              <a:rPr lang="en-US" sz="560" dirty="0">
                <a:solidFill>
                  <a:srgbClr val="666666"/>
                </a:solidFill>
                <a:latin typeface="Yu Gothic" pitchFamily="34" charset="0"/>
                <a:ea typeface="Yu Gothic" pitchFamily="34" charset="-122"/>
                <a:cs typeface="Yu Gothic" pitchFamily="34" charset="-120"/>
              </a:rPr>
              <a:t>市場</a:t>
            </a:r>
            <a:endParaRPr lang="en-US" sz="740" dirty="0"/>
          </a:p>
        </p:txBody>
      </p:sp>
      <p:sp>
        <p:nvSpPr>
          <p:cNvPr id="25" name="t3_22"/>
          <p:cNvSpPr txBox="1"/>
          <p:nvPr/>
        </p:nvSpPr>
        <p:spPr>
          <a:xfrm>
            <a:off x="5588000" y="4165600"/>
            <a:ext cx="1358900" cy="2794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中南米・ブラジル</a:t>
            </a:r>
            <a:endParaRPr lang="en-US" sz="740" dirty="0"/>
          </a:p>
          <a:p>
            <a:pPr algn="ctr" indent="0" marL="0">
              <a:lnSpc>
                <a:spcPts val="999"/>
              </a:lnSpc>
              <a:buNone/>
            </a:pPr>
            <a:r>
              <a:rPr lang="en-US" sz="560" dirty="0">
                <a:solidFill>
                  <a:srgbClr val="666666"/>
                </a:solidFill>
                <a:latin typeface="Yu Gothic" pitchFamily="34" charset="0"/>
                <a:ea typeface="Yu Gothic" pitchFamily="34" charset="-122"/>
                <a:cs typeface="Yu Gothic" pitchFamily="34" charset="-120"/>
              </a:rPr>
              <a:t>市場</a:t>
            </a:r>
            <a:endParaRPr lang="en-US" sz="740" dirty="0"/>
          </a:p>
        </p:txBody>
      </p:sp>
      <p:sp>
        <p:nvSpPr>
          <p:cNvPr id="26" name="t3_23"/>
          <p:cNvSpPr txBox="1"/>
          <p:nvPr/>
        </p:nvSpPr>
        <p:spPr>
          <a:xfrm>
            <a:off x="2032000" y="4394200"/>
            <a:ext cx="1069340" cy="117872"/>
          </a:xfrm>
          <a:prstGeom prst="rect">
            <a:avLst/>
          </a:prstGeom>
          <a:noFill/>
          <a:ln/>
        </p:spPr>
        <p:txBody>
          <a:bodyPr wrap="none" lIns="0" tIns="0" rIns="0" bIns="0" rtlCol="0" anchor="t"/>
          <a:lstStyle/>
          <a:p>
            <a:pPr algn="l" indent="0" marL="0">
              <a:lnSpc>
                <a:spcPts val="928"/>
              </a:lnSpc>
              <a:buNone/>
            </a:pPr>
            <a:r>
              <a:rPr lang="en-US" sz="640" dirty="0">
                <a:solidFill>
                  <a:srgbClr val="8A9096"/>
                </a:solidFill>
                <a:latin typeface="Yu Gothic" pitchFamily="34" charset="0"/>
                <a:ea typeface="Yu Gothic" pitchFamily="34" charset="-122"/>
                <a:cs typeface="Yu Gothic" pitchFamily="34" charset="-120"/>
              </a:rPr>
              <a:t>調達フロー</a:t>
            </a:r>
            <a:endParaRPr lang="en-US" sz="640" dirty="0"/>
          </a:p>
        </p:txBody>
      </p:sp>
      <p:sp>
        <p:nvSpPr>
          <p:cNvPr id="27" name="t3_24"/>
          <p:cNvSpPr txBox="1"/>
          <p:nvPr/>
        </p:nvSpPr>
        <p:spPr>
          <a:xfrm>
            <a:off x="4419600" y="4394200"/>
            <a:ext cx="1069340" cy="117872"/>
          </a:xfrm>
          <a:prstGeom prst="rect">
            <a:avLst/>
          </a:prstGeom>
          <a:noFill/>
          <a:ln/>
        </p:spPr>
        <p:txBody>
          <a:bodyPr wrap="none" lIns="0" tIns="0" rIns="0" bIns="0" rtlCol="0" anchor="t"/>
          <a:lstStyle/>
          <a:p>
            <a:pPr algn="l" indent="0" marL="0">
              <a:lnSpc>
                <a:spcPts val="928"/>
              </a:lnSpc>
              <a:buNone/>
            </a:pPr>
            <a:r>
              <a:rPr lang="en-US" sz="640" dirty="0">
                <a:solidFill>
                  <a:srgbClr val="555555"/>
                </a:solidFill>
                <a:latin typeface="Yu Gothic" pitchFamily="34" charset="0"/>
                <a:ea typeface="Yu Gothic" pitchFamily="34" charset="-122"/>
                <a:cs typeface="Yu Gothic" pitchFamily="34" charset="-120"/>
              </a:rPr>
              <a:t>販売フロー</a:t>
            </a:r>
            <a:endParaRPr lang="en-US" sz="640" dirty="0"/>
          </a:p>
        </p:txBody>
      </p:sp>
      <p:sp>
        <p:nvSpPr>
          <p:cNvPr id="28" name="t3_25"/>
          <p:cNvSpPr txBox="1"/>
          <p:nvPr/>
        </p:nvSpPr>
        <p:spPr>
          <a:xfrm>
            <a:off x="609600" y="4572000"/>
            <a:ext cx="6603492" cy="127000"/>
          </a:xfrm>
          <a:prstGeom prst="rect">
            <a:avLst/>
          </a:prstGeom>
          <a:noFill/>
          <a:ln/>
        </p:spPr>
        <p:txBody>
          <a:bodyPr wrap="none" lIns="0" tIns="0" rIns="0" bIns="0" rtlCol="0" anchor="t"/>
          <a:lstStyle/>
          <a:p>
            <a:pPr algn="l" indent="0" marL="0">
              <a:lnSpc>
                <a:spcPts val="858"/>
              </a:lnSpc>
              <a:buNone/>
            </a:pPr>
            <a:r>
              <a:rPr lang="en-US" sz="660" dirty="0">
                <a:solidFill>
                  <a:srgbClr val="444444"/>
                </a:solidFill>
                <a:latin typeface="Yu Gothic" pitchFamily="34" charset="0"/>
                <a:ea typeface="Yu Gothic" pitchFamily="34" charset="-122"/>
                <a:cs typeface="Yu Gothic" pitchFamily="34" charset="-120"/>
              </a:rPr>
              <a:t>取扱商品例：石炭・銅（銅精鉱／銅地金）・鉄鉱石・貴金属・リチウム・アルミ</a:t>
            </a:r>
            <a:endParaRPr lang="en-US" sz="660" dirty="0"/>
          </a:p>
        </p:txBody>
      </p:sp>
      <p:sp>
        <p:nvSpPr>
          <p:cNvPr id="29" name="t3_26"/>
          <p:cNvSpPr txBox="1"/>
          <p:nvPr/>
        </p:nvSpPr>
        <p:spPr>
          <a:xfrm>
            <a:off x="609600" y="4724400"/>
            <a:ext cx="6603492" cy="101600"/>
          </a:xfrm>
          <a:prstGeom prst="rect">
            <a:avLst/>
          </a:prstGeom>
          <a:noFill/>
          <a:ln/>
        </p:spPr>
        <p:txBody>
          <a:bodyPr wrap="none" lIns="0" tIns="0" rIns="0" bIns="0" rtlCol="0" anchor="t"/>
          <a:lstStyle/>
          <a:p>
            <a:pPr algn="l" indent="0" marL="0">
              <a:lnSpc>
                <a:spcPts val="728"/>
              </a:lnSpc>
              <a:buNone/>
            </a:pPr>
            <a:r>
              <a:rPr lang="en-US" sz="560" dirty="0">
                <a:solidFill>
                  <a:srgbClr val="888888"/>
                </a:solidFill>
                <a:latin typeface="Yu Gothic" pitchFamily="34" charset="0"/>
                <a:ea typeface="Yu Gothic" pitchFamily="34" charset="-122"/>
                <a:cs typeface="Yu Gothic" pitchFamily="34" charset="-120"/>
              </a:rPr>
              <a:t>図の出典・簡略化元：金属資源G_P37（RtM＝Resource to Market）。地図を拠点の関係図に簡略化</a:t>
            </a:r>
            <a:endParaRPr lang="en-US" sz="560" dirty="0"/>
          </a:p>
        </p:txBody>
      </p:sp>
      <p:sp>
        <p:nvSpPr>
          <p:cNvPr id="30" name="t3_27"/>
          <p:cNvSpPr txBox="1"/>
          <p:nvPr/>
        </p:nvSpPr>
        <p:spPr>
          <a:xfrm>
            <a:off x="609600" y="5003800"/>
            <a:ext cx="714788" cy="139700"/>
          </a:xfrm>
          <a:prstGeom prst="rect">
            <a:avLst/>
          </a:prstGeom>
          <a:noFill/>
          <a:ln/>
        </p:spPr>
        <p:txBody>
          <a:bodyPr wrap="none" lIns="0" tIns="0" rIns="0" bIns="0" rtlCol="0" anchor="t"/>
          <a:lstStyle/>
          <a:p>
            <a:pPr algn="l" indent="0" marL="0">
              <a:lnSpc>
                <a:spcPts val="988"/>
              </a:lnSpc>
              <a:buNone/>
            </a:pPr>
            <a:r>
              <a:rPr lang="en-US" sz="760" dirty="0">
                <a:solidFill>
                  <a:srgbClr val="222222"/>
                </a:solidFill>
                <a:latin typeface="Yu Gothic" pitchFamily="34" charset="0"/>
                <a:ea typeface="Yu Gothic" pitchFamily="34" charset="-122"/>
                <a:cs typeface="Yu Gothic" pitchFamily="34" charset="-120"/>
              </a:rPr>
              <a:t>多様な取引機能</a:t>
            </a:r>
            <a:endParaRPr lang="en-US" sz="760" dirty="0"/>
          </a:p>
        </p:txBody>
      </p:sp>
      <p:sp>
        <p:nvSpPr>
          <p:cNvPr id="31" name="t3_28"/>
          <p:cNvSpPr txBox="1"/>
          <p:nvPr/>
        </p:nvSpPr>
        <p:spPr>
          <a:xfrm>
            <a:off x="609600" y="5181600"/>
            <a:ext cx="1422400" cy="2540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取扱商品の広さ</a:t>
            </a:r>
            <a:endParaRPr lang="en-US" sz="740" dirty="0"/>
          </a:p>
        </p:txBody>
      </p:sp>
      <p:sp>
        <p:nvSpPr>
          <p:cNvPr id="32" name="t3_29"/>
          <p:cNvSpPr txBox="1"/>
          <p:nvPr/>
        </p:nvSpPr>
        <p:spPr>
          <a:xfrm>
            <a:off x="609600" y="5473700"/>
            <a:ext cx="1491996" cy="213122"/>
          </a:xfrm>
          <a:prstGeom prst="rect">
            <a:avLst/>
          </a:prstGeom>
          <a:noFill/>
          <a:ln/>
        </p:spPr>
        <p:txBody>
          <a:bodyPr wrap="square" lIns="0" tIns="0" rIns="0" bIns="0" rtlCol="0" anchor="t"/>
          <a:lstStyle/>
          <a:p>
            <a:pPr algn="l" indent="0" marL="0">
              <a:lnSpc>
                <a:spcPts val="840"/>
              </a:lnSpc>
              <a:buNone/>
            </a:pPr>
            <a:r>
              <a:rPr lang="en-US" sz="5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a:t>
            </a:r>
            <a:endParaRPr lang="en-US" sz="560" dirty="0"/>
          </a:p>
        </p:txBody>
      </p:sp>
      <p:sp>
        <p:nvSpPr>
          <p:cNvPr id="33" name="t3_30"/>
          <p:cNvSpPr txBox="1"/>
          <p:nvPr/>
        </p:nvSpPr>
        <p:spPr>
          <a:xfrm>
            <a:off x="2209800" y="5181600"/>
            <a:ext cx="1422400" cy="2540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在庫</a:t>
            </a:r>
            <a:endParaRPr lang="en-US" sz="740" dirty="0"/>
          </a:p>
        </p:txBody>
      </p:sp>
      <p:sp>
        <p:nvSpPr>
          <p:cNvPr id="34" name="t3_31"/>
          <p:cNvSpPr txBox="1"/>
          <p:nvPr/>
        </p:nvSpPr>
        <p:spPr>
          <a:xfrm>
            <a:off x="2209800" y="5473700"/>
            <a:ext cx="1491996" cy="213122"/>
          </a:xfrm>
          <a:prstGeom prst="rect">
            <a:avLst/>
          </a:prstGeom>
          <a:noFill/>
          <a:ln/>
        </p:spPr>
        <p:txBody>
          <a:bodyPr wrap="square" lIns="0" tIns="0" rIns="0" bIns="0" rtlCol="0" anchor="t"/>
          <a:lstStyle/>
          <a:p>
            <a:pPr algn="l" indent="0" marL="0">
              <a:lnSpc>
                <a:spcPts val="840"/>
              </a:lnSpc>
              <a:buNone/>
            </a:pPr>
            <a:r>
              <a:rPr lang="en-US" sz="5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a:t>
            </a:r>
            <a:endParaRPr lang="en-US" sz="560" dirty="0"/>
          </a:p>
        </p:txBody>
      </p:sp>
      <p:sp>
        <p:nvSpPr>
          <p:cNvPr id="35" name="t3_32"/>
          <p:cNvSpPr txBox="1"/>
          <p:nvPr/>
        </p:nvSpPr>
        <p:spPr>
          <a:xfrm>
            <a:off x="3810000" y="5181600"/>
            <a:ext cx="1422400" cy="2540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輸送手配</a:t>
            </a:r>
            <a:endParaRPr lang="en-US" sz="740" dirty="0"/>
          </a:p>
        </p:txBody>
      </p:sp>
      <p:sp>
        <p:nvSpPr>
          <p:cNvPr id="36" name="t3_33"/>
          <p:cNvSpPr txBox="1"/>
          <p:nvPr/>
        </p:nvSpPr>
        <p:spPr>
          <a:xfrm>
            <a:off x="3810000" y="5473700"/>
            <a:ext cx="1491996" cy="213122"/>
          </a:xfrm>
          <a:prstGeom prst="rect">
            <a:avLst/>
          </a:prstGeom>
          <a:noFill/>
          <a:ln/>
        </p:spPr>
        <p:txBody>
          <a:bodyPr wrap="square" lIns="0" tIns="0" rIns="0" bIns="0" rtlCol="0" anchor="t"/>
          <a:lstStyle/>
          <a:p>
            <a:pPr algn="l" indent="0" marL="0">
              <a:lnSpc>
                <a:spcPts val="840"/>
              </a:lnSpc>
              <a:buNone/>
            </a:pPr>
            <a:r>
              <a:rPr lang="en-US" sz="5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a:t>
            </a:r>
            <a:endParaRPr lang="en-US" sz="560" dirty="0"/>
          </a:p>
        </p:txBody>
      </p:sp>
      <p:sp>
        <p:nvSpPr>
          <p:cNvPr id="37" name="t3_34"/>
          <p:cNvSpPr txBox="1"/>
          <p:nvPr/>
        </p:nvSpPr>
        <p:spPr>
          <a:xfrm>
            <a:off x="5410200" y="5181600"/>
            <a:ext cx="1422400" cy="2540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ヘッジ</a:t>
            </a:r>
            <a:endParaRPr lang="en-US" sz="740" dirty="0"/>
          </a:p>
        </p:txBody>
      </p:sp>
      <p:sp>
        <p:nvSpPr>
          <p:cNvPr id="38" name="t3_35"/>
          <p:cNvSpPr txBox="1"/>
          <p:nvPr/>
        </p:nvSpPr>
        <p:spPr>
          <a:xfrm>
            <a:off x="5410200" y="5473700"/>
            <a:ext cx="1491996" cy="213122"/>
          </a:xfrm>
          <a:prstGeom prst="rect">
            <a:avLst/>
          </a:prstGeom>
          <a:noFill/>
          <a:ln/>
        </p:spPr>
        <p:txBody>
          <a:bodyPr wrap="square" lIns="0" tIns="0" rIns="0" bIns="0" rtlCol="0" anchor="t"/>
          <a:lstStyle/>
          <a:p>
            <a:pPr algn="l" indent="0" marL="0">
              <a:lnSpc>
                <a:spcPts val="840"/>
              </a:lnSpc>
              <a:buNone/>
            </a:pPr>
            <a:r>
              <a:rPr lang="en-US" sz="5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a:t>
            </a:r>
            <a:endParaRPr lang="en-US" sz="560" dirty="0"/>
          </a:p>
        </p:txBody>
      </p:sp>
      <p:sp>
        <p:nvSpPr>
          <p:cNvPr id="39" name="t3_36"/>
          <p:cNvSpPr txBox="1"/>
          <p:nvPr/>
        </p:nvSpPr>
        <p:spPr>
          <a:xfrm>
            <a:off x="609600" y="5842000"/>
            <a:ext cx="2101009" cy="139700"/>
          </a:xfrm>
          <a:prstGeom prst="rect">
            <a:avLst/>
          </a:prstGeom>
          <a:noFill/>
          <a:ln/>
        </p:spPr>
        <p:txBody>
          <a:bodyPr wrap="none" lIns="0" tIns="0" rIns="0" bIns="0" rtlCol="0" anchor="t"/>
          <a:lstStyle/>
          <a:p>
            <a:pPr algn="l" indent="0" marL="0">
              <a:lnSpc>
                <a:spcPts val="988"/>
              </a:lnSpc>
              <a:buNone/>
            </a:pPr>
            <a:r>
              <a:rPr lang="en-US" sz="760" dirty="0">
                <a:solidFill>
                  <a:srgbClr val="222222"/>
                </a:solidFill>
                <a:latin typeface="Yu Gothic" pitchFamily="34" charset="0"/>
                <a:ea typeface="Yu Gothic" pitchFamily="34" charset="-122"/>
                <a:cs typeface="Yu Gothic" pitchFamily="34" charset="-120"/>
              </a:rPr>
              <a:t>投資（本体）とトレーディング（RtM）の連携</a:t>
            </a:r>
            <a:endParaRPr lang="en-US" sz="760" dirty="0"/>
          </a:p>
        </p:txBody>
      </p:sp>
      <p:sp>
        <p:nvSpPr>
          <p:cNvPr id="40" name="t3_37"/>
          <p:cNvSpPr txBox="1"/>
          <p:nvPr/>
        </p:nvSpPr>
        <p:spPr>
          <a:xfrm>
            <a:off x="609600" y="6019800"/>
            <a:ext cx="1905000" cy="3810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資源投資</a:t>
            </a:r>
            <a:endParaRPr lang="en-US" sz="740" dirty="0"/>
          </a:p>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（三菱商事本体）</a:t>
            </a:r>
            <a:endParaRPr lang="en-US" sz="740" dirty="0"/>
          </a:p>
        </p:txBody>
      </p:sp>
      <p:sp>
        <p:nvSpPr>
          <p:cNvPr id="41" name="t3_38"/>
          <p:cNvSpPr txBox="1"/>
          <p:nvPr/>
        </p:nvSpPr>
        <p:spPr>
          <a:xfrm>
            <a:off x="2540000" y="6096000"/>
            <a:ext cx="131778" cy="165100"/>
          </a:xfrm>
          <a:prstGeom prst="rect">
            <a:avLst/>
          </a:prstGeom>
          <a:noFill/>
          <a:ln/>
        </p:spPr>
        <p:txBody>
          <a:bodyPr wrap="none" lIns="0" tIns="0" rIns="0" bIns="0" rtlCol="0" anchor="t"/>
          <a:lstStyle/>
          <a:p>
            <a:pPr algn="l" indent="0" marL="0">
              <a:lnSpc>
                <a:spcPts val="1170"/>
              </a:lnSpc>
              <a:buNone/>
            </a:pPr>
            <a:r>
              <a:rPr lang="en-US" sz="900" dirty="0">
                <a:solidFill>
                  <a:srgbClr val="888888"/>
                </a:solidFill>
                <a:latin typeface="Yu Gothic" pitchFamily="34" charset="0"/>
                <a:ea typeface="Yu Gothic" pitchFamily="34" charset="-122"/>
                <a:cs typeface="Yu Gothic" pitchFamily="34" charset="-120"/>
              </a:rPr>
              <a:t>→</a:t>
            </a:r>
            <a:endParaRPr lang="en-US" sz="900" dirty="0"/>
          </a:p>
        </p:txBody>
      </p:sp>
      <p:sp>
        <p:nvSpPr>
          <p:cNvPr id="42" name="t3_39"/>
          <p:cNvSpPr txBox="1"/>
          <p:nvPr/>
        </p:nvSpPr>
        <p:spPr>
          <a:xfrm>
            <a:off x="2768600" y="6019800"/>
            <a:ext cx="1905000" cy="3810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RtM</a:t>
            </a:r>
            <a:endParaRPr lang="en-US" sz="740" dirty="0"/>
          </a:p>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ヘッジ・在庫・物流を付加</a:t>
            </a:r>
            <a:endParaRPr lang="en-US" sz="740" dirty="0"/>
          </a:p>
        </p:txBody>
      </p:sp>
      <p:sp>
        <p:nvSpPr>
          <p:cNvPr id="43" name="t3_40"/>
          <p:cNvSpPr txBox="1"/>
          <p:nvPr/>
        </p:nvSpPr>
        <p:spPr>
          <a:xfrm>
            <a:off x="4699000" y="6096000"/>
            <a:ext cx="131778" cy="165100"/>
          </a:xfrm>
          <a:prstGeom prst="rect">
            <a:avLst/>
          </a:prstGeom>
          <a:noFill/>
          <a:ln/>
        </p:spPr>
        <p:txBody>
          <a:bodyPr wrap="none" lIns="0" tIns="0" rIns="0" bIns="0" rtlCol="0" anchor="t"/>
          <a:lstStyle/>
          <a:p>
            <a:pPr algn="l" indent="0" marL="0">
              <a:lnSpc>
                <a:spcPts val="1170"/>
              </a:lnSpc>
              <a:buNone/>
            </a:pPr>
            <a:r>
              <a:rPr lang="en-US" sz="900" dirty="0">
                <a:solidFill>
                  <a:srgbClr val="888888"/>
                </a:solidFill>
                <a:latin typeface="Yu Gothic" pitchFamily="34" charset="0"/>
                <a:ea typeface="Yu Gothic" pitchFamily="34" charset="-122"/>
                <a:cs typeface="Yu Gothic" pitchFamily="34" charset="-120"/>
              </a:rPr>
              <a:t>→</a:t>
            </a:r>
            <a:endParaRPr lang="en-US" sz="900" dirty="0"/>
          </a:p>
        </p:txBody>
      </p:sp>
      <p:sp>
        <p:nvSpPr>
          <p:cNvPr id="44" name="t3_41"/>
          <p:cNvSpPr txBox="1"/>
          <p:nvPr/>
        </p:nvSpPr>
        <p:spPr>
          <a:xfrm>
            <a:off x="4927600" y="6019800"/>
            <a:ext cx="1905000" cy="3810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顧客</a:t>
            </a:r>
            <a:endParaRPr lang="en-US" sz="740" dirty="0"/>
          </a:p>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欧州・シンガポール・米州</a:t>
            </a:r>
            <a:endParaRPr lang="en-US" sz="740" dirty="0"/>
          </a:p>
        </p:txBody>
      </p:sp>
      <p:sp>
        <p:nvSpPr>
          <p:cNvPr id="45" name="Shape 41"/>
          <p:cNvSpPr/>
          <p:nvPr/>
        </p:nvSpPr>
        <p:spPr>
          <a:xfrm>
            <a:off x="1117600" y="6451600"/>
            <a:ext cx="5334000" cy="0"/>
          </a:xfrm>
          <a:prstGeom prst="line">
            <a:avLst/>
          </a:prstGeom>
          <a:noFill/>
          <a:ln w="12700">
            <a:solidFill>
              <a:srgbClr val="888888"/>
            </a:solidFill>
            <a:prstDash val="dash"/>
          </a:ln>
        </p:spPr>
      </p:sp>
      <p:sp>
        <p:nvSpPr>
          <p:cNvPr id="46" name="t3_42"/>
          <p:cNvSpPr txBox="1"/>
          <p:nvPr/>
        </p:nvSpPr>
        <p:spPr>
          <a:xfrm>
            <a:off x="1117600" y="6451600"/>
            <a:ext cx="5560060" cy="165100"/>
          </a:xfrm>
          <a:prstGeom prst="rect">
            <a:avLst/>
          </a:prstGeom>
          <a:noFill/>
          <a:ln/>
        </p:spPr>
        <p:txBody>
          <a:bodyPr wrap="square" lIns="0" tIns="0" rIns="0" bIns="0" rtlCol="0" anchor="t"/>
          <a:lstStyle/>
          <a:p>
            <a:pPr algn="l" indent="0" marL="0">
              <a:lnSpc>
                <a:spcPts val="858"/>
              </a:lnSpc>
              <a:buNone/>
            </a:pPr>
            <a:r>
              <a:rPr lang="en-US" sz="660" dirty="0">
                <a:solidFill>
                  <a:srgbClr val="555555"/>
                </a:solidFill>
                <a:latin typeface="Yu Gothic" pitchFamily="34" charset="0"/>
                <a:ea typeface="Yu Gothic" pitchFamily="34" charset="-122"/>
                <a:cs typeface="Yu Gothic" pitchFamily="34" charset="-120"/>
              </a:rPr>
              <a:t>← 市場の生きた情報を還元し、事業機会を発掘（好循環）</a:t>
            </a:r>
            <a:endParaRPr lang="en-US" sz="660" dirty="0"/>
          </a:p>
        </p:txBody>
      </p:sp>
      <p:sp>
        <p:nvSpPr>
          <p:cNvPr id="47" name="t3_43"/>
          <p:cNvSpPr txBox="1"/>
          <p:nvPr/>
        </p:nvSpPr>
        <p:spPr>
          <a:xfrm>
            <a:off x="609600" y="6654800"/>
            <a:ext cx="6603492" cy="118070"/>
          </a:xfrm>
          <a:prstGeom prst="rect">
            <a:avLst/>
          </a:prstGeom>
          <a:noFill/>
          <a:ln/>
        </p:spPr>
        <p:txBody>
          <a:bodyPr wrap="none" lIns="0" tIns="0" rIns="0" bIns="0" rtlCol="0" anchor="t"/>
          <a:lstStyle/>
          <a:p>
            <a:pPr algn="l" indent="0" marL="0">
              <a:lnSpc>
                <a:spcPts val="930"/>
              </a:lnSpc>
              <a:buNone/>
            </a:pPr>
            <a:r>
              <a:rPr lang="en-US" sz="620" dirty="0">
                <a:solidFill>
                  <a:srgbClr val="9A5A60"/>
                </a:solidFill>
                <a:latin typeface="Yu Gothic" pitchFamily="34" charset="0"/>
                <a:ea typeface="Yu Gothic" pitchFamily="34" charset="-122"/>
                <a:cs typeface="Yu Gothic" pitchFamily="34" charset="-120"/>
              </a:rPr>
              <a:t>※販売顧客に「投資目的の主体」と誤認されない表現に。RtMの追加資料（PwC様より別途共有）を反映予定</a:t>
            </a:r>
            <a:endParaRPr lang="en-US" sz="620" dirty="0"/>
          </a:p>
        </p:txBody>
      </p:sp>
      <p:sp>
        <p:nvSpPr>
          <p:cNvPr id="48" name="Shape 44"/>
          <p:cNvSpPr/>
          <p:nvPr/>
        </p:nvSpPr>
        <p:spPr>
          <a:xfrm>
            <a:off x="609600" y="6908800"/>
            <a:ext cx="6337300" cy="0"/>
          </a:xfrm>
          <a:prstGeom prst="line">
            <a:avLst/>
          </a:prstGeom>
          <a:noFill/>
          <a:ln w="12700">
            <a:solidFill>
              <a:srgbClr val="CFD2D5"/>
            </a:solidFill>
            <a:prstDash val="solid"/>
          </a:ln>
        </p:spPr>
      </p:sp>
      <p:sp>
        <p:nvSpPr>
          <p:cNvPr id="49" name="t3_45"/>
          <p:cNvSpPr txBox="1"/>
          <p:nvPr/>
        </p:nvSpPr>
        <p:spPr>
          <a:xfrm>
            <a:off x="609600" y="7035800"/>
            <a:ext cx="6352540" cy="320040"/>
          </a:xfrm>
          <a:prstGeom prst="rect">
            <a:avLst/>
          </a:prstGeom>
          <a:noFill/>
          <a:ln/>
        </p:spPr>
        <p:txBody>
          <a:bodyPr wrap="none" lIns="0" tIns="0" rIns="0" bIns="0" rtlCol="0" anchor="t"/>
          <a:lstStyle/>
          <a:p>
            <a:pPr algn="l" indent="0" marL="0">
              <a:lnSpc>
                <a:spcPts val="2520"/>
              </a:lnSpc>
              <a:buNone/>
            </a:pPr>
            <a:r>
              <a:rPr lang="en-US" sz="1800" spc="80" kern="0" dirty="0">
                <a:solidFill>
                  <a:srgbClr val="222222"/>
                </a:solidFill>
                <a:latin typeface="Yu Gothic" pitchFamily="34" charset="0"/>
                <a:ea typeface="Yu Gothic" pitchFamily="34" charset="-122"/>
                <a:cs typeface="Yu Gothic" pitchFamily="34" charset="-120"/>
              </a:rPr>
              <a:t>トレーディング事業の事例（銅）</a:t>
            </a:r>
            <a:endParaRPr lang="en-US" sz="1800" dirty="0"/>
          </a:p>
        </p:txBody>
      </p:sp>
      <p:sp>
        <p:nvSpPr>
          <p:cNvPr id="50" name="t3_46"/>
          <p:cNvSpPr txBox="1"/>
          <p:nvPr/>
        </p:nvSpPr>
        <p:spPr>
          <a:xfrm>
            <a:off x="609600" y="7391400"/>
            <a:ext cx="6352540" cy="196850"/>
          </a:xfrm>
          <a:prstGeom prst="rect">
            <a:avLst/>
          </a:prstGeom>
          <a:noFill/>
          <a:ln/>
        </p:spPr>
        <p:txBody>
          <a:bodyPr wrap="none" lIns="0" tIns="0" rIns="0" bIns="0" rtlCol="0" anchor="t"/>
          <a:lstStyle/>
          <a:p>
            <a:pPr algn="l" indent="0" marL="0">
              <a:lnSpc>
                <a:spcPts val="1550"/>
              </a:lnSpc>
              <a:buNone/>
            </a:pPr>
            <a:r>
              <a:rPr lang="en-US" sz="1000" spc="30" kern="0" dirty="0">
                <a:solidFill>
                  <a:srgbClr val="444444"/>
                </a:solidFill>
                <a:latin typeface="Yu Gothic" pitchFamily="34" charset="0"/>
                <a:ea typeface="Yu Gothic" pitchFamily="34" charset="-122"/>
                <a:cs typeface="Yu Gothic" pitchFamily="34" charset="-120"/>
              </a:rPr>
              <a:t>一つの商品の中で、投資から販売まで一気通貫でつなぐ</a:t>
            </a:r>
            <a:endParaRPr lang="en-US" sz="1000" dirty="0"/>
          </a:p>
        </p:txBody>
      </p:sp>
      <p:sp>
        <p:nvSpPr>
          <p:cNvPr id="51" name="t3_47"/>
          <p:cNvSpPr txBox="1"/>
          <p:nvPr/>
        </p:nvSpPr>
        <p:spPr>
          <a:xfrm>
            <a:off x="609600" y="7620000"/>
            <a:ext cx="6337300" cy="1524000"/>
          </a:xfrm>
          <a:prstGeom prst="rect">
            <a:avLst/>
          </a:prstGeom>
          <a:solidFill>
            <a:srgbClr val="EEF0F2"/>
          </a:solidFill>
          <a:ln w="12700">
            <a:solidFill>
              <a:srgbClr val="B6BBC0"/>
            </a:solidFill>
            <a:prstDash val="dash"/>
          </a:ln>
        </p:spPr>
        <p:txBody>
          <a:bodyPr wrap="square" lIns="25400" tIns="38100" rIns="38100" bIns="25400" rtlCol="0" anchor="ctr"/>
          <a:lstStyle/>
          <a:p>
            <a:pPr algn="ctr" indent="0" marL="0">
              <a:lnSpc>
                <a:spcPts val="2080"/>
              </a:lnSpc>
              <a:buNone/>
            </a:pPr>
            <a:r>
              <a:rPr lang="en-US" sz="700" dirty="0">
                <a:solidFill>
                  <a:srgbClr val="6A7076"/>
                </a:solidFill>
                <a:latin typeface="Yu Gothic" pitchFamily="34" charset="0"/>
                <a:ea typeface="Yu Gothic" pitchFamily="34" charset="-122"/>
                <a:cs typeface="Yu Gothic" pitchFamily="34" charset="-120"/>
              </a:rPr>
              <a:t>事例図：銅の投資から販売までの一気通貫／複数地域・多機能にわたる展開</a:t>
            </a:r>
            <a:endParaRPr lang="en-US" sz="700" dirty="0"/>
          </a:p>
          <a:p>
            <a:pPr algn="ctr" indent="0" marL="0">
              <a:lnSpc>
                <a:spcPts val="2080"/>
              </a:lnSpc>
              <a:buNone/>
            </a:pPr>
            <a:r>
              <a:rPr lang="en-US" sz="700" dirty="0">
                <a:solidFill>
                  <a:srgbClr val="6A7076"/>
                </a:solidFill>
                <a:latin typeface="Yu Gothic" pitchFamily="34" charset="0"/>
                <a:ea typeface="Yu Gothic" pitchFamily="34" charset="-122"/>
                <a:cs typeface="Yu Gothic" pitchFamily="34" charset="-120"/>
              </a:rPr>
              <a:t>※PwC様にて情報収集中</a:t>
            </a:r>
            <a:endParaRPr lang="en-US" sz="700" dirty="0"/>
          </a:p>
        </p:txBody>
      </p:sp>
      <p:sp>
        <p:nvSpPr>
          <p:cNvPr id="52" name="t3_48"/>
          <p:cNvSpPr txBox="1"/>
          <p:nvPr/>
        </p:nvSpPr>
        <p:spPr>
          <a:xfrm>
            <a:off x="609600" y="9220200"/>
            <a:ext cx="6603492" cy="346472"/>
          </a:xfrm>
          <a:prstGeom prst="rect">
            <a:avLst/>
          </a:prstGeom>
          <a:noFill/>
          <a:ln/>
        </p:spPr>
        <p:txBody>
          <a:bodyPr wrap="square" lIns="0" tIns="0" rIns="0" bIns="0" rtlCol="0" anchor="t"/>
          <a:lstStyle/>
          <a:p>
            <a:pPr algn="l" indent="0" marL="0">
              <a:lnSpc>
                <a:spcPts val="1365"/>
              </a:lnSpc>
              <a:buNone/>
            </a:pPr>
            <a:r>
              <a:rPr lang="en-US" sz="7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a:t>
            </a:r>
            <a:endParaRPr lang="en-US" sz="780" dirty="0"/>
          </a:p>
        </p:txBody>
      </p:sp>
      <p:sp>
        <p:nvSpPr>
          <p:cNvPr id="53" name="t3_49"/>
          <p:cNvSpPr txBox="1"/>
          <p:nvPr/>
        </p:nvSpPr>
        <p:spPr>
          <a:xfrm>
            <a:off x="609600" y="9579570"/>
            <a:ext cx="985965" cy="114300"/>
          </a:xfrm>
          <a:prstGeom prst="rect">
            <a:avLst/>
          </a:prstGeom>
          <a:noFill/>
          <a:ln/>
        </p:spPr>
        <p:txBody>
          <a:bodyPr wrap="none" lIns="0" tIns="0" rIns="0" bIns="0" rtlCol="0" anchor="t"/>
          <a:lstStyle/>
          <a:p>
            <a:pPr algn="l" indent="0" marL="0">
              <a:lnSpc>
                <a:spcPts val="754"/>
              </a:lnSpc>
              <a:buNone/>
            </a:pPr>
            <a:r>
              <a:rPr lang="en-US" sz="580" spc="30" kern="0" dirty="0">
                <a:solidFill>
                  <a:srgbClr val="B0B4B8"/>
                </a:solidFill>
                <a:latin typeface="Yu Gothic" pitchFamily="34" charset="0"/>
                <a:ea typeface="Yu Gothic" pitchFamily="34" charset="-122"/>
                <a:cs typeface="Yu Gothic" pitchFamily="34" charset="-120"/>
              </a:rPr>
              <a:t>▸本文 100字／英語 約55語</a:t>
            </a:r>
            <a:endParaRPr lang="en-US" sz="580" dirty="0"/>
          </a:p>
        </p:txBody>
      </p:sp>
      <p:sp>
        <p:nvSpPr>
          <p:cNvPr id="54" name="t3_50"/>
          <p:cNvSpPr txBox="1"/>
          <p:nvPr/>
        </p:nvSpPr>
        <p:spPr>
          <a:xfrm>
            <a:off x="8166100" y="431800"/>
            <a:ext cx="1666589" cy="139700"/>
          </a:xfrm>
          <a:prstGeom prst="rect">
            <a:avLst/>
          </a:prstGeom>
          <a:noFill/>
          <a:ln/>
        </p:spPr>
        <p:txBody>
          <a:bodyPr wrap="none" lIns="0" tIns="0" rIns="0" bIns="0" rtlCol="0" anchor="t"/>
          <a:lstStyle/>
          <a:p>
            <a:pPr algn="l" indent="0" marL="0">
              <a:lnSpc>
                <a:spcPts val="962"/>
              </a:lnSpc>
              <a:buNone/>
            </a:pPr>
            <a:r>
              <a:rPr lang="en-US" sz="740" spc="120" kern="0" dirty="0">
                <a:solidFill>
                  <a:srgbClr val="555555"/>
                </a:solidFill>
                <a:latin typeface="Yu Gothic" pitchFamily="34" charset="0"/>
                <a:ea typeface="Yu Gothic" pitchFamily="34" charset="-122"/>
                <a:cs typeface="Yu Gothic" pitchFamily="34" charset="-120"/>
              </a:rPr>
              <a:t>第2章　HOW/WHAT｜独自価値</a:t>
            </a:r>
            <a:endParaRPr lang="en-US" sz="740" dirty="0"/>
          </a:p>
        </p:txBody>
      </p:sp>
      <p:sp>
        <p:nvSpPr>
          <p:cNvPr id="55" name="t3_51"/>
          <p:cNvSpPr txBox="1"/>
          <p:nvPr/>
        </p:nvSpPr>
        <p:spPr>
          <a:xfrm>
            <a:off x="13627100" y="406400"/>
            <a:ext cx="1014016" cy="177800"/>
          </a:xfrm>
          <a:prstGeom prst="roundRect">
            <a:avLst>
              <a:gd name="adj" fmla="val 257143"/>
            </a:avLst>
          </a:prstGeom>
          <a:noFill/>
          <a:ln w="12700">
            <a:solidFill>
              <a:srgbClr val="AAAAAA"/>
            </a:solidFill>
            <a:prstDash val="solid"/>
          </a:ln>
        </p:spPr>
        <p:txBody>
          <a:bodyPr wrap="square" lIns="25400" tIns="38100" rIns="38100" bIns="25400" rtlCol="0" anchor="t"/>
          <a:lstStyle/>
          <a:p>
            <a:pPr algn="l" indent="0" marL="0">
              <a:lnSpc>
                <a:spcPts val="858"/>
              </a:lnSpc>
              <a:buNone/>
            </a:pPr>
            <a:r>
              <a:rPr lang="en-US" sz="660" spc="50" kern="0" dirty="0">
                <a:solidFill>
                  <a:srgbClr val="777777"/>
                </a:solidFill>
                <a:latin typeface="Yu Gothic" pitchFamily="34" charset="0"/>
                <a:ea typeface="Yu Gothic" pitchFamily="34" charset="-122"/>
                <a:cs typeface="Yu Gothic" pitchFamily="34" charset="-120"/>
              </a:rPr>
              <a:t>読み手の心理：納得</a:t>
            </a:r>
            <a:endParaRPr lang="en-US" sz="660" dirty="0"/>
          </a:p>
        </p:txBody>
      </p:sp>
      <p:sp>
        <p:nvSpPr>
          <p:cNvPr id="56" name="t3_52"/>
          <p:cNvSpPr txBox="1"/>
          <p:nvPr/>
        </p:nvSpPr>
        <p:spPr>
          <a:xfrm>
            <a:off x="8166100" y="762000"/>
            <a:ext cx="6352540" cy="320040"/>
          </a:xfrm>
          <a:prstGeom prst="rect">
            <a:avLst/>
          </a:prstGeom>
          <a:noFill/>
          <a:ln/>
        </p:spPr>
        <p:txBody>
          <a:bodyPr wrap="none" lIns="0" tIns="0" rIns="0" bIns="0" rtlCol="0" anchor="t"/>
          <a:lstStyle/>
          <a:p>
            <a:pPr algn="l" indent="0" marL="0">
              <a:lnSpc>
                <a:spcPts val="2520"/>
              </a:lnSpc>
              <a:buNone/>
            </a:pPr>
            <a:r>
              <a:rPr lang="en-US" sz="1800" spc="80" kern="0" dirty="0">
                <a:solidFill>
                  <a:srgbClr val="222222"/>
                </a:solidFill>
                <a:latin typeface="Yu Gothic" pitchFamily="34" charset="0"/>
                <a:ea typeface="Yu Gothic" pitchFamily="34" charset="-122"/>
                <a:cs typeface="Yu Gothic" pitchFamily="34" charset="-120"/>
              </a:rPr>
              <a:t>事業・プロジェクト一覧</a:t>
            </a:r>
            <a:endParaRPr lang="en-US" sz="1800" dirty="0"/>
          </a:p>
        </p:txBody>
      </p:sp>
      <p:sp>
        <p:nvSpPr>
          <p:cNvPr id="57" name="t3_53"/>
          <p:cNvSpPr txBox="1"/>
          <p:nvPr/>
        </p:nvSpPr>
        <p:spPr>
          <a:xfrm>
            <a:off x="8166100" y="1117600"/>
            <a:ext cx="6352540" cy="196850"/>
          </a:xfrm>
          <a:prstGeom prst="rect">
            <a:avLst/>
          </a:prstGeom>
          <a:noFill/>
          <a:ln/>
        </p:spPr>
        <p:txBody>
          <a:bodyPr wrap="none" lIns="0" tIns="0" rIns="0" bIns="0" rtlCol="0" anchor="t"/>
          <a:lstStyle/>
          <a:p>
            <a:pPr algn="l" indent="0" marL="0">
              <a:lnSpc>
                <a:spcPts val="1550"/>
              </a:lnSpc>
              <a:buNone/>
            </a:pPr>
            <a:r>
              <a:rPr lang="en-US" sz="1000" spc="30" kern="0" dirty="0">
                <a:solidFill>
                  <a:srgbClr val="444444"/>
                </a:solidFill>
                <a:latin typeface="Yu Gothic" pitchFamily="34" charset="0"/>
                <a:ea typeface="Yu Gothic" pitchFamily="34" charset="-122"/>
                <a:cs typeface="Yu Gothic" pitchFamily="34" charset="-120"/>
              </a:rPr>
              <a:t>鉄鉱石から電池資源・肥料・アルミまで、世界に広がる事業領域</a:t>
            </a:r>
            <a:endParaRPr lang="en-US" sz="1000" dirty="0"/>
          </a:p>
        </p:txBody>
      </p:sp>
      <p:pic>
        <p:nvPicPr>
          <p:cNvPr id="58" name="Image 1" descr="preencoded.png">    </p:cNvPr>
          <p:cNvPicPr>
            <a:picLocks noChangeAspect="1"/>
          </p:cNvPicPr>
          <p:nvPr/>
        </p:nvPicPr>
        <p:blipFill>
          <a:blip r:embed="rId2"/>
          <a:stretch>
            <a:fillRect/>
          </a:stretch>
        </p:blipFill>
        <p:spPr>
          <a:xfrm>
            <a:off x="8166100" y="1320800"/>
            <a:ext cx="6337300" cy="2324100"/>
          </a:xfrm>
          <a:prstGeom prst="rect">
            <a:avLst/>
          </a:prstGeom>
        </p:spPr>
      </p:pic>
      <p:sp>
        <p:nvSpPr>
          <p:cNvPr id="59" name="Shape 54"/>
          <p:cNvSpPr/>
          <p:nvPr/>
        </p:nvSpPr>
        <p:spPr>
          <a:xfrm>
            <a:off x="13727708" y="1689298"/>
            <a:ext cx="76200" cy="76200"/>
          </a:xfrm>
          <a:prstGeom prst="ellipse">
            <a:avLst/>
          </a:prstGeom>
          <a:solidFill>
            <a:srgbClr val="2F3337"/>
          </a:solidFill>
          <a:ln w="12700">
            <a:solidFill>
              <a:srgbClr val="2F3337"/>
            </a:solidFill>
            <a:prstDash val="solid"/>
          </a:ln>
        </p:spPr>
      </p:sp>
      <p:sp>
        <p:nvSpPr>
          <p:cNvPr id="60" name="Shape 55"/>
          <p:cNvSpPr/>
          <p:nvPr/>
        </p:nvSpPr>
        <p:spPr>
          <a:xfrm>
            <a:off x="13651905" y="3122613"/>
            <a:ext cx="76200" cy="76200"/>
          </a:xfrm>
          <a:prstGeom prst="ellipse">
            <a:avLst/>
          </a:prstGeom>
          <a:solidFill>
            <a:srgbClr val="2F3337"/>
          </a:solidFill>
          <a:ln w="12700">
            <a:solidFill>
              <a:srgbClr val="2F3337"/>
            </a:solidFill>
            <a:prstDash val="solid"/>
          </a:ln>
        </p:spPr>
      </p:sp>
      <p:sp>
        <p:nvSpPr>
          <p:cNvPr id="61" name="Shape 56"/>
          <p:cNvSpPr/>
          <p:nvPr/>
        </p:nvSpPr>
        <p:spPr>
          <a:xfrm>
            <a:off x="13662422" y="3208734"/>
            <a:ext cx="76200" cy="76200"/>
          </a:xfrm>
          <a:prstGeom prst="ellipse">
            <a:avLst/>
          </a:prstGeom>
          <a:solidFill>
            <a:srgbClr val="2F3337"/>
          </a:solidFill>
          <a:ln w="12700">
            <a:solidFill>
              <a:srgbClr val="2F3337"/>
            </a:solidFill>
            <a:prstDash val="solid"/>
          </a:ln>
        </p:spPr>
      </p:sp>
      <p:sp>
        <p:nvSpPr>
          <p:cNvPr id="62" name="Shape 57"/>
          <p:cNvSpPr/>
          <p:nvPr/>
        </p:nvSpPr>
        <p:spPr>
          <a:xfrm>
            <a:off x="11178580" y="3013273"/>
            <a:ext cx="76200" cy="76200"/>
          </a:xfrm>
          <a:prstGeom prst="ellipse">
            <a:avLst/>
          </a:prstGeom>
          <a:solidFill>
            <a:srgbClr val="555B61"/>
          </a:solidFill>
          <a:ln w="12700">
            <a:solidFill>
              <a:srgbClr val="2F3337"/>
            </a:solidFill>
            <a:prstDash val="solid"/>
          </a:ln>
        </p:spPr>
      </p:sp>
      <p:sp>
        <p:nvSpPr>
          <p:cNvPr id="63" name="Shape 58"/>
          <p:cNvSpPr/>
          <p:nvPr/>
        </p:nvSpPr>
        <p:spPr>
          <a:xfrm>
            <a:off x="13689409" y="3048000"/>
            <a:ext cx="76200" cy="76200"/>
          </a:xfrm>
          <a:prstGeom prst="ellipse">
            <a:avLst/>
          </a:prstGeom>
          <a:solidFill>
            <a:srgbClr val="7A8087"/>
          </a:solidFill>
          <a:ln w="12700">
            <a:solidFill>
              <a:srgbClr val="2F3337"/>
            </a:solidFill>
            <a:prstDash val="solid"/>
          </a:ln>
        </p:spPr>
      </p:sp>
      <p:sp>
        <p:nvSpPr>
          <p:cNvPr id="64" name="Shape 59"/>
          <p:cNvSpPr/>
          <p:nvPr/>
        </p:nvSpPr>
        <p:spPr>
          <a:xfrm>
            <a:off x="13664208" y="3178770"/>
            <a:ext cx="76200" cy="76200"/>
          </a:xfrm>
          <a:prstGeom prst="ellipse">
            <a:avLst/>
          </a:prstGeom>
          <a:solidFill>
            <a:srgbClr val="7A8087"/>
          </a:solidFill>
          <a:ln w="12700">
            <a:solidFill>
              <a:srgbClr val="2F3337"/>
            </a:solidFill>
            <a:prstDash val="solid"/>
          </a:ln>
        </p:spPr>
      </p:sp>
      <p:sp>
        <p:nvSpPr>
          <p:cNvPr id="65" name="Shape 60"/>
          <p:cNvSpPr/>
          <p:nvPr/>
        </p:nvSpPr>
        <p:spPr>
          <a:xfrm>
            <a:off x="13667780" y="3204369"/>
            <a:ext cx="76200" cy="76200"/>
          </a:xfrm>
          <a:prstGeom prst="ellipse">
            <a:avLst/>
          </a:prstGeom>
          <a:solidFill>
            <a:srgbClr val="7A8087"/>
          </a:solidFill>
          <a:ln w="12700">
            <a:solidFill>
              <a:srgbClr val="2F3337"/>
            </a:solidFill>
            <a:prstDash val="solid"/>
          </a:ln>
        </p:spPr>
      </p:sp>
      <p:sp>
        <p:nvSpPr>
          <p:cNvPr id="66" name="Shape 61"/>
          <p:cNvSpPr/>
          <p:nvPr/>
        </p:nvSpPr>
        <p:spPr>
          <a:xfrm>
            <a:off x="13548916" y="2788444"/>
            <a:ext cx="76200" cy="76200"/>
          </a:xfrm>
          <a:prstGeom prst="ellipse">
            <a:avLst/>
          </a:prstGeom>
          <a:solidFill>
            <a:srgbClr val="7A8087"/>
          </a:solidFill>
          <a:ln w="12700">
            <a:solidFill>
              <a:srgbClr val="2F3337"/>
            </a:solidFill>
            <a:prstDash val="solid"/>
          </a:ln>
        </p:spPr>
      </p:sp>
      <p:sp>
        <p:nvSpPr>
          <p:cNvPr id="67" name="Shape 62"/>
          <p:cNvSpPr/>
          <p:nvPr/>
        </p:nvSpPr>
        <p:spPr>
          <a:xfrm>
            <a:off x="13662422" y="2921794"/>
            <a:ext cx="76200" cy="76200"/>
          </a:xfrm>
          <a:prstGeom prst="ellipse">
            <a:avLst/>
          </a:prstGeom>
          <a:solidFill>
            <a:srgbClr val="7A8087"/>
          </a:solidFill>
          <a:ln w="12700">
            <a:solidFill>
              <a:srgbClr val="2F3337"/>
            </a:solidFill>
            <a:prstDash val="solid"/>
          </a:ln>
        </p:spPr>
      </p:sp>
      <p:sp>
        <p:nvSpPr>
          <p:cNvPr id="68" name="Shape 63"/>
          <p:cNvSpPr/>
          <p:nvPr/>
        </p:nvSpPr>
        <p:spPr>
          <a:xfrm>
            <a:off x="13651998" y="3008207"/>
            <a:ext cx="107764" cy="107764"/>
          </a:xfrm>
          <a:prstGeom prst="rect">
            <a:avLst/>
          </a:prstGeom>
          <a:solidFill>
            <a:srgbClr val="7A8087"/>
          </a:solidFill>
          <a:ln w="12700">
            <a:solidFill>
              <a:srgbClr val="2F3337"/>
            </a:solidFill>
            <a:prstDash val="solid"/>
          </a:ln>
        </p:spPr>
      </p:sp>
      <p:sp>
        <p:nvSpPr>
          <p:cNvPr id="69" name="Shape 64"/>
          <p:cNvSpPr/>
          <p:nvPr/>
        </p:nvSpPr>
        <p:spPr>
          <a:xfrm>
            <a:off x="12937227" y="2043206"/>
            <a:ext cx="107763" cy="107764"/>
          </a:xfrm>
          <a:prstGeom prst="rect">
            <a:avLst/>
          </a:prstGeom>
          <a:solidFill>
            <a:srgbClr val="7A8087"/>
          </a:solidFill>
          <a:ln w="12700">
            <a:solidFill>
              <a:srgbClr val="2F3337"/>
            </a:solidFill>
            <a:prstDash val="solid"/>
          </a:ln>
        </p:spPr>
      </p:sp>
      <p:sp>
        <p:nvSpPr>
          <p:cNvPr id="70" name="Shape 65"/>
          <p:cNvSpPr/>
          <p:nvPr/>
        </p:nvSpPr>
        <p:spPr>
          <a:xfrm>
            <a:off x="12620322" y="1574893"/>
            <a:ext cx="107762" cy="107764"/>
          </a:xfrm>
          <a:prstGeom prst="rect">
            <a:avLst/>
          </a:prstGeom>
          <a:solidFill>
            <a:srgbClr val="9AA0A6"/>
          </a:solidFill>
          <a:ln w="12700">
            <a:solidFill>
              <a:srgbClr val="2F3337"/>
            </a:solidFill>
            <a:prstDash val="solid"/>
          </a:ln>
        </p:spPr>
      </p:sp>
      <p:sp>
        <p:nvSpPr>
          <p:cNvPr id="71" name="Shape 66"/>
          <p:cNvSpPr/>
          <p:nvPr/>
        </p:nvSpPr>
        <p:spPr>
          <a:xfrm>
            <a:off x="10689327" y="3145526"/>
            <a:ext cx="107762" cy="107764"/>
          </a:xfrm>
          <a:prstGeom prst="rect">
            <a:avLst/>
          </a:prstGeom>
          <a:solidFill>
            <a:srgbClr val="9AA0A6"/>
          </a:solidFill>
          <a:ln w="12700">
            <a:solidFill>
              <a:srgbClr val="2F3337"/>
            </a:solidFill>
            <a:prstDash val="solid"/>
          </a:ln>
        </p:spPr>
      </p:sp>
      <p:sp>
        <p:nvSpPr>
          <p:cNvPr id="72" name="Shape 67"/>
          <p:cNvSpPr/>
          <p:nvPr/>
        </p:nvSpPr>
        <p:spPr>
          <a:xfrm>
            <a:off x="13234684" y="1696337"/>
            <a:ext cx="107764" cy="107764"/>
          </a:xfrm>
          <a:prstGeom prst="rect">
            <a:avLst/>
          </a:prstGeom>
          <a:solidFill>
            <a:srgbClr val="9AA0A6"/>
          </a:solidFill>
          <a:ln w="12700">
            <a:solidFill>
              <a:srgbClr val="2F3337"/>
            </a:solidFill>
            <a:prstDash val="solid"/>
          </a:ln>
        </p:spPr>
      </p:sp>
      <p:sp>
        <p:nvSpPr>
          <p:cNvPr id="73" name="Shape 68"/>
          <p:cNvSpPr/>
          <p:nvPr/>
        </p:nvSpPr>
        <p:spPr>
          <a:xfrm>
            <a:off x="11046713" y="2839138"/>
            <a:ext cx="107762" cy="107764"/>
          </a:xfrm>
          <a:prstGeom prst="rect">
            <a:avLst/>
          </a:prstGeom>
          <a:solidFill>
            <a:srgbClr val="B0B5BA"/>
          </a:solidFill>
          <a:ln w="12700">
            <a:solidFill>
              <a:srgbClr val="2F3337"/>
            </a:solidFill>
            <a:prstDash val="solid"/>
          </a:ln>
        </p:spPr>
      </p:sp>
      <p:sp>
        <p:nvSpPr>
          <p:cNvPr id="74" name="Shape 69"/>
          <p:cNvSpPr/>
          <p:nvPr/>
        </p:nvSpPr>
        <p:spPr>
          <a:xfrm>
            <a:off x="9004592" y="1474484"/>
            <a:ext cx="107762" cy="107764"/>
          </a:xfrm>
          <a:prstGeom prst="rect">
            <a:avLst/>
          </a:prstGeom>
          <a:solidFill>
            <a:srgbClr val="B0B5BA"/>
          </a:solidFill>
          <a:ln w="12700">
            <a:solidFill>
              <a:srgbClr val="2F3337"/>
            </a:solidFill>
            <a:prstDash val="solid"/>
          </a:ln>
        </p:spPr>
      </p:sp>
      <p:sp>
        <p:nvSpPr>
          <p:cNvPr id="75" name="Shape 70"/>
          <p:cNvSpPr/>
          <p:nvPr/>
        </p:nvSpPr>
        <p:spPr>
          <a:xfrm>
            <a:off x="8541638" y="1647124"/>
            <a:ext cx="107762" cy="107764"/>
          </a:xfrm>
          <a:prstGeom prst="rect">
            <a:avLst/>
          </a:prstGeom>
          <a:solidFill>
            <a:srgbClr val="B0B5BA"/>
          </a:solidFill>
          <a:ln w="12700">
            <a:solidFill>
              <a:srgbClr val="2F3337"/>
            </a:solidFill>
            <a:prstDash val="solid"/>
          </a:ln>
        </p:spPr>
      </p:sp>
      <p:sp>
        <p:nvSpPr>
          <p:cNvPr id="76" name="Shape 71"/>
          <p:cNvSpPr/>
          <p:nvPr/>
        </p:nvSpPr>
        <p:spPr>
          <a:xfrm>
            <a:off x="8566150" y="1713905"/>
            <a:ext cx="76200" cy="76200"/>
          </a:xfrm>
          <a:prstGeom prst="rect">
            <a:avLst/>
          </a:prstGeom>
          <a:solidFill>
            <a:srgbClr val="FFFFFF"/>
          </a:solidFill>
          <a:ln w="12700">
            <a:solidFill>
              <a:srgbClr val="2F3337"/>
            </a:solidFill>
            <a:prstDash val="solid"/>
          </a:ln>
        </p:spPr>
      </p:sp>
      <p:sp>
        <p:nvSpPr>
          <p:cNvPr id="77" name="Shape 72"/>
          <p:cNvSpPr/>
          <p:nvPr/>
        </p:nvSpPr>
        <p:spPr>
          <a:xfrm>
            <a:off x="9927034" y="2117130"/>
            <a:ext cx="76200" cy="76200"/>
          </a:xfrm>
          <a:prstGeom prst="rect">
            <a:avLst/>
          </a:prstGeom>
          <a:solidFill>
            <a:srgbClr val="FFFFFF"/>
          </a:solidFill>
          <a:ln w="12700">
            <a:solidFill>
              <a:srgbClr val="2F3337"/>
            </a:solidFill>
            <a:prstDash val="solid"/>
          </a:ln>
        </p:spPr>
      </p:sp>
      <p:sp>
        <p:nvSpPr>
          <p:cNvPr id="78" name="Shape 73"/>
          <p:cNvSpPr/>
          <p:nvPr/>
        </p:nvSpPr>
        <p:spPr>
          <a:xfrm>
            <a:off x="10395148" y="2597745"/>
            <a:ext cx="76200" cy="76200"/>
          </a:xfrm>
          <a:prstGeom prst="rect">
            <a:avLst/>
          </a:prstGeom>
          <a:solidFill>
            <a:srgbClr val="FFFFFF"/>
          </a:solidFill>
          <a:ln w="12700">
            <a:solidFill>
              <a:srgbClr val="2F3337"/>
            </a:solidFill>
            <a:prstDash val="solid"/>
          </a:ln>
        </p:spPr>
      </p:sp>
      <p:sp>
        <p:nvSpPr>
          <p:cNvPr id="79" name="Shape 74"/>
          <p:cNvSpPr/>
          <p:nvPr/>
        </p:nvSpPr>
        <p:spPr>
          <a:xfrm>
            <a:off x="11027172" y="1992114"/>
            <a:ext cx="76200" cy="76200"/>
          </a:xfrm>
          <a:prstGeom prst="rect">
            <a:avLst/>
          </a:prstGeom>
          <a:solidFill>
            <a:srgbClr val="FFFFFF"/>
          </a:solidFill>
          <a:ln w="12700">
            <a:solidFill>
              <a:srgbClr val="2F3337"/>
            </a:solidFill>
            <a:prstDash val="solid"/>
          </a:ln>
        </p:spPr>
      </p:sp>
      <p:sp>
        <p:nvSpPr>
          <p:cNvPr id="80" name="Shape 75"/>
          <p:cNvSpPr/>
          <p:nvPr/>
        </p:nvSpPr>
        <p:spPr>
          <a:xfrm>
            <a:off x="13549908" y="1909366"/>
            <a:ext cx="76200" cy="76200"/>
          </a:xfrm>
          <a:prstGeom prst="rect">
            <a:avLst/>
          </a:prstGeom>
          <a:solidFill>
            <a:srgbClr val="FFFFFF"/>
          </a:solidFill>
          <a:ln w="12700">
            <a:solidFill>
              <a:srgbClr val="2F3337"/>
            </a:solidFill>
            <a:prstDash val="solid"/>
          </a:ln>
        </p:spPr>
      </p:sp>
      <p:sp>
        <p:nvSpPr>
          <p:cNvPr id="81" name="t3_77"/>
          <p:cNvSpPr txBox="1"/>
          <p:nvPr/>
        </p:nvSpPr>
        <p:spPr>
          <a:xfrm>
            <a:off x="13842008" y="1676598"/>
            <a:ext cx="137557" cy="101600"/>
          </a:xfrm>
          <a:prstGeom prst="rect">
            <a:avLst/>
          </a:prstGeom>
          <a:noFill/>
          <a:ln/>
        </p:spPr>
        <p:txBody>
          <a:bodyPr wrap="none" lIns="0" tIns="0" rIns="0" bIns="0" rtlCol="0" anchor="t"/>
          <a:lstStyle/>
          <a:p>
            <a:pPr algn="l" indent="0" marL="0">
              <a:lnSpc>
                <a:spcPts val="702"/>
              </a:lnSpc>
              <a:buNone/>
            </a:pPr>
            <a:r>
              <a:rPr lang="en-US" sz="540" dirty="0">
                <a:solidFill>
                  <a:srgbClr val="333333"/>
                </a:solidFill>
                <a:latin typeface="Yu Gothic" pitchFamily="34" charset="0"/>
                <a:ea typeface="Yu Gothic" pitchFamily="34" charset="-122"/>
                <a:cs typeface="Yu Gothic" pitchFamily="34" charset="-120"/>
              </a:rPr>
              <a:t>IOC</a:t>
            </a:r>
            <a:endParaRPr lang="en-US" sz="540" dirty="0"/>
          </a:p>
        </p:txBody>
      </p:sp>
      <p:sp>
        <p:nvSpPr>
          <p:cNvPr id="82" name="t3_78"/>
          <p:cNvSpPr txBox="1"/>
          <p:nvPr/>
        </p:nvSpPr>
        <p:spPr>
          <a:xfrm>
            <a:off x="11292880" y="3000573"/>
            <a:ext cx="169132" cy="101600"/>
          </a:xfrm>
          <a:prstGeom prst="rect">
            <a:avLst/>
          </a:prstGeom>
          <a:noFill/>
          <a:ln/>
        </p:spPr>
        <p:txBody>
          <a:bodyPr wrap="none" lIns="0" tIns="0" rIns="0" bIns="0" rtlCol="0" anchor="t"/>
          <a:lstStyle/>
          <a:p>
            <a:pPr algn="l" indent="0" marL="0">
              <a:lnSpc>
                <a:spcPts val="702"/>
              </a:lnSpc>
              <a:buNone/>
            </a:pPr>
            <a:r>
              <a:rPr lang="en-US" sz="540" dirty="0">
                <a:solidFill>
                  <a:srgbClr val="333333"/>
                </a:solidFill>
                <a:latin typeface="Yu Gothic" pitchFamily="34" charset="0"/>
                <a:ea typeface="Yu Gothic" pitchFamily="34" charset="-122"/>
                <a:cs typeface="Yu Gothic" pitchFamily="34" charset="-120"/>
              </a:rPr>
              <a:t>BMA</a:t>
            </a:r>
            <a:endParaRPr lang="en-US" sz="540" dirty="0"/>
          </a:p>
        </p:txBody>
      </p:sp>
      <p:sp>
        <p:nvSpPr>
          <p:cNvPr id="83" name="t3_79"/>
          <p:cNvSpPr txBox="1"/>
          <p:nvPr/>
        </p:nvSpPr>
        <p:spPr>
          <a:xfrm>
            <a:off x="13777516" y="3020814"/>
            <a:ext cx="904859" cy="101600"/>
          </a:xfrm>
          <a:prstGeom prst="rect">
            <a:avLst/>
          </a:prstGeom>
          <a:noFill/>
          <a:ln/>
        </p:spPr>
        <p:txBody>
          <a:bodyPr wrap="none" lIns="0" tIns="0" rIns="0" bIns="0" rtlCol="0" anchor="t"/>
          <a:lstStyle/>
          <a:p>
            <a:pPr algn="l" indent="0" marL="0">
              <a:lnSpc>
                <a:spcPts val="702"/>
              </a:lnSpc>
              <a:buNone/>
            </a:pPr>
            <a:r>
              <a:rPr lang="en-US" sz="540" dirty="0">
                <a:solidFill>
                  <a:srgbClr val="333333"/>
                </a:solidFill>
                <a:latin typeface="Yu Gothic" pitchFamily="34" charset="0"/>
                <a:ea typeface="Yu Gothic" pitchFamily="34" charset="-122"/>
                <a:cs typeface="Yu Gothic" pitchFamily="34" charset="-120"/>
              </a:rPr>
              <a:t>Chile・Peru（銅・鉄鉱石）</a:t>
            </a:r>
            <a:endParaRPr lang="en-US" sz="540" dirty="0"/>
          </a:p>
        </p:txBody>
      </p:sp>
      <p:sp>
        <p:nvSpPr>
          <p:cNvPr id="84" name="t3_80"/>
          <p:cNvSpPr txBox="1"/>
          <p:nvPr/>
        </p:nvSpPr>
        <p:spPr>
          <a:xfrm>
            <a:off x="12229108" y="1995487"/>
            <a:ext cx="476012" cy="101600"/>
          </a:xfrm>
          <a:prstGeom prst="rect">
            <a:avLst/>
          </a:prstGeom>
          <a:noFill/>
          <a:ln/>
        </p:spPr>
        <p:txBody>
          <a:bodyPr wrap="none" lIns="0" tIns="0" rIns="0" bIns="0" rtlCol="0" anchor="t"/>
          <a:lstStyle/>
          <a:p>
            <a:pPr algn="l" indent="0" marL="0">
              <a:lnSpc>
                <a:spcPts val="702"/>
              </a:lnSpc>
              <a:buNone/>
            </a:pPr>
            <a:r>
              <a:rPr lang="en-US" sz="540" dirty="0">
                <a:solidFill>
                  <a:srgbClr val="333333"/>
                </a:solidFill>
                <a:latin typeface="Yu Gothic" pitchFamily="34" charset="0"/>
                <a:ea typeface="Yu Gothic" pitchFamily="34" charset="-122"/>
                <a:cs typeface="Yu Gothic" pitchFamily="34" charset="-120"/>
              </a:rPr>
              <a:t>Copper World</a:t>
            </a:r>
            <a:endParaRPr lang="en-US" sz="540" dirty="0"/>
          </a:p>
        </p:txBody>
      </p:sp>
      <p:sp>
        <p:nvSpPr>
          <p:cNvPr id="85" name="t3_81"/>
          <p:cNvSpPr txBox="1"/>
          <p:nvPr/>
        </p:nvSpPr>
        <p:spPr>
          <a:xfrm>
            <a:off x="12064603" y="1527175"/>
            <a:ext cx="352187" cy="101600"/>
          </a:xfrm>
          <a:prstGeom prst="rect">
            <a:avLst/>
          </a:prstGeom>
          <a:noFill/>
          <a:ln/>
        </p:spPr>
        <p:txBody>
          <a:bodyPr wrap="none" lIns="0" tIns="0" rIns="0" bIns="0" rtlCol="0" anchor="t"/>
          <a:lstStyle/>
          <a:p>
            <a:pPr algn="l" indent="0" marL="0">
              <a:lnSpc>
                <a:spcPts val="702"/>
              </a:lnSpc>
              <a:buNone/>
            </a:pPr>
            <a:r>
              <a:rPr lang="en-US" sz="540" dirty="0">
                <a:solidFill>
                  <a:srgbClr val="333333"/>
                </a:solidFill>
                <a:latin typeface="Yu Gothic" pitchFamily="34" charset="0"/>
                <a:ea typeface="Yu Gothic" pitchFamily="34" charset="-122"/>
                <a:cs typeface="Yu Gothic" pitchFamily="34" charset="-120"/>
              </a:rPr>
              <a:t>Turnagain</a:t>
            </a:r>
            <a:endParaRPr lang="en-US" sz="540" dirty="0"/>
          </a:p>
        </p:txBody>
      </p:sp>
      <p:sp>
        <p:nvSpPr>
          <p:cNvPr id="86" name="t3_82"/>
          <p:cNvSpPr txBox="1"/>
          <p:nvPr/>
        </p:nvSpPr>
        <p:spPr>
          <a:xfrm>
            <a:off x="13136166" y="1572419"/>
            <a:ext cx="414719" cy="101600"/>
          </a:xfrm>
          <a:prstGeom prst="rect">
            <a:avLst/>
          </a:prstGeom>
          <a:noFill/>
          <a:ln/>
        </p:spPr>
        <p:txBody>
          <a:bodyPr wrap="none" lIns="0" tIns="0" rIns="0" bIns="0" rtlCol="0" anchor="t"/>
          <a:lstStyle/>
          <a:p>
            <a:pPr algn="l" indent="0" marL="0">
              <a:lnSpc>
                <a:spcPts val="702"/>
              </a:lnSpc>
              <a:buNone/>
            </a:pPr>
            <a:r>
              <a:rPr lang="en-US" sz="540" dirty="0">
                <a:solidFill>
                  <a:srgbClr val="333333"/>
                </a:solidFill>
                <a:latin typeface="Yu Gothic" pitchFamily="34" charset="0"/>
                <a:ea typeface="Yu Gothic" pitchFamily="34" charset="-122"/>
                <a:cs typeface="Yu Gothic" pitchFamily="34" charset="-120"/>
              </a:rPr>
              <a:t>PAK Lithium</a:t>
            </a:r>
            <a:endParaRPr lang="en-US" sz="540" dirty="0"/>
          </a:p>
        </p:txBody>
      </p:sp>
      <p:sp>
        <p:nvSpPr>
          <p:cNvPr id="87" name="t3_83"/>
          <p:cNvSpPr txBox="1"/>
          <p:nvPr/>
        </p:nvSpPr>
        <p:spPr>
          <a:xfrm>
            <a:off x="9134673" y="1452166"/>
            <a:ext cx="222790" cy="101600"/>
          </a:xfrm>
          <a:prstGeom prst="rect">
            <a:avLst/>
          </a:prstGeom>
          <a:noFill/>
          <a:ln/>
        </p:spPr>
        <p:txBody>
          <a:bodyPr wrap="none" lIns="0" tIns="0" rIns="0" bIns="0" rtlCol="0" anchor="t"/>
          <a:lstStyle/>
          <a:p>
            <a:pPr algn="l" indent="0" marL="0">
              <a:lnSpc>
                <a:spcPts val="702"/>
              </a:lnSpc>
              <a:buNone/>
            </a:pPr>
            <a:r>
              <a:rPr lang="en-US" sz="540" dirty="0">
                <a:solidFill>
                  <a:srgbClr val="333333"/>
                </a:solidFill>
                <a:latin typeface="Yu Gothic" pitchFamily="34" charset="0"/>
                <a:ea typeface="Yu Gothic" pitchFamily="34" charset="-122"/>
                <a:cs typeface="Yu Gothic" pitchFamily="34" charset="-120"/>
              </a:rPr>
              <a:t>Arctial</a:t>
            </a:r>
            <a:endParaRPr lang="en-US" sz="540" dirty="0"/>
          </a:p>
        </p:txBody>
      </p:sp>
      <p:sp>
        <p:nvSpPr>
          <p:cNvPr id="88" name="t3_84"/>
          <p:cNvSpPr txBox="1"/>
          <p:nvPr/>
        </p:nvSpPr>
        <p:spPr>
          <a:xfrm>
            <a:off x="8087519" y="1548606"/>
            <a:ext cx="396351" cy="101600"/>
          </a:xfrm>
          <a:prstGeom prst="rect">
            <a:avLst/>
          </a:prstGeom>
          <a:noFill/>
          <a:ln/>
        </p:spPr>
        <p:txBody>
          <a:bodyPr wrap="none" lIns="0" tIns="0" rIns="0" bIns="0" rtlCol="0" anchor="t"/>
          <a:lstStyle/>
          <a:p>
            <a:pPr algn="l" indent="0" marL="0">
              <a:lnSpc>
                <a:spcPts val="702"/>
              </a:lnSpc>
              <a:buNone/>
            </a:pPr>
            <a:r>
              <a:rPr lang="en-US" sz="540" dirty="0">
                <a:solidFill>
                  <a:srgbClr val="333333"/>
                </a:solidFill>
                <a:latin typeface="Yu Gothic" pitchFamily="34" charset="0"/>
                <a:ea typeface="Yu Gothic" pitchFamily="34" charset="-122"/>
                <a:cs typeface="Yu Gothic" pitchFamily="34" charset="-120"/>
              </a:rPr>
              <a:t>Woodsmith</a:t>
            </a:r>
            <a:endParaRPr lang="en-US" sz="540" dirty="0"/>
          </a:p>
        </p:txBody>
      </p:sp>
      <p:sp>
        <p:nvSpPr>
          <p:cNvPr id="89" name="t3_85"/>
          <p:cNvSpPr txBox="1"/>
          <p:nvPr/>
        </p:nvSpPr>
        <p:spPr>
          <a:xfrm>
            <a:off x="11176794" y="2816820"/>
            <a:ext cx="301831" cy="101600"/>
          </a:xfrm>
          <a:prstGeom prst="rect">
            <a:avLst/>
          </a:prstGeom>
          <a:noFill/>
          <a:ln/>
        </p:spPr>
        <p:txBody>
          <a:bodyPr wrap="none" lIns="0" tIns="0" rIns="0" bIns="0" rtlCol="0" anchor="t"/>
          <a:lstStyle/>
          <a:p>
            <a:pPr algn="l" indent="0" marL="0">
              <a:lnSpc>
                <a:spcPts val="702"/>
              </a:lnSpc>
              <a:buNone/>
            </a:pPr>
            <a:r>
              <a:rPr lang="en-US" sz="540" dirty="0">
                <a:solidFill>
                  <a:srgbClr val="333333"/>
                </a:solidFill>
                <a:latin typeface="Yu Gothic" pitchFamily="34" charset="0"/>
                <a:ea typeface="Yu Gothic" pitchFamily="34" charset="-122"/>
                <a:cs typeface="Yu Gothic" pitchFamily="34" charset="-120"/>
              </a:rPr>
              <a:t>Aurukun</a:t>
            </a:r>
            <a:endParaRPr lang="en-US" sz="540" dirty="0"/>
          </a:p>
        </p:txBody>
      </p:sp>
      <p:sp>
        <p:nvSpPr>
          <p:cNvPr id="90" name="t3_86"/>
          <p:cNvSpPr txBox="1"/>
          <p:nvPr/>
        </p:nvSpPr>
        <p:spPr>
          <a:xfrm>
            <a:off x="10235208" y="3250208"/>
            <a:ext cx="351361" cy="101600"/>
          </a:xfrm>
          <a:prstGeom prst="rect">
            <a:avLst/>
          </a:prstGeom>
          <a:noFill/>
          <a:ln/>
        </p:spPr>
        <p:txBody>
          <a:bodyPr wrap="none" lIns="0" tIns="0" rIns="0" bIns="0" rtlCol="0" anchor="t"/>
          <a:lstStyle/>
          <a:p>
            <a:pPr algn="l" indent="0" marL="0">
              <a:lnSpc>
                <a:spcPts val="702"/>
              </a:lnSpc>
              <a:buNone/>
            </a:pPr>
            <a:r>
              <a:rPr lang="en-US" sz="540" dirty="0">
                <a:solidFill>
                  <a:srgbClr val="333333"/>
                </a:solidFill>
                <a:latin typeface="Yu Gothic" pitchFamily="34" charset="0"/>
                <a:ea typeface="Yu Gothic" pitchFamily="34" charset="-122"/>
                <a:cs typeface="Yu Gothic" pitchFamily="34" charset="-120"/>
              </a:rPr>
              <a:t>Kalgoorlie</a:t>
            </a:r>
            <a:endParaRPr lang="en-US" sz="540" dirty="0"/>
          </a:p>
        </p:txBody>
      </p:sp>
      <p:sp>
        <p:nvSpPr>
          <p:cNvPr id="91" name="t3_87"/>
          <p:cNvSpPr txBox="1"/>
          <p:nvPr/>
        </p:nvSpPr>
        <p:spPr>
          <a:xfrm>
            <a:off x="11141472" y="1979414"/>
            <a:ext cx="353012" cy="101600"/>
          </a:xfrm>
          <a:prstGeom prst="rect">
            <a:avLst/>
          </a:prstGeom>
          <a:noFill/>
          <a:ln/>
        </p:spPr>
        <p:txBody>
          <a:bodyPr wrap="none" lIns="0" tIns="0" rIns="0" bIns="0" rtlCol="0" anchor="t"/>
          <a:lstStyle/>
          <a:p>
            <a:pPr algn="l" indent="0" marL="0">
              <a:lnSpc>
                <a:spcPts val="702"/>
              </a:lnSpc>
              <a:buNone/>
            </a:pPr>
            <a:r>
              <a:rPr lang="en-US" sz="540" dirty="0">
                <a:solidFill>
                  <a:srgbClr val="333333"/>
                </a:solidFill>
                <a:latin typeface="Yu Gothic" pitchFamily="34" charset="0"/>
                <a:ea typeface="Yu Gothic" pitchFamily="34" charset="-122"/>
                <a:cs typeface="Yu Gothic" pitchFamily="34" charset="-120"/>
              </a:rPr>
              <a:t>RtM Japan</a:t>
            </a:r>
            <a:endParaRPr lang="en-US" sz="540" dirty="0"/>
          </a:p>
        </p:txBody>
      </p:sp>
      <p:sp>
        <p:nvSpPr>
          <p:cNvPr id="92" name="t3_88"/>
          <p:cNvSpPr txBox="1"/>
          <p:nvPr/>
        </p:nvSpPr>
        <p:spPr>
          <a:xfrm>
            <a:off x="9925248" y="2712045"/>
            <a:ext cx="602726" cy="101600"/>
          </a:xfrm>
          <a:prstGeom prst="rect">
            <a:avLst/>
          </a:prstGeom>
          <a:noFill/>
          <a:ln/>
        </p:spPr>
        <p:txBody>
          <a:bodyPr wrap="none" lIns="0" tIns="0" rIns="0" bIns="0" rtlCol="0" anchor="t"/>
          <a:lstStyle/>
          <a:p>
            <a:pPr algn="l" indent="0" marL="0">
              <a:lnSpc>
                <a:spcPts val="702"/>
              </a:lnSpc>
              <a:buNone/>
            </a:pPr>
            <a:r>
              <a:rPr lang="en-US" sz="540" dirty="0">
                <a:solidFill>
                  <a:srgbClr val="333333"/>
                </a:solidFill>
                <a:latin typeface="Yu Gothic" pitchFamily="34" charset="0"/>
                <a:ea typeface="Yu Gothic" pitchFamily="34" charset="-122"/>
                <a:cs typeface="Yu Gothic" pitchFamily="34" charset="-120"/>
              </a:rPr>
              <a:t>RtM International</a:t>
            </a:r>
            <a:endParaRPr lang="en-US" sz="540" dirty="0"/>
          </a:p>
        </p:txBody>
      </p:sp>
      <p:sp>
        <p:nvSpPr>
          <p:cNvPr id="93" name="t3_89"/>
          <p:cNvSpPr txBox="1"/>
          <p:nvPr/>
        </p:nvSpPr>
        <p:spPr>
          <a:xfrm>
            <a:off x="9406334" y="2104430"/>
            <a:ext cx="389747" cy="101600"/>
          </a:xfrm>
          <a:prstGeom prst="rect">
            <a:avLst/>
          </a:prstGeom>
          <a:noFill/>
          <a:ln/>
        </p:spPr>
        <p:txBody>
          <a:bodyPr wrap="none" lIns="0" tIns="0" rIns="0" bIns="0" rtlCol="0" anchor="t"/>
          <a:lstStyle/>
          <a:p>
            <a:pPr algn="l" indent="0" marL="0">
              <a:lnSpc>
                <a:spcPts val="702"/>
              </a:lnSpc>
              <a:buNone/>
            </a:pPr>
            <a:r>
              <a:rPr lang="en-US" sz="540" dirty="0">
                <a:solidFill>
                  <a:srgbClr val="333333"/>
                </a:solidFill>
                <a:latin typeface="Yu Gothic" pitchFamily="34" charset="0"/>
                <a:ea typeface="Yu Gothic" pitchFamily="34" charset="-122"/>
                <a:cs typeface="Yu Gothic" pitchFamily="34" charset="-120"/>
              </a:rPr>
              <a:t>RtM Bharat</a:t>
            </a:r>
            <a:endParaRPr lang="en-US" sz="540" dirty="0"/>
          </a:p>
        </p:txBody>
      </p:sp>
      <p:sp>
        <p:nvSpPr>
          <p:cNvPr id="94" name="t3_90"/>
          <p:cNvSpPr txBox="1"/>
          <p:nvPr/>
        </p:nvSpPr>
        <p:spPr>
          <a:xfrm>
            <a:off x="8680450" y="1777405"/>
            <a:ext cx="705501" cy="101600"/>
          </a:xfrm>
          <a:prstGeom prst="rect">
            <a:avLst/>
          </a:prstGeom>
          <a:noFill/>
          <a:ln/>
        </p:spPr>
        <p:txBody>
          <a:bodyPr wrap="none" lIns="0" tIns="0" rIns="0" bIns="0" rtlCol="0" anchor="t"/>
          <a:lstStyle/>
          <a:p>
            <a:pPr algn="l" indent="0" marL="0">
              <a:lnSpc>
                <a:spcPts val="702"/>
              </a:lnSpc>
              <a:buNone/>
            </a:pPr>
            <a:r>
              <a:rPr lang="en-US" sz="540" dirty="0">
                <a:solidFill>
                  <a:srgbClr val="333333"/>
                </a:solidFill>
                <a:latin typeface="Yu Gothic" pitchFamily="34" charset="0"/>
                <a:ea typeface="Yu Gothic" pitchFamily="34" charset="-122"/>
                <a:cs typeface="Yu Gothic" pitchFamily="34" charset="-120"/>
              </a:rPr>
              <a:t>RtM Europe・Triland</a:t>
            </a:r>
            <a:endParaRPr lang="en-US" sz="540" dirty="0"/>
          </a:p>
        </p:txBody>
      </p:sp>
      <p:sp>
        <p:nvSpPr>
          <p:cNvPr id="95" name="t3_91"/>
          <p:cNvSpPr txBox="1"/>
          <p:nvPr/>
        </p:nvSpPr>
        <p:spPr>
          <a:xfrm>
            <a:off x="13664208" y="1922066"/>
            <a:ext cx="474155" cy="101600"/>
          </a:xfrm>
          <a:prstGeom prst="rect">
            <a:avLst/>
          </a:prstGeom>
          <a:noFill/>
          <a:ln/>
        </p:spPr>
        <p:txBody>
          <a:bodyPr wrap="none" lIns="0" tIns="0" rIns="0" bIns="0" rtlCol="0" anchor="t"/>
          <a:lstStyle/>
          <a:p>
            <a:pPr algn="l" indent="0" marL="0">
              <a:lnSpc>
                <a:spcPts val="702"/>
              </a:lnSpc>
              <a:buNone/>
            </a:pPr>
            <a:r>
              <a:rPr lang="en-US" sz="540" dirty="0">
                <a:solidFill>
                  <a:srgbClr val="333333"/>
                </a:solidFill>
                <a:latin typeface="Yu Gothic" pitchFamily="34" charset="0"/>
                <a:ea typeface="Yu Gothic" pitchFamily="34" charset="-122"/>
                <a:cs typeface="Yu Gothic" pitchFamily="34" charset="-120"/>
              </a:rPr>
              <a:t>RtM Americas</a:t>
            </a:r>
            <a:endParaRPr lang="en-US" sz="540" dirty="0"/>
          </a:p>
        </p:txBody>
      </p:sp>
      <p:sp>
        <p:nvSpPr>
          <p:cNvPr id="96" name="t3_92"/>
          <p:cNvSpPr txBox="1"/>
          <p:nvPr/>
        </p:nvSpPr>
        <p:spPr>
          <a:xfrm>
            <a:off x="8166100" y="3695700"/>
            <a:ext cx="6603492" cy="114300"/>
          </a:xfrm>
          <a:prstGeom prst="rect">
            <a:avLst/>
          </a:prstGeom>
          <a:noFill/>
          <a:ln/>
        </p:spPr>
        <p:txBody>
          <a:bodyPr wrap="none" lIns="0" tIns="0" rIns="0" bIns="0" rtlCol="0" anchor="t"/>
          <a:lstStyle/>
          <a:p>
            <a:pPr algn="l" indent="0" marL="0">
              <a:lnSpc>
                <a:spcPts val="754"/>
              </a:lnSpc>
              <a:buNone/>
            </a:pPr>
            <a:r>
              <a:rPr lang="en-US" sz="580" dirty="0">
                <a:solidFill>
                  <a:srgbClr val="2F3337"/>
                </a:solidFill>
                <a:latin typeface="Yu Gothic" pitchFamily="34" charset="0"/>
                <a:ea typeface="Yu Gothic" pitchFamily="34" charset="-122"/>
                <a:cs typeface="Yu Gothic" pitchFamily="34" charset="-120"/>
              </a:rPr>
              <a:t>■</a:t>
            </a:r>
            <a:pPr algn="l" indent="0" marL="0">
              <a:lnSpc>
                <a:spcPts val="754"/>
              </a:lnSpc>
              <a:buNone/>
            </a:pPr>
            <a:r>
              <a:rPr lang="en-US" sz="580" dirty="0">
                <a:solidFill>
                  <a:srgbClr val="222222"/>
                </a:solidFill>
                <a:latin typeface="Yu Gothic" pitchFamily="34" charset="0"/>
                <a:ea typeface="Yu Gothic" pitchFamily="34" charset="-122"/>
                <a:cs typeface="Yu Gothic" pitchFamily="34" charset="-120"/>
              </a:rPr>
              <a:t>鉄鉱石　</a:t>
            </a:r>
            <a:pPr algn="l" indent="0" marL="0">
              <a:lnSpc>
                <a:spcPts val="754"/>
              </a:lnSpc>
              <a:buNone/>
            </a:pPr>
            <a:r>
              <a:rPr lang="en-US" sz="580" dirty="0">
                <a:solidFill>
                  <a:srgbClr val="555B61"/>
                </a:solidFill>
                <a:latin typeface="Yu Gothic" pitchFamily="34" charset="0"/>
                <a:ea typeface="Yu Gothic" pitchFamily="34" charset="-122"/>
                <a:cs typeface="Yu Gothic" pitchFamily="34" charset="-120"/>
              </a:rPr>
              <a:t>■</a:t>
            </a:r>
            <a:pPr algn="l" indent="0" marL="0">
              <a:lnSpc>
                <a:spcPts val="754"/>
              </a:lnSpc>
              <a:buNone/>
            </a:pPr>
            <a:r>
              <a:rPr lang="en-US" sz="580" dirty="0">
                <a:solidFill>
                  <a:srgbClr val="222222"/>
                </a:solidFill>
                <a:latin typeface="Yu Gothic" pitchFamily="34" charset="0"/>
                <a:ea typeface="Yu Gothic" pitchFamily="34" charset="-122"/>
                <a:cs typeface="Yu Gothic" pitchFamily="34" charset="-120"/>
              </a:rPr>
              <a:t>原料炭　</a:t>
            </a:r>
            <a:pPr algn="l" indent="0" marL="0">
              <a:lnSpc>
                <a:spcPts val="754"/>
              </a:lnSpc>
              <a:buNone/>
            </a:pPr>
            <a:r>
              <a:rPr lang="en-US" sz="580" dirty="0">
                <a:solidFill>
                  <a:srgbClr val="7A8087"/>
                </a:solidFill>
                <a:latin typeface="Yu Gothic" pitchFamily="34" charset="0"/>
                <a:ea typeface="Yu Gothic" pitchFamily="34" charset="-122"/>
                <a:cs typeface="Yu Gothic" pitchFamily="34" charset="-120"/>
              </a:rPr>
              <a:t>■</a:t>
            </a:r>
            <a:pPr algn="l" indent="0" marL="0">
              <a:lnSpc>
                <a:spcPts val="754"/>
              </a:lnSpc>
              <a:buNone/>
            </a:pPr>
            <a:r>
              <a:rPr lang="en-US" sz="580" dirty="0">
                <a:solidFill>
                  <a:srgbClr val="222222"/>
                </a:solidFill>
                <a:latin typeface="Yu Gothic" pitchFamily="34" charset="0"/>
                <a:ea typeface="Yu Gothic" pitchFamily="34" charset="-122"/>
                <a:cs typeface="Yu Gothic" pitchFamily="34" charset="-120"/>
              </a:rPr>
              <a:t>銅　</a:t>
            </a:r>
            <a:pPr algn="l" indent="0" marL="0">
              <a:lnSpc>
                <a:spcPts val="754"/>
              </a:lnSpc>
              <a:buNone/>
            </a:pPr>
            <a:r>
              <a:rPr lang="en-US" sz="580" dirty="0">
                <a:solidFill>
                  <a:srgbClr val="9AA0A6"/>
                </a:solidFill>
                <a:latin typeface="Yu Gothic" pitchFamily="34" charset="0"/>
                <a:ea typeface="Yu Gothic" pitchFamily="34" charset="-122"/>
                <a:cs typeface="Yu Gothic" pitchFamily="34" charset="-120"/>
              </a:rPr>
              <a:t>■</a:t>
            </a:r>
            <a:pPr algn="l" indent="0" marL="0">
              <a:lnSpc>
                <a:spcPts val="754"/>
              </a:lnSpc>
              <a:buNone/>
            </a:pPr>
            <a:r>
              <a:rPr lang="en-US" sz="580" dirty="0">
                <a:solidFill>
                  <a:srgbClr val="222222"/>
                </a:solidFill>
                <a:latin typeface="Yu Gothic" pitchFamily="34" charset="0"/>
                <a:ea typeface="Yu Gothic" pitchFamily="34" charset="-122"/>
                <a:cs typeface="Yu Gothic" pitchFamily="34" charset="-120"/>
              </a:rPr>
              <a:t>ニッケル　</a:t>
            </a:r>
            <a:pPr algn="l" indent="0" marL="0">
              <a:lnSpc>
                <a:spcPts val="754"/>
              </a:lnSpc>
              <a:buNone/>
            </a:pPr>
            <a:r>
              <a:rPr lang="en-US" sz="580" dirty="0">
                <a:solidFill>
                  <a:srgbClr val="9AA0A6"/>
                </a:solidFill>
                <a:latin typeface="Yu Gothic" pitchFamily="34" charset="0"/>
                <a:ea typeface="Yu Gothic" pitchFamily="34" charset="-122"/>
                <a:cs typeface="Yu Gothic" pitchFamily="34" charset="-120"/>
              </a:rPr>
              <a:t>■</a:t>
            </a:r>
            <a:pPr algn="l" indent="0" marL="0">
              <a:lnSpc>
                <a:spcPts val="754"/>
              </a:lnSpc>
              <a:buNone/>
            </a:pPr>
            <a:r>
              <a:rPr lang="en-US" sz="580" dirty="0">
                <a:solidFill>
                  <a:srgbClr val="222222"/>
                </a:solidFill>
                <a:latin typeface="Yu Gothic" pitchFamily="34" charset="0"/>
                <a:ea typeface="Yu Gothic" pitchFamily="34" charset="-122"/>
                <a:cs typeface="Yu Gothic" pitchFamily="34" charset="-120"/>
              </a:rPr>
              <a:t>リチウム　</a:t>
            </a:r>
            <a:pPr algn="l" indent="0" marL="0">
              <a:lnSpc>
                <a:spcPts val="754"/>
              </a:lnSpc>
              <a:buNone/>
            </a:pPr>
            <a:r>
              <a:rPr lang="en-US" sz="580" dirty="0">
                <a:solidFill>
                  <a:srgbClr val="B0B5BA"/>
                </a:solidFill>
                <a:latin typeface="Yu Gothic" pitchFamily="34" charset="0"/>
                <a:ea typeface="Yu Gothic" pitchFamily="34" charset="-122"/>
                <a:cs typeface="Yu Gothic" pitchFamily="34" charset="-120"/>
              </a:rPr>
              <a:t>■</a:t>
            </a:r>
            <a:pPr algn="l" indent="0" marL="0">
              <a:lnSpc>
                <a:spcPts val="754"/>
              </a:lnSpc>
              <a:buNone/>
            </a:pPr>
            <a:r>
              <a:rPr lang="en-US" sz="580" dirty="0">
                <a:solidFill>
                  <a:srgbClr val="222222"/>
                </a:solidFill>
                <a:latin typeface="Yu Gothic" pitchFamily="34" charset="0"/>
                <a:ea typeface="Yu Gothic" pitchFamily="34" charset="-122"/>
                <a:cs typeface="Yu Gothic" pitchFamily="34" charset="-120"/>
              </a:rPr>
              <a:t>ボーキサイト　</a:t>
            </a:r>
            <a:pPr algn="l" indent="0" marL="0">
              <a:lnSpc>
                <a:spcPts val="754"/>
              </a:lnSpc>
              <a:buNone/>
            </a:pPr>
            <a:r>
              <a:rPr lang="en-US" sz="580" dirty="0">
                <a:solidFill>
                  <a:srgbClr val="B0B5BA"/>
                </a:solidFill>
                <a:latin typeface="Yu Gothic" pitchFamily="34" charset="0"/>
                <a:ea typeface="Yu Gothic" pitchFamily="34" charset="-122"/>
                <a:cs typeface="Yu Gothic" pitchFamily="34" charset="-120"/>
              </a:rPr>
              <a:t>■</a:t>
            </a:r>
            <a:pPr algn="l" indent="0" marL="0">
              <a:lnSpc>
                <a:spcPts val="754"/>
              </a:lnSpc>
              <a:buNone/>
            </a:pPr>
            <a:r>
              <a:rPr lang="en-US" sz="580" dirty="0">
                <a:solidFill>
                  <a:srgbClr val="222222"/>
                </a:solidFill>
                <a:latin typeface="Yu Gothic" pitchFamily="34" charset="0"/>
                <a:ea typeface="Yu Gothic" pitchFamily="34" charset="-122"/>
                <a:cs typeface="Yu Gothic" pitchFamily="34" charset="-120"/>
              </a:rPr>
              <a:t>低炭素アルミ　</a:t>
            </a:r>
            <a:pPr algn="l" indent="0" marL="0">
              <a:lnSpc>
                <a:spcPts val="754"/>
              </a:lnSpc>
              <a:buNone/>
            </a:pPr>
            <a:r>
              <a:rPr lang="en-US" sz="580" dirty="0">
                <a:solidFill>
                  <a:srgbClr val="B0B5BA"/>
                </a:solidFill>
                <a:latin typeface="Yu Gothic" pitchFamily="34" charset="0"/>
                <a:ea typeface="Yu Gothic" pitchFamily="34" charset="-122"/>
                <a:cs typeface="Yu Gothic" pitchFamily="34" charset="-120"/>
              </a:rPr>
              <a:t>■</a:t>
            </a:r>
            <a:pPr algn="l" indent="0" marL="0">
              <a:lnSpc>
                <a:spcPts val="754"/>
              </a:lnSpc>
              <a:buNone/>
            </a:pPr>
            <a:r>
              <a:rPr lang="en-US" sz="580" dirty="0">
                <a:solidFill>
                  <a:srgbClr val="222222"/>
                </a:solidFill>
                <a:latin typeface="Yu Gothic" pitchFamily="34" charset="0"/>
                <a:ea typeface="Yu Gothic" pitchFamily="34" charset="-122"/>
                <a:cs typeface="Yu Gothic" pitchFamily="34" charset="-120"/>
              </a:rPr>
              <a:t>肥料資源　□トレーディング</a:t>
            </a:r>
            <a:endParaRPr lang="en-US" sz="580" dirty="0"/>
          </a:p>
        </p:txBody>
      </p:sp>
      <p:sp>
        <p:nvSpPr>
          <p:cNvPr id="97" name="t3_93"/>
          <p:cNvSpPr txBox="1"/>
          <p:nvPr/>
        </p:nvSpPr>
        <p:spPr>
          <a:xfrm>
            <a:off x="8166100" y="3835400"/>
            <a:ext cx="6603492" cy="114300"/>
          </a:xfrm>
          <a:prstGeom prst="rect">
            <a:avLst/>
          </a:prstGeom>
          <a:noFill/>
          <a:ln/>
        </p:spPr>
        <p:txBody>
          <a:bodyPr wrap="none" lIns="0" tIns="0" rIns="0" bIns="0" rtlCol="0" anchor="t"/>
          <a:lstStyle/>
          <a:p>
            <a:pPr algn="l" indent="0" marL="0">
              <a:lnSpc>
                <a:spcPts val="754"/>
              </a:lnSpc>
              <a:buNone/>
            </a:pPr>
            <a:r>
              <a:rPr lang="en-US" sz="580" dirty="0">
                <a:solidFill>
                  <a:srgbClr val="555555"/>
                </a:solidFill>
                <a:latin typeface="Yu Gothic" pitchFamily="34" charset="0"/>
                <a:ea typeface="Yu Gothic" pitchFamily="34" charset="-122"/>
                <a:cs typeface="Yu Gothic" pitchFamily="34" charset="-120"/>
              </a:rPr>
              <a:t>○既存プロジェクト　◇探査・探鉱・開発プロジェクト　□トレーディング拠点</a:t>
            </a:r>
            <a:endParaRPr lang="en-US" sz="580" dirty="0"/>
          </a:p>
        </p:txBody>
      </p:sp>
      <p:sp>
        <p:nvSpPr>
          <p:cNvPr id="98" name="t3_94"/>
          <p:cNvSpPr txBox="1"/>
          <p:nvPr/>
        </p:nvSpPr>
        <p:spPr>
          <a:xfrm>
            <a:off x="8166100" y="3975100"/>
            <a:ext cx="6603492" cy="101600"/>
          </a:xfrm>
          <a:prstGeom prst="rect">
            <a:avLst/>
          </a:prstGeom>
          <a:noFill/>
          <a:ln/>
        </p:spPr>
        <p:txBody>
          <a:bodyPr wrap="none" lIns="0" tIns="0" rIns="0" bIns="0" rtlCol="0" anchor="t"/>
          <a:lstStyle/>
          <a:p>
            <a:pPr algn="l" indent="0" marL="0">
              <a:lnSpc>
                <a:spcPts val="728"/>
              </a:lnSpc>
              <a:buNone/>
            </a:pPr>
            <a:r>
              <a:rPr lang="en-US" sz="560" dirty="0">
                <a:solidFill>
                  <a:srgbClr val="888888"/>
                </a:solidFill>
                <a:latin typeface="Yu Gothic" pitchFamily="34" charset="0"/>
                <a:ea typeface="Yu Gothic" pitchFamily="34" charset="-122"/>
                <a:cs typeface="Yu Gothic" pitchFamily="34" charset="-120"/>
              </a:rPr>
              <a:t>図の出典・簡略化元：金属資源G_P10（事業・プロジェクト一覧）。凡例の色分けは台割用のグレー階調</a:t>
            </a:r>
            <a:endParaRPr lang="en-US" sz="560" dirty="0"/>
          </a:p>
        </p:txBody>
      </p:sp>
      <p:pic>
        <p:nvPicPr>
          <p:cNvPr id="99" name="Image 2" descr="preencoded.png">    </p:cNvPr>
          <p:cNvPicPr>
            <a:picLocks noChangeAspect="1"/>
          </p:cNvPicPr>
          <p:nvPr/>
        </p:nvPicPr>
        <p:blipFill>
          <a:blip r:embed="rId3"/>
          <a:stretch>
            <a:fillRect/>
          </a:stretch>
        </p:blipFill>
        <p:spPr>
          <a:xfrm>
            <a:off x="8166100" y="4152900"/>
            <a:ext cx="990600" cy="508000"/>
          </a:xfrm>
          <a:prstGeom prst="rect">
            <a:avLst/>
          </a:prstGeom>
        </p:spPr>
      </p:pic>
      <p:sp>
        <p:nvSpPr>
          <p:cNvPr id="100" name="t3_96"/>
          <p:cNvSpPr txBox="1"/>
          <p:nvPr/>
        </p:nvSpPr>
        <p:spPr>
          <a:xfrm>
            <a:off x="8166100" y="4686300"/>
            <a:ext cx="1095756" cy="127000"/>
          </a:xfrm>
          <a:prstGeom prst="rect">
            <a:avLst/>
          </a:prstGeom>
          <a:noFill/>
          <a:ln/>
        </p:spPr>
        <p:txBody>
          <a:bodyPr wrap="none" lIns="0" tIns="0" rIns="0" bIns="0" rtlCol="0" anchor="t"/>
          <a:lstStyle/>
          <a:p>
            <a:pPr algn="l" indent="0" marL="0">
              <a:lnSpc>
                <a:spcPts val="858"/>
              </a:lnSpc>
              <a:buNone/>
            </a:pPr>
            <a:r>
              <a:rPr lang="en-US" sz="660" dirty="0">
                <a:solidFill>
                  <a:srgbClr val="222222"/>
                </a:solidFill>
                <a:latin typeface="Yu Gothic" pitchFamily="34" charset="0"/>
                <a:ea typeface="Yu Gothic" pitchFamily="34" charset="-122"/>
                <a:cs typeface="Yu Gothic" pitchFamily="34" charset="-120"/>
              </a:rPr>
              <a:t>鉄鉱石</a:t>
            </a:r>
            <a:endParaRPr lang="en-US" sz="660" dirty="0"/>
          </a:p>
        </p:txBody>
      </p:sp>
      <p:sp>
        <p:nvSpPr>
          <p:cNvPr id="101" name="t3_97"/>
          <p:cNvSpPr txBox="1"/>
          <p:nvPr/>
        </p:nvSpPr>
        <p:spPr>
          <a:xfrm>
            <a:off x="8166100" y="4813300"/>
            <a:ext cx="1042924" cy="213122"/>
          </a:xfrm>
          <a:prstGeom prst="rect">
            <a:avLst/>
          </a:prstGeom>
          <a:noFill/>
          <a:ln/>
        </p:spPr>
        <p:txBody>
          <a:bodyPr wrap="square" lIns="0" tIns="0" rIns="0" bIns="0" rtlCol="0" anchor="t"/>
          <a:lstStyle/>
          <a:p>
            <a:pPr algn="l" indent="0" marL="0">
              <a:lnSpc>
                <a:spcPts val="840"/>
              </a:lnSpc>
              <a:buNone/>
            </a:pPr>
            <a:r>
              <a:rPr lang="en-US" sz="560" dirty="0">
                <a:solidFill>
                  <a:srgbClr val="9AA0A6"/>
                </a:solidFill>
                <a:latin typeface="Yu Gothic" pitchFamily="34" charset="0"/>
                <a:ea typeface="Yu Gothic" pitchFamily="34" charset="-122"/>
                <a:cs typeface="Yu Gothic" pitchFamily="34" charset="-120"/>
              </a:rPr>
              <a:t>ＸＸＸＸＸＸＸＸＸＸＸＸＸＸＸＸＸＸＸＸＸＸＸＸ</a:t>
            </a:r>
            <a:endParaRPr lang="en-US" sz="560" dirty="0"/>
          </a:p>
        </p:txBody>
      </p:sp>
      <p:pic>
        <p:nvPicPr>
          <p:cNvPr id="102" name="Image 3" descr="preencoded.png">    </p:cNvPr>
          <p:cNvPicPr>
            <a:picLocks noChangeAspect="1"/>
          </p:cNvPicPr>
          <p:nvPr/>
        </p:nvPicPr>
        <p:blipFill>
          <a:blip r:embed="rId4"/>
          <a:stretch>
            <a:fillRect/>
          </a:stretch>
        </p:blipFill>
        <p:spPr>
          <a:xfrm>
            <a:off x="9232900" y="4152900"/>
            <a:ext cx="990600" cy="508000"/>
          </a:xfrm>
          <a:prstGeom prst="rect">
            <a:avLst/>
          </a:prstGeom>
        </p:spPr>
      </p:pic>
      <p:sp>
        <p:nvSpPr>
          <p:cNvPr id="103" name="t3_99"/>
          <p:cNvSpPr txBox="1"/>
          <p:nvPr/>
        </p:nvSpPr>
        <p:spPr>
          <a:xfrm>
            <a:off x="9232900" y="4686300"/>
            <a:ext cx="1095756" cy="127000"/>
          </a:xfrm>
          <a:prstGeom prst="rect">
            <a:avLst/>
          </a:prstGeom>
          <a:noFill/>
          <a:ln/>
        </p:spPr>
        <p:txBody>
          <a:bodyPr wrap="none" lIns="0" tIns="0" rIns="0" bIns="0" rtlCol="0" anchor="t"/>
          <a:lstStyle/>
          <a:p>
            <a:pPr algn="l" indent="0" marL="0">
              <a:lnSpc>
                <a:spcPts val="858"/>
              </a:lnSpc>
              <a:buNone/>
            </a:pPr>
            <a:r>
              <a:rPr lang="en-US" sz="660" dirty="0">
                <a:solidFill>
                  <a:srgbClr val="222222"/>
                </a:solidFill>
                <a:latin typeface="Yu Gothic" pitchFamily="34" charset="0"/>
                <a:ea typeface="Yu Gothic" pitchFamily="34" charset="-122"/>
                <a:cs typeface="Yu Gothic" pitchFamily="34" charset="-120"/>
              </a:rPr>
              <a:t>電池資源（ニッケル）</a:t>
            </a:r>
            <a:endParaRPr lang="en-US" sz="660" dirty="0"/>
          </a:p>
        </p:txBody>
      </p:sp>
      <p:sp>
        <p:nvSpPr>
          <p:cNvPr id="104" name="t3_100"/>
          <p:cNvSpPr txBox="1"/>
          <p:nvPr/>
        </p:nvSpPr>
        <p:spPr>
          <a:xfrm>
            <a:off x="9232900" y="4813300"/>
            <a:ext cx="1042924" cy="213122"/>
          </a:xfrm>
          <a:prstGeom prst="rect">
            <a:avLst/>
          </a:prstGeom>
          <a:noFill/>
          <a:ln/>
        </p:spPr>
        <p:txBody>
          <a:bodyPr wrap="square" lIns="0" tIns="0" rIns="0" bIns="0" rtlCol="0" anchor="t"/>
          <a:lstStyle/>
          <a:p>
            <a:pPr algn="l" indent="0" marL="0">
              <a:lnSpc>
                <a:spcPts val="840"/>
              </a:lnSpc>
              <a:buNone/>
            </a:pPr>
            <a:r>
              <a:rPr lang="en-US" sz="560" dirty="0">
                <a:solidFill>
                  <a:srgbClr val="9AA0A6"/>
                </a:solidFill>
                <a:latin typeface="Yu Gothic" pitchFamily="34" charset="0"/>
                <a:ea typeface="Yu Gothic" pitchFamily="34" charset="-122"/>
                <a:cs typeface="Yu Gothic" pitchFamily="34" charset="-120"/>
              </a:rPr>
              <a:t>ＸＸＸＸＸＸＸＸＸＸＸＸＸＸＸＸＸＸＸＸＸＸＸＸ</a:t>
            </a:r>
            <a:endParaRPr lang="en-US" sz="560" dirty="0"/>
          </a:p>
        </p:txBody>
      </p:sp>
      <p:pic>
        <p:nvPicPr>
          <p:cNvPr id="105" name="Image 4" descr="preencoded.png">    </p:cNvPr>
          <p:cNvPicPr>
            <a:picLocks noChangeAspect="1"/>
          </p:cNvPicPr>
          <p:nvPr/>
        </p:nvPicPr>
        <p:blipFill>
          <a:blip r:embed="rId5"/>
          <a:stretch>
            <a:fillRect/>
          </a:stretch>
        </p:blipFill>
        <p:spPr>
          <a:xfrm>
            <a:off x="10299700" y="4152900"/>
            <a:ext cx="990600" cy="508000"/>
          </a:xfrm>
          <a:prstGeom prst="rect">
            <a:avLst/>
          </a:prstGeom>
        </p:spPr>
      </p:pic>
      <p:sp>
        <p:nvSpPr>
          <p:cNvPr id="106" name="t3_102"/>
          <p:cNvSpPr txBox="1"/>
          <p:nvPr/>
        </p:nvSpPr>
        <p:spPr>
          <a:xfrm>
            <a:off x="10299700" y="4686300"/>
            <a:ext cx="1095756" cy="127000"/>
          </a:xfrm>
          <a:prstGeom prst="rect">
            <a:avLst/>
          </a:prstGeom>
          <a:noFill/>
          <a:ln/>
        </p:spPr>
        <p:txBody>
          <a:bodyPr wrap="none" lIns="0" tIns="0" rIns="0" bIns="0" rtlCol="0" anchor="t"/>
          <a:lstStyle/>
          <a:p>
            <a:pPr algn="l" indent="0" marL="0">
              <a:lnSpc>
                <a:spcPts val="858"/>
              </a:lnSpc>
              <a:buNone/>
            </a:pPr>
            <a:r>
              <a:rPr lang="en-US" sz="660" dirty="0">
                <a:solidFill>
                  <a:srgbClr val="222222"/>
                </a:solidFill>
                <a:latin typeface="Yu Gothic" pitchFamily="34" charset="0"/>
                <a:ea typeface="Yu Gothic" pitchFamily="34" charset="-122"/>
                <a:cs typeface="Yu Gothic" pitchFamily="34" charset="-120"/>
              </a:rPr>
              <a:t>電池資源（リチウム）</a:t>
            </a:r>
            <a:endParaRPr lang="en-US" sz="660" dirty="0"/>
          </a:p>
        </p:txBody>
      </p:sp>
      <p:sp>
        <p:nvSpPr>
          <p:cNvPr id="107" name="t3_103"/>
          <p:cNvSpPr txBox="1"/>
          <p:nvPr/>
        </p:nvSpPr>
        <p:spPr>
          <a:xfrm>
            <a:off x="10299700" y="4813300"/>
            <a:ext cx="1042924" cy="213122"/>
          </a:xfrm>
          <a:prstGeom prst="rect">
            <a:avLst/>
          </a:prstGeom>
          <a:noFill/>
          <a:ln/>
        </p:spPr>
        <p:txBody>
          <a:bodyPr wrap="square" lIns="0" tIns="0" rIns="0" bIns="0" rtlCol="0" anchor="t"/>
          <a:lstStyle/>
          <a:p>
            <a:pPr algn="l" indent="0" marL="0">
              <a:lnSpc>
                <a:spcPts val="840"/>
              </a:lnSpc>
              <a:buNone/>
            </a:pPr>
            <a:r>
              <a:rPr lang="en-US" sz="560" dirty="0">
                <a:solidFill>
                  <a:srgbClr val="9AA0A6"/>
                </a:solidFill>
                <a:latin typeface="Yu Gothic" pitchFamily="34" charset="0"/>
                <a:ea typeface="Yu Gothic" pitchFamily="34" charset="-122"/>
                <a:cs typeface="Yu Gothic" pitchFamily="34" charset="-120"/>
              </a:rPr>
              <a:t>ＸＸＸＸＸＸＸＸＸＸＸＸＸＸＸＸＸＸＸＸＸＸＸＸ</a:t>
            </a:r>
            <a:endParaRPr lang="en-US" sz="560" dirty="0"/>
          </a:p>
        </p:txBody>
      </p:sp>
      <p:sp>
        <p:nvSpPr>
          <p:cNvPr id="108" name="t3_104"/>
          <p:cNvSpPr txBox="1"/>
          <p:nvPr/>
        </p:nvSpPr>
        <p:spPr>
          <a:xfrm>
            <a:off x="11366500" y="4152900"/>
            <a:ext cx="990600" cy="508000"/>
          </a:xfrm>
          <a:prstGeom prst="rect">
            <a:avLst/>
          </a:prstGeom>
          <a:solidFill>
            <a:srgbClr val="EEF0F2"/>
          </a:solidFill>
          <a:ln w="12700">
            <a:solidFill>
              <a:srgbClr val="B6BBC0"/>
            </a:solidFill>
            <a:prstDash val="dash"/>
          </a:ln>
        </p:spPr>
        <p:txBody>
          <a:bodyPr wrap="square" lIns="25400" tIns="38100" rIns="38100" bIns="25400" rtlCol="0" anchor="ctr"/>
          <a:lstStyle/>
          <a:p>
            <a:pPr algn="ctr" indent="0" marL="0">
              <a:lnSpc>
                <a:spcPts val="2080"/>
              </a:lnSpc>
              <a:buNone/>
            </a:pPr>
            <a:r>
              <a:rPr lang="en-US" sz="700" dirty="0">
                <a:solidFill>
                  <a:srgbClr val="6A7076"/>
                </a:solidFill>
                <a:latin typeface="Yu Gothic" pitchFamily="34" charset="0"/>
                <a:ea typeface="Yu Gothic" pitchFamily="34" charset="-122"/>
                <a:cs typeface="Yu Gothic" pitchFamily="34" charset="-120"/>
              </a:rPr>
              <a:t>写真：〇〇</a:t>
            </a:r>
            <a:endParaRPr lang="en-US" sz="700" dirty="0"/>
          </a:p>
        </p:txBody>
      </p:sp>
      <p:sp>
        <p:nvSpPr>
          <p:cNvPr id="109" name="t3_105"/>
          <p:cNvSpPr txBox="1"/>
          <p:nvPr/>
        </p:nvSpPr>
        <p:spPr>
          <a:xfrm>
            <a:off x="11366500" y="4686300"/>
            <a:ext cx="1095756" cy="127000"/>
          </a:xfrm>
          <a:prstGeom prst="rect">
            <a:avLst/>
          </a:prstGeom>
          <a:noFill/>
          <a:ln/>
        </p:spPr>
        <p:txBody>
          <a:bodyPr wrap="none" lIns="0" tIns="0" rIns="0" bIns="0" rtlCol="0" anchor="t"/>
          <a:lstStyle/>
          <a:p>
            <a:pPr algn="l" indent="0" marL="0">
              <a:lnSpc>
                <a:spcPts val="858"/>
              </a:lnSpc>
              <a:buNone/>
            </a:pPr>
            <a:r>
              <a:rPr lang="en-US" sz="660" dirty="0">
                <a:solidFill>
                  <a:srgbClr val="222222"/>
                </a:solidFill>
                <a:latin typeface="Yu Gothic" pitchFamily="34" charset="0"/>
                <a:ea typeface="Yu Gothic" pitchFamily="34" charset="-122"/>
                <a:cs typeface="Yu Gothic" pitchFamily="34" charset="-120"/>
              </a:rPr>
              <a:t>肥料資源</a:t>
            </a:r>
            <a:endParaRPr lang="en-US" sz="660" dirty="0"/>
          </a:p>
        </p:txBody>
      </p:sp>
      <p:sp>
        <p:nvSpPr>
          <p:cNvPr id="110" name="t3_106"/>
          <p:cNvSpPr txBox="1"/>
          <p:nvPr/>
        </p:nvSpPr>
        <p:spPr>
          <a:xfrm>
            <a:off x="11366500" y="4813300"/>
            <a:ext cx="1042924" cy="213122"/>
          </a:xfrm>
          <a:prstGeom prst="rect">
            <a:avLst/>
          </a:prstGeom>
          <a:noFill/>
          <a:ln/>
        </p:spPr>
        <p:txBody>
          <a:bodyPr wrap="square" lIns="0" tIns="0" rIns="0" bIns="0" rtlCol="0" anchor="t"/>
          <a:lstStyle/>
          <a:p>
            <a:pPr algn="l" indent="0" marL="0">
              <a:lnSpc>
                <a:spcPts val="840"/>
              </a:lnSpc>
              <a:buNone/>
            </a:pPr>
            <a:r>
              <a:rPr lang="en-US" sz="560" dirty="0">
                <a:solidFill>
                  <a:srgbClr val="9AA0A6"/>
                </a:solidFill>
                <a:latin typeface="Yu Gothic" pitchFamily="34" charset="0"/>
                <a:ea typeface="Yu Gothic" pitchFamily="34" charset="-122"/>
                <a:cs typeface="Yu Gothic" pitchFamily="34" charset="-120"/>
              </a:rPr>
              <a:t>ＸＸＸＸＸＸＸＸＸＸＸＸＸＸＸＸＸＸＸＸＸＸＸＸ</a:t>
            </a:r>
            <a:endParaRPr lang="en-US" sz="560" dirty="0"/>
          </a:p>
        </p:txBody>
      </p:sp>
      <p:pic>
        <p:nvPicPr>
          <p:cNvPr id="111" name="Image 5" descr="preencoded.png">    </p:cNvPr>
          <p:cNvPicPr>
            <a:picLocks noChangeAspect="1"/>
          </p:cNvPicPr>
          <p:nvPr/>
        </p:nvPicPr>
        <p:blipFill>
          <a:blip r:embed="rId6"/>
          <a:stretch>
            <a:fillRect/>
          </a:stretch>
        </p:blipFill>
        <p:spPr>
          <a:xfrm>
            <a:off x="12433300" y="4152900"/>
            <a:ext cx="990600" cy="508000"/>
          </a:xfrm>
          <a:prstGeom prst="rect">
            <a:avLst/>
          </a:prstGeom>
        </p:spPr>
      </p:pic>
      <p:sp>
        <p:nvSpPr>
          <p:cNvPr id="112" name="t3_108"/>
          <p:cNvSpPr txBox="1"/>
          <p:nvPr/>
        </p:nvSpPr>
        <p:spPr>
          <a:xfrm>
            <a:off x="12433300" y="4686300"/>
            <a:ext cx="1095756" cy="127000"/>
          </a:xfrm>
          <a:prstGeom prst="rect">
            <a:avLst/>
          </a:prstGeom>
          <a:noFill/>
          <a:ln/>
        </p:spPr>
        <p:txBody>
          <a:bodyPr wrap="none" lIns="0" tIns="0" rIns="0" bIns="0" rtlCol="0" anchor="t"/>
          <a:lstStyle/>
          <a:p>
            <a:pPr algn="l" indent="0" marL="0">
              <a:lnSpc>
                <a:spcPts val="858"/>
              </a:lnSpc>
              <a:buNone/>
            </a:pPr>
            <a:r>
              <a:rPr lang="en-US" sz="660" dirty="0">
                <a:solidFill>
                  <a:srgbClr val="222222"/>
                </a:solidFill>
                <a:latin typeface="Yu Gothic" pitchFamily="34" charset="0"/>
                <a:ea typeface="Yu Gothic" pitchFamily="34" charset="-122"/>
                <a:cs typeface="Yu Gothic" pitchFamily="34" charset="-120"/>
              </a:rPr>
              <a:t>アルミ・ボーキサイト</a:t>
            </a:r>
            <a:endParaRPr lang="en-US" sz="660" dirty="0"/>
          </a:p>
        </p:txBody>
      </p:sp>
      <p:sp>
        <p:nvSpPr>
          <p:cNvPr id="113" name="t3_109"/>
          <p:cNvSpPr txBox="1"/>
          <p:nvPr/>
        </p:nvSpPr>
        <p:spPr>
          <a:xfrm>
            <a:off x="12433300" y="4813300"/>
            <a:ext cx="1042924" cy="213122"/>
          </a:xfrm>
          <a:prstGeom prst="rect">
            <a:avLst/>
          </a:prstGeom>
          <a:noFill/>
          <a:ln/>
        </p:spPr>
        <p:txBody>
          <a:bodyPr wrap="square" lIns="0" tIns="0" rIns="0" bIns="0" rtlCol="0" anchor="t"/>
          <a:lstStyle/>
          <a:p>
            <a:pPr algn="l" indent="0" marL="0">
              <a:lnSpc>
                <a:spcPts val="840"/>
              </a:lnSpc>
              <a:buNone/>
            </a:pPr>
            <a:r>
              <a:rPr lang="en-US" sz="560" dirty="0">
                <a:solidFill>
                  <a:srgbClr val="9AA0A6"/>
                </a:solidFill>
                <a:latin typeface="Yu Gothic" pitchFamily="34" charset="0"/>
                <a:ea typeface="Yu Gothic" pitchFamily="34" charset="-122"/>
                <a:cs typeface="Yu Gothic" pitchFamily="34" charset="-120"/>
              </a:rPr>
              <a:t>ＸＸＸＸＸＸＸＸＸＸＸＸＸＸＸＸＸＸＸＸＸＸＸＸ</a:t>
            </a:r>
            <a:endParaRPr lang="en-US" sz="560" dirty="0"/>
          </a:p>
        </p:txBody>
      </p:sp>
      <p:pic>
        <p:nvPicPr>
          <p:cNvPr id="114" name="Image 6" descr="preencoded.png">    </p:cNvPr>
          <p:cNvPicPr>
            <a:picLocks noChangeAspect="1"/>
          </p:cNvPicPr>
          <p:nvPr/>
        </p:nvPicPr>
        <p:blipFill>
          <a:blip r:embed="rId7"/>
          <a:stretch>
            <a:fillRect/>
          </a:stretch>
        </p:blipFill>
        <p:spPr>
          <a:xfrm>
            <a:off x="13500100" y="4152900"/>
            <a:ext cx="990600" cy="508000"/>
          </a:xfrm>
          <a:prstGeom prst="rect">
            <a:avLst/>
          </a:prstGeom>
        </p:spPr>
      </p:pic>
      <p:sp>
        <p:nvSpPr>
          <p:cNvPr id="115" name="t3_111"/>
          <p:cNvSpPr txBox="1"/>
          <p:nvPr/>
        </p:nvSpPr>
        <p:spPr>
          <a:xfrm>
            <a:off x="13500100" y="4686300"/>
            <a:ext cx="1095756" cy="127000"/>
          </a:xfrm>
          <a:prstGeom prst="rect">
            <a:avLst/>
          </a:prstGeom>
          <a:noFill/>
          <a:ln/>
        </p:spPr>
        <p:txBody>
          <a:bodyPr wrap="none" lIns="0" tIns="0" rIns="0" bIns="0" rtlCol="0" anchor="t"/>
          <a:lstStyle/>
          <a:p>
            <a:pPr algn="l" indent="0" marL="0">
              <a:lnSpc>
                <a:spcPts val="858"/>
              </a:lnSpc>
              <a:buNone/>
            </a:pPr>
            <a:r>
              <a:rPr lang="en-US" sz="660" dirty="0">
                <a:solidFill>
                  <a:srgbClr val="222222"/>
                </a:solidFill>
                <a:latin typeface="Yu Gothic" pitchFamily="34" charset="0"/>
                <a:ea typeface="Yu Gothic" pitchFamily="34" charset="-122"/>
                <a:cs typeface="Yu Gothic" pitchFamily="34" charset="-120"/>
              </a:rPr>
              <a:t>二次資源</a:t>
            </a:r>
            <a:endParaRPr lang="en-US" sz="660" dirty="0"/>
          </a:p>
        </p:txBody>
      </p:sp>
      <p:sp>
        <p:nvSpPr>
          <p:cNvPr id="116" name="t3_112"/>
          <p:cNvSpPr txBox="1"/>
          <p:nvPr/>
        </p:nvSpPr>
        <p:spPr>
          <a:xfrm>
            <a:off x="13500100" y="4813300"/>
            <a:ext cx="1042924" cy="213122"/>
          </a:xfrm>
          <a:prstGeom prst="rect">
            <a:avLst/>
          </a:prstGeom>
          <a:noFill/>
          <a:ln/>
        </p:spPr>
        <p:txBody>
          <a:bodyPr wrap="square" lIns="0" tIns="0" rIns="0" bIns="0" rtlCol="0" anchor="t"/>
          <a:lstStyle/>
          <a:p>
            <a:pPr algn="l" indent="0" marL="0">
              <a:lnSpc>
                <a:spcPts val="840"/>
              </a:lnSpc>
              <a:buNone/>
            </a:pPr>
            <a:r>
              <a:rPr lang="en-US" sz="560" dirty="0">
                <a:solidFill>
                  <a:srgbClr val="9AA0A6"/>
                </a:solidFill>
                <a:latin typeface="Yu Gothic" pitchFamily="34" charset="0"/>
                <a:ea typeface="Yu Gothic" pitchFamily="34" charset="-122"/>
                <a:cs typeface="Yu Gothic" pitchFamily="34" charset="-120"/>
              </a:rPr>
              <a:t>ＸＸＸＸＸＸＸＸＸＸＸＸＸＸＸＸＸＸＸＸＸＸＸＸ</a:t>
            </a:r>
            <a:endParaRPr lang="en-US" sz="560" dirty="0"/>
          </a:p>
        </p:txBody>
      </p:sp>
      <p:sp>
        <p:nvSpPr>
          <p:cNvPr id="117" name="t3_113"/>
          <p:cNvSpPr txBox="1"/>
          <p:nvPr/>
        </p:nvSpPr>
        <p:spPr>
          <a:xfrm>
            <a:off x="8166100" y="5118100"/>
            <a:ext cx="6603492" cy="118070"/>
          </a:xfrm>
          <a:prstGeom prst="rect">
            <a:avLst/>
          </a:prstGeom>
          <a:noFill/>
          <a:ln/>
        </p:spPr>
        <p:txBody>
          <a:bodyPr wrap="none" lIns="0" tIns="0" rIns="0" bIns="0" rtlCol="0" anchor="t"/>
          <a:lstStyle/>
          <a:p>
            <a:pPr algn="l" indent="0" marL="0">
              <a:lnSpc>
                <a:spcPts val="930"/>
              </a:lnSpc>
              <a:buNone/>
            </a:pPr>
            <a:r>
              <a:rPr lang="en-US" sz="620" dirty="0">
                <a:solidFill>
                  <a:srgbClr val="9A5A60"/>
                </a:solidFill>
                <a:latin typeface="Yu Gothic" pitchFamily="34" charset="0"/>
                <a:ea typeface="Yu Gothic" pitchFamily="34" charset="-122"/>
                <a:cs typeface="Yu Gothic" pitchFamily="34" charset="-120"/>
              </a:rPr>
              <a:t>※鉄鉱石を先頭に配置し、銅・原料炭と同格には押し出さない（PwC様レビューNo.15）</a:t>
            </a:r>
            <a:endParaRPr lang="en-US" sz="620" dirty="0"/>
          </a:p>
        </p:txBody>
      </p:sp>
      <p:sp>
        <p:nvSpPr>
          <p:cNvPr id="118" name="Shape 108"/>
          <p:cNvSpPr/>
          <p:nvPr/>
        </p:nvSpPr>
        <p:spPr>
          <a:xfrm>
            <a:off x="8166100" y="5321300"/>
            <a:ext cx="6337300" cy="0"/>
          </a:xfrm>
          <a:prstGeom prst="line">
            <a:avLst/>
          </a:prstGeom>
          <a:noFill/>
          <a:ln w="12700">
            <a:solidFill>
              <a:srgbClr val="CFD2D5"/>
            </a:solidFill>
            <a:prstDash val="solid"/>
          </a:ln>
        </p:spPr>
      </p:sp>
      <p:sp>
        <p:nvSpPr>
          <p:cNvPr id="119" name="t3_115"/>
          <p:cNvSpPr txBox="1"/>
          <p:nvPr/>
        </p:nvSpPr>
        <p:spPr>
          <a:xfrm>
            <a:off x="8166100" y="5397500"/>
            <a:ext cx="6352540" cy="320040"/>
          </a:xfrm>
          <a:prstGeom prst="rect">
            <a:avLst/>
          </a:prstGeom>
          <a:noFill/>
          <a:ln/>
        </p:spPr>
        <p:txBody>
          <a:bodyPr wrap="none" lIns="0" tIns="0" rIns="0" bIns="0" rtlCol="0" anchor="t"/>
          <a:lstStyle/>
          <a:p>
            <a:pPr algn="l" indent="0" marL="0">
              <a:lnSpc>
                <a:spcPts val="2520"/>
              </a:lnSpc>
              <a:buNone/>
            </a:pPr>
            <a:r>
              <a:rPr lang="en-US" sz="1800" spc="80" kern="0" dirty="0">
                <a:solidFill>
                  <a:srgbClr val="222222"/>
                </a:solidFill>
                <a:latin typeface="Yu Gothic" pitchFamily="34" charset="0"/>
                <a:ea typeface="Yu Gothic" pitchFamily="34" charset="-122"/>
                <a:cs typeface="Yu Gothic" pitchFamily="34" charset="-120"/>
              </a:rPr>
              <a:t>新技術への投資（CVC）</a:t>
            </a:r>
            <a:endParaRPr lang="en-US" sz="1800" dirty="0"/>
          </a:p>
        </p:txBody>
      </p:sp>
      <p:sp>
        <p:nvSpPr>
          <p:cNvPr id="120" name="t3_116"/>
          <p:cNvSpPr txBox="1"/>
          <p:nvPr/>
        </p:nvSpPr>
        <p:spPr>
          <a:xfrm>
            <a:off x="8166100" y="5753100"/>
            <a:ext cx="6352540" cy="196850"/>
          </a:xfrm>
          <a:prstGeom prst="rect">
            <a:avLst/>
          </a:prstGeom>
          <a:noFill/>
          <a:ln/>
        </p:spPr>
        <p:txBody>
          <a:bodyPr wrap="none" lIns="0" tIns="0" rIns="0" bIns="0" rtlCol="0" anchor="t"/>
          <a:lstStyle/>
          <a:p>
            <a:pPr algn="l" indent="0" marL="0">
              <a:lnSpc>
                <a:spcPts val="1550"/>
              </a:lnSpc>
              <a:buNone/>
            </a:pPr>
            <a:r>
              <a:rPr lang="en-US" sz="1000" spc="30" kern="0" dirty="0">
                <a:solidFill>
                  <a:srgbClr val="444444"/>
                </a:solidFill>
                <a:latin typeface="Yu Gothic" pitchFamily="34" charset="0"/>
                <a:ea typeface="Yu Gothic" pitchFamily="34" charset="-122"/>
                <a:cs typeface="Yu Gothic" pitchFamily="34" charset="-120"/>
              </a:rPr>
              <a:t>銅のバリューチェーン全体に、新技術の網を張る</a:t>
            </a:r>
            <a:endParaRPr lang="en-US" sz="1000" dirty="0"/>
          </a:p>
        </p:txBody>
      </p:sp>
      <p:sp>
        <p:nvSpPr>
          <p:cNvPr id="121" name="t3_117"/>
          <p:cNvSpPr txBox="1"/>
          <p:nvPr/>
        </p:nvSpPr>
        <p:spPr>
          <a:xfrm>
            <a:off x="8902700" y="5981700"/>
            <a:ext cx="1219200" cy="203200"/>
          </a:xfrm>
          <a:prstGeom prst="rect">
            <a:avLst/>
          </a:prstGeom>
          <a:solidFill>
            <a:srgbClr val="3C4045"/>
          </a:solidFill>
          <a:ln/>
        </p:spPr>
        <p:txBody>
          <a:bodyPr wrap="none" lIns="25400" tIns="38100" rIns="38100" bIns="25400" rtlCol="0" anchor="ctr"/>
          <a:lstStyle/>
          <a:p>
            <a:pPr algn="ctr" indent="0" marL="0">
              <a:buNone/>
            </a:pPr>
            <a:r>
              <a:rPr lang="en-US" sz="700" dirty="0">
                <a:solidFill>
                  <a:srgbClr val="FFFFFF"/>
                </a:solidFill>
                <a:latin typeface="Yu Gothic" pitchFamily="34" charset="0"/>
                <a:ea typeface="Yu Gothic" pitchFamily="34" charset="-122"/>
                <a:cs typeface="Yu Gothic" pitchFamily="34" charset="-120"/>
              </a:rPr>
              <a:t>採掘</a:t>
            </a:r>
            <a:endParaRPr lang="en-US" sz="700" dirty="0"/>
          </a:p>
        </p:txBody>
      </p:sp>
      <p:sp>
        <p:nvSpPr>
          <p:cNvPr id="122" name="t3_118"/>
          <p:cNvSpPr txBox="1"/>
          <p:nvPr/>
        </p:nvSpPr>
        <p:spPr>
          <a:xfrm>
            <a:off x="8902700" y="6210300"/>
            <a:ext cx="1280668" cy="114300"/>
          </a:xfrm>
          <a:prstGeom prst="rect">
            <a:avLst/>
          </a:prstGeom>
          <a:noFill/>
          <a:ln/>
        </p:spPr>
        <p:txBody>
          <a:bodyPr wrap="none" lIns="0" tIns="0" rIns="0" bIns="0" rtlCol="0" anchor="t"/>
          <a:lstStyle/>
          <a:p>
            <a:pPr algn="ctr" indent="0" marL="0">
              <a:lnSpc>
                <a:spcPts val="780"/>
              </a:lnSpc>
              <a:buNone/>
            </a:pPr>
            <a:r>
              <a:rPr lang="en-US" sz="600" dirty="0">
                <a:solidFill>
                  <a:srgbClr val="222222"/>
                </a:solidFill>
                <a:latin typeface="Yu Gothic" pitchFamily="34" charset="0"/>
                <a:ea typeface="Yu Gothic" pitchFamily="34" charset="-122"/>
                <a:cs typeface="Yu Gothic" pitchFamily="34" charset="-120"/>
              </a:rPr>
              <a:t>鉱石</a:t>
            </a:r>
            <a:pPr algn="ctr" indent="0" marL="0">
              <a:lnSpc>
                <a:spcPts val="780"/>
              </a:lnSpc>
              <a:buNone/>
            </a:pPr>
            <a:r>
              <a:rPr lang="en-US" sz="600" dirty="0">
                <a:solidFill>
                  <a:srgbClr val="888888"/>
                </a:solidFill>
                <a:latin typeface="Yu Gothic" pitchFamily="34" charset="0"/>
                <a:ea typeface="Yu Gothic" pitchFamily="34" charset="-122"/>
                <a:cs typeface="Yu Gothic" pitchFamily="34" charset="-120"/>
              </a:rPr>
              <a:t>　Cu 約1%</a:t>
            </a:r>
            <a:endParaRPr lang="en-US" sz="600" dirty="0"/>
          </a:p>
        </p:txBody>
      </p:sp>
      <p:sp>
        <p:nvSpPr>
          <p:cNvPr id="123" name="t3_119"/>
          <p:cNvSpPr txBox="1"/>
          <p:nvPr/>
        </p:nvSpPr>
        <p:spPr>
          <a:xfrm>
            <a:off x="10109200" y="5994400"/>
            <a:ext cx="53769" cy="177800"/>
          </a:xfrm>
          <a:prstGeom prst="rect">
            <a:avLst/>
          </a:prstGeom>
          <a:noFill/>
          <a:ln/>
        </p:spPr>
        <p:txBody>
          <a:bodyPr wrap="none" lIns="0" tIns="0" rIns="0" bIns="0" rtlCol="0" anchor="t"/>
          <a:lstStyle/>
          <a:p>
            <a:pPr algn="l" indent="0" marL="0">
              <a:lnSpc>
                <a:spcPts val="1300"/>
              </a:lnSpc>
              <a:buNone/>
            </a:pPr>
            <a:r>
              <a:rPr lang="en-US" sz="1000" dirty="0">
                <a:solidFill>
                  <a:srgbClr val="888888"/>
                </a:solidFill>
                <a:latin typeface="Yu Gothic" pitchFamily="34" charset="0"/>
                <a:ea typeface="Yu Gothic" pitchFamily="34" charset="-122"/>
                <a:cs typeface="Yu Gothic" pitchFamily="34" charset="-120"/>
              </a:rPr>
              <a:t>›</a:t>
            </a:r>
            <a:endParaRPr lang="en-US" sz="1000" dirty="0"/>
          </a:p>
        </p:txBody>
      </p:sp>
      <p:sp>
        <p:nvSpPr>
          <p:cNvPr id="124" name="t3_120"/>
          <p:cNvSpPr txBox="1"/>
          <p:nvPr/>
        </p:nvSpPr>
        <p:spPr>
          <a:xfrm>
            <a:off x="10172700" y="5981700"/>
            <a:ext cx="1219200" cy="203200"/>
          </a:xfrm>
          <a:prstGeom prst="rect">
            <a:avLst/>
          </a:prstGeom>
          <a:solidFill>
            <a:srgbClr val="3C4045"/>
          </a:solidFill>
          <a:ln/>
        </p:spPr>
        <p:txBody>
          <a:bodyPr wrap="none" lIns="25400" tIns="38100" rIns="38100" bIns="25400" rtlCol="0" anchor="ctr"/>
          <a:lstStyle/>
          <a:p>
            <a:pPr algn="ctr" indent="0" marL="0">
              <a:buNone/>
            </a:pPr>
            <a:r>
              <a:rPr lang="en-US" sz="700" dirty="0">
                <a:solidFill>
                  <a:srgbClr val="FFFFFF"/>
                </a:solidFill>
                <a:latin typeface="Yu Gothic" pitchFamily="34" charset="0"/>
                <a:ea typeface="Yu Gothic" pitchFamily="34" charset="-122"/>
                <a:cs typeface="Yu Gothic" pitchFamily="34" charset="-120"/>
              </a:rPr>
              <a:t>選鉱・浸出</a:t>
            </a:r>
            <a:endParaRPr lang="en-US" sz="700" dirty="0"/>
          </a:p>
        </p:txBody>
      </p:sp>
      <p:sp>
        <p:nvSpPr>
          <p:cNvPr id="125" name="t3_121"/>
          <p:cNvSpPr txBox="1"/>
          <p:nvPr/>
        </p:nvSpPr>
        <p:spPr>
          <a:xfrm>
            <a:off x="10172700" y="6210300"/>
            <a:ext cx="1280668" cy="114300"/>
          </a:xfrm>
          <a:prstGeom prst="rect">
            <a:avLst/>
          </a:prstGeom>
          <a:noFill/>
          <a:ln/>
        </p:spPr>
        <p:txBody>
          <a:bodyPr wrap="none" lIns="0" tIns="0" rIns="0" bIns="0" rtlCol="0" anchor="t"/>
          <a:lstStyle/>
          <a:p>
            <a:pPr algn="ctr" indent="0" marL="0">
              <a:lnSpc>
                <a:spcPts val="780"/>
              </a:lnSpc>
              <a:buNone/>
            </a:pPr>
            <a:r>
              <a:rPr lang="en-US" sz="600" dirty="0">
                <a:solidFill>
                  <a:srgbClr val="222222"/>
                </a:solidFill>
                <a:latin typeface="Yu Gothic" pitchFamily="34" charset="0"/>
                <a:ea typeface="Yu Gothic" pitchFamily="34" charset="-122"/>
                <a:cs typeface="Yu Gothic" pitchFamily="34" charset="-120"/>
              </a:rPr>
              <a:t>銅精鉱</a:t>
            </a:r>
            <a:pPr algn="ctr" indent="0" marL="0">
              <a:lnSpc>
                <a:spcPts val="780"/>
              </a:lnSpc>
              <a:buNone/>
            </a:pPr>
            <a:r>
              <a:rPr lang="en-US" sz="600" dirty="0">
                <a:solidFill>
                  <a:srgbClr val="888888"/>
                </a:solidFill>
                <a:latin typeface="Yu Gothic" pitchFamily="34" charset="0"/>
                <a:ea typeface="Yu Gothic" pitchFamily="34" charset="-122"/>
                <a:cs typeface="Yu Gothic" pitchFamily="34" charset="-120"/>
              </a:rPr>
              <a:t>　Cu 20〜30%</a:t>
            </a:r>
            <a:endParaRPr lang="en-US" sz="600" dirty="0"/>
          </a:p>
        </p:txBody>
      </p:sp>
      <p:sp>
        <p:nvSpPr>
          <p:cNvPr id="126" name="t3_122"/>
          <p:cNvSpPr txBox="1"/>
          <p:nvPr/>
        </p:nvSpPr>
        <p:spPr>
          <a:xfrm>
            <a:off x="11379200" y="5994400"/>
            <a:ext cx="53769" cy="177800"/>
          </a:xfrm>
          <a:prstGeom prst="rect">
            <a:avLst/>
          </a:prstGeom>
          <a:noFill/>
          <a:ln/>
        </p:spPr>
        <p:txBody>
          <a:bodyPr wrap="none" lIns="0" tIns="0" rIns="0" bIns="0" rtlCol="0" anchor="t"/>
          <a:lstStyle/>
          <a:p>
            <a:pPr algn="l" indent="0" marL="0">
              <a:lnSpc>
                <a:spcPts val="1300"/>
              </a:lnSpc>
              <a:buNone/>
            </a:pPr>
            <a:r>
              <a:rPr lang="en-US" sz="1000" dirty="0">
                <a:solidFill>
                  <a:srgbClr val="888888"/>
                </a:solidFill>
                <a:latin typeface="Yu Gothic" pitchFamily="34" charset="0"/>
                <a:ea typeface="Yu Gothic" pitchFamily="34" charset="-122"/>
                <a:cs typeface="Yu Gothic" pitchFamily="34" charset="-120"/>
              </a:rPr>
              <a:t>›</a:t>
            </a:r>
            <a:endParaRPr lang="en-US" sz="1000" dirty="0"/>
          </a:p>
        </p:txBody>
      </p:sp>
      <p:sp>
        <p:nvSpPr>
          <p:cNvPr id="127" name="t3_123"/>
          <p:cNvSpPr txBox="1"/>
          <p:nvPr/>
        </p:nvSpPr>
        <p:spPr>
          <a:xfrm>
            <a:off x="11442700" y="5981700"/>
            <a:ext cx="1219200" cy="203200"/>
          </a:xfrm>
          <a:prstGeom prst="rect">
            <a:avLst/>
          </a:prstGeom>
          <a:solidFill>
            <a:srgbClr val="3C4045"/>
          </a:solidFill>
          <a:ln/>
        </p:spPr>
        <p:txBody>
          <a:bodyPr wrap="none" lIns="25400" tIns="38100" rIns="38100" bIns="25400" rtlCol="0" anchor="ctr"/>
          <a:lstStyle/>
          <a:p>
            <a:pPr algn="ctr" indent="0" marL="0">
              <a:buNone/>
            </a:pPr>
            <a:r>
              <a:rPr lang="en-US" sz="700" dirty="0">
                <a:solidFill>
                  <a:srgbClr val="FFFFFF"/>
                </a:solidFill>
                <a:latin typeface="Yu Gothic" pitchFamily="34" charset="0"/>
                <a:ea typeface="Yu Gothic" pitchFamily="34" charset="-122"/>
                <a:cs typeface="Yu Gothic" pitchFamily="34" charset="-120"/>
              </a:rPr>
              <a:t>製錬・精製</a:t>
            </a:r>
            <a:endParaRPr lang="en-US" sz="700" dirty="0"/>
          </a:p>
        </p:txBody>
      </p:sp>
      <p:sp>
        <p:nvSpPr>
          <p:cNvPr id="128" name="t3_124"/>
          <p:cNvSpPr txBox="1"/>
          <p:nvPr/>
        </p:nvSpPr>
        <p:spPr>
          <a:xfrm>
            <a:off x="11442700" y="6210300"/>
            <a:ext cx="1280668" cy="114300"/>
          </a:xfrm>
          <a:prstGeom prst="rect">
            <a:avLst/>
          </a:prstGeom>
          <a:noFill/>
          <a:ln/>
        </p:spPr>
        <p:txBody>
          <a:bodyPr wrap="none" lIns="0" tIns="0" rIns="0" bIns="0" rtlCol="0" anchor="t"/>
          <a:lstStyle/>
          <a:p>
            <a:pPr algn="ctr" indent="0" marL="0">
              <a:lnSpc>
                <a:spcPts val="780"/>
              </a:lnSpc>
              <a:buNone/>
            </a:pPr>
            <a:r>
              <a:rPr lang="en-US" sz="600" dirty="0">
                <a:solidFill>
                  <a:srgbClr val="222222"/>
                </a:solidFill>
                <a:latin typeface="Yu Gothic" pitchFamily="34" charset="0"/>
                <a:ea typeface="Yu Gothic" pitchFamily="34" charset="-122"/>
                <a:cs typeface="Yu Gothic" pitchFamily="34" charset="-120"/>
              </a:rPr>
              <a:t>銅地金</a:t>
            </a:r>
            <a:pPr algn="ctr" indent="0" marL="0">
              <a:lnSpc>
                <a:spcPts val="780"/>
              </a:lnSpc>
              <a:buNone/>
            </a:pPr>
            <a:r>
              <a:rPr lang="en-US" sz="600" dirty="0">
                <a:solidFill>
                  <a:srgbClr val="888888"/>
                </a:solidFill>
                <a:latin typeface="Yu Gothic" pitchFamily="34" charset="0"/>
                <a:ea typeface="Yu Gothic" pitchFamily="34" charset="-122"/>
                <a:cs typeface="Yu Gothic" pitchFamily="34" charset="-120"/>
              </a:rPr>
              <a:t>　Cu 99.99%</a:t>
            </a:r>
            <a:endParaRPr lang="en-US" sz="600" dirty="0"/>
          </a:p>
        </p:txBody>
      </p:sp>
      <p:sp>
        <p:nvSpPr>
          <p:cNvPr id="129" name="t3_125"/>
          <p:cNvSpPr txBox="1"/>
          <p:nvPr/>
        </p:nvSpPr>
        <p:spPr>
          <a:xfrm>
            <a:off x="12649200" y="5994400"/>
            <a:ext cx="53769" cy="177800"/>
          </a:xfrm>
          <a:prstGeom prst="rect">
            <a:avLst/>
          </a:prstGeom>
          <a:noFill/>
          <a:ln/>
        </p:spPr>
        <p:txBody>
          <a:bodyPr wrap="none" lIns="0" tIns="0" rIns="0" bIns="0" rtlCol="0" anchor="t"/>
          <a:lstStyle/>
          <a:p>
            <a:pPr algn="l" indent="0" marL="0">
              <a:lnSpc>
                <a:spcPts val="1300"/>
              </a:lnSpc>
              <a:buNone/>
            </a:pPr>
            <a:r>
              <a:rPr lang="en-US" sz="1000" dirty="0">
                <a:solidFill>
                  <a:srgbClr val="888888"/>
                </a:solidFill>
                <a:latin typeface="Yu Gothic" pitchFamily="34" charset="0"/>
                <a:ea typeface="Yu Gothic" pitchFamily="34" charset="-122"/>
                <a:cs typeface="Yu Gothic" pitchFamily="34" charset="-120"/>
              </a:rPr>
              <a:t>›</a:t>
            </a:r>
            <a:endParaRPr lang="en-US" sz="1000" dirty="0"/>
          </a:p>
        </p:txBody>
      </p:sp>
      <p:sp>
        <p:nvSpPr>
          <p:cNvPr id="130" name="t3_126"/>
          <p:cNvSpPr txBox="1"/>
          <p:nvPr/>
        </p:nvSpPr>
        <p:spPr>
          <a:xfrm>
            <a:off x="12712700" y="5981700"/>
            <a:ext cx="1714500" cy="203200"/>
          </a:xfrm>
          <a:prstGeom prst="rect">
            <a:avLst/>
          </a:prstGeom>
          <a:solidFill>
            <a:srgbClr val="3C4045"/>
          </a:solidFill>
          <a:ln/>
        </p:spPr>
        <p:txBody>
          <a:bodyPr wrap="none" lIns="25400" tIns="38100" rIns="38100" bIns="25400" rtlCol="0" anchor="ctr"/>
          <a:lstStyle/>
          <a:p>
            <a:pPr algn="ctr" indent="0" marL="0">
              <a:buNone/>
            </a:pPr>
            <a:r>
              <a:rPr lang="en-US" sz="700" dirty="0">
                <a:solidFill>
                  <a:srgbClr val="FFFFFF"/>
                </a:solidFill>
                <a:latin typeface="Yu Gothic" pitchFamily="34" charset="0"/>
                <a:ea typeface="Yu Gothic" pitchFamily="34" charset="-122"/>
                <a:cs typeface="Yu Gothic" pitchFamily="34" charset="-120"/>
              </a:rPr>
              <a:t>最終用途</a:t>
            </a:r>
            <a:endParaRPr lang="en-US" sz="700" dirty="0"/>
          </a:p>
        </p:txBody>
      </p:sp>
      <p:sp>
        <p:nvSpPr>
          <p:cNvPr id="131" name="t3_127"/>
          <p:cNvSpPr txBox="1"/>
          <p:nvPr/>
        </p:nvSpPr>
        <p:spPr>
          <a:xfrm>
            <a:off x="12712700" y="6210300"/>
            <a:ext cx="1795780" cy="114300"/>
          </a:xfrm>
          <a:prstGeom prst="rect">
            <a:avLst/>
          </a:prstGeom>
          <a:noFill/>
          <a:ln/>
        </p:spPr>
        <p:txBody>
          <a:bodyPr wrap="none" lIns="0" tIns="0" rIns="0" bIns="0" rtlCol="0" anchor="t"/>
          <a:lstStyle/>
          <a:p>
            <a:pPr algn="ctr" indent="0" marL="0">
              <a:lnSpc>
                <a:spcPts val="780"/>
              </a:lnSpc>
              <a:buNone/>
            </a:pPr>
            <a:r>
              <a:rPr lang="en-US" sz="600" dirty="0">
                <a:solidFill>
                  <a:srgbClr val="222222"/>
                </a:solidFill>
                <a:latin typeface="Yu Gothic" pitchFamily="34" charset="0"/>
                <a:ea typeface="Yu Gothic" pitchFamily="34" charset="-122"/>
                <a:cs typeface="Yu Gothic" pitchFamily="34" charset="-120"/>
              </a:rPr>
              <a:t>基礎需要・エネルギー転換・AI／DC</a:t>
            </a:r>
            <a:endParaRPr lang="en-US" sz="600" dirty="0"/>
          </a:p>
        </p:txBody>
      </p:sp>
      <p:sp>
        <p:nvSpPr>
          <p:cNvPr id="132" name="Shape 122"/>
          <p:cNvSpPr/>
          <p:nvPr/>
        </p:nvSpPr>
        <p:spPr>
          <a:xfrm>
            <a:off x="8166100" y="6413500"/>
            <a:ext cx="660400" cy="0"/>
          </a:xfrm>
          <a:prstGeom prst="line">
            <a:avLst/>
          </a:prstGeom>
          <a:noFill/>
          <a:ln w="12700">
            <a:solidFill>
              <a:srgbClr val="CCCCCC"/>
            </a:solidFill>
            <a:prstDash val="solid"/>
          </a:ln>
        </p:spPr>
      </p:sp>
      <p:sp>
        <p:nvSpPr>
          <p:cNvPr id="133" name="t3_128"/>
          <p:cNvSpPr txBox="1"/>
          <p:nvPr/>
        </p:nvSpPr>
        <p:spPr>
          <a:xfrm>
            <a:off x="8166100" y="6413500"/>
            <a:ext cx="660400" cy="355600"/>
          </a:xfrm>
          <a:prstGeom prst="rect">
            <a:avLst/>
          </a:prstGeom>
          <a:noFill/>
          <a:ln/>
        </p:spPr>
        <p:txBody>
          <a:bodyPr wrap="square" lIns="0" tIns="0" rIns="0" bIns="0" rtlCol="0" anchor="ctr"/>
          <a:lstStyle/>
          <a:p>
            <a:pPr algn="l" indent="0" marL="0">
              <a:lnSpc>
                <a:spcPts val="832"/>
              </a:lnSpc>
              <a:buNone/>
            </a:pPr>
            <a:r>
              <a:rPr lang="en-US" sz="640" dirty="0">
                <a:solidFill>
                  <a:srgbClr val="222222"/>
                </a:solidFill>
                <a:latin typeface="Yu Gothic" pitchFamily="34" charset="0"/>
                <a:ea typeface="Yu Gothic" pitchFamily="34" charset="-122"/>
                <a:cs typeface="Yu Gothic" pitchFamily="34" charset="-120"/>
              </a:rPr>
              <a:t>資源投資</a:t>
            </a:r>
            <a:endParaRPr lang="en-US" sz="640" dirty="0"/>
          </a:p>
        </p:txBody>
      </p:sp>
      <p:sp>
        <p:nvSpPr>
          <p:cNvPr id="134" name="Shape 124"/>
          <p:cNvSpPr/>
          <p:nvPr/>
        </p:nvSpPr>
        <p:spPr>
          <a:xfrm>
            <a:off x="8902700" y="6413500"/>
            <a:ext cx="5600700" cy="0"/>
          </a:xfrm>
          <a:prstGeom prst="line">
            <a:avLst/>
          </a:prstGeom>
          <a:noFill/>
          <a:ln w="12700">
            <a:solidFill>
              <a:srgbClr val="E0E2E5"/>
            </a:solidFill>
            <a:prstDash val="solid"/>
          </a:ln>
        </p:spPr>
      </p:sp>
      <p:sp>
        <p:nvSpPr>
          <p:cNvPr id="135" name="Shape 125"/>
          <p:cNvSpPr/>
          <p:nvPr/>
        </p:nvSpPr>
        <p:spPr>
          <a:xfrm>
            <a:off x="8166100" y="6819900"/>
            <a:ext cx="660400" cy="0"/>
          </a:xfrm>
          <a:prstGeom prst="line">
            <a:avLst/>
          </a:prstGeom>
          <a:noFill/>
          <a:ln w="12700">
            <a:solidFill>
              <a:srgbClr val="CCCCCC"/>
            </a:solidFill>
            <a:prstDash val="solid"/>
          </a:ln>
        </p:spPr>
      </p:sp>
      <p:sp>
        <p:nvSpPr>
          <p:cNvPr id="136" name="t3_130"/>
          <p:cNvSpPr txBox="1"/>
          <p:nvPr/>
        </p:nvSpPr>
        <p:spPr>
          <a:xfrm>
            <a:off x="8166100" y="6819900"/>
            <a:ext cx="660400" cy="355600"/>
          </a:xfrm>
          <a:prstGeom prst="rect">
            <a:avLst/>
          </a:prstGeom>
          <a:noFill/>
          <a:ln/>
        </p:spPr>
        <p:txBody>
          <a:bodyPr wrap="square" lIns="0" tIns="0" rIns="0" bIns="0" rtlCol="0" anchor="ctr"/>
          <a:lstStyle/>
          <a:p>
            <a:pPr algn="l" indent="0" marL="0">
              <a:lnSpc>
                <a:spcPts val="832"/>
              </a:lnSpc>
              <a:buNone/>
            </a:pPr>
            <a:r>
              <a:rPr lang="en-US" sz="640" dirty="0">
                <a:solidFill>
                  <a:srgbClr val="222222"/>
                </a:solidFill>
                <a:latin typeface="Yu Gothic" pitchFamily="34" charset="0"/>
                <a:ea typeface="Yu Gothic" pitchFamily="34" charset="-122"/>
                <a:cs typeface="Yu Gothic" pitchFamily="34" charset="-120"/>
              </a:rPr>
              <a:t>トレーディング</a:t>
            </a:r>
            <a:endParaRPr lang="en-US" sz="640" dirty="0"/>
          </a:p>
        </p:txBody>
      </p:sp>
      <p:sp>
        <p:nvSpPr>
          <p:cNvPr id="137" name="Shape 127"/>
          <p:cNvSpPr/>
          <p:nvPr/>
        </p:nvSpPr>
        <p:spPr>
          <a:xfrm>
            <a:off x="8902700" y="6819900"/>
            <a:ext cx="5600700" cy="0"/>
          </a:xfrm>
          <a:prstGeom prst="line">
            <a:avLst/>
          </a:prstGeom>
          <a:noFill/>
          <a:ln w="12700">
            <a:solidFill>
              <a:srgbClr val="E0E2E5"/>
            </a:solidFill>
            <a:prstDash val="solid"/>
          </a:ln>
        </p:spPr>
      </p:sp>
      <p:sp>
        <p:nvSpPr>
          <p:cNvPr id="138" name="Shape 128"/>
          <p:cNvSpPr/>
          <p:nvPr/>
        </p:nvSpPr>
        <p:spPr>
          <a:xfrm>
            <a:off x="8166100" y="7226300"/>
            <a:ext cx="660400" cy="0"/>
          </a:xfrm>
          <a:prstGeom prst="line">
            <a:avLst/>
          </a:prstGeom>
          <a:noFill/>
          <a:ln w="12700">
            <a:solidFill>
              <a:srgbClr val="CCCCCC"/>
            </a:solidFill>
            <a:prstDash val="solid"/>
          </a:ln>
        </p:spPr>
      </p:sp>
      <p:sp>
        <p:nvSpPr>
          <p:cNvPr id="139" name="t3_132"/>
          <p:cNvSpPr txBox="1"/>
          <p:nvPr/>
        </p:nvSpPr>
        <p:spPr>
          <a:xfrm>
            <a:off x="8166100" y="7226300"/>
            <a:ext cx="660400" cy="762000"/>
          </a:xfrm>
          <a:prstGeom prst="rect">
            <a:avLst/>
          </a:prstGeom>
          <a:noFill/>
          <a:ln/>
        </p:spPr>
        <p:txBody>
          <a:bodyPr wrap="square" lIns="0" tIns="0" rIns="0" bIns="0" rtlCol="0" anchor="ctr"/>
          <a:lstStyle/>
          <a:p>
            <a:pPr algn="l" indent="0" marL="0">
              <a:lnSpc>
                <a:spcPts val="832"/>
              </a:lnSpc>
              <a:buNone/>
            </a:pPr>
            <a:r>
              <a:rPr lang="en-US" sz="640" dirty="0">
                <a:solidFill>
                  <a:srgbClr val="222222"/>
                </a:solidFill>
                <a:latin typeface="Yu Gothic" pitchFamily="34" charset="0"/>
                <a:ea typeface="Yu Gothic" pitchFamily="34" charset="-122"/>
                <a:cs typeface="Yu Gothic" pitchFamily="34" charset="-120"/>
              </a:rPr>
              <a:t>新技術投資</a:t>
            </a:r>
            <a:endParaRPr lang="en-US" sz="640" dirty="0"/>
          </a:p>
          <a:p>
            <a:pPr algn="l" indent="0" marL="0">
              <a:lnSpc>
                <a:spcPts val="832"/>
              </a:lnSpc>
              <a:buNone/>
            </a:pPr>
            <a:r>
              <a:rPr lang="en-US" sz="640" dirty="0">
                <a:solidFill>
                  <a:srgbClr val="222222"/>
                </a:solidFill>
                <a:latin typeface="Yu Gothic" pitchFamily="34" charset="0"/>
                <a:ea typeface="Yu Gothic" pitchFamily="34" charset="-122"/>
                <a:cs typeface="Yu Gothic" pitchFamily="34" charset="-120"/>
              </a:rPr>
              <a:t>（CVC）</a:t>
            </a:r>
            <a:endParaRPr lang="en-US" sz="640" dirty="0"/>
          </a:p>
        </p:txBody>
      </p:sp>
      <p:sp>
        <p:nvSpPr>
          <p:cNvPr id="140" name="Shape 130"/>
          <p:cNvSpPr/>
          <p:nvPr/>
        </p:nvSpPr>
        <p:spPr>
          <a:xfrm>
            <a:off x="8902700" y="7226300"/>
            <a:ext cx="5600700" cy="0"/>
          </a:xfrm>
          <a:prstGeom prst="line">
            <a:avLst/>
          </a:prstGeom>
          <a:noFill/>
          <a:ln w="12700">
            <a:solidFill>
              <a:srgbClr val="E0E2E5"/>
            </a:solidFill>
            <a:prstDash val="solid"/>
          </a:ln>
        </p:spPr>
      </p:sp>
      <p:sp>
        <p:nvSpPr>
          <p:cNvPr id="141" name="t3_134"/>
          <p:cNvSpPr txBox="1"/>
          <p:nvPr/>
        </p:nvSpPr>
        <p:spPr>
          <a:xfrm>
            <a:off x="8902700" y="6438900"/>
            <a:ext cx="1219200" cy="304800"/>
          </a:xfrm>
          <a:prstGeom prst="rect">
            <a:avLst/>
          </a:prstGeom>
          <a:solidFill>
            <a:srgbClr val="3C4045"/>
          </a:solidFill>
          <a:ln/>
        </p:spPr>
        <p:txBody>
          <a:bodyPr wrap="square" lIns="25400" tIns="38100" rIns="38100" bIns="25400" rtlCol="0" anchor="t"/>
          <a:lstStyle/>
          <a:p>
            <a:pPr algn="l" indent="0" marL="0">
              <a:lnSpc>
                <a:spcPts val="837"/>
              </a:lnSpc>
              <a:buNone/>
            </a:pPr>
            <a:r>
              <a:rPr lang="en-US" sz="620" dirty="0">
                <a:solidFill>
                  <a:srgbClr val="FFFFFF"/>
                </a:solidFill>
                <a:latin typeface="Yu Gothic" pitchFamily="34" charset="0"/>
                <a:ea typeface="Yu Gothic" pitchFamily="34" charset="-122"/>
                <a:cs typeface="Yu Gothic" pitchFamily="34" charset="-120"/>
              </a:rPr>
              <a:t>鉱山への出資</a:t>
            </a:r>
            <a:endParaRPr lang="en-US" sz="620" dirty="0"/>
          </a:p>
          <a:p>
            <a:pPr algn="l" indent="0" marL="0">
              <a:lnSpc>
                <a:spcPts val="837"/>
              </a:lnSpc>
              <a:buNone/>
            </a:pPr>
            <a:r>
              <a:rPr lang="en-US" sz="620" dirty="0">
                <a:solidFill>
                  <a:srgbClr val="FFFFFF"/>
                </a:solidFill>
                <a:latin typeface="Yu Gothic" pitchFamily="34" charset="0"/>
                <a:ea typeface="Yu Gothic" pitchFamily="34" charset="-122"/>
                <a:cs typeface="Yu Gothic" pitchFamily="34" charset="-120"/>
              </a:rPr>
              <a:t>Escondida・Quellaveco ほか</a:t>
            </a:r>
            <a:endParaRPr lang="en-US" sz="620" dirty="0"/>
          </a:p>
        </p:txBody>
      </p:sp>
      <p:sp>
        <p:nvSpPr>
          <p:cNvPr id="142" name="t3_135"/>
          <p:cNvSpPr txBox="1"/>
          <p:nvPr/>
        </p:nvSpPr>
        <p:spPr>
          <a:xfrm>
            <a:off x="10172700" y="6845300"/>
            <a:ext cx="2489200" cy="304800"/>
          </a:xfrm>
          <a:prstGeom prst="rect">
            <a:avLst/>
          </a:prstGeom>
          <a:solidFill>
            <a:srgbClr val="8A9096"/>
          </a:solidFill>
          <a:ln/>
        </p:spPr>
        <p:txBody>
          <a:bodyPr wrap="square" lIns="25400" tIns="38100" rIns="38100" bIns="25400" rtlCol="0" anchor="t"/>
          <a:lstStyle/>
          <a:p>
            <a:pPr algn="l" indent="0" marL="0">
              <a:lnSpc>
                <a:spcPts val="837"/>
              </a:lnSpc>
              <a:buNone/>
            </a:pPr>
            <a:r>
              <a:rPr lang="en-US" sz="620" dirty="0">
                <a:solidFill>
                  <a:srgbClr val="FFFFFF"/>
                </a:solidFill>
                <a:latin typeface="Yu Gothic" pitchFamily="34" charset="0"/>
                <a:ea typeface="Yu Gothic" pitchFamily="34" charset="-122"/>
                <a:cs typeface="Yu Gothic" pitchFamily="34" charset="-120"/>
              </a:rPr>
              <a:t>RtM：銅精鉱・銅地金のトレーディング</a:t>
            </a:r>
            <a:endParaRPr lang="en-US" sz="620" dirty="0"/>
          </a:p>
        </p:txBody>
      </p:sp>
      <p:sp>
        <p:nvSpPr>
          <p:cNvPr id="143" name="t3_136"/>
          <p:cNvSpPr txBox="1"/>
          <p:nvPr/>
        </p:nvSpPr>
        <p:spPr>
          <a:xfrm>
            <a:off x="12712700" y="6845300"/>
            <a:ext cx="1714500" cy="304800"/>
          </a:xfrm>
          <a:prstGeom prst="rect">
            <a:avLst/>
          </a:prstGeom>
          <a:solidFill>
            <a:srgbClr val="8A9096"/>
          </a:solidFill>
          <a:ln/>
        </p:spPr>
        <p:txBody>
          <a:bodyPr wrap="square" lIns="25400" tIns="38100" rIns="38100" bIns="25400" rtlCol="0" anchor="t"/>
          <a:lstStyle/>
          <a:p>
            <a:pPr algn="l" indent="0" marL="0">
              <a:lnSpc>
                <a:spcPts val="837"/>
              </a:lnSpc>
              <a:buNone/>
            </a:pPr>
            <a:r>
              <a:rPr lang="en-US" sz="620" dirty="0">
                <a:solidFill>
                  <a:srgbClr val="FFFFFF"/>
                </a:solidFill>
                <a:latin typeface="Yu Gothic" pitchFamily="34" charset="0"/>
                <a:ea typeface="Yu Gothic" pitchFamily="34" charset="-122"/>
                <a:cs typeface="Yu Gothic" pitchFamily="34" charset="-120"/>
              </a:rPr>
              <a:t>Triland Metals：LME・CMEでのブローカー／ヘッジ</a:t>
            </a:r>
            <a:endParaRPr lang="en-US" sz="620" dirty="0"/>
          </a:p>
        </p:txBody>
      </p:sp>
      <p:sp>
        <p:nvSpPr>
          <p:cNvPr id="144" name="t3_137"/>
          <p:cNvSpPr txBox="1"/>
          <p:nvPr/>
        </p:nvSpPr>
        <p:spPr>
          <a:xfrm>
            <a:off x="10172700" y="7251700"/>
            <a:ext cx="1219200" cy="330200"/>
          </a:xfrm>
          <a:prstGeom prst="rect">
            <a:avLst/>
          </a:prstGeom>
          <a:solidFill>
            <a:srgbClr val="FFFFFF"/>
          </a:solidFill>
          <a:ln w="12700">
            <a:solidFill>
              <a:srgbClr val="3C4045"/>
            </a:solidFill>
            <a:prstDash val="solid"/>
          </a:ln>
        </p:spPr>
        <p:txBody>
          <a:bodyPr wrap="square" lIns="25400" tIns="38100" rIns="38100" bIns="25400" rtlCol="0" anchor="t"/>
          <a:lstStyle/>
          <a:p>
            <a:pPr algn="l" indent="0" marL="0">
              <a:lnSpc>
                <a:spcPts val="837"/>
              </a:lnSpc>
              <a:buNone/>
            </a:pPr>
            <a:r>
              <a:rPr lang="en-US" sz="620" b="1" dirty="0">
                <a:solidFill>
                  <a:srgbClr val="222222"/>
                </a:solidFill>
                <a:latin typeface="Yu Gothic" pitchFamily="34" charset="0"/>
                <a:ea typeface="Yu Gothic" pitchFamily="34" charset="-122"/>
                <a:cs typeface="Yu Gothic" pitchFamily="34" charset="-120"/>
              </a:rPr>
              <a:t>CiDRA</a:t>
            </a:r>
            <a:pPr algn="l" indent="0" marL="0">
              <a:lnSpc>
                <a:spcPts val="837"/>
              </a:lnSpc>
              <a:buNone/>
            </a:pPr>
            <a:r>
              <a:rPr lang="en-US" sz="620" dirty="0">
                <a:solidFill>
                  <a:srgbClr val="222222"/>
                </a:solidFill>
                <a:latin typeface="Yu Gothic" pitchFamily="34" charset="0"/>
                <a:ea typeface="Yu Gothic" pitchFamily="34" charset="-122"/>
                <a:cs typeface="Yu Gothic" pitchFamily="34" charset="-120"/>
              </a:rPr>
              <a:t>（選鉱）</a:t>
            </a:r>
            <a:endParaRPr lang="en-US" sz="620" dirty="0"/>
          </a:p>
          <a:p>
            <a:pPr algn="l" indent="0" marL="0">
              <a:lnSpc>
                <a:spcPts val="837"/>
              </a:lnSpc>
              <a:buNone/>
            </a:pPr>
            <a:r>
              <a:rPr lang="en-US" sz="620" dirty="0">
                <a:solidFill>
                  <a:srgbClr val="222222"/>
                </a:solidFill>
                <a:latin typeface="Yu Gothic" pitchFamily="34" charset="0"/>
                <a:ea typeface="Yu Gothic" pitchFamily="34" charset="-122"/>
                <a:cs typeface="Yu Gothic" pitchFamily="34" charset="-120"/>
              </a:rPr>
              <a:t>回収率・処理能力を向上</a:t>
            </a:r>
            <a:endParaRPr lang="en-US" sz="620" dirty="0"/>
          </a:p>
        </p:txBody>
      </p:sp>
      <p:sp>
        <p:nvSpPr>
          <p:cNvPr id="145" name="t3_138"/>
          <p:cNvSpPr txBox="1"/>
          <p:nvPr/>
        </p:nvSpPr>
        <p:spPr>
          <a:xfrm>
            <a:off x="10172700" y="7632700"/>
            <a:ext cx="1219200" cy="330200"/>
          </a:xfrm>
          <a:prstGeom prst="rect">
            <a:avLst/>
          </a:prstGeom>
          <a:solidFill>
            <a:srgbClr val="FFFFFF"/>
          </a:solidFill>
          <a:ln w="12700">
            <a:solidFill>
              <a:srgbClr val="3C4045"/>
            </a:solidFill>
            <a:prstDash val="solid"/>
          </a:ln>
        </p:spPr>
        <p:txBody>
          <a:bodyPr wrap="square" lIns="25400" tIns="38100" rIns="38100" bIns="25400" rtlCol="0" anchor="t"/>
          <a:lstStyle/>
          <a:p>
            <a:pPr algn="l" indent="0" marL="0">
              <a:lnSpc>
                <a:spcPts val="837"/>
              </a:lnSpc>
              <a:buNone/>
            </a:pPr>
            <a:r>
              <a:rPr lang="en-US" sz="620" b="1" dirty="0">
                <a:solidFill>
                  <a:srgbClr val="222222"/>
                </a:solidFill>
                <a:latin typeface="Yu Gothic" pitchFamily="34" charset="0"/>
                <a:ea typeface="Yu Gothic" pitchFamily="34" charset="-122"/>
                <a:cs typeface="Yu Gothic" pitchFamily="34" charset="-120"/>
              </a:rPr>
              <a:t>Jetti</a:t>
            </a:r>
            <a:pPr algn="l" indent="0" marL="0">
              <a:lnSpc>
                <a:spcPts val="837"/>
              </a:lnSpc>
              <a:buNone/>
            </a:pPr>
            <a:r>
              <a:rPr lang="en-US" sz="620" dirty="0">
                <a:solidFill>
                  <a:srgbClr val="222222"/>
                </a:solidFill>
                <a:latin typeface="Yu Gothic" pitchFamily="34" charset="0"/>
                <a:ea typeface="Yu Gothic" pitchFamily="34" charset="-122"/>
                <a:cs typeface="Yu Gothic" pitchFamily="34" charset="-120"/>
              </a:rPr>
              <a:t>（浸出）</a:t>
            </a:r>
            <a:endParaRPr lang="en-US" sz="620" dirty="0"/>
          </a:p>
          <a:p>
            <a:pPr algn="l" indent="0" marL="0">
              <a:lnSpc>
                <a:spcPts val="837"/>
              </a:lnSpc>
              <a:buNone/>
            </a:pPr>
            <a:r>
              <a:rPr lang="en-US" sz="620" dirty="0">
                <a:solidFill>
                  <a:srgbClr val="222222"/>
                </a:solidFill>
                <a:latin typeface="Yu Gothic" pitchFamily="34" charset="0"/>
                <a:ea typeface="Yu Gothic" pitchFamily="34" charset="-122"/>
                <a:cs typeface="Yu Gothic" pitchFamily="34" charset="-120"/>
              </a:rPr>
              <a:t>触媒で硫化鉱から回収</a:t>
            </a:r>
            <a:endParaRPr lang="en-US" sz="620" dirty="0"/>
          </a:p>
        </p:txBody>
      </p:sp>
      <p:sp>
        <p:nvSpPr>
          <p:cNvPr id="146" name="t3_139"/>
          <p:cNvSpPr txBox="1"/>
          <p:nvPr/>
        </p:nvSpPr>
        <p:spPr>
          <a:xfrm>
            <a:off x="12712700" y="7251700"/>
            <a:ext cx="1714500" cy="330200"/>
          </a:xfrm>
          <a:prstGeom prst="rect">
            <a:avLst/>
          </a:prstGeom>
          <a:solidFill>
            <a:srgbClr val="FFFFFF"/>
          </a:solidFill>
          <a:ln w="12700">
            <a:solidFill>
              <a:srgbClr val="3C4045"/>
            </a:solidFill>
            <a:prstDash val="solid"/>
          </a:ln>
        </p:spPr>
        <p:txBody>
          <a:bodyPr wrap="square" lIns="25400" tIns="38100" rIns="38100" bIns="25400" rtlCol="0" anchor="t"/>
          <a:lstStyle/>
          <a:p>
            <a:pPr algn="l" indent="0" marL="0">
              <a:lnSpc>
                <a:spcPts val="837"/>
              </a:lnSpc>
              <a:buNone/>
            </a:pPr>
            <a:r>
              <a:rPr lang="en-US" sz="620" b="1" dirty="0">
                <a:solidFill>
                  <a:srgbClr val="222222"/>
                </a:solidFill>
                <a:latin typeface="Yu Gothic" pitchFamily="34" charset="0"/>
                <a:ea typeface="Yu Gothic" pitchFamily="34" charset="-122"/>
                <a:cs typeface="Yu Gothic" pitchFamily="34" charset="-120"/>
              </a:rPr>
              <a:t>DESCycle</a:t>
            </a:r>
            <a:pPr algn="l" indent="0" marL="0">
              <a:lnSpc>
                <a:spcPts val="837"/>
              </a:lnSpc>
              <a:buNone/>
            </a:pPr>
            <a:r>
              <a:rPr lang="en-US" sz="620" dirty="0">
                <a:solidFill>
                  <a:srgbClr val="222222"/>
                </a:solidFill>
                <a:latin typeface="Yu Gothic" pitchFamily="34" charset="0"/>
                <a:ea typeface="Yu Gothic" pitchFamily="34" charset="-122"/>
                <a:cs typeface="Yu Gothic" pitchFamily="34" charset="-120"/>
              </a:rPr>
              <a:t>（リサイクル）</a:t>
            </a:r>
            <a:endParaRPr lang="en-US" sz="620" dirty="0"/>
          </a:p>
          <a:p>
            <a:pPr algn="l" indent="0" marL="0">
              <a:lnSpc>
                <a:spcPts val="837"/>
              </a:lnSpc>
              <a:buNone/>
            </a:pPr>
            <a:r>
              <a:rPr lang="en-US" sz="620" dirty="0">
                <a:solidFill>
                  <a:srgbClr val="222222"/>
                </a:solidFill>
                <a:latin typeface="Yu Gothic" pitchFamily="34" charset="0"/>
                <a:ea typeface="Yu Gothic" pitchFamily="34" charset="-122"/>
                <a:cs typeface="Yu Gothic" pitchFamily="34" charset="-120"/>
              </a:rPr>
              <a:t>電子スクラップから銅・貴金属を回収</a:t>
            </a:r>
            <a:endParaRPr lang="en-US" sz="620" dirty="0"/>
          </a:p>
        </p:txBody>
      </p:sp>
      <p:sp>
        <p:nvSpPr>
          <p:cNvPr id="147" name="t3_140"/>
          <p:cNvSpPr txBox="1"/>
          <p:nvPr/>
        </p:nvSpPr>
        <p:spPr>
          <a:xfrm>
            <a:off x="12712700" y="7658100"/>
            <a:ext cx="1795780" cy="114300"/>
          </a:xfrm>
          <a:prstGeom prst="rect">
            <a:avLst/>
          </a:prstGeom>
          <a:noFill/>
          <a:ln/>
        </p:spPr>
        <p:txBody>
          <a:bodyPr wrap="none" lIns="0" tIns="0" rIns="0" bIns="0" rtlCol="0" anchor="t"/>
          <a:lstStyle/>
          <a:p>
            <a:pPr algn="l" indent="0" marL="0">
              <a:lnSpc>
                <a:spcPts val="780"/>
              </a:lnSpc>
              <a:buNone/>
            </a:pPr>
            <a:r>
              <a:rPr lang="en-US" sz="600" dirty="0">
                <a:solidFill>
                  <a:srgbClr val="555555"/>
                </a:solidFill>
                <a:latin typeface="Yu Gothic" pitchFamily="34" charset="0"/>
                <a:ea typeface="Yu Gothic" pitchFamily="34" charset="-122"/>
                <a:cs typeface="Yu Gothic" pitchFamily="34" charset="-120"/>
              </a:rPr>
              <a:t>↺ リサイクルで再び供給へ</a:t>
            </a:r>
            <a:endParaRPr lang="en-US" sz="600" dirty="0"/>
          </a:p>
        </p:txBody>
      </p:sp>
      <p:sp>
        <p:nvSpPr>
          <p:cNvPr id="148" name="t3_141"/>
          <p:cNvSpPr txBox="1"/>
          <p:nvPr/>
        </p:nvSpPr>
        <p:spPr>
          <a:xfrm>
            <a:off x="8166100" y="8039100"/>
            <a:ext cx="6603492" cy="114300"/>
          </a:xfrm>
          <a:prstGeom prst="rect">
            <a:avLst/>
          </a:prstGeom>
          <a:noFill/>
          <a:ln/>
        </p:spPr>
        <p:txBody>
          <a:bodyPr wrap="none" lIns="0" tIns="0" rIns="0" bIns="0" rtlCol="0" anchor="t"/>
          <a:lstStyle/>
          <a:p>
            <a:pPr algn="l" indent="0" marL="0">
              <a:lnSpc>
                <a:spcPts val="780"/>
              </a:lnSpc>
              <a:buNone/>
            </a:pPr>
            <a:r>
              <a:rPr lang="en-US" sz="600" dirty="0">
                <a:solidFill>
                  <a:srgbClr val="3C4045"/>
                </a:solidFill>
                <a:latin typeface="Yu Gothic" pitchFamily="34" charset="0"/>
                <a:ea typeface="Yu Gothic" pitchFamily="34" charset="-122"/>
                <a:cs typeface="Yu Gothic" pitchFamily="34" charset="-120"/>
              </a:rPr>
              <a:t>■</a:t>
            </a:r>
            <a:pPr algn="l" indent="0" marL="0">
              <a:lnSpc>
                <a:spcPts val="780"/>
              </a:lnSpc>
              <a:buNone/>
            </a:pPr>
            <a:r>
              <a:rPr lang="en-US" sz="600" dirty="0">
                <a:solidFill>
                  <a:srgbClr val="222222"/>
                </a:solidFill>
                <a:latin typeface="Yu Gothic" pitchFamily="34" charset="0"/>
                <a:ea typeface="Yu Gothic" pitchFamily="34" charset="-122"/>
                <a:cs typeface="Yu Gothic" pitchFamily="34" charset="-120"/>
              </a:rPr>
              <a:t> 資源投資　</a:t>
            </a:r>
            <a:pPr algn="l" indent="0" marL="0">
              <a:lnSpc>
                <a:spcPts val="780"/>
              </a:lnSpc>
              <a:buNone/>
            </a:pPr>
            <a:r>
              <a:rPr lang="en-US" sz="600" dirty="0">
                <a:solidFill>
                  <a:srgbClr val="8A9096"/>
                </a:solidFill>
                <a:latin typeface="Yu Gothic" pitchFamily="34" charset="0"/>
                <a:ea typeface="Yu Gothic" pitchFamily="34" charset="-122"/>
                <a:cs typeface="Yu Gothic" pitchFamily="34" charset="-120"/>
              </a:rPr>
              <a:t>■</a:t>
            </a:r>
            <a:pPr algn="l" indent="0" marL="0">
              <a:lnSpc>
                <a:spcPts val="780"/>
              </a:lnSpc>
              <a:buNone/>
            </a:pPr>
            <a:r>
              <a:rPr lang="en-US" sz="600" dirty="0">
                <a:solidFill>
                  <a:srgbClr val="222222"/>
                </a:solidFill>
                <a:latin typeface="Yu Gothic" pitchFamily="34" charset="0"/>
                <a:ea typeface="Yu Gothic" pitchFamily="34" charset="-122"/>
                <a:cs typeface="Yu Gothic" pitchFamily="34" charset="-120"/>
              </a:rPr>
              <a:t> トレーディング　□ 新技術投資（CVC）</a:t>
            </a:r>
            <a:endParaRPr lang="en-US" sz="600" dirty="0"/>
          </a:p>
        </p:txBody>
      </p:sp>
      <p:sp>
        <p:nvSpPr>
          <p:cNvPr id="149" name="t3_142"/>
          <p:cNvSpPr txBox="1"/>
          <p:nvPr/>
        </p:nvSpPr>
        <p:spPr>
          <a:xfrm>
            <a:off x="8166100" y="8191500"/>
            <a:ext cx="6603492" cy="101600"/>
          </a:xfrm>
          <a:prstGeom prst="rect">
            <a:avLst/>
          </a:prstGeom>
          <a:noFill/>
          <a:ln/>
        </p:spPr>
        <p:txBody>
          <a:bodyPr wrap="none" lIns="0" tIns="0" rIns="0" bIns="0" rtlCol="0" anchor="t"/>
          <a:lstStyle/>
          <a:p>
            <a:pPr algn="l" indent="0" marL="0">
              <a:lnSpc>
                <a:spcPts val="728"/>
              </a:lnSpc>
              <a:buNone/>
            </a:pPr>
            <a:r>
              <a:rPr lang="en-US" sz="560" dirty="0">
                <a:solidFill>
                  <a:srgbClr val="888888"/>
                </a:solidFill>
                <a:latin typeface="Yu Gothic" pitchFamily="34" charset="0"/>
                <a:ea typeface="Yu Gothic" pitchFamily="34" charset="-122"/>
                <a:cs typeface="Yu Gothic" pitchFamily="34" charset="-120"/>
              </a:rPr>
              <a:t>図の出典・簡略化元：金属資源G_P41（Copper Value Chain）、統合報告書P19。インフォグラフィックに再構成</a:t>
            </a:r>
            <a:endParaRPr lang="en-US" sz="560" dirty="0"/>
          </a:p>
        </p:txBody>
      </p:sp>
      <p:sp>
        <p:nvSpPr>
          <p:cNvPr id="150" name="t3_143"/>
          <p:cNvSpPr txBox="1"/>
          <p:nvPr/>
        </p:nvSpPr>
        <p:spPr>
          <a:xfrm>
            <a:off x="8166100" y="8318500"/>
            <a:ext cx="6603492" cy="118070"/>
          </a:xfrm>
          <a:prstGeom prst="rect">
            <a:avLst/>
          </a:prstGeom>
          <a:noFill/>
          <a:ln/>
        </p:spPr>
        <p:txBody>
          <a:bodyPr wrap="none" lIns="0" tIns="0" rIns="0" bIns="0" rtlCol="0" anchor="t"/>
          <a:lstStyle/>
          <a:p>
            <a:pPr algn="l" indent="0" marL="0">
              <a:lnSpc>
                <a:spcPts val="930"/>
              </a:lnSpc>
              <a:buNone/>
            </a:pPr>
            <a:r>
              <a:rPr lang="en-US" sz="620" dirty="0">
                <a:solidFill>
                  <a:srgbClr val="9A5A60"/>
                </a:solidFill>
                <a:latin typeface="Yu Gothic" pitchFamily="34" charset="0"/>
                <a:ea typeface="Yu Gothic" pitchFamily="34" charset="-122"/>
                <a:cs typeface="Yu Gothic" pitchFamily="34" charset="-120"/>
              </a:rPr>
              <a:t>※CVC＝コーポレート・ベンチャー・キャピタル（新技術スタートアップへの投資）。新技術の把握が既存事業の高度化・将来価値に還元される点を訴求（PwC様レビューNo.15）</a:t>
            </a:r>
            <a:endParaRPr lang="en-US" sz="620" dirty="0"/>
          </a:p>
        </p:txBody>
      </p:sp>
      <p:sp>
        <p:nvSpPr>
          <p:cNvPr id="151" name="t3_144"/>
          <p:cNvSpPr txBox="1"/>
          <p:nvPr/>
        </p:nvSpPr>
        <p:spPr>
          <a:xfrm>
            <a:off x="609600" y="10261600"/>
            <a:ext cx="149320" cy="117348"/>
          </a:xfrm>
          <a:prstGeom prst="rect">
            <a:avLst/>
          </a:prstGeom>
          <a:noFill/>
          <a:ln/>
        </p:spPr>
        <p:txBody>
          <a:bodyPr wrap="none" lIns="0" tIns="0" rIns="0" bIns="0" rtlCol="0" anchor="t"/>
          <a:lstStyle/>
          <a:p>
            <a:pPr algn="l" indent="0" marL="0">
              <a:lnSpc>
                <a:spcPts val="858"/>
              </a:lnSpc>
              <a:buNone/>
            </a:pPr>
            <a:r>
              <a:rPr lang="en-US" sz="660" spc="140" kern="0" dirty="0">
                <a:solidFill>
                  <a:srgbClr val="999999"/>
                </a:solidFill>
                <a:latin typeface="Yu Gothic" pitchFamily="34" charset="0"/>
                <a:ea typeface="Yu Gothic" pitchFamily="34" charset="-122"/>
                <a:cs typeface="Yu Gothic" pitchFamily="34" charset="-120"/>
              </a:rPr>
              <a:t>08</a:t>
            </a:r>
            <a:endParaRPr lang="en-US" sz="660" dirty="0"/>
          </a:p>
        </p:txBody>
      </p:sp>
      <p:sp>
        <p:nvSpPr>
          <p:cNvPr id="152" name="t3_145"/>
          <p:cNvSpPr txBox="1"/>
          <p:nvPr/>
        </p:nvSpPr>
        <p:spPr>
          <a:xfrm>
            <a:off x="14262100" y="10261600"/>
            <a:ext cx="149320" cy="117348"/>
          </a:xfrm>
          <a:prstGeom prst="rect">
            <a:avLst/>
          </a:prstGeom>
          <a:noFill/>
          <a:ln/>
        </p:spPr>
        <p:txBody>
          <a:bodyPr wrap="none" lIns="0" tIns="0" rIns="0" bIns="0" rtlCol="0" anchor="t"/>
          <a:lstStyle/>
          <a:p>
            <a:pPr algn="l" indent="0" marL="0">
              <a:lnSpc>
                <a:spcPts val="858"/>
              </a:lnSpc>
              <a:buNone/>
            </a:pPr>
            <a:r>
              <a:rPr lang="en-US" sz="660" spc="140" kern="0" dirty="0">
                <a:solidFill>
                  <a:srgbClr val="999999"/>
                </a:solidFill>
                <a:latin typeface="Yu Gothic" pitchFamily="34" charset="0"/>
                <a:ea typeface="Yu Gothic" pitchFamily="34" charset="-122"/>
                <a:cs typeface="Yu Gothic" pitchFamily="34" charset="-120"/>
              </a:rPr>
              <a:t>09</a:t>
            </a:r>
            <a:endParaRPr lang="en-US" sz="660" dirty="0"/>
          </a:p>
        </p:txBody>
      </p:sp>
      <p:sp>
        <p:nvSpPr>
          <p:cNvPr id="153" name="t3_146"/>
          <p:cNvSpPr txBox="1"/>
          <p:nvPr/>
        </p:nvSpPr>
        <p:spPr>
          <a:xfrm>
            <a:off x="3810000" y="10261600"/>
            <a:ext cx="4690864" cy="152400"/>
          </a:xfrm>
          <a:prstGeom prst="rect">
            <a:avLst/>
          </a:prstGeom>
          <a:solidFill>
            <a:srgbClr val="FFFFFF"/>
          </a:solidFill>
          <a:ln/>
        </p:spPr>
        <p:txBody>
          <a:bodyPr wrap="none" lIns="25400" tIns="38100" rIns="38100" bIns="25400" rtlCol="0" anchor="ctr"/>
          <a:lstStyle/>
          <a:p>
            <a:pPr algn="l" indent="0" marL="0">
              <a:buNone/>
            </a:pPr>
            <a:r>
              <a:rPr lang="en-US" sz="660" spc="50" kern="0" dirty="0">
                <a:solidFill>
                  <a:srgbClr val="999999"/>
                </a:solidFill>
                <a:latin typeface="Yu Gothic" pitchFamily="34" charset="0"/>
                <a:ea typeface="Yu Gothic" pitchFamily="34" charset="-122"/>
                <a:cs typeface="Yu Gothic" pitchFamily="34" charset="-120"/>
              </a:rPr>
              <a:t>台割 完成版（構成確認用・PwC様レビュー10/2反映）— 青ラベル＝改善点／本文は日本語字数、英語語数は目安</a:t>
            </a:r>
            <a:endParaRPr lang="en-US" sz="660" dirty="0"/>
          </a:p>
        </p:txBody>
      </p:sp>
      <p:sp>
        <p:nvSpPr>
          <p:cNvPr id="154" name="Shape 144"/>
          <p:cNvSpPr/>
          <p:nvPr/>
        </p:nvSpPr>
        <p:spPr>
          <a:xfrm>
            <a:off x="7556500" y="0"/>
            <a:ext cx="0" cy="10693400"/>
          </a:xfrm>
          <a:prstGeom prst="line">
            <a:avLst/>
          </a:prstGeom>
          <a:noFill/>
          <a:ln w="9525">
            <a:solidFill>
              <a:srgbClr val="D5D8DB"/>
            </a:solidFill>
            <a:prstDash val="dash"/>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4_0"/>
          <p:cNvSpPr txBox="1"/>
          <p:nvPr/>
        </p:nvSpPr>
        <p:spPr>
          <a:xfrm>
            <a:off x="609600" y="431800"/>
            <a:ext cx="3096355" cy="139700"/>
          </a:xfrm>
          <a:prstGeom prst="rect">
            <a:avLst/>
          </a:prstGeom>
          <a:noFill/>
          <a:ln/>
        </p:spPr>
        <p:txBody>
          <a:bodyPr wrap="none" lIns="0" tIns="0" rIns="0" bIns="0" rtlCol="0" anchor="t"/>
          <a:lstStyle/>
          <a:p>
            <a:pPr algn="l" indent="0" marL="0">
              <a:lnSpc>
                <a:spcPts val="962"/>
              </a:lnSpc>
              <a:buNone/>
            </a:pPr>
            <a:r>
              <a:rPr lang="en-US" sz="740" spc="120" kern="0" dirty="0">
                <a:solidFill>
                  <a:srgbClr val="555555"/>
                </a:solidFill>
                <a:latin typeface="Yu Gothic" pitchFamily="34" charset="0"/>
                <a:ea typeface="Yu Gothic" pitchFamily="34" charset="-122"/>
                <a:cs typeface="Yu Gothic" pitchFamily="34" charset="-120"/>
              </a:rPr>
              <a:t>第3章　PROOF｜選ばれ続ける理由　—　実績・関係・評価</a:t>
            </a:r>
            <a:endParaRPr lang="en-US" sz="740" dirty="0"/>
          </a:p>
        </p:txBody>
      </p:sp>
      <p:sp>
        <p:nvSpPr>
          <p:cNvPr id="4" name="t4_1"/>
          <p:cNvSpPr txBox="1"/>
          <p:nvPr/>
        </p:nvSpPr>
        <p:spPr>
          <a:xfrm>
            <a:off x="6070600" y="406400"/>
            <a:ext cx="1014016" cy="177800"/>
          </a:xfrm>
          <a:prstGeom prst="roundRect">
            <a:avLst>
              <a:gd name="adj" fmla="val 257143"/>
            </a:avLst>
          </a:prstGeom>
          <a:noFill/>
          <a:ln w="12700">
            <a:solidFill>
              <a:srgbClr val="AAAAAA"/>
            </a:solidFill>
            <a:prstDash val="solid"/>
          </a:ln>
        </p:spPr>
        <p:txBody>
          <a:bodyPr wrap="square" lIns="25400" tIns="38100" rIns="38100" bIns="25400" rtlCol="0" anchor="t"/>
          <a:lstStyle/>
          <a:p>
            <a:pPr algn="l" indent="0" marL="0">
              <a:lnSpc>
                <a:spcPts val="858"/>
              </a:lnSpc>
              <a:buNone/>
            </a:pPr>
            <a:r>
              <a:rPr lang="en-US" sz="660" spc="50" kern="0" dirty="0">
                <a:solidFill>
                  <a:srgbClr val="777777"/>
                </a:solidFill>
                <a:latin typeface="Yu Gothic" pitchFamily="34" charset="0"/>
                <a:ea typeface="Yu Gothic" pitchFamily="34" charset="-122"/>
                <a:cs typeface="Yu Gothic" pitchFamily="34" charset="-120"/>
              </a:rPr>
              <a:t>読み手の心理：安心</a:t>
            </a:r>
            <a:endParaRPr lang="en-US" sz="660" dirty="0"/>
          </a:p>
        </p:txBody>
      </p:sp>
      <p:sp>
        <p:nvSpPr>
          <p:cNvPr id="5" name="t4_2"/>
          <p:cNvSpPr txBox="1"/>
          <p:nvPr/>
        </p:nvSpPr>
        <p:spPr>
          <a:xfrm>
            <a:off x="609600" y="762000"/>
            <a:ext cx="6352540" cy="320040"/>
          </a:xfrm>
          <a:prstGeom prst="rect">
            <a:avLst/>
          </a:prstGeom>
          <a:noFill/>
          <a:ln/>
        </p:spPr>
        <p:txBody>
          <a:bodyPr wrap="none" lIns="0" tIns="0" rIns="0" bIns="0" rtlCol="0" anchor="t"/>
          <a:lstStyle/>
          <a:p>
            <a:pPr algn="l" indent="0" marL="0">
              <a:lnSpc>
                <a:spcPts val="2520"/>
              </a:lnSpc>
              <a:buNone/>
            </a:pPr>
            <a:r>
              <a:rPr lang="en-US" sz="1800" spc="80" kern="0" dirty="0">
                <a:solidFill>
                  <a:srgbClr val="222222"/>
                </a:solidFill>
                <a:latin typeface="Yu Gothic" pitchFamily="34" charset="0"/>
                <a:ea typeface="Yu Gothic" pitchFamily="34" charset="-122"/>
                <a:cs typeface="Yu Gothic" pitchFamily="34" charset="-120"/>
              </a:rPr>
              <a:t>Partner of Choice</a:t>
            </a:r>
            <a:endParaRPr lang="en-US" sz="1800" dirty="0"/>
          </a:p>
        </p:txBody>
      </p:sp>
      <p:sp>
        <p:nvSpPr>
          <p:cNvPr id="6" name="t4_3"/>
          <p:cNvSpPr txBox="1"/>
          <p:nvPr/>
        </p:nvSpPr>
        <p:spPr>
          <a:xfrm>
            <a:off x="609600" y="1117600"/>
            <a:ext cx="6352540" cy="196850"/>
          </a:xfrm>
          <a:prstGeom prst="rect">
            <a:avLst/>
          </a:prstGeom>
          <a:noFill/>
          <a:ln/>
        </p:spPr>
        <p:txBody>
          <a:bodyPr wrap="none" lIns="0" tIns="0" rIns="0" bIns="0" rtlCol="0" anchor="t"/>
          <a:lstStyle/>
          <a:p>
            <a:pPr algn="l" indent="0" marL="0">
              <a:lnSpc>
                <a:spcPts val="1550"/>
              </a:lnSpc>
              <a:buNone/>
            </a:pPr>
            <a:r>
              <a:rPr lang="en-US" sz="1000" spc="30" kern="0" dirty="0">
                <a:solidFill>
                  <a:srgbClr val="444444"/>
                </a:solidFill>
                <a:latin typeface="Yu Gothic" pitchFamily="34" charset="0"/>
                <a:ea typeface="Yu Gothic" pitchFamily="34" charset="-122"/>
                <a:cs typeface="Yu Gothic" pitchFamily="34" charset="-120"/>
              </a:rPr>
              <a:t>資源業界に不可欠な存在として、選ばれ続ける</a:t>
            </a:r>
            <a:endParaRPr lang="en-US" sz="1000" dirty="0"/>
          </a:p>
        </p:txBody>
      </p:sp>
      <p:sp>
        <p:nvSpPr>
          <p:cNvPr id="7" name="t4_4"/>
          <p:cNvSpPr txBox="1"/>
          <p:nvPr/>
        </p:nvSpPr>
        <p:spPr>
          <a:xfrm>
            <a:off x="2641600" y="838200"/>
            <a:ext cx="775295" cy="139700"/>
          </a:xfrm>
          <a:prstGeom prst="rect">
            <a:avLst/>
          </a:prstGeom>
          <a:solidFill>
            <a:srgbClr val="2A6FB0"/>
          </a:solidFill>
          <a:ln/>
        </p:spPr>
        <p:txBody>
          <a:bodyPr wrap="none" lIns="25400" tIns="38100" rIns="38100" bIns="25400" rtlCol="0" anchor="ctr"/>
          <a:lstStyle/>
          <a:p>
            <a:pPr algn="l" indent="0" marL="0">
              <a:buNone/>
            </a:pPr>
            <a:r>
              <a:rPr lang="en-US" sz="620" spc="30" kern="0" dirty="0">
                <a:solidFill>
                  <a:srgbClr val="FFFFFF"/>
                </a:solidFill>
                <a:latin typeface="Yu Gothic" pitchFamily="34" charset="0"/>
                <a:ea typeface="Yu Gothic" pitchFamily="34" charset="-122"/>
                <a:cs typeface="Yu Gothic" pitchFamily="34" charset="-120"/>
              </a:rPr>
              <a:t>改善③ 1ページ化</a:t>
            </a:r>
            <a:endParaRPr lang="en-US" sz="620" dirty="0"/>
          </a:p>
        </p:txBody>
      </p:sp>
      <p:sp>
        <p:nvSpPr>
          <p:cNvPr id="8" name="t4_5"/>
          <p:cNvSpPr txBox="1"/>
          <p:nvPr/>
        </p:nvSpPr>
        <p:spPr>
          <a:xfrm>
            <a:off x="609600" y="1371600"/>
            <a:ext cx="3182620" cy="692944"/>
          </a:xfrm>
          <a:prstGeom prst="rect">
            <a:avLst/>
          </a:prstGeom>
          <a:noFill/>
          <a:ln/>
        </p:spPr>
        <p:txBody>
          <a:bodyPr wrap="square" lIns="0" tIns="0" rIns="0" bIns="0" rtlCol="0" anchor="t"/>
          <a:lstStyle/>
          <a:p>
            <a:pPr algn="l" indent="0" marL="0">
              <a:lnSpc>
                <a:spcPts val="1365"/>
              </a:lnSpc>
              <a:buNone/>
            </a:pPr>
            <a:r>
              <a:rPr lang="en-US" sz="7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a:t>
            </a:r>
            <a:endParaRPr lang="en-US" sz="780" dirty="0"/>
          </a:p>
        </p:txBody>
      </p:sp>
      <p:sp>
        <p:nvSpPr>
          <p:cNvPr id="9" name="t4_6"/>
          <p:cNvSpPr txBox="1"/>
          <p:nvPr/>
        </p:nvSpPr>
        <p:spPr>
          <a:xfrm>
            <a:off x="609600" y="2077641"/>
            <a:ext cx="985965" cy="114300"/>
          </a:xfrm>
          <a:prstGeom prst="rect">
            <a:avLst/>
          </a:prstGeom>
          <a:noFill/>
          <a:ln/>
        </p:spPr>
        <p:txBody>
          <a:bodyPr wrap="none" lIns="0" tIns="0" rIns="0" bIns="0" rtlCol="0" anchor="t"/>
          <a:lstStyle/>
          <a:p>
            <a:pPr algn="l" indent="0" marL="0">
              <a:lnSpc>
                <a:spcPts val="754"/>
              </a:lnSpc>
              <a:buNone/>
            </a:pPr>
            <a:r>
              <a:rPr lang="en-US" sz="580" spc="30" kern="0" dirty="0">
                <a:solidFill>
                  <a:srgbClr val="B0B4B8"/>
                </a:solidFill>
                <a:latin typeface="Yu Gothic" pitchFamily="34" charset="0"/>
                <a:ea typeface="Yu Gothic" pitchFamily="34" charset="-122"/>
                <a:cs typeface="Yu Gothic" pitchFamily="34" charset="-120"/>
              </a:rPr>
              <a:t>▸本文 120字／英語 約66語</a:t>
            </a:r>
            <a:endParaRPr lang="en-US" sz="580" dirty="0"/>
          </a:p>
        </p:txBody>
      </p:sp>
      <p:pic>
        <p:nvPicPr>
          <p:cNvPr id="10" name="Image 0" descr="preencoded.png">    </p:cNvPr>
          <p:cNvPicPr>
            <a:picLocks noChangeAspect="1"/>
          </p:cNvPicPr>
          <p:nvPr/>
        </p:nvPicPr>
        <p:blipFill>
          <a:blip r:embed="rId1"/>
          <a:stretch>
            <a:fillRect/>
          </a:stretch>
        </p:blipFill>
        <p:spPr>
          <a:xfrm>
            <a:off x="3898900" y="1371600"/>
            <a:ext cx="3048000" cy="1905000"/>
          </a:xfrm>
          <a:prstGeom prst="rect">
            <a:avLst/>
          </a:prstGeom>
        </p:spPr>
      </p:pic>
      <p:sp>
        <p:nvSpPr>
          <p:cNvPr id="11" name="t4_8"/>
          <p:cNvSpPr txBox="1"/>
          <p:nvPr/>
        </p:nvSpPr>
        <p:spPr>
          <a:xfrm>
            <a:off x="3898900" y="3314700"/>
            <a:ext cx="3182620" cy="114300"/>
          </a:xfrm>
          <a:prstGeom prst="rect">
            <a:avLst/>
          </a:prstGeom>
          <a:noFill/>
          <a:ln/>
        </p:spPr>
        <p:txBody>
          <a:bodyPr wrap="none" lIns="0" tIns="0" rIns="0" bIns="0" rtlCol="0" anchor="t"/>
          <a:lstStyle/>
          <a:p>
            <a:pPr algn="l" indent="0" marL="0">
              <a:lnSpc>
                <a:spcPts val="780"/>
              </a:lnSpc>
              <a:buNone/>
            </a:pPr>
            <a:r>
              <a:rPr lang="en-US" sz="600" spc="60" kern="0" dirty="0">
                <a:solidFill>
                  <a:srgbClr val="666666"/>
                </a:solidFill>
                <a:latin typeface="Yu Gothic" pitchFamily="34" charset="0"/>
                <a:ea typeface="Yu Gothic" pitchFamily="34" charset="-122"/>
                <a:cs typeface="Yu Gothic" pitchFamily="34" charset="-120"/>
              </a:rPr>
              <a:t>写真：現場の人々（流用：三菱商事サイト）</a:t>
            </a:r>
            <a:endParaRPr lang="en-US" sz="600" dirty="0"/>
          </a:p>
        </p:txBody>
      </p:sp>
      <p:sp>
        <p:nvSpPr>
          <p:cNvPr id="12" name="t4_9"/>
          <p:cNvSpPr txBox="1"/>
          <p:nvPr/>
        </p:nvSpPr>
        <p:spPr>
          <a:xfrm>
            <a:off x="609600" y="3683000"/>
            <a:ext cx="3182620" cy="349647"/>
          </a:xfrm>
          <a:prstGeom prst="rect">
            <a:avLst/>
          </a:prstGeom>
          <a:noFill/>
          <a:ln/>
        </p:spPr>
        <p:txBody>
          <a:bodyPr wrap="square" lIns="0" tIns="0" rIns="0" bIns="0" rtlCol="0" anchor="t"/>
          <a:lstStyle/>
          <a:p>
            <a:pPr algn="l" indent="0" marL="0">
              <a:lnSpc>
                <a:spcPts val="1378"/>
              </a:lnSpc>
              <a:buNone/>
            </a:pPr>
            <a:r>
              <a:rPr lang="en-US" sz="950" dirty="0">
                <a:solidFill>
                  <a:srgbClr val="888888"/>
                </a:solidFill>
                <a:latin typeface="Yu Gothic" pitchFamily="34" charset="0"/>
                <a:ea typeface="Yu Gothic" pitchFamily="34" charset="-122"/>
                <a:cs typeface="Yu Gothic" pitchFamily="34" charset="-120"/>
              </a:rPr>
              <a:t>01</a:t>
            </a:r>
            <a:pPr algn="l" indent="0" marL="0">
              <a:lnSpc>
                <a:spcPts val="1378"/>
              </a:lnSpc>
              <a:buNone/>
            </a:pPr>
            <a:r>
              <a:rPr lang="en-US" sz="950" dirty="0">
                <a:solidFill>
                  <a:srgbClr val="222222"/>
                </a:solidFill>
                <a:latin typeface="Yu Gothic" pitchFamily="34" charset="0"/>
                <a:ea typeface="Yu Gothic" pitchFamily="34" charset="-122"/>
                <a:cs typeface="Yu Gothic" pitchFamily="34" charset="-120"/>
              </a:rPr>
              <a:t>　資源メジャーとの</a:t>
            </a:r>
            <a:endParaRPr lang="en-US" sz="950" dirty="0"/>
          </a:p>
          <a:p>
            <a:pPr algn="l" indent="0" marL="0">
              <a:lnSpc>
                <a:spcPts val="1378"/>
              </a:lnSpc>
              <a:buNone/>
            </a:pPr>
            <a:r>
              <a:rPr lang="en-US" sz="950" dirty="0">
                <a:solidFill>
                  <a:srgbClr val="222222"/>
                </a:solidFill>
                <a:latin typeface="Yu Gothic" pitchFamily="34" charset="0"/>
                <a:ea typeface="Yu Gothic" pitchFamily="34" charset="-122"/>
                <a:cs typeface="Yu Gothic" pitchFamily="34" charset="-120"/>
              </a:rPr>
              <a:t>企業文化的親和性</a:t>
            </a:r>
            <a:endParaRPr lang="en-US" sz="950" dirty="0"/>
          </a:p>
        </p:txBody>
      </p:sp>
      <p:sp>
        <p:nvSpPr>
          <p:cNvPr id="13" name="t4_10"/>
          <p:cNvSpPr txBox="1"/>
          <p:nvPr/>
        </p:nvSpPr>
        <p:spPr>
          <a:xfrm>
            <a:off x="609600" y="4089400"/>
            <a:ext cx="3182620" cy="276225"/>
          </a:xfrm>
          <a:prstGeom prst="rect">
            <a:avLst/>
          </a:prstGeom>
          <a:noFill/>
          <a:ln/>
        </p:spPr>
        <p:txBody>
          <a:bodyPr wrap="square" lIns="0" tIns="0" rIns="0" bIns="0" rtlCol="0" anchor="t"/>
          <a:lstStyle/>
          <a:p>
            <a:pPr algn="l" indent="0" marL="0">
              <a:lnSpc>
                <a:spcPts val="1088"/>
              </a:lnSpc>
              <a:buNone/>
            </a:pPr>
            <a:r>
              <a:rPr lang="en-US" sz="6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ＸＸＸＸＸＸＸＸＸＸＸＸＸＸＸＸＸＸＸＸＸＸＸＸＸＸＸＸＸＸＸＸＸＸＸＸＸＸＸＸＸＸＸＸＸＸＸＸＸＸＸＸＸＸＸＸＸＸＸＸ</a:t>
            </a:r>
            <a:endParaRPr lang="en-US" sz="680" dirty="0"/>
          </a:p>
        </p:txBody>
      </p:sp>
      <p:sp>
        <p:nvSpPr>
          <p:cNvPr id="14" name="t4_11"/>
          <p:cNvSpPr txBox="1"/>
          <p:nvPr/>
        </p:nvSpPr>
        <p:spPr>
          <a:xfrm>
            <a:off x="609600" y="4378325"/>
            <a:ext cx="938292" cy="114300"/>
          </a:xfrm>
          <a:prstGeom prst="rect">
            <a:avLst/>
          </a:prstGeom>
          <a:noFill/>
          <a:ln/>
        </p:spPr>
        <p:txBody>
          <a:bodyPr wrap="none" lIns="0" tIns="0" rIns="0" bIns="0" rtlCol="0" anchor="t"/>
          <a:lstStyle/>
          <a:p>
            <a:pPr algn="l" indent="0" marL="0">
              <a:lnSpc>
                <a:spcPts val="754"/>
              </a:lnSpc>
              <a:buNone/>
            </a:pPr>
            <a:r>
              <a:rPr lang="en-US" sz="580" spc="30" kern="0" dirty="0">
                <a:solidFill>
                  <a:srgbClr val="B0B4B8"/>
                </a:solidFill>
                <a:latin typeface="Yu Gothic" pitchFamily="34" charset="0"/>
                <a:ea typeface="Yu Gothic" pitchFamily="34" charset="-122"/>
                <a:cs typeface="Yu Gothic" pitchFamily="34" charset="-120"/>
              </a:rPr>
              <a:t>▸本文 60字／英語 約33語</a:t>
            </a:r>
            <a:endParaRPr lang="en-US" sz="580" dirty="0"/>
          </a:p>
        </p:txBody>
      </p:sp>
      <p:sp>
        <p:nvSpPr>
          <p:cNvPr id="15" name="t4_12"/>
          <p:cNvSpPr txBox="1"/>
          <p:nvPr/>
        </p:nvSpPr>
        <p:spPr>
          <a:xfrm>
            <a:off x="3860800" y="3683000"/>
            <a:ext cx="3182620" cy="349647"/>
          </a:xfrm>
          <a:prstGeom prst="rect">
            <a:avLst/>
          </a:prstGeom>
          <a:noFill/>
          <a:ln/>
        </p:spPr>
        <p:txBody>
          <a:bodyPr wrap="square" lIns="0" tIns="0" rIns="0" bIns="0" rtlCol="0" anchor="t"/>
          <a:lstStyle/>
          <a:p>
            <a:pPr algn="l" indent="0" marL="0">
              <a:lnSpc>
                <a:spcPts val="1378"/>
              </a:lnSpc>
              <a:buNone/>
            </a:pPr>
            <a:r>
              <a:rPr lang="en-US" sz="950" dirty="0">
                <a:solidFill>
                  <a:srgbClr val="888888"/>
                </a:solidFill>
                <a:latin typeface="Yu Gothic" pitchFamily="34" charset="0"/>
                <a:ea typeface="Yu Gothic" pitchFamily="34" charset="-122"/>
                <a:cs typeface="Yu Gothic" pitchFamily="34" charset="-120"/>
              </a:rPr>
              <a:t>02</a:t>
            </a:r>
            <a:pPr algn="l" indent="0" marL="0">
              <a:lnSpc>
                <a:spcPts val="1378"/>
              </a:lnSpc>
              <a:buNone/>
            </a:pPr>
            <a:r>
              <a:rPr lang="en-US" sz="950" dirty="0">
                <a:solidFill>
                  <a:srgbClr val="222222"/>
                </a:solidFill>
                <a:latin typeface="Yu Gothic" pitchFamily="34" charset="0"/>
                <a:ea typeface="Yu Gothic" pitchFamily="34" charset="-122"/>
                <a:cs typeface="Yu Gothic" pitchFamily="34" charset="-120"/>
              </a:rPr>
              <a:t>　資源投資経験に裏打ちされた</a:t>
            </a:r>
            <a:endParaRPr lang="en-US" sz="950" dirty="0"/>
          </a:p>
          <a:p>
            <a:pPr algn="l" indent="0" marL="0">
              <a:lnSpc>
                <a:spcPts val="1378"/>
              </a:lnSpc>
              <a:buNone/>
            </a:pPr>
            <a:r>
              <a:rPr lang="en-US" sz="950" dirty="0">
                <a:solidFill>
                  <a:srgbClr val="222222"/>
                </a:solidFill>
                <a:latin typeface="Yu Gothic" pitchFamily="34" charset="0"/>
                <a:ea typeface="Yu Gothic" pitchFamily="34" charset="-122"/>
                <a:cs typeface="Yu Gothic" pitchFamily="34" charset="-120"/>
              </a:rPr>
              <a:t>JV経営力</a:t>
            </a:r>
            <a:endParaRPr lang="en-US" sz="950" dirty="0"/>
          </a:p>
        </p:txBody>
      </p:sp>
      <p:sp>
        <p:nvSpPr>
          <p:cNvPr id="16" name="t4_13"/>
          <p:cNvSpPr txBox="1"/>
          <p:nvPr/>
        </p:nvSpPr>
        <p:spPr>
          <a:xfrm>
            <a:off x="3860800" y="4089400"/>
            <a:ext cx="3182620" cy="276225"/>
          </a:xfrm>
          <a:prstGeom prst="rect">
            <a:avLst/>
          </a:prstGeom>
          <a:noFill/>
          <a:ln/>
        </p:spPr>
        <p:txBody>
          <a:bodyPr wrap="square" lIns="0" tIns="0" rIns="0" bIns="0" rtlCol="0" anchor="t"/>
          <a:lstStyle/>
          <a:p>
            <a:pPr algn="l" indent="0" marL="0">
              <a:lnSpc>
                <a:spcPts val="1088"/>
              </a:lnSpc>
              <a:buNone/>
            </a:pPr>
            <a:r>
              <a:rPr lang="en-US" sz="6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ＸＸＸＸＸＸＸＸＸＸＸＸＸＸＸＸＸＸＸＸＸＸＸＸＸＸＸＸＸＸＸＸＸＸＸＸＸＸＸＸＸＸＸＸＸＸＸＸＸＸＸＸＸＸＸＸＸＸＸＸ</a:t>
            </a:r>
            <a:endParaRPr lang="en-US" sz="680" dirty="0"/>
          </a:p>
        </p:txBody>
      </p:sp>
      <p:sp>
        <p:nvSpPr>
          <p:cNvPr id="17" name="t4_14"/>
          <p:cNvSpPr txBox="1"/>
          <p:nvPr/>
        </p:nvSpPr>
        <p:spPr>
          <a:xfrm>
            <a:off x="3860800" y="4378325"/>
            <a:ext cx="938292" cy="114300"/>
          </a:xfrm>
          <a:prstGeom prst="rect">
            <a:avLst/>
          </a:prstGeom>
          <a:noFill/>
          <a:ln/>
        </p:spPr>
        <p:txBody>
          <a:bodyPr wrap="none" lIns="0" tIns="0" rIns="0" bIns="0" rtlCol="0" anchor="t"/>
          <a:lstStyle/>
          <a:p>
            <a:pPr algn="l" indent="0" marL="0">
              <a:lnSpc>
                <a:spcPts val="754"/>
              </a:lnSpc>
              <a:buNone/>
            </a:pPr>
            <a:r>
              <a:rPr lang="en-US" sz="580" spc="30" kern="0" dirty="0">
                <a:solidFill>
                  <a:srgbClr val="B0B4B8"/>
                </a:solidFill>
                <a:latin typeface="Yu Gothic" pitchFamily="34" charset="0"/>
                <a:ea typeface="Yu Gothic" pitchFamily="34" charset="-122"/>
                <a:cs typeface="Yu Gothic" pitchFamily="34" charset="-120"/>
              </a:rPr>
              <a:t>▸本文 60字／英語 約33語</a:t>
            </a:r>
            <a:endParaRPr lang="en-US" sz="580" dirty="0"/>
          </a:p>
        </p:txBody>
      </p:sp>
      <p:sp>
        <p:nvSpPr>
          <p:cNvPr id="18" name="t4_15"/>
          <p:cNvSpPr txBox="1"/>
          <p:nvPr/>
        </p:nvSpPr>
        <p:spPr>
          <a:xfrm>
            <a:off x="609600" y="4851400"/>
            <a:ext cx="3182620" cy="349647"/>
          </a:xfrm>
          <a:prstGeom prst="rect">
            <a:avLst/>
          </a:prstGeom>
          <a:noFill/>
          <a:ln/>
        </p:spPr>
        <p:txBody>
          <a:bodyPr wrap="square" lIns="0" tIns="0" rIns="0" bIns="0" rtlCol="0" anchor="t"/>
          <a:lstStyle/>
          <a:p>
            <a:pPr algn="l" indent="0" marL="0">
              <a:lnSpc>
                <a:spcPts val="1378"/>
              </a:lnSpc>
              <a:buNone/>
            </a:pPr>
            <a:r>
              <a:rPr lang="en-US" sz="950" dirty="0">
                <a:solidFill>
                  <a:srgbClr val="888888"/>
                </a:solidFill>
                <a:latin typeface="Yu Gothic" pitchFamily="34" charset="0"/>
                <a:ea typeface="Yu Gothic" pitchFamily="34" charset="-122"/>
                <a:cs typeface="Yu Gothic" pitchFamily="34" charset="-120"/>
              </a:rPr>
              <a:t>03</a:t>
            </a:r>
            <a:pPr algn="l" indent="0" marL="0">
              <a:lnSpc>
                <a:spcPts val="1378"/>
              </a:lnSpc>
              <a:buNone/>
            </a:pPr>
            <a:r>
              <a:rPr lang="en-US" sz="950" dirty="0">
                <a:solidFill>
                  <a:srgbClr val="222222"/>
                </a:solidFill>
                <a:latin typeface="Yu Gothic" pitchFamily="34" charset="0"/>
                <a:ea typeface="Yu Gothic" pitchFamily="34" charset="-122"/>
                <a:cs typeface="Yu Gothic" pitchFamily="34" charset="-120"/>
              </a:rPr>
              <a:t>　事業ポートフォリオを活かした</a:t>
            </a:r>
            <a:endParaRPr lang="en-US" sz="950" dirty="0"/>
          </a:p>
          <a:p>
            <a:pPr algn="l" indent="0" marL="0">
              <a:lnSpc>
                <a:spcPts val="1378"/>
              </a:lnSpc>
              <a:buNone/>
            </a:pPr>
            <a:r>
              <a:rPr lang="en-US" sz="950" dirty="0">
                <a:solidFill>
                  <a:srgbClr val="222222"/>
                </a:solidFill>
                <a:latin typeface="Yu Gothic" pitchFamily="34" charset="0"/>
                <a:ea typeface="Yu Gothic" pitchFamily="34" charset="-122"/>
                <a:cs typeface="Yu Gothic" pitchFamily="34" charset="-120"/>
              </a:rPr>
              <a:t>健全な財務基盤</a:t>
            </a:r>
            <a:endParaRPr lang="en-US" sz="950" dirty="0"/>
          </a:p>
        </p:txBody>
      </p:sp>
      <p:sp>
        <p:nvSpPr>
          <p:cNvPr id="19" name="t4_16"/>
          <p:cNvSpPr txBox="1"/>
          <p:nvPr/>
        </p:nvSpPr>
        <p:spPr>
          <a:xfrm>
            <a:off x="609600" y="5257800"/>
            <a:ext cx="3182620" cy="276225"/>
          </a:xfrm>
          <a:prstGeom prst="rect">
            <a:avLst/>
          </a:prstGeom>
          <a:noFill/>
          <a:ln/>
        </p:spPr>
        <p:txBody>
          <a:bodyPr wrap="square" lIns="0" tIns="0" rIns="0" bIns="0" rtlCol="0" anchor="t"/>
          <a:lstStyle/>
          <a:p>
            <a:pPr algn="l" indent="0" marL="0">
              <a:lnSpc>
                <a:spcPts val="1088"/>
              </a:lnSpc>
              <a:buNone/>
            </a:pPr>
            <a:r>
              <a:rPr lang="en-US" sz="6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ＸＸＸＸＸＸＸＸＸＸＸＸＸＸＸＸＸＸＸＸＸＸＸＸＸＸＸＸＸＸＸＸＸＸＸＸＸＸＸＸＸＸＸＸＸＸＸＸＸＸＸＸＸＸＸＸＸＸＸＸ</a:t>
            </a:r>
            <a:endParaRPr lang="en-US" sz="680" dirty="0"/>
          </a:p>
        </p:txBody>
      </p:sp>
      <p:sp>
        <p:nvSpPr>
          <p:cNvPr id="20" name="t4_17"/>
          <p:cNvSpPr txBox="1"/>
          <p:nvPr/>
        </p:nvSpPr>
        <p:spPr>
          <a:xfrm>
            <a:off x="609600" y="5546725"/>
            <a:ext cx="938292" cy="114300"/>
          </a:xfrm>
          <a:prstGeom prst="rect">
            <a:avLst/>
          </a:prstGeom>
          <a:noFill/>
          <a:ln/>
        </p:spPr>
        <p:txBody>
          <a:bodyPr wrap="none" lIns="0" tIns="0" rIns="0" bIns="0" rtlCol="0" anchor="t"/>
          <a:lstStyle/>
          <a:p>
            <a:pPr algn="l" indent="0" marL="0">
              <a:lnSpc>
                <a:spcPts val="754"/>
              </a:lnSpc>
              <a:buNone/>
            </a:pPr>
            <a:r>
              <a:rPr lang="en-US" sz="580" spc="30" kern="0" dirty="0">
                <a:solidFill>
                  <a:srgbClr val="B0B4B8"/>
                </a:solidFill>
                <a:latin typeface="Yu Gothic" pitchFamily="34" charset="0"/>
                <a:ea typeface="Yu Gothic" pitchFamily="34" charset="-122"/>
                <a:cs typeface="Yu Gothic" pitchFamily="34" charset="-120"/>
              </a:rPr>
              <a:t>▸本文 60字／英語 約33語</a:t>
            </a:r>
            <a:endParaRPr lang="en-US" sz="580" dirty="0"/>
          </a:p>
        </p:txBody>
      </p:sp>
      <p:sp>
        <p:nvSpPr>
          <p:cNvPr id="21" name="t4_18"/>
          <p:cNvSpPr txBox="1"/>
          <p:nvPr/>
        </p:nvSpPr>
        <p:spPr>
          <a:xfrm>
            <a:off x="3860800" y="4851400"/>
            <a:ext cx="3182620" cy="349647"/>
          </a:xfrm>
          <a:prstGeom prst="rect">
            <a:avLst/>
          </a:prstGeom>
          <a:noFill/>
          <a:ln/>
        </p:spPr>
        <p:txBody>
          <a:bodyPr wrap="square" lIns="0" tIns="0" rIns="0" bIns="0" rtlCol="0" anchor="t"/>
          <a:lstStyle/>
          <a:p>
            <a:pPr algn="l" indent="0" marL="0">
              <a:lnSpc>
                <a:spcPts val="1378"/>
              </a:lnSpc>
              <a:buNone/>
            </a:pPr>
            <a:r>
              <a:rPr lang="en-US" sz="950" dirty="0">
                <a:solidFill>
                  <a:srgbClr val="888888"/>
                </a:solidFill>
                <a:latin typeface="Yu Gothic" pitchFamily="34" charset="0"/>
                <a:ea typeface="Yu Gothic" pitchFamily="34" charset="-122"/>
                <a:cs typeface="Yu Gothic" pitchFamily="34" charset="-120"/>
              </a:rPr>
              <a:t>04</a:t>
            </a:r>
            <a:pPr algn="l" indent="0" marL="0">
              <a:lnSpc>
                <a:spcPts val="1378"/>
              </a:lnSpc>
              <a:buNone/>
            </a:pPr>
            <a:r>
              <a:rPr lang="en-US" sz="950" dirty="0">
                <a:solidFill>
                  <a:srgbClr val="222222"/>
                </a:solidFill>
                <a:latin typeface="Yu Gothic" pitchFamily="34" charset="0"/>
                <a:ea typeface="Yu Gothic" pitchFamily="34" charset="-122"/>
                <a:cs typeface="Yu Gothic" pitchFamily="34" charset="-120"/>
              </a:rPr>
              <a:t>　マクロ環境とバリューチェーンに</a:t>
            </a:r>
            <a:endParaRPr lang="en-US" sz="950" dirty="0"/>
          </a:p>
          <a:p>
            <a:pPr algn="l" indent="0" marL="0">
              <a:lnSpc>
                <a:spcPts val="1378"/>
              </a:lnSpc>
              <a:buNone/>
            </a:pPr>
            <a:r>
              <a:rPr lang="en-US" sz="950" dirty="0">
                <a:solidFill>
                  <a:srgbClr val="222222"/>
                </a:solidFill>
                <a:latin typeface="Yu Gothic" pitchFamily="34" charset="0"/>
                <a:ea typeface="Yu Gothic" pitchFamily="34" charset="-122"/>
                <a:cs typeface="Yu Gothic" pitchFamily="34" charset="-120"/>
              </a:rPr>
              <a:t>対する深い知見</a:t>
            </a:r>
            <a:endParaRPr lang="en-US" sz="950" dirty="0"/>
          </a:p>
        </p:txBody>
      </p:sp>
      <p:sp>
        <p:nvSpPr>
          <p:cNvPr id="22" name="t4_19"/>
          <p:cNvSpPr txBox="1"/>
          <p:nvPr/>
        </p:nvSpPr>
        <p:spPr>
          <a:xfrm>
            <a:off x="3860800" y="5257800"/>
            <a:ext cx="3182620" cy="276225"/>
          </a:xfrm>
          <a:prstGeom prst="rect">
            <a:avLst/>
          </a:prstGeom>
          <a:noFill/>
          <a:ln/>
        </p:spPr>
        <p:txBody>
          <a:bodyPr wrap="square" lIns="0" tIns="0" rIns="0" bIns="0" rtlCol="0" anchor="t"/>
          <a:lstStyle/>
          <a:p>
            <a:pPr algn="l" indent="0" marL="0">
              <a:lnSpc>
                <a:spcPts val="1088"/>
              </a:lnSpc>
              <a:buNone/>
            </a:pPr>
            <a:r>
              <a:rPr lang="en-US" sz="6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ＸＸＸＸＸＸＸＸＸＸＸＸＸＸＸＸＸＸＸＸＸＸＸＸＸＸＸＸＸＸＸＸＸＸＸＸＸＸＸＸＸＸＸＸＸＸＸＸＸＸＸＸＸＸＸＸＸＸＸＸ</a:t>
            </a:r>
            <a:endParaRPr lang="en-US" sz="680" dirty="0"/>
          </a:p>
        </p:txBody>
      </p:sp>
      <p:sp>
        <p:nvSpPr>
          <p:cNvPr id="23" name="t4_20"/>
          <p:cNvSpPr txBox="1"/>
          <p:nvPr/>
        </p:nvSpPr>
        <p:spPr>
          <a:xfrm>
            <a:off x="3860800" y="5546725"/>
            <a:ext cx="938292" cy="114300"/>
          </a:xfrm>
          <a:prstGeom prst="rect">
            <a:avLst/>
          </a:prstGeom>
          <a:noFill/>
          <a:ln/>
        </p:spPr>
        <p:txBody>
          <a:bodyPr wrap="none" lIns="0" tIns="0" rIns="0" bIns="0" rtlCol="0" anchor="t"/>
          <a:lstStyle/>
          <a:p>
            <a:pPr algn="l" indent="0" marL="0">
              <a:lnSpc>
                <a:spcPts val="754"/>
              </a:lnSpc>
              <a:buNone/>
            </a:pPr>
            <a:r>
              <a:rPr lang="en-US" sz="580" spc="30" kern="0" dirty="0">
                <a:solidFill>
                  <a:srgbClr val="B0B4B8"/>
                </a:solidFill>
                <a:latin typeface="Yu Gothic" pitchFamily="34" charset="0"/>
                <a:ea typeface="Yu Gothic" pitchFamily="34" charset="-122"/>
                <a:cs typeface="Yu Gothic" pitchFamily="34" charset="-120"/>
              </a:rPr>
              <a:t>▸本文 60字／英語 約33語</a:t>
            </a:r>
            <a:endParaRPr lang="en-US" sz="580" dirty="0"/>
          </a:p>
        </p:txBody>
      </p:sp>
      <p:sp>
        <p:nvSpPr>
          <p:cNvPr id="24" name="Shape 20"/>
          <p:cNvSpPr/>
          <p:nvPr/>
        </p:nvSpPr>
        <p:spPr>
          <a:xfrm>
            <a:off x="609600" y="6045200"/>
            <a:ext cx="6337300" cy="0"/>
          </a:xfrm>
          <a:prstGeom prst="line">
            <a:avLst/>
          </a:prstGeom>
          <a:noFill/>
          <a:ln w="12700">
            <a:solidFill>
              <a:srgbClr val="CFD2D5"/>
            </a:solidFill>
            <a:prstDash val="solid"/>
          </a:ln>
        </p:spPr>
      </p:sp>
      <p:sp>
        <p:nvSpPr>
          <p:cNvPr id="25" name="t4_22"/>
          <p:cNvSpPr txBox="1"/>
          <p:nvPr/>
        </p:nvSpPr>
        <p:spPr>
          <a:xfrm>
            <a:off x="609600" y="6172200"/>
            <a:ext cx="881539" cy="114300"/>
          </a:xfrm>
          <a:prstGeom prst="rect">
            <a:avLst/>
          </a:prstGeom>
          <a:noFill/>
          <a:ln/>
        </p:spPr>
        <p:txBody>
          <a:bodyPr wrap="none" lIns="0" tIns="0" rIns="0" bIns="0" rtlCol="0" anchor="t"/>
          <a:lstStyle/>
          <a:p>
            <a:pPr algn="l" indent="0" marL="0">
              <a:lnSpc>
                <a:spcPts val="780"/>
              </a:lnSpc>
              <a:buNone/>
            </a:pPr>
            <a:r>
              <a:rPr lang="en-US" sz="600" spc="60" kern="0" dirty="0">
                <a:solidFill>
                  <a:srgbClr val="444444"/>
                </a:solidFill>
                <a:latin typeface="Yu Gothic" pitchFamily="34" charset="0"/>
                <a:ea typeface="Yu Gothic" pitchFamily="34" charset="-122"/>
                <a:cs typeface="Yu Gothic" pitchFamily="34" charset="-120"/>
              </a:rPr>
              <a:t>業界最大手とのJV実績</a:t>
            </a:r>
            <a:endParaRPr lang="en-US" sz="600" dirty="0"/>
          </a:p>
        </p:txBody>
      </p:sp>
      <p:sp>
        <p:nvSpPr>
          <p:cNvPr id="26" name="t4_23"/>
          <p:cNvSpPr txBox="1"/>
          <p:nvPr/>
        </p:nvSpPr>
        <p:spPr>
          <a:xfrm>
            <a:off x="609600" y="6350000"/>
            <a:ext cx="1981200" cy="2794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BHP</a:t>
            </a:r>
            <a:endParaRPr lang="en-US" sz="740" dirty="0"/>
          </a:p>
        </p:txBody>
      </p:sp>
      <p:sp>
        <p:nvSpPr>
          <p:cNvPr id="27" name="t4_24"/>
          <p:cNvSpPr txBox="1"/>
          <p:nvPr/>
        </p:nvSpPr>
        <p:spPr>
          <a:xfrm>
            <a:off x="2743200" y="6350000"/>
            <a:ext cx="1981200" cy="2794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Rio Tinto</a:t>
            </a:r>
            <a:endParaRPr lang="en-US" sz="740" dirty="0"/>
          </a:p>
        </p:txBody>
      </p:sp>
      <p:sp>
        <p:nvSpPr>
          <p:cNvPr id="28" name="t4_25"/>
          <p:cNvSpPr txBox="1"/>
          <p:nvPr/>
        </p:nvSpPr>
        <p:spPr>
          <a:xfrm>
            <a:off x="4876800" y="6350000"/>
            <a:ext cx="1981200" cy="2794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Anglo American</a:t>
            </a:r>
            <a:endParaRPr lang="en-US" sz="740" dirty="0"/>
          </a:p>
        </p:txBody>
      </p:sp>
      <p:sp>
        <p:nvSpPr>
          <p:cNvPr id="29" name="t4_26"/>
          <p:cNvSpPr txBox="1"/>
          <p:nvPr/>
        </p:nvSpPr>
        <p:spPr>
          <a:xfrm>
            <a:off x="609600" y="6781800"/>
            <a:ext cx="1754092" cy="114300"/>
          </a:xfrm>
          <a:prstGeom prst="rect">
            <a:avLst/>
          </a:prstGeom>
          <a:noFill/>
          <a:ln/>
        </p:spPr>
        <p:txBody>
          <a:bodyPr wrap="none" lIns="0" tIns="0" rIns="0" bIns="0" rtlCol="0" anchor="t"/>
          <a:lstStyle/>
          <a:p>
            <a:pPr algn="l" indent="0" marL="0">
              <a:lnSpc>
                <a:spcPts val="780"/>
              </a:lnSpc>
              <a:buNone/>
            </a:pPr>
            <a:r>
              <a:rPr lang="en-US" sz="600" spc="60" kern="0" dirty="0">
                <a:solidFill>
                  <a:srgbClr val="444444"/>
                </a:solidFill>
                <a:latin typeface="Yu Gothic" pitchFamily="34" charset="0"/>
                <a:ea typeface="Yu Gothic" pitchFamily="34" charset="-122"/>
                <a:cs typeface="Yu Gothic" pitchFamily="34" charset="-120"/>
              </a:rPr>
              <a:t>単なる共同出資者に留まらない、JVへの貢献</a:t>
            </a:r>
            <a:endParaRPr lang="en-US" sz="600" dirty="0"/>
          </a:p>
        </p:txBody>
      </p:sp>
      <p:sp>
        <p:nvSpPr>
          <p:cNvPr id="30" name="t4_27"/>
          <p:cNvSpPr txBox="1"/>
          <p:nvPr/>
        </p:nvSpPr>
        <p:spPr>
          <a:xfrm>
            <a:off x="609600" y="6959600"/>
            <a:ext cx="1981200" cy="3810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人材派遣</a:t>
            </a:r>
            <a:endParaRPr lang="en-US" sz="740" dirty="0"/>
          </a:p>
        </p:txBody>
      </p:sp>
      <p:sp>
        <p:nvSpPr>
          <p:cNvPr id="31" name="t4_28"/>
          <p:cNvSpPr txBox="1"/>
          <p:nvPr/>
        </p:nvSpPr>
        <p:spPr>
          <a:xfrm>
            <a:off x="609600" y="7416800"/>
            <a:ext cx="2073148" cy="267891"/>
          </a:xfrm>
          <a:prstGeom prst="rect">
            <a:avLst/>
          </a:prstGeom>
          <a:noFill/>
          <a:ln/>
        </p:spPr>
        <p:txBody>
          <a:bodyPr wrap="square" lIns="0" tIns="0" rIns="0" bIns="0" rtlCol="0" anchor="t"/>
          <a:lstStyle/>
          <a:p>
            <a:pPr algn="l" indent="0" marL="0">
              <a:lnSpc>
                <a:spcPts val="1056"/>
              </a:lnSpc>
              <a:buNone/>
            </a:pPr>
            <a:r>
              <a:rPr lang="en-US" sz="6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a:t>
            </a:r>
            <a:endParaRPr lang="en-US" sz="660" dirty="0"/>
          </a:p>
        </p:txBody>
      </p:sp>
      <p:sp>
        <p:nvSpPr>
          <p:cNvPr id="32" name="t4_29"/>
          <p:cNvSpPr txBox="1"/>
          <p:nvPr/>
        </p:nvSpPr>
        <p:spPr>
          <a:xfrm>
            <a:off x="2743200" y="6959600"/>
            <a:ext cx="1981200" cy="3810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ガバナンス参画</a:t>
            </a:r>
            <a:endParaRPr lang="en-US" sz="740" dirty="0"/>
          </a:p>
        </p:txBody>
      </p:sp>
      <p:sp>
        <p:nvSpPr>
          <p:cNvPr id="33" name="t4_30"/>
          <p:cNvSpPr txBox="1"/>
          <p:nvPr/>
        </p:nvSpPr>
        <p:spPr>
          <a:xfrm>
            <a:off x="2743200" y="7416800"/>
            <a:ext cx="2073148" cy="267891"/>
          </a:xfrm>
          <a:prstGeom prst="rect">
            <a:avLst/>
          </a:prstGeom>
          <a:noFill/>
          <a:ln/>
        </p:spPr>
        <p:txBody>
          <a:bodyPr wrap="square" lIns="0" tIns="0" rIns="0" bIns="0" rtlCol="0" anchor="t"/>
          <a:lstStyle/>
          <a:p>
            <a:pPr algn="l" indent="0" marL="0">
              <a:lnSpc>
                <a:spcPts val="1056"/>
              </a:lnSpc>
              <a:buNone/>
            </a:pPr>
            <a:r>
              <a:rPr lang="en-US" sz="6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a:t>
            </a:r>
            <a:endParaRPr lang="en-US" sz="660" dirty="0"/>
          </a:p>
        </p:txBody>
      </p:sp>
      <p:sp>
        <p:nvSpPr>
          <p:cNvPr id="34" name="t4_31"/>
          <p:cNvSpPr txBox="1"/>
          <p:nvPr/>
        </p:nvSpPr>
        <p:spPr>
          <a:xfrm>
            <a:off x="4876800" y="6959600"/>
            <a:ext cx="1981200" cy="3810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三菱の総合力による</a:t>
            </a:r>
            <a:endParaRPr lang="en-US" sz="740" dirty="0"/>
          </a:p>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事業価値の最大化</a:t>
            </a:r>
            <a:endParaRPr lang="en-US" sz="740" dirty="0"/>
          </a:p>
        </p:txBody>
      </p:sp>
      <p:sp>
        <p:nvSpPr>
          <p:cNvPr id="35" name="t4_32"/>
          <p:cNvSpPr txBox="1"/>
          <p:nvPr/>
        </p:nvSpPr>
        <p:spPr>
          <a:xfrm>
            <a:off x="4876800" y="7416800"/>
            <a:ext cx="2073148" cy="267891"/>
          </a:xfrm>
          <a:prstGeom prst="rect">
            <a:avLst/>
          </a:prstGeom>
          <a:noFill/>
          <a:ln/>
        </p:spPr>
        <p:txBody>
          <a:bodyPr wrap="square" lIns="0" tIns="0" rIns="0" bIns="0" rtlCol="0" anchor="t"/>
          <a:lstStyle/>
          <a:p>
            <a:pPr algn="l" indent="0" marL="0">
              <a:lnSpc>
                <a:spcPts val="1056"/>
              </a:lnSpc>
              <a:buNone/>
            </a:pPr>
            <a:r>
              <a:rPr lang="en-US" sz="6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a:t>
            </a:r>
            <a:endParaRPr lang="en-US" sz="660" dirty="0"/>
          </a:p>
        </p:txBody>
      </p:sp>
      <p:sp>
        <p:nvSpPr>
          <p:cNvPr id="36" name="Shape 32"/>
          <p:cNvSpPr/>
          <p:nvPr/>
        </p:nvSpPr>
        <p:spPr>
          <a:xfrm>
            <a:off x="609600" y="7975600"/>
            <a:ext cx="6337300" cy="0"/>
          </a:xfrm>
          <a:prstGeom prst="line">
            <a:avLst/>
          </a:prstGeom>
          <a:noFill/>
          <a:ln w="12700">
            <a:solidFill>
              <a:srgbClr val="CFD2D5"/>
            </a:solidFill>
            <a:prstDash val="solid"/>
          </a:ln>
        </p:spPr>
      </p:sp>
      <p:sp>
        <p:nvSpPr>
          <p:cNvPr id="37" name="t4_34"/>
          <p:cNvSpPr txBox="1"/>
          <p:nvPr/>
        </p:nvSpPr>
        <p:spPr>
          <a:xfrm>
            <a:off x="609600" y="8102600"/>
            <a:ext cx="1146112" cy="114300"/>
          </a:xfrm>
          <a:prstGeom prst="rect">
            <a:avLst/>
          </a:prstGeom>
          <a:noFill/>
          <a:ln/>
        </p:spPr>
        <p:txBody>
          <a:bodyPr wrap="none" lIns="0" tIns="0" rIns="0" bIns="0" rtlCol="0" anchor="t"/>
          <a:lstStyle/>
          <a:p>
            <a:pPr algn="l" indent="0" marL="0">
              <a:lnSpc>
                <a:spcPts val="780"/>
              </a:lnSpc>
              <a:buNone/>
            </a:pPr>
            <a:r>
              <a:rPr lang="en-US" sz="600" spc="60" kern="0" dirty="0">
                <a:solidFill>
                  <a:srgbClr val="444444"/>
                </a:solidFill>
                <a:latin typeface="Yu Gothic" pitchFamily="34" charset="0"/>
                <a:ea typeface="Yu Gothic" pitchFamily="34" charset="-122"/>
                <a:cs typeface="Yu Gothic" pitchFamily="34" charset="-120"/>
              </a:rPr>
              <a:t>パートナーに評価される理由</a:t>
            </a:r>
            <a:endParaRPr lang="en-US" sz="600" dirty="0"/>
          </a:p>
        </p:txBody>
      </p:sp>
      <p:sp>
        <p:nvSpPr>
          <p:cNvPr id="38" name="t4_35"/>
          <p:cNvSpPr txBox="1"/>
          <p:nvPr/>
        </p:nvSpPr>
        <p:spPr>
          <a:xfrm>
            <a:off x="609600" y="8305800"/>
            <a:ext cx="2073148" cy="165100"/>
          </a:xfrm>
          <a:prstGeom prst="rect">
            <a:avLst/>
          </a:prstGeom>
          <a:noFill/>
          <a:ln/>
        </p:spPr>
        <p:txBody>
          <a:bodyPr wrap="none" lIns="0" tIns="0" rIns="0" bIns="0" rtlCol="0" anchor="t"/>
          <a:lstStyle/>
          <a:p>
            <a:pPr algn="l" indent="0" marL="0">
              <a:lnSpc>
                <a:spcPts val="1170"/>
              </a:lnSpc>
              <a:buNone/>
            </a:pPr>
            <a:r>
              <a:rPr lang="en-US" sz="900" dirty="0">
                <a:solidFill>
                  <a:srgbClr val="222222"/>
                </a:solidFill>
                <a:latin typeface="Yu Gothic" pitchFamily="34" charset="0"/>
                <a:ea typeface="Yu Gothic" pitchFamily="34" charset="-122"/>
                <a:cs typeface="Yu Gothic" pitchFamily="34" charset="-120"/>
              </a:rPr>
              <a:t>中長期的な視座</a:t>
            </a:r>
            <a:endParaRPr lang="en-US" sz="900" dirty="0"/>
          </a:p>
        </p:txBody>
      </p:sp>
      <p:sp>
        <p:nvSpPr>
          <p:cNvPr id="39" name="t4_36"/>
          <p:cNvSpPr txBox="1"/>
          <p:nvPr/>
        </p:nvSpPr>
        <p:spPr>
          <a:xfrm>
            <a:off x="609600" y="8509000"/>
            <a:ext cx="2073148" cy="401836"/>
          </a:xfrm>
          <a:prstGeom prst="rect">
            <a:avLst/>
          </a:prstGeom>
          <a:noFill/>
          <a:ln/>
        </p:spPr>
        <p:txBody>
          <a:bodyPr wrap="square" lIns="0" tIns="0" rIns="0" bIns="0" rtlCol="0" anchor="t"/>
          <a:lstStyle/>
          <a:p>
            <a:pPr algn="l" indent="0" marL="0">
              <a:lnSpc>
                <a:spcPts val="1056"/>
              </a:lnSpc>
              <a:buNone/>
            </a:pPr>
            <a:r>
              <a:rPr lang="en-US" sz="6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a:t>
            </a:r>
            <a:endParaRPr lang="en-US" sz="660" dirty="0"/>
          </a:p>
        </p:txBody>
      </p:sp>
      <p:sp>
        <p:nvSpPr>
          <p:cNvPr id="40" name="t4_37"/>
          <p:cNvSpPr txBox="1"/>
          <p:nvPr/>
        </p:nvSpPr>
        <p:spPr>
          <a:xfrm>
            <a:off x="2743200" y="8305800"/>
            <a:ext cx="2073148" cy="165100"/>
          </a:xfrm>
          <a:prstGeom prst="rect">
            <a:avLst/>
          </a:prstGeom>
          <a:noFill/>
          <a:ln/>
        </p:spPr>
        <p:txBody>
          <a:bodyPr wrap="none" lIns="0" tIns="0" rIns="0" bIns="0" rtlCol="0" anchor="t"/>
          <a:lstStyle/>
          <a:p>
            <a:pPr algn="l" indent="0" marL="0">
              <a:lnSpc>
                <a:spcPts val="1170"/>
              </a:lnSpc>
              <a:buNone/>
            </a:pPr>
            <a:r>
              <a:rPr lang="en-US" sz="900" dirty="0">
                <a:solidFill>
                  <a:srgbClr val="222222"/>
                </a:solidFill>
                <a:latin typeface="Yu Gothic" pitchFamily="34" charset="0"/>
                <a:ea typeface="Yu Gothic" pitchFamily="34" charset="-122"/>
                <a:cs typeface="Yu Gothic" pitchFamily="34" charset="-120"/>
              </a:rPr>
              <a:t>リスクシェアリング</a:t>
            </a:r>
            <a:endParaRPr lang="en-US" sz="900" dirty="0"/>
          </a:p>
        </p:txBody>
      </p:sp>
      <p:sp>
        <p:nvSpPr>
          <p:cNvPr id="41" name="t4_38"/>
          <p:cNvSpPr txBox="1"/>
          <p:nvPr/>
        </p:nvSpPr>
        <p:spPr>
          <a:xfrm>
            <a:off x="2743200" y="8509000"/>
            <a:ext cx="2073148" cy="401836"/>
          </a:xfrm>
          <a:prstGeom prst="rect">
            <a:avLst/>
          </a:prstGeom>
          <a:noFill/>
          <a:ln/>
        </p:spPr>
        <p:txBody>
          <a:bodyPr wrap="square" lIns="0" tIns="0" rIns="0" bIns="0" rtlCol="0" anchor="t"/>
          <a:lstStyle/>
          <a:p>
            <a:pPr algn="l" indent="0" marL="0">
              <a:lnSpc>
                <a:spcPts val="1056"/>
              </a:lnSpc>
              <a:buNone/>
            </a:pPr>
            <a:r>
              <a:rPr lang="en-US" sz="6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a:t>
            </a:r>
            <a:endParaRPr lang="en-US" sz="660" dirty="0"/>
          </a:p>
        </p:txBody>
      </p:sp>
      <p:sp>
        <p:nvSpPr>
          <p:cNvPr id="42" name="t4_39"/>
          <p:cNvSpPr txBox="1"/>
          <p:nvPr/>
        </p:nvSpPr>
        <p:spPr>
          <a:xfrm>
            <a:off x="4876800" y="8305800"/>
            <a:ext cx="2073148" cy="165100"/>
          </a:xfrm>
          <a:prstGeom prst="rect">
            <a:avLst/>
          </a:prstGeom>
          <a:noFill/>
          <a:ln/>
        </p:spPr>
        <p:txBody>
          <a:bodyPr wrap="none" lIns="0" tIns="0" rIns="0" bIns="0" rtlCol="0" anchor="t"/>
          <a:lstStyle/>
          <a:p>
            <a:pPr algn="l" indent="0" marL="0">
              <a:lnSpc>
                <a:spcPts val="1170"/>
              </a:lnSpc>
              <a:buNone/>
            </a:pPr>
            <a:r>
              <a:rPr lang="en-US" sz="900" dirty="0">
                <a:solidFill>
                  <a:srgbClr val="222222"/>
                </a:solidFill>
                <a:latin typeface="Yu Gothic" pitchFamily="34" charset="0"/>
                <a:ea typeface="Yu Gothic" pitchFamily="34" charset="-122"/>
                <a:cs typeface="Yu Gothic" pitchFamily="34" charset="-120"/>
              </a:rPr>
              <a:t>総合力</a:t>
            </a:r>
            <a:endParaRPr lang="en-US" sz="900" dirty="0"/>
          </a:p>
        </p:txBody>
      </p:sp>
      <p:sp>
        <p:nvSpPr>
          <p:cNvPr id="43" name="t4_40"/>
          <p:cNvSpPr txBox="1"/>
          <p:nvPr/>
        </p:nvSpPr>
        <p:spPr>
          <a:xfrm>
            <a:off x="4876800" y="8509000"/>
            <a:ext cx="2073148" cy="401836"/>
          </a:xfrm>
          <a:prstGeom prst="rect">
            <a:avLst/>
          </a:prstGeom>
          <a:noFill/>
          <a:ln/>
        </p:spPr>
        <p:txBody>
          <a:bodyPr wrap="square" lIns="0" tIns="0" rIns="0" bIns="0" rtlCol="0" anchor="t"/>
          <a:lstStyle/>
          <a:p>
            <a:pPr algn="l" indent="0" marL="0">
              <a:lnSpc>
                <a:spcPts val="1056"/>
              </a:lnSpc>
              <a:buNone/>
            </a:pPr>
            <a:r>
              <a:rPr lang="en-US" sz="6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a:t>
            </a:r>
            <a:endParaRPr lang="en-US" sz="660" dirty="0"/>
          </a:p>
        </p:txBody>
      </p:sp>
      <p:sp>
        <p:nvSpPr>
          <p:cNvPr id="44" name="t4_41"/>
          <p:cNvSpPr txBox="1"/>
          <p:nvPr/>
        </p:nvSpPr>
        <p:spPr>
          <a:xfrm>
            <a:off x="609600" y="9245600"/>
            <a:ext cx="6603492" cy="236141"/>
          </a:xfrm>
          <a:prstGeom prst="rect">
            <a:avLst/>
          </a:prstGeom>
          <a:noFill/>
          <a:ln/>
        </p:spPr>
        <p:txBody>
          <a:bodyPr wrap="square" lIns="0" tIns="0" rIns="0" bIns="0" rtlCol="0" anchor="t"/>
          <a:lstStyle/>
          <a:p>
            <a:pPr algn="l" indent="0" marL="0">
              <a:lnSpc>
                <a:spcPts val="930"/>
              </a:lnSpc>
              <a:buNone/>
            </a:pPr>
            <a:r>
              <a:rPr lang="en-US" sz="620" dirty="0">
                <a:solidFill>
                  <a:srgbClr val="9A5A60"/>
                </a:solidFill>
                <a:latin typeface="Yu Gothic" pitchFamily="34" charset="0"/>
                <a:ea typeface="Yu Gothic" pitchFamily="34" charset="-122"/>
                <a:cs typeface="Yu Gothic" pitchFamily="34" charset="-120"/>
              </a:rPr>
              <a:t>※他社ロゴは使用しない（社名はテキスト表記）。財務貢献だけを強調すると「資金提供に留まる」と受け取られるため、JV経営への関与と総合力を併せて示し、PEファンド等との違いを明確にする（PwC様レビューNo.19／参照：金属資源G資料 P38の2ページ後）</a:t>
            </a:r>
            <a:endParaRPr lang="en-US" sz="620" dirty="0"/>
          </a:p>
        </p:txBody>
      </p:sp>
      <p:sp>
        <p:nvSpPr>
          <p:cNvPr id="45" name="t4_42"/>
          <p:cNvSpPr txBox="1"/>
          <p:nvPr/>
        </p:nvSpPr>
        <p:spPr>
          <a:xfrm>
            <a:off x="8166100" y="431800"/>
            <a:ext cx="3231531" cy="139700"/>
          </a:xfrm>
          <a:prstGeom prst="rect">
            <a:avLst/>
          </a:prstGeom>
          <a:noFill/>
          <a:ln/>
        </p:spPr>
        <p:txBody>
          <a:bodyPr wrap="none" lIns="0" tIns="0" rIns="0" bIns="0" rtlCol="0" anchor="t"/>
          <a:lstStyle/>
          <a:p>
            <a:pPr algn="l" indent="0" marL="0">
              <a:lnSpc>
                <a:spcPts val="962"/>
              </a:lnSpc>
              <a:buNone/>
            </a:pPr>
            <a:r>
              <a:rPr lang="en-US" sz="740" spc="120" kern="0" dirty="0">
                <a:solidFill>
                  <a:srgbClr val="555555"/>
                </a:solidFill>
                <a:latin typeface="Yu Gothic" pitchFamily="34" charset="0"/>
                <a:ea typeface="Yu Gothic" pitchFamily="34" charset="-122"/>
                <a:cs typeface="Yu Gothic" pitchFamily="34" charset="-120"/>
              </a:rPr>
              <a:t>第4章　VISION｜何を実現するか　—　社会課題への取り組み</a:t>
            </a:r>
            <a:endParaRPr lang="en-US" sz="740" dirty="0"/>
          </a:p>
        </p:txBody>
      </p:sp>
      <p:sp>
        <p:nvSpPr>
          <p:cNvPr id="46" name="t4_43"/>
          <p:cNvSpPr txBox="1"/>
          <p:nvPr/>
        </p:nvSpPr>
        <p:spPr>
          <a:xfrm>
            <a:off x="13627100" y="406400"/>
            <a:ext cx="1014016" cy="177800"/>
          </a:xfrm>
          <a:prstGeom prst="roundRect">
            <a:avLst>
              <a:gd name="adj" fmla="val 257143"/>
            </a:avLst>
          </a:prstGeom>
          <a:noFill/>
          <a:ln w="12700">
            <a:solidFill>
              <a:srgbClr val="AAAAAA"/>
            </a:solidFill>
            <a:prstDash val="solid"/>
          </a:ln>
        </p:spPr>
        <p:txBody>
          <a:bodyPr wrap="square" lIns="25400" tIns="38100" rIns="38100" bIns="25400" rtlCol="0" anchor="t"/>
          <a:lstStyle/>
          <a:p>
            <a:pPr algn="l" indent="0" marL="0">
              <a:lnSpc>
                <a:spcPts val="858"/>
              </a:lnSpc>
              <a:buNone/>
            </a:pPr>
            <a:r>
              <a:rPr lang="en-US" sz="660" spc="50" kern="0" dirty="0">
                <a:solidFill>
                  <a:srgbClr val="777777"/>
                </a:solidFill>
                <a:latin typeface="Yu Gothic" pitchFamily="34" charset="0"/>
                <a:ea typeface="Yu Gothic" pitchFamily="34" charset="-122"/>
                <a:cs typeface="Yu Gothic" pitchFamily="34" charset="-120"/>
              </a:rPr>
              <a:t>読み手の心理：期待</a:t>
            </a:r>
            <a:endParaRPr lang="en-US" sz="660" dirty="0"/>
          </a:p>
        </p:txBody>
      </p:sp>
      <p:sp>
        <p:nvSpPr>
          <p:cNvPr id="47" name="t4_44"/>
          <p:cNvSpPr txBox="1"/>
          <p:nvPr/>
        </p:nvSpPr>
        <p:spPr>
          <a:xfrm>
            <a:off x="8166100" y="762000"/>
            <a:ext cx="6352540" cy="320040"/>
          </a:xfrm>
          <a:prstGeom prst="rect">
            <a:avLst/>
          </a:prstGeom>
          <a:noFill/>
          <a:ln/>
        </p:spPr>
        <p:txBody>
          <a:bodyPr wrap="none" lIns="0" tIns="0" rIns="0" bIns="0" rtlCol="0" anchor="t"/>
          <a:lstStyle/>
          <a:p>
            <a:pPr algn="l" indent="0" marL="0">
              <a:lnSpc>
                <a:spcPts val="2520"/>
              </a:lnSpc>
              <a:buNone/>
            </a:pPr>
            <a:r>
              <a:rPr lang="en-US" sz="1800" spc="80" kern="0" dirty="0">
                <a:solidFill>
                  <a:srgbClr val="222222"/>
                </a:solidFill>
                <a:latin typeface="Yu Gothic" pitchFamily="34" charset="0"/>
                <a:ea typeface="Yu Gothic" pitchFamily="34" charset="-122"/>
                <a:cs typeface="Yu Gothic" pitchFamily="34" charset="-120"/>
              </a:rPr>
              <a:t>外部環境と社会課題</a:t>
            </a:r>
            <a:endParaRPr lang="en-US" sz="1800" dirty="0"/>
          </a:p>
        </p:txBody>
      </p:sp>
      <p:sp>
        <p:nvSpPr>
          <p:cNvPr id="48" name="t4_45"/>
          <p:cNvSpPr txBox="1"/>
          <p:nvPr/>
        </p:nvSpPr>
        <p:spPr>
          <a:xfrm>
            <a:off x="8166100" y="1117600"/>
            <a:ext cx="6352540" cy="196850"/>
          </a:xfrm>
          <a:prstGeom prst="rect">
            <a:avLst/>
          </a:prstGeom>
          <a:noFill/>
          <a:ln/>
        </p:spPr>
        <p:txBody>
          <a:bodyPr wrap="none" lIns="0" tIns="0" rIns="0" bIns="0" rtlCol="0" anchor="t"/>
          <a:lstStyle/>
          <a:p>
            <a:pPr algn="l" indent="0" marL="0">
              <a:lnSpc>
                <a:spcPts val="1550"/>
              </a:lnSpc>
              <a:buNone/>
            </a:pPr>
            <a:r>
              <a:rPr lang="en-US" sz="1000" spc="30" kern="0" dirty="0">
                <a:solidFill>
                  <a:srgbClr val="444444"/>
                </a:solidFill>
                <a:latin typeface="Yu Gothic" pitchFamily="34" charset="0"/>
                <a:ea typeface="Yu Gothic" pitchFamily="34" charset="-122"/>
                <a:cs typeface="Yu Gothic" pitchFamily="34" charset="-120"/>
              </a:rPr>
              <a:t>クリティカルミネラルを取り巻く外部環境に、安定供給と効率的な供給の両面で応える</a:t>
            </a:r>
            <a:endParaRPr lang="en-US" sz="1000" dirty="0"/>
          </a:p>
        </p:txBody>
      </p:sp>
      <p:sp>
        <p:nvSpPr>
          <p:cNvPr id="49" name="t4_46"/>
          <p:cNvSpPr txBox="1"/>
          <p:nvPr/>
        </p:nvSpPr>
        <p:spPr>
          <a:xfrm>
            <a:off x="8166100" y="1422400"/>
            <a:ext cx="361474" cy="114300"/>
          </a:xfrm>
          <a:prstGeom prst="rect">
            <a:avLst/>
          </a:prstGeom>
          <a:noFill/>
          <a:ln/>
        </p:spPr>
        <p:txBody>
          <a:bodyPr wrap="none" lIns="0" tIns="0" rIns="0" bIns="0" rtlCol="0" anchor="t"/>
          <a:lstStyle/>
          <a:p>
            <a:pPr algn="l" indent="0" marL="0">
              <a:lnSpc>
                <a:spcPts val="780"/>
              </a:lnSpc>
              <a:buNone/>
            </a:pPr>
            <a:r>
              <a:rPr lang="en-US" sz="600" spc="60" kern="0" dirty="0">
                <a:solidFill>
                  <a:srgbClr val="444444"/>
                </a:solidFill>
                <a:latin typeface="Yu Gothic" pitchFamily="34" charset="0"/>
                <a:ea typeface="Yu Gothic" pitchFamily="34" charset="-122"/>
                <a:cs typeface="Yu Gothic" pitchFamily="34" charset="-120"/>
              </a:rPr>
              <a:t>外部環境</a:t>
            </a:r>
            <a:endParaRPr lang="en-US" sz="600" dirty="0"/>
          </a:p>
        </p:txBody>
      </p:sp>
      <p:sp>
        <p:nvSpPr>
          <p:cNvPr id="50" name="t4_47"/>
          <p:cNvSpPr txBox="1"/>
          <p:nvPr/>
        </p:nvSpPr>
        <p:spPr>
          <a:xfrm>
            <a:off x="8420100" y="1625600"/>
            <a:ext cx="1143000" cy="1143000"/>
          </a:xfrm>
          <a:prstGeom prst="roundRect">
            <a:avLst>
              <a:gd name="adj" fmla="val 40000"/>
            </a:avLst>
          </a:prstGeom>
          <a:noFill/>
          <a:ln w="12700">
            <a:solidFill>
              <a:srgbClr val="9AA0A6"/>
            </a:solidFill>
            <a:prstDash val="solid"/>
          </a:ln>
        </p:spPr>
        <p:txBody>
          <a:bodyPr wrap="square" lIns="25400" tIns="38100" rIns="38100" bIns="25400" rtlCol="0" anchor="ctr"/>
          <a:lstStyle/>
          <a:p>
            <a:pPr algn="ctr" indent="0" marL="0">
              <a:lnSpc>
                <a:spcPts val="1134"/>
              </a:lnSpc>
              <a:buNone/>
            </a:pPr>
            <a:r>
              <a:rPr lang="en-US" sz="840" dirty="0">
                <a:solidFill>
                  <a:srgbClr val="222222"/>
                </a:solidFill>
                <a:latin typeface="Yu Gothic" pitchFamily="34" charset="0"/>
                <a:ea typeface="Yu Gothic" pitchFamily="34" charset="-122"/>
                <a:cs typeface="Yu Gothic" pitchFamily="34" charset="-120"/>
              </a:rPr>
              <a:t>クリティカル</a:t>
            </a:r>
            <a:endParaRPr lang="en-US" sz="840" dirty="0"/>
          </a:p>
          <a:p>
            <a:pPr algn="ctr" indent="0" marL="0">
              <a:lnSpc>
                <a:spcPts val="1134"/>
              </a:lnSpc>
              <a:buNone/>
            </a:pPr>
            <a:r>
              <a:rPr lang="en-US" sz="840" dirty="0">
                <a:solidFill>
                  <a:srgbClr val="222222"/>
                </a:solidFill>
                <a:latin typeface="Yu Gothic" pitchFamily="34" charset="0"/>
                <a:ea typeface="Yu Gothic" pitchFamily="34" charset="-122"/>
                <a:cs typeface="Yu Gothic" pitchFamily="34" charset="-120"/>
              </a:rPr>
              <a:t>ミネラル</a:t>
            </a:r>
            <a:endParaRPr lang="en-US" sz="840" dirty="0"/>
          </a:p>
        </p:txBody>
      </p:sp>
      <p:sp>
        <p:nvSpPr>
          <p:cNvPr id="51" name="Shape 47"/>
          <p:cNvSpPr/>
          <p:nvPr/>
        </p:nvSpPr>
        <p:spPr>
          <a:xfrm>
            <a:off x="9766300" y="1625600"/>
            <a:ext cx="0" cy="304800"/>
          </a:xfrm>
          <a:prstGeom prst="line">
            <a:avLst/>
          </a:prstGeom>
          <a:noFill/>
          <a:ln w="12700">
            <a:solidFill>
              <a:srgbClr val="555555"/>
            </a:solidFill>
            <a:prstDash val="solid"/>
          </a:ln>
        </p:spPr>
      </p:sp>
      <p:sp>
        <p:nvSpPr>
          <p:cNvPr id="52" name="t4_49"/>
          <p:cNvSpPr txBox="1"/>
          <p:nvPr/>
        </p:nvSpPr>
        <p:spPr>
          <a:xfrm>
            <a:off x="9867900" y="1625600"/>
            <a:ext cx="4767580" cy="139700"/>
          </a:xfrm>
          <a:prstGeom prst="rect">
            <a:avLst/>
          </a:prstGeom>
          <a:noFill/>
          <a:ln/>
        </p:spPr>
        <p:txBody>
          <a:bodyPr wrap="none" lIns="0" tIns="0" rIns="0" bIns="0" rtlCol="0" anchor="t"/>
          <a:lstStyle/>
          <a:p>
            <a:pPr algn="l" indent="0" marL="0">
              <a:lnSpc>
                <a:spcPts val="988"/>
              </a:lnSpc>
              <a:buNone/>
            </a:pPr>
            <a:r>
              <a:rPr lang="en-US" sz="760" dirty="0">
                <a:solidFill>
                  <a:srgbClr val="222222"/>
                </a:solidFill>
                <a:latin typeface="Yu Gothic" pitchFamily="34" charset="0"/>
                <a:ea typeface="Yu Gothic" pitchFamily="34" charset="-122"/>
                <a:cs typeface="Yu Gothic" pitchFamily="34" charset="-120"/>
              </a:rPr>
              <a:t>産業構造の転換（人口増・電化による需要の拡大）</a:t>
            </a:r>
            <a:endParaRPr lang="en-US" sz="760" dirty="0"/>
          </a:p>
        </p:txBody>
      </p:sp>
      <p:sp>
        <p:nvSpPr>
          <p:cNvPr id="53" name="t4_50"/>
          <p:cNvSpPr txBox="1"/>
          <p:nvPr/>
        </p:nvSpPr>
        <p:spPr>
          <a:xfrm>
            <a:off x="9867900" y="1790700"/>
            <a:ext cx="4767580" cy="106561"/>
          </a:xfrm>
          <a:prstGeom prst="rect">
            <a:avLst/>
          </a:prstGeom>
          <a:noFill/>
          <a:ln/>
        </p:spPr>
        <p:txBody>
          <a:bodyPr wrap="none" lIns="0" tIns="0" rIns="0" bIns="0" rtlCol="0" anchor="t"/>
          <a:lstStyle/>
          <a:p>
            <a:pPr algn="l" indent="0" marL="0">
              <a:lnSpc>
                <a:spcPts val="840"/>
              </a:lnSpc>
              <a:buNone/>
            </a:pPr>
            <a:r>
              <a:rPr lang="en-US" sz="5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a:t>
            </a:r>
            <a:endParaRPr lang="en-US" sz="560" dirty="0"/>
          </a:p>
        </p:txBody>
      </p:sp>
      <p:sp>
        <p:nvSpPr>
          <p:cNvPr id="54" name="Shape 50"/>
          <p:cNvSpPr/>
          <p:nvPr/>
        </p:nvSpPr>
        <p:spPr>
          <a:xfrm>
            <a:off x="9766300" y="2006600"/>
            <a:ext cx="0" cy="304800"/>
          </a:xfrm>
          <a:prstGeom prst="line">
            <a:avLst/>
          </a:prstGeom>
          <a:noFill/>
          <a:ln w="12700">
            <a:solidFill>
              <a:srgbClr val="555555"/>
            </a:solidFill>
            <a:prstDash val="solid"/>
          </a:ln>
        </p:spPr>
      </p:sp>
      <p:sp>
        <p:nvSpPr>
          <p:cNvPr id="55" name="t4_52"/>
          <p:cNvSpPr txBox="1"/>
          <p:nvPr/>
        </p:nvSpPr>
        <p:spPr>
          <a:xfrm>
            <a:off x="9867900" y="2006600"/>
            <a:ext cx="4767580" cy="139700"/>
          </a:xfrm>
          <a:prstGeom prst="rect">
            <a:avLst/>
          </a:prstGeom>
          <a:noFill/>
          <a:ln/>
        </p:spPr>
        <p:txBody>
          <a:bodyPr wrap="none" lIns="0" tIns="0" rIns="0" bIns="0" rtlCol="0" anchor="t"/>
          <a:lstStyle/>
          <a:p>
            <a:pPr algn="l" indent="0" marL="0">
              <a:lnSpc>
                <a:spcPts val="988"/>
              </a:lnSpc>
              <a:buNone/>
            </a:pPr>
            <a:r>
              <a:rPr lang="en-US" sz="760" dirty="0">
                <a:solidFill>
                  <a:srgbClr val="222222"/>
                </a:solidFill>
                <a:latin typeface="Yu Gothic" pitchFamily="34" charset="0"/>
                <a:ea typeface="Yu Gothic" pitchFamily="34" charset="-122"/>
                <a:cs typeface="Yu Gothic" pitchFamily="34" charset="-120"/>
              </a:rPr>
              <a:t>供給制約の深刻化</a:t>
            </a:r>
            <a:endParaRPr lang="en-US" sz="760" dirty="0"/>
          </a:p>
        </p:txBody>
      </p:sp>
      <p:sp>
        <p:nvSpPr>
          <p:cNvPr id="56" name="t4_53"/>
          <p:cNvSpPr txBox="1"/>
          <p:nvPr/>
        </p:nvSpPr>
        <p:spPr>
          <a:xfrm>
            <a:off x="9867900" y="2171700"/>
            <a:ext cx="4767580" cy="106561"/>
          </a:xfrm>
          <a:prstGeom prst="rect">
            <a:avLst/>
          </a:prstGeom>
          <a:noFill/>
          <a:ln/>
        </p:spPr>
        <p:txBody>
          <a:bodyPr wrap="none" lIns="0" tIns="0" rIns="0" bIns="0" rtlCol="0" anchor="t"/>
          <a:lstStyle/>
          <a:p>
            <a:pPr algn="l" indent="0" marL="0">
              <a:lnSpc>
                <a:spcPts val="840"/>
              </a:lnSpc>
              <a:buNone/>
            </a:pPr>
            <a:r>
              <a:rPr lang="en-US" sz="5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a:t>
            </a:r>
            <a:endParaRPr lang="en-US" sz="560" dirty="0"/>
          </a:p>
        </p:txBody>
      </p:sp>
      <p:sp>
        <p:nvSpPr>
          <p:cNvPr id="57" name="Shape 53"/>
          <p:cNvSpPr/>
          <p:nvPr/>
        </p:nvSpPr>
        <p:spPr>
          <a:xfrm>
            <a:off x="9766300" y="2387600"/>
            <a:ext cx="0" cy="304800"/>
          </a:xfrm>
          <a:prstGeom prst="line">
            <a:avLst/>
          </a:prstGeom>
          <a:noFill/>
          <a:ln w="12700">
            <a:solidFill>
              <a:srgbClr val="555555"/>
            </a:solidFill>
            <a:prstDash val="solid"/>
          </a:ln>
        </p:spPr>
      </p:sp>
      <p:sp>
        <p:nvSpPr>
          <p:cNvPr id="58" name="t4_55"/>
          <p:cNvSpPr txBox="1"/>
          <p:nvPr/>
        </p:nvSpPr>
        <p:spPr>
          <a:xfrm>
            <a:off x="9867900" y="2387600"/>
            <a:ext cx="4767580" cy="139700"/>
          </a:xfrm>
          <a:prstGeom prst="rect">
            <a:avLst/>
          </a:prstGeom>
          <a:noFill/>
          <a:ln/>
        </p:spPr>
        <p:txBody>
          <a:bodyPr wrap="none" lIns="0" tIns="0" rIns="0" bIns="0" rtlCol="0" anchor="t"/>
          <a:lstStyle/>
          <a:p>
            <a:pPr algn="l" indent="0" marL="0">
              <a:lnSpc>
                <a:spcPts val="988"/>
              </a:lnSpc>
              <a:buNone/>
            </a:pPr>
            <a:r>
              <a:rPr lang="en-US" sz="760" dirty="0">
                <a:solidFill>
                  <a:srgbClr val="222222"/>
                </a:solidFill>
                <a:latin typeface="Yu Gothic" pitchFamily="34" charset="0"/>
                <a:ea typeface="Yu Gothic" pitchFamily="34" charset="-122"/>
                <a:cs typeface="Yu Gothic" pitchFamily="34" charset="-120"/>
              </a:rPr>
              <a:t>地政学リスクの常態化</a:t>
            </a:r>
            <a:endParaRPr lang="en-US" sz="760" dirty="0"/>
          </a:p>
        </p:txBody>
      </p:sp>
      <p:sp>
        <p:nvSpPr>
          <p:cNvPr id="59" name="t4_56"/>
          <p:cNvSpPr txBox="1"/>
          <p:nvPr/>
        </p:nvSpPr>
        <p:spPr>
          <a:xfrm>
            <a:off x="9867900" y="2552700"/>
            <a:ext cx="4767580" cy="106561"/>
          </a:xfrm>
          <a:prstGeom prst="rect">
            <a:avLst/>
          </a:prstGeom>
          <a:noFill/>
          <a:ln/>
        </p:spPr>
        <p:txBody>
          <a:bodyPr wrap="none" lIns="0" tIns="0" rIns="0" bIns="0" rtlCol="0" anchor="t"/>
          <a:lstStyle/>
          <a:p>
            <a:pPr algn="l" indent="0" marL="0">
              <a:lnSpc>
                <a:spcPts val="840"/>
              </a:lnSpc>
              <a:buNone/>
            </a:pPr>
            <a:r>
              <a:rPr lang="en-US" sz="5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a:t>
            </a:r>
            <a:endParaRPr lang="en-US" sz="560" dirty="0"/>
          </a:p>
        </p:txBody>
      </p:sp>
      <p:sp>
        <p:nvSpPr>
          <p:cNvPr id="60" name="t4_57"/>
          <p:cNvSpPr txBox="1"/>
          <p:nvPr/>
        </p:nvSpPr>
        <p:spPr>
          <a:xfrm>
            <a:off x="8166100" y="2870200"/>
            <a:ext cx="6337300" cy="254000"/>
          </a:xfrm>
          <a:prstGeom prst="rect">
            <a:avLst/>
          </a:prstGeom>
          <a:noFill/>
          <a:ln w="12700">
            <a:solidFill>
              <a:srgbClr val="9AA0A6"/>
            </a:solidFill>
            <a:prstDash val="solid"/>
          </a:ln>
        </p:spPr>
        <p:txBody>
          <a:bodyPr wrap="square" lIns="25400" tIns="38100" rIns="38100" bIns="25400" rtlCol="0" anchor="ctr"/>
          <a:lstStyle/>
          <a:p>
            <a:pPr algn="ctr" indent="0" marL="0">
              <a:lnSpc>
                <a:spcPts val="1026"/>
              </a:lnSpc>
              <a:buNone/>
            </a:pPr>
            <a:r>
              <a:rPr lang="en-US" sz="760" dirty="0">
                <a:solidFill>
                  <a:srgbClr val="222222"/>
                </a:solidFill>
                <a:latin typeface="Yu Gothic" pitchFamily="34" charset="0"/>
                <a:ea typeface="Yu Gothic" pitchFamily="34" charset="-122"/>
                <a:cs typeface="Yu Gothic" pitchFamily="34" charset="-120"/>
              </a:rPr>
              <a:t>サプライチェーン確保の重要性・川上資源への参入障壁が増大</a:t>
            </a:r>
            <a:endParaRPr lang="en-US" sz="760" dirty="0"/>
          </a:p>
        </p:txBody>
      </p:sp>
      <p:sp>
        <p:nvSpPr>
          <p:cNvPr id="61" name="t4_58"/>
          <p:cNvSpPr txBox="1"/>
          <p:nvPr/>
        </p:nvSpPr>
        <p:spPr>
          <a:xfrm>
            <a:off x="8166100" y="3200400"/>
            <a:ext cx="622951" cy="114300"/>
          </a:xfrm>
          <a:prstGeom prst="rect">
            <a:avLst/>
          </a:prstGeom>
          <a:noFill/>
          <a:ln/>
        </p:spPr>
        <p:txBody>
          <a:bodyPr wrap="none" lIns="0" tIns="0" rIns="0" bIns="0" rtlCol="0" anchor="t"/>
          <a:lstStyle/>
          <a:p>
            <a:pPr algn="l" indent="0" marL="0">
              <a:lnSpc>
                <a:spcPts val="780"/>
              </a:lnSpc>
              <a:buNone/>
            </a:pPr>
            <a:r>
              <a:rPr lang="en-US" sz="600" spc="60" kern="0" dirty="0">
                <a:solidFill>
                  <a:srgbClr val="444444"/>
                </a:solidFill>
                <a:latin typeface="Yu Gothic" pitchFamily="34" charset="0"/>
                <a:ea typeface="Yu Gothic" pitchFamily="34" charset="-122"/>
                <a:cs typeface="Yu Gothic" pitchFamily="34" charset="-120"/>
              </a:rPr>
              <a:t>当社の取り組み</a:t>
            </a:r>
            <a:endParaRPr lang="en-US" sz="600" dirty="0"/>
          </a:p>
        </p:txBody>
      </p:sp>
      <p:sp>
        <p:nvSpPr>
          <p:cNvPr id="62" name="t4_59"/>
          <p:cNvSpPr txBox="1"/>
          <p:nvPr/>
        </p:nvSpPr>
        <p:spPr>
          <a:xfrm>
            <a:off x="8166100" y="3378200"/>
            <a:ext cx="2730500" cy="381000"/>
          </a:xfrm>
          <a:prstGeom prst="rect">
            <a:avLst/>
          </a:prstGeom>
          <a:noFill/>
          <a:ln w="12700">
            <a:solidFill>
              <a:srgbClr val="444444"/>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① 安定供給（安定的な資源確保）</a:t>
            </a:r>
            <a:endParaRPr lang="en-US" sz="740" dirty="0"/>
          </a:p>
          <a:p>
            <a:pPr algn="ctr" indent="0" marL="0">
              <a:lnSpc>
                <a:spcPts val="999"/>
              </a:lnSpc>
              <a:buNone/>
            </a:pPr>
            <a:r>
              <a:rPr lang="en-US" sz="640" dirty="0">
                <a:solidFill>
                  <a:srgbClr val="777777"/>
                </a:solidFill>
                <a:latin typeface="Yu Gothic" pitchFamily="34" charset="0"/>
                <a:ea typeface="Yu Gothic" pitchFamily="34" charset="-122"/>
                <a:cs typeface="Yu Gothic" pitchFamily="34" charset="-120"/>
              </a:rPr>
              <a:t>資源投資</a:t>
            </a:r>
            <a:endParaRPr lang="en-US" sz="740" dirty="0"/>
          </a:p>
        </p:txBody>
      </p:sp>
      <p:sp>
        <p:nvSpPr>
          <p:cNvPr id="63" name="t4_60"/>
          <p:cNvSpPr txBox="1"/>
          <p:nvPr/>
        </p:nvSpPr>
        <p:spPr>
          <a:xfrm>
            <a:off x="10947400" y="3454400"/>
            <a:ext cx="805180" cy="127000"/>
          </a:xfrm>
          <a:prstGeom prst="rect">
            <a:avLst/>
          </a:prstGeom>
          <a:noFill/>
          <a:ln/>
        </p:spPr>
        <p:txBody>
          <a:bodyPr wrap="none" lIns="0" tIns="0" rIns="0" bIns="0" rtlCol="0" anchor="t"/>
          <a:lstStyle/>
          <a:p>
            <a:pPr algn="ctr" indent="0" marL="0">
              <a:lnSpc>
                <a:spcPts val="910"/>
              </a:lnSpc>
              <a:buNone/>
            </a:pPr>
            <a:r>
              <a:rPr lang="en-US" sz="700" dirty="0">
                <a:solidFill>
                  <a:srgbClr val="555555"/>
                </a:solidFill>
                <a:latin typeface="Yu Gothic" pitchFamily="34" charset="0"/>
                <a:ea typeface="Yu Gothic" pitchFamily="34" charset="-122"/>
                <a:cs typeface="Yu Gothic" pitchFamily="34" charset="-120"/>
              </a:rPr>
              <a:t>⇄ 連携</a:t>
            </a:r>
            <a:endParaRPr lang="en-US" sz="700" dirty="0"/>
          </a:p>
        </p:txBody>
      </p:sp>
      <p:sp>
        <p:nvSpPr>
          <p:cNvPr id="64" name="t4_61"/>
          <p:cNvSpPr txBox="1"/>
          <p:nvPr/>
        </p:nvSpPr>
        <p:spPr>
          <a:xfrm>
            <a:off x="11772900" y="3378200"/>
            <a:ext cx="2730500" cy="381000"/>
          </a:xfrm>
          <a:prstGeom prst="rect">
            <a:avLst/>
          </a:prstGeom>
          <a:noFill/>
          <a:ln w="12700">
            <a:solidFill>
              <a:srgbClr val="444444"/>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② 効率的な供給</a:t>
            </a:r>
            <a:endParaRPr lang="en-US" sz="740" dirty="0"/>
          </a:p>
          <a:p>
            <a:pPr algn="ctr" indent="0" marL="0">
              <a:lnSpc>
                <a:spcPts val="999"/>
              </a:lnSpc>
              <a:buNone/>
            </a:pPr>
            <a:r>
              <a:rPr lang="en-US" sz="640" dirty="0">
                <a:solidFill>
                  <a:srgbClr val="777777"/>
                </a:solidFill>
                <a:latin typeface="Yu Gothic" pitchFamily="34" charset="0"/>
                <a:ea typeface="Yu Gothic" pitchFamily="34" charset="-122"/>
                <a:cs typeface="Yu Gothic" pitchFamily="34" charset="-120"/>
              </a:rPr>
              <a:t>トレーディング</a:t>
            </a:r>
            <a:endParaRPr lang="en-US" sz="740" dirty="0"/>
          </a:p>
        </p:txBody>
      </p:sp>
      <p:sp>
        <p:nvSpPr>
          <p:cNvPr id="65" name="t4_62"/>
          <p:cNvSpPr txBox="1"/>
          <p:nvPr/>
        </p:nvSpPr>
        <p:spPr>
          <a:xfrm>
            <a:off x="8166100" y="3810000"/>
            <a:ext cx="2852420" cy="213122"/>
          </a:xfrm>
          <a:prstGeom prst="rect">
            <a:avLst/>
          </a:prstGeom>
          <a:noFill/>
          <a:ln/>
        </p:spPr>
        <p:txBody>
          <a:bodyPr wrap="square" lIns="0" tIns="0" rIns="0" bIns="0" rtlCol="0" anchor="t"/>
          <a:lstStyle/>
          <a:p>
            <a:pPr algn="l" indent="0" marL="0">
              <a:lnSpc>
                <a:spcPts val="840"/>
              </a:lnSpc>
              <a:buNone/>
            </a:pPr>
            <a:r>
              <a:rPr lang="en-US" sz="5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a:t>
            </a:r>
            <a:endParaRPr lang="en-US" sz="560" dirty="0"/>
          </a:p>
        </p:txBody>
      </p:sp>
      <p:sp>
        <p:nvSpPr>
          <p:cNvPr id="66" name="t4_63"/>
          <p:cNvSpPr txBox="1"/>
          <p:nvPr/>
        </p:nvSpPr>
        <p:spPr>
          <a:xfrm>
            <a:off x="11772900" y="3810000"/>
            <a:ext cx="2852420" cy="213122"/>
          </a:xfrm>
          <a:prstGeom prst="rect">
            <a:avLst/>
          </a:prstGeom>
          <a:noFill/>
          <a:ln/>
        </p:spPr>
        <p:txBody>
          <a:bodyPr wrap="square" lIns="0" tIns="0" rIns="0" bIns="0" rtlCol="0" anchor="t"/>
          <a:lstStyle/>
          <a:p>
            <a:pPr algn="l" indent="0" marL="0">
              <a:lnSpc>
                <a:spcPts val="840"/>
              </a:lnSpc>
              <a:buNone/>
            </a:pPr>
            <a:r>
              <a:rPr lang="en-US" sz="5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a:t>
            </a:r>
            <a:endParaRPr lang="en-US" sz="560" dirty="0"/>
          </a:p>
        </p:txBody>
      </p:sp>
      <p:sp>
        <p:nvSpPr>
          <p:cNvPr id="67" name="t4_64"/>
          <p:cNvSpPr txBox="1"/>
          <p:nvPr/>
        </p:nvSpPr>
        <p:spPr>
          <a:xfrm>
            <a:off x="8166100" y="4089400"/>
            <a:ext cx="6603492" cy="236141"/>
          </a:xfrm>
          <a:prstGeom prst="rect">
            <a:avLst/>
          </a:prstGeom>
          <a:noFill/>
          <a:ln/>
        </p:spPr>
        <p:txBody>
          <a:bodyPr wrap="square" lIns="0" tIns="0" rIns="0" bIns="0" rtlCol="0" anchor="t"/>
          <a:lstStyle/>
          <a:p>
            <a:pPr algn="l" indent="0" marL="0">
              <a:lnSpc>
                <a:spcPts val="930"/>
              </a:lnSpc>
              <a:buNone/>
            </a:pPr>
            <a:r>
              <a:rPr lang="en-US" sz="620" dirty="0">
                <a:solidFill>
                  <a:srgbClr val="9A5A60"/>
                </a:solidFill>
                <a:latin typeface="Yu Gothic" pitchFamily="34" charset="0"/>
                <a:ea typeface="Yu Gothic" pitchFamily="34" charset="-122"/>
                <a:cs typeface="Yu Gothic" pitchFamily="34" charset="-120"/>
              </a:rPr>
              <a:t>※現状の図（金属資源G_P38「クリティカルミネラルを取り巻く外部環境と当社の取り組み」）を踏襲（PwC様レビューNo.20）。①②と資源投資・トレーディングの対応は要確認。短期的な潮流（脱炭素・生成AI等）は前面化しない</a:t>
            </a:r>
            <a:endParaRPr lang="en-US" sz="620" dirty="0"/>
          </a:p>
        </p:txBody>
      </p:sp>
      <p:sp>
        <p:nvSpPr>
          <p:cNvPr id="68" name="Shape 64"/>
          <p:cNvSpPr/>
          <p:nvPr/>
        </p:nvSpPr>
        <p:spPr>
          <a:xfrm>
            <a:off x="7556500" y="4470400"/>
            <a:ext cx="7556500" cy="6223000"/>
          </a:xfrm>
          <a:prstGeom prst="rect">
            <a:avLst/>
          </a:prstGeom>
          <a:solidFill>
            <a:srgbClr val="E6E8EB"/>
          </a:solidFill>
          <a:ln/>
        </p:spPr>
      </p:sp>
      <p:sp>
        <p:nvSpPr>
          <p:cNvPr id="69" name="t4_66"/>
          <p:cNvSpPr txBox="1"/>
          <p:nvPr/>
        </p:nvSpPr>
        <p:spPr>
          <a:xfrm>
            <a:off x="8420100" y="4572000"/>
            <a:ext cx="2445655" cy="114300"/>
          </a:xfrm>
          <a:prstGeom prst="rect">
            <a:avLst/>
          </a:prstGeom>
          <a:noFill/>
          <a:ln/>
        </p:spPr>
        <p:txBody>
          <a:bodyPr wrap="none" lIns="0" tIns="0" rIns="0" bIns="0" rtlCol="0" anchor="t"/>
          <a:lstStyle/>
          <a:p>
            <a:pPr algn="l" indent="0" marL="0">
              <a:lnSpc>
                <a:spcPts val="780"/>
              </a:lnSpc>
              <a:buNone/>
            </a:pPr>
            <a:r>
              <a:rPr lang="en-US" sz="600" spc="60" kern="0" dirty="0">
                <a:solidFill>
                  <a:srgbClr val="666666"/>
                </a:solidFill>
                <a:latin typeface="Yu Gothic" pitchFamily="34" charset="0"/>
                <a:ea typeface="Yu Gothic" pitchFamily="34" charset="-122"/>
                <a:cs typeface="Yu Gothic" pitchFamily="34" charset="-120"/>
              </a:rPr>
              <a:t>締めのビジュアル（選定された表紙案の表現に合わせて決定）</a:t>
            </a:r>
            <a:endParaRPr lang="en-US" sz="600" dirty="0"/>
          </a:p>
        </p:txBody>
      </p:sp>
      <p:sp>
        <p:nvSpPr>
          <p:cNvPr id="70" name="Shape 66"/>
          <p:cNvSpPr/>
          <p:nvPr/>
        </p:nvSpPr>
        <p:spPr>
          <a:xfrm>
            <a:off x="8293100" y="4800600"/>
            <a:ext cx="6096000" cy="5232400"/>
          </a:xfrm>
          <a:prstGeom prst="rect">
            <a:avLst/>
          </a:prstGeom>
          <a:solidFill>
            <a:srgbClr val="FFFFFF"/>
          </a:solidFill>
          <a:ln/>
        </p:spPr>
      </p:sp>
      <p:sp>
        <p:nvSpPr>
          <p:cNvPr id="71" name="t4_68"/>
          <p:cNvSpPr txBox="1"/>
          <p:nvPr/>
        </p:nvSpPr>
        <p:spPr>
          <a:xfrm>
            <a:off x="8547100" y="4978400"/>
            <a:ext cx="1786493" cy="139700"/>
          </a:xfrm>
          <a:prstGeom prst="rect">
            <a:avLst/>
          </a:prstGeom>
          <a:noFill/>
          <a:ln/>
        </p:spPr>
        <p:txBody>
          <a:bodyPr wrap="none" lIns="0" tIns="0" rIns="0" bIns="0" rtlCol="0" anchor="t"/>
          <a:lstStyle/>
          <a:p>
            <a:pPr algn="l" indent="0" marL="0">
              <a:lnSpc>
                <a:spcPts val="962"/>
              </a:lnSpc>
              <a:buNone/>
            </a:pPr>
            <a:r>
              <a:rPr lang="en-US" sz="740" spc="120" kern="0" dirty="0">
                <a:solidFill>
                  <a:srgbClr val="555555"/>
                </a:solidFill>
                <a:latin typeface="Yu Gothic" pitchFamily="34" charset="0"/>
                <a:ea typeface="Yu Gothic" pitchFamily="34" charset="-122"/>
                <a:cs typeface="Yu Gothic" pitchFamily="34" charset="-120"/>
              </a:rPr>
              <a:t>締め｜ビジョン共感×協業への誘い</a:t>
            </a:r>
            <a:endParaRPr lang="en-US" sz="740" dirty="0"/>
          </a:p>
        </p:txBody>
      </p:sp>
      <p:sp>
        <p:nvSpPr>
          <p:cNvPr id="72" name="t4_69"/>
          <p:cNvSpPr txBox="1"/>
          <p:nvPr/>
        </p:nvSpPr>
        <p:spPr>
          <a:xfrm>
            <a:off x="10706100" y="4953000"/>
            <a:ext cx="946745" cy="139700"/>
          </a:xfrm>
          <a:prstGeom prst="rect">
            <a:avLst/>
          </a:prstGeom>
          <a:solidFill>
            <a:srgbClr val="2A6FB0"/>
          </a:solidFill>
          <a:ln/>
        </p:spPr>
        <p:txBody>
          <a:bodyPr wrap="none" lIns="25400" tIns="38100" rIns="38100" bIns="25400" rtlCol="0" anchor="ctr"/>
          <a:lstStyle/>
          <a:p>
            <a:pPr algn="l" indent="0" marL="0">
              <a:buNone/>
            </a:pPr>
            <a:r>
              <a:rPr lang="en-US" sz="620" spc="30" kern="0" dirty="0">
                <a:solidFill>
                  <a:srgbClr val="FFFFFF"/>
                </a:solidFill>
                <a:latin typeface="Yu Gothic" pitchFamily="34" charset="0"/>
                <a:ea typeface="Yu Gothic" pitchFamily="34" charset="-122"/>
                <a:cs typeface="Yu Gothic" pitchFamily="34" charset="-120"/>
              </a:rPr>
              <a:t>PwC様レビューNo.21</a:t>
            </a:r>
            <a:endParaRPr lang="en-US" sz="620" dirty="0"/>
          </a:p>
        </p:txBody>
      </p:sp>
      <p:sp>
        <p:nvSpPr>
          <p:cNvPr id="73" name="t4_70"/>
          <p:cNvSpPr txBox="1"/>
          <p:nvPr/>
        </p:nvSpPr>
        <p:spPr>
          <a:xfrm>
            <a:off x="8547100" y="5207000"/>
            <a:ext cx="5692140" cy="320040"/>
          </a:xfrm>
          <a:prstGeom prst="rect">
            <a:avLst/>
          </a:prstGeom>
          <a:noFill/>
          <a:ln/>
        </p:spPr>
        <p:txBody>
          <a:bodyPr wrap="none" lIns="0" tIns="0" rIns="0" bIns="0" rtlCol="0" anchor="t"/>
          <a:lstStyle/>
          <a:p>
            <a:pPr algn="l" indent="0" marL="0">
              <a:lnSpc>
                <a:spcPts val="2520"/>
              </a:lnSpc>
              <a:buNone/>
            </a:pPr>
            <a:r>
              <a:rPr lang="en-US" sz="1800" spc="80" kern="0" dirty="0">
                <a:solidFill>
                  <a:srgbClr val="222222"/>
                </a:solidFill>
                <a:latin typeface="Yu Gothic" pitchFamily="34" charset="0"/>
                <a:ea typeface="Yu Gothic" pitchFamily="34" charset="-122"/>
                <a:cs typeface="Yu Gothic" pitchFamily="34" charset="-120"/>
              </a:rPr>
              <a:t>共に、資源の未来を築く（仮）</a:t>
            </a:r>
            <a:endParaRPr lang="en-US" sz="1800" dirty="0"/>
          </a:p>
        </p:txBody>
      </p:sp>
      <p:sp>
        <p:nvSpPr>
          <p:cNvPr id="74" name="t4_71"/>
          <p:cNvSpPr txBox="1"/>
          <p:nvPr/>
        </p:nvSpPr>
        <p:spPr>
          <a:xfrm>
            <a:off x="8547100" y="5537200"/>
            <a:ext cx="5692140" cy="196850"/>
          </a:xfrm>
          <a:prstGeom prst="rect">
            <a:avLst/>
          </a:prstGeom>
          <a:noFill/>
          <a:ln/>
        </p:spPr>
        <p:txBody>
          <a:bodyPr wrap="none" lIns="0" tIns="0" rIns="0" bIns="0" rtlCol="0" anchor="t"/>
          <a:lstStyle/>
          <a:p>
            <a:pPr algn="l" indent="0" marL="0">
              <a:lnSpc>
                <a:spcPts val="1550"/>
              </a:lnSpc>
              <a:buNone/>
            </a:pPr>
            <a:r>
              <a:rPr lang="en-US" sz="1000" spc="30" kern="0" dirty="0">
                <a:solidFill>
                  <a:srgbClr val="444444"/>
                </a:solidFill>
                <a:latin typeface="Yu Gothic" pitchFamily="34" charset="0"/>
                <a:ea typeface="Yu Gothic" pitchFamily="34" charset="-122"/>
                <a:cs typeface="Yu Gothic" pitchFamily="34" charset="-120"/>
              </a:rPr>
              <a:t>目指す未来像への共感から、関係構築へとつなぐ締め</a:t>
            </a:r>
            <a:endParaRPr lang="en-US" sz="1000" dirty="0"/>
          </a:p>
        </p:txBody>
      </p:sp>
      <p:sp>
        <p:nvSpPr>
          <p:cNvPr id="75" name="t4_72"/>
          <p:cNvSpPr txBox="1"/>
          <p:nvPr/>
        </p:nvSpPr>
        <p:spPr>
          <a:xfrm>
            <a:off x="8547100" y="5867400"/>
            <a:ext cx="726138" cy="165100"/>
          </a:xfrm>
          <a:prstGeom prst="rect">
            <a:avLst/>
          </a:prstGeom>
          <a:noFill/>
          <a:ln/>
        </p:spPr>
        <p:txBody>
          <a:bodyPr wrap="none" lIns="0" tIns="0" rIns="0" bIns="0" rtlCol="0" anchor="t"/>
          <a:lstStyle/>
          <a:p>
            <a:pPr algn="l" indent="0" marL="0">
              <a:lnSpc>
                <a:spcPts val="1170"/>
              </a:lnSpc>
              <a:buNone/>
            </a:pPr>
            <a:r>
              <a:rPr lang="en-US" sz="900" dirty="0">
                <a:solidFill>
                  <a:srgbClr val="222222"/>
                </a:solidFill>
                <a:latin typeface="Yu Gothic" pitchFamily="34" charset="0"/>
                <a:ea typeface="Yu Gothic" pitchFamily="34" charset="-122"/>
                <a:cs typeface="Yu Gothic" pitchFamily="34" charset="-120"/>
              </a:rPr>
              <a:t>目指す未来像</a:t>
            </a:r>
            <a:endParaRPr lang="en-US" sz="900" dirty="0"/>
          </a:p>
        </p:txBody>
      </p:sp>
      <p:sp>
        <p:nvSpPr>
          <p:cNvPr id="76" name="t4_73"/>
          <p:cNvSpPr txBox="1"/>
          <p:nvPr/>
        </p:nvSpPr>
        <p:spPr>
          <a:xfrm>
            <a:off x="8547100" y="6045200"/>
            <a:ext cx="2654300" cy="114300"/>
          </a:xfrm>
          <a:prstGeom prst="rect">
            <a:avLst/>
          </a:prstGeom>
          <a:noFill/>
          <a:ln/>
        </p:spPr>
        <p:txBody>
          <a:bodyPr wrap="none" lIns="0" tIns="0" rIns="0" bIns="0" rtlCol="0" anchor="t"/>
          <a:lstStyle/>
          <a:p>
            <a:pPr algn="l" indent="0" marL="0">
              <a:lnSpc>
                <a:spcPts val="780"/>
              </a:lnSpc>
              <a:buNone/>
            </a:pPr>
            <a:r>
              <a:rPr lang="en-US" sz="600" spc="60" kern="0" dirty="0">
                <a:solidFill>
                  <a:srgbClr val="666666"/>
                </a:solidFill>
                <a:latin typeface="Yu Gothic" pitchFamily="34" charset="0"/>
                <a:ea typeface="Yu Gothic" pitchFamily="34" charset="-122"/>
                <a:cs typeface="Yu Gothic" pitchFamily="34" charset="-120"/>
              </a:rPr>
              <a:t>社会に必要な資源を、長期にわたって支え続ける</a:t>
            </a:r>
            <a:endParaRPr lang="en-US" sz="600" dirty="0"/>
          </a:p>
        </p:txBody>
      </p:sp>
      <p:sp>
        <p:nvSpPr>
          <p:cNvPr id="77" name="t4_74"/>
          <p:cNvSpPr txBox="1"/>
          <p:nvPr/>
        </p:nvSpPr>
        <p:spPr>
          <a:xfrm>
            <a:off x="8547100" y="6223000"/>
            <a:ext cx="2654300" cy="414338"/>
          </a:xfrm>
          <a:prstGeom prst="rect">
            <a:avLst/>
          </a:prstGeom>
          <a:noFill/>
          <a:ln/>
        </p:spPr>
        <p:txBody>
          <a:bodyPr wrap="square" lIns="0" tIns="0" rIns="0" bIns="0" rtlCol="0" anchor="t"/>
          <a:lstStyle/>
          <a:p>
            <a:pPr algn="l" indent="0" marL="0">
              <a:lnSpc>
                <a:spcPts val="1088"/>
              </a:lnSpc>
              <a:buNone/>
            </a:pPr>
            <a:r>
              <a:rPr lang="en-US" sz="6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ＸＸＸＸＸＸＸＸＸＸＸＸＸＸＸＸＸＸＸＸＸＸＸＸＸＸＸＸＸＸＸＸＸＸＸＸＸＸＸＸＸＸＸＸＸＸＸＸＸＸＸＸＸＸＸＸＸＸＸＸ</a:t>
            </a:r>
            <a:endParaRPr lang="en-US" sz="680" dirty="0"/>
          </a:p>
        </p:txBody>
      </p:sp>
      <p:sp>
        <p:nvSpPr>
          <p:cNvPr id="78" name="t4_75"/>
          <p:cNvSpPr txBox="1"/>
          <p:nvPr/>
        </p:nvSpPr>
        <p:spPr>
          <a:xfrm>
            <a:off x="8547100" y="6650038"/>
            <a:ext cx="938292" cy="114300"/>
          </a:xfrm>
          <a:prstGeom prst="rect">
            <a:avLst/>
          </a:prstGeom>
          <a:noFill/>
          <a:ln/>
        </p:spPr>
        <p:txBody>
          <a:bodyPr wrap="none" lIns="0" tIns="0" rIns="0" bIns="0" rtlCol="0" anchor="t"/>
          <a:lstStyle/>
          <a:p>
            <a:pPr algn="l" indent="0" marL="0">
              <a:lnSpc>
                <a:spcPts val="754"/>
              </a:lnSpc>
              <a:buNone/>
            </a:pPr>
            <a:r>
              <a:rPr lang="en-US" sz="580" spc="30" kern="0" dirty="0">
                <a:solidFill>
                  <a:srgbClr val="B0B4B8"/>
                </a:solidFill>
                <a:latin typeface="Yu Gothic" pitchFamily="34" charset="0"/>
                <a:ea typeface="Yu Gothic" pitchFamily="34" charset="-122"/>
                <a:cs typeface="Yu Gothic" pitchFamily="34" charset="-120"/>
              </a:rPr>
              <a:t>▸本文 60字／英語 約33語</a:t>
            </a:r>
            <a:endParaRPr lang="en-US" sz="580" dirty="0"/>
          </a:p>
        </p:txBody>
      </p:sp>
      <p:sp>
        <p:nvSpPr>
          <p:cNvPr id="79" name="t4_76"/>
          <p:cNvSpPr txBox="1"/>
          <p:nvPr/>
        </p:nvSpPr>
        <p:spPr>
          <a:xfrm>
            <a:off x="11341100" y="5867400"/>
            <a:ext cx="726138" cy="165100"/>
          </a:xfrm>
          <a:prstGeom prst="rect">
            <a:avLst/>
          </a:prstGeom>
          <a:noFill/>
          <a:ln/>
        </p:spPr>
        <p:txBody>
          <a:bodyPr wrap="none" lIns="0" tIns="0" rIns="0" bIns="0" rtlCol="0" anchor="t"/>
          <a:lstStyle/>
          <a:p>
            <a:pPr algn="l" indent="0" marL="0">
              <a:lnSpc>
                <a:spcPts val="1170"/>
              </a:lnSpc>
              <a:buNone/>
            </a:pPr>
            <a:r>
              <a:rPr lang="en-US" sz="900" dirty="0">
                <a:solidFill>
                  <a:srgbClr val="222222"/>
                </a:solidFill>
                <a:latin typeface="Yu Gothic" pitchFamily="34" charset="0"/>
                <a:ea typeface="Yu Gothic" pitchFamily="34" charset="-122"/>
                <a:cs typeface="Yu Gothic" pitchFamily="34" charset="-120"/>
              </a:rPr>
              <a:t>協業への誘い</a:t>
            </a:r>
            <a:endParaRPr lang="en-US" sz="900" dirty="0"/>
          </a:p>
        </p:txBody>
      </p:sp>
      <p:sp>
        <p:nvSpPr>
          <p:cNvPr id="80" name="t4_77"/>
          <p:cNvSpPr txBox="1"/>
          <p:nvPr/>
        </p:nvSpPr>
        <p:spPr>
          <a:xfrm>
            <a:off x="11341100" y="6045200"/>
            <a:ext cx="2654300" cy="114300"/>
          </a:xfrm>
          <a:prstGeom prst="rect">
            <a:avLst/>
          </a:prstGeom>
          <a:noFill/>
          <a:ln/>
        </p:spPr>
        <p:txBody>
          <a:bodyPr wrap="none" lIns="0" tIns="0" rIns="0" bIns="0" rtlCol="0" anchor="t"/>
          <a:lstStyle/>
          <a:p>
            <a:pPr algn="l" indent="0" marL="0">
              <a:lnSpc>
                <a:spcPts val="780"/>
              </a:lnSpc>
              <a:buNone/>
            </a:pPr>
            <a:r>
              <a:rPr lang="en-US" sz="600" spc="60" kern="0" dirty="0">
                <a:solidFill>
                  <a:srgbClr val="666666"/>
                </a:solidFill>
                <a:latin typeface="Yu Gothic" pitchFamily="34" charset="0"/>
                <a:ea typeface="Yu Gothic" pitchFamily="34" charset="-122"/>
                <a:cs typeface="Yu Gothic" pitchFamily="34" charset="-120"/>
              </a:rPr>
              <a:t>この相手と共に築きたい、と感じてもらう</a:t>
            </a:r>
            <a:endParaRPr lang="en-US" sz="600" dirty="0"/>
          </a:p>
        </p:txBody>
      </p:sp>
      <p:sp>
        <p:nvSpPr>
          <p:cNvPr id="81" name="t4_78"/>
          <p:cNvSpPr txBox="1"/>
          <p:nvPr/>
        </p:nvSpPr>
        <p:spPr>
          <a:xfrm>
            <a:off x="11341100" y="6223000"/>
            <a:ext cx="2654300" cy="414338"/>
          </a:xfrm>
          <a:prstGeom prst="rect">
            <a:avLst/>
          </a:prstGeom>
          <a:noFill/>
          <a:ln/>
        </p:spPr>
        <p:txBody>
          <a:bodyPr wrap="square" lIns="0" tIns="0" rIns="0" bIns="0" rtlCol="0" anchor="t"/>
          <a:lstStyle/>
          <a:p>
            <a:pPr algn="l" indent="0" marL="0">
              <a:lnSpc>
                <a:spcPts val="1088"/>
              </a:lnSpc>
              <a:buNone/>
            </a:pPr>
            <a:r>
              <a:rPr lang="en-US" sz="6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ＸＸＸＸＸＸＸＸＸＸＸＸＸＸＸＸＸＸＸＸＸＸＸＸＸＸＸＸＸＸＸＸＸＸＸＸＸＸＸＸＸＸＸＸＸＸＸＸＸＸＸＸＸＸＸＸＸＸＸＸ</a:t>
            </a:r>
            <a:endParaRPr lang="en-US" sz="680" dirty="0"/>
          </a:p>
        </p:txBody>
      </p:sp>
      <p:sp>
        <p:nvSpPr>
          <p:cNvPr id="82" name="t4_79"/>
          <p:cNvSpPr txBox="1"/>
          <p:nvPr/>
        </p:nvSpPr>
        <p:spPr>
          <a:xfrm>
            <a:off x="11341100" y="6650038"/>
            <a:ext cx="938292" cy="114300"/>
          </a:xfrm>
          <a:prstGeom prst="rect">
            <a:avLst/>
          </a:prstGeom>
          <a:noFill/>
          <a:ln/>
        </p:spPr>
        <p:txBody>
          <a:bodyPr wrap="none" lIns="0" tIns="0" rIns="0" bIns="0" rtlCol="0" anchor="t"/>
          <a:lstStyle/>
          <a:p>
            <a:pPr algn="l" indent="0" marL="0">
              <a:lnSpc>
                <a:spcPts val="754"/>
              </a:lnSpc>
              <a:buNone/>
            </a:pPr>
            <a:r>
              <a:rPr lang="en-US" sz="580" spc="30" kern="0" dirty="0">
                <a:solidFill>
                  <a:srgbClr val="B0B4B8"/>
                </a:solidFill>
                <a:latin typeface="Yu Gothic" pitchFamily="34" charset="0"/>
                <a:ea typeface="Yu Gothic" pitchFamily="34" charset="-122"/>
                <a:cs typeface="Yu Gothic" pitchFamily="34" charset="-120"/>
              </a:rPr>
              <a:t>▸本文 60字／英語 約33語</a:t>
            </a:r>
            <a:endParaRPr lang="en-US" sz="580" dirty="0"/>
          </a:p>
        </p:txBody>
      </p:sp>
      <p:sp>
        <p:nvSpPr>
          <p:cNvPr id="83" name="t4_80"/>
          <p:cNvSpPr txBox="1"/>
          <p:nvPr/>
        </p:nvSpPr>
        <p:spPr>
          <a:xfrm>
            <a:off x="8547100" y="7010400"/>
            <a:ext cx="5461000" cy="292100"/>
          </a:xfrm>
          <a:prstGeom prst="rect">
            <a:avLst/>
          </a:prstGeom>
          <a:noFill/>
          <a:ln w="12700">
            <a:solidFill>
              <a:srgbClr val="9AA0A6"/>
            </a:solidFill>
            <a:prstDash val="solid"/>
          </a:ln>
        </p:spPr>
        <p:txBody>
          <a:bodyPr wrap="square" lIns="25400" tIns="38100" rIns="38100" bIns="25400" rtlCol="0" anchor="t"/>
          <a:lstStyle/>
          <a:p>
            <a:pPr algn="ctr" indent="0" marL="0">
              <a:lnSpc>
                <a:spcPts val="1040"/>
              </a:lnSpc>
              <a:buNone/>
            </a:pPr>
            <a:r>
              <a:rPr lang="en-US" sz="800" dirty="0">
                <a:solidFill>
                  <a:srgbClr val="222222"/>
                </a:solidFill>
                <a:latin typeface="Yu Gothic" pitchFamily="34" charset="0"/>
                <a:ea typeface="Yu Gothic" pitchFamily="34" charset="-122"/>
                <a:cs typeface="Yu Gothic" pitchFamily="34" charset="-120"/>
              </a:rPr>
              <a:t>コアメッセージ／グループミッションに帰結（冒頭P.02と呼応）</a:t>
            </a:r>
            <a:endParaRPr lang="en-US" sz="800" dirty="0"/>
          </a:p>
        </p:txBody>
      </p:sp>
      <p:sp>
        <p:nvSpPr>
          <p:cNvPr id="84" name="t4_81"/>
          <p:cNvSpPr txBox="1"/>
          <p:nvPr/>
        </p:nvSpPr>
        <p:spPr>
          <a:xfrm>
            <a:off x="8547100" y="7340600"/>
            <a:ext cx="5692140" cy="236141"/>
          </a:xfrm>
          <a:prstGeom prst="rect">
            <a:avLst/>
          </a:prstGeom>
          <a:noFill/>
          <a:ln/>
        </p:spPr>
        <p:txBody>
          <a:bodyPr wrap="square" lIns="0" tIns="0" rIns="0" bIns="0" rtlCol="0" anchor="t"/>
          <a:lstStyle/>
          <a:p>
            <a:pPr algn="l" indent="0" marL="0">
              <a:lnSpc>
                <a:spcPts val="930"/>
              </a:lnSpc>
              <a:buNone/>
            </a:pPr>
            <a:r>
              <a:rPr lang="en-US" sz="620" dirty="0">
                <a:solidFill>
                  <a:srgbClr val="9A5A60"/>
                </a:solidFill>
                <a:latin typeface="Yu Gothic" pitchFamily="34" charset="0"/>
                <a:ea typeface="Yu Gothic" pitchFamily="34" charset="-122"/>
                <a:cs typeface="Yu Gothic" pitchFamily="34" charset="-120"/>
              </a:rPr>
              <a:t>※直接的な営業色は抑える。具体的な表現手段は後続検討。グループミッションはP.04（位置付け・役割）に置き、ここではその言葉に帰結させる（PwC様レビューNo.21）</a:t>
            </a:r>
            <a:endParaRPr lang="en-US" sz="620" dirty="0"/>
          </a:p>
        </p:txBody>
      </p:sp>
      <p:sp>
        <p:nvSpPr>
          <p:cNvPr id="85" name="Shape 81"/>
          <p:cNvSpPr/>
          <p:nvPr/>
        </p:nvSpPr>
        <p:spPr>
          <a:xfrm>
            <a:off x="8547100" y="7721600"/>
            <a:ext cx="5461000" cy="0"/>
          </a:xfrm>
          <a:prstGeom prst="line">
            <a:avLst/>
          </a:prstGeom>
          <a:noFill/>
          <a:ln w="12700">
            <a:solidFill>
              <a:srgbClr val="CFD2D5"/>
            </a:solidFill>
            <a:prstDash val="solid"/>
          </a:ln>
        </p:spPr>
      </p:sp>
      <p:sp>
        <p:nvSpPr>
          <p:cNvPr id="86" name="t4_83"/>
          <p:cNvSpPr txBox="1"/>
          <p:nvPr/>
        </p:nvSpPr>
        <p:spPr>
          <a:xfrm>
            <a:off x="8547100" y="7848600"/>
            <a:ext cx="845010" cy="165100"/>
          </a:xfrm>
          <a:prstGeom prst="rect">
            <a:avLst/>
          </a:prstGeom>
          <a:noFill/>
          <a:ln/>
        </p:spPr>
        <p:txBody>
          <a:bodyPr wrap="none" lIns="0" tIns="0" rIns="0" bIns="0" rtlCol="0" anchor="t"/>
          <a:lstStyle/>
          <a:p>
            <a:pPr algn="l" indent="0" marL="0">
              <a:lnSpc>
                <a:spcPts val="1170"/>
              </a:lnSpc>
              <a:buNone/>
            </a:pPr>
            <a:r>
              <a:rPr lang="en-US" sz="900" dirty="0">
                <a:solidFill>
                  <a:srgbClr val="222222"/>
                </a:solidFill>
                <a:latin typeface="Yu Gothic" pitchFamily="34" charset="0"/>
                <a:ea typeface="Yu Gothic" pitchFamily="34" charset="-122"/>
                <a:cs typeface="Yu Gothic" pitchFamily="34" charset="-120"/>
              </a:rPr>
              <a:t>お問い合わせ先</a:t>
            </a:r>
            <a:endParaRPr lang="en-US" sz="900" dirty="0"/>
          </a:p>
        </p:txBody>
      </p:sp>
      <p:sp>
        <p:nvSpPr>
          <p:cNvPr id="87" name="t4_84"/>
          <p:cNvSpPr txBox="1"/>
          <p:nvPr/>
        </p:nvSpPr>
        <p:spPr>
          <a:xfrm>
            <a:off x="9563100" y="7874000"/>
            <a:ext cx="374253" cy="139700"/>
          </a:xfrm>
          <a:prstGeom prst="rect">
            <a:avLst/>
          </a:prstGeom>
          <a:solidFill>
            <a:srgbClr val="2A6FB0"/>
          </a:solidFill>
          <a:ln/>
        </p:spPr>
        <p:txBody>
          <a:bodyPr wrap="none" lIns="25400" tIns="38100" rIns="38100" bIns="25400" rtlCol="0" anchor="ctr"/>
          <a:lstStyle/>
          <a:p>
            <a:pPr algn="l" indent="0" marL="0">
              <a:buNone/>
            </a:pPr>
            <a:r>
              <a:rPr lang="en-US" sz="620" spc="30" kern="0" dirty="0">
                <a:solidFill>
                  <a:srgbClr val="FFFFFF"/>
                </a:solidFill>
                <a:latin typeface="Yu Gothic" pitchFamily="34" charset="0"/>
                <a:ea typeface="Yu Gothic" pitchFamily="34" charset="-122"/>
                <a:cs typeface="Yu Gothic" pitchFamily="34" charset="-120"/>
              </a:rPr>
              <a:t>改善⑤</a:t>
            </a:r>
            <a:endParaRPr lang="en-US" sz="620" dirty="0"/>
          </a:p>
        </p:txBody>
      </p:sp>
      <p:sp>
        <p:nvSpPr>
          <p:cNvPr id="88" name="t4_85"/>
          <p:cNvSpPr txBox="1"/>
          <p:nvPr/>
        </p:nvSpPr>
        <p:spPr>
          <a:xfrm>
            <a:off x="8547100" y="8077200"/>
            <a:ext cx="3710940" cy="276225"/>
          </a:xfrm>
          <a:prstGeom prst="rect">
            <a:avLst/>
          </a:prstGeom>
          <a:noFill/>
          <a:ln/>
        </p:spPr>
        <p:txBody>
          <a:bodyPr wrap="square" lIns="0" tIns="0" rIns="0" bIns="0" rtlCol="0" anchor="t"/>
          <a:lstStyle/>
          <a:p>
            <a:pPr algn="l" indent="0" marL="0">
              <a:lnSpc>
                <a:spcPts val="1088"/>
              </a:lnSpc>
              <a:buNone/>
            </a:pPr>
            <a:r>
              <a:rPr lang="en-US" sz="6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ＸＸＸＸＸＸＸＸＸＸＸＸＸＸＸＸＸＸＸＸＸＸＸＸＸＸＸＸＸＸＸＸＸＸＸＸＸＸＸＸＸＸＸＸＸＸＸＸＸＸＸＸＸＸＸＸＸＸＸＸ</a:t>
            </a:r>
            <a:endParaRPr lang="en-US" sz="680" dirty="0"/>
          </a:p>
        </p:txBody>
      </p:sp>
      <p:sp>
        <p:nvSpPr>
          <p:cNvPr id="89" name="t4_86"/>
          <p:cNvSpPr txBox="1"/>
          <p:nvPr/>
        </p:nvSpPr>
        <p:spPr>
          <a:xfrm>
            <a:off x="8547100" y="8636000"/>
            <a:ext cx="3710940" cy="114300"/>
          </a:xfrm>
          <a:prstGeom prst="rect">
            <a:avLst/>
          </a:prstGeom>
          <a:noFill/>
          <a:ln/>
        </p:spPr>
        <p:txBody>
          <a:bodyPr wrap="none" lIns="0" tIns="0" rIns="0" bIns="0" rtlCol="0" anchor="t"/>
          <a:lstStyle/>
          <a:p>
            <a:pPr algn="l" indent="0" marL="0">
              <a:lnSpc>
                <a:spcPts val="780"/>
              </a:lnSpc>
              <a:buNone/>
            </a:pPr>
            <a:r>
              <a:rPr lang="en-US" sz="600" spc="60" kern="0" dirty="0">
                <a:solidFill>
                  <a:srgbClr val="666666"/>
                </a:solidFill>
                <a:latin typeface="Yu Gothic" pitchFamily="34" charset="0"/>
                <a:ea typeface="Yu Gothic" pitchFamily="34" charset="-122"/>
                <a:cs typeface="Yu Gothic" pitchFamily="34" charset="-120"/>
              </a:rPr>
              <a:t>部署名・所在地・メール／Webサイト</a:t>
            </a:r>
            <a:endParaRPr lang="en-US" sz="600" dirty="0"/>
          </a:p>
        </p:txBody>
      </p:sp>
      <p:sp>
        <p:nvSpPr>
          <p:cNvPr id="90" name="t4_87"/>
          <p:cNvSpPr txBox="1"/>
          <p:nvPr/>
        </p:nvSpPr>
        <p:spPr>
          <a:xfrm>
            <a:off x="12992100" y="7950200"/>
            <a:ext cx="1016000" cy="1016000"/>
          </a:xfrm>
          <a:prstGeom prst="rect">
            <a:avLst/>
          </a:prstGeom>
          <a:solidFill>
            <a:srgbClr val="EEF0F2"/>
          </a:solidFill>
          <a:ln w="12700">
            <a:solidFill>
              <a:srgbClr val="B6BBC0"/>
            </a:solidFill>
            <a:prstDash val="dash"/>
          </a:ln>
        </p:spPr>
        <p:txBody>
          <a:bodyPr wrap="square" lIns="25400" tIns="38100" rIns="38100" bIns="25400" rtlCol="0" anchor="ctr"/>
          <a:lstStyle/>
          <a:p>
            <a:pPr algn="ctr" indent="0" marL="0">
              <a:lnSpc>
                <a:spcPts val="2080"/>
              </a:lnSpc>
              <a:buNone/>
            </a:pPr>
            <a:r>
              <a:rPr lang="en-US" sz="700" dirty="0">
                <a:solidFill>
                  <a:srgbClr val="6A7076"/>
                </a:solidFill>
                <a:latin typeface="Yu Gothic" pitchFamily="34" charset="0"/>
                <a:ea typeface="Yu Gothic" pitchFamily="34" charset="-122"/>
                <a:cs typeface="Yu Gothic" pitchFamily="34" charset="-120"/>
              </a:rPr>
              <a:t>QRコード</a:t>
            </a:r>
            <a:endParaRPr lang="en-US" sz="700" dirty="0"/>
          </a:p>
          <a:p>
            <a:pPr algn="ctr" indent="0" marL="0">
              <a:lnSpc>
                <a:spcPts val="2080"/>
              </a:lnSpc>
              <a:buNone/>
            </a:pPr>
            <a:r>
              <a:rPr lang="en-US" sz="700" dirty="0">
                <a:solidFill>
                  <a:srgbClr val="6A7076"/>
                </a:solidFill>
                <a:latin typeface="Yu Gothic" pitchFamily="34" charset="0"/>
                <a:ea typeface="Yu Gothic" pitchFamily="34" charset="-122"/>
                <a:cs typeface="Yu Gothic" pitchFamily="34" charset="-120"/>
              </a:rPr>
              <a:t>（Webサイト）</a:t>
            </a:r>
            <a:endParaRPr lang="en-US" sz="700" dirty="0"/>
          </a:p>
        </p:txBody>
      </p:sp>
      <p:sp>
        <p:nvSpPr>
          <p:cNvPr id="91" name="t4_88"/>
          <p:cNvSpPr txBox="1"/>
          <p:nvPr/>
        </p:nvSpPr>
        <p:spPr>
          <a:xfrm>
            <a:off x="8547100" y="9194800"/>
            <a:ext cx="5692140" cy="118070"/>
          </a:xfrm>
          <a:prstGeom prst="rect">
            <a:avLst/>
          </a:prstGeom>
          <a:noFill/>
          <a:ln/>
        </p:spPr>
        <p:txBody>
          <a:bodyPr wrap="none" lIns="0" tIns="0" rIns="0" bIns="0" rtlCol="0" anchor="t"/>
          <a:lstStyle/>
          <a:p>
            <a:pPr algn="l" indent="0" marL="0">
              <a:lnSpc>
                <a:spcPts val="930"/>
              </a:lnSpc>
              <a:buNone/>
            </a:pPr>
            <a:r>
              <a:rPr lang="en-US" sz="620" dirty="0">
                <a:solidFill>
                  <a:srgbClr val="9A5A60"/>
                </a:solidFill>
                <a:latin typeface="Yu Gothic" pitchFamily="34" charset="0"/>
                <a:ea typeface="Yu Gothic" pitchFamily="34" charset="-122"/>
                <a:cs typeface="Yu Gothic" pitchFamily="34" charset="-120"/>
              </a:rPr>
              <a:t>※商談で手渡す冊子のため、問い合わせ先とWebサイトへの導線を控えめに設ける（裏表紙に置く案も可）</a:t>
            </a:r>
            <a:endParaRPr lang="en-US" sz="620" dirty="0"/>
          </a:p>
        </p:txBody>
      </p:sp>
      <p:sp>
        <p:nvSpPr>
          <p:cNvPr id="92" name="t4_89"/>
          <p:cNvSpPr txBox="1"/>
          <p:nvPr/>
        </p:nvSpPr>
        <p:spPr>
          <a:xfrm>
            <a:off x="609600" y="10261600"/>
            <a:ext cx="149320" cy="117348"/>
          </a:xfrm>
          <a:prstGeom prst="rect">
            <a:avLst/>
          </a:prstGeom>
          <a:noFill/>
          <a:ln/>
        </p:spPr>
        <p:txBody>
          <a:bodyPr wrap="none" lIns="0" tIns="0" rIns="0" bIns="0" rtlCol="0" anchor="t"/>
          <a:lstStyle/>
          <a:p>
            <a:pPr algn="l" indent="0" marL="0">
              <a:lnSpc>
                <a:spcPts val="858"/>
              </a:lnSpc>
              <a:buNone/>
            </a:pPr>
            <a:r>
              <a:rPr lang="en-US" sz="660" spc="140" kern="0" dirty="0">
                <a:solidFill>
                  <a:srgbClr val="999999"/>
                </a:solidFill>
                <a:latin typeface="Yu Gothic" pitchFamily="34" charset="0"/>
                <a:ea typeface="Yu Gothic" pitchFamily="34" charset="-122"/>
                <a:cs typeface="Yu Gothic" pitchFamily="34" charset="-120"/>
              </a:rPr>
              <a:t>10</a:t>
            </a:r>
            <a:endParaRPr lang="en-US" sz="660" dirty="0"/>
          </a:p>
        </p:txBody>
      </p:sp>
      <p:sp>
        <p:nvSpPr>
          <p:cNvPr id="93" name="t4_90"/>
          <p:cNvSpPr txBox="1"/>
          <p:nvPr/>
        </p:nvSpPr>
        <p:spPr>
          <a:xfrm>
            <a:off x="14262100" y="10261600"/>
            <a:ext cx="149320" cy="117348"/>
          </a:xfrm>
          <a:prstGeom prst="rect">
            <a:avLst/>
          </a:prstGeom>
          <a:noFill/>
          <a:ln/>
        </p:spPr>
        <p:txBody>
          <a:bodyPr wrap="none" lIns="0" tIns="0" rIns="0" bIns="0" rtlCol="0" anchor="t"/>
          <a:lstStyle/>
          <a:p>
            <a:pPr algn="l" indent="0" marL="0">
              <a:lnSpc>
                <a:spcPts val="858"/>
              </a:lnSpc>
              <a:buNone/>
            </a:pPr>
            <a:r>
              <a:rPr lang="en-US" sz="660" spc="140" kern="0" dirty="0">
                <a:solidFill>
                  <a:srgbClr val="999999"/>
                </a:solidFill>
                <a:latin typeface="Yu Gothic" pitchFamily="34" charset="0"/>
                <a:ea typeface="Yu Gothic" pitchFamily="34" charset="-122"/>
                <a:cs typeface="Yu Gothic" pitchFamily="34" charset="-120"/>
              </a:rPr>
              <a:t>11</a:t>
            </a:r>
            <a:endParaRPr lang="en-US" sz="660" dirty="0"/>
          </a:p>
        </p:txBody>
      </p:sp>
      <p:sp>
        <p:nvSpPr>
          <p:cNvPr id="94" name="t4_91"/>
          <p:cNvSpPr txBox="1"/>
          <p:nvPr/>
        </p:nvSpPr>
        <p:spPr>
          <a:xfrm>
            <a:off x="3810000" y="10261600"/>
            <a:ext cx="4690864" cy="152400"/>
          </a:xfrm>
          <a:prstGeom prst="rect">
            <a:avLst/>
          </a:prstGeom>
          <a:solidFill>
            <a:srgbClr val="FFFFFF"/>
          </a:solidFill>
          <a:ln/>
        </p:spPr>
        <p:txBody>
          <a:bodyPr wrap="none" lIns="25400" tIns="38100" rIns="38100" bIns="25400" rtlCol="0" anchor="ctr"/>
          <a:lstStyle/>
          <a:p>
            <a:pPr algn="l" indent="0" marL="0">
              <a:buNone/>
            </a:pPr>
            <a:r>
              <a:rPr lang="en-US" sz="660" spc="50" kern="0" dirty="0">
                <a:solidFill>
                  <a:srgbClr val="999999"/>
                </a:solidFill>
                <a:latin typeface="Yu Gothic" pitchFamily="34" charset="0"/>
                <a:ea typeface="Yu Gothic" pitchFamily="34" charset="-122"/>
                <a:cs typeface="Yu Gothic" pitchFamily="34" charset="-120"/>
              </a:rPr>
              <a:t>台割 完成版（構成確認用・PwC様レビュー10/2反映）— 青ラベル＝改善点／本文は日本語字数、英語語数は目安</a:t>
            </a:r>
            <a:endParaRPr lang="en-US" sz="660" dirty="0"/>
          </a:p>
        </p:txBody>
      </p:sp>
      <p:sp>
        <p:nvSpPr>
          <p:cNvPr id="95" name="Shape 91"/>
          <p:cNvSpPr/>
          <p:nvPr/>
        </p:nvSpPr>
        <p:spPr>
          <a:xfrm>
            <a:off x="7556500" y="0"/>
            <a:ext cx="0" cy="10693400"/>
          </a:xfrm>
          <a:prstGeom prst="line">
            <a:avLst/>
          </a:prstGeom>
          <a:noFill/>
          <a:ln w="9525">
            <a:solidFill>
              <a:srgbClr val="D5D8DB"/>
            </a:solidFill>
            <a:prstDash val="dash"/>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金属資源グループ 会社案内 台割 完成版</dc:title>
  <dc:subject>PptxGenJS Presentation</dc:subject>
  <dc:creator>PptxGenJS</dc:creator>
  <cp:lastModifiedBy>PptxGenJS</cp:lastModifiedBy>
  <cp:revision>1</cp:revision>
  <dcterms:created xsi:type="dcterms:W3CDTF">2026-10-02T09:16:54Z</dcterms:created>
  <dcterms:modified xsi:type="dcterms:W3CDTF">2026-10-02T09:16:54Z</dcterms:modified>
</cp:coreProperties>
</file>