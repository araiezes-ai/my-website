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3000" cy="10693400"/>
  <p:notesSz cx="10693400" cy="15113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P02-03 導入（コアメッセージ・目次）（台割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P04-05 第1章 WHO（台割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P06-07 第2章 資産の強み・原料炭／銅（台割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P08-09 第2章 トレーディング／事業一覧（台割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P10-11 第3章 PROOF／第4章 VISION・締め（台割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 Id="rId5" Type="http://schemas.openxmlformats.org/officeDocument/2006/relationships/image" Target="../media/image-2-5.jpeg"/><Relationship Id="rId6" Type="http://schemas.openxmlformats.org/officeDocument/2006/relationships/image" Target="../media/image-2-6.jpe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image" Target="../media/image-3-3.jpeg"/><Relationship Id="rId4" Type="http://schemas.openxmlformats.org/officeDocument/2006/relationships/image" Target="../media/image-3-4.jpeg"/><Relationship Id="rId5" Type="http://schemas.openxmlformats.org/officeDocument/2006/relationships/image" Target="../media/image-3-5.jpe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image" Target="../media/image-4-3.jpeg"/><Relationship Id="rId4" Type="http://schemas.openxmlformats.org/officeDocument/2006/relationships/image" Target="../media/image-4-4.jpeg"/><Relationship Id="rId5" Type="http://schemas.openxmlformats.org/officeDocument/2006/relationships/image" Target="../media/image-4-5.jpeg"/><Relationship Id="rId6" Type="http://schemas.openxmlformats.org/officeDocument/2006/relationships/image" Target="../media/image-4-6.jpeg"/><Relationship Id="rId7" Type="http://schemas.openxmlformats.org/officeDocument/2006/relationships/image" Target="../media/image-4-7.jpeg"/><Relationship Id="rId8" Type="http://schemas.openxmlformats.org/officeDocument/2006/relationships/image" Target="../media/image-4-8.jpe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0" y="0"/>
            <a:ext cx="15113000" cy="10693400"/>
          </a:xfrm>
          <a:prstGeom prst="rect">
            <a:avLst/>
          </a:prstGeom>
          <a:solidFill>
            <a:srgbClr val="E6E8EB"/>
          </a:solidFill>
          <a:ln/>
        </p:spPr>
      </p:sp>
      <p:sp>
        <p:nvSpPr>
          <p:cNvPr id="4" name="t0_1"/>
          <p:cNvSpPr txBox="1"/>
          <p:nvPr/>
        </p:nvSpPr>
        <p:spPr>
          <a:xfrm>
            <a:off x="508000" y="4572000"/>
            <a:ext cx="7409180" cy="453231"/>
          </a:xfrm>
          <a:prstGeom prst="rect">
            <a:avLst/>
          </a:prstGeom>
          <a:noFill/>
          <a:ln/>
        </p:spPr>
        <p:txBody>
          <a:bodyPr wrap="square" lIns="0" tIns="0" rIns="0" bIns="0" rtlCol="0" anchor="t"/>
          <a:lstStyle/>
          <a:p>
            <a:pPr algn="l" indent="0" marL="0">
              <a:lnSpc>
                <a:spcPts val="1360"/>
              </a:lnSpc>
              <a:buNone/>
            </a:pPr>
            <a:r>
              <a:rPr lang="en-US" sz="1300" dirty="0">
                <a:solidFill>
                  <a:srgbClr val="555555"/>
                </a:solidFill>
                <a:latin typeface="Yu Gothic" pitchFamily="34" charset="0"/>
                <a:ea typeface="Yu Gothic" pitchFamily="34" charset="-122"/>
                <a:cs typeface="Yu Gothic" pitchFamily="34" charset="-120"/>
              </a:rPr>
              <a:t>見開きビジュアル（イラスト／写真）</a:t>
            </a:r>
            <a:endParaRPr lang="en-US" sz="1300" dirty="0"/>
          </a:p>
          <a:p>
            <a:pPr algn="l" indent="0" marL="0">
              <a:lnSpc>
                <a:spcPts val="1360"/>
              </a:lnSpc>
              <a:buNone/>
            </a:pPr>
            <a:r>
              <a:rPr lang="en-US" sz="800" dirty="0">
                <a:solidFill>
                  <a:srgbClr val="555555"/>
                </a:solidFill>
                <a:latin typeface="Yu Gothic" pitchFamily="34" charset="0"/>
                <a:ea typeface="Yu Gothic" pitchFamily="34" charset="-122"/>
                <a:cs typeface="Yu Gothic" pitchFamily="34" charset="-120"/>
              </a:rPr>
              <a:t>選定された表紙案の表現に合わせて決定</a:t>
            </a:r>
            <a:endParaRPr lang="en-US" sz="1300" dirty="0"/>
          </a:p>
        </p:txBody>
      </p:sp>
      <p:sp>
        <p:nvSpPr>
          <p:cNvPr id="5" name="t0_2"/>
          <p:cNvSpPr txBox="1"/>
          <p:nvPr/>
        </p:nvSpPr>
        <p:spPr>
          <a:xfrm>
            <a:off x="508000" y="5207000"/>
            <a:ext cx="7409180" cy="549473"/>
          </a:xfrm>
          <a:prstGeom prst="rect">
            <a:avLst/>
          </a:prstGeom>
          <a:noFill/>
          <a:ln/>
        </p:spPr>
        <p:txBody>
          <a:bodyPr wrap="square" lIns="0" tIns="0" rIns="0" bIns="0" rtlCol="0" anchor="t"/>
          <a:lstStyle/>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表紙案①の場合：鋼のヘアライン（細い線）で描いた世界地図・拠点から立ち上がる線</a:t>
            </a:r>
            <a:endParaRPr lang="en-US" sz="760" dirty="0"/>
          </a:p>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表紙案②の場合：ガラスの地球儀と金色の軌道線</a:t>
            </a:r>
            <a:endParaRPr lang="en-US" sz="760" dirty="0"/>
          </a:p>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表紙案③の場合：鉱山写真を短冊状に再構成したビジュアル</a:t>
            </a:r>
            <a:endParaRPr lang="en-US" sz="760" dirty="0"/>
          </a:p>
        </p:txBody>
      </p:sp>
      <p:sp>
        <p:nvSpPr>
          <p:cNvPr id="6" name="t0_3"/>
          <p:cNvSpPr txBox="1"/>
          <p:nvPr/>
        </p:nvSpPr>
        <p:spPr>
          <a:xfrm>
            <a:off x="508000" y="5969000"/>
            <a:ext cx="7409180"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※台割は表紙3案のいずれにも寄せないため、ここではグレーの枠のみ。構成（コアメッセージ・ビジュアル・目次を1見開きに置くこと）はPwC様の台割ver.0（P1–P2）に準拠</a:t>
            </a:r>
            <a:endParaRPr lang="en-US" sz="620" dirty="0"/>
          </a:p>
        </p:txBody>
      </p:sp>
      <p:sp>
        <p:nvSpPr>
          <p:cNvPr id="7" name="Shape 4"/>
          <p:cNvSpPr/>
          <p:nvPr/>
        </p:nvSpPr>
        <p:spPr>
          <a:xfrm>
            <a:off x="457200" y="508000"/>
            <a:ext cx="5588000" cy="3683000"/>
          </a:xfrm>
          <a:prstGeom prst="rect">
            <a:avLst/>
          </a:prstGeom>
          <a:solidFill>
            <a:srgbClr val="FFFFFF"/>
          </a:solidFill>
          <a:ln/>
        </p:spPr>
      </p:sp>
      <p:sp>
        <p:nvSpPr>
          <p:cNvPr id="8" name="t0_5"/>
          <p:cNvSpPr txBox="1"/>
          <p:nvPr/>
        </p:nvSpPr>
        <p:spPr>
          <a:xfrm>
            <a:off x="711200" y="736600"/>
            <a:ext cx="114053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導入｜コアメッセージ</a:t>
            </a:r>
            <a:endParaRPr lang="en-US" sz="740" dirty="0"/>
          </a:p>
        </p:txBody>
      </p:sp>
      <p:sp>
        <p:nvSpPr>
          <p:cNvPr id="9" name="t0_6"/>
          <p:cNvSpPr txBox="1"/>
          <p:nvPr/>
        </p:nvSpPr>
        <p:spPr>
          <a:xfrm>
            <a:off x="4902200" y="7112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読み手の心理：興味</a:t>
            </a:r>
            <a:endParaRPr lang="en-US" sz="660" dirty="0"/>
          </a:p>
        </p:txBody>
      </p:sp>
      <p:sp>
        <p:nvSpPr>
          <p:cNvPr id="10" name="t0_7"/>
          <p:cNvSpPr txBox="1"/>
          <p:nvPr/>
        </p:nvSpPr>
        <p:spPr>
          <a:xfrm>
            <a:off x="711200" y="1016000"/>
            <a:ext cx="5295900" cy="792163"/>
          </a:xfrm>
          <a:prstGeom prst="rect">
            <a:avLst/>
          </a:prstGeom>
          <a:noFill/>
          <a:ln/>
        </p:spPr>
        <p:txBody>
          <a:bodyPr wrap="square" lIns="0" tIns="0" rIns="0" bIns="0" rtlCol="0" anchor="t"/>
          <a:lstStyle/>
          <a:p>
            <a:pPr algn="l" indent="0" marL="0">
              <a:lnSpc>
                <a:spcPts val="3120"/>
              </a:lnSpc>
              <a:buNone/>
            </a:pPr>
            <a:r>
              <a:rPr lang="en-US" sz="2600" spc="80" kern="0" dirty="0">
                <a:solidFill>
                  <a:srgbClr val="222222"/>
                </a:solidFill>
                <a:latin typeface="Yu Gothic" pitchFamily="34" charset="0"/>
                <a:ea typeface="Yu Gothic" pitchFamily="34" charset="-122"/>
                <a:cs typeface="Yu Gothic" pitchFamily="34" charset="-120"/>
              </a:rPr>
              <a:t>Strength to Hold.</a:t>
            </a:r>
            <a:endParaRPr lang="en-US" sz="2600" dirty="0"/>
          </a:p>
          <a:p>
            <a:pPr algn="l" indent="0" marL="0">
              <a:lnSpc>
                <a:spcPts val="3120"/>
              </a:lnSpc>
              <a:buNone/>
            </a:pPr>
            <a:r>
              <a:rPr lang="en-US" sz="2600" spc="80" kern="0" dirty="0">
                <a:solidFill>
                  <a:srgbClr val="222222"/>
                </a:solidFill>
                <a:latin typeface="Yu Gothic" pitchFamily="34" charset="0"/>
                <a:ea typeface="Yu Gothic" pitchFamily="34" charset="-122"/>
                <a:cs typeface="Yu Gothic" pitchFamily="34" charset="-120"/>
              </a:rPr>
              <a:t>Power to Connect.</a:t>
            </a:r>
            <a:endParaRPr lang="en-US" sz="2600" dirty="0"/>
          </a:p>
        </p:txBody>
      </p:sp>
      <p:sp>
        <p:nvSpPr>
          <p:cNvPr id="11" name="t0_8"/>
          <p:cNvSpPr txBox="1"/>
          <p:nvPr/>
        </p:nvSpPr>
        <p:spPr>
          <a:xfrm>
            <a:off x="711200" y="1854200"/>
            <a:ext cx="1413986"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参考訳：持つ力と、つなぐ力。</a:t>
            </a:r>
            <a:endParaRPr lang="en-US" sz="680" dirty="0"/>
          </a:p>
        </p:txBody>
      </p:sp>
      <p:sp>
        <p:nvSpPr>
          <p:cNvPr id="12" name="t0_9"/>
          <p:cNvSpPr txBox="1"/>
          <p:nvPr/>
        </p:nvSpPr>
        <p:spPr>
          <a:xfrm>
            <a:off x="2413000" y="1854200"/>
            <a:ext cx="519906" cy="139700"/>
          </a:xfrm>
          <a:prstGeom prst="rect">
            <a:avLst/>
          </a:prstGeom>
          <a:solidFill>
            <a:srgbClr val="2A6FB0"/>
          </a:solidFill>
          <a:ln/>
        </p:spPr>
        <p:txBody>
          <a:bodyPr wrap="none" lIns="25400" tIns="38100" rIns="38100" bIns="25400" rtlCol="0" anchor="t"/>
          <a:lstStyle/>
          <a:p>
            <a:pPr algn="l" indent="0" marL="0">
              <a:lnSpc>
                <a:spcPts val="806"/>
              </a:lnSpc>
              <a:buNone/>
            </a:pPr>
            <a:r>
              <a:rPr lang="en-US" sz="620" dirty="0">
                <a:solidFill>
                  <a:srgbClr val="FFFFFF"/>
                </a:solidFill>
                <a:latin typeface="Yu Gothic" pitchFamily="34" charset="0"/>
                <a:ea typeface="Yu Gothic" pitchFamily="34" charset="-122"/>
                <a:cs typeface="Yu Gothic" pitchFamily="34" charset="-120"/>
              </a:rPr>
              <a:t>英文を主に</a:t>
            </a:r>
            <a:endParaRPr lang="en-US" sz="620" dirty="0"/>
          </a:p>
        </p:txBody>
      </p:sp>
      <p:sp>
        <p:nvSpPr>
          <p:cNvPr id="13" name="t0_10"/>
          <p:cNvSpPr txBox="1"/>
          <p:nvPr/>
        </p:nvSpPr>
        <p:spPr>
          <a:xfrm>
            <a:off x="711200" y="2082800"/>
            <a:ext cx="5295900" cy="1113234"/>
          </a:xfrm>
          <a:prstGeom prst="rect">
            <a:avLst/>
          </a:prstGeom>
          <a:noFill/>
          <a:ln/>
        </p:spPr>
        <p:txBody>
          <a:bodyPr wrap="square" lIns="0" tIns="0" rIns="0" bIns="0" rtlCol="0" anchor="t"/>
          <a:lstStyle/>
          <a:p>
            <a:pPr algn="l" indent="0" marL="0">
              <a:lnSpc>
                <a:spcPts val="1462"/>
              </a:lnSpc>
              <a:buNone/>
            </a:pPr>
            <a:r>
              <a:rPr lang="en-US" sz="860" dirty="0">
                <a:solidFill>
                  <a:srgbClr val="9AA0A6"/>
                </a:solidFill>
                <a:latin typeface="Yu Gothic" pitchFamily="34" charset="0"/>
                <a:ea typeface="Yu Gothic" pitchFamily="34" charset="-122"/>
                <a:cs typeface="Yu Gothic" pitchFamily="34" charset="-120"/>
              </a:rPr>
              <a:t>Xxxxxxxxx, xx xxxxx xxx, xx xxx xxxx xxxxx. Xx xxxxx xxxxxxx xx xxxxxxxx xxxx, xxxxxxx xxxx, xxx xxxxxxx xxxx xx xxxxx xxxx'xx xxxxxx. Xxxx xxxx xx xxxx xxxxxx xxxx xxxxx. Xx xxxxxx xxxx xxxxx-xxxxx xxxxxx, xxxxxxxxxx xxx xxxxx xxxxx xxxx xxxxxxxx xx xxxxxxxxxx xxxxxxx xxxxxxxxxx xxx xxxxxxx. Xxxxxxx xx xxxxx xx xxxx xxxxxx, xx xxx xxxxxx xxxx xxxxxx xxxxxx. Xxxxxxx xx xxxxx xxxxxxx xxxxxxx xxxxxxxx xxx xxxxx, xx xxxx xxx xxxxx xxxxxx xxx xxxxx xxxxxx. Xxxxxxx xx xxxx xxx xxxxxx, xx xxxx xxx xxxxx xxxxxxx xx xxx xxxxx xxxx xxxxx xxx xxxxxxx.</a:t>
            </a:r>
            <a:endParaRPr lang="en-US" sz="860" dirty="0"/>
          </a:p>
        </p:txBody>
      </p:sp>
      <p:sp>
        <p:nvSpPr>
          <p:cNvPr id="14" name="t0_11"/>
          <p:cNvSpPr txBox="1"/>
          <p:nvPr/>
        </p:nvSpPr>
        <p:spPr>
          <a:xfrm>
            <a:off x="711200" y="3327400"/>
            <a:ext cx="2189544"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▸コアメッセージ本文（英文）92語／547字（A-1案と同量）</a:t>
            </a:r>
            <a:endParaRPr lang="en-US" sz="580" dirty="0"/>
          </a:p>
        </p:txBody>
      </p:sp>
      <p:sp>
        <p:nvSpPr>
          <p:cNvPr id="15" name="t0_12"/>
          <p:cNvSpPr txBox="1"/>
          <p:nvPr/>
        </p:nvSpPr>
        <p:spPr>
          <a:xfrm>
            <a:off x="711200" y="3530600"/>
            <a:ext cx="5295900"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※最新版のコアメッセージに差し替え予定（PwC様レビューNo.2）。現在はA-1ブラッシュアップ案を仮置き。英語版冊子のため英文を主とし、和文は社内確認用の参考訳</a:t>
            </a:r>
            <a:endParaRPr lang="en-US" sz="620" dirty="0"/>
          </a:p>
        </p:txBody>
      </p:sp>
      <p:sp>
        <p:nvSpPr>
          <p:cNvPr id="16" name="Shape 13"/>
          <p:cNvSpPr/>
          <p:nvPr/>
        </p:nvSpPr>
        <p:spPr>
          <a:xfrm>
            <a:off x="8585200" y="5842000"/>
            <a:ext cx="5969000" cy="4318000"/>
          </a:xfrm>
          <a:prstGeom prst="rect">
            <a:avLst/>
          </a:prstGeom>
          <a:solidFill>
            <a:srgbClr val="FFFFFF"/>
          </a:solidFill>
          <a:ln/>
        </p:spPr>
      </p:sp>
      <p:sp>
        <p:nvSpPr>
          <p:cNvPr id="17" name="t0_15"/>
          <p:cNvSpPr txBox="1"/>
          <p:nvPr/>
        </p:nvSpPr>
        <p:spPr>
          <a:xfrm>
            <a:off x="8839200" y="6070600"/>
            <a:ext cx="509445"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目次</a:t>
            </a:r>
            <a:endParaRPr lang="en-US" sz="1800" dirty="0"/>
          </a:p>
        </p:txBody>
      </p:sp>
      <p:sp>
        <p:nvSpPr>
          <p:cNvPr id="18" name="Shape 15"/>
          <p:cNvSpPr/>
          <p:nvPr/>
        </p:nvSpPr>
        <p:spPr>
          <a:xfrm>
            <a:off x="8839200" y="6604000"/>
            <a:ext cx="5334000" cy="0"/>
          </a:xfrm>
          <a:prstGeom prst="line">
            <a:avLst/>
          </a:prstGeom>
          <a:noFill/>
          <a:ln w="12700">
            <a:solidFill>
              <a:srgbClr val="CFD2D5"/>
            </a:solidFill>
            <a:prstDash val="solid"/>
          </a:ln>
        </p:spPr>
      </p:sp>
      <p:sp>
        <p:nvSpPr>
          <p:cNvPr id="19" name="t0_17"/>
          <p:cNvSpPr txBox="1"/>
          <p:nvPr/>
        </p:nvSpPr>
        <p:spPr>
          <a:xfrm>
            <a:off x="8839200" y="6705600"/>
            <a:ext cx="213503"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導入</a:t>
            </a:r>
            <a:endParaRPr lang="en-US" sz="680" dirty="0"/>
          </a:p>
        </p:txBody>
      </p:sp>
      <p:sp>
        <p:nvSpPr>
          <p:cNvPr id="20" name="t0_18"/>
          <p:cNvSpPr txBox="1"/>
          <p:nvPr/>
        </p:nvSpPr>
        <p:spPr>
          <a:xfrm>
            <a:off x="9474200" y="66929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コアメッセージ</a:t>
            </a:r>
            <a:endParaRPr lang="en-US" sz="950" dirty="0"/>
          </a:p>
        </p:txBody>
      </p:sp>
      <p:sp>
        <p:nvSpPr>
          <p:cNvPr id="21" name="t0_19"/>
          <p:cNvSpPr txBox="1"/>
          <p:nvPr/>
        </p:nvSpPr>
        <p:spPr>
          <a:xfrm>
            <a:off x="13919200" y="6705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02</a:t>
            </a:r>
            <a:endParaRPr lang="en-US" sz="660" dirty="0"/>
          </a:p>
        </p:txBody>
      </p:sp>
      <p:sp>
        <p:nvSpPr>
          <p:cNvPr id="22" name="Shape 19"/>
          <p:cNvSpPr/>
          <p:nvPr/>
        </p:nvSpPr>
        <p:spPr>
          <a:xfrm>
            <a:off x="8839200" y="7162800"/>
            <a:ext cx="5334000" cy="0"/>
          </a:xfrm>
          <a:prstGeom prst="line">
            <a:avLst/>
          </a:prstGeom>
          <a:noFill/>
          <a:ln w="12700">
            <a:solidFill>
              <a:srgbClr val="CFD2D5"/>
            </a:solidFill>
            <a:prstDash val="solid"/>
          </a:ln>
        </p:spPr>
      </p:sp>
      <p:sp>
        <p:nvSpPr>
          <p:cNvPr id="23" name="t0_21"/>
          <p:cNvSpPr txBox="1"/>
          <p:nvPr/>
        </p:nvSpPr>
        <p:spPr>
          <a:xfrm>
            <a:off x="8839200" y="7264400"/>
            <a:ext cx="275415"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第1章</a:t>
            </a:r>
            <a:endParaRPr lang="en-US" sz="680" dirty="0"/>
          </a:p>
        </p:txBody>
      </p:sp>
      <p:sp>
        <p:nvSpPr>
          <p:cNvPr id="24" name="t0_22"/>
          <p:cNvSpPr txBox="1"/>
          <p:nvPr/>
        </p:nvSpPr>
        <p:spPr>
          <a:xfrm>
            <a:off x="9474200" y="72517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WHO｜我々は何者か　—　三菱商事・金属資源グループとは：全体像・歩み</a:t>
            </a:r>
            <a:endParaRPr lang="en-US" sz="950" dirty="0"/>
          </a:p>
        </p:txBody>
      </p:sp>
      <p:sp>
        <p:nvSpPr>
          <p:cNvPr id="25" name="t0_23"/>
          <p:cNvSpPr txBox="1"/>
          <p:nvPr/>
        </p:nvSpPr>
        <p:spPr>
          <a:xfrm>
            <a:off x="13919200" y="72644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04</a:t>
            </a:r>
            <a:endParaRPr lang="en-US" sz="660" dirty="0"/>
          </a:p>
        </p:txBody>
      </p:sp>
      <p:sp>
        <p:nvSpPr>
          <p:cNvPr id="26" name="Shape 23"/>
          <p:cNvSpPr/>
          <p:nvPr/>
        </p:nvSpPr>
        <p:spPr>
          <a:xfrm>
            <a:off x="8839200" y="7721600"/>
            <a:ext cx="5334000" cy="0"/>
          </a:xfrm>
          <a:prstGeom prst="line">
            <a:avLst/>
          </a:prstGeom>
          <a:noFill/>
          <a:ln w="12700">
            <a:solidFill>
              <a:srgbClr val="CFD2D5"/>
            </a:solidFill>
            <a:prstDash val="solid"/>
          </a:ln>
        </p:spPr>
      </p:sp>
      <p:sp>
        <p:nvSpPr>
          <p:cNvPr id="27" name="t0_25"/>
          <p:cNvSpPr txBox="1"/>
          <p:nvPr/>
        </p:nvSpPr>
        <p:spPr>
          <a:xfrm>
            <a:off x="8839200" y="7823200"/>
            <a:ext cx="275415"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第2章</a:t>
            </a:r>
            <a:endParaRPr lang="en-US" sz="680" dirty="0"/>
          </a:p>
        </p:txBody>
      </p:sp>
      <p:sp>
        <p:nvSpPr>
          <p:cNvPr id="28" name="t0_26"/>
          <p:cNvSpPr txBox="1"/>
          <p:nvPr/>
        </p:nvSpPr>
        <p:spPr>
          <a:xfrm>
            <a:off x="9474200" y="78105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HOW/WHAT｜独自価値　—　機能・強み</a:t>
            </a:r>
            <a:endParaRPr lang="en-US" sz="950" dirty="0"/>
          </a:p>
        </p:txBody>
      </p:sp>
      <p:sp>
        <p:nvSpPr>
          <p:cNvPr id="29" name="t0_27"/>
          <p:cNvSpPr txBox="1"/>
          <p:nvPr/>
        </p:nvSpPr>
        <p:spPr>
          <a:xfrm>
            <a:off x="13919200" y="78232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06</a:t>
            </a:r>
            <a:endParaRPr lang="en-US" sz="660" dirty="0"/>
          </a:p>
        </p:txBody>
      </p:sp>
      <p:sp>
        <p:nvSpPr>
          <p:cNvPr id="30" name="Shape 27"/>
          <p:cNvSpPr/>
          <p:nvPr/>
        </p:nvSpPr>
        <p:spPr>
          <a:xfrm>
            <a:off x="8839200" y="8280400"/>
            <a:ext cx="5334000" cy="0"/>
          </a:xfrm>
          <a:prstGeom prst="line">
            <a:avLst/>
          </a:prstGeom>
          <a:noFill/>
          <a:ln w="12700">
            <a:solidFill>
              <a:srgbClr val="CFD2D5"/>
            </a:solidFill>
            <a:prstDash val="solid"/>
          </a:ln>
        </p:spPr>
      </p:sp>
      <p:sp>
        <p:nvSpPr>
          <p:cNvPr id="31" name="t0_29"/>
          <p:cNvSpPr txBox="1"/>
          <p:nvPr/>
        </p:nvSpPr>
        <p:spPr>
          <a:xfrm>
            <a:off x="8839200" y="8382000"/>
            <a:ext cx="275415"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第3章</a:t>
            </a:r>
            <a:endParaRPr lang="en-US" sz="680" dirty="0"/>
          </a:p>
        </p:txBody>
      </p:sp>
      <p:sp>
        <p:nvSpPr>
          <p:cNvPr id="32" name="t0_30"/>
          <p:cNvSpPr txBox="1"/>
          <p:nvPr/>
        </p:nvSpPr>
        <p:spPr>
          <a:xfrm>
            <a:off x="9474200" y="83693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PROOF｜選ばれ続ける理由　—　実績・関係・評価</a:t>
            </a:r>
            <a:endParaRPr lang="en-US" sz="950" dirty="0"/>
          </a:p>
        </p:txBody>
      </p:sp>
      <p:sp>
        <p:nvSpPr>
          <p:cNvPr id="33" name="t0_31"/>
          <p:cNvSpPr txBox="1"/>
          <p:nvPr/>
        </p:nvSpPr>
        <p:spPr>
          <a:xfrm>
            <a:off x="13919200" y="83820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10</a:t>
            </a:r>
            <a:endParaRPr lang="en-US" sz="660" dirty="0"/>
          </a:p>
        </p:txBody>
      </p:sp>
      <p:sp>
        <p:nvSpPr>
          <p:cNvPr id="34" name="Shape 31"/>
          <p:cNvSpPr/>
          <p:nvPr/>
        </p:nvSpPr>
        <p:spPr>
          <a:xfrm>
            <a:off x="8839200" y="8839200"/>
            <a:ext cx="5334000" cy="0"/>
          </a:xfrm>
          <a:prstGeom prst="line">
            <a:avLst/>
          </a:prstGeom>
          <a:noFill/>
          <a:ln w="12700">
            <a:solidFill>
              <a:srgbClr val="CFD2D5"/>
            </a:solidFill>
            <a:prstDash val="solid"/>
          </a:ln>
        </p:spPr>
      </p:sp>
      <p:sp>
        <p:nvSpPr>
          <p:cNvPr id="35" name="t0_33"/>
          <p:cNvSpPr txBox="1"/>
          <p:nvPr/>
        </p:nvSpPr>
        <p:spPr>
          <a:xfrm>
            <a:off x="8839200" y="8940800"/>
            <a:ext cx="275415"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第4章</a:t>
            </a:r>
            <a:endParaRPr lang="en-US" sz="680" dirty="0"/>
          </a:p>
        </p:txBody>
      </p:sp>
      <p:sp>
        <p:nvSpPr>
          <p:cNvPr id="36" name="t0_34"/>
          <p:cNvSpPr txBox="1"/>
          <p:nvPr/>
        </p:nvSpPr>
        <p:spPr>
          <a:xfrm>
            <a:off x="9474200" y="89281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VISION｜何を実現するか　—　社会課題への取り組み</a:t>
            </a:r>
            <a:endParaRPr lang="en-US" sz="950" dirty="0"/>
          </a:p>
        </p:txBody>
      </p:sp>
      <p:sp>
        <p:nvSpPr>
          <p:cNvPr id="37" name="t0_35"/>
          <p:cNvSpPr txBox="1"/>
          <p:nvPr/>
        </p:nvSpPr>
        <p:spPr>
          <a:xfrm>
            <a:off x="13919200" y="89408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11</a:t>
            </a:r>
            <a:endParaRPr lang="en-US" sz="660" dirty="0"/>
          </a:p>
        </p:txBody>
      </p:sp>
      <p:sp>
        <p:nvSpPr>
          <p:cNvPr id="38" name="t0_36"/>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02</a:t>
            </a:r>
            <a:endParaRPr lang="en-US" sz="660" dirty="0"/>
          </a:p>
        </p:txBody>
      </p:sp>
      <p:sp>
        <p:nvSpPr>
          <p:cNvPr id="39" name="t0_37"/>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03</a:t>
            </a:r>
            <a:endParaRPr lang="en-US" sz="660" dirty="0"/>
          </a:p>
        </p:txBody>
      </p:sp>
      <p:sp>
        <p:nvSpPr>
          <p:cNvPr id="40" name="t0_38"/>
          <p:cNvSpPr txBox="1"/>
          <p:nvPr/>
        </p:nvSpPr>
        <p:spPr>
          <a:xfrm>
            <a:off x="3810000" y="10261600"/>
            <a:ext cx="4690864" cy="152400"/>
          </a:xfrm>
          <a:prstGeom prst="rect">
            <a:avLst/>
          </a:prstGeom>
          <a:solidFill>
            <a:srgbClr val="FFFFFF"/>
          </a:solidFill>
          <a:ln/>
        </p:spPr>
        <p:txBody>
          <a:bodyPr wrap="none" lIns="25400" tIns="38100" rIns="38100" bIns="25400" rtlCol="0" anchor="t"/>
          <a:lstStyle/>
          <a:p>
            <a:pPr algn="l" indent="0" marL="0">
              <a:lnSpc>
                <a:spcPts val="858"/>
              </a:lnSpc>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41" name="Shape 38"/>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1_0"/>
          <p:cNvSpPr txBox="1"/>
          <p:nvPr/>
        </p:nvSpPr>
        <p:spPr>
          <a:xfrm>
            <a:off x="609600" y="431800"/>
            <a:ext cx="3542538"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第1章　WHO｜我々は何者か　—　三菱商事・金属資源グループとは</a:t>
            </a:r>
            <a:endParaRPr lang="en-US" sz="740" dirty="0"/>
          </a:p>
        </p:txBody>
      </p:sp>
      <p:sp>
        <p:nvSpPr>
          <p:cNvPr id="4" name="t1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読み手の心理：理解</a:t>
            </a:r>
            <a:endParaRPr lang="en-US" sz="660" dirty="0"/>
          </a:p>
        </p:txBody>
      </p:sp>
      <p:sp>
        <p:nvSpPr>
          <p:cNvPr id="5" name="t1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三菱商事とは</a:t>
            </a:r>
            <a:endParaRPr lang="en-US" sz="1800" dirty="0"/>
          </a:p>
        </p:txBody>
      </p:sp>
      <p:sp>
        <p:nvSpPr>
          <p:cNvPr id="6" name="t1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三綱領に基づき、経済価値・環境価値・社会価値の同時実現を志す総合商社</a:t>
            </a:r>
            <a:endParaRPr lang="en-US" sz="1000" dirty="0"/>
          </a:p>
        </p:txBody>
      </p:sp>
      <p:sp>
        <p:nvSpPr>
          <p:cNvPr id="7" name="t1_4"/>
          <p:cNvSpPr txBox="1"/>
          <p:nvPr/>
        </p:nvSpPr>
        <p:spPr>
          <a:xfrm>
            <a:off x="609600" y="1422400"/>
            <a:ext cx="331470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8" name="t1_5"/>
          <p:cNvSpPr txBox="1"/>
          <p:nvPr/>
        </p:nvSpPr>
        <p:spPr>
          <a:xfrm>
            <a:off x="609600" y="2128441"/>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110字／英語 約61語</a:t>
            </a:r>
            <a:endParaRPr lang="en-US" sz="580" dirty="0"/>
          </a:p>
        </p:txBody>
      </p:sp>
      <p:pic>
        <p:nvPicPr>
          <p:cNvPr id="9" name="Image 0" descr="preencoded.png">    </p:cNvPr>
          <p:cNvPicPr>
            <a:picLocks noChangeAspect="1"/>
          </p:cNvPicPr>
          <p:nvPr/>
        </p:nvPicPr>
        <p:blipFill>
          <a:blip r:embed="rId1"/>
          <a:stretch>
            <a:fillRect/>
          </a:stretch>
        </p:blipFill>
        <p:spPr>
          <a:xfrm>
            <a:off x="609600" y="2667000"/>
            <a:ext cx="1905000" cy="838200"/>
          </a:xfrm>
          <a:prstGeom prst="rect">
            <a:avLst/>
          </a:prstGeom>
        </p:spPr>
      </p:pic>
      <p:sp>
        <p:nvSpPr>
          <p:cNvPr id="10" name="t1_7"/>
          <p:cNvSpPr txBox="1"/>
          <p:nvPr/>
        </p:nvSpPr>
        <p:spPr>
          <a:xfrm>
            <a:off x="609600" y="3556000"/>
            <a:ext cx="1919192"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三綱領（所期奉公・処事光明・立業貿易）</a:t>
            </a:r>
            <a:endParaRPr lang="en-US" sz="680" dirty="0"/>
          </a:p>
        </p:txBody>
      </p:sp>
      <p:pic>
        <p:nvPicPr>
          <p:cNvPr id="11" name="Image 1" descr="preencoded.png">    </p:cNvPr>
          <p:cNvPicPr>
            <a:picLocks noChangeAspect="1"/>
          </p:cNvPicPr>
          <p:nvPr/>
        </p:nvPicPr>
        <p:blipFill>
          <a:blip r:embed="rId2"/>
          <a:stretch>
            <a:fillRect/>
          </a:stretch>
        </p:blipFill>
        <p:spPr>
          <a:xfrm>
            <a:off x="4038600" y="1422400"/>
            <a:ext cx="2908300" cy="965200"/>
          </a:xfrm>
          <a:prstGeom prst="rect">
            <a:avLst/>
          </a:prstGeom>
        </p:spPr>
      </p:pic>
      <p:sp>
        <p:nvSpPr>
          <p:cNvPr id="12" name="Shape 7"/>
          <p:cNvSpPr/>
          <p:nvPr/>
        </p:nvSpPr>
        <p:spPr>
          <a:xfrm>
            <a:off x="4038600" y="1422400"/>
            <a:ext cx="2908300" cy="965200"/>
          </a:xfrm>
          <a:prstGeom prst="rect">
            <a:avLst/>
          </a:prstGeom>
          <a:noFill/>
          <a:ln w="12700">
            <a:solidFill>
              <a:srgbClr val="C9CDD1"/>
            </a:solidFill>
            <a:prstDash val="solid"/>
          </a:ln>
        </p:spPr>
      </p:sp>
      <p:sp>
        <p:nvSpPr>
          <p:cNvPr id="13" name="t1_10"/>
          <p:cNvSpPr txBox="1"/>
          <p:nvPr/>
        </p:nvSpPr>
        <p:spPr>
          <a:xfrm>
            <a:off x="4038600" y="2425700"/>
            <a:ext cx="3037332" cy="114300"/>
          </a:xfrm>
          <a:prstGeom prst="rect">
            <a:avLst/>
          </a:prstGeom>
          <a:noFill/>
          <a:ln/>
        </p:spPr>
        <p:txBody>
          <a:bodyPr wrap="none" lIns="0" tIns="0" rIns="0" bIns="0" rtlCol="0" anchor="t"/>
          <a:lstStyle/>
          <a:p>
            <a:pPr algn="l" indent="0" marL="0">
              <a:lnSpc>
                <a:spcPts val="806"/>
              </a:lnSpc>
              <a:buNone/>
            </a:pPr>
            <a:r>
              <a:rPr lang="en-US" sz="620" spc="80" kern="0" dirty="0">
                <a:solidFill>
                  <a:srgbClr val="666666"/>
                </a:solidFill>
                <a:latin typeface="Yu Gothic" pitchFamily="34" charset="0"/>
                <a:ea typeface="Yu Gothic" pitchFamily="34" charset="-122"/>
                <a:cs typeface="Yu Gothic" pitchFamily="34" charset="-120"/>
              </a:rPr>
              <a:t>現状の図：三綱領と3つの価値（金属資源G_P46）</a:t>
            </a:r>
            <a:endParaRPr lang="en-US" sz="620" dirty="0"/>
          </a:p>
        </p:txBody>
      </p:sp>
      <p:pic>
        <p:nvPicPr>
          <p:cNvPr id="14" name="Image 2" descr="preencoded.png">    </p:cNvPr>
          <p:cNvPicPr>
            <a:picLocks noChangeAspect="1"/>
          </p:cNvPicPr>
          <p:nvPr/>
        </p:nvPicPr>
        <p:blipFill>
          <a:blip r:embed="rId3"/>
          <a:stretch>
            <a:fillRect/>
          </a:stretch>
        </p:blipFill>
        <p:spPr>
          <a:xfrm>
            <a:off x="4038600" y="2616200"/>
            <a:ext cx="2908300" cy="965200"/>
          </a:xfrm>
          <a:prstGeom prst="rect">
            <a:avLst/>
          </a:prstGeom>
        </p:spPr>
      </p:pic>
      <p:sp>
        <p:nvSpPr>
          <p:cNvPr id="15" name="Shape 9"/>
          <p:cNvSpPr/>
          <p:nvPr/>
        </p:nvSpPr>
        <p:spPr>
          <a:xfrm>
            <a:off x="4038600" y="2616200"/>
            <a:ext cx="2908300" cy="965200"/>
          </a:xfrm>
          <a:prstGeom prst="rect">
            <a:avLst/>
          </a:prstGeom>
          <a:noFill/>
          <a:ln w="12700">
            <a:solidFill>
              <a:srgbClr val="C9CDD1"/>
            </a:solidFill>
            <a:prstDash val="solid"/>
          </a:ln>
        </p:spPr>
      </p:sp>
      <p:sp>
        <p:nvSpPr>
          <p:cNvPr id="16" name="t1_13"/>
          <p:cNvSpPr txBox="1"/>
          <p:nvPr/>
        </p:nvSpPr>
        <p:spPr>
          <a:xfrm>
            <a:off x="4038600" y="3619500"/>
            <a:ext cx="3037332" cy="114300"/>
          </a:xfrm>
          <a:prstGeom prst="rect">
            <a:avLst/>
          </a:prstGeom>
          <a:noFill/>
          <a:ln/>
        </p:spPr>
        <p:txBody>
          <a:bodyPr wrap="none" lIns="0" tIns="0" rIns="0" bIns="0" rtlCol="0" anchor="t"/>
          <a:lstStyle/>
          <a:p>
            <a:pPr algn="l" indent="0" marL="0">
              <a:lnSpc>
                <a:spcPts val="806"/>
              </a:lnSpc>
              <a:buNone/>
            </a:pPr>
            <a:r>
              <a:rPr lang="en-US" sz="620" spc="80" kern="0" dirty="0">
                <a:solidFill>
                  <a:srgbClr val="666666"/>
                </a:solidFill>
                <a:latin typeface="Yu Gothic" pitchFamily="34" charset="0"/>
                <a:ea typeface="Yu Gothic" pitchFamily="34" charset="-122"/>
                <a:cs typeface="Yu Gothic" pitchFamily="34" charset="-120"/>
              </a:rPr>
              <a:t>全7グループの構成（三菱商事公式サイト）</a:t>
            </a:r>
            <a:endParaRPr lang="en-US" sz="620" dirty="0"/>
          </a:p>
        </p:txBody>
      </p:sp>
      <p:sp>
        <p:nvSpPr>
          <p:cNvPr id="17" name="t1_14"/>
          <p:cNvSpPr txBox="1"/>
          <p:nvPr/>
        </p:nvSpPr>
        <p:spPr>
          <a:xfrm>
            <a:off x="609600" y="3810000"/>
            <a:ext cx="6352540"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※三綱領と「3つの価値の同時実現」を示す（PwC様レビューNo.3）。グループ数は7グループ（同No.4）</a:t>
            </a:r>
            <a:endParaRPr lang="en-US" sz="620" dirty="0"/>
          </a:p>
        </p:txBody>
      </p:sp>
      <p:sp>
        <p:nvSpPr>
          <p:cNvPr id="18" name="Shape 12"/>
          <p:cNvSpPr/>
          <p:nvPr/>
        </p:nvSpPr>
        <p:spPr>
          <a:xfrm>
            <a:off x="609600" y="4140200"/>
            <a:ext cx="6337300" cy="0"/>
          </a:xfrm>
          <a:prstGeom prst="line">
            <a:avLst/>
          </a:prstGeom>
          <a:noFill/>
          <a:ln w="12700">
            <a:solidFill>
              <a:srgbClr val="CFD2D5"/>
            </a:solidFill>
            <a:prstDash val="solid"/>
          </a:ln>
        </p:spPr>
      </p:sp>
      <p:sp>
        <p:nvSpPr>
          <p:cNvPr id="19" name="t1_16"/>
          <p:cNvSpPr txBox="1"/>
          <p:nvPr/>
        </p:nvSpPr>
        <p:spPr>
          <a:xfrm>
            <a:off x="609600" y="42926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金属資源グループの位置付け・役割</a:t>
            </a:r>
            <a:endParaRPr lang="en-US" sz="1800" dirty="0"/>
          </a:p>
        </p:txBody>
      </p:sp>
      <p:sp>
        <p:nvSpPr>
          <p:cNvPr id="20" name="t1_17"/>
          <p:cNvSpPr txBox="1"/>
          <p:nvPr/>
        </p:nvSpPr>
        <p:spPr>
          <a:xfrm>
            <a:off x="609600" y="46482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三菱商事の中で、金属資源グループが担う位置付けと役割</a:t>
            </a:r>
            <a:endParaRPr lang="en-US" sz="1000" dirty="0"/>
          </a:p>
        </p:txBody>
      </p:sp>
      <p:sp>
        <p:nvSpPr>
          <p:cNvPr id="21" name="t1_18"/>
          <p:cNvSpPr txBox="1"/>
          <p:nvPr/>
        </p:nvSpPr>
        <p:spPr>
          <a:xfrm>
            <a:off x="609600" y="4927600"/>
            <a:ext cx="3314700" cy="519708"/>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22" name="t1_19"/>
          <p:cNvSpPr txBox="1"/>
          <p:nvPr/>
        </p:nvSpPr>
        <p:spPr>
          <a:xfrm>
            <a:off x="609600" y="546020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90字／英語 約50語</a:t>
            </a:r>
            <a:endParaRPr lang="en-US" sz="580" dirty="0"/>
          </a:p>
        </p:txBody>
      </p:sp>
      <p:pic>
        <p:nvPicPr>
          <p:cNvPr id="23" name="Image 3" descr="preencoded.png">    </p:cNvPr>
          <p:cNvPicPr>
            <a:picLocks noChangeAspect="1"/>
          </p:cNvPicPr>
          <p:nvPr/>
        </p:nvPicPr>
        <p:blipFill>
          <a:blip r:embed="rId4"/>
          <a:stretch>
            <a:fillRect/>
          </a:stretch>
        </p:blipFill>
        <p:spPr>
          <a:xfrm>
            <a:off x="4038600" y="4927600"/>
            <a:ext cx="2908300" cy="914400"/>
          </a:xfrm>
          <a:prstGeom prst="rect">
            <a:avLst/>
          </a:prstGeom>
        </p:spPr>
      </p:pic>
      <p:sp>
        <p:nvSpPr>
          <p:cNvPr id="24" name="Shape 17"/>
          <p:cNvSpPr/>
          <p:nvPr/>
        </p:nvSpPr>
        <p:spPr>
          <a:xfrm>
            <a:off x="4038600" y="4927600"/>
            <a:ext cx="2908300" cy="914400"/>
          </a:xfrm>
          <a:prstGeom prst="rect">
            <a:avLst/>
          </a:prstGeom>
          <a:noFill/>
          <a:ln w="12700">
            <a:solidFill>
              <a:srgbClr val="C9CDD1"/>
            </a:solidFill>
            <a:prstDash val="solid"/>
          </a:ln>
        </p:spPr>
      </p:sp>
      <p:sp>
        <p:nvSpPr>
          <p:cNvPr id="25" name="t1_22"/>
          <p:cNvSpPr txBox="1"/>
          <p:nvPr/>
        </p:nvSpPr>
        <p:spPr>
          <a:xfrm>
            <a:off x="4038600" y="5880100"/>
            <a:ext cx="3037332" cy="114300"/>
          </a:xfrm>
          <a:prstGeom prst="rect">
            <a:avLst/>
          </a:prstGeom>
          <a:noFill/>
          <a:ln/>
        </p:spPr>
        <p:txBody>
          <a:bodyPr wrap="none" lIns="0" tIns="0" rIns="0" bIns="0" rtlCol="0" anchor="t"/>
          <a:lstStyle/>
          <a:p>
            <a:pPr algn="l" indent="0" marL="0">
              <a:lnSpc>
                <a:spcPts val="806"/>
              </a:lnSpc>
              <a:buNone/>
            </a:pPr>
            <a:r>
              <a:rPr lang="en-US" sz="620" spc="80" kern="0" dirty="0">
                <a:solidFill>
                  <a:srgbClr val="666666"/>
                </a:solidFill>
                <a:latin typeface="Yu Gothic" pitchFamily="34" charset="0"/>
                <a:ea typeface="Yu Gothic" pitchFamily="34" charset="-122"/>
                <a:cs typeface="Yu Gothic" pitchFamily="34" charset="-120"/>
              </a:rPr>
              <a:t>現状の図：ポートフォリオ構成（Investor Day P6）</a:t>
            </a:r>
            <a:endParaRPr lang="en-US" sz="620" dirty="0"/>
          </a:p>
        </p:txBody>
      </p:sp>
      <p:sp>
        <p:nvSpPr>
          <p:cNvPr id="26" name="t1_23"/>
          <p:cNvSpPr txBox="1"/>
          <p:nvPr/>
        </p:nvSpPr>
        <p:spPr>
          <a:xfrm>
            <a:off x="609600" y="5969000"/>
            <a:ext cx="910431"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444444"/>
                </a:solidFill>
                <a:latin typeface="Yu Gothic" pitchFamily="34" charset="0"/>
                <a:ea typeface="Yu Gothic" pitchFamily="34" charset="-122"/>
                <a:cs typeface="Yu Gothic" pitchFamily="34" charset="-120"/>
              </a:rPr>
              <a:t>グループミッション</a:t>
            </a:r>
            <a:endParaRPr lang="en-US" sz="680" dirty="0"/>
          </a:p>
        </p:txBody>
      </p:sp>
      <p:sp>
        <p:nvSpPr>
          <p:cNvPr id="27" name="t1_24"/>
          <p:cNvSpPr txBox="1"/>
          <p:nvPr/>
        </p:nvSpPr>
        <p:spPr>
          <a:xfrm>
            <a:off x="609600" y="6146800"/>
            <a:ext cx="6603492" cy="182761"/>
          </a:xfrm>
          <a:prstGeom prst="rect">
            <a:avLst/>
          </a:prstGeom>
          <a:noFill/>
          <a:ln/>
        </p:spPr>
        <p:txBody>
          <a:bodyPr wrap="none" lIns="0" tIns="0" rIns="0" bIns="0" rtlCol="0" anchor="t"/>
          <a:lstStyle/>
          <a:p>
            <a:pPr algn="l" indent="0" marL="0">
              <a:lnSpc>
                <a:spcPts val="1440"/>
              </a:lnSpc>
              <a:buNone/>
            </a:pPr>
            <a:r>
              <a:rPr lang="en-US" sz="900" dirty="0">
                <a:solidFill>
                  <a:srgbClr val="222222"/>
                </a:solidFill>
                <a:latin typeface="Yu Gothic" pitchFamily="34" charset="0"/>
                <a:ea typeface="Yu Gothic" pitchFamily="34" charset="-122"/>
                <a:cs typeface="Yu Gothic" pitchFamily="34" charset="-120"/>
              </a:rPr>
              <a:t>「社会が必要とする良質な金属資源を、持続可能な形で安定供給することで、より良い社会の実現に寄与する」</a:t>
            </a:r>
            <a:endParaRPr lang="en-US" sz="900" dirty="0"/>
          </a:p>
        </p:txBody>
      </p:sp>
      <p:sp>
        <p:nvSpPr>
          <p:cNvPr id="28" name="t1_25"/>
          <p:cNvSpPr txBox="1"/>
          <p:nvPr/>
        </p:nvSpPr>
        <p:spPr>
          <a:xfrm>
            <a:off x="609600" y="6578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※収益面は事実・実績ベースで表示し、誇示する表現は避ける。ミッション文言は金属資源G_P2の正式表記を要確認</a:t>
            </a:r>
            <a:endParaRPr lang="en-US" sz="620" dirty="0"/>
          </a:p>
        </p:txBody>
      </p:sp>
      <p:sp>
        <p:nvSpPr>
          <p:cNvPr id="29" name="t1_26"/>
          <p:cNvSpPr txBox="1"/>
          <p:nvPr/>
        </p:nvSpPr>
        <p:spPr>
          <a:xfrm>
            <a:off x="609600" y="6959600"/>
            <a:ext cx="1175004" cy="203200"/>
          </a:xfrm>
          <a:prstGeom prst="rect">
            <a:avLst/>
          </a:prstGeom>
          <a:noFill/>
          <a:ln/>
        </p:spPr>
        <p:txBody>
          <a:bodyPr wrap="none" lIns="0" tIns="0" rIns="0" bIns="0" rtlCol="0" anchor="t"/>
          <a:lstStyle/>
          <a:p>
            <a:pPr algn="l" indent="0" marL="0">
              <a:lnSpc>
                <a:spcPts val="1430"/>
              </a:lnSpc>
              <a:buNone/>
            </a:pPr>
            <a:r>
              <a:rPr lang="en-US" sz="1100" dirty="0">
                <a:solidFill>
                  <a:srgbClr val="222222"/>
                </a:solidFill>
                <a:latin typeface="Yu Gothic" pitchFamily="34" charset="0"/>
                <a:ea typeface="Yu Gothic" pitchFamily="34" charset="-122"/>
                <a:cs typeface="Yu Gothic" pitchFamily="34" charset="-120"/>
              </a:rPr>
              <a:t>組織図・事業体制</a:t>
            </a:r>
            <a:endParaRPr lang="en-US" sz="1100" dirty="0"/>
          </a:p>
        </p:txBody>
      </p:sp>
      <p:sp>
        <p:nvSpPr>
          <p:cNvPr id="30" name="t1_27"/>
          <p:cNvSpPr txBox="1"/>
          <p:nvPr/>
        </p:nvSpPr>
        <p:spPr>
          <a:xfrm>
            <a:off x="1778000" y="6985000"/>
            <a:ext cx="563364" cy="139700"/>
          </a:xfrm>
          <a:prstGeom prst="rect">
            <a:avLst/>
          </a:prstGeom>
          <a:solidFill>
            <a:srgbClr val="2A6FB0"/>
          </a:solidFill>
          <a:ln/>
        </p:spPr>
        <p:txBody>
          <a:bodyPr wrap="none" lIns="25400" tIns="38100" rIns="38100" bIns="25400" rtlCol="0" anchor="t"/>
          <a:lstStyle/>
          <a:p>
            <a:pPr algn="l" indent="0" marL="0">
              <a:lnSpc>
                <a:spcPts val="806"/>
              </a:lnSpc>
              <a:buNone/>
            </a:pPr>
            <a:r>
              <a:rPr lang="en-US" sz="620" spc="30" kern="0" dirty="0">
                <a:solidFill>
                  <a:srgbClr val="FFFFFF"/>
                </a:solidFill>
                <a:latin typeface="Yu Gothic" pitchFamily="34" charset="0"/>
                <a:ea typeface="Yu Gothic" pitchFamily="34" charset="-122"/>
                <a:cs typeface="Yu Gothic" pitchFamily="34" charset="-120"/>
              </a:rPr>
              <a:t>改善① 移動</a:t>
            </a:r>
            <a:endParaRPr lang="en-US" sz="620" dirty="0"/>
          </a:p>
        </p:txBody>
      </p:sp>
      <p:sp>
        <p:nvSpPr>
          <p:cNvPr id="31" name="t1_28"/>
          <p:cNvSpPr txBox="1"/>
          <p:nvPr/>
        </p:nvSpPr>
        <p:spPr>
          <a:xfrm>
            <a:off x="609600" y="7162800"/>
            <a:ext cx="3014218"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投資を担う2本部と、トレーディングを担う1本部</a:t>
            </a:r>
            <a:endParaRPr lang="en-US" sz="1000" dirty="0"/>
          </a:p>
        </p:txBody>
      </p:sp>
      <p:sp>
        <p:nvSpPr>
          <p:cNvPr id="32" name="t1_29"/>
          <p:cNvSpPr txBox="1"/>
          <p:nvPr/>
        </p:nvSpPr>
        <p:spPr>
          <a:xfrm>
            <a:off x="3022600" y="7467600"/>
            <a:ext cx="1524000" cy="254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グループCEO</a:t>
            </a:r>
            <a:endParaRPr lang="en-US" sz="740" dirty="0"/>
          </a:p>
        </p:txBody>
      </p:sp>
      <p:sp>
        <p:nvSpPr>
          <p:cNvPr id="33" name="t1_30"/>
          <p:cNvSpPr txBox="1"/>
          <p:nvPr/>
        </p:nvSpPr>
        <p:spPr>
          <a:xfrm>
            <a:off x="5435600" y="7467600"/>
            <a:ext cx="1397000" cy="254000"/>
          </a:xfrm>
          <a:prstGeom prst="rect">
            <a:avLst/>
          </a:prstGeom>
          <a:noFill/>
          <a:ln w="12700">
            <a:solidFill>
              <a:srgbClr val="9AA0A6"/>
            </a:solidFill>
            <a:prstDash val="dash"/>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グループCEOオフィス</a:t>
            </a:r>
            <a:endParaRPr lang="en-US" sz="740" dirty="0"/>
          </a:p>
        </p:txBody>
      </p:sp>
      <p:sp>
        <p:nvSpPr>
          <p:cNvPr id="34" name="Shape 27"/>
          <p:cNvSpPr/>
          <p:nvPr/>
        </p:nvSpPr>
        <p:spPr>
          <a:xfrm>
            <a:off x="3771900" y="7721600"/>
            <a:ext cx="0" cy="152400"/>
          </a:xfrm>
          <a:prstGeom prst="line">
            <a:avLst/>
          </a:prstGeom>
          <a:noFill/>
          <a:ln w="12700">
            <a:solidFill>
              <a:srgbClr val="888888"/>
            </a:solidFill>
            <a:prstDash val="solid"/>
          </a:ln>
        </p:spPr>
      </p:sp>
      <p:sp>
        <p:nvSpPr>
          <p:cNvPr id="35" name="Shape 28"/>
          <p:cNvSpPr/>
          <p:nvPr/>
        </p:nvSpPr>
        <p:spPr>
          <a:xfrm>
            <a:off x="1625600" y="7874000"/>
            <a:ext cx="4318000" cy="0"/>
          </a:xfrm>
          <a:prstGeom prst="line">
            <a:avLst/>
          </a:prstGeom>
          <a:noFill/>
          <a:ln w="12700">
            <a:solidFill>
              <a:srgbClr val="888888"/>
            </a:solidFill>
            <a:prstDash val="solid"/>
          </a:ln>
        </p:spPr>
      </p:sp>
      <p:sp>
        <p:nvSpPr>
          <p:cNvPr id="36" name="Shape 29"/>
          <p:cNvSpPr/>
          <p:nvPr/>
        </p:nvSpPr>
        <p:spPr>
          <a:xfrm>
            <a:off x="1689100" y="7874000"/>
            <a:ext cx="0" cy="127000"/>
          </a:xfrm>
          <a:prstGeom prst="line">
            <a:avLst/>
          </a:prstGeom>
          <a:noFill/>
          <a:ln w="12700">
            <a:solidFill>
              <a:srgbClr val="888888"/>
            </a:solidFill>
            <a:prstDash val="solid"/>
          </a:ln>
        </p:spPr>
      </p:sp>
      <p:sp>
        <p:nvSpPr>
          <p:cNvPr id="37" name="t1_34"/>
          <p:cNvSpPr txBox="1"/>
          <p:nvPr/>
        </p:nvSpPr>
        <p:spPr>
          <a:xfrm>
            <a:off x="736600" y="8001000"/>
            <a:ext cx="1905000" cy="3556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鉄鋼原料本部</a:t>
            </a:r>
            <a:endParaRPr lang="en-US" sz="740" dirty="0"/>
          </a:p>
          <a:p>
            <a:pPr algn="ctr" indent="0" marL="0">
              <a:lnSpc>
                <a:spcPts val="999"/>
              </a:lnSpc>
              <a:buNone/>
            </a:pPr>
            <a:r>
              <a:rPr lang="en-US" sz="620" dirty="0">
                <a:solidFill>
                  <a:srgbClr val="888888"/>
                </a:solidFill>
                <a:latin typeface="Yu Gothic" pitchFamily="34" charset="0"/>
                <a:ea typeface="Yu Gothic" pitchFamily="34" charset="-122"/>
                <a:cs typeface="Yu Gothic" pitchFamily="34" charset="-120"/>
              </a:rPr>
              <a:t>（投資）</a:t>
            </a:r>
            <a:endParaRPr lang="en-US" sz="740" dirty="0"/>
          </a:p>
        </p:txBody>
      </p:sp>
      <p:sp>
        <p:nvSpPr>
          <p:cNvPr id="38" name="Shape 31"/>
          <p:cNvSpPr/>
          <p:nvPr/>
        </p:nvSpPr>
        <p:spPr>
          <a:xfrm>
            <a:off x="3848100" y="7874000"/>
            <a:ext cx="0" cy="127000"/>
          </a:xfrm>
          <a:prstGeom prst="line">
            <a:avLst/>
          </a:prstGeom>
          <a:noFill/>
          <a:ln w="12700">
            <a:solidFill>
              <a:srgbClr val="888888"/>
            </a:solidFill>
            <a:prstDash val="solid"/>
          </a:ln>
        </p:spPr>
      </p:sp>
      <p:sp>
        <p:nvSpPr>
          <p:cNvPr id="39" name="t1_36"/>
          <p:cNvSpPr txBox="1"/>
          <p:nvPr/>
        </p:nvSpPr>
        <p:spPr>
          <a:xfrm>
            <a:off x="2895600" y="8001000"/>
            <a:ext cx="1905000" cy="3556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クリティカルミネラル本部</a:t>
            </a:r>
            <a:endParaRPr lang="en-US" sz="740" dirty="0"/>
          </a:p>
          <a:p>
            <a:pPr algn="ctr" indent="0" marL="0">
              <a:lnSpc>
                <a:spcPts val="999"/>
              </a:lnSpc>
              <a:buNone/>
            </a:pPr>
            <a:r>
              <a:rPr lang="en-US" sz="620" dirty="0">
                <a:solidFill>
                  <a:srgbClr val="888888"/>
                </a:solidFill>
                <a:latin typeface="Yu Gothic" pitchFamily="34" charset="0"/>
                <a:ea typeface="Yu Gothic" pitchFamily="34" charset="-122"/>
                <a:cs typeface="Yu Gothic" pitchFamily="34" charset="-120"/>
              </a:rPr>
              <a:t>（投資）</a:t>
            </a:r>
            <a:endParaRPr lang="en-US" sz="740" dirty="0"/>
          </a:p>
        </p:txBody>
      </p:sp>
      <p:sp>
        <p:nvSpPr>
          <p:cNvPr id="40" name="Shape 33"/>
          <p:cNvSpPr/>
          <p:nvPr/>
        </p:nvSpPr>
        <p:spPr>
          <a:xfrm>
            <a:off x="6007100" y="7874000"/>
            <a:ext cx="0" cy="127000"/>
          </a:xfrm>
          <a:prstGeom prst="line">
            <a:avLst/>
          </a:prstGeom>
          <a:noFill/>
          <a:ln w="12700">
            <a:solidFill>
              <a:srgbClr val="888888"/>
            </a:solidFill>
            <a:prstDash val="solid"/>
          </a:ln>
        </p:spPr>
      </p:sp>
      <p:sp>
        <p:nvSpPr>
          <p:cNvPr id="41" name="t1_38"/>
          <p:cNvSpPr txBox="1"/>
          <p:nvPr/>
        </p:nvSpPr>
        <p:spPr>
          <a:xfrm>
            <a:off x="5054600" y="8001000"/>
            <a:ext cx="1905000" cy="3556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金属資源トレーディング本部</a:t>
            </a:r>
            <a:endParaRPr lang="en-US" sz="740" dirty="0"/>
          </a:p>
          <a:p>
            <a:pPr algn="ctr" indent="0" marL="0">
              <a:lnSpc>
                <a:spcPts val="999"/>
              </a:lnSpc>
              <a:buNone/>
            </a:pPr>
            <a:r>
              <a:rPr lang="en-US" sz="620" dirty="0">
                <a:solidFill>
                  <a:srgbClr val="888888"/>
                </a:solidFill>
                <a:latin typeface="Yu Gothic" pitchFamily="34" charset="0"/>
                <a:ea typeface="Yu Gothic" pitchFamily="34" charset="-122"/>
                <a:cs typeface="Yu Gothic" pitchFamily="34" charset="-120"/>
              </a:rPr>
              <a:t>（トレーディング）</a:t>
            </a:r>
            <a:endParaRPr lang="en-US" sz="740" dirty="0"/>
          </a:p>
        </p:txBody>
      </p:sp>
      <p:sp>
        <p:nvSpPr>
          <p:cNvPr id="42" name="t1_39"/>
          <p:cNvSpPr txBox="1"/>
          <p:nvPr/>
        </p:nvSpPr>
        <p:spPr>
          <a:xfrm>
            <a:off x="609600" y="8534400"/>
            <a:ext cx="614902"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444444"/>
                </a:solidFill>
                <a:latin typeface="Yu Gothic" pitchFamily="34" charset="0"/>
                <a:ea typeface="Yu Gothic" pitchFamily="34" charset="-122"/>
                <a:cs typeface="Yu Gothic" pitchFamily="34" charset="-120"/>
              </a:rPr>
              <a:t>主要関係会社</a:t>
            </a:r>
            <a:endParaRPr lang="en-US" sz="680" dirty="0"/>
          </a:p>
        </p:txBody>
      </p:sp>
      <p:sp>
        <p:nvSpPr>
          <p:cNvPr id="43" name="t1_40"/>
          <p:cNvSpPr txBox="1"/>
          <p:nvPr/>
        </p:nvSpPr>
        <p:spPr>
          <a:xfrm>
            <a:off x="609600" y="8712200"/>
            <a:ext cx="1193800" cy="431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MDP</a:t>
            </a:r>
            <a:endParaRPr lang="en-US" sz="740" dirty="0"/>
          </a:p>
          <a:p>
            <a:pPr algn="ctr" indent="0" marL="0">
              <a:lnSpc>
                <a:spcPts val="999"/>
              </a:lnSpc>
              <a:buNone/>
            </a:pPr>
            <a:r>
              <a:rPr lang="en-US" sz="580" dirty="0">
                <a:solidFill>
                  <a:srgbClr val="888888"/>
                </a:solidFill>
                <a:latin typeface="Yu Gothic" pitchFamily="34" charset="0"/>
                <a:ea typeface="Yu Gothic" pitchFamily="34" charset="-122"/>
                <a:cs typeface="Yu Gothic" pitchFamily="34" charset="-120"/>
              </a:rPr>
              <a:t>原料炭</a:t>
            </a:r>
            <a:endParaRPr lang="en-US" sz="740" dirty="0"/>
          </a:p>
        </p:txBody>
      </p:sp>
      <p:sp>
        <p:nvSpPr>
          <p:cNvPr id="44" name="t1_41"/>
          <p:cNvSpPr txBox="1"/>
          <p:nvPr/>
        </p:nvSpPr>
        <p:spPr>
          <a:xfrm>
            <a:off x="1879600" y="8712200"/>
            <a:ext cx="1193800" cy="431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MCI</a:t>
            </a:r>
            <a:endParaRPr lang="en-US" sz="740" dirty="0"/>
          </a:p>
          <a:p>
            <a:pPr algn="ctr" indent="0" marL="0">
              <a:lnSpc>
                <a:spcPts val="999"/>
              </a:lnSpc>
              <a:buNone/>
            </a:pPr>
            <a:r>
              <a:rPr lang="en-US" sz="580" dirty="0">
                <a:solidFill>
                  <a:srgbClr val="888888"/>
                </a:solidFill>
                <a:latin typeface="Yu Gothic" pitchFamily="34" charset="0"/>
                <a:ea typeface="Yu Gothic" pitchFamily="34" charset="-122"/>
                <a:cs typeface="Yu Gothic" pitchFamily="34" charset="-120"/>
              </a:rPr>
              <a:t>南米の銅・鉄鉱石</a:t>
            </a:r>
            <a:endParaRPr lang="en-US" sz="740" dirty="0"/>
          </a:p>
        </p:txBody>
      </p:sp>
      <p:sp>
        <p:nvSpPr>
          <p:cNvPr id="45" name="t1_42"/>
          <p:cNvSpPr txBox="1"/>
          <p:nvPr/>
        </p:nvSpPr>
        <p:spPr>
          <a:xfrm>
            <a:off x="3149600" y="8712200"/>
            <a:ext cx="1193800" cy="431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MCIP</a:t>
            </a:r>
            <a:endParaRPr lang="en-US" sz="740" dirty="0"/>
          </a:p>
          <a:p>
            <a:pPr algn="ctr" indent="0" marL="0">
              <a:lnSpc>
                <a:spcPts val="999"/>
              </a:lnSpc>
              <a:buNone/>
            </a:pPr>
            <a:r>
              <a:rPr lang="en-US" sz="580" dirty="0">
                <a:solidFill>
                  <a:srgbClr val="888888"/>
                </a:solidFill>
                <a:latin typeface="Yu Gothic" pitchFamily="34" charset="0"/>
                <a:ea typeface="Yu Gothic" pitchFamily="34" charset="-122"/>
                <a:cs typeface="Yu Gothic" pitchFamily="34" charset="-120"/>
              </a:rPr>
              <a:t>ペルーの銅</a:t>
            </a:r>
            <a:endParaRPr lang="en-US" sz="740" dirty="0"/>
          </a:p>
        </p:txBody>
      </p:sp>
      <p:sp>
        <p:nvSpPr>
          <p:cNvPr id="46" name="t1_43"/>
          <p:cNvSpPr txBox="1"/>
          <p:nvPr/>
        </p:nvSpPr>
        <p:spPr>
          <a:xfrm>
            <a:off x="4419600" y="8712200"/>
            <a:ext cx="1193800" cy="431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80" dirty="0">
                <a:solidFill>
                  <a:srgbClr val="888888"/>
                </a:solidFill>
                <a:latin typeface="Yu Gothic" pitchFamily="34" charset="0"/>
                <a:ea typeface="Yu Gothic" pitchFamily="34" charset="-122"/>
                <a:cs typeface="Yu Gothic" pitchFamily="34" charset="-120"/>
              </a:rPr>
              <a:t>トレーディング</a:t>
            </a:r>
            <a:endParaRPr lang="en-US" sz="740" dirty="0"/>
          </a:p>
        </p:txBody>
      </p:sp>
      <p:sp>
        <p:nvSpPr>
          <p:cNvPr id="47" name="t1_44"/>
          <p:cNvSpPr txBox="1"/>
          <p:nvPr/>
        </p:nvSpPr>
        <p:spPr>
          <a:xfrm>
            <a:off x="5689600" y="8712200"/>
            <a:ext cx="1193800" cy="431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Triland Metals</a:t>
            </a:r>
            <a:endParaRPr lang="en-US" sz="740" dirty="0"/>
          </a:p>
          <a:p>
            <a:pPr algn="ctr" indent="0" marL="0">
              <a:lnSpc>
                <a:spcPts val="999"/>
              </a:lnSpc>
              <a:buNone/>
            </a:pPr>
            <a:r>
              <a:rPr lang="en-US" sz="580" dirty="0">
                <a:solidFill>
                  <a:srgbClr val="888888"/>
                </a:solidFill>
                <a:latin typeface="Yu Gothic" pitchFamily="34" charset="0"/>
                <a:ea typeface="Yu Gothic" pitchFamily="34" charset="-122"/>
                <a:cs typeface="Yu Gothic" pitchFamily="34" charset="-120"/>
              </a:rPr>
              <a:t>金属取引（ブローカー・ヘッジ）</a:t>
            </a:r>
            <a:endParaRPr lang="en-US" sz="740" dirty="0"/>
          </a:p>
        </p:txBody>
      </p:sp>
      <p:sp>
        <p:nvSpPr>
          <p:cNvPr id="48" name="t1_45"/>
          <p:cNvSpPr txBox="1"/>
          <p:nvPr/>
        </p:nvSpPr>
        <p:spPr>
          <a:xfrm>
            <a:off x="609600" y="9245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※本部長名などの個人名は記載しない。PwC資料の分類どおり「位置付け・役割」の中で示す（組織図＝役割の具体化）</a:t>
            </a:r>
            <a:endParaRPr lang="en-US" sz="620" dirty="0"/>
          </a:p>
        </p:txBody>
      </p:sp>
      <p:sp>
        <p:nvSpPr>
          <p:cNvPr id="49" name="t1_46"/>
          <p:cNvSpPr txBox="1"/>
          <p:nvPr/>
        </p:nvSpPr>
        <p:spPr>
          <a:xfrm>
            <a:off x="8166100" y="431800"/>
            <a:ext cx="1506030"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第1章　WHO｜我々は何者か</a:t>
            </a:r>
            <a:endParaRPr lang="en-US" sz="740" dirty="0"/>
          </a:p>
        </p:txBody>
      </p:sp>
      <p:sp>
        <p:nvSpPr>
          <p:cNvPr id="50" name="t1_47"/>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読み手の心理：理解</a:t>
            </a:r>
            <a:endParaRPr lang="en-US" sz="660" dirty="0"/>
          </a:p>
        </p:txBody>
      </p:sp>
      <p:sp>
        <p:nvSpPr>
          <p:cNvPr id="51" name="t1_48"/>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金属資源グループの事業と機能の変遷</a:t>
            </a:r>
            <a:endParaRPr lang="en-US" sz="1800" dirty="0"/>
          </a:p>
        </p:txBody>
      </p:sp>
      <p:sp>
        <p:nvSpPr>
          <p:cNvPr id="52" name="t1_49"/>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時代の変化を先読みし、事業モデルを変革してきた歩み</a:t>
            </a:r>
            <a:endParaRPr lang="en-US" sz="1000" dirty="0"/>
          </a:p>
        </p:txBody>
      </p:sp>
      <p:sp>
        <p:nvSpPr>
          <p:cNvPr id="53" name="t1_50"/>
          <p:cNvSpPr txBox="1"/>
          <p:nvPr/>
        </p:nvSpPr>
        <p:spPr>
          <a:xfrm>
            <a:off x="12357100" y="838200"/>
            <a:ext cx="563364" cy="139700"/>
          </a:xfrm>
          <a:prstGeom prst="rect">
            <a:avLst/>
          </a:prstGeom>
          <a:solidFill>
            <a:srgbClr val="2A6FB0"/>
          </a:solidFill>
          <a:ln/>
        </p:spPr>
        <p:txBody>
          <a:bodyPr wrap="none" lIns="25400" tIns="38100" rIns="38100" bIns="25400" rtlCol="0" anchor="t"/>
          <a:lstStyle/>
          <a:p>
            <a:pPr algn="l" indent="0" marL="0">
              <a:lnSpc>
                <a:spcPts val="806"/>
              </a:lnSpc>
              <a:buNone/>
            </a:pPr>
            <a:r>
              <a:rPr lang="en-US" sz="620" spc="30" kern="0" dirty="0">
                <a:solidFill>
                  <a:srgbClr val="FFFFFF"/>
                </a:solidFill>
                <a:latin typeface="Yu Gothic" pitchFamily="34" charset="0"/>
                <a:ea typeface="Yu Gothic" pitchFamily="34" charset="-122"/>
                <a:cs typeface="Yu Gothic" pitchFamily="34" charset="-120"/>
              </a:rPr>
              <a:t>改善② 拡大</a:t>
            </a:r>
            <a:endParaRPr lang="en-US" sz="620" dirty="0"/>
          </a:p>
        </p:txBody>
      </p:sp>
      <p:sp>
        <p:nvSpPr>
          <p:cNvPr id="54" name="t1_51"/>
          <p:cNvSpPr txBox="1"/>
          <p:nvPr/>
        </p:nvSpPr>
        <p:spPr>
          <a:xfrm>
            <a:off x="8166100" y="13716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55" name="t1_52"/>
          <p:cNvSpPr txBox="1"/>
          <p:nvPr/>
        </p:nvSpPr>
        <p:spPr>
          <a:xfrm>
            <a:off x="8166100" y="15575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pic>
        <p:nvPicPr>
          <p:cNvPr id="56" name="Image 4" descr="preencoded.png">    </p:cNvPr>
          <p:cNvPicPr>
            <a:picLocks noChangeAspect="1"/>
          </p:cNvPicPr>
          <p:nvPr/>
        </p:nvPicPr>
        <p:blipFill>
          <a:blip r:embed="rId5"/>
          <a:stretch>
            <a:fillRect/>
          </a:stretch>
        </p:blipFill>
        <p:spPr>
          <a:xfrm>
            <a:off x="8166100" y="1879600"/>
            <a:ext cx="3327400" cy="2501900"/>
          </a:xfrm>
          <a:prstGeom prst="rect">
            <a:avLst/>
          </a:prstGeom>
        </p:spPr>
      </p:pic>
      <p:sp>
        <p:nvSpPr>
          <p:cNvPr id="57" name="Shape 49"/>
          <p:cNvSpPr/>
          <p:nvPr/>
        </p:nvSpPr>
        <p:spPr>
          <a:xfrm>
            <a:off x="8166100" y="1879600"/>
            <a:ext cx="3327400" cy="2501900"/>
          </a:xfrm>
          <a:prstGeom prst="rect">
            <a:avLst/>
          </a:prstGeom>
          <a:noFill/>
          <a:ln w="12700">
            <a:solidFill>
              <a:srgbClr val="C9CDD1"/>
            </a:solidFill>
            <a:prstDash val="solid"/>
          </a:ln>
        </p:spPr>
      </p:sp>
      <p:sp>
        <p:nvSpPr>
          <p:cNvPr id="58" name="t1_55"/>
          <p:cNvSpPr txBox="1"/>
          <p:nvPr/>
        </p:nvSpPr>
        <p:spPr>
          <a:xfrm>
            <a:off x="8166100" y="4419600"/>
            <a:ext cx="3473196" cy="114300"/>
          </a:xfrm>
          <a:prstGeom prst="rect">
            <a:avLst/>
          </a:prstGeom>
          <a:noFill/>
          <a:ln/>
        </p:spPr>
        <p:txBody>
          <a:bodyPr wrap="none" lIns="0" tIns="0" rIns="0" bIns="0" rtlCol="0" anchor="t"/>
          <a:lstStyle/>
          <a:p>
            <a:pPr algn="l" indent="0" marL="0">
              <a:lnSpc>
                <a:spcPts val="806"/>
              </a:lnSpc>
              <a:buNone/>
            </a:pPr>
            <a:r>
              <a:rPr lang="en-US" sz="620" spc="80" kern="0" dirty="0">
                <a:solidFill>
                  <a:srgbClr val="666666"/>
                </a:solidFill>
                <a:latin typeface="Yu Gothic" pitchFamily="34" charset="0"/>
                <a:ea typeface="Yu Gothic" pitchFamily="34" charset="-122"/>
                <a:cs typeface="Yu Gothic" pitchFamily="34" charset="-120"/>
              </a:rPr>
              <a:t>現状の図：主要金属資源権益の参画経緯（金属資源G_P30）</a:t>
            </a:r>
            <a:endParaRPr lang="en-US" sz="620" dirty="0"/>
          </a:p>
        </p:txBody>
      </p:sp>
      <p:sp>
        <p:nvSpPr>
          <p:cNvPr id="59" name="Shape 51"/>
          <p:cNvSpPr/>
          <p:nvPr/>
        </p:nvSpPr>
        <p:spPr>
          <a:xfrm>
            <a:off x="11772900" y="1905000"/>
            <a:ext cx="0" cy="2438400"/>
          </a:xfrm>
          <a:prstGeom prst="line">
            <a:avLst/>
          </a:prstGeom>
          <a:noFill/>
          <a:ln w="12700">
            <a:solidFill>
              <a:srgbClr val="888888"/>
            </a:solidFill>
            <a:prstDash val="solid"/>
          </a:ln>
        </p:spPr>
      </p:sp>
      <p:sp>
        <p:nvSpPr>
          <p:cNvPr id="60" name="Shape 52"/>
          <p:cNvSpPr/>
          <p:nvPr/>
        </p:nvSpPr>
        <p:spPr>
          <a:xfrm>
            <a:off x="11722100" y="1930400"/>
            <a:ext cx="101600" cy="101600"/>
          </a:xfrm>
          <a:prstGeom prst="ellipse">
            <a:avLst/>
          </a:prstGeom>
          <a:solidFill>
            <a:srgbClr val="888888"/>
          </a:solidFill>
          <a:ln/>
        </p:spPr>
      </p:sp>
      <p:sp>
        <p:nvSpPr>
          <p:cNvPr id="61" name="t1_58"/>
          <p:cNvSpPr txBox="1"/>
          <p:nvPr/>
        </p:nvSpPr>
        <p:spPr>
          <a:xfrm>
            <a:off x="11899900" y="1905000"/>
            <a:ext cx="2654300"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1980年代〜</a:t>
            </a:r>
            <a:endParaRPr lang="en-US" sz="840" dirty="0"/>
          </a:p>
        </p:txBody>
      </p:sp>
      <p:sp>
        <p:nvSpPr>
          <p:cNvPr id="62" name="t1_59"/>
          <p:cNvSpPr txBox="1"/>
          <p:nvPr/>
        </p:nvSpPr>
        <p:spPr>
          <a:xfrm>
            <a:off x="11899900" y="2057400"/>
            <a:ext cx="2720340" cy="120904"/>
          </a:xfrm>
          <a:prstGeom prst="rect">
            <a:avLst/>
          </a:prstGeom>
          <a:noFill/>
          <a:ln/>
        </p:spPr>
        <p:txBody>
          <a:bodyPr wrap="none" lIns="0" tIns="0" rIns="0" bIns="0" rtlCol="0" anchor="t"/>
          <a:lstStyle/>
          <a:p>
            <a:pPr algn="l" indent="0" marL="0">
              <a:lnSpc>
                <a:spcPts val="952"/>
              </a:lnSpc>
              <a:buNone/>
            </a:pPr>
            <a:r>
              <a:rPr lang="en-US" sz="680" dirty="0">
                <a:solidFill>
                  <a:srgbClr val="444444"/>
                </a:solidFill>
                <a:latin typeface="Yu Gothic" pitchFamily="34" charset="0"/>
                <a:ea typeface="Yu Gothic" pitchFamily="34" charset="-122"/>
                <a:cs typeface="Yu Gothic" pitchFamily="34" charset="-120"/>
              </a:rPr>
              <a:t>日本の需要を捉え、資源を日本へ運ぶトレーディングに参入</a:t>
            </a:r>
            <a:endParaRPr lang="en-US" sz="680" dirty="0"/>
          </a:p>
        </p:txBody>
      </p:sp>
      <p:sp>
        <p:nvSpPr>
          <p:cNvPr id="63" name="t1_60"/>
          <p:cNvSpPr txBox="1"/>
          <p:nvPr/>
        </p:nvSpPr>
        <p:spPr>
          <a:xfrm>
            <a:off x="11899900" y="2209800"/>
            <a:ext cx="2720340" cy="106680"/>
          </a:xfrm>
          <a:prstGeom prst="rect">
            <a:avLst/>
          </a:prstGeom>
          <a:noFill/>
          <a:ln/>
        </p:spPr>
        <p:txBody>
          <a:bodyPr wrap="none" lIns="0" tIns="0" rIns="0" bIns="0" rtlCol="0" anchor="t"/>
          <a:lstStyle/>
          <a:p>
            <a:pPr algn="l" indent="0" marL="0">
              <a:lnSpc>
                <a:spcPts val="840"/>
              </a:lnSpc>
              <a:buNone/>
            </a:pPr>
            <a:r>
              <a:rPr lang="en-US" sz="600" dirty="0">
                <a:solidFill>
                  <a:srgbClr val="9AA0A6"/>
                </a:solidFill>
                <a:latin typeface="Yu Gothic" pitchFamily="34" charset="0"/>
                <a:ea typeface="Yu Gothic" pitchFamily="34" charset="-122"/>
                <a:cs typeface="Yu Gothic" pitchFamily="34" charset="-120"/>
              </a:rPr>
              <a:t>ＸＸＸＸＸＸＸＸＸＸＸＸＸＸＸＸＸＸＸＸＸＸＸＸＸＸ</a:t>
            </a:r>
            <a:endParaRPr lang="en-US" sz="600" dirty="0"/>
          </a:p>
        </p:txBody>
      </p:sp>
      <p:sp>
        <p:nvSpPr>
          <p:cNvPr id="64" name="Shape 56"/>
          <p:cNvSpPr/>
          <p:nvPr/>
        </p:nvSpPr>
        <p:spPr>
          <a:xfrm>
            <a:off x="11722100" y="2438400"/>
            <a:ext cx="101600" cy="101600"/>
          </a:xfrm>
          <a:prstGeom prst="ellipse">
            <a:avLst/>
          </a:prstGeom>
          <a:solidFill>
            <a:srgbClr val="888888"/>
          </a:solidFill>
          <a:ln/>
        </p:spPr>
      </p:sp>
      <p:sp>
        <p:nvSpPr>
          <p:cNvPr id="65" name="t1_62"/>
          <p:cNvSpPr txBox="1"/>
          <p:nvPr/>
        </p:nvSpPr>
        <p:spPr>
          <a:xfrm>
            <a:off x="11899900" y="2413000"/>
            <a:ext cx="2654300"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〜2000年頃</a:t>
            </a:r>
            <a:endParaRPr lang="en-US" sz="840" dirty="0"/>
          </a:p>
        </p:txBody>
      </p:sp>
      <p:sp>
        <p:nvSpPr>
          <p:cNvPr id="66" name="t1_63"/>
          <p:cNvSpPr txBox="1"/>
          <p:nvPr/>
        </p:nvSpPr>
        <p:spPr>
          <a:xfrm>
            <a:off x="11899900" y="2565400"/>
            <a:ext cx="2720340" cy="120904"/>
          </a:xfrm>
          <a:prstGeom prst="rect">
            <a:avLst/>
          </a:prstGeom>
          <a:noFill/>
          <a:ln/>
        </p:spPr>
        <p:txBody>
          <a:bodyPr wrap="none" lIns="0" tIns="0" rIns="0" bIns="0" rtlCol="0" anchor="t"/>
          <a:lstStyle/>
          <a:p>
            <a:pPr algn="l" indent="0" marL="0">
              <a:lnSpc>
                <a:spcPts val="952"/>
              </a:lnSpc>
              <a:buNone/>
            </a:pPr>
            <a:r>
              <a:rPr lang="en-US" sz="680" dirty="0">
                <a:solidFill>
                  <a:srgbClr val="444444"/>
                </a:solidFill>
                <a:latin typeface="Yu Gothic" pitchFamily="34" charset="0"/>
                <a:ea typeface="Yu Gothic" pitchFamily="34" charset="-122"/>
                <a:cs typeface="Yu Gothic" pitchFamily="34" charset="-120"/>
              </a:rPr>
              <a:t>少数株主として資源権益に出資</a:t>
            </a:r>
            <a:endParaRPr lang="en-US" sz="680" dirty="0"/>
          </a:p>
        </p:txBody>
      </p:sp>
      <p:sp>
        <p:nvSpPr>
          <p:cNvPr id="67" name="t1_64"/>
          <p:cNvSpPr txBox="1"/>
          <p:nvPr/>
        </p:nvSpPr>
        <p:spPr>
          <a:xfrm>
            <a:off x="11899900" y="2717800"/>
            <a:ext cx="2720340" cy="106680"/>
          </a:xfrm>
          <a:prstGeom prst="rect">
            <a:avLst/>
          </a:prstGeom>
          <a:noFill/>
          <a:ln/>
        </p:spPr>
        <p:txBody>
          <a:bodyPr wrap="none" lIns="0" tIns="0" rIns="0" bIns="0" rtlCol="0" anchor="t"/>
          <a:lstStyle/>
          <a:p>
            <a:pPr algn="l" indent="0" marL="0">
              <a:lnSpc>
                <a:spcPts val="840"/>
              </a:lnSpc>
              <a:buNone/>
            </a:pPr>
            <a:r>
              <a:rPr lang="en-US" sz="600" dirty="0">
                <a:solidFill>
                  <a:srgbClr val="9AA0A6"/>
                </a:solidFill>
                <a:latin typeface="Yu Gothic" pitchFamily="34" charset="0"/>
                <a:ea typeface="Yu Gothic" pitchFamily="34" charset="-122"/>
                <a:cs typeface="Yu Gothic" pitchFamily="34" charset="-120"/>
              </a:rPr>
              <a:t>ＸＸＸＸＸＸＸＸＸＸＸＸＸＸＸＸＸＸＸＸＸＸＸＸＸＸ</a:t>
            </a:r>
            <a:endParaRPr lang="en-US" sz="600" dirty="0"/>
          </a:p>
        </p:txBody>
      </p:sp>
      <p:sp>
        <p:nvSpPr>
          <p:cNvPr id="68" name="Shape 60"/>
          <p:cNvSpPr/>
          <p:nvPr/>
        </p:nvSpPr>
        <p:spPr>
          <a:xfrm>
            <a:off x="11722100" y="2946400"/>
            <a:ext cx="101600" cy="101600"/>
          </a:xfrm>
          <a:prstGeom prst="ellipse">
            <a:avLst/>
          </a:prstGeom>
          <a:solidFill>
            <a:srgbClr val="888888"/>
          </a:solidFill>
          <a:ln/>
        </p:spPr>
      </p:sp>
      <p:sp>
        <p:nvSpPr>
          <p:cNvPr id="69" name="t1_66"/>
          <p:cNvSpPr txBox="1"/>
          <p:nvPr/>
        </p:nvSpPr>
        <p:spPr>
          <a:xfrm>
            <a:off x="11899900" y="2921000"/>
            <a:ext cx="2654300"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2000年〜</a:t>
            </a:r>
            <a:endParaRPr lang="en-US" sz="840" dirty="0"/>
          </a:p>
        </p:txBody>
      </p:sp>
      <p:sp>
        <p:nvSpPr>
          <p:cNvPr id="70" name="t1_67"/>
          <p:cNvSpPr txBox="1"/>
          <p:nvPr/>
        </p:nvSpPr>
        <p:spPr>
          <a:xfrm>
            <a:off x="11899900" y="3073400"/>
            <a:ext cx="2720340" cy="120904"/>
          </a:xfrm>
          <a:prstGeom prst="rect">
            <a:avLst/>
          </a:prstGeom>
          <a:noFill/>
          <a:ln/>
        </p:spPr>
        <p:txBody>
          <a:bodyPr wrap="none" lIns="0" tIns="0" rIns="0" bIns="0" rtlCol="0" anchor="t"/>
          <a:lstStyle/>
          <a:p>
            <a:pPr algn="l" indent="0" marL="0">
              <a:lnSpc>
                <a:spcPts val="952"/>
              </a:lnSpc>
              <a:buNone/>
            </a:pPr>
            <a:r>
              <a:rPr lang="en-US" sz="680" dirty="0">
                <a:solidFill>
                  <a:srgbClr val="444444"/>
                </a:solidFill>
                <a:latin typeface="Yu Gothic" pitchFamily="34" charset="0"/>
                <a:ea typeface="Yu Gothic" pitchFamily="34" charset="-122"/>
                <a:cs typeface="Yu Gothic" pitchFamily="34" charset="-120"/>
              </a:rPr>
              <a:t>大型案件に参画し、BHPと50:50のJV運営へ</a:t>
            </a:r>
            <a:endParaRPr lang="en-US" sz="680" dirty="0"/>
          </a:p>
        </p:txBody>
      </p:sp>
      <p:sp>
        <p:nvSpPr>
          <p:cNvPr id="71" name="t1_68"/>
          <p:cNvSpPr txBox="1"/>
          <p:nvPr/>
        </p:nvSpPr>
        <p:spPr>
          <a:xfrm>
            <a:off x="11899900" y="3225800"/>
            <a:ext cx="2720340" cy="106680"/>
          </a:xfrm>
          <a:prstGeom prst="rect">
            <a:avLst/>
          </a:prstGeom>
          <a:noFill/>
          <a:ln/>
        </p:spPr>
        <p:txBody>
          <a:bodyPr wrap="none" lIns="0" tIns="0" rIns="0" bIns="0" rtlCol="0" anchor="t"/>
          <a:lstStyle/>
          <a:p>
            <a:pPr algn="l" indent="0" marL="0">
              <a:lnSpc>
                <a:spcPts val="840"/>
              </a:lnSpc>
              <a:buNone/>
            </a:pPr>
            <a:r>
              <a:rPr lang="en-US" sz="600" dirty="0">
                <a:solidFill>
                  <a:srgbClr val="9AA0A6"/>
                </a:solidFill>
                <a:latin typeface="Yu Gothic" pitchFamily="34" charset="0"/>
                <a:ea typeface="Yu Gothic" pitchFamily="34" charset="-122"/>
                <a:cs typeface="Yu Gothic" pitchFamily="34" charset="-120"/>
              </a:rPr>
              <a:t>ＸＸＸＸＸＸＸＸＸＸＸＸＸＸＸＸＸＸＸＸＸＸＸＸＸＸ</a:t>
            </a:r>
            <a:endParaRPr lang="en-US" sz="600" dirty="0"/>
          </a:p>
        </p:txBody>
      </p:sp>
      <p:sp>
        <p:nvSpPr>
          <p:cNvPr id="72" name="Shape 64"/>
          <p:cNvSpPr/>
          <p:nvPr/>
        </p:nvSpPr>
        <p:spPr>
          <a:xfrm>
            <a:off x="11722100" y="3454400"/>
            <a:ext cx="101600" cy="101600"/>
          </a:xfrm>
          <a:prstGeom prst="ellipse">
            <a:avLst/>
          </a:prstGeom>
          <a:solidFill>
            <a:srgbClr val="888888"/>
          </a:solidFill>
          <a:ln/>
        </p:spPr>
      </p:sp>
      <p:sp>
        <p:nvSpPr>
          <p:cNvPr id="73" name="t1_70"/>
          <p:cNvSpPr txBox="1"/>
          <p:nvPr/>
        </p:nvSpPr>
        <p:spPr>
          <a:xfrm>
            <a:off x="11899900" y="3429000"/>
            <a:ext cx="2654300"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2010年代〜</a:t>
            </a:r>
            <a:endParaRPr lang="en-US" sz="840" dirty="0"/>
          </a:p>
        </p:txBody>
      </p:sp>
      <p:sp>
        <p:nvSpPr>
          <p:cNvPr id="74" name="t1_71"/>
          <p:cNvSpPr txBox="1"/>
          <p:nvPr/>
        </p:nvSpPr>
        <p:spPr>
          <a:xfrm>
            <a:off x="11899900" y="3581400"/>
            <a:ext cx="2720340" cy="120904"/>
          </a:xfrm>
          <a:prstGeom prst="rect">
            <a:avLst/>
          </a:prstGeom>
          <a:noFill/>
          <a:ln/>
        </p:spPr>
        <p:txBody>
          <a:bodyPr wrap="none" lIns="0" tIns="0" rIns="0" bIns="0" rtlCol="0" anchor="t"/>
          <a:lstStyle/>
          <a:p>
            <a:pPr algn="l" indent="0" marL="0">
              <a:lnSpc>
                <a:spcPts val="952"/>
              </a:lnSpc>
              <a:buNone/>
            </a:pPr>
            <a:r>
              <a:rPr lang="en-US" sz="680" dirty="0">
                <a:solidFill>
                  <a:srgbClr val="444444"/>
                </a:solidFill>
                <a:latin typeface="Yu Gothic" pitchFamily="34" charset="0"/>
                <a:ea typeface="Yu Gothic" pitchFamily="34" charset="-122"/>
                <a:cs typeface="Yu Gothic" pitchFamily="34" charset="-120"/>
              </a:rPr>
              <a:t>銅の権益を拡大。マーケティングをRtM（シンガポール）に集約</a:t>
            </a:r>
            <a:endParaRPr lang="en-US" sz="680" dirty="0"/>
          </a:p>
        </p:txBody>
      </p:sp>
      <p:sp>
        <p:nvSpPr>
          <p:cNvPr id="75" name="t1_72"/>
          <p:cNvSpPr txBox="1"/>
          <p:nvPr/>
        </p:nvSpPr>
        <p:spPr>
          <a:xfrm>
            <a:off x="11899900" y="3733800"/>
            <a:ext cx="2720340" cy="106680"/>
          </a:xfrm>
          <a:prstGeom prst="rect">
            <a:avLst/>
          </a:prstGeom>
          <a:noFill/>
          <a:ln/>
        </p:spPr>
        <p:txBody>
          <a:bodyPr wrap="none" lIns="0" tIns="0" rIns="0" bIns="0" rtlCol="0" anchor="t"/>
          <a:lstStyle/>
          <a:p>
            <a:pPr algn="l" indent="0" marL="0">
              <a:lnSpc>
                <a:spcPts val="840"/>
              </a:lnSpc>
              <a:buNone/>
            </a:pPr>
            <a:r>
              <a:rPr lang="en-US" sz="600" dirty="0">
                <a:solidFill>
                  <a:srgbClr val="9AA0A6"/>
                </a:solidFill>
                <a:latin typeface="Yu Gothic" pitchFamily="34" charset="0"/>
                <a:ea typeface="Yu Gothic" pitchFamily="34" charset="-122"/>
                <a:cs typeface="Yu Gothic" pitchFamily="34" charset="-120"/>
              </a:rPr>
              <a:t>ＸＸＸＸＸＸＸＸＸＸＸＸＸＸＸＸＸＸＸＸＸＸＸＸＸＸ</a:t>
            </a:r>
            <a:endParaRPr lang="en-US" sz="600" dirty="0"/>
          </a:p>
        </p:txBody>
      </p:sp>
      <p:sp>
        <p:nvSpPr>
          <p:cNvPr id="76" name="Shape 68"/>
          <p:cNvSpPr/>
          <p:nvPr/>
        </p:nvSpPr>
        <p:spPr>
          <a:xfrm>
            <a:off x="11722100" y="3962400"/>
            <a:ext cx="101600" cy="101600"/>
          </a:xfrm>
          <a:prstGeom prst="ellipse">
            <a:avLst/>
          </a:prstGeom>
          <a:solidFill>
            <a:srgbClr val="888888"/>
          </a:solidFill>
          <a:ln/>
        </p:spPr>
      </p:sp>
      <p:sp>
        <p:nvSpPr>
          <p:cNvPr id="77" name="t1_74"/>
          <p:cNvSpPr txBox="1"/>
          <p:nvPr/>
        </p:nvSpPr>
        <p:spPr>
          <a:xfrm>
            <a:off x="11899900" y="3937000"/>
            <a:ext cx="2654300"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現在</a:t>
            </a:r>
            <a:endParaRPr lang="en-US" sz="840" dirty="0"/>
          </a:p>
        </p:txBody>
      </p:sp>
      <p:sp>
        <p:nvSpPr>
          <p:cNvPr id="78" name="t1_75"/>
          <p:cNvSpPr txBox="1"/>
          <p:nvPr/>
        </p:nvSpPr>
        <p:spPr>
          <a:xfrm>
            <a:off x="11899900" y="4089400"/>
            <a:ext cx="2720340" cy="120904"/>
          </a:xfrm>
          <a:prstGeom prst="rect">
            <a:avLst/>
          </a:prstGeom>
          <a:noFill/>
          <a:ln/>
        </p:spPr>
        <p:txBody>
          <a:bodyPr wrap="none" lIns="0" tIns="0" rIns="0" bIns="0" rtlCol="0" anchor="t"/>
          <a:lstStyle/>
          <a:p>
            <a:pPr algn="l" indent="0" marL="0">
              <a:lnSpc>
                <a:spcPts val="952"/>
              </a:lnSpc>
              <a:buNone/>
            </a:pPr>
            <a:r>
              <a:rPr lang="en-US" sz="680" dirty="0">
                <a:solidFill>
                  <a:srgbClr val="444444"/>
                </a:solidFill>
                <a:latin typeface="Yu Gothic" pitchFamily="34" charset="0"/>
                <a:ea typeface="Yu Gothic" pitchFamily="34" charset="-122"/>
                <a:cs typeface="Yu Gothic" pitchFamily="34" charset="-120"/>
              </a:rPr>
              <a:t>〇〇（現在の姿を記載）</a:t>
            </a:r>
            <a:endParaRPr lang="en-US" sz="680" dirty="0"/>
          </a:p>
        </p:txBody>
      </p:sp>
      <p:sp>
        <p:nvSpPr>
          <p:cNvPr id="79" name="t1_76"/>
          <p:cNvSpPr txBox="1"/>
          <p:nvPr/>
        </p:nvSpPr>
        <p:spPr>
          <a:xfrm>
            <a:off x="11899900" y="4241800"/>
            <a:ext cx="2720340" cy="106680"/>
          </a:xfrm>
          <a:prstGeom prst="rect">
            <a:avLst/>
          </a:prstGeom>
          <a:noFill/>
          <a:ln/>
        </p:spPr>
        <p:txBody>
          <a:bodyPr wrap="none" lIns="0" tIns="0" rIns="0" bIns="0" rtlCol="0" anchor="t"/>
          <a:lstStyle/>
          <a:p>
            <a:pPr algn="l" indent="0" marL="0">
              <a:lnSpc>
                <a:spcPts val="840"/>
              </a:lnSpc>
              <a:buNone/>
            </a:pPr>
            <a:r>
              <a:rPr lang="en-US" sz="600" dirty="0">
                <a:solidFill>
                  <a:srgbClr val="9AA0A6"/>
                </a:solidFill>
                <a:latin typeface="Yu Gothic" pitchFamily="34" charset="0"/>
                <a:ea typeface="Yu Gothic" pitchFamily="34" charset="-122"/>
                <a:cs typeface="Yu Gothic" pitchFamily="34" charset="-120"/>
              </a:rPr>
              <a:t>ＸＸＸＸＸＸＸＸＸＸＸＸＸＸＸＸＸＸＸＸＸＸＸＸＸＸ</a:t>
            </a:r>
            <a:endParaRPr lang="en-US" sz="600" dirty="0"/>
          </a:p>
        </p:txBody>
      </p:sp>
      <p:sp>
        <p:nvSpPr>
          <p:cNvPr id="80" name="t1_77"/>
          <p:cNvSpPr txBox="1"/>
          <p:nvPr/>
        </p:nvSpPr>
        <p:spPr>
          <a:xfrm>
            <a:off x="8166100" y="45974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※案件の詳細には立ち入らず、一級資産への早期参画を「幸運ではなく、熟慮の上で先手を打った結果＝先見性」として前向きに表現。図は現状の図を仮置き（デザイン未確定）</a:t>
            </a:r>
            <a:endParaRPr lang="en-US" sz="620" dirty="0"/>
          </a:p>
        </p:txBody>
      </p:sp>
      <p:sp>
        <p:nvSpPr>
          <p:cNvPr id="81" name="Shape 73"/>
          <p:cNvSpPr/>
          <p:nvPr/>
        </p:nvSpPr>
        <p:spPr>
          <a:xfrm>
            <a:off x="8166100" y="4978400"/>
            <a:ext cx="6337300" cy="0"/>
          </a:xfrm>
          <a:prstGeom prst="line">
            <a:avLst/>
          </a:prstGeom>
          <a:noFill/>
          <a:ln w="12700">
            <a:solidFill>
              <a:srgbClr val="CFD2D5"/>
            </a:solidFill>
            <a:prstDash val="solid"/>
          </a:ln>
        </p:spPr>
      </p:sp>
      <p:sp>
        <p:nvSpPr>
          <p:cNvPr id="82" name="t1_79"/>
          <p:cNvSpPr txBox="1"/>
          <p:nvPr/>
        </p:nvSpPr>
        <p:spPr>
          <a:xfrm>
            <a:off x="8166100" y="51308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バリューチェーン全体像</a:t>
            </a:r>
            <a:endParaRPr lang="en-US" sz="1800" dirty="0"/>
          </a:p>
        </p:txBody>
      </p:sp>
      <p:sp>
        <p:nvSpPr>
          <p:cNvPr id="83" name="t1_80"/>
          <p:cNvSpPr txBox="1"/>
          <p:nvPr/>
        </p:nvSpPr>
        <p:spPr>
          <a:xfrm>
            <a:off x="8166100" y="54864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投資と販売の両輪で、川上から川下までに関わる</a:t>
            </a:r>
            <a:endParaRPr lang="en-US" sz="1000" dirty="0"/>
          </a:p>
        </p:txBody>
      </p:sp>
      <p:pic>
        <p:nvPicPr>
          <p:cNvPr id="84" name="Image 5" descr="preencoded.png">    </p:cNvPr>
          <p:cNvPicPr>
            <a:picLocks noChangeAspect="1"/>
          </p:cNvPicPr>
          <p:nvPr/>
        </p:nvPicPr>
        <p:blipFill>
          <a:blip r:embed="rId6"/>
          <a:stretch>
            <a:fillRect/>
          </a:stretch>
        </p:blipFill>
        <p:spPr>
          <a:xfrm>
            <a:off x="8166100" y="5740400"/>
            <a:ext cx="3327400" cy="2501900"/>
          </a:xfrm>
          <a:prstGeom prst="rect">
            <a:avLst/>
          </a:prstGeom>
        </p:spPr>
      </p:pic>
      <p:sp>
        <p:nvSpPr>
          <p:cNvPr id="85" name="Shape 76"/>
          <p:cNvSpPr/>
          <p:nvPr/>
        </p:nvSpPr>
        <p:spPr>
          <a:xfrm>
            <a:off x="8166100" y="5740400"/>
            <a:ext cx="3327400" cy="2501900"/>
          </a:xfrm>
          <a:prstGeom prst="rect">
            <a:avLst/>
          </a:prstGeom>
          <a:noFill/>
          <a:ln w="12700">
            <a:solidFill>
              <a:srgbClr val="C9CDD1"/>
            </a:solidFill>
            <a:prstDash val="solid"/>
          </a:ln>
        </p:spPr>
      </p:sp>
      <p:sp>
        <p:nvSpPr>
          <p:cNvPr id="86" name="t1_83"/>
          <p:cNvSpPr txBox="1"/>
          <p:nvPr/>
        </p:nvSpPr>
        <p:spPr>
          <a:xfrm>
            <a:off x="8166100" y="8280400"/>
            <a:ext cx="3473196" cy="114300"/>
          </a:xfrm>
          <a:prstGeom prst="rect">
            <a:avLst/>
          </a:prstGeom>
          <a:noFill/>
          <a:ln/>
        </p:spPr>
        <p:txBody>
          <a:bodyPr wrap="none" lIns="0" tIns="0" rIns="0" bIns="0" rtlCol="0" anchor="t"/>
          <a:lstStyle/>
          <a:p>
            <a:pPr algn="l" indent="0" marL="0">
              <a:lnSpc>
                <a:spcPts val="806"/>
              </a:lnSpc>
              <a:buNone/>
            </a:pPr>
            <a:r>
              <a:rPr lang="en-US" sz="620" spc="80" kern="0" dirty="0">
                <a:solidFill>
                  <a:srgbClr val="666666"/>
                </a:solidFill>
                <a:latin typeface="Yu Gothic" pitchFamily="34" charset="0"/>
                <a:ea typeface="Yu Gothic" pitchFamily="34" charset="-122"/>
                <a:cs typeface="Yu Gothic" pitchFamily="34" charset="-120"/>
              </a:rPr>
              <a:t>現状の図：金属資源のバリューチェーンと事業領域（金属資源G_P3）</a:t>
            </a:r>
            <a:endParaRPr lang="en-US" sz="620" dirty="0"/>
          </a:p>
        </p:txBody>
      </p:sp>
      <p:sp>
        <p:nvSpPr>
          <p:cNvPr id="87" name="t1_84"/>
          <p:cNvSpPr txBox="1"/>
          <p:nvPr/>
        </p:nvSpPr>
        <p:spPr>
          <a:xfrm>
            <a:off x="11722100" y="5765800"/>
            <a:ext cx="1905000" cy="3556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川上　</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資源開発・保有</a:t>
            </a:r>
            <a:endParaRPr lang="en-US" sz="740" dirty="0"/>
          </a:p>
        </p:txBody>
      </p:sp>
      <p:sp>
        <p:nvSpPr>
          <p:cNvPr id="88" name="Shape 79"/>
          <p:cNvSpPr/>
          <p:nvPr/>
        </p:nvSpPr>
        <p:spPr>
          <a:xfrm>
            <a:off x="13703300" y="5867400"/>
            <a:ext cx="0" cy="127000"/>
          </a:xfrm>
          <a:prstGeom prst="line">
            <a:avLst/>
          </a:prstGeom>
          <a:noFill/>
          <a:ln w="12700">
            <a:solidFill>
              <a:srgbClr val="555555"/>
            </a:solidFill>
            <a:prstDash val="solid"/>
          </a:ln>
        </p:spPr>
      </p:sp>
      <p:sp>
        <p:nvSpPr>
          <p:cNvPr id="89" name="t1_85"/>
          <p:cNvSpPr txBox="1"/>
          <p:nvPr/>
        </p:nvSpPr>
        <p:spPr>
          <a:xfrm>
            <a:off x="13703300" y="5867400"/>
            <a:ext cx="805180" cy="127000"/>
          </a:xfrm>
          <a:prstGeom prst="rect">
            <a:avLst/>
          </a:prstGeom>
          <a:noFill/>
          <a:ln/>
        </p:spPr>
        <p:txBody>
          <a:bodyPr wrap="none" lIns="0" tIns="10160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投資</a:t>
            </a:r>
            <a:endParaRPr lang="en-US" sz="700" dirty="0"/>
          </a:p>
        </p:txBody>
      </p:sp>
      <p:sp>
        <p:nvSpPr>
          <p:cNvPr id="90" name="t1_86"/>
          <p:cNvSpPr txBox="1"/>
          <p:nvPr/>
        </p:nvSpPr>
        <p:spPr>
          <a:xfrm>
            <a:off x="12611100" y="6121400"/>
            <a:ext cx="118364" cy="142240"/>
          </a:xfrm>
          <a:prstGeom prst="rect">
            <a:avLst/>
          </a:prstGeom>
          <a:noFill/>
          <a:ln/>
        </p:spPr>
        <p:txBody>
          <a:bodyPr wrap="none" lIns="0" tIns="0" rIns="0" bIns="0" rtlCol="0" anchor="t"/>
          <a:lstStyle/>
          <a:p>
            <a:pPr algn="l" indent="0" marL="0">
              <a:lnSpc>
                <a:spcPts val="1040"/>
              </a:lnSpc>
              <a:buNone/>
            </a:pPr>
            <a:r>
              <a:rPr lang="en-US" sz="800" dirty="0">
                <a:solidFill>
                  <a:srgbClr val="888888"/>
                </a:solidFill>
                <a:latin typeface="Yu Gothic" pitchFamily="34" charset="0"/>
                <a:ea typeface="Yu Gothic" pitchFamily="34" charset="-122"/>
                <a:cs typeface="Yu Gothic" pitchFamily="34" charset="-120"/>
              </a:rPr>
              <a:t>↓</a:t>
            </a:r>
            <a:endParaRPr lang="en-US" sz="800" dirty="0"/>
          </a:p>
        </p:txBody>
      </p:sp>
      <p:sp>
        <p:nvSpPr>
          <p:cNvPr id="91" name="t1_87"/>
          <p:cNvSpPr txBox="1"/>
          <p:nvPr/>
        </p:nvSpPr>
        <p:spPr>
          <a:xfrm>
            <a:off x="11722100" y="6273800"/>
            <a:ext cx="1905000" cy="3556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川中　</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製鉄・製錬</a:t>
            </a:r>
            <a:endParaRPr lang="en-US" sz="740" dirty="0"/>
          </a:p>
        </p:txBody>
      </p:sp>
      <p:sp>
        <p:nvSpPr>
          <p:cNvPr id="92" name="Shape 83"/>
          <p:cNvSpPr/>
          <p:nvPr/>
        </p:nvSpPr>
        <p:spPr>
          <a:xfrm>
            <a:off x="13703300" y="6375400"/>
            <a:ext cx="0" cy="127000"/>
          </a:xfrm>
          <a:prstGeom prst="line">
            <a:avLst/>
          </a:prstGeom>
          <a:noFill/>
          <a:ln w="12700">
            <a:solidFill>
              <a:srgbClr val="555555"/>
            </a:solidFill>
            <a:prstDash val="solid"/>
          </a:ln>
        </p:spPr>
      </p:sp>
      <p:sp>
        <p:nvSpPr>
          <p:cNvPr id="93" name="t1_88"/>
          <p:cNvSpPr txBox="1"/>
          <p:nvPr/>
        </p:nvSpPr>
        <p:spPr>
          <a:xfrm>
            <a:off x="13703300" y="6375400"/>
            <a:ext cx="805180" cy="127000"/>
          </a:xfrm>
          <a:prstGeom prst="rect">
            <a:avLst/>
          </a:prstGeom>
          <a:noFill/>
          <a:ln/>
        </p:spPr>
        <p:txBody>
          <a:bodyPr wrap="none" lIns="0" tIns="10160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投資</a:t>
            </a:r>
            <a:endParaRPr lang="en-US" sz="700" dirty="0"/>
          </a:p>
        </p:txBody>
      </p:sp>
      <p:sp>
        <p:nvSpPr>
          <p:cNvPr id="94" name="t1_89"/>
          <p:cNvSpPr txBox="1"/>
          <p:nvPr/>
        </p:nvSpPr>
        <p:spPr>
          <a:xfrm>
            <a:off x="12611100" y="6629400"/>
            <a:ext cx="118364" cy="142240"/>
          </a:xfrm>
          <a:prstGeom prst="rect">
            <a:avLst/>
          </a:prstGeom>
          <a:noFill/>
          <a:ln/>
        </p:spPr>
        <p:txBody>
          <a:bodyPr wrap="none" lIns="0" tIns="0" rIns="0" bIns="0" rtlCol="0" anchor="t"/>
          <a:lstStyle/>
          <a:p>
            <a:pPr algn="l" indent="0" marL="0">
              <a:lnSpc>
                <a:spcPts val="1040"/>
              </a:lnSpc>
              <a:buNone/>
            </a:pPr>
            <a:r>
              <a:rPr lang="en-US" sz="800" dirty="0">
                <a:solidFill>
                  <a:srgbClr val="888888"/>
                </a:solidFill>
                <a:latin typeface="Yu Gothic" pitchFamily="34" charset="0"/>
                <a:ea typeface="Yu Gothic" pitchFamily="34" charset="-122"/>
                <a:cs typeface="Yu Gothic" pitchFamily="34" charset="-120"/>
              </a:rPr>
              <a:t>↓</a:t>
            </a:r>
            <a:endParaRPr lang="en-US" sz="800" dirty="0"/>
          </a:p>
        </p:txBody>
      </p:sp>
      <p:sp>
        <p:nvSpPr>
          <p:cNvPr id="95" name="t1_90"/>
          <p:cNvSpPr txBox="1"/>
          <p:nvPr/>
        </p:nvSpPr>
        <p:spPr>
          <a:xfrm>
            <a:off x="11722100" y="6781800"/>
            <a:ext cx="1905000" cy="3556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中間流通　</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トレーディング（RtM）</a:t>
            </a:r>
            <a:endParaRPr lang="en-US" sz="740" dirty="0"/>
          </a:p>
        </p:txBody>
      </p:sp>
      <p:sp>
        <p:nvSpPr>
          <p:cNvPr id="96" name="Shape 87"/>
          <p:cNvSpPr/>
          <p:nvPr/>
        </p:nvSpPr>
        <p:spPr>
          <a:xfrm>
            <a:off x="13703300" y="6883400"/>
            <a:ext cx="0" cy="127000"/>
          </a:xfrm>
          <a:prstGeom prst="line">
            <a:avLst/>
          </a:prstGeom>
          <a:noFill/>
          <a:ln w="12700">
            <a:solidFill>
              <a:srgbClr val="555555"/>
            </a:solidFill>
            <a:prstDash val="solid"/>
          </a:ln>
        </p:spPr>
      </p:sp>
      <p:sp>
        <p:nvSpPr>
          <p:cNvPr id="97" name="t1_91"/>
          <p:cNvSpPr txBox="1"/>
          <p:nvPr/>
        </p:nvSpPr>
        <p:spPr>
          <a:xfrm>
            <a:off x="13703300" y="6883400"/>
            <a:ext cx="805180" cy="127000"/>
          </a:xfrm>
          <a:prstGeom prst="rect">
            <a:avLst/>
          </a:prstGeom>
          <a:noFill/>
          <a:ln/>
        </p:spPr>
        <p:txBody>
          <a:bodyPr wrap="none" lIns="0" tIns="10160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販売</a:t>
            </a:r>
            <a:endParaRPr lang="en-US" sz="700" dirty="0"/>
          </a:p>
        </p:txBody>
      </p:sp>
      <p:sp>
        <p:nvSpPr>
          <p:cNvPr id="98" name="t1_92"/>
          <p:cNvSpPr txBox="1"/>
          <p:nvPr/>
        </p:nvSpPr>
        <p:spPr>
          <a:xfrm>
            <a:off x="12611100" y="7137400"/>
            <a:ext cx="118364" cy="142240"/>
          </a:xfrm>
          <a:prstGeom prst="rect">
            <a:avLst/>
          </a:prstGeom>
          <a:noFill/>
          <a:ln/>
        </p:spPr>
        <p:txBody>
          <a:bodyPr wrap="none" lIns="0" tIns="0" rIns="0" bIns="0" rtlCol="0" anchor="t"/>
          <a:lstStyle/>
          <a:p>
            <a:pPr algn="l" indent="0" marL="0">
              <a:lnSpc>
                <a:spcPts val="1040"/>
              </a:lnSpc>
              <a:buNone/>
            </a:pPr>
            <a:r>
              <a:rPr lang="en-US" sz="800" dirty="0">
                <a:solidFill>
                  <a:srgbClr val="888888"/>
                </a:solidFill>
                <a:latin typeface="Yu Gothic" pitchFamily="34" charset="0"/>
                <a:ea typeface="Yu Gothic" pitchFamily="34" charset="-122"/>
                <a:cs typeface="Yu Gothic" pitchFamily="34" charset="-120"/>
              </a:rPr>
              <a:t>↓</a:t>
            </a:r>
            <a:endParaRPr lang="en-US" sz="800" dirty="0"/>
          </a:p>
        </p:txBody>
      </p:sp>
      <p:sp>
        <p:nvSpPr>
          <p:cNvPr id="99" name="t1_93"/>
          <p:cNvSpPr txBox="1"/>
          <p:nvPr/>
        </p:nvSpPr>
        <p:spPr>
          <a:xfrm>
            <a:off x="11722100" y="7289800"/>
            <a:ext cx="1905000" cy="3556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川下　</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最終製品・需要家</a:t>
            </a:r>
            <a:endParaRPr lang="en-US" sz="740" dirty="0"/>
          </a:p>
        </p:txBody>
      </p:sp>
      <p:sp>
        <p:nvSpPr>
          <p:cNvPr id="100" name="t1_94"/>
          <p:cNvSpPr txBox="1"/>
          <p:nvPr/>
        </p:nvSpPr>
        <p:spPr>
          <a:xfrm>
            <a:off x="11722100" y="7874000"/>
            <a:ext cx="2905252"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680" dirty="0"/>
          </a:p>
        </p:txBody>
      </p:sp>
      <p:sp>
        <p:nvSpPr>
          <p:cNvPr id="101" name="t1_95"/>
          <p:cNvSpPr txBox="1"/>
          <p:nvPr/>
        </p:nvSpPr>
        <p:spPr>
          <a:xfrm>
            <a:off x="11722100" y="81629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40字／英語 約22語</a:t>
            </a:r>
            <a:endParaRPr lang="en-US" sz="580" dirty="0"/>
          </a:p>
        </p:txBody>
      </p:sp>
      <p:sp>
        <p:nvSpPr>
          <p:cNvPr id="102" name="t1_96"/>
          <p:cNvSpPr txBox="1"/>
          <p:nvPr/>
        </p:nvSpPr>
        <p:spPr>
          <a:xfrm>
            <a:off x="8166100" y="85852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※「投資と販売の両輪」が軸（PwC様レビューNo.7）。デザイン確定までは現状の図を仮置き。規模には言及しない。鋼材販売のメタルワンは別グループである旨を注記。第2章の前提として第1章の最後に置く</a:t>
            </a:r>
            <a:endParaRPr lang="en-US" sz="620" dirty="0"/>
          </a:p>
        </p:txBody>
      </p:sp>
      <p:sp>
        <p:nvSpPr>
          <p:cNvPr id="103" name="t1_97"/>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04</a:t>
            </a:r>
            <a:endParaRPr lang="en-US" sz="660" dirty="0"/>
          </a:p>
        </p:txBody>
      </p:sp>
      <p:sp>
        <p:nvSpPr>
          <p:cNvPr id="104" name="t1_98"/>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05</a:t>
            </a:r>
            <a:endParaRPr lang="en-US" sz="660" dirty="0"/>
          </a:p>
        </p:txBody>
      </p:sp>
      <p:sp>
        <p:nvSpPr>
          <p:cNvPr id="105" name="t1_99"/>
          <p:cNvSpPr txBox="1"/>
          <p:nvPr/>
        </p:nvSpPr>
        <p:spPr>
          <a:xfrm>
            <a:off x="3810000" y="10261600"/>
            <a:ext cx="4690864" cy="152400"/>
          </a:xfrm>
          <a:prstGeom prst="rect">
            <a:avLst/>
          </a:prstGeom>
          <a:solidFill>
            <a:srgbClr val="FFFFFF"/>
          </a:solidFill>
          <a:ln/>
        </p:spPr>
        <p:txBody>
          <a:bodyPr wrap="none" lIns="25400" tIns="38100" rIns="38100" bIns="25400" rtlCol="0" anchor="t"/>
          <a:lstStyle/>
          <a:p>
            <a:pPr algn="l" indent="0" marL="0">
              <a:lnSpc>
                <a:spcPts val="858"/>
              </a:lnSpc>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106" name="Shape 97"/>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2_0"/>
          <p:cNvSpPr txBox="1"/>
          <p:nvPr/>
        </p:nvSpPr>
        <p:spPr>
          <a:xfrm>
            <a:off x="609600" y="431800"/>
            <a:ext cx="2574433"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　—　機能・強み</a:t>
            </a:r>
            <a:endParaRPr lang="en-US" sz="740" dirty="0"/>
          </a:p>
        </p:txBody>
      </p:sp>
      <p:sp>
        <p:nvSpPr>
          <p:cNvPr id="4" name="t2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5" name="t2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わが社資産の強み</a:t>
            </a:r>
            <a:endParaRPr lang="en-US" sz="1800" dirty="0"/>
          </a:p>
        </p:txBody>
      </p:sp>
      <p:sp>
        <p:nvSpPr>
          <p:cNvPr id="6" name="t2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バリューチェーンの起点で、一級資産を保有する</a:t>
            </a:r>
            <a:endParaRPr lang="en-US" sz="1000" dirty="0"/>
          </a:p>
        </p:txBody>
      </p:sp>
      <p:sp>
        <p:nvSpPr>
          <p:cNvPr id="7" name="t2_4"/>
          <p:cNvSpPr txBox="1"/>
          <p:nvPr/>
        </p:nvSpPr>
        <p:spPr>
          <a:xfrm>
            <a:off x="609600" y="1371600"/>
            <a:ext cx="6603492" cy="346472"/>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8" name="t2_5"/>
          <p:cNvSpPr txBox="1"/>
          <p:nvPr/>
        </p:nvSpPr>
        <p:spPr>
          <a:xfrm>
            <a:off x="609600" y="1730970"/>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90字／英語 約50語</a:t>
            </a:r>
            <a:endParaRPr lang="en-US" sz="580" dirty="0"/>
          </a:p>
        </p:txBody>
      </p:sp>
      <p:sp>
        <p:nvSpPr>
          <p:cNvPr id="9" name="Shape 6"/>
          <p:cNvSpPr/>
          <p:nvPr/>
        </p:nvSpPr>
        <p:spPr>
          <a:xfrm>
            <a:off x="609600" y="1905000"/>
            <a:ext cx="1981200" cy="0"/>
          </a:xfrm>
          <a:prstGeom prst="line">
            <a:avLst/>
          </a:prstGeom>
          <a:noFill/>
          <a:ln w="12700">
            <a:solidFill>
              <a:srgbClr val="888888"/>
            </a:solidFill>
            <a:prstDash val="solid"/>
          </a:ln>
        </p:spPr>
      </p:sp>
      <p:sp>
        <p:nvSpPr>
          <p:cNvPr id="10" name="t2_7"/>
          <p:cNvSpPr txBox="1"/>
          <p:nvPr/>
        </p:nvSpPr>
        <p:spPr>
          <a:xfrm>
            <a:off x="609600" y="1981200"/>
            <a:ext cx="313801"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原料炭</a:t>
            </a:r>
            <a:endParaRPr lang="en-US" sz="680" dirty="0"/>
          </a:p>
        </p:txBody>
      </p:sp>
      <p:sp>
        <p:nvSpPr>
          <p:cNvPr id="11" name="t2_8"/>
          <p:cNvSpPr txBox="1"/>
          <p:nvPr/>
        </p:nvSpPr>
        <p:spPr>
          <a:xfrm>
            <a:off x="609600" y="2133600"/>
            <a:ext cx="2073148" cy="355600"/>
          </a:xfrm>
          <a:prstGeom prst="rect">
            <a:avLst/>
          </a:prstGeom>
          <a:noFill/>
          <a:ln/>
        </p:spPr>
        <p:txBody>
          <a:bodyPr wrap="none" lIns="0" tIns="0" rIns="0" bIns="0" rtlCol="0" anchor="t"/>
          <a:lstStyle/>
          <a:p>
            <a:pPr algn="l" indent="0" marL="0">
              <a:lnSpc>
                <a:spcPts val="2200"/>
              </a:lnSpc>
              <a:buNone/>
            </a:pPr>
            <a:r>
              <a:rPr lang="en-US" sz="2000" dirty="0">
                <a:solidFill>
                  <a:srgbClr val="222222"/>
                </a:solidFill>
                <a:latin typeface="Yu Gothic" pitchFamily="34" charset="0"/>
                <a:ea typeface="Yu Gothic" pitchFamily="34" charset="-122"/>
                <a:cs typeface="Yu Gothic" pitchFamily="34" charset="-120"/>
              </a:rPr>
              <a:t>5鉱山</a:t>
            </a:r>
            <a:endParaRPr lang="en-US" sz="2000" dirty="0"/>
          </a:p>
        </p:txBody>
      </p:sp>
      <p:sp>
        <p:nvSpPr>
          <p:cNvPr id="12" name="t2_9"/>
          <p:cNvSpPr txBox="1"/>
          <p:nvPr/>
        </p:nvSpPr>
        <p:spPr>
          <a:xfrm>
            <a:off x="609600" y="2463800"/>
            <a:ext cx="2073148"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高品位の鉱山に厳選して保有</a:t>
            </a:r>
            <a:endParaRPr lang="en-US" sz="680" dirty="0"/>
          </a:p>
        </p:txBody>
      </p:sp>
      <p:sp>
        <p:nvSpPr>
          <p:cNvPr id="13" name="Shape 10"/>
          <p:cNvSpPr/>
          <p:nvPr/>
        </p:nvSpPr>
        <p:spPr>
          <a:xfrm>
            <a:off x="2743200" y="1905000"/>
            <a:ext cx="1981200" cy="0"/>
          </a:xfrm>
          <a:prstGeom prst="line">
            <a:avLst/>
          </a:prstGeom>
          <a:noFill/>
          <a:ln w="12700">
            <a:solidFill>
              <a:srgbClr val="888888"/>
            </a:solidFill>
            <a:prstDash val="solid"/>
          </a:ln>
        </p:spPr>
      </p:sp>
      <p:sp>
        <p:nvSpPr>
          <p:cNvPr id="14" name="t2_11"/>
          <p:cNvSpPr txBox="1"/>
          <p:nvPr/>
        </p:nvSpPr>
        <p:spPr>
          <a:xfrm>
            <a:off x="2743200" y="1981200"/>
            <a:ext cx="113205"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銅</a:t>
            </a:r>
            <a:endParaRPr lang="en-US" sz="680" dirty="0"/>
          </a:p>
        </p:txBody>
      </p:sp>
      <p:sp>
        <p:nvSpPr>
          <p:cNvPr id="15" name="t2_12"/>
          <p:cNvSpPr txBox="1"/>
          <p:nvPr/>
        </p:nvSpPr>
        <p:spPr>
          <a:xfrm>
            <a:off x="2743200" y="2133600"/>
            <a:ext cx="2073148" cy="355600"/>
          </a:xfrm>
          <a:prstGeom prst="rect">
            <a:avLst/>
          </a:prstGeom>
          <a:noFill/>
          <a:ln/>
        </p:spPr>
        <p:txBody>
          <a:bodyPr wrap="none" lIns="0" tIns="0" rIns="0" bIns="0" rtlCol="0" anchor="t"/>
          <a:lstStyle/>
          <a:p>
            <a:pPr algn="l" indent="0" marL="0">
              <a:lnSpc>
                <a:spcPts val="2200"/>
              </a:lnSpc>
              <a:buNone/>
            </a:pPr>
            <a:r>
              <a:rPr lang="en-US" sz="2000" dirty="0">
                <a:solidFill>
                  <a:srgbClr val="222222"/>
                </a:solidFill>
                <a:latin typeface="Yu Gothic" pitchFamily="34" charset="0"/>
                <a:ea typeface="Yu Gothic" pitchFamily="34" charset="-122"/>
                <a:cs typeface="Yu Gothic" pitchFamily="34" charset="-120"/>
              </a:rPr>
              <a:t>日本最大</a:t>
            </a:r>
            <a:endParaRPr lang="en-US" sz="2000" dirty="0"/>
          </a:p>
        </p:txBody>
      </p:sp>
      <p:sp>
        <p:nvSpPr>
          <p:cNvPr id="16" name="t2_13"/>
          <p:cNvSpPr txBox="1"/>
          <p:nvPr/>
        </p:nvSpPr>
        <p:spPr>
          <a:xfrm>
            <a:off x="2743200" y="2463800"/>
            <a:ext cx="2073148"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持分生産量（世界第20位）</a:t>
            </a:r>
            <a:endParaRPr lang="en-US" sz="680" dirty="0"/>
          </a:p>
        </p:txBody>
      </p:sp>
      <p:sp>
        <p:nvSpPr>
          <p:cNvPr id="17" name="Shape 14"/>
          <p:cNvSpPr/>
          <p:nvPr/>
        </p:nvSpPr>
        <p:spPr>
          <a:xfrm>
            <a:off x="4876800" y="1905000"/>
            <a:ext cx="1981200" cy="0"/>
          </a:xfrm>
          <a:prstGeom prst="line">
            <a:avLst/>
          </a:prstGeom>
          <a:noFill/>
          <a:ln w="12700">
            <a:solidFill>
              <a:srgbClr val="888888"/>
            </a:solidFill>
            <a:prstDash val="solid"/>
          </a:ln>
        </p:spPr>
      </p:sp>
      <p:sp>
        <p:nvSpPr>
          <p:cNvPr id="18" name="t2_15"/>
          <p:cNvSpPr txBox="1"/>
          <p:nvPr/>
        </p:nvSpPr>
        <p:spPr>
          <a:xfrm>
            <a:off x="4876800" y="1981200"/>
            <a:ext cx="113205"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銅</a:t>
            </a:r>
            <a:endParaRPr lang="en-US" sz="680" dirty="0"/>
          </a:p>
        </p:txBody>
      </p:sp>
      <p:sp>
        <p:nvSpPr>
          <p:cNvPr id="19" name="t2_16"/>
          <p:cNvSpPr txBox="1"/>
          <p:nvPr/>
        </p:nvSpPr>
        <p:spPr>
          <a:xfrm>
            <a:off x="4876800" y="2133600"/>
            <a:ext cx="2073148" cy="355600"/>
          </a:xfrm>
          <a:prstGeom prst="rect">
            <a:avLst/>
          </a:prstGeom>
          <a:noFill/>
          <a:ln/>
        </p:spPr>
        <p:txBody>
          <a:bodyPr wrap="none" lIns="0" tIns="0" rIns="0" bIns="0" rtlCol="0" anchor="t"/>
          <a:lstStyle/>
          <a:p>
            <a:pPr algn="l" indent="0" marL="0">
              <a:lnSpc>
                <a:spcPts val="2200"/>
              </a:lnSpc>
              <a:buNone/>
            </a:pPr>
            <a:r>
              <a:rPr lang="en-US" sz="2000" dirty="0">
                <a:solidFill>
                  <a:srgbClr val="222222"/>
                </a:solidFill>
                <a:latin typeface="Yu Gothic" pitchFamily="34" charset="0"/>
                <a:ea typeface="Yu Gothic" pitchFamily="34" charset="-122"/>
                <a:cs typeface="Yu Gothic" pitchFamily="34" charset="-120"/>
              </a:rPr>
              <a:t>世界上位15</a:t>
            </a:r>
            <a:endParaRPr lang="en-US" sz="2000" dirty="0"/>
          </a:p>
        </p:txBody>
      </p:sp>
      <p:sp>
        <p:nvSpPr>
          <p:cNvPr id="20" name="t2_17"/>
          <p:cNvSpPr txBox="1"/>
          <p:nvPr/>
        </p:nvSpPr>
        <p:spPr>
          <a:xfrm>
            <a:off x="4876800" y="2463800"/>
            <a:ext cx="2073148"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に入る優良鉱山に複数参画</a:t>
            </a:r>
            <a:endParaRPr lang="en-US" sz="680" dirty="0"/>
          </a:p>
        </p:txBody>
      </p:sp>
      <p:pic>
        <p:nvPicPr>
          <p:cNvPr id="21" name="Image 0" descr="preencoded.png">    </p:cNvPr>
          <p:cNvPicPr>
            <a:picLocks noChangeAspect="1"/>
          </p:cNvPicPr>
          <p:nvPr/>
        </p:nvPicPr>
        <p:blipFill>
          <a:blip r:embed="rId1"/>
          <a:stretch>
            <a:fillRect/>
          </a:stretch>
        </p:blipFill>
        <p:spPr>
          <a:xfrm>
            <a:off x="609600" y="2692400"/>
            <a:ext cx="1905000" cy="1016000"/>
          </a:xfrm>
          <a:prstGeom prst="rect">
            <a:avLst/>
          </a:prstGeom>
        </p:spPr>
      </p:pic>
      <p:sp>
        <p:nvSpPr>
          <p:cNvPr id="22" name="Shape 18"/>
          <p:cNvSpPr/>
          <p:nvPr/>
        </p:nvSpPr>
        <p:spPr>
          <a:xfrm>
            <a:off x="609600" y="2692400"/>
            <a:ext cx="1905000" cy="1016000"/>
          </a:xfrm>
          <a:prstGeom prst="rect">
            <a:avLst/>
          </a:prstGeom>
          <a:noFill/>
          <a:ln w="12700">
            <a:solidFill>
              <a:srgbClr val="C9CDD1"/>
            </a:solidFill>
            <a:prstDash val="solid"/>
          </a:ln>
        </p:spPr>
      </p:sp>
      <p:sp>
        <p:nvSpPr>
          <p:cNvPr id="23" name="t2_20"/>
          <p:cNvSpPr txBox="1"/>
          <p:nvPr/>
        </p:nvSpPr>
        <p:spPr>
          <a:xfrm>
            <a:off x="609600" y="3746500"/>
            <a:ext cx="1993900" cy="114300"/>
          </a:xfrm>
          <a:prstGeom prst="rect">
            <a:avLst/>
          </a:prstGeom>
          <a:noFill/>
          <a:ln/>
        </p:spPr>
        <p:txBody>
          <a:bodyPr wrap="none" lIns="0" tIns="0" rIns="0" bIns="0" rtlCol="0" anchor="t"/>
          <a:lstStyle/>
          <a:p>
            <a:pPr algn="l" indent="0" marL="0">
              <a:lnSpc>
                <a:spcPts val="806"/>
              </a:lnSpc>
              <a:buNone/>
            </a:pPr>
            <a:r>
              <a:rPr lang="en-US" sz="620" spc="80" kern="0" dirty="0">
                <a:solidFill>
                  <a:srgbClr val="666666"/>
                </a:solidFill>
                <a:latin typeface="Yu Gothic" pitchFamily="34" charset="0"/>
                <a:ea typeface="Yu Gothic" pitchFamily="34" charset="-122"/>
                <a:cs typeface="Yu Gothic" pitchFamily="34" charset="-120"/>
              </a:rPr>
              <a:t>現状の図（金属資源G_P6）</a:t>
            </a:r>
            <a:endParaRPr lang="en-US" sz="620" dirty="0"/>
          </a:p>
        </p:txBody>
      </p:sp>
      <p:sp>
        <p:nvSpPr>
          <p:cNvPr id="24" name="t2_21"/>
          <p:cNvSpPr txBox="1"/>
          <p:nvPr/>
        </p:nvSpPr>
        <p:spPr>
          <a:xfrm>
            <a:off x="2717800" y="2692400"/>
            <a:ext cx="4410964"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680" dirty="0"/>
          </a:p>
        </p:txBody>
      </p:sp>
      <p:sp>
        <p:nvSpPr>
          <p:cNvPr id="25" name="t2_22"/>
          <p:cNvSpPr txBox="1"/>
          <p:nvPr/>
        </p:nvSpPr>
        <p:spPr>
          <a:xfrm>
            <a:off x="2717800" y="29813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90字／英語 約50語</a:t>
            </a:r>
            <a:endParaRPr lang="en-US" sz="580" dirty="0"/>
          </a:p>
        </p:txBody>
      </p:sp>
      <p:sp>
        <p:nvSpPr>
          <p:cNvPr id="26" name="t2_23"/>
          <p:cNvSpPr txBox="1"/>
          <p:nvPr/>
        </p:nvSpPr>
        <p:spPr>
          <a:xfrm>
            <a:off x="609600" y="39878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※第2章の起点（PwC様レビューNo.12）。数値は事実ベースで表示し、誇示する表現は避ける</a:t>
            </a:r>
            <a:endParaRPr lang="en-US" sz="620" dirty="0"/>
          </a:p>
        </p:txBody>
      </p:sp>
      <p:sp>
        <p:nvSpPr>
          <p:cNvPr id="27" name="Shape 23"/>
          <p:cNvSpPr/>
          <p:nvPr/>
        </p:nvSpPr>
        <p:spPr>
          <a:xfrm>
            <a:off x="609600" y="4241800"/>
            <a:ext cx="6337300" cy="0"/>
          </a:xfrm>
          <a:prstGeom prst="line">
            <a:avLst/>
          </a:prstGeom>
          <a:noFill/>
          <a:ln w="12700">
            <a:solidFill>
              <a:srgbClr val="CFD2D5"/>
            </a:solidFill>
            <a:prstDash val="solid"/>
          </a:ln>
        </p:spPr>
      </p:sp>
      <p:sp>
        <p:nvSpPr>
          <p:cNvPr id="28" name="t2_25"/>
          <p:cNvSpPr txBox="1"/>
          <p:nvPr/>
        </p:nvSpPr>
        <p:spPr>
          <a:xfrm>
            <a:off x="609600" y="43942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原料炭事業</a:t>
            </a:r>
            <a:endParaRPr lang="en-US" sz="1800" dirty="0"/>
          </a:p>
        </p:txBody>
      </p:sp>
      <p:sp>
        <p:nvSpPr>
          <p:cNvPr id="29" name="t2_26"/>
          <p:cNvSpPr txBox="1"/>
          <p:nvPr/>
        </p:nvSpPr>
        <p:spPr>
          <a:xfrm>
            <a:off x="609600" y="47498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鉄の主原料“産業のコメ”を、世界最高品位で届ける</a:t>
            </a:r>
            <a:endParaRPr lang="en-US" sz="1000" dirty="0"/>
          </a:p>
        </p:txBody>
      </p:sp>
      <p:sp>
        <p:nvSpPr>
          <p:cNvPr id="30" name="t2_27"/>
          <p:cNvSpPr txBox="1"/>
          <p:nvPr/>
        </p:nvSpPr>
        <p:spPr>
          <a:xfrm>
            <a:off x="609600" y="5003800"/>
            <a:ext cx="6603492" cy="190500"/>
          </a:xfrm>
          <a:prstGeom prst="rect">
            <a:avLst/>
          </a:prstGeom>
          <a:noFill/>
          <a:ln/>
        </p:spPr>
        <p:txBody>
          <a:bodyPr wrap="none" lIns="0" tIns="0" rIns="0" bIns="0" rtlCol="0" anchor="t"/>
          <a:lstStyle/>
          <a:p>
            <a:pPr algn="l" indent="0" marL="0">
              <a:lnSpc>
                <a:spcPts val="1300"/>
              </a:lnSpc>
              <a:buNone/>
            </a:pPr>
            <a:r>
              <a:rPr lang="en-US" sz="1000" dirty="0">
                <a:solidFill>
                  <a:srgbClr val="222222"/>
                </a:solidFill>
                <a:latin typeface="Yu Gothic" pitchFamily="34" charset="0"/>
                <a:ea typeface="Yu Gothic" pitchFamily="34" charset="-122"/>
                <a:cs typeface="Yu Gothic" pitchFamily="34" charset="-120"/>
              </a:rPr>
              <a:t>BHPと50:50の合弁（BMA）で、原料炭の一級資産に参画</a:t>
            </a:r>
            <a:endParaRPr lang="en-US" sz="1000" dirty="0"/>
          </a:p>
        </p:txBody>
      </p:sp>
      <p:sp>
        <p:nvSpPr>
          <p:cNvPr id="31" name="t2_28"/>
          <p:cNvSpPr txBox="1"/>
          <p:nvPr/>
        </p:nvSpPr>
        <p:spPr>
          <a:xfrm>
            <a:off x="609600" y="5308600"/>
            <a:ext cx="1422400" cy="660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888888"/>
                </a:solidFill>
                <a:latin typeface="Yu Gothic" pitchFamily="34" charset="0"/>
                <a:ea typeface="Yu Gothic" pitchFamily="34" charset="-122"/>
                <a:cs typeface="Yu Gothic" pitchFamily="34" charset="-120"/>
              </a:rPr>
              <a:t>1</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世界最高品位の</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原料炭を保有</a:t>
            </a:r>
            <a:endParaRPr lang="en-US" sz="740" dirty="0"/>
          </a:p>
        </p:txBody>
      </p:sp>
      <p:sp>
        <p:nvSpPr>
          <p:cNvPr id="32" name="t2_29"/>
          <p:cNvSpPr txBox="1"/>
          <p:nvPr/>
        </p:nvSpPr>
        <p:spPr>
          <a:xfrm>
            <a:off x="2057400" y="55626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33" name="t2_30"/>
          <p:cNvSpPr txBox="1"/>
          <p:nvPr/>
        </p:nvSpPr>
        <p:spPr>
          <a:xfrm>
            <a:off x="2209800" y="5308600"/>
            <a:ext cx="1422400" cy="660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888888"/>
                </a:solidFill>
                <a:latin typeface="Yu Gothic" pitchFamily="34" charset="0"/>
                <a:ea typeface="Yu Gothic" pitchFamily="34" charset="-122"/>
                <a:cs typeface="Yu Gothic" pitchFamily="34" charset="-120"/>
              </a:rPr>
              <a:t>2</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原料炭は鉄の主原料</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＝“産業のコメ”</a:t>
            </a:r>
            <a:endParaRPr lang="en-US" sz="740" dirty="0"/>
          </a:p>
        </p:txBody>
      </p:sp>
      <p:sp>
        <p:nvSpPr>
          <p:cNvPr id="34" name="t2_31"/>
          <p:cNvSpPr txBox="1"/>
          <p:nvPr/>
        </p:nvSpPr>
        <p:spPr>
          <a:xfrm>
            <a:off x="3657600" y="55626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35" name="t2_32"/>
          <p:cNvSpPr txBox="1"/>
          <p:nvPr/>
        </p:nvSpPr>
        <p:spPr>
          <a:xfrm>
            <a:off x="3810000" y="5308600"/>
            <a:ext cx="1422400" cy="660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888888"/>
                </a:solidFill>
                <a:latin typeface="Yu Gothic" pitchFamily="34" charset="0"/>
                <a:ea typeface="Yu Gothic" pitchFamily="34" charset="-122"/>
                <a:cs typeface="Yu Gothic" pitchFamily="34" charset="-120"/>
              </a:rPr>
              <a:t>3</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鉄は今後も</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底堅く必要とされる</a:t>
            </a:r>
            <a:endParaRPr lang="en-US" sz="740" dirty="0"/>
          </a:p>
        </p:txBody>
      </p:sp>
      <p:sp>
        <p:nvSpPr>
          <p:cNvPr id="36" name="t2_33"/>
          <p:cNvSpPr txBox="1"/>
          <p:nvPr/>
        </p:nvSpPr>
        <p:spPr>
          <a:xfrm>
            <a:off x="5257800" y="55626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37" name="t2_34"/>
          <p:cNvSpPr txBox="1"/>
          <p:nvPr/>
        </p:nvSpPr>
        <p:spPr>
          <a:xfrm>
            <a:off x="5410200" y="5308600"/>
            <a:ext cx="1422400" cy="660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888888"/>
                </a:solidFill>
                <a:latin typeface="Yu Gothic" pitchFamily="34" charset="0"/>
                <a:ea typeface="Yu Gothic" pitchFamily="34" charset="-122"/>
                <a:cs typeface="Yu Gothic" pitchFamily="34" charset="-120"/>
              </a:rPr>
              <a:t>4</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ゆえに</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社会に不可欠</a:t>
            </a:r>
            <a:endParaRPr lang="en-US" sz="740" dirty="0"/>
          </a:p>
        </p:txBody>
      </p:sp>
      <p:sp>
        <p:nvSpPr>
          <p:cNvPr id="38" name="t2_35"/>
          <p:cNvSpPr txBox="1"/>
          <p:nvPr/>
        </p:nvSpPr>
        <p:spPr>
          <a:xfrm>
            <a:off x="609600" y="6045200"/>
            <a:ext cx="1491996"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80" dirty="0"/>
          </a:p>
        </p:txBody>
      </p:sp>
      <p:sp>
        <p:nvSpPr>
          <p:cNvPr id="39" name="t2_36"/>
          <p:cNvSpPr txBox="1"/>
          <p:nvPr/>
        </p:nvSpPr>
        <p:spPr>
          <a:xfrm>
            <a:off x="2209800" y="6045200"/>
            <a:ext cx="1491996"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80" dirty="0"/>
          </a:p>
        </p:txBody>
      </p:sp>
      <p:sp>
        <p:nvSpPr>
          <p:cNvPr id="40" name="t2_37"/>
          <p:cNvSpPr txBox="1"/>
          <p:nvPr/>
        </p:nvSpPr>
        <p:spPr>
          <a:xfrm>
            <a:off x="3810000" y="6045200"/>
            <a:ext cx="1491996"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80" dirty="0"/>
          </a:p>
        </p:txBody>
      </p:sp>
      <p:sp>
        <p:nvSpPr>
          <p:cNvPr id="41" name="t2_38"/>
          <p:cNvSpPr txBox="1"/>
          <p:nvPr/>
        </p:nvSpPr>
        <p:spPr>
          <a:xfrm>
            <a:off x="5410200" y="6045200"/>
            <a:ext cx="1491996"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80" dirty="0"/>
          </a:p>
        </p:txBody>
      </p:sp>
      <p:pic>
        <p:nvPicPr>
          <p:cNvPr id="42" name="Image 1" descr="preencoded.png">    </p:cNvPr>
          <p:cNvPicPr>
            <a:picLocks noChangeAspect="1"/>
          </p:cNvPicPr>
          <p:nvPr/>
        </p:nvPicPr>
        <p:blipFill>
          <a:blip r:embed="rId2"/>
          <a:stretch>
            <a:fillRect/>
          </a:stretch>
        </p:blipFill>
        <p:spPr>
          <a:xfrm>
            <a:off x="609600" y="6858000"/>
            <a:ext cx="3048000" cy="2159000"/>
          </a:xfrm>
          <a:prstGeom prst="rect">
            <a:avLst/>
          </a:prstGeom>
        </p:spPr>
      </p:pic>
      <p:sp>
        <p:nvSpPr>
          <p:cNvPr id="43" name="t2_40"/>
          <p:cNvSpPr txBox="1"/>
          <p:nvPr/>
        </p:nvSpPr>
        <p:spPr>
          <a:xfrm>
            <a:off x="609600" y="9055100"/>
            <a:ext cx="3182620"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写真：BMAの鉱山（流用：粗原稿）</a:t>
            </a:r>
            <a:endParaRPr lang="en-US" sz="680" dirty="0"/>
          </a:p>
        </p:txBody>
      </p:sp>
      <p:pic>
        <p:nvPicPr>
          <p:cNvPr id="44" name="Image 2" descr="preencoded.png">    </p:cNvPr>
          <p:cNvPicPr>
            <a:picLocks noChangeAspect="1"/>
          </p:cNvPicPr>
          <p:nvPr/>
        </p:nvPicPr>
        <p:blipFill>
          <a:blip r:embed="rId3"/>
          <a:stretch>
            <a:fillRect/>
          </a:stretch>
        </p:blipFill>
        <p:spPr>
          <a:xfrm>
            <a:off x="3898900" y="6858000"/>
            <a:ext cx="3048000" cy="2159000"/>
          </a:xfrm>
          <a:prstGeom prst="rect">
            <a:avLst/>
          </a:prstGeom>
        </p:spPr>
      </p:pic>
      <p:sp>
        <p:nvSpPr>
          <p:cNvPr id="45" name="Shape 39"/>
          <p:cNvSpPr/>
          <p:nvPr/>
        </p:nvSpPr>
        <p:spPr>
          <a:xfrm>
            <a:off x="3898900" y="6858000"/>
            <a:ext cx="3048000" cy="2159000"/>
          </a:xfrm>
          <a:prstGeom prst="rect">
            <a:avLst/>
          </a:prstGeom>
          <a:noFill/>
          <a:ln w="12700">
            <a:solidFill>
              <a:srgbClr val="C9CDD1"/>
            </a:solidFill>
            <a:prstDash val="solid"/>
          </a:ln>
        </p:spPr>
      </p:sp>
      <p:sp>
        <p:nvSpPr>
          <p:cNvPr id="46" name="t2_43"/>
          <p:cNvSpPr txBox="1"/>
          <p:nvPr/>
        </p:nvSpPr>
        <p:spPr>
          <a:xfrm>
            <a:off x="3898900" y="9055100"/>
            <a:ext cx="3182620" cy="114300"/>
          </a:xfrm>
          <a:prstGeom prst="rect">
            <a:avLst/>
          </a:prstGeom>
          <a:noFill/>
          <a:ln/>
        </p:spPr>
        <p:txBody>
          <a:bodyPr wrap="none" lIns="0" tIns="0" rIns="0" bIns="0" rtlCol="0" anchor="t"/>
          <a:lstStyle/>
          <a:p>
            <a:pPr algn="l" indent="0" marL="0">
              <a:lnSpc>
                <a:spcPts val="806"/>
              </a:lnSpc>
              <a:buNone/>
            </a:pPr>
            <a:r>
              <a:rPr lang="en-US" sz="620" spc="80" kern="0" dirty="0">
                <a:solidFill>
                  <a:srgbClr val="666666"/>
                </a:solidFill>
                <a:latin typeface="Yu Gothic" pitchFamily="34" charset="0"/>
                <a:ea typeface="Yu Gothic" pitchFamily="34" charset="-122"/>
                <a:cs typeface="Yu Gothic" pitchFamily="34" charset="-120"/>
              </a:rPr>
              <a:t>現状の図：原料炭事業（金属資源G_P7）※他社ロゴは本制作で使用しない</a:t>
            </a:r>
            <a:endParaRPr lang="en-US" sz="620" dirty="0"/>
          </a:p>
        </p:txBody>
      </p:sp>
      <p:sp>
        <p:nvSpPr>
          <p:cNvPr id="47" name="t2_44"/>
          <p:cNvSpPr txBox="1"/>
          <p:nvPr/>
        </p:nvSpPr>
        <p:spPr>
          <a:xfrm>
            <a:off x="609600" y="92710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※社会における必要性の文脈を主に訴求。川上の代表例として銅・トレーディングより前に配置。BMAロゴは「他社ロゴ不使用」の方針に照らし扱い要確認</a:t>
            </a:r>
            <a:endParaRPr lang="en-US" sz="620" dirty="0"/>
          </a:p>
        </p:txBody>
      </p:sp>
      <p:sp>
        <p:nvSpPr>
          <p:cNvPr id="48" name="t2_45"/>
          <p:cNvSpPr txBox="1"/>
          <p:nvPr/>
        </p:nvSpPr>
        <p:spPr>
          <a:xfrm>
            <a:off x="81661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49" name="t2_46"/>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50" name="t2_47"/>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銅事業</a:t>
            </a:r>
            <a:endParaRPr lang="en-US" sz="1800" dirty="0"/>
          </a:p>
        </p:txBody>
      </p:sp>
      <p:sp>
        <p:nvSpPr>
          <p:cNvPr id="51" name="t2_48"/>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自社操業を伴わずに、世界最大級の銅ポジションを築く</a:t>
            </a:r>
            <a:endParaRPr lang="en-US" sz="1000" dirty="0"/>
          </a:p>
        </p:txBody>
      </p:sp>
      <p:pic>
        <p:nvPicPr>
          <p:cNvPr id="52" name="Image 3" descr="preencoded.png">    </p:cNvPr>
          <p:cNvPicPr>
            <a:picLocks noChangeAspect="1"/>
          </p:cNvPicPr>
          <p:nvPr/>
        </p:nvPicPr>
        <p:blipFill>
          <a:blip r:embed="rId4"/>
          <a:stretch>
            <a:fillRect/>
          </a:stretch>
        </p:blipFill>
        <p:spPr>
          <a:xfrm>
            <a:off x="11455400" y="762000"/>
            <a:ext cx="3048000" cy="2159000"/>
          </a:xfrm>
          <a:prstGeom prst="rect">
            <a:avLst/>
          </a:prstGeom>
        </p:spPr>
      </p:pic>
      <p:sp>
        <p:nvSpPr>
          <p:cNvPr id="53" name="t2_50"/>
          <p:cNvSpPr txBox="1"/>
          <p:nvPr/>
        </p:nvSpPr>
        <p:spPr>
          <a:xfrm>
            <a:off x="11455400" y="2959100"/>
            <a:ext cx="3182620"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写真：銅鉱山（流用：三菱商事サイト）</a:t>
            </a:r>
            <a:endParaRPr lang="en-US" sz="680" dirty="0"/>
          </a:p>
        </p:txBody>
      </p:sp>
      <p:sp>
        <p:nvSpPr>
          <p:cNvPr id="54" name="t2_51"/>
          <p:cNvSpPr txBox="1"/>
          <p:nvPr/>
        </p:nvSpPr>
        <p:spPr>
          <a:xfrm>
            <a:off x="8166100" y="1371600"/>
            <a:ext cx="3182620" cy="190500"/>
          </a:xfrm>
          <a:prstGeom prst="rect">
            <a:avLst/>
          </a:prstGeom>
          <a:noFill/>
          <a:ln/>
        </p:spPr>
        <p:txBody>
          <a:bodyPr wrap="none" lIns="0" tIns="0" rIns="0" bIns="0" rtlCol="0" anchor="t"/>
          <a:lstStyle/>
          <a:p>
            <a:pPr algn="l" indent="0" marL="0">
              <a:lnSpc>
                <a:spcPts val="1365"/>
              </a:lnSpc>
              <a:buNone/>
            </a:pPr>
            <a:r>
              <a:rPr lang="en-US" sz="1050" dirty="0">
                <a:solidFill>
                  <a:srgbClr val="222222"/>
                </a:solidFill>
                <a:latin typeface="Yu Gothic" pitchFamily="34" charset="0"/>
                <a:ea typeface="Yu Gothic" pitchFamily="34" charset="-122"/>
                <a:cs typeface="Yu Gothic" pitchFamily="34" charset="-120"/>
              </a:rPr>
              <a:t>ノンオペレーターとして世界最大の銅生産者</a:t>
            </a:r>
            <a:endParaRPr lang="en-US" sz="1050" dirty="0"/>
          </a:p>
        </p:txBody>
      </p:sp>
      <p:sp>
        <p:nvSpPr>
          <p:cNvPr id="55" name="t2_52"/>
          <p:cNvSpPr txBox="1"/>
          <p:nvPr/>
        </p:nvSpPr>
        <p:spPr>
          <a:xfrm>
            <a:off x="8166100" y="1625600"/>
            <a:ext cx="318262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56" name="t2_53"/>
          <p:cNvSpPr txBox="1"/>
          <p:nvPr/>
        </p:nvSpPr>
        <p:spPr>
          <a:xfrm>
            <a:off x="8166100" y="2331641"/>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110字／英語 約61語</a:t>
            </a:r>
            <a:endParaRPr lang="en-US" sz="580" dirty="0"/>
          </a:p>
        </p:txBody>
      </p:sp>
      <p:sp>
        <p:nvSpPr>
          <p:cNvPr id="57" name="Shape 50"/>
          <p:cNvSpPr/>
          <p:nvPr/>
        </p:nvSpPr>
        <p:spPr>
          <a:xfrm>
            <a:off x="8166100" y="3251200"/>
            <a:ext cx="6337300" cy="0"/>
          </a:xfrm>
          <a:prstGeom prst="line">
            <a:avLst/>
          </a:prstGeom>
          <a:noFill/>
          <a:ln w="12700">
            <a:solidFill>
              <a:srgbClr val="CFD2D5"/>
            </a:solidFill>
            <a:prstDash val="solid"/>
          </a:ln>
        </p:spPr>
      </p:sp>
      <p:sp>
        <p:nvSpPr>
          <p:cNvPr id="58" name="t2_55"/>
          <p:cNvSpPr txBox="1"/>
          <p:nvPr/>
        </p:nvSpPr>
        <p:spPr>
          <a:xfrm>
            <a:off x="8166100" y="3454400"/>
            <a:ext cx="3182620" cy="190500"/>
          </a:xfrm>
          <a:prstGeom prst="rect">
            <a:avLst/>
          </a:prstGeom>
          <a:noFill/>
          <a:ln/>
        </p:spPr>
        <p:txBody>
          <a:bodyPr wrap="none" lIns="0" tIns="0" rIns="0" bIns="0" rtlCol="0" anchor="t"/>
          <a:lstStyle/>
          <a:p>
            <a:pPr algn="l" indent="0" marL="0">
              <a:lnSpc>
                <a:spcPts val="1300"/>
              </a:lnSpc>
              <a:buNone/>
            </a:pPr>
            <a:r>
              <a:rPr lang="en-US" sz="1000" dirty="0">
                <a:solidFill>
                  <a:srgbClr val="222222"/>
                </a:solidFill>
                <a:latin typeface="Yu Gothic" pitchFamily="34" charset="0"/>
                <a:ea typeface="Yu Gothic" pitchFamily="34" charset="-122"/>
                <a:cs typeface="Yu Gothic" pitchFamily="34" charset="-120"/>
              </a:rPr>
              <a:t>Tier1アセットの保有</a:t>
            </a:r>
            <a:endParaRPr lang="en-US" sz="1000" dirty="0"/>
          </a:p>
        </p:txBody>
      </p:sp>
      <p:sp>
        <p:nvSpPr>
          <p:cNvPr id="59" name="t2_56"/>
          <p:cNvSpPr txBox="1"/>
          <p:nvPr/>
        </p:nvSpPr>
        <p:spPr>
          <a:xfrm>
            <a:off x="8166100" y="3657600"/>
            <a:ext cx="3182620"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規模で世界上位の優良鉱山に参画</a:t>
            </a:r>
            <a:endParaRPr lang="en-US" sz="680" dirty="0"/>
          </a:p>
        </p:txBody>
      </p:sp>
      <p:sp>
        <p:nvSpPr>
          <p:cNvPr id="60" name="t2_57"/>
          <p:cNvSpPr txBox="1"/>
          <p:nvPr/>
        </p:nvSpPr>
        <p:spPr>
          <a:xfrm>
            <a:off x="8166100" y="3860800"/>
            <a:ext cx="3182620" cy="346472"/>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61" name="t2_58"/>
          <p:cNvSpPr txBox="1"/>
          <p:nvPr/>
        </p:nvSpPr>
        <p:spPr>
          <a:xfrm>
            <a:off x="8166100" y="4220170"/>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62" name="t2_59"/>
          <p:cNvSpPr txBox="1"/>
          <p:nvPr/>
        </p:nvSpPr>
        <p:spPr>
          <a:xfrm>
            <a:off x="11417300" y="3454400"/>
            <a:ext cx="3182620" cy="190500"/>
          </a:xfrm>
          <a:prstGeom prst="rect">
            <a:avLst/>
          </a:prstGeom>
          <a:noFill/>
          <a:ln/>
        </p:spPr>
        <p:txBody>
          <a:bodyPr wrap="none" lIns="0" tIns="0" rIns="0" bIns="0" rtlCol="0" anchor="t"/>
          <a:lstStyle/>
          <a:p>
            <a:pPr algn="l" indent="0" marL="0">
              <a:lnSpc>
                <a:spcPts val="1300"/>
              </a:lnSpc>
              <a:buNone/>
            </a:pPr>
            <a:r>
              <a:rPr lang="en-US" sz="1000" dirty="0">
                <a:solidFill>
                  <a:srgbClr val="222222"/>
                </a:solidFill>
                <a:latin typeface="Yu Gothic" pitchFamily="34" charset="0"/>
                <a:ea typeface="Yu Gothic" pitchFamily="34" charset="-122"/>
                <a:cs typeface="Yu Gothic" pitchFamily="34" charset="-120"/>
              </a:rPr>
              <a:t>主要メジャー各社との協業</a:t>
            </a:r>
            <a:endParaRPr lang="en-US" sz="1000" dirty="0"/>
          </a:p>
        </p:txBody>
      </p:sp>
      <p:sp>
        <p:nvSpPr>
          <p:cNvPr id="63" name="t2_60"/>
          <p:cNvSpPr txBox="1"/>
          <p:nvPr/>
        </p:nvSpPr>
        <p:spPr>
          <a:xfrm>
            <a:off x="11417300" y="3657600"/>
            <a:ext cx="3182620"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特定1社に偏らず、ほぼすべてのメジャーと共同事業・取引</a:t>
            </a:r>
            <a:endParaRPr lang="en-US" sz="680" dirty="0"/>
          </a:p>
        </p:txBody>
      </p:sp>
      <p:sp>
        <p:nvSpPr>
          <p:cNvPr id="64" name="t2_61"/>
          <p:cNvSpPr txBox="1"/>
          <p:nvPr/>
        </p:nvSpPr>
        <p:spPr>
          <a:xfrm>
            <a:off x="11417300" y="3860800"/>
            <a:ext cx="3182620" cy="346472"/>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65" name="t2_62"/>
          <p:cNvSpPr txBox="1"/>
          <p:nvPr/>
        </p:nvSpPr>
        <p:spPr>
          <a:xfrm>
            <a:off x="11417300" y="4220170"/>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66" name="t2_63"/>
          <p:cNvSpPr txBox="1"/>
          <p:nvPr/>
        </p:nvSpPr>
        <p:spPr>
          <a:xfrm>
            <a:off x="8166100" y="4978400"/>
            <a:ext cx="3182620" cy="190500"/>
          </a:xfrm>
          <a:prstGeom prst="rect">
            <a:avLst/>
          </a:prstGeom>
          <a:noFill/>
          <a:ln/>
        </p:spPr>
        <p:txBody>
          <a:bodyPr wrap="none" lIns="0" tIns="0" rIns="0" bIns="0" rtlCol="0" anchor="t"/>
          <a:lstStyle/>
          <a:p>
            <a:pPr algn="l" indent="0" marL="0">
              <a:lnSpc>
                <a:spcPts val="1300"/>
              </a:lnSpc>
              <a:buNone/>
            </a:pPr>
            <a:r>
              <a:rPr lang="en-US" sz="1000" dirty="0">
                <a:solidFill>
                  <a:srgbClr val="222222"/>
                </a:solidFill>
                <a:latin typeface="Yu Gothic" pitchFamily="34" charset="0"/>
                <a:ea typeface="Yu Gothic" pitchFamily="34" charset="-122"/>
                <a:cs typeface="Yu Gothic" pitchFamily="34" charset="-120"/>
              </a:rPr>
              <a:t>トレーディングによる関係構築</a:t>
            </a:r>
            <a:endParaRPr lang="en-US" sz="1000" dirty="0"/>
          </a:p>
        </p:txBody>
      </p:sp>
      <p:sp>
        <p:nvSpPr>
          <p:cNvPr id="67" name="t2_64"/>
          <p:cNvSpPr txBox="1"/>
          <p:nvPr/>
        </p:nvSpPr>
        <p:spPr>
          <a:xfrm>
            <a:off x="8166100" y="5181600"/>
            <a:ext cx="3182620"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販売を通じて業界内の幅広いリレーションを形成</a:t>
            </a:r>
            <a:endParaRPr lang="en-US" sz="680" dirty="0"/>
          </a:p>
        </p:txBody>
      </p:sp>
      <p:sp>
        <p:nvSpPr>
          <p:cNvPr id="68" name="t2_65"/>
          <p:cNvSpPr txBox="1"/>
          <p:nvPr/>
        </p:nvSpPr>
        <p:spPr>
          <a:xfrm>
            <a:off x="8166100" y="5384800"/>
            <a:ext cx="3182620" cy="346472"/>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69" name="t2_66"/>
          <p:cNvSpPr txBox="1"/>
          <p:nvPr/>
        </p:nvSpPr>
        <p:spPr>
          <a:xfrm>
            <a:off x="8166100" y="5744170"/>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70" name="t2_67"/>
          <p:cNvSpPr txBox="1"/>
          <p:nvPr/>
        </p:nvSpPr>
        <p:spPr>
          <a:xfrm>
            <a:off x="11417300" y="4978400"/>
            <a:ext cx="3182620" cy="190500"/>
          </a:xfrm>
          <a:prstGeom prst="rect">
            <a:avLst/>
          </a:prstGeom>
          <a:noFill/>
          <a:ln/>
        </p:spPr>
        <p:txBody>
          <a:bodyPr wrap="none" lIns="0" tIns="0" rIns="0" bIns="0" rtlCol="0" anchor="t"/>
          <a:lstStyle/>
          <a:p>
            <a:pPr algn="l" indent="0" marL="0">
              <a:lnSpc>
                <a:spcPts val="1300"/>
              </a:lnSpc>
              <a:buNone/>
            </a:pPr>
            <a:r>
              <a:rPr lang="en-US" sz="1000" dirty="0">
                <a:solidFill>
                  <a:srgbClr val="222222"/>
                </a:solidFill>
                <a:latin typeface="Yu Gothic" pitchFamily="34" charset="0"/>
                <a:ea typeface="Yu Gothic" pitchFamily="34" charset="-122"/>
                <a:cs typeface="Yu Gothic" pitchFamily="34" charset="-120"/>
              </a:rPr>
              <a:t>新技術・スタートアップへの投資</a:t>
            </a:r>
            <a:endParaRPr lang="en-US" sz="1000" dirty="0"/>
          </a:p>
        </p:txBody>
      </p:sp>
      <p:sp>
        <p:nvSpPr>
          <p:cNvPr id="71" name="t2_68"/>
          <p:cNvSpPr txBox="1"/>
          <p:nvPr/>
        </p:nvSpPr>
        <p:spPr>
          <a:xfrm>
            <a:off x="11417300" y="5181600"/>
            <a:ext cx="3182620"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業界のボトルネックに挑む技術に投資</a:t>
            </a:r>
            <a:endParaRPr lang="en-US" sz="680" dirty="0"/>
          </a:p>
        </p:txBody>
      </p:sp>
      <p:sp>
        <p:nvSpPr>
          <p:cNvPr id="72" name="t2_69"/>
          <p:cNvSpPr txBox="1"/>
          <p:nvPr/>
        </p:nvSpPr>
        <p:spPr>
          <a:xfrm>
            <a:off x="11417300" y="5384800"/>
            <a:ext cx="3182620" cy="346472"/>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73" name="t2_70"/>
          <p:cNvSpPr txBox="1"/>
          <p:nvPr/>
        </p:nvSpPr>
        <p:spPr>
          <a:xfrm>
            <a:off x="11417300" y="5744170"/>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pic>
        <p:nvPicPr>
          <p:cNvPr id="74" name="Image 4" descr="preencoded.png">    </p:cNvPr>
          <p:cNvPicPr>
            <a:picLocks noChangeAspect="1"/>
          </p:cNvPicPr>
          <p:nvPr/>
        </p:nvPicPr>
        <p:blipFill>
          <a:blip r:embed="rId5"/>
          <a:stretch>
            <a:fillRect/>
          </a:stretch>
        </p:blipFill>
        <p:spPr>
          <a:xfrm>
            <a:off x="8166100" y="6604000"/>
            <a:ext cx="6337300" cy="2159000"/>
          </a:xfrm>
          <a:prstGeom prst="rect">
            <a:avLst/>
          </a:prstGeom>
        </p:spPr>
      </p:pic>
      <p:sp>
        <p:nvSpPr>
          <p:cNvPr id="75" name="Shape 67"/>
          <p:cNvSpPr/>
          <p:nvPr/>
        </p:nvSpPr>
        <p:spPr>
          <a:xfrm>
            <a:off x="8166100" y="6604000"/>
            <a:ext cx="6337300" cy="2159000"/>
          </a:xfrm>
          <a:prstGeom prst="rect">
            <a:avLst/>
          </a:prstGeom>
          <a:noFill/>
          <a:ln w="12700">
            <a:solidFill>
              <a:srgbClr val="C9CDD1"/>
            </a:solidFill>
            <a:prstDash val="solid"/>
          </a:ln>
        </p:spPr>
      </p:sp>
      <p:sp>
        <p:nvSpPr>
          <p:cNvPr id="76" name="t2_73"/>
          <p:cNvSpPr txBox="1"/>
          <p:nvPr/>
        </p:nvSpPr>
        <p:spPr>
          <a:xfrm>
            <a:off x="8166100" y="8801100"/>
            <a:ext cx="6603492" cy="114300"/>
          </a:xfrm>
          <a:prstGeom prst="rect">
            <a:avLst/>
          </a:prstGeom>
          <a:noFill/>
          <a:ln/>
        </p:spPr>
        <p:txBody>
          <a:bodyPr wrap="none" lIns="0" tIns="0" rIns="0" bIns="0" rtlCol="0" anchor="t"/>
          <a:lstStyle/>
          <a:p>
            <a:pPr algn="l" indent="0" marL="0">
              <a:lnSpc>
                <a:spcPts val="806"/>
              </a:lnSpc>
              <a:buNone/>
            </a:pPr>
            <a:r>
              <a:rPr lang="en-US" sz="620" spc="80" kern="0" dirty="0">
                <a:solidFill>
                  <a:srgbClr val="666666"/>
                </a:solidFill>
                <a:latin typeface="Yu Gothic" pitchFamily="34" charset="0"/>
                <a:ea typeface="Yu Gothic" pitchFamily="34" charset="-122"/>
                <a:cs typeface="Yu Gothic" pitchFamily="34" charset="-120"/>
              </a:rPr>
              <a:t>現状の図：銅事業（金属資源G_P8）</a:t>
            </a:r>
            <a:endParaRPr lang="en-US" sz="620" dirty="0"/>
          </a:p>
        </p:txBody>
      </p:sp>
      <p:sp>
        <p:nvSpPr>
          <p:cNvPr id="77" name="t2_74"/>
          <p:cNvSpPr txBox="1"/>
          <p:nvPr/>
        </p:nvSpPr>
        <p:spPr>
          <a:xfrm>
            <a:off x="8166100" y="89662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※★自社操業なしで世界最大級の銅ポジション（ノンオペレーターとして世界最大）を明示し、「声がかかる存在」として訴求（PwC様レビューNo.14）。Green Copperは削除。他社ロゴは使用しない</a:t>
            </a:r>
            <a:endParaRPr lang="en-US" sz="620" dirty="0"/>
          </a:p>
        </p:txBody>
      </p:sp>
      <p:sp>
        <p:nvSpPr>
          <p:cNvPr id="78" name="t2_75"/>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06</a:t>
            </a:r>
            <a:endParaRPr lang="en-US" sz="660" dirty="0"/>
          </a:p>
        </p:txBody>
      </p:sp>
      <p:sp>
        <p:nvSpPr>
          <p:cNvPr id="79" name="t2_76"/>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07</a:t>
            </a:r>
            <a:endParaRPr lang="en-US" sz="660" dirty="0"/>
          </a:p>
        </p:txBody>
      </p:sp>
      <p:sp>
        <p:nvSpPr>
          <p:cNvPr id="80" name="t2_77"/>
          <p:cNvSpPr txBox="1"/>
          <p:nvPr/>
        </p:nvSpPr>
        <p:spPr>
          <a:xfrm>
            <a:off x="3810000" y="10261600"/>
            <a:ext cx="4690864" cy="152400"/>
          </a:xfrm>
          <a:prstGeom prst="rect">
            <a:avLst/>
          </a:prstGeom>
          <a:solidFill>
            <a:srgbClr val="FFFFFF"/>
          </a:solidFill>
          <a:ln/>
        </p:spPr>
        <p:txBody>
          <a:bodyPr wrap="none" lIns="25400" tIns="38100" rIns="38100" bIns="25400" rtlCol="0" anchor="t"/>
          <a:lstStyle/>
          <a:p>
            <a:pPr algn="l" indent="0" marL="0">
              <a:lnSpc>
                <a:spcPts val="858"/>
              </a:lnSpc>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81" name="Shape 73"/>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3_0"/>
          <p:cNvSpPr txBox="1"/>
          <p:nvPr/>
        </p:nvSpPr>
        <p:spPr>
          <a:xfrm>
            <a:off x="6096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4" name="t3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5" name="t3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トレーディング事業</a:t>
            </a:r>
            <a:endParaRPr lang="en-US" sz="1800" dirty="0"/>
          </a:p>
        </p:txBody>
      </p:sp>
      <p:sp>
        <p:nvSpPr>
          <p:cNvPr id="6" name="t3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15業界×50カ国×約1,000社の販売網で、市場をつなぐ</a:t>
            </a:r>
            <a:endParaRPr lang="en-US" sz="1000" dirty="0"/>
          </a:p>
        </p:txBody>
      </p:sp>
      <p:sp>
        <p:nvSpPr>
          <p:cNvPr id="7" name="t3_4"/>
          <p:cNvSpPr txBox="1"/>
          <p:nvPr/>
        </p:nvSpPr>
        <p:spPr>
          <a:xfrm>
            <a:off x="609600" y="1422400"/>
            <a:ext cx="3446780" cy="337820"/>
          </a:xfrm>
          <a:prstGeom prst="rect">
            <a:avLst/>
          </a:prstGeom>
          <a:noFill/>
          <a:ln/>
        </p:spPr>
        <p:txBody>
          <a:bodyPr wrap="none" lIns="0" tIns="0" rIns="0" bIns="0" rtlCol="0" anchor="t"/>
          <a:lstStyle/>
          <a:p>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15</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業界</a:t>
            </a:r>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 × 50</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カ国</a:t>
            </a:r>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 × 約1,000</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社</a:t>
            </a:r>
            <a:endParaRPr lang="en-US" sz="1900" dirty="0"/>
          </a:p>
        </p:txBody>
      </p:sp>
      <p:sp>
        <p:nvSpPr>
          <p:cNvPr id="8" name="t3_5"/>
          <p:cNvSpPr txBox="1"/>
          <p:nvPr/>
        </p:nvSpPr>
        <p:spPr>
          <a:xfrm>
            <a:off x="609600" y="1879600"/>
            <a:ext cx="331470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9" name="t3_6"/>
          <p:cNvSpPr txBox="1"/>
          <p:nvPr/>
        </p:nvSpPr>
        <p:spPr>
          <a:xfrm>
            <a:off x="609600" y="2585641"/>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100字／英語 約55語</a:t>
            </a:r>
            <a:endParaRPr lang="en-US" sz="580" dirty="0"/>
          </a:p>
        </p:txBody>
      </p:sp>
      <p:pic>
        <p:nvPicPr>
          <p:cNvPr id="10" name="Image 0" descr="preencoded.png">    </p:cNvPr>
          <p:cNvPicPr>
            <a:picLocks noChangeAspect="1"/>
          </p:cNvPicPr>
          <p:nvPr/>
        </p:nvPicPr>
        <p:blipFill>
          <a:blip r:embed="rId1"/>
          <a:stretch>
            <a:fillRect/>
          </a:stretch>
        </p:blipFill>
        <p:spPr>
          <a:xfrm>
            <a:off x="4038600" y="1422400"/>
            <a:ext cx="2908300" cy="1778000"/>
          </a:xfrm>
          <a:prstGeom prst="rect">
            <a:avLst/>
          </a:prstGeom>
        </p:spPr>
      </p:pic>
      <p:sp>
        <p:nvSpPr>
          <p:cNvPr id="11" name="Shape 7"/>
          <p:cNvSpPr/>
          <p:nvPr/>
        </p:nvSpPr>
        <p:spPr>
          <a:xfrm>
            <a:off x="4038600" y="1422400"/>
            <a:ext cx="2908300" cy="1778000"/>
          </a:xfrm>
          <a:prstGeom prst="rect">
            <a:avLst/>
          </a:prstGeom>
          <a:noFill/>
          <a:ln w="12700">
            <a:solidFill>
              <a:srgbClr val="C9CDD1"/>
            </a:solidFill>
            <a:prstDash val="solid"/>
          </a:ln>
        </p:spPr>
      </p:sp>
      <p:sp>
        <p:nvSpPr>
          <p:cNvPr id="12" name="t3_9"/>
          <p:cNvSpPr txBox="1"/>
          <p:nvPr/>
        </p:nvSpPr>
        <p:spPr>
          <a:xfrm>
            <a:off x="4038600" y="3238500"/>
            <a:ext cx="3037332" cy="114300"/>
          </a:xfrm>
          <a:prstGeom prst="rect">
            <a:avLst/>
          </a:prstGeom>
          <a:noFill/>
          <a:ln/>
        </p:spPr>
        <p:txBody>
          <a:bodyPr wrap="none" lIns="0" tIns="0" rIns="0" bIns="0" rtlCol="0" anchor="t"/>
          <a:lstStyle/>
          <a:p>
            <a:pPr algn="l" indent="0" marL="0">
              <a:lnSpc>
                <a:spcPts val="806"/>
              </a:lnSpc>
              <a:buNone/>
            </a:pPr>
            <a:r>
              <a:rPr lang="en-US" sz="620" spc="80" kern="0" dirty="0">
                <a:solidFill>
                  <a:srgbClr val="666666"/>
                </a:solidFill>
                <a:latin typeface="Yu Gothic" pitchFamily="34" charset="0"/>
                <a:ea typeface="Yu Gothic" pitchFamily="34" charset="-122"/>
                <a:cs typeface="Yu Gothic" pitchFamily="34" charset="-120"/>
              </a:rPr>
              <a:t>現状の図：RtM＝Resource to Market（金属資源G_P37）</a:t>
            </a:r>
            <a:endParaRPr lang="en-US" sz="620" dirty="0"/>
          </a:p>
        </p:txBody>
      </p:sp>
      <p:sp>
        <p:nvSpPr>
          <p:cNvPr id="13" name="t3_10"/>
          <p:cNvSpPr txBox="1"/>
          <p:nvPr/>
        </p:nvSpPr>
        <p:spPr>
          <a:xfrm>
            <a:off x="609600" y="3454400"/>
            <a:ext cx="715201"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444444"/>
                </a:solidFill>
                <a:latin typeface="Yu Gothic" pitchFamily="34" charset="0"/>
                <a:ea typeface="Yu Gothic" pitchFamily="34" charset="-122"/>
                <a:cs typeface="Yu Gothic" pitchFamily="34" charset="-120"/>
              </a:rPr>
              <a:t>多様な取引機能</a:t>
            </a:r>
            <a:endParaRPr lang="en-US" sz="680" dirty="0"/>
          </a:p>
        </p:txBody>
      </p:sp>
      <p:sp>
        <p:nvSpPr>
          <p:cNvPr id="14" name="t3_11"/>
          <p:cNvSpPr txBox="1"/>
          <p:nvPr/>
        </p:nvSpPr>
        <p:spPr>
          <a:xfrm>
            <a:off x="609600" y="3657600"/>
            <a:ext cx="1422400" cy="304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取扱商品の広さ</a:t>
            </a:r>
            <a:endParaRPr lang="en-US" sz="740" dirty="0"/>
          </a:p>
        </p:txBody>
      </p:sp>
      <p:sp>
        <p:nvSpPr>
          <p:cNvPr id="15" name="t3_12"/>
          <p:cNvSpPr txBox="1"/>
          <p:nvPr/>
        </p:nvSpPr>
        <p:spPr>
          <a:xfrm>
            <a:off x="609600" y="4038600"/>
            <a:ext cx="1491996"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680" dirty="0"/>
          </a:p>
        </p:txBody>
      </p:sp>
      <p:sp>
        <p:nvSpPr>
          <p:cNvPr id="16" name="t3_13"/>
          <p:cNvSpPr txBox="1"/>
          <p:nvPr/>
        </p:nvSpPr>
        <p:spPr>
          <a:xfrm>
            <a:off x="2209800" y="3657600"/>
            <a:ext cx="1422400" cy="304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在庫</a:t>
            </a:r>
            <a:endParaRPr lang="en-US" sz="740" dirty="0"/>
          </a:p>
        </p:txBody>
      </p:sp>
      <p:sp>
        <p:nvSpPr>
          <p:cNvPr id="17" name="t3_14"/>
          <p:cNvSpPr txBox="1"/>
          <p:nvPr/>
        </p:nvSpPr>
        <p:spPr>
          <a:xfrm>
            <a:off x="2209800" y="4038600"/>
            <a:ext cx="1491996"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680" dirty="0"/>
          </a:p>
        </p:txBody>
      </p:sp>
      <p:sp>
        <p:nvSpPr>
          <p:cNvPr id="18" name="t3_15"/>
          <p:cNvSpPr txBox="1"/>
          <p:nvPr/>
        </p:nvSpPr>
        <p:spPr>
          <a:xfrm>
            <a:off x="3810000" y="3657600"/>
            <a:ext cx="1422400" cy="304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輸送手配</a:t>
            </a:r>
            <a:endParaRPr lang="en-US" sz="740" dirty="0"/>
          </a:p>
        </p:txBody>
      </p:sp>
      <p:sp>
        <p:nvSpPr>
          <p:cNvPr id="19" name="t3_16"/>
          <p:cNvSpPr txBox="1"/>
          <p:nvPr/>
        </p:nvSpPr>
        <p:spPr>
          <a:xfrm>
            <a:off x="3810000" y="4038600"/>
            <a:ext cx="1491996"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680" dirty="0"/>
          </a:p>
        </p:txBody>
      </p:sp>
      <p:sp>
        <p:nvSpPr>
          <p:cNvPr id="20" name="t3_17"/>
          <p:cNvSpPr txBox="1"/>
          <p:nvPr/>
        </p:nvSpPr>
        <p:spPr>
          <a:xfrm>
            <a:off x="5410200" y="3657600"/>
            <a:ext cx="1422400" cy="304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ヘッジ</a:t>
            </a:r>
            <a:endParaRPr lang="en-US" sz="740" dirty="0"/>
          </a:p>
        </p:txBody>
      </p:sp>
      <p:sp>
        <p:nvSpPr>
          <p:cNvPr id="21" name="t3_18"/>
          <p:cNvSpPr txBox="1"/>
          <p:nvPr/>
        </p:nvSpPr>
        <p:spPr>
          <a:xfrm>
            <a:off x="5410200" y="4038600"/>
            <a:ext cx="1491996"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680" dirty="0"/>
          </a:p>
        </p:txBody>
      </p:sp>
      <p:sp>
        <p:nvSpPr>
          <p:cNvPr id="22" name="t3_19"/>
          <p:cNvSpPr txBox="1"/>
          <p:nvPr/>
        </p:nvSpPr>
        <p:spPr>
          <a:xfrm>
            <a:off x="609600" y="4622800"/>
            <a:ext cx="2114423"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444444"/>
                </a:solidFill>
                <a:latin typeface="Yu Gothic" pitchFamily="34" charset="0"/>
                <a:ea typeface="Yu Gothic" pitchFamily="34" charset="-122"/>
                <a:cs typeface="Yu Gothic" pitchFamily="34" charset="-120"/>
              </a:rPr>
              <a:t>投資（本体）とトレーディング（RtM）の連携</a:t>
            </a:r>
            <a:endParaRPr lang="en-US" sz="680" dirty="0"/>
          </a:p>
        </p:txBody>
      </p:sp>
      <p:sp>
        <p:nvSpPr>
          <p:cNvPr id="23" name="t3_20"/>
          <p:cNvSpPr txBox="1"/>
          <p:nvPr/>
        </p:nvSpPr>
        <p:spPr>
          <a:xfrm>
            <a:off x="609600" y="4826000"/>
            <a:ext cx="1905000" cy="431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資源投資</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（三菱商事本体）</a:t>
            </a:r>
            <a:endParaRPr lang="en-US" sz="740" dirty="0"/>
          </a:p>
        </p:txBody>
      </p:sp>
      <p:sp>
        <p:nvSpPr>
          <p:cNvPr id="24" name="t3_21"/>
          <p:cNvSpPr txBox="1"/>
          <p:nvPr/>
        </p:nvSpPr>
        <p:spPr>
          <a:xfrm>
            <a:off x="2552700" y="4851400"/>
            <a:ext cx="507381" cy="114300"/>
          </a:xfrm>
          <a:prstGeom prst="rect">
            <a:avLst/>
          </a:prstGeom>
          <a:noFill/>
          <a:ln/>
        </p:spPr>
        <p:txBody>
          <a:bodyPr wrap="none" lIns="0" tIns="0" rIns="0" bIns="0" rtlCol="0" anchor="t"/>
          <a:lstStyle/>
          <a:p>
            <a:pPr algn="l" indent="0" marL="0">
              <a:lnSpc>
                <a:spcPts val="780"/>
              </a:lnSpc>
              <a:buNone/>
            </a:pPr>
            <a:r>
              <a:rPr lang="en-US" sz="600" dirty="0">
                <a:solidFill>
                  <a:srgbClr val="666666"/>
                </a:solidFill>
                <a:latin typeface="Yu Gothic" pitchFamily="34" charset="0"/>
                <a:ea typeface="Yu Gothic" pitchFamily="34" charset="-122"/>
                <a:cs typeface="Yu Gothic" pitchFamily="34" charset="-120"/>
              </a:rPr>
              <a:t>オフテイク →</a:t>
            </a:r>
            <a:endParaRPr lang="en-US" sz="600" dirty="0"/>
          </a:p>
        </p:txBody>
      </p:sp>
      <p:sp>
        <p:nvSpPr>
          <p:cNvPr id="25" name="t3_22"/>
          <p:cNvSpPr txBox="1"/>
          <p:nvPr/>
        </p:nvSpPr>
        <p:spPr>
          <a:xfrm>
            <a:off x="2768600" y="4826000"/>
            <a:ext cx="1905000" cy="431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ヘッジ・在庫・物流を付加</a:t>
            </a:r>
            <a:endParaRPr lang="en-US" sz="740" dirty="0"/>
          </a:p>
        </p:txBody>
      </p:sp>
      <p:sp>
        <p:nvSpPr>
          <p:cNvPr id="26" name="t3_23"/>
          <p:cNvSpPr txBox="1"/>
          <p:nvPr/>
        </p:nvSpPr>
        <p:spPr>
          <a:xfrm>
            <a:off x="4711700" y="4851400"/>
            <a:ext cx="271082" cy="114300"/>
          </a:xfrm>
          <a:prstGeom prst="rect">
            <a:avLst/>
          </a:prstGeom>
          <a:noFill/>
          <a:ln/>
        </p:spPr>
        <p:txBody>
          <a:bodyPr wrap="none" lIns="0" tIns="0" rIns="0" bIns="0" rtlCol="0" anchor="t"/>
          <a:lstStyle/>
          <a:p>
            <a:pPr algn="l" indent="0" marL="0">
              <a:lnSpc>
                <a:spcPts val="780"/>
              </a:lnSpc>
              <a:buNone/>
            </a:pPr>
            <a:r>
              <a:rPr lang="en-US" sz="600" dirty="0">
                <a:solidFill>
                  <a:srgbClr val="666666"/>
                </a:solidFill>
                <a:latin typeface="Yu Gothic" pitchFamily="34" charset="0"/>
                <a:ea typeface="Yu Gothic" pitchFamily="34" charset="-122"/>
                <a:cs typeface="Yu Gothic" pitchFamily="34" charset="-120"/>
              </a:rPr>
              <a:t>販売 →</a:t>
            </a:r>
            <a:endParaRPr lang="en-US" sz="600" dirty="0"/>
          </a:p>
        </p:txBody>
      </p:sp>
      <p:sp>
        <p:nvSpPr>
          <p:cNvPr id="27" name="t3_24"/>
          <p:cNvSpPr txBox="1"/>
          <p:nvPr/>
        </p:nvSpPr>
        <p:spPr>
          <a:xfrm>
            <a:off x="4927600" y="4826000"/>
            <a:ext cx="1905000" cy="431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顧客</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欧州・シンガポール・米州</a:t>
            </a:r>
            <a:endParaRPr lang="en-US" sz="740" dirty="0"/>
          </a:p>
        </p:txBody>
      </p:sp>
      <p:sp>
        <p:nvSpPr>
          <p:cNvPr id="28" name="Shape 24"/>
          <p:cNvSpPr/>
          <p:nvPr/>
        </p:nvSpPr>
        <p:spPr>
          <a:xfrm>
            <a:off x="1117600" y="5334000"/>
            <a:ext cx="5334000" cy="0"/>
          </a:xfrm>
          <a:prstGeom prst="line">
            <a:avLst/>
          </a:prstGeom>
          <a:noFill/>
          <a:ln w="12700">
            <a:solidFill>
              <a:srgbClr val="888888"/>
            </a:solidFill>
            <a:prstDash val="dash"/>
          </a:ln>
        </p:spPr>
      </p:sp>
      <p:sp>
        <p:nvSpPr>
          <p:cNvPr id="29" name="t3_25"/>
          <p:cNvSpPr txBox="1"/>
          <p:nvPr/>
        </p:nvSpPr>
        <p:spPr>
          <a:xfrm>
            <a:off x="1117600" y="5334000"/>
            <a:ext cx="5560060" cy="177800"/>
          </a:xfrm>
          <a:prstGeom prst="rect">
            <a:avLst/>
          </a:prstGeom>
          <a:noFill/>
          <a:ln/>
        </p:spPr>
        <p:txBody>
          <a:bodyPr wrap="squar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 市場の生きた情報を還元し、事業機会を発掘（好循環）</a:t>
            </a:r>
            <a:endParaRPr lang="en-US" sz="700" dirty="0"/>
          </a:p>
        </p:txBody>
      </p:sp>
      <p:sp>
        <p:nvSpPr>
          <p:cNvPr id="30" name="t3_26"/>
          <p:cNvSpPr txBox="1"/>
          <p:nvPr/>
        </p:nvSpPr>
        <p:spPr>
          <a:xfrm>
            <a:off x="609600" y="55880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※販売顧客に「投資目的の主体」と誤認されない表現に。RtMの追加資料（PwC様より別途共有）を反映予定</a:t>
            </a:r>
            <a:endParaRPr lang="en-US" sz="620" dirty="0"/>
          </a:p>
        </p:txBody>
      </p:sp>
      <p:sp>
        <p:nvSpPr>
          <p:cNvPr id="31" name="Shape 27"/>
          <p:cNvSpPr/>
          <p:nvPr/>
        </p:nvSpPr>
        <p:spPr>
          <a:xfrm>
            <a:off x="609600" y="5918200"/>
            <a:ext cx="6337300" cy="0"/>
          </a:xfrm>
          <a:prstGeom prst="line">
            <a:avLst/>
          </a:prstGeom>
          <a:noFill/>
          <a:ln w="12700">
            <a:solidFill>
              <a:srgbClr val="CFD2D5"/>
            </a:solidFill>
            <a:prstDash val="solid"/>
          </a:ln>
        </p:spPr>
      </p:sp>
      <p:sp>
        <p:nvSpPr>
          <p:cNvPr id="32" name="t3_28"/>
          <p:cNvSpPr txBox="1"/>
          <p:nvPr/>
        </p:nvSpPr>
        <p:spPr>
          <a:xfrm>
            <a:off x="609600" y="60706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トレーディング事業の事例（銅）</a:t>
            </a:r>
            <a:endParaRPr lang="en-US" sz="1800" dirty="0"/>
          </a:p>
        </p:txBody>
      </p:sp>
      <p:sp>
        <p:nvSpPr>
          <p:cNvPr id="33" name="t3_29"/>
          <p:cNvSpPr txBox="1"/>
          <p:nvPr/>
        </p:nvSpPr>
        <p:spPr>
          <a:xfrm>
            <a:off x="609600" y="64262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一つの商品の中で、投資から販売まで一気通貫でつなぐ</a:t>
            </a:r>
            <a:endParaRPr lang="en-US" sz="1000" dirty="0"/>
          </a:p>
        </p:txBody>
      </p:sp>
      <p:sp>
        <p:nvSpPr>
          <p:cNvPr id="34" name="t3_30"/>
          <p:cNvSpPr txBox="1"/>
          <p:nvPr/>
        </p:nvSpPr>
        <p:spPr>
          <a:xfrm>
            <a:off x="609600" y="6680200"/>
            <a:ext cx="6337300" cy="2159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事例図：銅の投資から販売までの一気通貫／複数地域・多機能にわたる展開</a:t>
            </a:r>
            <a:endParaRPr lang="en-US" sz="700" dirty="0"/>
          </a:p>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※PwCにて情報収集中</a:t>
            </a:r>
            <a:endParaRPr lang="en-US" sz="700" dirty="0"/>
          </a:p>
        </p:txBody>
      </p:sp>
      <p:sp>
        <p:nvSpPr>
          <p:cNvPr id="35" name="t3_31"/>
          <p:cNvSpPr txBox="1"/>
          <p:nvPr/>
        </p:nvSpPr>
        <p:spPr>
          <a:xfrm>
            <a:off x="609600" y="8940800"/>
            <a:ext cx="6603492" cy="346472"/>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36" name="t3_32"/>
          <p:cNvSpPr txBox="1"/>
          <p:nvPr/>
        </p:nvSpPr>
        <p:spPr>
          <a:xfrm>
            <a:off x="609600" y="9300170"/>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120字／英語 約66語</a:t>
            </a:r>
            <a:endParaRPr lang="en-US" sz="580" dirty="0"/>
          </a:p>
        </p:txBody>
      </p:sp>
      <p:sp>
        <p:nvSpPr>
          <p:cNvPr id="37" name="t3_33"/>
          <p:cNvSpPr txBox="1"/>
          <p:nvPr/>
        </p:nvSpPr>
        <p:spPr>
          <a:xfrm>
            <a:off x="81661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38" name="t3_34"/>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39" name="t3_35"/>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事業・プロジェクト一覧</a:t>
            </a:r>
            <a:endParaRPr lang="en-US" sz="1800" dirty="0"/>
          </a:p>
        </p:txBody>
      </p:sp>
      <p:sp>
        <p:nvSpPr>
          <p:cNvPr id="40" name="t3_36"/>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鉄鉱石から電池資源・肥料・アルミまで、世界に広がる事業領域</a:t>
            </a:r>
            <a:endParaRPr lang="en-US" sz="1000" dirty="0"/>
          </a:p>
        </p:txBody>
      </p:sp>
      <p:pic>
        <p:nvPicPr>
          <p:cNvPr id="41" name="Image 1" descr="preencoded.png">    </p:cNvPr>
          <p:cNvPicPr>
            <a:picLocks noChangeAspect="1"/>
          </p:cNvPicPr>
          <p:nvPr/>
        </p:nvPicPr>
        <p:blipFill>
          <a:blip r:embed="rId2"/>
          <a:stretch>
            <a:fillRect/>
          </a:stretch>
        </p:blipFill>
        <p:spPr>
          <a:xfrm>
            <a:off x="8166100" y="1371600"/>
            <a:ext cx="6337300" cy="2540000"/>
          </a:xfrm>
          <a:prstGeom prst="rect">
            <a:avLst/>
          </a:prstGeom>
        </p:spPr>
      </p:pic>
      <p:sp>
        <p:nvSpPr>
          <p:cNvPr id="42" name="Shape 37"/>
          <p:cNvSpPr/>
          <p:nvPr/>
        </p:nvSpPr>
        <p:spPr>
          <a:xfrm>
            <a:off x="8166100" y="1371600"/>
            <a:ext cx="6337300" cy="2540000"/>
          </a:xfrm>
          <a:prstGeom prst="rect">
            <a:avLst/>
          </a:prstGeom>
          <a:noFill/>
          <a:ln w="12700">
            <a:solidFill>
              <a:srgbClr val="C9CDD1"/>
            </a:solidFill>
            <a:prstDash val="solid"/>
          </a:ln>
        </p:spPr>
      </p:sp>
      <p:sp>
        <p:nvSpPr>
          <p:cNvPr id="43" name="t3_39"/>
          <p:cNvSpPr txBox="1"/>
          <p:nvPr/>
        </p:nvSpPr>
        <p:spPr>
          <a:xfrm>
            <a:off x="8166100" y="3949700"/>
            <a:ext cx="6603492" cy="114300"/>
          </a:xfrm>
          <a:prstGeom prst="rect">
            <a:avLst/>
          </a:prstGeom>
          <a:noFill/>
          <a:ln/>
        </p:spPr>
        <p:txBody>
          <a:bodyPr wrap="none" lIns="0" tIns="0" rIns="0" bIns="0" rtlCol="0" anchor="t"/>
          <a:lstStyle/>
          <a:p>
            <a:pPr algn="l" indent="0" marL="0">
              <a:lnSpc>
                <a:spcPts val="806"/>
              </a:lnSpc>
              <a:buNone/>
            </a:pPr>
            <a:r>
              <a:rPr lang="en-US" sz="620" spc="80" kern="0" dirty="0">
                <a:solidFill>
                  <a:srgbClr val="666666"/>
                </a:solidFill>
                <a:latin typeface="Yu Gothic" pitchFamily="34" charset="0"/>
                <a:ea typeface="Yu Gothic" pitchFamily="34" charset="-122"/>
                <a:cs typeface="Yu Gothic" pitchFamily="34" charset="-120"/>
              </a:rPr>
              <a:t>現状の図：事業・プロジェクト一覧（金属資源G_P10）</a:t>
            </a:r>
            <a:endParaRPr lang="en-US" sz="620" dirty="0"/>
          </a:p>
        </p:txBody>
      </p:sp>
      <p:pic>
        <p:nvPicPr>
          <p:cNvPr id="44" name="Image 2" descr="preencoded.png">    </p:cNvPr>
          <p:cNvPicPr>
            <a:picLocks noChangeAspect="1"/>
          </p:cNvPicPr>
          <p:nvPr/>
        </p:nvPicPr>
        <p:blipFill>
          <a:blip r:embed="rId3"/>
          <a:stretch>
            <a:fillRect/>
          </a:stretch>
        </p:blipFill>
        <p:spPr>
          <a:xfrm>
            <a:off x="8166100" y="4089400"/>
            <a:ext cx="990600" cy="787400"/>
          </a:xfrm>
          <a:prstGeom prst="rect">
            <a:avLst/>
          </a:prstGeom>
        </p:spPr>
      </p:pic>
      <p:sp>
        <p:nvSpPr>
          <p:cNvPr id="45" name="t3_41"/>
          <p:cNvSpPr txBox="1"/>
          <p:nvPr/>
        </p:nvSpPr>
        <p:spPr>
          <a:xfrm>
            <a:off x="8166100" y="4927600"/>
            <a:ext cx="1069340"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鉄鉱石</a:t>
            </a:r>
            <a:endParaRPr lang="en-US" sz="760" dirty="0"/>
          </a:p>
        </p:txBody>
      </p:sp>
      <p:sp>
        <p:nvSpPr>
          <p:cNvPr id="46" name="t3_42"/>
          <p:cNvSpPr txBox="1"/>
          <p:nvPr/>
        </p:nvSpPr>
        <p:spPr>
          <a:xfrm>
            <a:off x="8166100" y="5105400"/>
            <a:ext cx="1042924" cy="378023"/>
          </a:xfrm>
          <a:prstGeom prst="rect">
            <a:avLst/>
          </a:prstGeom>
          <a:noFill/>
          <a:ln/>
        </p:spPr>
        <p:txBody>
          <a:bodyPr wrap="square" lIns="0" tIns="0" rIns="0" bIns="0" rtlCol="0" anchor="t"/>
          <a:lstStyle/>
          <a:p>
            <a:pPr algn="l" indent="0" marL="0">
              <a:lnSpc>
                <a:spcPts val="992"/>
              </a:lnSpc>
              <a:buNone/>
            </a:pPr>
            <a:r>
              <a:rPr lang="en-US" sz="64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640" dirty="0"/>
          </a:p>
        </p:txBody>
      </p:sp>
      <p:pic>
        <p:nvPicPr>
          <p:cNvPr id="47" name="Image 3" descr="preencoded.png">    </p:cNvPr>
          <p:cNvPicPr>
            <a:picLocks noChangeAspect="1"/>
          </p:cNvPicPr>
          <p:nvPr/>
        </p:nvPicPr>
        <p:blipFill>
          <a:blip r:embed="rId4"/>
          <a:stretch>
            <a:fillRect/>
          </a:stretch>
        </p:blipFill>
        <p:spPr>
          <a:xfrm>
            <a:off x="9232900" y="4089400"/>
            <a:ext cx="990600" cy="787400"/>
          </a:xfrm>
          <a:prstGeom prst="rect">
            <a:avLst/>
          </a:prstGeom>
        </p:spPr>
      </p:pic>
      <p:sp>
        <p:nvSpPr>
          <p:cNvPr id="48" name="t3_44"/>
          <p:cNvSpPr txBox="1"/>
          <p:nvPr/>
        </p:nvSpPr>
        <p:spPr>
          <a:xfrm>
            <a:off x="9232900" y="4927600"/>
            <a:ext cx="1069340"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電池資源（ニッケル）</a:t>
            </a:r>
            <a:endParaRPr lang="en-US" sz="760" dirty="0"/>
          </a:p>
        </p:txBody>
      </p:sp>
      <p:sp>
        <p:nvSpPr>
          <p:cNvPr id="49" name="t3_45"/>
          <p:cNvSpPr txBox="1"/>
          <p:nvPr/>
        </p:nvSpPr>
        <p:spPr>
          <a:xfrm>
            <a:off x="9232900" y="5105400"/>
            <a:ext cx="1042924" cy="378023"/>
          </a:xfrm>
          <a:prstGeom prst="rect">
            <a:avLst/>
          </a:prstGeom>
          <a:noFill/>
          <a:ln/>
        </p:spPr>
        <p:txBody>
          <a:bodyPr wrap="square" lIns="0" tIns="0" rIns="0" bIns="0" rtlCol="0" anchor="t"/>
          <a:lstStyle/>
          <a:p>
            <a:pPr algn="l" indent="0" marL="0">
              <a:lnSpc>
                <a:spcPts val="992"/>
              </a:lnSpc>
              <a:buNone/>
            </a:pPr>
            <a:r>
              <a:rPr lang="en-US" sz="64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640" dirty="0"/>
          </a:p>
        </p:txBody>
      </p:sp>
      <p:pic>
        <p:nvPicPr>
          <p:cNvPr id="50" name="Image 4" descr="preencoded.png">    </p:cNvPr>
          <p:cNvPicPr>
            <a:picLocks noChangeAspect="1"/>
          </p:cNvPicPr>
          <p:nvPr/>
        </p:nvPicPr>
        <p:blipFill>
          <a:blip r:embed="rId5"/>
          <a:stretch>
            <a:fillRect/>
          </a:stretch>
        </p:blipFill>
        <p:spPr>
          <a:xfrm>
            <a:off x="10299700" y="4089400"/>
            <a:ext cx="990600" cy="787400"/>
          </a:xfrm>
          <a:prstGeom prst="rect">
            <a:avLst/>
          </a:prstGeom>
        </p:spPr>
      </p:pic>
      <p:sp>
        <p:nvSpPr>
          <p:cNvPr id="51" name="t3_47"/>
          <p:cNvSpPr txBox="1"/>
          <p:nvPr/>
        </p:nvSpPr>
        <p:spPr>
          <a:xfrm>
            <a:off x="10299700" y="4927600"/>
            <a:ext cx="1069340"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電池資源（リチウム）</a:t>
            </a:r>
            <a:endParaRPr lang="en-US" sz="760" dirty="0"/>
          </a:p>
        </p:txBody>
      </p:sp>
      <p:sp>
        <p:nvSpPr>
          <p:cNvPr id="52" name="t3_48"/>
          <p:cNvSpPr txBox="1"/>
          <p:nvPr/>
        </p:nvSpPr>
        <p:spPr>
          <a:xfrm>
            <a:off x="10299700" y="5105400"/>
            <a:ext cx="1042924" cy="378023"/>
          </a:xfrm>
          <a:prstGeom prst="rect">
            <a:avLst/>
          </a:prstGeom>
          <a:noFill/>
          <a:ln/>
        </p:spPr>
        <p:txBody>
          <a:bodyPr wrap="square" lIns="0" tIns="0" rIns="0" bIns="0" rtlCol="0" anchor="t"/>
          <a:lstStyle/>
          <a:p>
            <a:pPr algn="l" indent="0" marL="0">
              <a:lnSpc>
                <a:spcPts val="992"/>
              </a:lnSpc>
              <a:buNone/>
            </a:pPr>
            <a:r>
              <a:rPr lang="en-US" sz="64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640" dirty="0"/>
          </a:p>
        </p:txBody>
      </p:sp>
      <p:sp>
        <p:nvSpPr>
          <p:cNvPr id="53" name="t3_49"/>
          <p:cNvSpPr txBox="1"/>
          <p:nvPr/>
        </p:nvSpPr>
        <p:spPr>
          <a:xfrm>
            <a:off x="11366500" y="4089400"/>
            <a:ext cx="990600" cy="7874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写真：〇〇</a:t>
            </a:r>
            <a:endParaRPr lang="en-US" sz="700" dirty="0"/>
          </a:p>
        </p:txBody>
      </p:sp>
      <p:sp>
        <p:nvSpPr>
          <p:cNvPr id="54" name="t3_50"/>
          <p:cNvSpPr txBox="1"/>
          <p:nvPr/>
        </p:nvSpPr>
        <p:spPr>
          <a:xfrm>
            <a:off x="11366500" y="4927600"/>
            <a:ext cx="1069340"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肥料資源</a:t>
            </a:r>
            <a:endParaRPr lang="en-US" sz="760" dirty="0"/>
          </a:p>
        </p:txBody>
      </p:sp>
      <p:sp>
        <p:nvSpPr>
          <p:cNvPr id="55" name="t3_51"/>
          <p:cNvSpPr txBox="1"/>
          <p:nvPr/>
        </p:nvSpPr>
        <p:spPr>
          <a:xfrm>
            <a:off x="11366500" y="5105400"/>
            <a:ext cx="1042924" cy="378023"/>
          </a:xfrm>
          <a:prstGeom prst="rect">
            <a:avLst/>
          </a:prstGeom>
          <a:noFill/>
          <a:ln/>
        </p:spPr>
        <p:txBody>
          <a:bodyPr wrap="square" lIns="0" tIns="0" rIns="0" bIns="0" rtlCol="0" anchor="t"/>
          <a:lstStyle/>
          <a:p>
            <a:pPr algn="l" indent="0" marL="0">
              <a:lnSpc>
                <a:spcPts val="992"/>
              </a:lnSpc>
              <a:buNone/>
            </a:pPr>
            <a:r>
              <a:rPr lang="en-US" sz="64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640" dirty="0"/>
          </a:p>
        </p:txBody>
      </p:sp>
      <p:pic>
        <p:nvPicPr>
          <p:cNvPr id="56" name="Image 5" descr="preencoded.png">    </p:cNvPr>
          <p:cNvPicPr>
            <a:picLocks noChangeAspect="1"/>
          </p:cNvPicPr>
          <p:nvPr/>
        </p:nvPicPr>
        <p:blipFill>
          <a:blip r:embed="rId6"/>
          <a:stretch>
            <a:fillRect/>
          </a:stretch>
        </p:blipFill>
        <p:spPr>
          <a:xfrm>
            <a:off x="12433300" y="4089400"/>
            <a:ext cx="990600" cy="787400"/>
          </a:xfrm>
          <a:prstGeom prst="rect">
            <a:avLst/>
          </a:prstGeom>
        </p:spPr>
      </p:pic>
      <p:sp>
        <p:nvSpPr>
          <p:cNvPr id="57" name="t3_53"/>
          <p:cNvSpPr txBox="1"/>
          <p:nvPr/>
        </p:nvSpPr>
        <p:spPr>
          <a:xfrm>
            <a:off x="12433300" y="4927600"/>
            <a:ext cx="1069340"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アルミ・ボーキサイト</a:t>
            </a:r>
            <a:endParaRPr lang="en-US" sz="760" dirty="0"/>
          </a:p>
        </p:txBody>
      </p:sp>
      <p:sp>
        <p:nvSpPr>
          <p:cNvPr id="58" name="t3_54"/>
          <p:cNvSpPr txBox="1"/>
          <p:nvPr/>
        </p:nvSpPr>
        <p:spPr>
          <a:xfrm>
            <a:off x="12433300" y="5105400"/>
            <a:ext cx="1042924" cy="378023"/>
          </a:xfrm>
          <a:prstGeom prst="rect">
            <a:avLst/>
          </a:prstGeom>
          <a:noFill/>
          <a:ln/>
        </p:spPr>
        <p:txBody>
          <a:bodyPr wrap="square" lIns="0" tIns="0" rIns="0" bIns="0" rtlCol="0" anchor="t"/>
          <a:lstStyle/>
          <a:p>
            <a:pPr algn="l" indent="0" marL="0">
              <a:lnSpc>
                <a:spcPts val="992"/>
              </a:lnSpc>
              <a:buNone/>
            </a:pPr>
            <a:r>
              <a:rPr lang="en-US" sz="64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640" dirty="0"/>
          </a:p>
        </p:txBody>
      </p:sp>
      <p:pic>
        <p:nvPicPr>
          <p:cNvPr id="59" name="Image 6" descr="preencoded.png">    </p:cNvPr>
          <p:cNvPicPr>
            <a:picLocks noChangeAspect="1"/>
          </p:cNvPicPr>
          <p:nvPr/>
        </p:nvPicPr>
        <p:blipFill>
          <a:blip r:embed="rId7"/>
          <a:stretch>
            <a:fillRect/>
          </a:stretch>
        </p:blipFill>
        <p:spPr>
          <a:xfrm>
            <a:off x="13500100" y="4089400"/>
            <a:ext cx="990600" cy="787400"/>
          </a:xfrm>
          <a:prstGeom prst="rect">
            <a:avLst/>
          </a:prstGeom>
        </p:spPr>
      </p:pic>
      <p:sp>
        <p:nvSpPr>
          <p:cNvPr id="60" name="t3_56"/>
          <p:cNvSpPr txBox="1"/>
          <p:nvPr/>
        </p:nvSpPr>
        <p:spPr>
          <a:xfrm>
            <a:off x="13500100" y="4927600"/>
            <a:ext cx="1069340"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二次資源</a:t>
            </a:r>
            <a:endParaRPr lang="en-US" sz="760" dirty="0"/>
          </a:p>
        </p:txBody>
      </p:sp>
      <p:sp>
        <p:nvSpPr>
          <p:cNvPr id="61" name="t3_57"/>
          <p:cNvSpPr txBox="1"/>
          <p:nvPr/>
        </p:nvSpPr>
        <p:spPr>
          <a:xfrm>
            <a:off x="13500100" y="5105400"/>
            <a:ext cx="1042924" cy="378023"/>
          </a:xfrm>
          <a:prstGeom prst="rect">
            <a:avLst/>
          </a:prstGeom>
          <a:noFill/>
          <a:ln/>
        </p:spPr>
        <p:txBody>
          <a:bodyPr wrap="square" lIns="0" tIns="0" rIns="0" bIns="0" rtlCol="0" anchor="t"/>
          <a:lstStyle/>
          <a:p>
            <a:pPr algn="l" indent="0" marL="0">
              <a:lnSpc>
                <a:spcPts val="992"/>
              </a:lnSpc>
              <a:buNone/>
            </a:pPr>
            <a:r>
              <a:rPr lang="en-US" sz="64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640" dirty="0"/>
          </a:p>
        </p:txBody>
      </p:sp>
      <p:sp>
        <p:nvSpPr>
          <p:cNvPr id="62" name="t3_58"/>
          <p:cNvSpPr txBox="1"/>
          <p:nvPr/>
        </p:nvSpPr>
        <p:spPr>
          <a:xfrm>
            <a:off x="8166100" y="57404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※鉄鉱石は主力3商品の一角だが、銅・原料炭と同格には押し出さず一覧の先頭に配置。原料炭・銅はP.06–07で紹介</a:t>
            </a:r>
            <a:endParaRPr lang="en-US" sz="620" dirty="0"/>
          </a:p>
        </p:txBody>
      </p:sp>
      <p:sp>
        <p:nvSpPr>
          <p:cNvPr id="63" name="Shape 53"/>
          <p:cNvSpPr/>
          <p:nvPr/>
        </p:nvSpPr>
        <p:spPr>
          <a:xfrm>
            <a:off x="8166100" y="6045200"/>
            <a:ext cx="6337300" cy="0"/>
          </a:xfrm>
          <a:prstGeom prst="line">
            <a:avLst/>
          </a:prstGeom>
          <a:noFill/>
          <a:ln w="12700">
            <a:solidFill>
              <a:srgbClr val="CFD2D5"/>
            </a:solidFill>
            <a:prstDash val="solid"/>
          </a:ln>
        </p:spPr>
      </p:sp>
      <p:sp>
        <p:nvSpPr>
          <p:cNvPr id="64" name="t3_60"/>
          <p:cNvSpPr txBox="1"/>
          <p:nvPr/>
        </p:nvSpPr>
        <p:spPr>
          <a:xfrm>
            <a:off x="8166100" y="61976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新技術への投資（CVC）</a:t>
            </a:r>
            <a:endParaRPr lang="en-US" sz="1800" dirty="0"/>
          </a:p>
        </p:txBody>
      </p:sp>
      <p:sp>
        <p:nvSpPr>
          <p:cNvPr id="65" name="t3_61"/>
          <p:cNvSpPr txBox="1"/>
          <p:nvPr/>
        </p:nvSpPr>
        <p:spPr>
          <a:xfrm>
            <a:off x="8166100" y="65532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銅のバリューチェーン全体に、新技術の網を張る</a:t>
            </a:r>
            <a:endParaRPr lang="en-US" sz="1000" dirty="0"/>
          </a:p>
        </p:txBody>
      </p:sp>
      <p:sp>
        <p:nvSpPr>
          <p:cNvPr id="66" name="t3_62"/>
          <p:cNvSpPr txBox="1"/>
          <p:nvPr/>
        </p:nvSpPr>
        <p:spPr>
          <a:xfrm>
            <a:off x="8166100" y="6832600"/>
            <a:ext cx="14224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川上｜採掘</a:t>
            </a:r>
            <a:endParaRPr lang="en-US" sz="740" dirty="0"/>
          </a:p>
        </p:txBody>
      </p:sp>
      <p:sp>
        <p:nvSpPr>
          <p:cNvPr id="67" name="t3_63"/>
          <p:cNvSpPr txBox="1"/>
          <p:nvPr/>
        </p:nvSpPr>
        <p:spPr>
          <a:xfrm>
            <a:off x="9613900" y="68834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68" name="t3_64"/>
          <p:cNvSpPr txBox="1"/>
          <p:nvPr/>
        </p:nvSpPr>
        <p:spPr>
          <a:xfrm>
            <a:off x="9766300" y="6832600"/>
            <a:ext cx="14224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精鉱</a:t>
            </a:r>
            <a:endParaRPr lang="en-US" sz="740" dirty="0"/>
          </a:p>
        </p:txBody>
      </p:sp>
      <p:sp>
        <p:nvSpPr>
          <p:cNvPr id="69" name="t3_65"/>
          <p:cNvSpPr txBox="1"/>
          <p:nvPr/>
        </p:nvSpPr>
        <p:spPr>
          <a:xfrm>
            <a:off x="11214100" y="68834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70" name="t3_66"/>
          <p:cNvSpPr txBox="1"/>
          <p:nvPr/>
        </p:nvSpPr>
        <p:spPr>
          <a:xfrm>
            <a:off x="11366500" y="6832600"/>
            <a:ext cx="14224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川中｜製錬</a:t>
            </a:r>
            <a:endParaRPr lang="en-US" sz="740" dirty="0"/>
          </a:p>
        </p:txBody>
      </p:sp>
      <p:sp>
        <p:nvSpPr>
          <p:cNvPr id="71" name="t3_67"/>
          <p:cNvSpPr txBox="1"/>
          <p:nvPr/>
        </p:nvSpPr>
        <p:spPr>
          <a:xfrm>
            <a:off x="12814300" y="68834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72" name="t3_68"/>
          <p:cNvSpPr txBox="1"/>
          <p:nvPr/>
        </p:nvSpPr>
        <p:spPr>
          <a:xfrm>
            <a:off x="12966700" y="6832600"/>
            <a:ext cx="14224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川下｜製品</a:t>
            </a:r>
            <a:endParaRPr lang="en-US" sz="740" dirty="0"/>
          </a:p>
        </p:txBody>
      </p:sp>
      <p:sp>
        <p:nvSpPr>
          <p:cNvPr id="73" name="Shape 63"/>
          <p:cNvSpPr/>
          <p:nvPr/>
        </p:nvSpPr>
        <p:spPr>
          <a:xfrm>
            <a:off x="8166100" y="7264400"/>
            <a:ext cx="0" cy="279400"/>
          </a:xfrm>
          <a:prstGeom prst="line">
            <a:avLst/>
          </a:prstGeom>
          <a:noFill/>
          <a:ln w="25400">
            <a:solidFill>
              <a:srgbClr val="888888"/>
            </a:solidFill>
            <a:prstDash val="solid"/>
          </a:ln>
        </p:spPr>
      </p:sp>
      <p:sp>
        <p:nvSpPr>
          <p:cNvPr id="74" name="t3_69"/>
          <p:cNvSpPr txBox="1"/>
          <p:nvPr/>
        </p:nvSpPr>
        <p:spPr>
          <a:xfrm>
            <a:off x="8166100" y="7264400"/>
            <a:ext cx="1993900" cy="279400"/>
          </a:xfrm>
          <a:prstGeom prst="rect">
            <a:avLst/>
          </a:prstGeom>
          <a:noFill/>
          <a:ln/>
        </p:spPr>
        <p:txBody>
          <a:bodyPr wrap="square" lIns="0" tIns="101600" rIns="0" bIns="0" rtlCol="0" anchor="t"/>
          <a:lstStyle/>
          <a:p>
            <a:pPr algn="l" indent="0" marL="0">
              <a:lnSpc>
                <a:spcPts val="1040"/>
              </a:lnSpc>
              <a:buNone/>
            </a:pPr>
            <a:r>
              <a:rPr lang="en-US" sz="800" dirty="0">
                <a:solidFill>
                  <a:srgbClr val="222222"/>
                </a:solidFill>
                <a:latin typeface="Yu Gothic" pitchFamily="34" charset="0"/>
                <a:ea typeface="Yu Gothic" pitchFamily="34" charset="-122"/>
                <a:cs typeface="Yu Gothic" pitchFamily="34" charset="-120"/>
              </a:rPr>
              <a:t>JETTI</a:t>
            </a:r>
            <a:endParaRPr lang="en-US" sz="800" dirty="0"/>
          </a:p>
          <a:p>
            <a:pPr algn="l" indent="0" marL="0">
              <a:lnSpc>
                <a:spcPts val="1040"/>
              </a:lnSpc>
              <a:buNone/>
            </a:pPr>
            <a:r>
              <a:rPr lang="en-US" sz="680" spc="80" kern="0" dirty="0">
                <a:solidFill>
                  <a:srgbClr val="666666"/>
                </a:solidFill>
                <a:latin typeface="Yu Gothic" pitchFamily="34" charset="0"/>
                <a:ea typeface="Yu Gothic" pitchFamily="34" charset="-122"/>
                <a:cs typeface="Yu Gothic" pitchFamily="34" charset="-120"/>
              </a:rPr>
              <a:t>（川上）</a:t>
            </a:r>
            <a:endParaRPr lang="en-US" sz="800" dirty="0"/>
          </a:p>
        </p:txBody>
      </p:sp>
      <p:sp>
        <p:nvSpPr>
          <p:cNvPr id="75" name="Shape 65"/>
          <p:cNvSpPr/>
          <p:nvPr/>
        </p:nvSpPr>
        <p:spPr>
          <a:xfrm>
            <a:off x="10325100" y="7264400"/>
            <a:ext cx="0" cy="279400"/>
          </a:xfrm>
          <a:prstGeom prst="line">
            <a:avLst/>
          </a:prstGeom>
          <a:noFill/>
          <a:ln w="25400">
            <a:solidFill>
              <a:srgbClr val="888888"/>
            </a:solidFill>
            <a:prstDash val="solid"/>
          </a:ln>
        </p:spPr>
      </p:sp>
      <p:sp>
        <p:nvSpPr>
          <p:cNvPr id="76" name="t3_70"/>
          <p:cNvSpPr txBox="1"/>
          <p:nvPr/>
        </p:nvSpPr>
        <p:spPr>
          <a:xfrm>
            <a:off x="10325100" y="7264400"/>
            <a:ext cx="1993900" cy="279400"/>
          </a:xfrm>
          <a:prstGeom prst="rect">
            <a:avLst/>
          </a:prstGeom>
          <a:noFill/>
          <a:ln/>
        </p:spPr>
        <p:txBody>
          <a:bodyPr wrap="square" lIns="0" tIns="101600" rIns="0" bIns="0" rtlCol="0" anchor="t"/>
          <a:lstStyle/>
          <a:p>
            <a:pPr algn="l" indent="0" marL="0">
              <a:lnSpc>
                <a:spcPts val="1040"/>
              </a:lnSpc>
              <a:buNone/>
            </a:pPr>
            <a:r>
              <a:rPr lang="en-US" sz="800" dirty="0">
                <a:solidFill>
                  <a:srgbClr val="222222"/>
                </a:solidFill>
                <a:latin typeface="Yu Gothic" pitchFamily="34" charset="0"/>
                <a:ea typeface="Yu Gothic" pitchFamily="34" charset="-122"/>
                <a:cs typeface="Yu Gothic" pitchFamily="34" charset="-120"/>
              </a:rPr>
              <a:t>CiDRA</a:t>
            </a:r>
            <a:endParaRPr lang="en-US" sz="800" dirty="0"/>
          </a:p>
          <a:p>
            <a:pPr algn="l" indent="0" marL="0">
              <a:lnSpc>
                <a:spcPts val="1040"/>
              </a:lnSpc>
              <a:buNone/>
            </a:pPr>
            <a:r>
              <a:rPr lang="en-US" sz="680" spc="80" kern="0" dirty="0">
                <a:solidFill>
                  <a:srgbClr val="666666"/>
                </a:solidFill>
                <a:latin typeface="Yu Gothic" pitchFamily="34" charset="0"/>
                <a:ea typeface="Yu Gothic" pitchFamily="34" charset="-122"/>
                <a:cs typeface="Yu Gothic" pitchFamily="34" charset="-120"/>
              </a:rPr>
              <a:t>（川上）</a:t>
            </a:r>
            <a:endParaRPr lang="en-US" sz="800" dirty="0"/>
          </a:p>
        </p:txBody>
      </p:sp>
      <p:sp>
        <p:nvSpPr>
          <p:cNvPr id="77" name="Shape 67"/>
          <p:cNvSpPr/>
          <p:nvPr/>
        </p:nvSpPr>
        <p:spPr>
          <a:xfrm>
            <a:off x="12484100" y="7264400"/>
            <a:ext cx="0" cy="279400"/>
          </a:xfrm>
          <a:prstGeom prst="line">
            <a:avLst/>
          </a:prstGeom>
          <a:noFill/>
          <a:ln w="25400">
            <a:solidFill>
              <a:srgbClr val="888888"/>
            </a:solidFill>
            <a:prstDash val="solid"/>
          </a:ln>
        </p:spPr>
      </p:sp>
      <p:sp>
        <p:nvSpPr>
          <p:cNvPr id="78" name="t3_71"/>
          <p:cNvSpPr txBox="1"/>
          <p:nvPr/>
        </p:nvSpPr>
        <p:spPr>
          <a:xfrm>
            <a:off x="12484100" y="7264400"/>
            <a:ext cx="1993900" cy="279400"/>
          </a:xfrm>
          <a:prstGeom prst="rect">
            <a:avLst/>
          </a:prstGeom>
          <a:noFill/>
          <a:ln/>
        </p:spPr>
        <p:txBody>
          <a:bodyPr wrap="square" lIns="0" tIns="101600" rIns="0" bIns="0" rtlCol="0" anchor="t"/>
          <a:lstStyle/>
          <a:p>
            <a:pPr algn="l" indent="0" marL="0">
              <a:lnSpc>
                <a:spcPts val="1040"/>
              </a:lnSpc>
              <a:buNone/>
            </a:pPr>
            <a:r>
              <a:rPr lang="en-US" sz="800" dirty="0">
                <a:solidFill>
                  <a:srgbClr val="222222"/>
                </a:solidFill>
                <a:latin typeface="Yu Gothic" pitchFamily="34" charset="0"/>
                <a:ea typeface="Yu Gothic" pitchFamily="34" charset="-122"/>
                <a:cs typeface="Yu Gothic" pitchFamily="34" charset="-120"/>
              </a:rPr>
              <a:t>Triland Metals</a:t>
            </a:r>
            <a:endParaRPr lang="en-US" sz="800" dirty="0"/>
          </a:p>
          <a:p>
            <a:pPr algn="l" indent="0" marL="0">
              <a:lnSpc>
                <a:spcPts val="1040"/>
              </a:lnSpc>
              <a:buNone/>
            </a:pPr>
            <a:r>
              <a:rPr lang="en-US" sz="680" spc="80" kern="0" dirty="0">
                <a:solidFill>
                  <a:srgbClr val="666666"/>
                </a:solidFill>
                <a:latin typeface="Yu Gothic" pitchFamily="34" charset="0"/>
                <a:ea typeface="Yu Gothic" pitchFamily="34" charset="-122"/>
                <a:cs typeface="Yu Gothic" pitchFamily="34" charset="-120"/>
              </a:rPr>
              <a:t>（流通）</a:t>
            </a:r>
            <a:endParaRPr lang="en-US" sz="800" dirty="0"/>
          </a:p>
        </p:txBody>
      </p:sp>
      <p:sp>
        <p:nvSpPr>
          <p:cNvPr id="79" name="t3_72"/>
          <p:cNvSpPr txBox="1"/>
          <p:nvPr/>
        </p:nvSpPr>
        <p:spPr>
          <a:xfrm>
            <a:off x="8166100" y="7772400"/>
            <a:ext cx="6603492" cy="346472"/>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80" name="t3_73"/>
          <p:cNvSpPr txBox="1"/>
          <p:nvPr/>
        </p:nvSpPr>
        <p:spPr>
          <a:xfrm>
            <a:off x="8166100" y="8131770"/>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110字／英語 約61語</a:t>
            </a:r>
            <a:endParaRPr lang="en-US" sz="580" dirty="0"/>
          </a:p>
        </p:txBody>
      </p:sp>
      <p:pic>
        <p:nvPicPr>
          <p:cNvPr id="81" name="Image 7" descr="preencoded.png">    </p:cNvPr>
          <p:cNvPicPr>
            <a:picLocks noChangeAspect="1"/>
          </p:cNvPicPr>
          <p:nvPr/>
        </p:nvPicPr>
        <p:blipFill>
          <a:blip r:embed="rId8"/>
          <a:stretch>
            <a:fillRect/>
          </a:stretch>
        </p:blipFill>
        <p:spPr>
          <a:xfrm>
            <a:off x="8166100" y="8280400"/>
            <a:ext cx="1905000" cy="1143000"/>
          </a:xfrm>
          <a:prstGeom prst="rect">
            <a:avLst/>
          </a:prstGeom>
        </p:spPr>
      </p:pic>
      <p:sp>
        <p:nvSpPr>
          <p:cNvPr id="82" name="Shape 71"/>
          <p:cNvSpPr/>
          <p:nvPr/>
        </p:nvSpPr>
        <p:spPr>
          <a:xfrm>
            <a:off x="8166100" y="8280400"/>
            <a:ext cx="1905000" cy="1143000"/>
          </a:xfrm>
          <a:prstGeom prst="rect">
            <a:avLst/>
          </a:prstGeom>
          <a:noFill/>
          <a:ln w="12700">
            <a:solidFill>
              <a:srgbClr val="C9CDD1"/>
            </a:solidFill>
            <a:prstDash val="solid"/>
          </a:ln>
        </p:spPr>
      </p:sp>
      <p:sp>
        <p:nvSpPr>
          <p:cNvPr id="83" name="t3_76"/>
          <p:cNvSpPr txBox="1"/>
          <p:nvPr/>
        </p:nvSpPr>
        <p:spPr>
          <a:xfrm>
            <a:off x="8166100" y="9461500"/>
            <a:ext cx="1993900" cy="114300"/>
          </a:xfrm>
          <a:prstGeom prst="rect">
            <a:avLst/>
          </a:prstGeom>
          <a:noFill/>
          <a:ln/>
        </p:spPr>
        <p:txBody>
          <a:bodyPr wrap="none" lIns="0" tIns="0" rIns="0" bIns="0" rtlCol="0" anchor="t"/>
          <a:lstStyle/>
          <a:p>
            <a:pPr algn="l" indent="0" marL="0">
              <a:lnSpc>
                <a:spcPts val="806"/>
              </a:lnSpc>
              <a:buNone/>
            </a:pPr>
            <a:r>
              <a:rPr lang="en-US" sz="620" spc="80" kern="0" dirty="0">
                <a:solidFill>
                  <a:srgbClr val="666666"/>
                </a:solidFill>
                <a:latin typeface="Yu Gothic" pitchFamily="34" charset="0"/>
                <a:ea typeface="Yu Gothic" pitchFamily="34" charset="-122"/>
                <a:cs typeface="Yu Gothic" pitchFamily="34" charset="-120"/>
              </a:rPr>
              <a:t>現状の図：Copper Value Chain（P41）</a:t>
            </a:r>
            <a:endParaRPr lang="en-US" sz="620" dirty="0"/>
          </a:p>
        </p:txBody>
      </p:sp>
      <p:sp>
        <p:nvSpPr>
          <p:cNvPr id="84" name="t3_77"/>
          <p:cNvSpPr txBox="1"/>
          <p:nvPr/>
        </p:nvSpPr>
        <p:spPr>
          <a:xfrm>
            <a:off x="10274300" y="8280400"/>
            <a:ext cx="4410964" cy="267891"/>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60" dirty="0"/>
          </a:p>
        </p:txBody>
      </p:sp>
      <p:sp>
        <p:nvSpPr>
          <p:cNvPr id="85" name="t3_78"/>
          <p:cNvSpPr txBox="1"/>
          <p:nvPr/>
        </p:nvSpPr>
        <p:spPr>
          <a:xfrm>
            <a:off x="8166100" y="97282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※「CVC」の定義（コーポレート・ベンチャー・キャピタル／銅バリューチェーン）と、各投資先のバリューチェーン上の位置を要確認。新技術の把握が既存事業の高度化・将来価値に還元される点を訴求</a:t>
            </a:r>
            <a:endParaRPr lang="en-US" sz="620" dirty="0"/>
          </a:p>
        </p:txBody>
      </p:sp>
      <p:sp>
        <p:nvSpPr>
          <p:cNvPr id="86" name="t3_79"/>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08</a:t>
            </a:r>
            <a:endParaRPr lang="en-US" sz="660" dirty="0"/>
          </a:p>
        </p:txBody>
      </p:sp>
      <p:sp>
        <p:nvSpPr>
          <p:cNvPr id="87" name="t3_80"/>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09</a:t>
            </a:r>
            <a:endParaRPr lang="en-US" sz="660" dirty="0"/>
          </a:p>
        </p:txBody>
      </p:sp>
      <p:sp>
        <p:nvSpPr>
          <p:cNvPr id="88" name="t3_81"/>
          <p:cNvSpPr txBox="1"/>
          <p:nvPr/>
        </p:nvSpPr>
        <p:spPr>
          <a:xfrm>
            <a:off x="3810000" y="10261600"/>
            <a:ext cx="4690864" cy="152400"/>
          </a:xfrm>
          <a:prstGeom prst="rect">
            <a:avLst/>
          </a:prstGeom>
          <a:solidFill>
            <a:srgbClr val="FFFFFF"/>
          </a:solidFill>
          <a:ln/>
        </p:spPr>
        <p:txBody>
          <a:bodyPr wrap="none" lIns="25400" tIns="38100" rIns="38100" bIns="25400" rtlCol="0" anchor="t"/>
          <a:lstStyle/>
          <a:p>
            <a:pPr algn="l" indent="0" marL="0">
              <a:lnSpc>
                <a:spcPts val="858"/>
              </a:lnSpc>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89" name="Shape 78"/>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4_0"/>
          <p:cNvSpPr txBox="1"/>
          <p:nvPr/>
        </p:nvSpPr>
        <p:spPr>
          <a:xfrm>
            <a:off x="609600" y="431800"/>
            <a:ext cx="3096355"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第3章　PROOF｜選ばれ続ける理由　—　実績・関係・評価</a:t>
            </a:r>
            <a:endParaRPr lang="en-US" sz="740" dirty="0"/>
          </a:p>
        </p:txBody>
      </p:sp>
      <p:sp>
        <p:nvSpPr>
          <p:cNvPr id="4" name="t4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読み手の心理：安心</a:t>
            </a:r>
            <a:endParaRPr lang="en-US" sz="660" dirty="0"/>
          </a:p>
        </p:txBody>
      </p:sp>
      <p:sp>
        <p:nvSpPr>
          <p:cNvPr id="5" name="t4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Partner of Choice</a:t>
            </a:r>
            <a:endParaRPr lang="en-US" sz="1800" dirty="0"/>
          </a:p>
        </p:txBody>
      </p:sp>
      <p:sp>
        <p:nvSpPr>
          <p:cNvPr id="6" name="t4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資源業界に不可欠な存在として、選ばれ続ける</a:t>
            </a:r>
            <a:endParaRPr lang="en-US" sz="1000" dirty="0"/>
          </a:p>
        </p:txBody>
      </p:sp>
      <p:sp>
        <p:nvSpPr>
          <p:cNvPr id="7" name="t4_4"/>
          <p:cNvSpPr txBox="1"/>
          <p:nvPr/>
        </p:nvSpPr>
        <p:spPr>
          <a:xfrm>
            <a:off x="2641600" y="838200"/>
            <a:ext cx="775295" cy="139700"/>
          </a:xfrm>
          <a:prstGeom prst="rect">
            <a:avLst/>
          </a:prstGeom>
          <a:solidFill>
            <a:srgbClr val="2A6FB0"/>
          </a:solidFill>
          <a:ln/>
        </p:spPr>
        <p:txBody>
          <a:bodyPr wrap="none" lIns="25400" tIns="38100" rIns="38100" bIns="25400" rtlCol="0" anchor="t"/>
          <a:lstStyle/>
          <a:p>
            <a:pPr algn="l" indent="0" marL="0">
              <a:lnSpc>
                <a:spcPts val="806"/>
              </a:lnSpc>
              <a:buNone/>
            </a:pPr>
            <a:r>
              <a:rPr lang="en-US" sz="620" spc="30" kern="0" dirty="0">
                <a:solidFill>
                  <a:srgbClr val="FFFFFF"/>
                </a:solidFill>
                <a:latin typeface="Yu Gothic" pitchFamily="34" charset="0"/>
                <a:ea typeface="Yu Gothic" pitchFamily="34" charset="-122"/>
                <a:cs typeface="Yu Gothic" pitchFamily="34" charset="-120"/>
              </a:rPr>
              <a:t>改善③ 1ページ化</a:t>
            </a:r>
            <a:endParaRPr lang="en-US" sz="620" dirty="0"/>
          </a:p>
        </p:txBody>
      </p:sp>
      <p:sp>
        <p:nvSpPr>
          <p:cNvPr id="8" name="t4_5"/>
          <p:cNvSpPr txBox="1"/>
          <p:nvPr/>
        </p:nvSpPr>
        <p:spPr>
          <a:xfrm>
            <a:off x="609600" y="1371600"/>
            <a:ext cx="318262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9" name="t4_6"/>
          <p:cNvSpPr txBox="1"/>
          <p:nvPr/>
        </p:nvSpPr>
        <p:spPr>
          <a:xfrm>
            <a:off x="609600" y="2077641"/>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120字／英語 約66語</a:t>
            </a:r>
            <a:endParaRPr lang="en-US" sz="580" dirty="0"/>
          </a:p>
        </p:txBody>
      </p:sp>
      <p:pic>
        <p:nvPicPr>
          <p:cNvPr id="10" name="Image 0" descr="preencoded.png">    </p:cNvPr>
          <p:cNvPicPr>
            <a:picLocks noChangeAspect="1"/>
          </p:cNvPicPr>
          <p:nvPr/>
        </p:nvPicPr>
        <p:blipFill>
          <a:blip r:embed="rId1"/>
          <a:stretch>
            <a:fillRect/>
          </a:stretch>
        </p:blipFill>
        <p:spPr>
          <a:xfrm>
            <a:off x="3898900" y="1371600"/>
            <a:ext cx="3048000" cy="1905000"/>
          </a:xfrm>
          <a:prstGeom prst="rect">
            <a:avLst/>
          </a:prstGeom>
        </p:spPr>
      </p:pic>
      <p:sp>
        <p:nvSpPr>
          <p:cNvPr id="11" name="t4_8"/>
          <p:cNvSpPr txBox="1"/>
          <p:nvPr/>
        </p:nvSpPr>
        <p:spPr>
          <a:xfrm>
            <a:off x="3898900" y="3314700"/>
            <a:ext cx="3182620"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写真：現場の人々（流用：三菱商事サイト）</a:t>
            </a:r>
            <a:endParaRPr lang="en-US" sz="680" dirty="0"/>
          </a:p>
        </p:txBody>
      </p:sp>
      <p:sp>
        <p:nvSpPr>
          <p:cNvPr id="12" name="t4_9"/>
          <p:cNvSpPr txBox="1"/>
          <p:nvPr/>
        </p:nvSpPr>
        <p:spPr>
          <a:xfrm>
            <a:off x="609600" y="3683000"/>
            <a:ext cx="3182620" cy="349647"/>
          </a:xfrm>
          <a:prstGeom prst="rect">
            <a:avLst/>
          </a:prstGeom>
          <a:noFill/>
          <a:ln/>
        </p:spPr>
        <p:txBody>
          <a:bodyPr wrap="square" lIns="0" tIns="0" rIns="0" bIns="0" rtlCol="0" anchor="t"/>
          <a:lstStyle/>
          <a:p>
            <a:pPr algn="l" indent="0" marL="0">
              <a:lnSpc>
                <a:spcPts val="1378"/>
              </a:lnSpc>
              <a:buNone/>
            </a:pPr>
            <a:r>
              <a:rPr lang="en-US" sz="950" dirty="0">
                <a:solidFill>
                  <a:srgbClr val="888888"/>
                </a:solidFill>
                <a:latin typeface="Yu Gothic" pitchFamily="34" charset="0"/>
                <a:ea typeface="Yu Gothic" pitchFamily="34" charset="-122"/>
                <a:cs typeface="Yu Gothic" pitchFamily="34" charset="-120"/>
              </a:rPr>
              <a:t>01</a:t>
            </a:r>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　資源メジャーとの</a:t>
            </a:r>
            <a:endParaRPr lang="en-US" sz="950" dirty="0"/>
          </a:p>
          <a:p>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企業文化的親和性</a:t>
            </a:r>
            <a:endParaRPr lang="en-US" sz="950" dirty="0"/>
          </a:p>
        </p:txBody>
      </p:sp>
      <p:sp>
        <p:nvSpPr>
          <p:cNvPr id="13" name="t4_10"/>
          <p:cNvSpPr txBox="1"/>
          <p:nvPr/>
        </p:nvSpPr>
        <p:spPr>
          <a:xfrm>
            <a:off x="609600" y="4089400"/>
            <a:ext cx="318262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14" name="t4_11"/>
          <p:cNvSpPr txBox="1"/>
          <p:nvPr/>
        </p:nvSpPr>
        <p:spPr>
          <a:xfrm>
            <a:off x="609600" y="43783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15" name="t4_12"/>
          <p:cNvSpPr txBox="1"/>
          <p:nvPr/>
        </p:nvSpPr>
        <p:spPr>
          <a:xfrm>
            <a:off x="3860800" y="3683000"/>
            <a:ext cx="3182620" cy="349647"/>
          </a:xfrm>
          <a:prstGeom prst="rect">
            <a:avLst/>
          </a:prstGeom>
          <a:noFill/>
          <a:ln/>
        </p:spPr>
        <p:txBody>
          <a:bodyPr wrap="square" lIns="0" tIns="0" rIns="0" bIns="0" rtlCol="0" anchor="t"/>
          <a:lstStyle/>
          <a:p>
            <a:pPr algn="l" indent="0" marL="0">
              <a:lnSpc>
                <a:spcPts val="1378"/>
              </a:lnSpc>
              <a:buNone/>
            </a:pPr>
            <a:r>
              <a:rPr lang="en-US" sz="950" dirty="0">
                <a:solidFill>
                  <a:srgbClr val="888888"/>
                </a:solidFill>
                <a:latin typeface="Yu Gothic" pitchFamily="34" charset="0"/>
                <a:ea typeface="Yu Gothic" pitchFamily="34" charset="-122"/>
                <a:cs typeface="Yu Gothic" pitchFamily="34" charset="-120"/>
              </a:rPr>
              <a:t>02</a:t>
            </a:r>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　資源投資経験に裏打ちされた</a:t>
            </a:r>
            <a:endParaRPr lang="en-US" sz="950" dirty="0"/>
          </a:p>
          <a:p>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JV経営力</a:t>
            </a:r>
            <a:endParaRPr lang="en-US" sz="950" dirty="0"/>
          </a:p>
        </p:txBody>
      </p:sp>
      <p:sp>
        <p:nvSpPr>
          <p:cNvPr id="16" name="t4_13"/>
          <p:cNvSpPr txBox="1"/>
          <p:nvPr/>
        </p:nvSpPr>
        <p:spPr>
          <a:xfrm>
            <a:off x="3860800" y="4089400"/>
            <a:ext cx="318262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17" name="t4_14"/>
          <p:cNvSpPr txBox="1"/>
          <p:nvPr/>
        </p:nvSpPr>
        <p:spPr>
          <a:xfrm>
            <a:off x="3860800" y="43783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18" name="t4_15"/>
          <p:cNvSpPr txBox="1"/>
          <p:nvPr/>
        </p:nvSpPr>
        <p:spPr>
          <a:xfrm>
            <a:off x="609600" y="4851400"/>
            <a:ext cx="3182620" cy="349647"/>
          </a:xfrm>
          <a:prstGeom prst="rect">
            <a:avLst/>
          </a:prstGeom>
          <a:noFill/>
          <a:ln/>
        </p:spPr>
        <p:txBody>
          <a:bodyPr wrap="square" lIns="0" tIns="0" rIns="0" bIns="0" rtlCol="0" anchor="t"/>
          <a:lstStyle/>
          <a:p>
            <a:pPr algn="l" indent="0" marL="0">
              <a:lnSpc>
                <a:spcPts val="1378"/>
              </a:lnSpc>
              <a:buNone/>
            </a:pPr>
            <a:r>
              <a:rPr lang="en-US" sz="950" dirty="0">
                <a:solidFill>
                  <a:srgbClr val="888888"/>
                </a:solidFill>
                <a:latin typeface="Yu Gothic" pitchFamily="34" charset="0"/>
                <a:ea typeface="Yu Gothic" pitchFamily="34" charset="-122"/>
                <a:cs typeface="Yu Gothic" pitchFamily="34" charset="-120"/>
              </a:rPr>
              <a:t>03</a:t>
            </a:r>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　事業ポートフォリオを活かした</a:t>
            </a:r>
            <a:endParaRPr lang="en-US" sz="950" dirty="0"/>
          </a:p>
          <a:p>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健全な財務基盤</a:t>
            </a:r>
            <a:endParaRPr lang="en-US" sz="950" dirty="0"/>
          </a:p>
        </p:txBody>
      </p:sp>
      <p:sp>
        <p:nvSpPr>
          <p:cNvPr id="19" name="t4_16"/>
          <p:cNvSpPr txBox="1"/>
          <p:nvPr/>
        </p:nvSpPr>
        <p:spPr>
          <a:xfrm>
            <a:off x="609600" y="5257800"/>
            <a:ext cx="318262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20" name="t4_17"/>
          <p:cNvSpPr txBox="1"/>
          <p:nvPr/>
        </p:nvSpPr>
        <p:spPr>
          <a:xfrm>
            <a:off x="609600" y="55467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21" name="t4_18"/>
          <p:cNvSpPr txBox="1"/>
          <p:nvPr/>
        </p:nvSpPr>
        <p:spPr>
          <a:xfrm>
            <a:off x="3860800" y="4851400"/>
            <a:ext cx="3182620" cy="349647"/>
          </a:xfrm>
          <a:prstGeom prst="rect">
            <a:avLst/>
          </a:prstGeom>
          <a:noFill/>
          <a:ln/>
        </p:spPr>
        <p:txBody>
          <a:bodyPr wrap="square" lIns="0" tIns="0" rIns="0" bIns="0" rtlCol="0" anchor="t"/>
          <a:lstStyle/>
          <a:p>
            <a:pPr algn="l" indent="0" marL="0">
              <a:lnSpc>
                <a:spcPts val="1378"/>
              </a:lnSpc>
              <a:buNone/>
            </a:pPr>
            <a:r>
              <a:rPr lang="en-US" sz="950" dirty="0">
                <a:solidFill>
                  <a:srgbClr val="888888"/>
                </a:solidFill>
                <a:latin typeface="Yu Gothic" pitchFamily="34" charset="0"/>
                <a:ea typeface="Yu Gothic" pitchFamily="34" charset="-122"/>
                <a:cs typeface="Yu Gothic" pitchFamily="34" charset="-120"/>
              </a:rPr>
              <a:t>04</a:t>
            </a:r>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　マクロ環境とバリューチェーンに</a:t>
            </a:r>
            <a:endParaRPr lang="en-US" sz="950" dirty="0"/>
          </a:p>
          <a:p>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対する深い知見</a:t>
            </a:r>
            <a:endParaRPr lang="en-US" sz="950" dirty="0"/>
          </a:p>
        </p:txBody>
      </p:sp>
      <p:sp>
        <p:nvSpPr>
          <p:cNvPr id="22" name="t4_19"/>
          <p:cNvSpPr txBox="1"/>
          <p:nvPr/>
        </p:nvSpPr>
        <p:spPr>
          <a:xfrm>
            <a:off x="3860800" y="5257800"/>
            <a:ext cx="318262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23" name="t4_20"/>
          <p:cNvSpPr txBox="1"/>
          <p:nvPr/>
        </p:nvSpPr>
        <p:spPr>
          <a:xfrm>
            <a:off x="3860800" y="55467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24" name="Shape 20"/>
          <p:cNvSpPr/>
          <p:nvPr/>
        </p:nvSpPr>
        <p:spPr>
          <a:xfrm>
            <a:off x="609600" y="6045200"/>
            <a:ext cx="6337300" cy="0"/>
          </a:xfrm>
          <a:prstGeom prst="line">
            <a:avLst/>
          </a:prstGeom>
          <a:noFill/>
          <a:ln w="12700">
            <a:solidFill>
              <a:srgbClr val="CFD2D5"/>
            </a:solidFill>
            <a:prstDash val="solid"/>
          </a:ln>
        </p:spPr>
      </p:sp>
      <p:sp>
        <p:nvSpPr>
          <p:cNvPr id="25" name="t4_22"/>
          <p:cNvSpPr txBox="1"/>
          <p:nvPr/>
        </p:nvSpPr>
        <p:spPr>
          <a:xfrm>
            <a:off x="609600" y="6172200"/>
            <a:ext cx="1014444"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444444"/>
                </a:solidFill>
                <a:latin typeface="Yu Gothic" pitchFamily="34" charset="0"/>
                <a:ea typeface="Yu Gothic" pitchFamily="34" charset="-122"/>
                <a:cs typeface="Yu Gothic" pitchFamily="34" charset="-120"/>
              </a:rPr>
              <a:t>業界最大手とのJV実績</a:t>
            </a:r>
            <a:endParaRPr lang="en-US" sz="680" dirty="0"/>
          </a:p>
        </p:txBody>
      </p:sp>
      <p:sp>
        <p:nvSpPr>
          <p:cNvPr id="26" name="t4_23"/>
          <p:cNvSpPr txBox="1"/>
          <p:nvPr/>
        </p:nvSpPr>
        <p:spPr>
          <a:xfrm>
            <a:off x="609600" y="6350000"/>
            <a:ext cx="19812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BHP</a:t>
            </a:r>
            <a:endParaRPr lang="en-US" sz="740" dirty="0"/>
          </a:p>
        </p:txBody>
      </p:sp>
      <p:sp>
        <p:nvSpPr>
          <p:cNvPr id="27" name="t4_24"/>
          <p:cNvSpPr txBox="1"/>
          <p:nvPr/>
        </p:nvSpPr>
        <p:spPr>
          <a:xfrm>
            <a:off x="2743200" y="6350000"/>
            <a:ext cx="19812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Rio Tinto</a:t>
            </a:r>
            <a:endParaRPr lang="en-US" sz="740" dirty="0"/>
          </a:p>
        </p:txBody>
      </p:sp>
      <p:sp>
        <p:nvSpPr>
          <p:cNvPr id="28" name="t4_25"/>
          <p:cNvSpPr txBox="1"/>
          <p:nvPr/>
        </p:nvSpPr>
        <p:spPr>
          <a:xfrm>
            <a:off x="4876800" y="6350000"/>
            <a:ext cx="19812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Anglo American</a:t>
            </a:r>
            <a:endParaRPr lang="en-US" sz="740" dirty="0"/>
          </a:p>
        </p:txBody>
      </p:sp>
      <p:sp>
        <p:nvSpPr>
          <p:cNvPr id="29" name="t4_26"/>
          <p:cNvSpPr txBox="1"/>
          <p:nvPr/>
        </p:nvSpPr>
        <p:spPr>
          <a:xfrm>
            <a:off x="609600" y="6781800"/>
            <a:ext cx="2018665"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444444"/>
                </a:solidFill>
                <a:latin typeface="Yu Gothic" pitchFamily="34" charset="0"/>
                <a:ea typeface="Yu Gothic" pitchFamily="34" charset="-122"/>
                <a:cs typeface="Yu Gothic" pitchFamily="34" charset="-120"/>
              </a:rPr>
              <a:t>単なる共同出資者に留まらない、JVへの貢献</a:t>
            </a:r>
            <a:endParaRPr lang="en-US" sz="680" dirty="0"/>
          </a:p>
        </p:txBody>
      </p:sp>
      <p:sp>
        <p:nvSpPr>
          <p:cNvPr id="30" name="t4_27"/>
          <p:cNvSpPr txBox="1"/>
          <p:nvPr/>
        </p:nvSpPr>
        <p:spPr>
          <a:xfrm>
            <a:off x="609600" y="6959600"/>
            <a:ext cx="19812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人材派遣</a:t>
            </a:r>
            <a:endParaRPr lang="en-US" sz="740" dirty="0"/>
          </a:p>
        </p:txBody>
      </p:sp>
      <p:sp>
        <p:nvSpPr>
          <p:cNvPr id="31" name="t4_28"/>
          <p:cNvSpPr txBox="1"/>
          <p:nvPr/>
        </p:nvSpPr>
        <p:spPr>
          <a:xfrm>
            <a:off x="609600" y="7416800"/>
            <a:ext cx="2073148" cy="267891"/>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60" dirty="0"/>
          </a:p>
        </p:txBody>
      </p:sp>
      <p:sp>
        <p:nvSpPr>
          <p:cNvPr id="32" name="t4_29"/>
          <p:cNvSpPr txBox="1"/>
          <p:nvPr/>
        </p:nvSpPr>
        <p:spPr>
          <a:xfrm>
            <a:off x="2743200" y="6959600"/>
            <a:ext cx="19812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ガバナンス参画</a:t>
            </a:r>
            <a:endParaRPr lang="en-US" sz="740" dirty="0"/>
          </a:p>
        </p:txBody>
      </p:sp>
      <p:sp>
        <p:nvSpPr>
          <p:cNvPr id="33" name="t4_30"/>
          <p:cNvSpPr txBox="1"/>
          <p:nvPr/>
        </p:nvSpPr>
        <p:spPr>
          <a:xfrm>
            <a:off x="2743200" y="7416800"/>
            <a:ext cx="2073148" cy="267891"/>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60" dirty="0"/>
          </a:p>
        </p:txBody>
      </p:sp>
      <p:sp>
        <p:nvSpPr>
          <p:cNvPr id="34" name="t4_31"/>
          <p:cNvSpPr txBox="1"/>
          <p:nvPr/>
        </p:nvSpPr>
        <p:spPr>
          <a:xfrm>
            <a:off x="4876800" y="6959600"/>
            <a:ext cx="19812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三菱の総合力による</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事業価値の最大化</a:t>
            </a:r>
            <a:endParaRPr lang="en-US" sz="740" dirty="0"/>
          </a:p>
        </p:txBody>
      </p:sp>
      <p:sp>
        <p:nvSpPr>
          <p:cNvPr id="35" name="t4_32"/>
          <p:cNvSpPr txBox="1"/>
          <p:nvPr/>
        </p:nvSpPr>
        <p:spPr>
          <a:xfrm>
            <a:off x="4876800" y="7416800"/>
            <a:ext cx="2073148" cy="267891"/>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60" dirty="0"/>
          </a:p>
        </p:txBody>
      </p:sp>
      <p:sp>
        <p:nvSpPr>
          <p:cNvPr id="36" name="Shape 32"/>
          <p:cNvSpPr/>
          <p:nvPr/>
        </p:nvSpPr>
        <p:spPr>
          <a:xfrm>
            <a:off x="609600" y="7975600"/>
            <a:ext cx="6337300" cy="0"/>
          </a:xfrm>
          <a:prstGeom prst="line">
            <a:avLst/>
          </a:prstGeom>
          <a:noFill/>
          <a:ln w="12700">
            <a:solidFill>
              <a:srgbClr val="CFD2D5"/>
            </a:solidFill>
            <a:prstDash val="solid"/>
          </a:ln>
        </p:spPr>
      </p:sp>
      <p:sp>
        <p:nvSpPr>
          <p:cNvPr id="37" name="t4_34"/>
          <p:cNvSpPr txBox="1"/>
          <p:nvPr/>
        </p:nvSpPr>
        <p:spPr>
          <a:xfrm>
            <a:off x="609600" y="8102600"/>
            <a:ext cx="1317196"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444444"/>
                </a:solidFill>
                <a:latin typeface="Yu Gothic" pitchFamily="34" charset="0"/>
                <a:ea typeface="Yu Gothic" pitchFamily="34" charset="-122"/>
                <a:cs typeface="Yu Gothic" pitchFamily="34" charset="-120"/>
              </a:rPr>
              <a:t>パートナーに評価される理由</a:t>
            </a:r>
            <a:endParaRPr lang="en-US" sz="680" dirty="0"/>
          </a:p>
        </p:txBody>
      </p:sp>
      <p:sp>
        <p:nvSpPr>
          <p:cNvPr id="38" name="t4_35"/>
          <p:cNvSpPr txBox="1"/>
          <p:nvPr/>
        </p:nvSpPr>
        <p:spPr>
          <a:xfrm>
            <a:off x="609600" y="8305800"/>
            <a:ext cx="207314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中長期的な視座</a:t>
            </a:r>
            <a:endParaRPr lang="en-US" sz="900" dirty="0"/>
          </a:p>
        </p:txBody>
      </p:sp>
      <p:sp>
        <p:nvSpPr>
          <p:cNvPr id="39" name="t4_36"/>
          <p:cNvSpPr txBox="1"/>
          <p:nvPr/>
        </p:nvSpPr>
        <p:spPr>
          <a:xfrm>
            <a:off x="609600" y="8509000"/>
            <a:ext cx="2073148" cy="401836"/>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660" dirty="0"/>
          </a:p>
        </p:txBody>
      </p:sp>
      <p:sp>
        <p:nvSpPr>
          <p:cNvPr id="40" name="t4_37"/>
          <p:cNvSpPr txBox="1"/>
          <p:nvPr/>
        </p:nvSpPr>
        <p:spPr>
          <a:xfrm>
            <a:off x="2743200" y="8305800"/>
            <a:ext cx="207314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リスクシェアリング</a:t>
            </a:r>
            <a:endParaRPr lang="en-US" sz="900" dirty="0"/>
          </a:p>
        </p:txBody>
      </p:sp>
      <p:sp>
        <p:nvSpPr>
          <p:cNvPr id="41" name="t4_38"/>
          <p:cNvSpPr txBox="1"/>
          <p:nvPr/>
        </p:nvSpPr>
        <p:spPr>
          <a:xfrm>
            <a:off x="2743200" y="8509000"/>
            <a:ext cx="2073148" cy="401836"/>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660" dirty="0"/>
          </a:p>
        </p:txBody>
      </p:sp>
      <p:sp>
        <p:nvSpPr>
          <p:cNvPr id="42" name="t4_39"/>
          <p:cNvSpPr txBox="1"/>
          <p:nvPr/>
        </p:nvSpPr>
        <p:spPr>
          <a:xfrm>
            <a:off x="4876800" y="8305800"/>
            <a:ext cx="207314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総合力</a:t>
            </a:r>
            <a:endParaRPr lang="en-US" sz="900" dirty="0"/>
          </a:p>
        </p:txBody>
      </p:sp>
      <p:sp>
        <p:nvSpPr>
          <p:cNvPr id="43" name="t4_40"/>
          <p:cNvSpPr txBox="1"/>
          <p:nvPr/>
        </p:nvSpPr>
        <p:spPr>
          <a:xfrm>
            <a:off x="4876800" y="8509000"/>
            <a:ext cx="2073148" cy="401836"/>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660" dirty="0"/>
          </a:p>
        </p:txBody>
      </p:sp>
      <p:sp>
        <p:nvSpPr>
          <p:cNvPr id="44" name="t4_41"/>
          <p:cNvSpPr txBox="1"/>
          <p:nvPr/>
        </p:nvSpPr>
        <p:spPr>
          <a:xfrm>
            <a:off x="609600" y="92456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他社ロゴは使用しない（社名はテキスト表記）。財務貢献だけを強調すると「資金提供に留まる」と受け取られるため、JV経営への関与と総合力を併せて示し、PEファンド等との違いを明確にする（PwC様レビューNo.19／参照：金属資源G資料 P38の2ページ後）</a:t>
            </a:r>
            <a:endParaRPr lang="en-US" sz="620" dirty="0"/>
          </a:p>
        </p:txBody>
      </p:sp>
      <p:sp>
        <p:nvSpPr>
          <p:cNvPr id="45" name="t4_42"/>
          <p:cNvSpPr txBox="1"/>
          <p:nvPr/>
        </p:nvSpPr>
        <p:spPr>
          <a:xfrm>
            <a:off x="8166100" y="431800"/>
            <a:ext cx="3231531"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第4章　VISION｜何を実現するか　—　社会課題への取り組み</a:t>
            </a:r>
            <a:endParaRPr lang="en-US" sz="740" dirty="0"/>
          </a:p>
        </p:txBody>
      </p:sp>
      <p:sp>
        <p:nvSpPr>
          <p:cNvPr id="46" name="t4_43"/>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読み手の心理：期待</a:t>
            </a:r>
            <a:endParaRPr lang="en-US" sz="660" dirty="0"/>
          </a:p>
        </p:txBody>
      </p:sp>
      <p:sp>
        <p:nvSpPr>
          <p:cNvPr id="47" name="t4_44"/>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外部環境と社会課題</a:t>
            </a:r>
            <a:endParaRPr lang="en-US" sz="1800" dirty="0"/>
          </a:p>
        </p:txBody>
      </p:sp>
      <p:sp>
        <p:nvSpPr>
          <p:cNvPr id="48" name="t4_45"/>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クリティカルミネラルを取り巻く外部環境に、安定供給と効率的な供給の両面で応える</a:t>
            </a:r>
            <a:endParaRPr lang="en-US" sz="1000" dirty="0"/>
          </a:p>
        </p:txBody>
      </p:sp>
      <p:sp>
        <p:nvSpPr>
          <p:cNvPr id="49" name="t4_46"/>
          <p:cNvSpPr txBox="1"/>
          <p:nvPr/>
        </p:nvSpPr>
        <p:spPr>
          <a:xfrm>
            <a:off x="8166100" y="1422400"/>
            <a:ext cx="414099"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444444"/>
                </a:solidFill>
                <a:latin typeface="Yu Gothic" pitchFamily="34" charset="0"/>
                <a:ea typeface="Yu Gothic" pitchFamily="34" charset="-122"/>
                <a:cs typeface="Yu Gothic" pitchFamily="34" charset="-120"/>
              </a:rPr>
              <a:t>外部環境</a:t>
            </a:r>
            <a:endParaRPr lang="en-US" sz="680" dirty="0"/>
          </a:p>
        </p:txBody>
      </p:sp>
      <p:sp>
        <p:nvSpPr>
          <p:cNvPr id="50" name="t4_47"/>
          <p:cNvSpPr txBox="1"/>
          <p:nvPr/>
        </p:nvSpPr>
        <p:spPr>
          <a:xfrm>
            <a:off x="8420100" y="1625600"/>
            <a:ext cx="1143000" cy="1143000"/>
          </a:xfrm>
          <a:prstGeom prst="roundRect">
            <a:avLst>
              <a:gd name="adj" fmla="val 40000"/>
            </a:avLst>
          </a:prstGeom>
          <a:noFill/>
          <a:ln w="12700">
            <a:solidFill>
              <a:srgbClr val="9AA0A6"/>
            </a:solidFill>
            <a:prstDash val="solid"/>
          </a:ln>
        </p:spPr>
        <p:txBody>
          <a:bodyPr wrap="square" lIns="25400" tIns="38100" rIns="38100" bIns="25400" rtlCol="0" anchor="ctr"/>
          <a:lstStyle/>
          <a:p>
            <a:pPr algn="ctr" indent="0" marL="0">
              <a:lnSpc>
                <a:spcPts val="1134"/>
              </a:lnSpc>
              <a:buNone/>
            </a:pPr>
            <a:r>
              <a:rPr lang="en-US" sz="840" dirty="0">
                <a:solidFill>
                  <a:srgbClr val="222222"/>
                </a:solidFill>
                <a:latin typeface="Yu Gothic" pitchFamily="34" charset="0"/>
                <a:ea typeface="Yu Gothic" pitchFamily="34" charset="-122"/>
                <a:cs typeface="Yu Gothic" pitchFamily="34" charset="-120"/>
              </a:rPr>
              <a:t>クリティカル</a:t>
            </a:r>
            <a:endParaRPr lang="en-US" sz="840" dirty="0"/>
          </a:p>
          <a:p>
            <a:pPr algn="ctr" indent="0" marL="0">
              <a:lnSpc>
                <a:spcPts val="1134"/>
              </a:lnSpc>
              <a:buNone/>
            </a:pPr>
            <a:r>
              <a:rPr lang="en-US" sz="840" dirty="0">
                <a:solidFill>
                  <a:srgbClr val="222222"/>
                </a:solidFill>
                <a:latin typeface="Yu Gothic" pitchFamily="34" charset="0"/>
                <a:ea typeface="Yu Gothic" pitchFamily="34" charset="-122"/>
                <a:cs typeface="Yu Gothic" pitchFamily="34" charset="-120"/>
              </a:rPr>
              <a:t>ミネラル</a:t>
            </a:r>
            <a:endParaRPr lang="en-US" sz="840" dirty="0"/>
          </a:p>
        </p:txBody>
      </p:sp>
      <p:sp>
        <p:nvSpPr>
          <p:cNvPr id="51" name="Shape 47"/>
          <p:cNvSpPr/>
          <p:nvPr/>
        </p:nvSpPr>
        <p:spPr>
          <a:xfrm>
            <a:off x="9817100" y="1600200"/>
            <a:ext cx="0" cy="139700"/>
          </a:xfrm>
          <a:prstGeom prst="line">
            <a:avLst/>
          </a:prstGeom>
          <a:noFill/>
          <a:ln w="12700">
            <a:solidFill>
              <a:srgbClr val="555555"/>
            </a:solidFill>
            <a:prstDash val="solid"/>
          </a:ln>
        </p:spPr>
      </p:sp>
      <p:sp>
        <p:nvSpPr>
          <p:cNvPr id="52" name="t4_48"/>
          <p:cNvSpPr txBox="1"/>
          <p:nvPr/>
        </p:nvSpPr>
        <p:spPr>
          <a:xfrm>
            <a:off x="9817100" y="1600200"/>
            <a:ext cx="4767580" cy="139700"/>
          </a:xfrm>
          <a:prstGeom prst="rect">
            <a:avLst/>
          </a:prstGeom>
          <a:noFill/>
          <a:ln/>
        </p:spPr>
        <p:txBody>
          <a:bodyPr wrap="none" lIns="0" tIns="10160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産業構造の転換（人口増・電化による需要の拡大）</a:t>
            </a:r>
            <a:endParaRPr lang="en-US" sz="760" dirty="0"/>
          </a:p>
        </p:txBody>
      </p:sp>
      <p:sp>
        <p:nvSpPr>
          <p:cNvPr id="53" name="t4_49"/>
          <p:cNvSpPr txBox="1"/>
          <p:nvPr/>
        </p:nvSpPr>
        <p:spPr>
          <a:xfrm>
            <a:off x="9906000" y="1752600"/>
            <a:ext cx="4767580" cy="110236"/>
          </a:xfrm>
          <a:prstGeom prst="rect">
            <a:avLst/>
          </a:prstGeom>
          <a:noFill/>
          <a:ln/>
        </p:spPr>
        <p:txBody>
          <a:bodyPr wrap="none" lIns="0" tIns="0" rIns="0" bIns="0" rtlCol="0" anchor="t"/>
          <a:lstStyle/>
          <a:p>
            <a:pPr algn="l" indent="0" marL="0">
              <a:lnSpc>
                <a:spcPts val="868"/>
              </a:lnSpc>
              <a:buNone/>
            </a:pPr>
            <a:r>
              <a:rPr lang="en-US" sz="62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620" dirty="0"/>
          </a:p>
        </p:txBody>
      </p:sp>
      <p:sp>
        <p:nvSpPr>
          <p:cNvPr id="54" name="Shape 50"/>
          <p:cNvSpPr/>
          <p:nvPr/>
        </p:nvSpPr>
        <p:spPr>
          <a:xfrm>
            <a:off x="9817100" y="2006600"/>
            <a:ext cx="0" cy="139700"/>
          </a:xfrm>
          <a:prstGeom prst="line">
            <a:avLst/>
          </a:prstGeom>
          <a:noFill/>
          <a:ln w="12700">
            <a:solidFill>
              <a:srgbClr val="555555"/>
            </a:solidFill>
            <a:prstDash val="solid"/>
          </a:ln>
        </p:spPr>
      </p:sp>
      <p:sp>
        <p:nvSpPr>
          <p:cNvPr id="55" name="t4_50"/>
          <p:cNvSpPr txBox="1"/>
          <p:nvPr/>
        </p:nvSpPr>
        <p:spPr>
          <a:xfrm>
            <a:off x="9817100" y="2006600"/>
            <a:ext cx="4767580" cy="139700"/>
          </a:xfrm>
          <a:prstGeom prst="rect">
            <a:avLst/>
          </a:prstGeom>
          <a:noFill/>
          <a:ln/>
        </p:spPr>
        <p:txBody>
          <a:bodyPr wrap="none" lIns="0" tIns="10160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供給制約の深刻化</a:t>
            </a:r>
            <a:endParaRPr lang="en-US" sz="760" dirty="0"/>
          </a:p>
        </p:txBody>
      </p:sp>
      <p:sp>
        <p:nvSpPr>
          <p:cNvPr id="56" name="t4_51"/>
          <p:cNvSpPr txBox="1"/>
          <p:nvPr/>
        </p:nvSpPr>
        <p:spPr>
          <a:xfrm>
            <a:off x="9906000" y="2159000"/>
            <a:ext cx="4767580" cy="110236"/>
          </a:xfrm>
          <a:prstGeom prst="rect">
            <a:avLst/>
          </a:prstGeom>
          <a:noFill/>
          <a:ln/>
        </p:spPr>
        <p:txBody>
          <a:bodyPr wrap="none" lIns="0" tIns="0" rIns="0" bIns="0" rtlCol="0" anchor="t"/>
          <a:lstStyle/>
          <a:p>
            <a:pPr algn="l" indent="0" marL="0">
              <a:lnSpc>
                <a:spcPts val="868"/>
              </a:lnSpc>
              <a:buNone/>
            </a:pPr>
            <a:r>
              <a:rPr lang="en-US" sz="62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620" dirty="0"/>
          </a:p>
        </p:txBody>
      </p:sp>
      <p:sp>
        <p:nvSpPr>
          <p:cNvPr id="57" name="Shape 53"/>
          <p:cNvSpPr/>
          <p:nvPr/>
        </p:nvSpPr>
        <p:spPr>
          <a:xfrm>
            <a:off x="9817100" y="2413000"/>
            <a:ext cx="0" cy="139700"/>
          </a:xfrm>
          <a:prstGeom prst="line">
            <a:avLst/>
          </a:prstGeom>
          <a:noFill/>
          <a:ln w="12700">
            <a:solidFill>
              <a:srgbClr val="555555"/>
            </a:solidFill>
            <a:prstDash val="solid"/>
          </a:ln>
        </p:spPr>
      </p:sp>
      <p:sp>
        <p:nvSpPr>
          <p:cNvPr id="58" name="t4_52"/>
          <p:cNvSpPr txBox="1"/>
          <p:nvPr/>
        </p:nvSpPr>
        <p:spPr>
          <a:xfrm>
            <a:off x="9817100" y="2413000"/>
            <a:ext cx="4767580" cy="139700"/>
          </a:xfrm>
          <a:prstGeom prst="rect">
            <a:avLst/>
          </a:prstGeom>
          <a:noFill/>
          <a:ln/>
        </p:spPr>
        <p:txBody>
          <a:bodyPr wrap="none" lIns="0" tIns="10160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地政学リスクの常態化</a:t>
            </a:r>
            <a:endParaRPr lang="en-US" sz="760" dirty="0"/>
          </a:p>
        </p:txBody>
      </p:sp>
      <p:sp>
        <p:nvSpPr>
          <p:cNvPr id="59" name="t4_53"/>
          <p:cNvSpPr txBox="1"/>
          <p:nvPr/>
        </p:nvSpPr>
        <p:spPr>
          <a:xfrm>
            <a:off x="9906000" y="2565400"/>
            <a:ext cx="4767580" cy="110236"/>
          </a:xfrm>
          <a:prstGeom prst="rect">
            <a:avLst/>
          </a:prstGeom>
          <a:noFill/>
          <a:ln/>
        </p:spPr>
        <p:txBody>
          <a:bodyPr wrap="none" lIns="0" tIns="0" rIns="0" bIns="0" rtlCol="0" anchor="t"/>
          <a:lstStyle/>
          <a:p>
            <a:pPr algn="l" indent="0" marL="0">
              <a:lnSpc>
                <a:spcPts val="868"/>
              </a:lnSpc>
              <a:buNone/>
            </a:pPr>
            <a:r>
              <a:rPr lang="en-US" sz="62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620" dirty="0"/>
          </a:p>
        </p:txBody>
      </p:sp>
      <p:sp>
        <p:nvSpPr>
          <p:cNvPr id="60" name="t4_54"/>
          <p:cNvSpPr txBox="1"/>
          <p:nvPr/>
        </p:nvSpPr>
        <p:spPr>
          <a:xfrm>
            <a:off x="8166100" y="2870200"/>
            <a:ext cx="6337300" cy="254000"/>
          </a:xfrm>
          <a:prstGeom prst="rect">
            <a:avLst/>
          </a:prstGeom>
          <a:noFill/>
          <a:ln w="12700">
            <a:solidFill>
              <a:srgbClr val="9AA0A6"/>
            </a:solidFill>
            <a:prstDash val="solid"/>
          </a:ln>
        </p:spPr>
        <p:txBody>
          <a:bodyPr wrap="square" lIns="25400" tIns="38100" rIns="38100" bIns="25400" rtlCol="0" anchor="ctr"/>
          <a:lstStyle/>
          <a:p>
            <a:pPr algn="ctr" indent="0" marL="0">
              <a:lnSpc>
                <a:spcPts val="1026"/>
              </a:lnSpc>
              <a:buNone/>
            </a:pPr>
            <a:r>
              <a:rPr lang="en-US" sz="760" dirty="0">
                <a:solidFill>
                  <a:srgbClr val="222222"/>
                </a:solidFill>
                <a:latin typeface="Yu Gothic" pitchFamily="34" charset="0"/>
                <a:ea typeface="Yu Gothic" pitchFamily="34" charset="-122"/>
                <a:cs typeface="Yu Gothic" pitchFamily="34" charset="-120"/>
              </a:rPr>
              <a:t>サプライチェーン確保の重要性・川上資源への参入障壁が増大</a:t>
            </a:r>
            <a:endParaRPr lang="en-US" sz="760" dirty="0"/>
          </a:p>
        </p:txBody>
      </p:sp>
      <p:sp>
        <p:nvSpPr>
          <p:cNvPr id="61" name="t4_55"/>
          <p:cNvSpPr txBox="1"/>
          <p:nvPr/>
        </p:nvSpPr>
        <p:spPr>
          <a:xfrm>
            <a:off x="8166100" y="3200400"/>
            <a:ext cx="715201"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444444"/>
                </a:solidFill>
                <a:latin typeface="Yu Gothic" pitchFamily="34" charset="0"/>
                <a:ea typeface="Yu Gothic" pitchFamily="34" charset="-122"/>
                <a:cs typeface="Yu Gothic" pitchFamily="34" charset="-120"/>
              </a:rPr>
              <a:t>当社の取り組み</a:t>
            </a:r>
            <a:endParaRPr lang="en-US" sz="680" dirty="0"/>
          </a:p>
        </p:txBody>
      </p:sp>
      <p:sp>
        <p:nvSpPr>
          <p:cNvPr id="62" name="t4_56"/>
          <p:cNvSpPr txBox="1"/>
          <p:nvPr/>
        </p:nvSpPr>
        <p:spPr>
          <a:xfrm>
            <a:off x="8166100" y="3378200"/>
            <a:ext cx="2730500" cy="381000"/>
          </a:xfrm>
          <a:prstGeom prst="rect">
            <a:avLst/>
          </a:prstGeom>
          <a:noFill/>
          <a:ln w="12700">
            <a:solidFill>
              <a:srgbClr val="444444"/>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① 安定供給（安定的な資源確保）</a:t>
            </a:r>
            <a:endParaRPr lang="en-US" sz="740" dirty="0"/>
          </a:p>
          <a:p>
            <a:pPr algn="ctr" indent="0" marL="0">
              <a:lnSpc>
                <a:spcPts val="999"/>
              </a:lnSpc>
              <a:buNone/>
            </a:pPr>
            <a:r>
              <a:rPr lang="en-US" sz="640" dirty="0">
                <a:solidFill>
                  <a:srgbClr val="777777"/>
                </a:solidFill>
                <a:latin typeface="Yu Gothic" pitchFamily="34" charset="0"/>
                <a:ea typeface="Yu Gothic" pitchFamily="34" charset="-122"/>
                <a:cs typeface="Yu Gothic" pitchFamily="34" charset="-120"/>
              </a:rPr>
              <a:t>資源投資</a:t>
            </a:r>
            <a:endParaRPr lang="en-US" sz="740" dirty="0"/>
          </a:p>
        </p:txBody>
      </p:sp>
      <p:sp>
        <p:nvSpPr>
          <p:cNvPr id="63" name="t4_57"/>
          <p:cNvSpPr txBox="1"/>
          <p:nvPr/>
        </p:nvSpPr>
        <p:spPr>
          <a:xfrm>
            <a:off x="10947400" y="3454400"/>
            <a:ext cx="805180" cy="127000"/>
          </a:xfrm>
          <a:prstGeom prst="rect">
            <a:avLst/>
          </a:prstGeom>
          <a:noFill/>
          <a:ln/>
        </p:spPr>
        <p:txBody>
          <a:bodyPr wrap="none" lIns="0" tIns="0" rIns="0" bIns="0" rtlCol="0" anchor="t"/>
          <a:lstStyle/>
          <a:p>
            <a:pPr algn="ctr" indent="0" marL="0">
              <a:lnSpc>
                <a:spcPts val="910"/>
              </a:lnSpc>
              <a:buNone/>
            </a:pPr>
            <a:r>
              <a:rPr lang="en-US" sz="700" dirty="0">
                <a:solidFill>
                  <a:srgbClr val="555555"/>
                </a:solidFill>
                <a:latin typeface="Yu Gothic" pitchFamily="34" charset="0"/>
                <a:ea typeface="Yu Gothic" pitchFamily="34" charset="-122"/>
                <a:cs typeface="Yu Gothic" pitchFamily="34" charset="-120"/>
              </a:rPr>
              <a:t>⇄ 連携</a:t>
            </a:r>
            <a:endParaRPr lang="en-US" sz="700" dirty="0"/>
          </a:p>
        </p:txBody>
      </p:sp>
      <p:sp>
        <p:nvSpPr>
          <p:cNvPr id="64" name="t4_58"/>
          <p:cNvSpPr txBox="1"/>
          <p:nvPr/>
        </p:nvSpPr>
        <p:spPr>
          <a:xfrm>
            <a:off x="11772900" y="3378200"/>
            <a:ext cx="2730500" cy="381000"/>
          </a:xfrm>
          <a:prstGeom prst="rect">
            <a:avLst/>
          </a:prstGeom>
          <a:noFill/>
          <a:ln w="12700">
            <a:solidFill>
              <a:srgbClr val="444444"/>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② 効率的な供給</a:t>
            </a:r>
            <a:endParaRPr lang="en-US" sz="740" dirty="0"/>
          </a:p>
          <a:p>
            <a:pPr algn="ctr" indent="0" marL="0">
              <a:lnSpc>
                <a:spcPts val="999"/>
              </a:lnSpc>
              <a:buNone/>
            </a:pPr>
            <a:r>
              <a:rPr lang="en-US" sz="640" dirty="0">
                <a:solidFill>
                  <a:srgbClr val="777777"/>
                </a:solidFill>
                <a:latin typeface="Yu Gothic" pitchFamily="34" charset="0"/>
                <a:ea typeface="Yu Gothic" pitchFamily="34" charset="-122"/>
                <a:cs typeface="Yu Gothic" pitchFamily="34" charset="-120"/>
              </a:rPr>
              <a:t>トレーディング</a:t>
            </a:r>
            <a:endParaRPr lang="en-US" sz="740" dirty="0"/>
          </a:p>
        </p:txBody>
      </p:sp>
      <p:sp>
        <p:nvSpPr>
          <p:cNvPr id="65" name="t4_59"/>
          <p:cNvSpPr txBox="1"/>
          <p:nvPr/>
        </p:nvSpPr>
        <p:spPr>
          <a:xfrm>
            <a:off x="8166100" y="3810000"/>
            <a:ext cx="2852420" cy="220266"/>
          </a:xfrm>
          <a:prstGeom prst="rect">
            <a:avLst/>
          </a:prstGeom>
          <a:noFill/>
          <a:ln/>
        </p:spPr>
        <p:txBody>
          <a:bodyPr wrap="square" lIns="0" tIns="0" rIns="0" bIns="0" rtlCol="0" anchor="t"/>
          <a:lstStyle/>
          <a:p>
            <a:pPr algn="l" indent="0" marL="0">
              <a:lnSpc>
                <a:spcPts val="868"/>
              </a:lnSpc>
              <a:buNone/>
            </a:pPr>
            <a:r>
              <a:rPr lang="en-US" sz="62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620" dirty="0"/>
          </a:p>
        </p:txBody>
      </p:sp>
      <p:sp>
        <p:nvSpPr>
          <p:cNvPr id="66" name="t4_60"/>
          <p:cNvSpPr txBox="1"/>
          <p:nvPr/>
        </p:nvSpPr>
        <p:spPr>
          <a:xfrm>
            <a:off x="11772900" y="3810000"/>
            <a:ext cx="2852420" cy="220266"/>
          </a:xfrm>
          <a:prstGeom prst="rect">
            <a:avLst/>
          </a:prstGeom>
          <a:noFill/>
          <a:ln/>
        </p:spPr>
        <p:txBody>
          <a:bodyPr wrap="square" lIns="0" tIns="0" rIns="0" bIns="0" rtlCol="0" anchor="t"/>
          <a:lstStyle/>
          <a:p>
            <a:pPr algn="l" indent="0" marL="0">
              <a:lnSpc>
                <a:spcPts val="868"/>
              </a:lnSpc>
              <a:buNone/>
            </a:pPr>
            <a:r>
              <a:rPr lang="en-US" sz="62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620" dirty="0"/>
          </a:p>
        </p:txBody>
      </p:sp>
      <p:sp>
        <p:nvSpPr>
          <p:cNvPr id="67" name="t4_61"/>
          <p:cNvSpPr txBox="1"/>
          <p:nvPr/>
        </p:nvSpPr>
        <p:spPr>
          <a:xfrm>
            <a:off x="8166100" y="40894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現状の図（金属資源G_P38「クリティカルミネラルを取り巻く外部環境と当社の取り組み」）を踏襲（PwC様レビューNo.20）。①②と資源投資・トレーディングの対応は要確認。短期的な潮流（脱炭素・生成AI等）は前面化しない</a:t>
            </a:r>
            <a:endParaRPr lang="en-US" sz="620" dirty="0"/>
          </a:p>
        </p:txBody>
      </p:sp>
      <p:sp>
        <p:nvSpPr>
          <p:cNvPr id="68" name="Shape 64"/>
          <p:cNvSpPr/>
          <p:nvPr/>
        </p:nvSpPr>
        <p:spPr>
          <a:xfrm>
            <a:off x="7556500" y="4470400"/>
            <a:ext cx="7556500" cy="6223000"/>
          </a:xfrm>
          <a:prstGeom prst="rect">
            <a:avLst/>
          </a:prstGeom>
          <a:solidFill>
            <a:srgbClr val="E6E8EB"/>
          </a:solidFill>
          <a:ln/>
        </p:spPr>
      </p:sp>
      <p:sp>
        <p:nvSpPr>
          <p:cNvPr id="69" name="t4_63"/>
          <p:cNvSpPr txBox="1"/>
          <p:nvPr/>
        </p:nvSpPr>
        <p:spPr>
          <a:xfrm>
            <a:off x="8420100" y="4572000"/>
            <a:ext cx="2813415"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締めのビジュアル（選定された表紙案の表現に合わせて決定）</a:t>
            </a:r>
            <a:endParaRPr lang="en-US" sz="680" dirty="0"/>
          </a:p>
        </p:txBody>
      </p:sp>
      <p:sp>
        <p:nvSpPr>
          <p:cNvPr id="70" name="Shape 66"/>
          <p:cNvSpPr/>
          <p:nvPr/>
        </p:nvSpPr>
        <p:spPr>
          <a:xfrm>
            <a:off x="8293100" y="4800600"/>
            <a:ext cx="6096000" cy="5232400"/>
          </a:xfrm>
          <a:prstGeom prst="rect">
            <a:avLst/>
          </a:prstGeom>
          <a:solidFill>
            <a:srgbClr val="FFFFFF"/>
          </a:solidFill>
          <a:ln/>
        </p:spPr>
      </p:sp>
      <p:sp>
        <p:nvSpPr>
          <p:cNvPr id="71" name="t4_65"/>
          <p:cNvSpPr txBox="1"/>
          <p:nvPr/>
        </p:nvSpPr>
        <p:spPr>
          <a:xfrm>
            <a:off x="8547100" y="4978400"/>
            <a:ext cx="1786493"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締め｜ビジョン共感×協業への誘い</a:t>
            </a:r>
            <a:endParaRPr lang="en-US" sz="740" dirty="0"/>
          </a:p>
        </p:txBody>
      </p:sp>
      <p:sp>
        <p:nvSpPr>
          <p:cNvPr id="72" name="t4_66"/>
          <p:cNvSpPr txBox="1"/>
          <p:nvPr/>
        </p:nvSpPr>
        <p:spPr>
          <a:xfrm>
            <a:off x="10706100" y="4953000"/>
            <a:ext cx="946745" cy="139700"/>
          </a:xfrm>
          <a:prstGeom prst="rect">
            <a:avLst/>
          </a:prstGeom>
          <a:solidFill>
            <a:srgbClr val="2A6FB0"/>
          </a:solidFill>
          <a:ln/>
        </p:spPr>
        <p:txBody>
          <a:bodyPr wrap="none" lIns="25400" tIns="38100" rIns="38100" bIns="25400" rtlCol="0" anchor="t"/>
          <a:lstStyle/>
          <a:p>
            <a:pPr algn="l" indent="0" marL="0">
              <a:lnSpc>
                <a:spcPts val="806"/>
              </a:lnSpc>
              <a:buNone/>
            </a:pPr>
            <a:r>
              <a:rPr lang="en-US" sz="620" spc="30" kern="0" dirty="0">
                <a:solidFill>
                  <a:srgbClr val="FFFFFF"/>
                </a:solidFill>
                <a:latin typeface="Yu Gothic" pitchFamily="34" charset="0"/>
                <a:ea typeface="Yu Gothic" pitchFamily="34" charset="-122"/>
                <a:cs typeface="Yu Gothic" pitchFamily="34" charset="-120"/>
              </a:rPr>
              <a:t>PwC様レビューNo.21</a:t>
            </a:r>
            <a:endParaRPr lang="en-US" sz="620" dirty="0"/>
          </a:p>
        </p:txBody>
      </p:sp>
      <p:sp>
        <p:nvSpPr>
          <p:cNvPr id="73" name="t4_67"/>
          <p:cNvSpPr txBox="1"/>
          <p:nvPr/>
        </p:nvSpPr>
        <p:spPr>
          <a:xfrm>
            <a:off x="8547100" y="5207000"/>
            <a:ext cx="56921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共に、資源の未来を築く（仮）</a:t>
            </a:r>
            <a:endParaRPr lang="en-US" sz="1800" dirty="0"/>
          </a:p>
        </p:txBody>
      </p:sp>
      <p:sp>
        <p:nvSpPr>
          <p:cNvPr id="74" name="t4_68"/>
          <p:cNvSpPr txBox="1"/>
          <p:nvPr/>
        </p:nvSpPr>
        <p:spPr>
          <a:xfrm>
            <a:off x="8547100" y="5537200"/>
            <a:ext cx="56921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目指す未来像への共感から、関係構築へとつなぐ締め</a:t>
            </a:r>
            <a:endParaRPr lang="en-US" sz="1000" dirty="0"/>
          </a:p>
        </p:txBody>
      </p:sp>
      <p:sp>
        <p:nvSpPr>
          <p:cNvPr id="75" name="t4_69"/>
          <p:cNvSpPr txBox="1"/>
          <p:nvPr/>
        </p:nvSpPr>
        <p:spPr>
          <a:xfrm>
            <a:off x="8547100" y="5867400"/>
            <a:ext cx="72613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目指す未来像</a:t>
            </a:r>
            <a:endParaRPr lang="en-US" sz="900" dirty="0"/>
          </a:p>
        </p:txBody>
      </p:sp>
      <p:sp>
        <p:nvSpPr>
          <p:cNvPr id="76" name="t4_70"/>
          <p:cNvSpPr txBox="1"/>
          <p:nvPr/>
        </p:nvSpPr>
        <p:spPr>
          <a:xfrm>
            <a:off x="8547100" y="6045200"/>
            <a:ext cx="2654300"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社会に必要な資源を、長期にわたって支え続ける</a:t>
            </a:r>
            <a:endParaRPr lang="en-US" sz="680" dirty="0"/>
          </a:p>
        </p:txBody>
      </p:sp>
      <p:sp>
        <p:nvSpPr>
          <p:cNvPr id="77" name="t4_71"/>
          <p:cNvSpPr txBox="1"/>
          <p:nvPr/>
        </p:nvSpPr>
        <p:spPr>
          <a:xfrm>
            <a:off x="8547100" y="6223000"/>
            <a:ext cx="2654300"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78" name="t4_72"/>
          <p:cNvSpPr txBox="1"/>
          <p:nvPr/>
        </p:nvSpPr>
        <p:spPr>
          <a:xfrm>
            <a:off x="8547100" y="6650038"/>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79" name="t4_73"/>
          <p:cNvSpPr txBox="1"/>
          <p:nvPr/>
        </p:nvSpPr>
        <p:spPr>
          <a:xfrm>
            <a:off x="11341100" y="5867400"/>
            <a:ext cx="72613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協業への誘い</a:t>
            </a:r>
            <a:endParaRPr lang="en-US" sz="900" dirty="0"/>
          </a:p>
        </p:txBody>
      </p:sp>
      <p:sp>
        <p:nvSpPr>
          <p:cNvPr id="80" name="t4_74"/>
          <p:cNvSpPr txBox="1"/>
          <p:nvPr/>
        </p:nvSpPr>
        <p:spPr>
          <a:xfrm>
            <a:off x="11341100" y="6045200"/>
            <a:ext cx="2654300"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この相手と共に築きたい、と感じてもらう</a:t>
            </a:r>
            <a:endParaRPr lang="en-US" sz="680" dirty="0"/>
          </a:p>
        </p:txBody>
      </p:sp>
      <p:sp>
        <p:nvSpPr>
          <p:cNvPr id="81" name="t4_75"/>
          <p:cNvSpPr txBox="1"/>
          <p:nvPr/>
        </p:nvSpPr>
        <p:spPr>
          <a:xfrm>
            <a:off x="11341100" y="6223000"/>
            <a:ext cx="2654300"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82" name="t4_76"/>
          <p:cNvSpPr txBox="1"/>
          <p:nvPr/>
        </p:nvSpPr>
        <p:spPr>
          <a:xfrm>
            <a:off x="11341100" y="6650038"/>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83" name="t4_77"/>
          <p:cNvSpPr txBox="1"/>
          <p:nvPr/>
        </p:nvSpPr>
        <p:spPr>
          <a:xfrm>
            <a:off x="8547100" y="7010400"/>
            <a:ext cx="5461000" cy="292100"/>
          </a:xfrm>
          <a:prstGeom prst="rect">
            <a:avLst/>
          </a:prstGeom>
          <a:noFill/>
          <a:ln w="12700">
            <a:solidFill>
              <a:srgbClr val="9AA0A6"/>
            </a:solidFill>
            <a:prstDash val="solid"/>
          </a:ln>
        </p:spPr>
        <p:txBody>
          <a:bodyPr wrap="square" lIns="25400" tIns="38100" rIns="38100" bIns="25400" rtlCol="0" anchor="t"/>
          <a:lstStyle/>
          <a:p>
            <a:pPr algn="ctr" indent="0" marL="0">
              <a:lnSpc>
                <a:spcPts val="1040"/>
              </a:lnSpc>
              <a:buNone/>
            </a:pPr>
            <a:r>
              <a:rPr lang="en-US" sz="800" dirty="0">
                <a:solidFill>
                  <a:srgbClr val="222222"/>
                </a:solidFill>
                <a:latin typeface="Yu Gothic" pitchFamily="34" charset="0"/>
                <a:ea typeface="Yu Gothic" pitchFamily="34" charset="-122"/>
                <a:cs typeface="Yu Gothic" pitchFamily="34" charset="-120"/>
              </a:rPr>
              <a:t>コアメッセージ／グループミッションに帰結（冒頭P.02と呼応）</a:t>
            </a:r>
            <a:endParaRPr lang="en-US" sz="800" dirty="0"/>
          </a:p>
        </p:txBody>
      </p:sp>
      <p:sp>
        <p:nvSpPr>
          <p:cNvPr id="84" name="t4_78"/>
          <p:cNvSpPr txBox="1"/>
          <p:nvPr/>
        </p:nvSpPr>
        <p:spPr>
          <a:xfrm>
            <a:off x="8547100" y="7340600"/>
            <a:ext cx="5692140"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※直接的な営業色は抑える。具体的な表現手段は後続検討。グループミッションはP.04（位置付け・役割）に置き、ここではその言葉に帰結させる（PwC様レビューNo.21）</a:t>
            </a:r>
            <a:endParaRPr lang="en-US" sz="620" dirty="0"/>
          </a:p>
        </p:txBody>
      </p:sp>
      <p:sp>
        <p:nvSpPr>
          <p:cNvPr id="85" name="Shape 81"/>
          <p:cNvSpPr/>
          <p:nvPr/>
        </p:nvSpPr>
        <p:spPr>
          <a:xfrm>
            <a:off x="8547100" y="7721600"/>
            <a:ext cx="5461000" cy="0"/>
          </a:xfrm>
          <a:prstGeom prst="line">
            <a:avLst/>
          </a:prstGeom>
          <a:noFill/>
          <a:ln w="12700">
            <a:solidFill>
              <a:srgbClr val="CFD2D5"/>
            </a:solidFill>
            <a:prstDash val="solid"/>
          </a:ln>
        </p:spPr>
      </p:sp>
      <p:sp>
        <p:nvSpPr>
          <p:cNvPr id="86" name="t4_80"/>
          <p:cNvSpPr txBox="1"/>
          <p:nvPr/>
        </p:nvSpPr>
        <p:spPr>
          <a:xfrm>
            <a:off x="8547100" y="7848600"/>
            <a:ext cx="84501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お問い合わせ先</a:t>
            </a:r>
            <a:endParaRPr lang="en-US" sz="900" dirty="0"/>
          </a:p>
        </p:txBody>
      </p:sp>
      <p:sp>
        <p:nvSpPr>
          <p:cNvPr id="87" name="t4_81"/>
          <p:cNvSpPr txBox="1"/>
          <p:nvPr/>
        </p:nvSpPr>
        <p:spPr>
          <a:xfrm>
            <a:off x="9563100" y="7874000"/>
            <a:ext cx="374253" cy="139700"/>
          </a:xfrm>
          <a:prstGeom prst="rect">
            <a:avLst/>
          </a:prstGeom>
          <a:solidFill>
            <a:srgbClr val="2A6FB0"/>
          </a:solidFill>
          <a:ln/>
        </p:spPr>
        <p:txBody>
          <a:bodyPr wrap="none" lIns="25400" tIns="38100" rIns="38100" bIns="25400" rtlCol="0" anchor="t"/>
          <a:lstStyle/>
          <a:p>
            <a:pPr algn="l" indent="0" marL="0">
              <a:lnSpc>
                <a:spcPts val="806"/>
              </a:lnSpc>
              <a:buNone/>
            </a:pPr>
            <a:r>
              <a:rPr lang="en-US" sz="620" spc="30" kern="0" dirty="0">
                <a:solidFill>
                  <a:srgbClr val="FFFFFF"/>
                </a:solidFill>
                <a:latin typeface="Yu Gothic" pitchFamily="34" charset="0"/>
                <a:ea typeface="Yu Gothic" pitchFamily="34" charset="-122"/>
                <a:cs typeface="Yu Gothic" pitchFamily="34" charset="-120"/>
              </a:rPr>
              <a:t>改善⑤</a:t>
            </a:r>
            <a:endParaRPr lang="en-US" sz="620" dirty="0"/>
          </a:p>
        </p:txBody>
      </p:sp>
      <p:sp>
        <p:nvSpPr>
          <p:cNvPr id="88" name="t4_82"/>
          <p:cNvSpPr txBox="1"/>
          <p:nvPr/>
        </p:nvSpPr>
        <p:spPr>
          <a:xfrm>
            <a:off x="8547100" y="8077200"/>
            <a:ext cx="371094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89" name="t4_83"/>
          <p:cNvSpPr txBox="1"/>
          <p:nvPr/>
        </p:nvSpPr>
        <p:spPr>
          <a:xfrm>
            <a:off x="8547100" y="8636000"/>
            <a:ext cx="3710940" cy="127000"/>
          </a:xfrm>
          <a:prstGeom prst="rect">
            <a:avLst/>
          </a:prstGeom>
          <a:noFill/>
          <a:ln/>
        </p:spPr>
        <p:txBody>
          <a:bodyPr wrap="none" lIns="0" tIns="0" rIns="0" bIns="0" rtlCol="0" anchor="t"/>
          <a:lstStyle/>
          <a:p>
            <a:pPr algn="l" indent="0" marL="0">
              <a:lnSpc>
                <a:spcPts val="884"/>
              </a:lnSpc>
              <a:buNone/>
            </a:pPr>
            <a:r>
              <a:rPr lang="en-US" sz="680" spc="80" kern="0" dirty="0">
                <a:solidFill>
                  <a:srgbClr val="666666"/>
                </a:solidFill>
                <a:latin typeface="Yu Gothic" pitchFamily="34" charset="0"/>
                <a:ea typeface="Yu Gothic" pitchFamily="34" charset="-122"/>
                <a:cs typeface="Yu Gothic" pitchFamily="34" charset="-120"/>
              </a:rPr>
              <a:t>部署名・所在地・メール／Webサイト</a:t>
            </a:r>
            <a:endParaRPr lang="en-US" sz="680" dirty="0"/>
          </a:p>
        </p:txBody>
      </p:sp>
      <p:sp>
        <p:nvSpPr>
          <p:cNvPr id="90" name="t4_84"/>
          <p:cNvSpPr txBox="1"/>
          <p:nvPr/>
        </p:nvSpPr>
        <p:spPr>
          <a:xfrm>
            <a:off x="12992100" y="7950200"/>
            <a:ext cx="1016000" cy="1016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QRコード</a:t>
            </a:r>
            <a:endParaRPr lang="en-US" sz="700" dirty="0"/>
          </a:p>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（Webサイト）</a:t>
            </a:r>
            <a:endParaRPr lang="en-US" sz="700" dirty="0"/>
          </a:p>
        </p:txBody>
      </p:sp>
      <p:sp>
        <p:nvSpPr>
          <p:cNvPr id="91" name="t4_85"/>
          <p:cNvSpPr txBox="1"/>
          <p:nvPr/>
        </p:nvSpPr>
        <p:spPr>
          <a:xfrm>
            <a:off x="8547100" y="9194800"/>
            <a:ext cx="5692140"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※商談で手渡す冊子のため、問い合わせ先とWebサイトへの導線を控えめに設ける（裏表紙に置く案も可）</a:t>
            </a:r>
            <a:endParaRPr lang="en-US" sz="620" dirty="0"/>
          </a:p>
        </p:txBody>
      </p:sp>
      <p:sp>
        <p:nvSpPr>
          <p:cNvPr id="92" name="t4_86"/>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10</a:t>
            </a:r>
            <a:endParaRPr lang="en-US" sz="660" dirty="0"/>
          </a:p>
        </p:txBody>
      </p:sp>
      <p:sp>
        <p:nvSpPr>
          <p:cNvPr id="93" name="t4_87"/>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11</a:t>
            </a:r>
            <a:endParaRPr lang="en-US" sz="660" dirty="0"/>
          </a:p>
        </p:txBody>
      </p:sp>
      <p:sp>
        <p:nvSpPr>
          <p:cNvPr id="94" name="t4_88"/>
          <p:cNvSpPr txBox="1"/>
          <p:nvPr/>
        </p:nvSpPr>
        <p:spPr>
          <a:xfrm>
            <a:off x="3810000" y="10261600"/>
            <a:ext cx="4690864" cy="152400"/>
          </a:xfrm>
          <a:prstGeom prst="rect">
            <a:avLst/>
          </a:prstGeom>
          <a:solidFill>
            <a:srgbClr val="FFFFFF"/>
          </a:solidFill>
          <a:ln/>
        </p:spPr>
        <p:txBody>
          <a:bodyPr wrap="none" lIns="25400" tIns="38100" rIns="38100" bIns="25400" rtlCol="0" anchor="t"/>
          <a:lstStyle/>
          <a:p>
            <a:pPr algn="l" indent="0" marL="0">
              <a:lnSpc>
                <a:spcPts val="858"/>
              </a:lnSpc>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95" name="Shape 91"/>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金属資源グループ 会社案内 台割 完成版</dc:title>
  <dc:subject>PptxGenJS Presentation</dc:subject>
  <dc:creator>PptxGenJS</dc:creator>
  <cp:lastModifiedBy>PptxGenJS</cp:lastModifiedBy>
  <cp:revision>1</cp:revision>
  <dcterms:created xsi:type="dcterms:W3CDTF">2026-10-02T06:56:04Z</dcterms:created>
  <dcterms:modified xsi:type="dcterms:W3CDTF">2026-10-02T06:56:04Z</dcterms:modified>
</cp:coreProperties>
</file>