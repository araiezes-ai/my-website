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3000" cy="10693400"/>
  <p:notesSz cx="10693400" cy="15113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P02-03 導入（コアメッセージ・目次）（台割 改善案・構成確認用）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P04-05 第1章 WHO（台割 改善案・構成確認用）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P06-07 第2章 資産の強み・原料炭／銅（台割 改善案・構成確認用）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P08-09 第2章 トレーディング／事業一覧（台割 改善案・構成確認用）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P10-11 第3章 PROOF／第4章 VISION・締め（台割 改善案・構成確認用）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image" Target="../media/image-4-5.jpeg"/><Relationship Id="rId6" Type="http://schemas.openxmlformats.org/officeDocument/2006/relationships/image" Target="../media/image-4-6.jpe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15113000" cy="10693400"/>
          </a:xfrm>
          <a:prstGeom prst="rect">
            <a:avLst/>
          </a:prstGeom>
          <a:solidFill>
            <a:srgbClr val="E6E8EB"/>
          </a:solidFill>
          <a:ln/>
        </p:spPr>
      </p:sp>
      <p:sp>
        <p:nvSpPr>
          <p:cNvPr id="4" name="t0_1"/>
          <p:cNvSpPr txBox="1"/>
          <p:nvPr/>
        </p:nvSpPr>
        <p:spPr>
          <a:xfrm>
            <a:off x="508000" y="4572000"/>
            <a:ext cx="7409180" cy="453231"/>
          </a:xfrm>
          <a:prstGeom prst="rect">
            <a:avLst/>
          </a:prstGeom>
          <a:noFill/>
          <a:ln/>
        </p:spPr>
        <p:txBody>
          <a:bodyPr wrap="square" lIns="0" tIns="0" rIns="0" bIns="0" rtlCol="0" anchor="t"/>
          <a:lstStyle/>
          <a:p>
            <a:pPr algn="l" indent="0" marL="0">
              <a:lnSpc>
                <a:spcPts val="1360"/>
              </a:lnSpc>
              <a:buNone/>
            </a:pPr>
            <a:r>
              <a:rPr lang="en-US" sz="1300" dirty="0">
                <a:solidFill>
                  <a:srgbClr val="555555"/>
                </a:solidFill>
                <a:latin typeface="Yu Gothic" pitchFamily="34" charset="0"/>
                <a:ea typeface="Yu Gothic" pitchFamily="34" charset="-122"/>
                <a:cs typeface="Yu Gothic" pitchFamily="34" charset="-120"/>
              </a:rPr>
              <a:t>見開きビジュアル（イラスト／写真）</a:t>
            </a:r>
            <a:endParaRPr lang="en-US" sz="1300" dirty="0"/>
          </a:p>
          <a:p>
            <a:pPr algn="l" indent="0" marL="0">
              <a:lnSpc>
                <a:spcPts val="1360"/>
              </a:lnSpc>
              <a:buNone/>
            </a:pPr>
            <a:r>
              <a:rPr lang="en-US" sz="800" dirty="0">
                <a:solidFill>
                  <a:srgbClr val="555555"/>
                </a:solidFill>
                <a:latin typeface="Yu Gothic" pitchFamily="34" charset="0"/>
                <a:ea typeface="Yu Gothic" pitchFamily="34" charset="-122"/>
                <a:cs typeface="Yu Gothic" pitchFamily="34" charset="-120"/>
              </a:rPr>
              <a:t>選定された表紙案の表現に合わせて決定</a:t>
            </a:r>
            <a:endParaRPr lang="en-US" sz="1300" dirty="0"/>
          </a:p>
        </p:txBody>
      </p:sp>
      <p:sp>
        <p:nvSpPr>
          <p:cNvPr id="5" name="t0_2"/>
          <p:cNvSpPr txBox="1"/>
          <p:nvPr/>
        </p:nvSpPr>
        <p:spPr>
          <a:xfrm>
            <a:off x="508000" y="5207000"/>
            <a:ext cx="7409180" cy="549473"/>
          </a:xfrm>
          <a:prstGeom prst="rect">
            <a:avLst/>
          </a:prstGeom>
          <a:noFill/>
          <a:ln/>
        </p:spPr>
        <p:txBody>
          <a:bodyPr wrap="square" lIns="0" tIns="0" rIns="0" bIns="0" rtlCol="0" anchor="t"/>
          <a:lstStyle/>
          <a:p>
            <a:pPr algn="l" indent="0" marL="0">
              <a:lnSpc>
                <a:spcPts val="1444"/>
              </a:lnSpc>
              <a:buNone/>
            </a:pPr>
            <a:r>
              <a:rPr lang="en-US" sz="760" dirty="0">
                <a:solidFill>
                  <a:srgbClr val="555555"/>
                </a:solidFill>
                <a:latin typeface="Yu Gothic" pitchFamily="34" charset="0"/>
                <a:ea typeface="Yu Gothic" pitchFamily="34" charset="-122"/>
                <a:cs typeface="Yu Gothic" pitchFamily="34" charset="-120"/>
              </a:rPr>
              <a:t>表紙案①の場合：鋼のヘアライン（細い線）で描いた世界地図・拠点から立ち上がる線</a:t>
            </a:r>
            <a:endParaRPr lang="en-US" sz="760" dirty="0"/>
          </a:p>
          <a:p>
            <a:pPr algn="l" indent="0" marL="0">
              <a:lnSpc>
                <a:spcPts val="1444"/>
              </a:lnSpc>
              <a:buNone/>
            </a:pPr>
            <a:r>
              <a:rPr lang="en-US" sz="760" dirty="0">
                <a:solidFill>
                  <a:srgbClr val="555555"/>
                </a:solidFill>
                <a:latin typeface="Yu Gothic" pitchFamily="34" charset="0"/>
                <a:ea typeface="Yu Gothic" pitchFamily="34" charset="-122"/>
                <a:cs typeface="Yu Gothic" pitchFamily="34" charset="-120"/>
              </a:rPr>
              <a:t>表紙案②の場合：ガラスの地球儀と金色の軌道線</a:t>
            </a:r>
            <a:endParaRPr lang="en-US" sz="760" dirty="0"/>
          </a:p>
          <a:p>
            <a:pPr algn="l" indent="0" marL="0">
              <a:lnSpc>
                <a:spcPts val="1444"/>
              </a:lnSpc>
              <a:buNone/>
            </a:pPr>
            <a:r>
              <a:rPr lang="en-US" sz="760" dirty="0">
                <a:solidFill>
                  <a:srgbClr val="555555"/>
                </a:solidFill>
                <a:latin typeface="Yu Gothic" pitchFamily="34" charset="0"/>
                <a:ea typeface="Yu Gothic" pitchFamily="34" charset="-122"/>
                <a:cs typeface="Yu Gothic" pitchFamily="34" charset="-120"/>
              </a:rPr>
              <a:t>表紙案③の場合：鉱山写真を短冊状に再構成したビジュアル</a:t>
            </a:r>
            <a:endParaRPr lang="en-US" sz="760" dirty="0"/>
          </a:p>
        </p:txBody>
      </p:sp>
      <p:sp>
        <p:nvSpPr>
          <p:cNvPr id="6" name="t0_3"/>
          <p:cNvSpPr txBox="1"/>
          <p:nvPr/>
        </p:nvSpPr>
        <p:spPr>
          <a:xfrm>
            <a:off x="508000" y="5969000"/>
            <a:ext cx="7409180"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※台割は表紙3案のいずれにも寄せないため、ここではグレーの枠のみ。構成（コアメッセージ・ビジュアル・目次を1見開きに置くこと）はPwC様の台割ver.0（P1–P2）に準拠</a:t>
            </a:r>
            <a:endParaRPr lang="en-US" sz="620" dirty="0"/>
          </a:p>
        </p:txBody>
      </p:sp>
      <p:sp>
        <p:nvSpPr>
          <p:cNvPr id="7" name="Shape 4"/>
          <p:cNvSpPr/>
          <p:nvPr/>
        </p:nvSpPr>
        <p:spPr>
          <a:xfrm>
            <a:off x="457200" y="508000"/>
            <a:ext cx="5588000" cy="3683000"/>
          </a:xfrm>
          <a:prstGeom prst="rect">
            <a:avLst/>
          </a:prstGeom>
          <a:solidFill>
            <a:srgbClr val="FFFFFF"/>
          </a:solidFill>
          <a:ln/>
        </p:spPr>
      </p:sp>
      <p:sp>
        <p:nvSpPr>
          <p:cNvPr id="8" name="t0_5"/>
          <p:cNvSpPr txBox="1"/>
          <p:nvPr/>
        </p:nvSpPr>
        <p:spPr>
          <a:xfrm>
            <a:off x="711200" y="736600"/>
            <a:ext cx="114053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導入｜コアメッセージ</a:t>
            </a:r>
            <a:endParaRPr lang="en-US" sz="740" dirty="0"/>
          </a:p>
        </p:txBody>
      </p:sp>
      <p:sp>
        <p:nvSpPr>
          <p:cNvPr id="9" name="t0_6"/>
          <p:cNvSpPr txBox="1"/>
          <p:nvPr/>
        </p:nvSpPr>
        <p:spPr>
          <a:xfrm>
            <a:off x="4902200" y="7112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読み手の心理：興味</a:t>
            </a:r>
            <a:endParaRPr lang="en-US" sz="660" dirty="0"/>
          </a:p>
        </p:txBody>
      </p:sp>
      <p:sp>
        <p:nvSpPr>
          <p:cNvPr id="10" name="t0_7"/>
          <p:cNvSpPr txBox="1"/>
          <p:nvPr/>
        </p:nvSpPr>
        <p:spPr>
          <a:xfrm>
            <a:off x="711200" y="1016000"/>
            <a:ext cx="5295900" cy="792163"/>
          </a:xfrm>
          <a:prstGeom prst="rect">
            <a:avLst/>
          </a:prstGeom>
          <a:noFill/>
          <a:ln/>
        </p:spPr>
        <p:txBody>
          <a:bodyPr wrap="square" lIns="0" tIns="0" rIns="0" bIns="0" rtlCol="0" anchor="t"/>
          <a:lstStyle/>
          <a:p>
            <a:pPr algn="l" indent="0" marL="0">
              <a:lnSpc>
                <a:spcPts val="3120"/>
              </a:lnSpc>
              <a:buNone/>
            </a:pPr>
            <a:r>
              <a:rPr lang="en-US" sz="2600" spc="80" kern="0" dirty="0">
                <a:solidFill>
                  <a:srgbClr val="222222"/>
                </a:solidFill>
                <a:latin typeface="Yu Gothic" pitchFamily="34" charset="0"/>
                <a:ea typeface="Yu Gothic" pitchFamily="34" charset="-122"/>
                <a:cs typeface="Yu Gothic" pitchFamily="34" charset="-120"/>
              </a:rPr>
              <a:t>Strength to Hold.</a:t>
            </a:r>
            <a:endParaRPr lang="en-US" sz="2600" dirty="0"/>
          </a:p>
          <a:p>
            <a:pPr algn="l" indent="0" marL="0">
              <a:lnSpc>
                <a:spcPts val="3120"/>
              </a:lnSpc>
              <a:buNone/>
            </a:pPr>
            <a:r>
              <a:rPr lang="en-US" sz="2600" spc="80" kern="0" dirty="0">
                <a:solidFill>
                  <a:srgbClr val="222222"/>
                </a:solidFill>
                <a:latin typeface="Yu Gothic" pitchFamily="34" charset="0"/>
                <a:ea typeface="Yu Gothic" pitchFamily="34" charset="-122"/>
                <a:cs typeface="Yu Gothic" pitchFamily="34" charset="-120"/>
              </a:rPr>
              <a:t>Power to Connect.</a:t>
            </a:r>
            <a:endParaRPr lang="en-US" sz="2600" dirty="0"/>
          </a:p>
        </p:txBody>
      </p:sp>
      <p:sp>
        <p:nvSpPr>
          <p:cNvPr id="11" name="t0_8"/>
          <p:cNvSpPr txBox="1"/>
          <p:nvPr/>
        </p:nvSpPr>
        <p:spPr>
          <a:xfrm>
            <a:off x="711200" y="1854200"/>
            <a:ext cx="1413986"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参考訳：持つ力と、つなぐ力。</a:t>
            </a:r>
            <a:endParaRPr lang="en-US" sz="680" dirty="0"/>
          </a:p>
        </p:txBody>
      </p:sp>
      <p:sp>
        <p:nvSpPr>
          <p:cNvPr id="12" name="t0_9"/>
          <p:cNvSpPr txBox="1"/>
          <p:nvPr/>
        </p:nvSpPr>
        <p:spPr>
          <a:xfrm>
            <a:off x="2413000" y="1854200"/>
            <a:ext cx="519906" cy="139700"/>
          </a:xfrm>
          <a:prstGeom prst="rect">
            <a:avLst/>
          </a:prstGeom>
          <a:solidFill>
            <a:srgbClr val="2A6FB0"/>
          </a:solidFill>
          <a:ln/>
        </p:spPr>
        <p:txBody>
          <a:bodyPr wrap="none" lIns="25400" tIns="38100" rIns="38100" bIns="25400" rtlCol="0" anchor="t"/>
          <a:lstStyle/>
          <a:p>
            <a:pPr algn="l" indent="0" marL="0">
              <a:lnSpc>
                <a:spcPts val="806"/>
              </a:lnSpc>
              <a:buNone/>
            </a:pPr>
            <a:r>
              <a:rPr lang="en-US" sz="620" dirty="0">
                <a:solidFill>
                  <a:srgbClr val="FFFFFF"/>
                </a:solidFill>
                <a:latin typeface="Yu Gothic" pitchFamily="34" charset="0"/>
                <a:ea typeface="Yu Gothic" pitchFamily="34" charset="-122"/>
                <a:cs typeface="Yu Gothic" pitchFamily="34" charset="-120"/>
              </a:rPr>
              <a:t>英文を主に</a:t>
            </a:r>
            <a:endParaRPr lang="en-US" sz="620" dirty="0"/>
          </a:p>
        </p:txBody>
      </p:sp>
      <p:sp>
        <p:nvSpPr>
          <p:cNvPr id="13" name="t0_10"/>
          <p:cNvSpPr txBox="1"/>
          <p:nvPr/>
        </p:nvSpPr>
        <p:spPr>
          <a:xfrm>
            <a:off x="711200" y="2082800"/>
            <a:ext cx="5295900" cy="1113234"/>
          </a:xfrm>
          <a:prstGeom prst="rect">
            <a:avLst/>
          </a:prstGeom>
          <a:noFill/>
          <a:ln/>
        </p:spPr>
        <p:txBody>
          <a:bodyPr wrap="square" lIns="0" tIns="0" rIns="0" bIns="0" rtlCol="0" anchor="t"/>
          <a:lstStyle/>
          <a:p>
            <a:pPr algn="l" indent="0" marL="0">
              <a:lnSpc>
                <a:spcPts val="1462"/>
              </a:lnSpc>
              <a:buNone/>
            </a:pPr>
            <a:r>
              <a:rPr lang="en-US" sz="860" dirty="0">
                <a:solidFill>
                  <a:srgbClr val="9AA0A6"/>
                </a:solidFill>
                <a:latin typeface="Yu Gothic" pitchFamily="34" charset="0"/>
                <a:ea typeface="Yu Gothic" pitchFamily="34" charset="-122"/>
                <a:cs typeface="Yu Gothic" pitchFamily="34" charset="-120"/>
              </a:rPr>
              <a:t>Xxxxxxxxx, xx xxxxx xxx, xx xxx xxxx xxxxx. Xx xxxxx xxxxxxx xx xxxxxxxx xxxx, xxxxxxx xxxx, xxx xxxxxxx xxxx xx xxxxx xxxx'xx xxxxxx. Xxxx xxxx xx xxxx xxxxxx xxxx xxxxx. Xx xxxxxx xxxx xxxxx-xxxxx xxxxxx, xxxxxxxxxx xxx xxxxx xxxxx xxxx xxxxxxxx xx xxxxxxxxxx xxxxxxx xxxxxxxxxx xxx xxxxxxx. Xxxxxxx xx xxxxx xx xxxx xxxxxx, xx xxx xxxxxx xxxx xxxxxx xxxxxx. Xxxxxxx xx xxxxx xxxxxxx xxxxxxx xxxxxxxx xxx xxxxx, xx xxxx xxx xxxxx xxxxxx xxx xxxxx xxxxxx. Xxxxxxx xx xxxx xxx xxxxxx, xx xxxx xxx xxxxx xxxxxxx xx xxx xxxxx xxxx xxxxx xxx xxxxxxx.</a:t>
            </a:r>
            <a:endParaRPr lang="en-US" sz="860" dirty="0"/>
          </a:p>
        </p:txBody>
      </p:sp>
      <p:sp>
        <p:nvSpPr>
          <p:cNvPr id="14" name="t0_11"/>
          <p:cNvSpPr txBox="1"/>
          <p:nvPr/>
        </p:nvSpPr>
        <p:spPr>
          <a:xfrm>
            <a:off x="711200" y="3327400"/>
            <a:ext cx="2189544"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▸コアメッセージ本文（英文）92語／547字（A-1案と同量）</a:t>
            </a:r>
            <a:endParaRPr lang="en-US" sz="580" dirty="0"/>
          </a:p>
        </p:txBody>
      </p:sp>
      <p:sp>
        <p:nvSpPr>
          <p:cNvPr id="15" name="t0_12"/>
          <p:cNvSpPr txBox="1"/>
          <p:nvPr/>
        </p:nvSpPr>
        <p:spPr>
          <a:xfrm>
            <a:off x="711200" y="3530600"/>
            <a:ext cx="5295900"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※コアメッセージはPwC提示の3案から選定中。A-1案を仮置き。英語版冊子のため英文を主とし、和文は社内確認用の参考訳として扱う</a:t>
            </a:r>
            <a:endParaRPr lang="en-US" sz="620" dirty="0"/>
          </a:p>
        </p:txBody>
      </p:sp>
      <p:sp>
        <p:nvSpPr>
          <p:cNvPr id="16" name="Shape 13"/>
          <p:cNvSpPr/>
          <p:nvPr/>
        </p:nvSpPr>
        <p:spPr>
          <a:xfrm>
            <a:off x="8585200" y="5842000"/>
            <a:ext cx="5969000" cy="4318000"/>
          </a:xfrm>
          <a:prstGeom prst="rect">
            <a:avLst/>
          </a:prstGeom>
          <a:solidFill>
            <a:srgbClr val="FFFFFF"/>
          </a:solidFill>
          <a:ln/>
        </p:spPr>
      </p:sp>
      <p:sp>
        <p:nvSpPr>
          <p:cNvPr id="17" name="t0_15"/>
          <p:cNvSpPr txBox="1"/>
          <p:nvPr/>
        </p:nvSpPr>
        <p:spPr>
          <a:xfrm>
            <a:off x="8839200" y="6070600"/>
            <a:ext cx="509445"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目次</a:t>
            </a:r>
            <a:endParaRPr lang="en-US" sz="1800" dirty="0"/>
          </a:p>
        </p:txBody>
      </p:sp>
      <p:sp>
        <p:nvSpPr>
          <p:cNvPr id="18" name="Shape 15"/>
          <p:cNvSpPr/>
          <p:nvPr/>
        </p:nvSpPr>
        <p:spPr>
          <a:xfrm>
            <a:off x="8839200" y="6604000"/>
            <a:ext cx="5334000" cy="0"/>
          </a:xfrm>
          <a:prstGeom prst="line">
            <a:avLst/>
          </a:prstGeom>
          <a:noFill/>
          <a:ln w="12700">
            <a:solidFill>
              <a:srgbClr val="CFD2D5"/>
            </a:solidFill>
            <a:prstDash val="solid"/>
          </a:ln>
        </p:spPr>
      </p:sp>
      <p:sp>
        <p:nvSpPr>
          <p:cNvPr id="19" name="t0_17"/>
          <p:cNvSpPr txBox="1"/>
          <p:nvPr/>
        </p:nvSpPr>
        <p:spPr>
          <a:xfrm>
            <a:off x="8839200" y="6705600"/>
            <a:ext cx="213503"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導入</a:t>
            </a:r>
            <a:endParaRPr lang="en-US" sz="680" dirty="0"/>
          </a:p>
        </p:txBody>
      </p:sp>
      <p:sp>
        <p:nvSpPr>
          <p:cNvPr id="20" name="t0_18"/>
          <p:cNvSpPr txBox="1"/>
          <p:nvPr/>
        </p:nvSpPr>
        <p:spPr>
          <a:xfrm>
            <a:off x="9474200" y="66929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コアメッセージ</a:t>
            </a:r>
            <a:endParaRPr lang="en-US" sz="950" dirty="0"/>
          </a:p>
        </p:txBody>
      </p:sp>
      <p:sp>
        <p:nvSpPr>
          <p:cNvPr id="21" name="t0_19"/>
          <p:cNvSpPr txBox="1"/>
          <p:nvPr/>
        </p:nvSpPr>
        <p:spPr>
          <a:xfrm>
            <a:off x="13919200" y="6705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02</a:t>
            </a:r>
            <a:endParaRPr lang="en-US" sz="660" dirty="0"/>
          </a:p>
        </p:txBody>
      </p:sp>
      <p:sp>
        <p:nvSpPr>
          <p:cNvPr id="22" name="Shape 19"/>
          <p:cNvSpPr/>
          <p:nvPr/>
        </p:nvSpPr>
        <p:spPr>
          <a:xfrm>
            <a:off x="8839200" y="7162800"/>
            <a:ext cx="5334000" cy="0"/>
          </a:xfrm>
          <a:prstGeom prst="line">
            <a:avLst/>
          </a:prstGeom>
          <a:noFill/>
          <a:ln w="12700">
            <a:solidFill>
              <a:srgbClr val="CFD2D5"/>
            </a:solidFill>
            <a:prstDash val="solid"/>
          </a:ln>
        </p:spPr>
      </p:sp>
      <p:sp>
        <p:nvSpPr>
          <p:cNvPr id="23" name="t0_21"/>
          <p:cNvSpPr txBox="1"/>
          <p:nvPr/>
        </p:nvSpPr>
        <p:spPr>
          <a:xfrm>
            <a:off x="8839200" y="7264400"/>
            <a:ext cx="27541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第1章</a:t>
            </a:r>
            <a:endParaRPr lang="en-US" sz="680" dirty="0"/>
          </a:p>
        </p:txBody>
      </p:sp>
      <p:sp>
        <p:nvSpPr>
          <p:cNvPr id="24" name="t0_22"/>
          <p:cNvSpPr txBox="1"/>
          <p:nvPr/>
        </p:nvSpPr>
        <p:spPr>
          <a:xfrm>
            <a:off x="9474200" y="72517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WHO｜我々は何者か　—　三菱商事・金属資源グループとは：全体像・歩み</a:t>
            </a:r>
            <a:endParaRPr lang="en-US" sz="950" dirty="0"/>
          </a:p>
        </p:txBody>
      </p:sp>
      <p:sp>
        <p:nvSpPr>
          <p:cNvPr id="25" name="t0_23"/>
          <p:cNvSpPr txBox="1"/>
          <p:nvPr/>
        </p:nvSpPr>
        <p:spPr>
          <a:xfrm>
            <a:off x="13919200" y="72644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04</a:t>
            </a:r>
            <a:endParaRPr lang="en-US" sz="660" dirty="0"/>
          </a:p>
        </p:txBody>
      </p:sp>
      <p:sp>
        <p:nvSpPr>
          <p:cNvPr id="26" name="Shape 23"/>
          <p:cNvSpPr/>
          <p:nvPr/>
        </p:nvSpPr>
        <p:spPr>
          <a:xfrm>
            <a:off x="8839200" y="7721600"/>
            <a:ext cx="5334000" cy="0"/>
          </a:xfrm>
          <a:prstGeom prst="line">
            <a:avLst/>
          </a:prstGeom>
          <a:noFill/>
          <a:ln w="12700">
            <a:solidFill>
              <a:srgbClr val="CFD2D5"/>
            </a:solidFill>
            <a:prstDash val="solid"/>
          </a:ln>
        </p:spPr>
      </p:sp>
      <p:sp>
        <p:nvSpPr>
          <p:cNvPr id="27" name="t0_25"/>
          <p:cNvSpPr txBox="1"/>
          <p:nvPr/>
        </p:nvSpPr>
        <p:spPr>
          <a:xfrm>
            <a:off x="8839200" y="7823200"/>
            <a:ext cx="27541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第2章</a:t>
            </a:r>
            <a:endParaRPr lang="en-US" sz="680" dirty="0"/>
          </a:p>
        </p:txBody>
      </p:sp>
      <p:sp>
        <p:nvSpPr>
          <p:cNvPr id="28" name="t0_26"/>
          <p:cNvSpPr txBox="1"/>
          <p:nvPr/>
        </p:nvSpPr>
        <p:spPr>
          <a:xfrm>
            <a:off x="9474200" y="78105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HOW/WHAT｜独自価値　—　機能・強み</a:t>
            </a:r>
            <a:endParaRPr lang="en-US" sz="950" dirty="0"/>
          </a:p>
        </p:txBody>
      </p:sp>
      <p:sp>
        <p:nvSpPr>
          <p:cNvPr id="29" name="t0_27"/>
          <p:cNvSpPr txBox="1"/>
          <p:nvPr/>
        </p:nvSpPr>
        <p:spPr>
          <a:xfrm>
            <a:off x="13919200" y="78232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06</a:t>
            </a:r>
            <a:endParaRPr lang="en-US" sz="660" dirty="0"/>
          </a:p>
        </p:txBody>
      </p:sp>
      <p:sp>
        <p:nvSpPr>
          <p:cNvPr id="30" name="Shape 27"/>
          <p:cNvSpPr/>
          <p:nvPr/>
        </p:nvSpPr>
        <p:spPr>
          <a:xfrm>
            <a:off x="8839200" y="8280400"/>
            <a:ext cx="5334000" cy="0"/>
          </a:xfrm>
          <a:prstGeom prst="line">
            <a:avLst/>
          </a:prstGeom>
          <a:noFill/>
          <a:ln w="12700">
            <a:solidFill>
              <a:srgbClr val="CFD2D5"/>
            </a:solidFill>
            <a:prstDash val="solid"/>
          </a:ln>
        </p:spPr>
      </p:sp>
      <p:sp>
        <p:nvSpPr>
          <p:cNvPr id="31" name="t0_29"/>
          <p:cNvSpPr txBox="1"/>
          <p:nvPr/>
        </p:nvSpPr>
        <p:spPr>
          <a:xfrm>
            <a:off x="8839200" y="8382000"/>
            <a:ext cx="27541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第3章</a:t>
            </a:r>
            <a:endParaRPr lang="en-US" sz="680" dirty="0"/>
          </a:p>
        </p:txBody>
      </p:sp>
      <p:sp>
        <p:nvSpPr>
          <p:cNvPr id="32" name="t0_30"/>
          <p:cNvSpPr txBox="1"/>
          <p:nvPr/>
        </p:nvSpPr>
        <p:spPr>
          <a:xfrm>
            <a:off x="9474200" y="83693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PROOF｜選ばれ続ける理由　—　実績・関係・評価</a:t>
            </a:r>
            <a:endParaRPr lang="en-US" sz="950" dirty="0"/>
          </a:p>
        </p:txBody>
      </p:sp>
      <p:sp>
        <p:nvSpPr>
          <p:cNvPr id="33" name="t0_31"/>
          <p:cNvSpPr txBox="1"/>
          <p:nvPr/>
        </p:nvSpPr>
        <p:spPr>
          <a:xfrm>
            <a:off x="13919200" y="83820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10</a:t>
            </a:r>
            <a:endParaRPr lang="en-US" sz="660" dirty="0"/>
          </a:p>
        </p:txBody>
      </p:sp>
      <p:sp>
        <p:nvSpPr>
          <p:cNvPr id="34" name="Shape 31"/>
          <p:cNvSpPr/>
          <p:nvPr/>
        </p:nvSpPr>
        <p:spPr>
          <a:xfrm>
            <a:off x="8839200" y="8839200"/>
            <a:ext cx="5334000" cy="0"/>
          </a:xfrm>
          <a:prstGeom prst="line">
            <a:avLst/>
          </a:prstGeom>
          <a:noFill/>
          <a:ln w="12700">
            <a:solidFill>
              <a:srgbClr val="CFD2D5"/>
            </a:solidFill>
            <a:prstDash val="solid"/>
          </a:ln>
        </p:spPr>
      </p:sp>
      <p:sp>
        <p:nvSpPr>
          <p:cNvPr id="35" name="t0_33"/>
          <p:cNvSpPr txBox="1"/>
          <p:nvPr/>
        </p:nvSpPr>
        <p:spPr>
          <a:xfrm>
            <a:off x="8839200" y="8940800"/>
            <a:ext cx="27541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第4章</a:t>
            </a:r>
            <a:endParaRPr lang="en-US" sz="680" dirty="0"/>
          </a:p>
        </p:txBody>
      </p:sp>
      <p:sp>
        <p:nvSpPr>
          <p:cNvPr id="36" name="t0_34"/>
          <p:cNvSpPr txBox="1"/>
          <p:nvPr/>
        </p:nvSpPr>
        <p:spPr>
          <a:xfrm>
            <a:off x="9474200" y="8928100"/>
            <a:ext cx="4371340" cy="168910"/>
          </a:xfrm>
          <a:prstGeom prst="rect">
            <a:avLst/>
          </a:prstGeom>
          <a:noFill/>
          <a:ln/>
        </p:spPr>
        <p:txBody>
          <a:bodyPr wrap="none" lIns="0" tIns="0" rIns="0" bIns="0" rtlCol="0" anchor="t"/>
          <a:lstStyle/>
          <a:p>
            <a:pPr algn="l" indent="0" marL="0">
              <a:lnSpc>
                <a:spcPts val="1330"/>
              </a:lnSpc>
              <a:buNone/>
            </a:pPr>
            <a:r>
              <a:rPr lang="en-US" sz="950" dirty="0">
                <a:solidFill>
                  <a:srgbClr val="222222"/>
                </a:solidFill>
                <a:latin typeface="Yu Gothic" pitchFamily="34" charset="0"/>
                <a:ea typeface="Yu Gothic" pitchFamily="34" charset="-122"/>
                <a:cs typeface="Yu Gothic" pitchFamily="34" charset="-120"/>
              </a:rPr>
              <a:t>VISION｜何を実現するか　—　社会課題への取り組み</a:t>
            </a:r>
            <a:endParaRPr lang="en-US" sz="950" dirty="0"/>
          </a:p>
        </p:txBody>
      </p:sp>
      <p:sp>
        <p:nvSpPr>
          <p:cNvPr id="37" name="t0_35"/>
          <p:cNvSpPr txBox="1"/>
          <p:nvPr/>
        </p:nvSpPr>
        <p:spPr>
          <a:xfrm>
            <a:off x="13919200" y="89408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11</a:t>
            </a:r>
            <a:endParaRPr lang="en-US" sz="660" dirty="0"/>
          </a:p>
        </p:txBody>
      </p:sp>
      <p:sp>
        <p:nvSpPr>
          <p:cNvPr id="38" name="t0_36"/>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02</a:t>
            </a:r>
            <a:endParaRPr lang="en-US" sz="660" dirty="0"/>
          </a:p>
        </p:txBody>
      </p:sp>
      <p:sp>
        <p:nvSpPr>
          <p:cNvPr id="39" name="t0_37"/>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03</a:t>
            </a:r>
            <a:endParaRPr lang="en-US" sz="660" dirty="0"/>
          </a:p>
        </p:txBody>
      </p:sp>
      <p:sp>
        <p:nvSpPr>
          <p:cNvPr id="40" name="t0_38"/>
          <p:cNvSpPr txBox="1"/>
          <p:nvPr/>
        </p:nvSpPr>
        <p:spPr>
          <a:xfrm>
            <a:off x="3810000" y="10261600"/>
            <a:ext cx="4433292" cy="152400"/>
          </a:xfrm>
          <a:prstGeom prst="rect">
            <a:avLst/>
          </a:prstGeom>
          <a:solidFill>
            <a:srgbClr val="FFFFFF"/>
          </a:solidFill>
          <a:ln/>
        </p:spPr>
        <p:txBody>
          <a:bodyPr wrap="none" lIns="25400" tIns="38100" rIns="38100" bIns="25400" rtlCol="0" anchor="t"/>
          <a:lstStyle/>
          <a:p>
            <a:pPr algn="l" indent="0" marL="0">
              <a:lnSpc>
                <a:spcPts val="858"/>
              </a:lnSpc>
              <a:buNone/>
            </a:pPr>
            <a:r>
              <a:rPr lang="en-US" sz="660" spc="50" kern="0" dirty="0">
                <a:solidFill>
                  <a:srgbClr val="999999"/>
                </a:solidFill>
                <a:latin typeface="Yu Gothic" pitchFamily="34" charset="0"/>
                <a:ea typeface="Yu Gothic" pitchFamily="34" charset="-122"/>
                <a:cs typeface="Yu Gothic" pitchFamily="34" charset="-120"/>
              </a:rPr>
              <a:t>台割 改善案（構成確認用）— 青ラベル＝PwC台割ver.0からの改善点／本文字数は日本語、英語語数は目安</a:t>
            </a:r>
            <a:endParaRPr lang="en-US" sz="660" dirty="0"/>
          </a:p>
        </p:txBody>
      </p:sp>
      <p:sp>
        <p:nvSpPr>
          <p:cNvPr id="41" name="Shape 38"/>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1_0"/>
          <p:cNvSpPr txBox="1"/>
          <p:nvPr/>
        </p:nvSpPr>
        <p:spPr>
          <a:xfrm>
            <a:off x="609600" y="431800"/>
            <a:ext cx="3542538"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第1章　WHO｜我々は何者か　—　三菱商事・金属資源グループとは</a:t>
            </a:r>
            <a:endParaRPr lang="en-US" sz="740" dirty="0"/>
          </a:p>
        </p:txBody>
      </p:sp>
      <p:sp>
        <p:nvSpPr>
          <p:cNvPr id="4" name="t1_1"/>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読み手の心理：理解</a:t>
            </a:r>
            <a:endParaRPr lang="en-US" sz="660" dirty="0"/>
          </a:p>
        </p:txBody>
      </p:sp>
      <p:sp>
        <p:nvSpPr>
          <p:cNvPr id="5" name="t1_2"/>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三菱商事とは</a:t>
            </a:r>
            <a:endParaRPr lang="en-US" sz="1800" dirty="0"/>
          </a:p>
        </p:txBody>
      </p:sp>
      <p:sp>
        <p:nvSpPr>
          <p:cNvPr id="6" name="t1_3"/>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三綱領に基づき、経済価値・環境価値・社会価値の同時実現を志す総合商社</a:t>
            </a:r>
            <a:endParaRPr lang="en-US" sz="1000" dirty="0"/>
          </a:p>
        </p:txBody>
      </p:sp>
      <p:sp>
        <p:nvSpPr>
          <p:cNvPr id="7" name="t1_4"/>
          <p:cNvSpPr txBox="1"/>
          <p:nvPr/>
        </p:nvSpPr>
        <p:spPr>
          <a:xfrm>
            <a:off x="609600" y="1422400"/>
            <a:ext cx="3314700" cy="692944"/>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8" name="t1_5"/>
          <p:cNvSpPr txBox="1"/>
          <p:nvPr/>
        </p:nvSpPr>
        <p:spPr>
          <a:xfrm>
            <a:off x="609600" y="2128441"/>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110字／英語 約61語</a:t>
            </a:r>
            <a:endParaRPr lang="en-US" sz="580" dirty="0"/>
          </a:p>
        </p:txBody>
      </p:sp>
      <p:pic>
        <p:nvPicPr>
          <p:cNvPr id="9" name="Image 0" descr="preencoded.png">    </p:cNvPr>
          <p:cNvPicPr>
            <a:picLocks noChangeAspect="1"/>
          </p:cNvPicPr>
          <p:nvPr/>
        </p:nvPicPr>
        <p:blipFill>
          <a:blip r:embed="rId1"/>
          <a:stretch>
            <a:fillRect/>
          </a:stretch>
        </p:blipFill>
        <p:spPr>
          <a:xfrm>
            <a:off x="609600" y="2667000"/>
            <a:ext cx="1905000" cy="838200"/>
          </a:xfrm>
          <a:prstGeom prst="rect">
            <a:avLst/>
          </a:prstGeom>
        </p:spPr>
      </p:pic>
      <p:sp>
        <p:nvSpPr>
          <p:cNvPr id="10" name="t1_7"/>
          <p:cNvSpPr txBox="1"/>
          <p:nvPr/>
        </p:nvSpPr>
        <p:spPr>
          <a:xfrm>
            <a:off x="609600" y="3556000"/>
            <a:ext cx="1919192"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三綱領（所期奉公・処事光明・立業貿易）</a:t>
            </a:r>
            <a:endParaRPr lang="en-US" sz="680" dirty="0"/>
          </a:p>
        </p:txBody>
      </p:sp>
      <p:sp>
        <p:nvSpPr>
          <p:cNvPr id="11" name="t1_8"/>
          <p:cNvSpPr txBox="1"/>
          <p:nvPr/>
        </p:nvSpPr>
        <p:spPr>
          <a:xfrm>
            <a:off x="4038600" y="1422400"/>
            <a:ext cx="2908300" cy="2159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図：三菱商事の全体像と</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他グループの構成（全8グループ※）</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参照：金属資源G_P46／P12／P14</a:t>
            </a:r>
            <a:endParaRPr lang="en-US" sz="700" dirty="0"/>
          </a:p>
        </p:txBody>
      </p:sp>
      <p:sp>
        <p:nvSpPr>
          <p:cNvPr id="12" name="t1_9"/>
          <p:cNvSpPr txBox="1"/>
          <p:nvPr/>
        </p:nvSpPr>
        <p:spPr>
          <a:xfrm>
            <a:off x="609600" y="3810000"/>
            <a:ext cx="6352540"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※グループ数：PwC資料では「全社8グループ」、三菱商事公式サイト（2026年10月時点）は7グループ表記。正式な数・名称を要確認</a:t>
            </a:r>
            <a:endParaRPr lang="en-US" sz="620" dirty="0"/>
          </a:p>
        </p:txBody>
      </p:sp>
      <p:sp>
        <p:nvSpPr>
          <p:cNvPr id="13" name="Shape 9"/>
          <p:cNvSpPr/>
          <p:nvPr/>
        </p:nvSpPr>
        <p:spPr>
          <a:xfrm>
            <a:off x="609600" y="4140200"/>
            <a:ext cx="6337300" cy="0"/>
          </a:xfrm>
          <a:prstGeom prst="line">
            <a:avLst/>
          </a:prstGeom>
          <a:noFill/>
          <a:ln w="12700">
            <a:solidFill>
              <a:srgbClr val="CFD2D5"/>
            </a:solidFill>
            <a:prstDash val="solid"/>
          </a:ln>
        </p:spPr>
      </p:sp>
      <p:sp>
        <p:nvSpPr>
          <p:cNvPr id="14" name="t1_11"/>
          <p:cNvSpPr txBox="1"/>
          <p:nvPr/>
        </p:nvSpPr>
        <p:spPr>
          <a:xfrm>
            <a:off x="609600" y="42926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金属資源グループの位置付け・役割</a:t>
            </a:r>
            <a:endParaRPr lang="en-US" sz="1800" dirty="0"/>
          </a:p>
        </p:txBody>
      </p:sp>
      <p:sp>
        <p:nvSpPr>
          <p:cNvPr id="15" name="t1_12"/>
          <p:cNvSpPr txBox="1"/>
          <p:nvPr/>
        </p:nvSpPr>
        <p:spPr>
          <a:xfrm>
            <a:off x="609600" y="46482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三菱商事の中で、金属資源グループが担う位置付けと役割</a:t>
            </a:r>
            <a:endParaRPr lang="en-US" sz="1000" dirty="0"/>
          </a:p>
        </p:txBody>
      </p:sp>
      <p:sp>
        <p:nvSpPr>
          <p:cNvPr id="16" name="t1_13"/>
          <p:cNvSpPr txBox="1"/>
          <p:nvPr/>
        </p:nvSpPr>
        <p:spPr>
          <a:xfrm>
            <a:off x="609600" y="4927600"/>
            <a:ext cx="3314700" cy="519708"/>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17" name="t1_14"/>
          <p:cNvSpPr txBox="1"/>
          <p:nvPr/>
        </p:nvSpPr>
        <p:spPr>
          <a:xfrm>
            <a:off x="609600" y="5460206"/>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90字／英語 約50語</a:t>
            </a:r>
            <a:endParaRPr lang="en-US" sz="580" dirty="0"/>
          </a:p>
        </p:txBody>
      </p:sp>
      <p:sp>
        <p:nvSpPr>
          <p:cNvPr id="18" name="t1_15"/>
          <p:cNvSpPr txBox="1"/>
          <p:nvPr/>
        </p:nvSpPr>
        <p:spPr>
          <a:xfrm>
            <a:off x="4038600" y="4927600"/>
            <a:ext cx="2908300" cy="1270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図：全社資産（約14兆円）に占める割合</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金属資源G 約20%／資源・エネルギー分野で約50%</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参照：Investor Day P5–P6、金属資源G_P20</a:t>
            </a:r>
            <a:endParaRPr lang="en-US" sz="700" dirty="0"/>
          </a:p>
        </p:txBody>
      </p:sp>
      <p:sp>
        <p:nvSpPr>
          <p:cNvPr id="19" name="t1_16"/>
          <p:cNvSpPr txBox="1"/>
          <p:nvPr/>
        </p:nvSpPr>
        <p:spPr>
          <a:xfrm>
            <a:off x="609600" y="5969000"/>
            <a:ext cx="910431"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444444"/>
                </a:solidFill>
                <a:latin typeface="Yu Gothic" pitchFamily="34" charset="0"/>
                <a:ea typeface="Yu Gothic" pitchFamily="34" charset="-122"/>
                <a:cs typeface="Yu Gothic" pitchFamily="34" charset="-120"/>
              </a:rPr>
              <a:t>グループミッション</a:t>
            </a:r>
            <a:endParaRPr lang="en-US" sz="680" dirty="0"/>
          </a:p>
        </p:txBody>
      </p:sp>
      <p:sp>
        <p:nvSpPr>
          <p:cNvPr id="20" name="t1_17"/>
          <p:cNvSpPr txBox="1"/>
          <p:nvPr/>
        </p:nvSpPr>
        <p:spPr>
          <a:xfrm>
            <a:off x="609600" y="6146800"/>
            <a:ext cx="6603492" cy="182761"/>
          </a:xfrm>
          <a:prstGeom prst="rect">
            <a:avLst/>
          </a:prstGeom>
          <a:noFill/>
          <a:ln/>
        </p:spPr>
        <p:txBody>
          <a:bodyPr wrap="none" lIns="0" tIns="0" rIns="0" bIns="0" rtlCol="0" anchor="t"/>
          <a:lstStyle/>
          <a:p>
            <a:pPr algn="l" indent="0" marL="0">
              <a:lnSpc>
                <a:spcPts val="1440"/>
              </a:lnSpc>
              <a:buNone/>
            </a:pPr>
            <a:r>
              <a:rPr lang="en-US" sz="900" dirty="0">
                <a:solidFill>
                  <a:srgbClr val="222222"/>
                </a:solidFill>
                <a:latin typeface="Yu Gothic" pitchFamily="34" charset="0"/>
                <a:ea typeface="Yu Gothic" pitchFamily="34" charset="-122"/>
                <a:cs typeface="Yu Gothic" pitchFamily="34" charset="-120"/>
              </a:rPr>
              <a:t>「社会が必要とする良質な金属資源を、持続可能な形で安定供給することで、より良い社会の実現に寄与する」</a:t>
            </a:r>
            <a:endParaRPr lang="en-US" sz="900" dirty="0"/>
          </a:p>
        </p:txBody>
      </p:sp>
      <p:sp>
        <p:nvSpPr>
          <p:cNvPr id="21" name="t1_18"/>
          <p:cNvSpPr txBox="1"/>
          <p:nvPr/>
        </p:nvSpPr>
        <p:spPr>
          <a:xfrm>
            <a:off x="609600" y="65786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※収益面は事実・実績ベースで表示し、誇示する表現は避ける。ミッション文言は金属資源G_P2の正式表記を要確認</a:t>
            </a:r>
            <a:endParaRPr lang="en-US" sz="620" dirty="0"/>
          </a:p>
        </p:txBody>
      </p:sp>
      <p:sp>
        <p:nvSpPr>
          <p:cNvPr id="22" name="t1_19"/>
          <p:cNvSpPr txBox="1"/>
          <p:nvPr/>
        </p:nvSpPr>
        <p:spPr>
          <a:xfrm>
            <a:off x="609600" y="6959600"/>
            <a:ext cx="1175004" cy="203200"/>
          </a:xfrm>
          <a:prstGeom prst="rect">
            <a:avLst/>
          </a:prstGeom>
          <a:noFill/>
          <a:ln/>
        </p:spPr>
        <p:txBody>
          <a:bodyPr wrap="none" lIns="0" tIns="0" rIns="0" bIns="0" rtlCol="0" anchor="t"/>
          <a:lstStyle/>
          <a:p>
            <a:pPr algn="l" indent="0" marL="0">
              <a:lnSpc>
                <a:spcPts val="1430"/>
              </a:lnSpc>
              <a:buNone/>
            </a:pPr>
            <a:r>
              <a:rPr lang="en-US" sz="1100" dirty="0">
                <a:solidFill>
                  <a:srgbClr val="222222"/>
                </a:solidFill>
                <a:latin typeface="Yu Gothic" pitchFamily="34" charset="0"/>
                <a:ea typeface="Yu Gothic" pitchFamily="34" charset="-122"/>
                <a:cs typeface="Yu Gothic" pitchFamily="34" charset="-120"/>
              </a:rPr>
              <a:t>組織図・事業体制</a:t>
            </a:r>
            <a:endParaRPr lang="en-US" sz="1100" dirty="0"/>
          </a:p>
        </p:txBody>
      </p:sp>
      <p:sp>
        <p:nvSpPr>
          <p:cNvPr id="23" name="t1_20"/>
          <p:cNvSpPr txBox="1"/>
          <p:nvPr/>
        </p:nvSpPr>
        <p:spPr>
          <a:xfrm>
            <a:off x="1778000" y="6985000"/>
            <a:ext cx="563364" cy="139700"/>
          </a:xfrm>
          <a:prstGeom prst="rect">
            <a:avLst/>
          </a:prstGeom>
          <a:solidFill>
            <a:srgbClr val="2A6FB0"/>
          </a:solidFill>
          <a:ln/>
        </p:spPr>
        <p:txBody>
          <a:bodyPr wrap="none" lIns="25400" tIns="38100" rIns="38100" bIns="25400" rtlCol="0" anchor="t"/>
          <a:lstStyle/>
          <a:p>
            <a:pPr algn="l" indent="0" marL="0">
              <a:lnSpc>
                <a:spcPts val="806"/>
              </a:lnSpc>
              <a:buNone/>
            </a:pPr>
            <a:r>
              <a:rPr lang="en-US" sz="620" spc="30" kern="0" dirty="0">
                <a:solidFill>
                  <a:srgbClr val="FFFFFF"/>
                </a:solidFill>
                <a:latin typeface="Yu Gothic" pitchFamily="34" charset="0"/>
                <a:ea typeface="Yu Gothic" pitchFamily="34" charset="-122"/>
                <a:cs typeface="Yu Gothic" pitchFamily="34" charset="-120"/>
              </a:rPr>
              <a:t>改善① 移動</a:t>
            </a:r>
            <a:endParaRPr lang="en-US" sz="620" dirty="0"/>
          </a:p>
        </p:txBody>
      </p:sp>
      <p:sp>
        <p:nvSpPr>
          <p:cNvPr id="24" name="t1_21"/>
          <p:cNvSpPr txBox="1"/>
          <p:nvPr/>
        </p:nvSpPr>
        <p:spPr>
          <a:xfrm>
            <a:off x="609600" y="7162800"/>
            <a:ext cx="3014218"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投資を担う2本部と、トレーディングを担う1本部</a:t>
            </a:r>
            <a:endParaRPr lang="en-US" sz="1000" dirty="0"/>
          </a:p>
        </p:txBody>
      </p:sp>
      <p:sp>
        <p:nvSpPr>
          <p:cNvPr id="25" name="t1_22"/>
          <p:cNvSpPr txBox="1"/>
          <p:nvPr/>
        </p:nvSpPr>
        <p:spPr>
          <a:xfrm>
            <a:off x="3022600" y="7467600"/>
            <a:ext cx="1524000" cy="254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グループCEO</a:t>
            </a:r>
            <a:endParaRPr lang="en-US" sz="740" dirty="0"/>
          </a:p>
        </p:txBody>
      </p:sp>
      <p:sp>
        <p:nvSpPr>
          <p:cNvPr id="26" name="t1_23"/>
          <p:cNvSpPr txBox="1"/>
          <p:nvPr/>
        </p:nvSpPr>
        <p:spPr>
          <a:xfrm>
            <a:off x="5435600" y="7467600"/>
            <a:ext cx="1397000" cy="254000"/>
          </a:xfrm>
          <a:prstGeom prst="rect">
            <a:avLst/>
          </a:prstGeom>
          <a:noFill/>
          <a:ln w="12700">
            <a:solidFill>
              <a:srgbClr val="9AA0A6"/>
            </a:solidFill>
            <a:prstDash val="dash"/>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グループCEOオフィス</a:t>
            </a:r>
            <a:endParaRPr lang="en-US" sz="740" dirty="0"/>
          </a:p>
        </p:txBody>
      </p:sp>
      <p:sp>
        <p:nvSpPr>
          <p:cNvPr id="27" name="Shape 23"/>
          <p:cNvSpPr/>
          <p:nvPr/>
        </p:nvSpPr>
        <p:spPr>
          <a:xfrm>
            <a:off x="3771900" y="7721600"/>
            <a:ext cx="0" cy="152400"/>
          </a:xfrm>
          <a:prstGeom prst="line">
            <a:avLst/>
          </a:prstGeom>
          <a:noFill/>
          <a:ln w="12700">
            <a:solidFill>
              <a:srgbClr val="888888"/>
            </a:solidFill>
            <a:prstDash val="solid"/>
          </a:ln>
        </p:spPr>
      </p:sp>
      <p:sp>
        <p:nvSpPr>
          <p:cNvPr id="28" name="Shape 24"/>
          <p:cNvSpPr/>
          <p:nvPr/>
        </p:nvSpPr>
        <p:spPr>
          <a:xfrm>
            <a:off x="1625600" y="7874000"/>
            <a:ext cx="4318000" cy="0"/>
          </a:xfrm>
          <a:prstGeom prst="line">
            <a:avLst/>
          </a:prstGeom>
          <a:noFill/>
          <a:ln w="12700">
            <a:solidFill>
              <a:srgbClr val="888888"/>
            </a:solidFill>
            <a:prstDash val="solid"/>
          </a:ln>
        </p:spPr>
      </p:sp>
      <p:sp>
        <p:nvSpPr>
          <p:cNvPr id="29" name="Shape 25"/>
          <p:cNvSpPr/>
          <p:nvPr/>
        </p:nvSpPr>
        <p:spPr>
          <a:xfrm>
            <a:off x="1689100" y="7874000"/>
            <a:ext cx="0" cy="127000"/>
          </a:xfrm>
          <a:prstGeom prst="line">
            <a:avLst/>
          </a:prstGeom>
          <a:noFill/>
          <a:ln w="12700">
            <a:solidFill>
              <a:srgbClr val="888888"/>
            </a:solidFill>
            <a:prstDash val="solid"/>
          </a:ln>
        </p:spPr>
      </p:sp>
      <p:sp>
        <p:nvSpPr>
          <p:cNvPr id="30" name="t1_27"/>
          <p:cNvSpPr txBox="1"/>
          <p:nvPr/>
        </p:nvSpPr>
        <p:spPr>
          <a:xfrm>
            <a:off x="736600" y="8001000"/>
            <a:ext cx="1905000" cy="3556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鉄鋼原料本部</a:t>
            </a:r>
            <a:endParaRPr lang="en-US" sz="740" dirty="0"/>
          </a:p>
          <a:p>
            <a:pPr algn="ctr" indent="0" marL="0">
              <a:lnSpc>
                <a:spcPts val="999"/>
              </a:lnSpc>
              <a:buNone/>
            </a:pPr>
            <a:r>
              <a:rPr lang="en-US" sz="620" dirty="0">
                <a:solidFill>
                  <a:srgbClr val="888888"/>
                </a:solidFill>
                <a:latin typeface="Yu Gothic" pitchFamily="34" charset="0"/>
                <a:ea typeface="Yu Gothic" pitchFamily="34" charset="-122"/>
                <a:cs typeface="Yu Gothic" pitchFamily="34" charset="-120"/>
              </a:rPr>
              <a:t>（投資）</a:t>
            </a:r>
            <a:endParaRPr lang="en-US" sz="740" dirty="0"/>
          </a:p>
        </p:txBody>
      </p:sp>
      <p:sp>
        <p:nvSpPr>
          <p:cNvPr id="31" name="Shape 27"/>
          <p:cNvSpPr/>
          <p:nvPr/>
        </p:nvSpPr>
        <p:spPr>
          <a:xfrm>
            <a:off x="3848100" y="7874000"/>
            <a:ext cx="0" cy="127000"/>
          </a:xfrm>
          <a:prstGeom prst="line">
            <a:avLst/>
          </a:prstGeom>
          <a:noFill/>
          <a:ln w="12700">
            <a:solidFill>
              <a:srgbClr val="888888"/>
            </a:solidFill>
            <a:prstDash val="solid"/>
          </a:ln>
        </p:spPr>
      </p:sp>
      <p:sp>
        <p:nvSpPr>
          <p:cNvPr id="32" name="t1_29"/>
          <p:cNvSpPr txBox="1"/>
          <p:nvPr/>
        </p:nvSpPr>
        <p:spPr>
          <a:xfrm>
            <a:off x="2895600" y="8001000"/>
            <a:ext cx="1905000" cy="3556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クリティカルミネラル本部</a:t>
            </a:r>
            <a:endParaRPr lang="en-US" sz="740" dirty="0"/>
          </a:p>
          <a:p>
            <a:pPr algn="ctr" indent="0" marL="0">
              <a:lnSpc>
                <a:spcPts val="999"/>
              </a:lnSpc>
              <a:buNone/>
            </a:pPr>
            <a:r>
              <a:rPr lang="en-US" sz="620" dirty="0">
                <a:solidFill>
                  <a:srgbClr val="888888"/>
                </a:solidFill>
                <a:latin typeface="Yu Gothic" pitchFamily="34" charset="0"/>
                <a:ea typeface="Yu Gothic" pitchFamily="34" charset="-122"/>
                <a:cs typeface="Yu Gothic" pitchFamily="34" charset="-120"/>
              </a:rPr>
              <a:t>（投資）</a:t>
            </a:r>
            <a:endParaRPr lang="en-US" sz="740" dirty="0"/>
          </a:p>
        </p:txBody>
      </p:sp>
      <p:sp>
        <p:nvSpPr>
          <p:cNvPr id="33" name="Shape 29"/>
          <p:cNvSpPr/>
          <p:nvPr/>
        </p:nvSpPr>
        <p:spPr>
          <a:xfrm>
            <a:off x="6007100" y="7874000"/>
            <a:ext cx="0" cy="127000"/>
          </a:xfrm>
          <a:prstGeom prst="line">
            <a:avLst/>
          </a:prstGeom>
          <a:noFill/>
          <a:ln w="12700">
            <a:solidFill>
              <a:srgbClr val="888888"/>
            </a:solidFill>
            <a:prstDash val="solid"/>
          </a:ln>
        </p:spPr>
      </p:sp>
      <p:sp>
        <p:nvSpPr>
          <p:cNvPr id="34" name="t1_31"/>
          <p:cNvSpPr txBox="1"/>
          <p:nvPr/>
        </p:nvSpPr>
        <p:spPr>
          <a:xfrm>
            <a:off x="5054600" y="8001000"/>
            <a:ext cx="1905000" cy="3556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金属資源トレーディング本部</a:t>
            </a:r>
            <a:endParaRPr lang="en-US" sz="740" dirty="0"/>
          </a:p>
          <a:p>
            <a:pPr algn="ctr" indent="0" marL="0">
              <a:lnSpc>
                <a:spcPts val="999"/>
              </a:lnSpc>
              <a:buNone/>
            </a:pPr>
            <a:r>
              <a:rPr lang="en-US" sz="620" dirty="0">
                <a:solidFill>
                  <a:srgbClr val="888888"/>
                </a:solidFill>
                <a:latin typeface="Yu Gothic" pitchFamily="34" charset="0"/>
                <a:ea typeface="Yu Gothic" pitchFamily="34" charset="-122"/>
                <a:cs typeface="Yu Gothic" pitchFamily="34" charset="-120"/>
              </a:rPr>
              <a:t>（トレーディング）</a:t>
            </a:r>
            <a:endParaRPr lang="en-US" sz="740" dirty="0"/>
          </a:p>
        </p:txBody>
      </p:sp>
      <p:sp>
        <p:nvSpPr>
          <p:cNvPr id="35" name="t1_32"/>
          <p:cNvSpPr txBox="1"/>
          <p:nvPr/>
        </p:nvSpPr>
        <p:spPr>
          <a:xfrm>
            <a:off x="609600" y="8534400"/>
            <a:ext cx="614902"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444444"/>
                </a:solidFill>
                <a:latin typeface="Yu Gothic" pitchFamily="34" charset="0"/>
                <a:ea typeface="Yu Gothic" pitchFamily="34" charset="-122"/>
                <a:cs typeface="Yu Gothic" pitchFamily="34" charset="-120"/>
              </a:rPr>
              <a:t>主要関係会社</a:t>
            </a:r>
            <a:endParaRPr lang="en-US" sz="680" dirty="0"/>
          </a:p>
        </p:txBody>
      </p:sp>
      <p:sp>
        <p:nvSpPr>
          <p:cNvPr id="36" name="t1_33"/>
          <p:cNvSpPr txBox="1"/>
          <p:nvPr/>
        </p:nvSpPr>
        <p:spPr>
          <a:xfrm>
            <a:off x="609600" y="8712200"/>
            <a:ext cx="11938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MDP</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原料炭</a:t>
            </a:r>
            <a:endParaRPr lang="en-US" sz="740" dirty="0"/>
          </a:p>
        </p:txBody>
      </p:sp>
      <p:sp>
        <p:nvSpPr>
          <p:cNvPr id="37" name="t1_34"/>
          <p:cNvSpPr txBox="1"/>
          <p:nvPr/>
        </p:nvSpPr>
        <p:spPr>
          <a:xfrm>
            <a:off x="1879600" y="8712200"/>
            <a:ext cx="11938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MCI</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南米の銅・鉄鉱石</a:t>
            </a:r>
            <a:endParaRPr lang="en-US" sz="740" dirty="0"/>
          </a:p>
        </p:txBody>
      </p:sp>
      <p:sp>
        <p:nvSpPr>
          <p:cNvPr id="38" name="t1_35"/>
          <p:cNvSpPr txBox="1"/>
          <p:nvPr/>
        </p:nvSpPr>
        <p:spPr>
          <a:xfrm>
            <a:off x="3149600" y="8712200"/>
            <a:ext cx="11938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MCIP</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ペルーの銅</a:t>
            </a:r>
            <a:endParaRPr lang="en-US" sz="740" dirty="0"/>
          </a:p>
        </p:txBody>
      </p:sp>
      <p:sp>
        <p:nvSpPr>
          <p:cNvPr id="39" name="t1_36"/>
          <p:cNvSpPr txBox="1"/>
          <p:nvPr/>
        </p:nvSpPr>
        <p:spPr>
          <a:xfrm>
            <a:off x="4419600" y="8712200"/>
            <a:ext cx="11938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トレーディング</a:t>
            </a:r>
            <a:endParaRPr lang="en-US" sz="740" dirty="0"/>
          </a:p>
        </p:txBody>
      </p:sp>
      <p:sp>
        <p:nvSpPr>
          <p:cNvPr id="40" name="t1_37"/>
          <p:cNvSpPr txBox="1"/>
          <p:nvPr/>
        </p:nvSpPr>
        <p:spPr>
          <a:xfrm>
            <a:off x="5689600" y="8712200"/>
            <a:ext cx="11938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Triland Metals</a:t>
            </a:r>
            <a:endParaRPr lang="en-US" sz="740" dirty="0"/>
          </a:p>
          <a:p>
            <a:pPr algn="ctr" indent="0" marL="0">
              <a:lnSpc>
                <a:spcPts val="999"/>
              </a:lnSpc>
              <a:buNone/>
            </a:pPr>
            <a:r>
              <a:rPr lang="en-US" sz="580" dirty="0">
                <a:solidFill>
                  <a:srgbClr val="888888"/>
                </a:solidFill>
                <a:latin typeface="Yu Gothic" pitchFamily="34" charset="0"/>
                <a:ea typeface="Yu Gothic" pitchFamily="34" charset="-122"/>
                <a:cs typeface="Yu Gothic" pitchFamily="34" charset="-120"/>
              </a:rPr>
              <a:t>金属取引（ブローカー・ヘッジ）</a:t>
            </a:r>
            <a:endParaRPr lang="en-US" sz="740" dirty="0"/>
          </a:p>
        </p:txBody>
      </p:sp>
      <p:sp>
        <p:nvSpPr>
          <p:cNvPr id="41" name="t1_38"/>
          <p:cNvSpPr txBox="1"/>
          <p:nvPr/>
        </p:nvSpPr>
        <p:spPr>
          <a:xfrm>
            <a:off x="609600" y="92456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※本部長名などの個人名は記載しない。PwC資料の分類どおり「位置付け・役割」の中で示す（組織図＝役割の具体化）</a:t>
            </a:r>
            <a:endParaRPr lang="en-US" sz="620" dirty="0"/>
          </a:p>
        </p:txBody>
      </p:sp>
      <p:sp>
        <p:nvSpPr>
          <p:cNvPr id="42" name="t1_39"/>
          <p:cNvSpPr txBox="1"/>
          <p:nvPr/>
        </p:nvSpPr>
        <p:spPr>
          <a:xfrm>
            <a:off x="8166100" y="431800"/>
            <a:ext cx="1506030"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第1章　WHO｜我々は何者か</a:t>
            </a:r>
            <a:endParaRPr lang="en-US" sz="740" dirty="0"/>
          </a:p>
        </p:txBody>
      </p:sp>
      <p:sp>
        <p:nvSpPr>
          <p:cNvPr id="43" name="t1_40"/>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読み手の心理：理解</a:t>
            </a:r>
            <a:endParaRPr lang="en-US" sz="660" dirty="0"/>
          </a:p>
        </p:txBody>
      </p:sp>
      <p:sp>
        <p:nvSpPr>
          <p:cNvPr id="44" name="t1_41"/>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金属資源グループの事業と機能の変遷</a:t>
            </a:r>
            <a:endParaRPr lang="en-US" sz="1800" dirty="0"/>
          </a:p>
        </p:txBody>
      </p:sp>
      <p:sp>
        <p:nvSpPr>
          <p:cNvPr id="45" name="t1_42"/>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時代の変化を先読みし、事業モデルを変革してきた歩み</a:t>
            </a:r>
            <a:endParaRPr lang="en-US" sz="1000" dirty="0"/>
          </a:p>
        </p:txBody>
      </p:sp>
      <p:sp>
        <p:nvSpPr>
          <p:cNvPr id="46" name="t1_43"/>
          <p:cNvSpPr txBox="1"/>
          <p:nvPr/>
        </p:nvSpPr>
        <p:spPr>
          <a:xfrm>
            <a:off x="12357100" y="838200"/>
            <a:ext cx="563364" cy="139700"/>
          </a:xfrm>
          <a:prstGeom prst="rect">
            <a:avLst/>
          </a:prstGeom>
          <a:solidFill>
            <a:srgbClr val="2A6FB0"/>
          </a:solidFill>
          <a:ln/>
        </p:spPr>
        <p:txBody>
          <a:bodyPr wrap="none" lIns="25400" tIns="38100" rIns="38100" bIns="25400" rtlCol="0" anchor="t"/>
          <a:lstStyle/>
          <a:p>
            <a:pPr algn="l" indent="0" marL="0">
              <a:lnSpc>
                <a:spcPts val="806"/>
              </a:lnSpc>
              <a:buNone/>
            </a:pPr>
            <a:r>
              <a:rPr lang="en-US" sz="620" spc="30" kern="0" dirty="0">
                <a:solidFill>
                  <a:srgbClr val="FFFFFF"/>
                </a:solidFill>
                <a:latin typeface="Yu Gothic" pitchFamily="34" charset="0"/>
                <a:ea typeface="Yu Gothic" pitchFamily="34" charset="-122"/>
                <a:cs typeface="Yu Gothic" pitchFamily="34" charset="-120"/>
              </a:rPr>
              <a:t>改善② 拡大</a:t>
            </a:r>
            <a:endParaRPr lang="en-US" sz="620" dirty="0"/>
          </a:p>
        </p:txBody>
      </p:sp>
      <p:sp>
        <p:nvSpPr>
          <p:cNvPr id="47" name="t1_44"/>
          <p:cNvSpPr txBox="1"/>
          <p:nvPr/>
        </p:nvSpPr>
        <p:spPr>
          <a:xfrm>
            <a:off x="8166100" y="1371600"/>
            <a:ext cx="6603492"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48" name="t1_45"/>
          <p:cNvSpPr txBox="1"/>
          <p:nvPr/>
        </p:nvSpPr>
        <p:spPr>
          <a:xfrm>
            <a:off x="8166100" y="1730970"/>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90字／英語 約50語</a:t>
            </a:r>
            <a:endParaRPr lang="en-US" sz="580" dirty="0"/>
          </a:p>
        </p:txBody>
      </p:sp>
      <p:sp>
        <p:nvSpPr>
          <p:cNvPr id="49" name="t1_46"/>
          <p:cNvSpPr txBox="1"/>
          <p:nvPr/>
        </p:nvSpPr>
        <p:spPr>
          <a:xfrm>
            <a:off x="8166100" y="2032000"/>
            <a:ext cx="6337300" cy="1016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図：資源価格の推移（折れ線）＋ 世界の消費に占める日本・中国のシェア</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参照：金属資源G_P30／P34</a:t>
            </a:r>
            <a:endParaRPr lang="en-US" sz="700" dirty="0"/>
          </a:p>
        </p:txBody>
      </p:sp>
      <p:sp>
        <p:nvSpPr>
          <p:cNvPr id="50" name="Shape 46"/>
          <p:cNvSpPr/>
          <p:nvPr/>
        </p:nvSpPr>
        <p:spPr>
          <a:xfrm>
            <a:off x="8166100" y="3251200"/>
            <a:ext cx="6337300" cy="0"/>
          </a:xfrm>
          <a:prstGeom prst="line">
            <a:avLst/>
          </a:prstGeom>
          <a:noFill/>
          <a:ln w="12700">
            <a:solidFill>
              <a:srgbClr val="888888"/>
            </a:solidFill>
            <a:prstDash val="solid"/>
          </a:ln>
        </p:spPr>
      </p:sp>
      <p:sp>
        <p:nvSpPr>
          <p:cNvPr id="51" name="Shape 47"/>
          <p:cNvSpPr/>
          <p:nvPr/>
        </p:nvSpPr>
        <p:spPr>
          <a:xfrm>
            <a:off x="8140700" y="3200400"/>
            <a:ext cx="101600" cy="101600"/>
          </a:xfrm>
          <a:prstGeom prst="ellipse">
            <a:avLst/>
          </a:prstGeom>
          <a:solidFill>
            <a:srgbClr val="888888"/>
          </a:solidFill>
          <a:ln/>
        </p:spPr>
      </p:sp>
      <p:sp>
        <p:nvSpPr>
          <p:cNvPr id="52" name="t1_49"/>
          <p:cNvSpPr txBox="1"/>
          <p:nvPr/>
        </p:nvSpPr>
        <p:spPr>
          <a:xfrm>
            <a:off x="8166100" y="3378200"/>
            <a:ext cx="126746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1980年代〜</a:t>
            </a:r>
            <a:endParaRPr lang="en-US" sz="900" dirty="0"/>
          </a:p>
        </p:txBody>
      </p:sp>
      <p:sp>
        <p:nvSpPr>
          <p:cNvPr id="53" name="t1_50"/>
          <p:cNvSpPr txBox="1"/>
          <p:nvPr/>
        </p:nvSpPr>
        <p:spPr>
          <a:xfrm>
            <a:off x="8166100" y="3581400"/>
            <a:ext cx="1227836" cy="400050"/>
          </a:xfrm>
          <a:prstGeom prst="rect">
            <a:avLst/>
          </a:prstGeom>
          <a:noFill/>
          <a:ln/>
        </p:spPr>
        <p:txBody>
          <a:bodyPr wrap="square" lIns="0" tIns="0" rIns="0" bIns="0" rtlCol="0" anchor="t"/>
          <a:lstStyle/>
          <a:p>
            <a:pPr algn="l" indent="0" marL="0">
              <a:lnSpc>
                <a:spcPts val="1050"/>
              </a:lnSpc>
              <a:buNone/>
            </a:pPr>
            <a:r>
              <a:rPr lang="en-US" sz="700" dirty="0">
                <a:solidFill>
                  <a:srgbClr val="444444"/>
                </a:solidFill>
                <a:latin typeface="Yu Gothic" pitchFamily="34" charset="0"/>
                <a:ea typeface="Yu Gothic" pitchFamily="34" charset="-122"/>
                <a:cs typeface="Yu Gothic" pitchFamily="34" charset="-120"/>
              </a:rPr>
              <a:t>日本の需要を捉え、資源を日本へ運ぶトレーディングに参入</a:t>
            </a:r>
            <a:endParaRPr lang="en-US" sz="700" dirty="0"/>
          </a:p>
        </p:txBody>
      </p:sp>
      <p:sp>
        <p:nvSpPr>
          <p:cNvPr id="54" name="t1_51"/>
          <p:cNvSpPr txBox="1"/>
          <p:nvPr/>
        </p:nvSpPr>
        <p:spPr>
          <a:xfrm>
            <a:off x="8166100" y="4089400"/>
            <a:ext cx="1227836" cy="53578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660" dirty="0"/>
          </a:p>
        </p:txBody>
      </p:sp>
      <p:sp>
        <p:nvSpPr>
          <p:cNvPr id="55" name="t1_52"/>
          <p:cNvSpPr txBox="1"/>
          <p:nvPr/>
        </p:nvSpPr>
        <p:spPr>
          <a:xfrm>
            <a:off x="8166100" y="4699000"/>
            <a:ext cx="1168400" cy="4572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参画案件（略称）</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〇〇・〇〇</a:t>
            </a:r>
            <a:endParaRPr lang="en-US" sz="700" dirty="0"/>
          </a:p>
        </p:txBody>
      </p:sp>
      <p:sp>
        <p:nvSpPr>
          <p:cNvPr id="56" name="Shape 52"/>
          <p:cNvSpPr/>
          <p:nvPr/>
        </p:nvSpPr>
        <p:spPr>
          <a:xfrm>
            <a:off x="9410700" y="3200400"/>
            <a:ext cx="101600" cy="101600"/>
          </a:xfrm>
          <a:prstGeom prst="ellipse">
            <a:avLst/>
          </a:prstGeom>
          <a:solidFill>
            <a:srgbClr val="888888"/>
          </a:solidFill>
          <a:ln/>
        </p:spPr>
      </p:sp>
      <p:sp>
        <p:nvSpPr>
          <p:cNvPr id="57" name="t1_54"/>
          <p:cNvSpPr txBox="1"/>
          <p:nvPr/>
        </p:nvSpPr>
        <p:spPr>
          <a:xfrm>
            <a:off x="9436100" y="3378200"/>
            <a:ext cx="126746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〜2000年頃</a:t>
            </a:r>
            <a:endParaRPr lang="en-US" sz="900" dirty="0"/>
          </a:p>
        </p:txBody>
      </p:sp>
      <p:sp>
        <p:nvSpPr>
          <p:cNvPr id="58" name="t1_55"/>
          <p:cNvSpPr txBox="1"/>
          <p:nvPr/>
        </p:nvSpPr>
        <p:spPr>
          <a:xfrm>
            <a:off x="9436100" y="3581400"/>
            <a:ext cx="1227836" cy="266700"/>
          </a:xfrm>
          <a:prstGeom prst="rect">
            <a:avLst/>
          </a:prstGeom>
          <a:noFill/>
          <a:ln/>
        </p:spPr>
        <p:txBody>
          <a:bodyPr wrap="square" lIns="0" tIns="0" rIns="0" bIns="0" rtlCol="0" anchor="t"/>
          <a:lstStyle/>
          <a:p>
            <a:pPr algn="l" indent="0" marL="0">
              <a:lnSpc>
                <a:spcPts val="1050"/>
              </a:lnSpc>
              <a:buNone/>
            </a:pPr>
            <a:r>
              <a:rPr lang="en-US" sz="700" dirty="0">
                <a:solidFill>
                  <a:srgbClr val="444444"/>
                </a:solidFill>
                <a:latin typeface="Yu Gothic" pitchFamily="34" charset="0"/>
                <a:ea typeface="Yu Gothic" pitchFamily="34" charset="-122"/>
                <a:cs typeface="Yu Gothic" pitchFamily="34" charset="-120"/>
              </a:rPr>
              <a:t>少数株主として資源権益に出資</a:t>
            </a:r>
            <a:endParaRPr lang="en-US" sz="700" dirty="0"/>
          </a:p>
        </p:txBody>
      </p:sp>
      <p:sp>
        <p:nvSpPr>
          <p:cNvPr id="59" name="t1_56"/>
          <p:cNvSpPr txBox="1"/>
          <p:nvPr/>
        </p:nvSpPr>
        <p:spPr>
          <a:xfrm>
            <a:off x="9436100" y="4089400"/>
            <a:ext cx="1227836" cy="53578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660" dirty="0"/>
          </a:p>
        </p:txBody>
      </p:sp>
      <p:sp>
        <p:nvSpPr>
          <p:cNvPr id="60" name="t1_57"/>
          <p:cNvSpPr txBox="1"/>
          <p:nvPr/>
        </p:nvSpPr>
        <p:spPr>
          <a:xfrm>
            <a:off x="9436100" y="4699000"/>
            <a:ext cx="1168400" cy="4572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参画案件（略称）</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〇〇・〇〇</a:t>
            </a:r>
            <a:endParaRPr lang="en-US" sz="700" dirty="0"/>
          </a:p>
        </p:txBody>
      </p:sp>
      <p:sp>
        <p:nvSpPr>
          <p:cNvPr id="61" name="Shape 57"/>
          <p:cNvSpPr/>
          <p:nvPr/>
        </p:nvSpPr>
        <p:spPr>
          <a:xfrm>
            <a:off x="10680700" y="3200400"/>
            <a:ext cx="101600" cy="101600"/>
          </a:xfrm>
          <a:prstGeom prst="ellipse">
            <a:avLst/>
          </a:prstGeom>
          <a:solidFill>
            <a:srgbClr val="888888"/>
          </a:solidFill>
          <a:ln/>
        </p:spPr>
      </p:sp>
      <p:sp>
        <p:nvSpPr>
          <p:cNvPr id="62" name="t1_59"/>
          <p:cNvSpPr txBox="1"/>
          <p:nvPr/>
        </p:nvSpPr>
        <p:spPr>
          <a:xfrm>
            <a:off x="10706100" y="3378200"/>
            <a:ext cx="126746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2000年〜</a:t>
            </a:r>
            <a:endParaRPr lang="en-US" sz="900" dirty="0"/>
          </a:p>
        </p:txBody>
      </p:sp>
      <p:sp>
        <p:nvSpPr>
          <p:cNvPr id="63" name="t1_60"/>
          <p:cNvSpPr txBox="1"/>
          <p:nvPr/>
        </p:nvSpPr>
        <p:spPr>
          <a:xfrm>
            <a:off x="10706100" y="3581400"/>
            <a:ext cx="1227836" cy="266700"/>
          </a:xfrm>
          <a:prstGeom prst="rect">
            <a:avLst/>
          </a:prstGeom>
          <a:noFill/>
          <a:ln/>
        </p:spPr>
        <p:txBody>
          <a:bodyPr wrap="square" lIns="0" tIns="0" rIns="0" bIns="0" rtlCol="0" anchor="t"/>
          <a:lstStyle/>
          <a:p>
            <a:pPr algn="l" indent="0" marL="0">
              <a:lnSpc>
                <a:spcPts val="1050"/>
              </a:lnSpc>
              <a:buNone/>
            </a:pPr>
            <a:r>
              <a:rPr lang="en-US" sz="700" dirty="0">
                <a:solidFill>
                  <a:srgbClr val="444444"/>
                </a:solidFill>
                <a:latin typeface="Yu Gothic" pitchFamily="34" charset="0"/>
                <a:ea typeface="Yu Gothic" pitchFamily="34" charset="-122"/>
                <a:cs typeface="Yu Gothic" pitchFamily="34" charset="-120"/>
              </a:rPr>
              <a:t>大型案件に参画し、BHPと50:50のJV運営へ</a:t>
            </a:r>
            <a:endParaRPr lang="en-US" sz="700" dirty="0"/>
          </a:p>
        </p:txBody>
      </p:sp>
      <p:sp>
        <p:nvSpPr>
          <p:cNvPr id="64" name="t1_61"/>
          <p:cNvSpPr txBox="1"/>
          <p:nvPr/>
        </p:nvSpPr>
        <p:spPr>
          <a:xfrm>
            <a:off x="10706100" y="4089400"/>
            <a:ext cx="1227836" cy="53578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660" dirty="0"/>
          </a:p>
        </p:txBody>
      </p:sp>
      <p:sp>
        <p:nvSpPr>
          <p:cNvPr id="65" name="t1_62"/>
          <p:cNvSpPr txBox="1"/>
          <p:nvPr/>
        </p:nvSpPr>
        <p:spPr>
          <a:xfrm>
            <a:off x="10706100" y="4699000"/>
            <a:ext cx="1168400" cy="4572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参画案件（略称）</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〇〇・〇〇</a:t>
            </a:r>
            <a:endParaRPr lang="en-US" sz="700" dirty="0"/>
          </a:p>
        </p:txBody>
      </p:sp>
      <p:sp>
        <p:nvSpPr>
          <p:cNvPr id="66" name="Shape 62"/>
          <p:cNvSpPr/>
          <p:nvPr/>
        </p:nvSpPr>
        <p:spPr>
          <a:xfrm>
            <a:off x="11950700" y="3200400"/>
            <a:ext cx="101600" cy="101600"/>
          </a:xfrm>
          <a:prstGeom prst="ellipse">
            <a:avLst/>
          </a:prstGeom>
          <a:solidFill>
            <a:srgbClr val="888888"/>
          </a:solidFill>
          <a:ln/>
        </p:spPr>
      </p:sp>
      <p:sp>
        <p:nvSpPr>
          <p:cNvPr id="67" name="t1_64"/>
          <p:cNvSpPr txBox="1"/>
          <p:nvPr/>
        </p:nvSpPr>
        <p:spPr>
          <a:xfrm>
            <a:off x="11976100" y="3378200"/>
            <a:ext cx="126746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2010年代〜</a:t>
            </a:r>
            <a:endParaRPr lang="en-US" sz="900" dirty="0"/>
          </a:p>
        </p:txBody>
      </p:sp>
      <p:sp>
        <p:nvSpPr>
          <p:cNvPr id="68" name="t1_65"/>
          <p:cNvSpPr txBox="1"/>
          <p:nvPr/>
        </p:nvSpPr>
        <p:spPr>
          <a:xfrm>
            <a:off x="11976100" y="3581400"/>
            <a:ext cx="1227836" cy="400050"/>
          </a:xfrm>
          <a:prstGeom prst="rect">
            <a:avLst/>
          </a:prstGeom>
          <a:noFill/>
          <a:ln/>
        </p:spPr>
        <p:txBody>
          <a:bodyPr wrap="square" lIns="0" tIns="0" rIns="0" bIns="0" rtlCol="0" anchor="t"/>
          <a:lstStyle/>
          <a:p>
            <a:pPr algn="l" indent="0" marL="0">
              <a:lnSpc>
                <a:spcPts val="1050"/>
              </a:lnSpc>
              <a:buNone/>
            </a:pPr>
            <a:r>
              <a:rPr lang="en-US" sz="700" dirty="0">
                <a:solidFill>
                  <a:srgbClr val="444444"/>
                </a:solidFill>
                <a:latin typeface="Yu Gothic" pitchFamily="34" charset="0"/>
                <a:ea typeface="Yu Gothic" pitchFamily="34" charset="-122"/>
                <a:cs typeface="Yu Gothic" pitchFamily="34" charset="-120"/>
              </a:rPr>
              <a:t>銅の権益を拡大。マーケティングをRtM（シンガポール）に集約</a:t>
            </a:r>
            <a:endParaRPr lang="en-US" sz="700" dirty="0"/>
          </a:p>
        </p:txBody>
      </p:sp>
      <p:sp>
        <p:nvSpPr>
          <p:cNvPr id="69" name="t1_66"/>
          <p:cNvSpPr txBox="1"/>
          <p:nvPr/>
        </p:nvSpPr>
        <p:spPr>
          <a:xfrm>
            <a:off x="11976100" y="4089400"/>
            <a:ext cx="1227836" cy="53578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660" dirty="0"/>
          </a:p>
        </p:txBody>
      </p:sp>
      <p:sp>
        <p:nvSpPr>
          <p:cNvPr id="70" name="t1_67"/>
          <p:cNvSpPr txBox="1"/>
          <p:nvPr/>
        </p:nvSpPr>
        <p:spPr>
          <a:xfrm>
            <a:off x="11976100" y="4699000"/>
            <a:ext cx="1168400" cy="4572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参画案件（略称）</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〇〇・〇〇</a:t>
            </a:r>
            <a:endParaRPr lang="en-US" sz="700" dirty="0"/>
          </a:p>
        </p:txBody>
      </p:sp>
      <p:sp>
        <p:nvSpPr>
          <p:cNvPr id="71" name="Shape 67"/>
          <p:cNvSpPr/>
          <p:nvPr/>
        </p:nvSpPr>
        <p:spPr>
          <a:xfrm>
            <a:off x="13220700" y="3200400"/>
            <a:ext cx="101600" cy="101600"/>
          </a:xfrm>
          <a:prstGeom prst="ellipse">
            <a:avLst/>
          </a:prstGeom>
          <a:solidFill>
            <a:srgbClr val="888888"/>
          </a:solidFill>
          <a:ln/>
        </p:spPr>
      </p:sp>
      <p:sp>
        <p:nvSpPr>
          <p:cNvPr id="72" name="t1_69"/>
          <p:cNvSpPr txBox="1"/>
          <p:nvPr/>
        </p:nvSpPr>
        <p:spPr>
          <a:xfrm>
            <a:off x="13246100" y="3378200"/>
            <a:ext cx="126746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現在</a:t>
            </a:r>
            <a:endParaRPr lang="en-US" sz="900" dirty="0"/>
          </a:p>
        </p:txBody>
      </p:sp>
      <p:sp>
        <p:nvSpPr>
          <p:cNvPr id="73" name="t1_70"/>
          <p:cNvSpPr txBox="1"/>
          <p:nvPr/>
        </p:nvSpPr>
        <p:spPr>
          <a:xfrm>
            <a:off x="13246100" y="3581400"/>
            <a:ext cx="1227836" cy="133350"/>
          </a:xfrm>
          <a:prstGeom prst="rect">
            <a:avLst/>
          </a:prstGeom>
          <a:noFill/>
          <a:ln/>
        </p:spPr>
        <p:txBody>
          <a:bodyPr wrap="none" lIns="0" tIns="0" rIns="0" bIns="0" rtlCol="0" anchor="t"/>
          <a:lstStyle/>
          <a:p>
            <a:pPr algn="l" indent="0" marL="0">
              <a:lnSpc>
                <a:spcPts val="1050"/>
              </a:lnSpc>
              <a:buNone/>
            </a:pPr>
            <a:r>
              <a:rPr lang="en-US" sz="700" dirty="0">
                <a:solidFill>
                  <a:srgbClr val="444444"/>
                </a:solidFill>
                <a:latin typeface="Yu Gothic" pitchFamily="34" charset="0"/>
                <a:ea typeface="Yu Gothic" pitchFamily="34" charset="-122"/>
                <a:cs typeface="Yu Gothic" pitchFamily="34" charset="-120"/>
              </a:rPr>
              <a:t>〇〇（現在の姿を記載）</a:t>
            </a:r>
            <a:endParaRPr lang="en-US" sz="700" dirty="0"/>
          </a:p>
        </p:txBody>
      </p:sp>
      <p:sp>
        <p:nvSpPr>
          <p:cNvPr id="74" name="t1_71"/>
          <p:cNvSpPr txBox="1"/>
          <p:nvPr/>
        </p:nvSpPr>
        <p:spPr>
          <a:xfrm>
            <a:off x="13246100" y="4089400"/>
            <a:ext cx="1227836" cy="53578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a:t>
            </a:r>
            <a:endParaRPr lang="en-US" sz="660" dirty="0"/>
          </a:p>
        </p:txBody>
      </p:sp>
      <p:sp>
        <p:nvSpPr>
          <p:cNvPr id="75" name="t1_72"/>
          <p:cNvSpPr txBox="1"/>
          <p:nvPr/>
        </p:nvSpPr>
        <p:spPr>
          <a:xfrm>
            <a:off x="13246100" y="4699000"/>
            <a:ext cx="1168400" cy="4572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参画案件（略称）</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〇〇・〇〇</a:t>
            </a:r>
            <a:endParaRPr lang="en-US" sz="700" dirty="0"/>
          </a:p>
        </p:txBody>
      </p:sp>
      <p:sp>
        <p:nvSpPr>
          <p:cNvPr id="76" name="t1_73"/>
          <p:cNvSpPr txBox="1"/>
          <p:nvPr/>
        </p:nvSpPr>
        <p:spPr>
          <a:xfrm>
            <a:off x="8166100" y="52578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※案件の詳細には立ち入らず、一級資産への早期参画を「幸運ではなく、熟慮の上で先手を打った結果＝先見性」として前向きに表現</a:t>
            </a:r>
            <a:endParaRPr lang="en-US" sz="620" dirty="0"/>
          </a:p>
        </p:txBody>
      </p:sp>
      <p:sp>
        <p:nvSpPr>
          <p:cNvPr id="77" name="Shape 73"/>
          <p:cNvSpPr/>
          <p:nvPr/>
        </p:nvSpPr>
        <p:spPr>
          <a:xfrm>
            <a:off x="8166100" y="5588000"/>
            <a:ext cx="6337300" cy="0"/>
          </a:xfrm>
          <a:prstGeom prst="line">
            <a:avLst/>
          </a:prstGeom>
          <a:noFill/>
          <a:ln w="12700">
            <a:solidFill>
              <a:srgbClr val="CFD2D5"/>
            </a:solidFill>
            <a:prstDash val="solid"/>
          </a:ln>
        </p:spPr>
      </p:sp>
      <p:sp>
        <p:nvSpPr>
          <p:cNvPr id="78" name="t1_75"/>
          <p:cNvSpPr txBox="1"/>
          <p:nvPr/>
        </p:nvSpPr>
        <p:spPr>
          <a:xfrm>
            <a:off x="8166100" y="57404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バリューチェーン全体像</a:t>
            </a:r>
            <a:endParaRPr lang="en-US" sz="1800" dirty="0"/>
          </a:p>
        </p:txBody>
      </p:sp>
      <p:sp>
        <p:nvSpPr>
          <p:cNvPr id="79" name="t1_76"/>
          <p:cNvSpPr txBox="1"/>
          <p:nvPr/>
        </p:nvSpPr>
        <p:spPr>
          <a:xfrm>
            <a:off x="8166100" y="60960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投資と販売の両輪で、川上から川下までに関わる</a:t>
            </a:r>
            <a:endParaRPr lang="en-US" sz="1000" dirty="0"/>
          </a:p>
        </p:txBody>
      </p:sp>
      <p:sp>
        <p:nvSpPr>
          <p:cNvPr id="80" name="t1_77"/>
          <p:cNvSpPr txBox="1"/>
          <p:nvPr/>
        </p:nvSpPr>
        <p:spPr>
          <a:xfrm>
            <a:off x="8166100" y="6375400"/>
            <a:ext cx="14224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川上</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資源開発・保有</a:t>
            </a:r>
            <a:endParaRPr lang="en-US" sz="740" dirty="0"/>
          </a:p>
        </p:txBody>
      </p:sp>
      <p:sp>
        <p:nvSpPr>
          <p:cNvPr id="81" name="t1_78"/>
          <p:cNvSpPr txBox="1"/>
          <p:nvPr/>
        </p:nvSpPr>
        <p:spPr>
          <a:xfrm>
            <a:off x="9613900" y="65024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82" name="t1_79"/>
          <p:cNvSpPr txBox="1"/>
          <p:nvPr/>
        </p:nvSpPr>
        <p:spPr>
          <a:xfrm>
            <a:off x="9766300" y="6375400"/>
            <a:ext cx="14224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川中</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製鉄・製錬</a:t>
            </a:r>
            <a:endParaRPr lang="en-US" sz="740" dirty="0"/>
          </a:p>
        </p:txBody>
      </p:sp>
      <p:sp>
        <p:nvSpPr>
          <p:cNvPr id="83" name="t1_80"/>
          <p:cNvSpPr txBox="1"/>
          <p:nvPr/>
        </p:nvSpPr>
        <p:spPr>
          <a:xfrm>
            <a:off x="11214100" y="65024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84" name="t1_81"/>
          <p:cNvSpPr txBox="1"/>
          <p:nvPr/>
        </p:nvSpPr>
        <p:spPr>
          <a:xfrm>
            <a:off x="11366500" y="6375400"/>
            <a:ext cx="14224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中間流通</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トレーディング（RtM）</a:t>
            </a:r>
            <a:endParaRPr lang="en-US" sz="740" dirty="0"/>
          </a:p>
        </p:txBody>
      </p:sp>
      <p:sp>
        <p:nvSpPr>
          <p:cNvPr id="85" name="t1_82"/>
          <p:cNvSpPr txBox="1"/>
          <p:nvPr/>
        </p:nvSpPr>
        <p:spPr>
          <a:xfrm>
            <a:off x="12814300" y="65024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86" name="t1_83"/>
          <p:cNvSpPr txBox="1"/>
          <p:nvPr/>
        </p:nvSpPr>
        <p:spPr>
          <a:xfrm>
            <a:off x="12966700" y="6375400"/>
            <a:ext cx="14224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川下</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最終製品・需要家</a:t>
            </a:r>
            <a:endParaRPr lang="en-US" sz="740" dirty="0"/>
          </a:p>
        </p:txBody>
      </p:sp>
      <p:sp>
        <p:nvSpPr>
          <p:cNvPr id="87" name="Shape 83"/>
          <p:cNvSpPr/>
          <p:nvPr/>
        </p:nvSpPr>
        <p:spPr>
          <a:xfrm>
            <a:off x="8166100" y="6908800"/>
            <a:ext cx="3022600" cy="0"/>
          </a:xfrm>
          <a:prstGeom prst="line">
            <a:avLst/>
          </a:prstGeom>
          <a:noFill/>
          <a:ln w="12700">
            <a:solidFill>
              <a:srgbClr val="555555"/>
            </a:solidFill>
            <a:prstDash val="solid"/>
          </a:ln>
        </p:spPr>
      </p:sp>
      <p:sp>
        <p:nvSpPr>
          <p:cNvPr id="88" name="t1_84"/>
          <p:cNvSpPr txBox="1"/>
          <p:nvPr/>
        </p:nvSpPr>
        <p:spPr>
          <a:xfrm>
            <a:off x="8166100" y="6908800"/>
            <a:ext cx="3156204" cy="165100"/>
          </a:xfrm>
          <a:prstGeom prst="rect">
            <a:avLst/>
          </a:prstGeom>
          <a:noFill/>
          <a:ln/>
        </p:spPr>
        <p:txBody>
          <a:bodyPr wrap="none" lIns="0" tIns="0" rIns="0" bIns="0" rtlCol="0" anchor="t"/>
          <a:lstStyle/>
          <a:p>
            <a:pPr algn="ctr" indent="0" marL="0">
              <a:lnSpc>
                <a:spcPts val="910"/>
              </a:lnSpc>
              <a:buNone/>
            </a:pPr>
            <a:r>
              <a:rPr lang="en-US" sz="700" dirty="0">
                <a:solidFill>
                  <a:srgbClr val="222222"/>
                </a:solidFill>
                <a:latin typeface="Yu Gothic" pitchFamily="34" charset="0"/>
                <a:ea typeface="Yu Gothic" pitchFamily="34" charset="-122"/>
                <a:cs typeface="Yu Gothic" pitchFamily="34" charset="-120"/>
              </a:rPr>
              <a:t>投資</a:t>
            </a:r>
            <a:endParaRPr lang="en-US" sz="700" dirty="0"/>
          </a:p>
        </p:txBody>
      </p:sp>
      <p:sp>
        <p:nvSpPr>
          <p:cNvPr id="89" name="Shape 85"/>
          <p:cNvSpPr/>
          <p:nvPr/>
        </p:nvSpPr>
        <p:spPr>
          <a:xfrm>
            <a:off x="11366500" y="6908800"/>
            <a:ext cx="1422400" cy="0"/>
          </a:xfrm>
          <a:prstGeom prst="line">
            <a:avLst/>
          </a:prstGeom>
          <a:noFill/>
          <a:ln w="12700">
            <a:solidFill>
              <a:srgbClr val="555555"/>
            </a:solidFill>
            <a:prstDash val="solid"/>
          </a:ln>
        </p:spPr>
      </p:sp>
      <p:sp>
        <p:nvSpPr>
          <p:cNvPr id="90" name="t1_85"/>
          <p:cNvSpPr txBox="1"/>
          <p:nvPr/>
        </p:nvSpPr>
        <p:spPr>
          <a:xfrm>
            <a:off x="11366500" y="6908800"/>
            <a:ext cx="1491996" cy="165100"/>
          </a:xfrm>
          <a:prstGeom prst="rect">
            <a:avLst/>
          </a:prstGeom>
          <a:noFill/>
          <a:ln/>
        </p:spPr>
        <p:txBody>
          <a:bodyPr wrap="none" lIns="0" tIns="0" rIns="0" bIns="0" rtlCol="0" anchor="t"/>
          <a:lstStyle/>
          <a:p>
            <a:pPr algn="ctr" indent="0" marL="0">
              <a:lnSpc>
                <a:spcPts val="910"/>
              </a:lnSpc>
              <a:buNone/>
            </a:pPr>
            <a:r>
              <a:rPr lang="en-US" sz="700" dirty="0">
                <a:solidFill>
                  <a:srgbClr val="222222"/>
                </a:solidFill>
                <a:latin typeface="Yu Gothic" pitchFamily="34" charset="0"/>
                <a:ea typeface="Yu Gothic" pitchFamily="34" charset="-122"/>
                <a:cs typeface="Yu Gothic" pitchFamily="34" charset="-120"/>
              </a:rPr>
              <a:t>販売</a:t>
            </a:r>
            <a:endParaRPr lang="en-US" sz="700" dirty="0"/>
          </a:p>
        </p:txBody>
      </p:sp>
      <p:pic>
        <p:nvPicPr>
          <p:cNvPr id="91" name="Image 1" descr="preencoded.png">    </p:cNvPr>
          <p:cNvPicPr>
            <a:picLocks noChangeAspect="1"/>
          </p:cNvPicPr>
          <p:nvPr/>
        </p:nvPicPr>
        <p:blipFill>
          <a:blip r:embed="rId2"/>
          <a:stretch>
            <a:fillRect/>
          </a:stretch>
        </p:blipFill>
        <p:spPr>
          <a:xfrm>
            <a:off x="8166100" y="7239000"/>
            <a:ext cx="1498600" cy="1524000"/>
          </a:xfrm>
          <a:prstGeom prst="rect">
            <a:avLst/>
          </a:prstGeom>
        </p:spPr>
      </p:pic>
      <p:pic>
        <p:nvPicPr>
          <p:cNvPr id="92" name="Image 2" descr="preencoded.png">    </p:cNvPr>
          <p:cNvPicPr>
            <a:picLocks noChangeAspect="1"/>
          </p:cNvPicPr>
          <p:nvPr/>
        </p:nvPicPr>
        <p:blipFill>
          <a:blip r:embed="rId3"/>
          <a:stretch>
            <a:fillRect/>
          </a:stretch>
        </p:blipFill>
        <p:spPr>
          <a:xfrm>
            <a:off x="9715500" y="7239000"/>
            <a:ext cx="1498600" cy="1524000"/>
          </a:xfrm>
          <a:prstGeom prst="rect">
            <a:avLst/>
          </a:prstGeom>
        </p:spPr>
      </p:pic>
      <p:pic>
        <p:nvPicPr>
          <p:cNvPr id="93" name="Image 3" descr="preencoded.png">    </p:cNvPr>
          <p:cNvPicPr>
            <a:picLocks noChangeAspect="1"/>
          </p:cNvPicPr>
          <p:nvPr/>
        </p:nvPicPr>
        <p:blipFill>
          <a:blip r:embed="rId4"/>
          <a:stretch>
            <a:fillRect/>
          </a:stretch>
        </p:blipFill>
        <p:spPr>
          <a:xfrm>
            <a:off x="11264900" y="7239000"/>
            <a:ext cx="1498600" cy="1524000"/>
          </a:xfrm>
          <a:prstGeom prst="rect">
            <a:avLst/>
          </a:prstGeom>
        </p:spPr>
      </p:pic>
      <p:sp>
        <p:nvSpPr>
          <p:cNvPr id="94" name="t1_89"/>
          <p:cNvSpPr txBox="1"/>
          <p:nvPr/>
        </p:nvSpPr>
        <p:spPr>
          <a:xfrm>
            <a:off x="12814300" y="7239000"/>
            <a:ext cx="1689100" cy="1524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写真：最終製品・需要家</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（〇〇）</a:t>
            </a:r>
            <a:endParaRPr lang="en-US" sz="700" dirty="0"/>
          </a:p>
        </p:txBody>
      </p:sp>
      <p:sp>
        <p:nvSpPr>
          <p:cNvPr id="95" name="t1_90"/>
          <p:cNvSpPr txBox="1"/>
          <p:nvPr/>
        </p:nvSpPr>
        <p:spPr>
          <a:xfrm>
            <a:off x="8166100" y="8890000"/>
            <a:ext cx="6603492" cy="173236"/>
          </a:xfrm>
          <a:prstGeom prst="rect">
            <a:avLst/>
          </a:prstGeom>
          <a:noFill/>
          <a:ln/>
        </p:spPr>
        <p:txBody>
          <a:bodyPr wrap="non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96" name="t1_91"/>
          <p:cNvSpPr txBox="1"/>
          <p:nvPr/>
        </p:nvSpPr>
        <p:spPr>
          <a:xfrm>
            <a:off x="8166100" y="9075936"/>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97" name="t1_92"/>
          <p:cNvSpPr txBox="1"/>
          <p:nvPr/>
        </p:nvSpPr>
        <p:spPr>
          <a:xfrm>
            <a:off x="8166100" y="93980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※事業ごとに強弱があるため規模には言及しない。鋼材販売のメタルワンは別グループである旨を注記で示す。第2章の前提として第1章の最後に置く</a:t>
            </a:r>
            <a:endParaRPr lang="en-US" sz="620" dirty="0"/>
          </a:p>
        </p:txBody>
      </p:sp>
      <p:sp>
        <p:nvSpPr>
          <p:cNvPr id="98" name="t1_93"/>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04</a:t>
            </a:r>
            <a:endParaRPr lang="en-US" sz="660" dirty="0"/>
          </a:p>
        </p:txBody>
      </p:sp>
      <p:sp>
        <p:nvSpPr>
          <p:cNvPr id="99" name="t1_94"/>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05</a:t>
            </a:r>
            <a:endParaRPr lang="en-US" sz="660" dirty="0"/>
          </a:p>
        </p:txBody>
      </p:sp>
      <p:sp>
        <p:nvSpPr>
          <p:cNvPr id="100" name="t1_95"/>
          <p:cNvSpPr txBox="1"/>
          <p:nvPr/>
        </p:nvSpPr>
        <p:spPr>
          <a:xfrm>
            <a:off x="3810000" y="10261600"/>
            <a:ext cx="4433292" cy="152400"/>
          </a:xfrm>
          <a:prstGeom prst="rect">
            <a:avLst/>
          </a:prstGeom>
          <a:solidFill>
            <a:srgbClr val="FFFFFF"/>
          </a:solidFill>
          <a:ln/>
        </p:spPr>
        <p:txBody>
          <a:bodyPr wrap="none" lIns="25400" tIns="38100" rIns="38100" bIns="25400" rtlCol="0" anchor="t"/>
          <a:lstStyle/>
          <a:p>
            <a:pPr algn="l" indent="0" marL="0">
              <a:lnSpc>
                <a:spcPts val="858"/>
              </a:lnSpc>
              <a:buNone/>
            </a:pPr>
            <a:r>
              <a:rPr lang="en-US" sz="660" spc="50" kern="0" dirty="0">
                <a:solidFill>
                  <a:srgbClr val="999999"/>
                </a:solidFill>
                <a:latin typeface="Yu Gothic" pitchFamily="34" charset="0"/>
                <a:ea typeface="Yu Gothic" pitchFamily="34" charset="-122"/>
                <a:cs typeface="Yu Gothic" pitchFamily="34" charset="-120"/>
              </a:rPr>
              <a:t>台割 改善案（構成確認用）— 青ラベル＝PwC台割ver.0からの改善点／本文字数は日本語、英語語数は目安</a:t>
            </a:r>
            <a:endParaRPr lang="en-US" sz="660" dirty="0"/>
          </a:p>
        </p:txBody>
      </p:sp>
      <p:sp>
        <p:nvSpPr>
          <p:cNvPr id="101" name="Shape 94"/>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2_0"/>
          <p:cNvSpPr txBox="1"/>
          <p:nvPr/>
        </p:nvSpPr>
        <p:spPr>
          <a:xfrm>
            <a:off x="609600" y="431800"/>
            <a:ext cx="2574433"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　—　機能・強み</a:t>
            </a:r>
            <a:endParaRPr lang="en-US" sz="740" dirty="0"/>
          </a:p>
        </p:txBody>
      </p:sp>
      <p:sp>
        <p:nvSpPr>
          <p:cNvPr id="4" name="t2_1"/>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5" name="t2_2"/>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わが社資産の強み</a:t>
            </a:r>
            <a:endParaRPr lang="en-US" sz="1800" dirty="0"/>
          </a:p>
        </p:txBody>
      </p:sp>
      <p:sp>
        <p:nvSpPr>
          <p:cNvPr id="6" name="t2_3"/>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バリューチェーンの起点で、一級資産を保有する</a:t>
            </a:r>
            <a:endParaRPr lang="en-US" sz="1000" dirty="0"/>
          </a:p>
        </p:txBody>
      </p:sp>
      <p:sp>
        <p:nvSpPr>
          <p:cNvPr id="7" name="t2_4"/>
          <p:cNvSpPr txBox="1"/>
          <p:nvPr/>
        </p:nvSpPr>
        <p:spPr>
          <a:xfrm>
            <a:off x="609600" y="1371600"/>
            <a:ext cx="6603492"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8" name="t2_5"/>
          <p:cNvSpPr txBox="1"/>
          <p:nvPr/>
        </p:nvSpPr>
        <p:spPr>
          <a:xfrm>
            <a:off x="609600" y="1730970"/>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90字／英語 約50語</a:t>
            </a:r>
            <a:endParaRPr lang="en-US" sz="580" dirty="0"/>
          </a:p>
        </p:txBody>
      </p:sp>
      <p:sp>
        <p:nvSpPr>
          <p:cNvPr id="9" name="Shape 6"/>
          <p:cNvSpPr/>
          <p:nvPr/>
        </p:nvSpPr>
        <p:spPr>
          <a:xfrm>
            <a:off x="609600" y="1905000"/>
            <a:ext cx="1981200" cy="0"/>
          </a:xfrm>
          <a:prstGeom prst="line">
            <a:avLst/>
          </a:prstGeom>
          <a:noFill/>
          <a:ln w="12700">
            <a:solidFill>
              <a:srgbClr val="888888"/>
            </a:solidFill>
            <a:prstDash val="solid"/>
          </a:ln>
        </p:spPr>
      </p:sp>
      <p:sp>
        <p:nvSpPr>
          <p:cNvPr id="10" name="t2_7"/>
          <p:cNvSpPr txBox="1"/>
          <p:nvPr/>
        </p:nvSpPr>
        <p:spPr>
          <a:xfrm>
            <a:off x="609600" y="1981200"/>
            <a:ext cx="313801"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原料炭</a:t>
            </a:r>
            <a:endParaRPr lang="en-US" sz="680" dirty="0"/>
          </a:p>
        </p:txBody>
      </p:sp>
      <p:sp>
        <p:nvSpPr>
          <p:cNvPr id="11" name="t2_8"/>
          <p:cNvSpPr txBox="1"/>
          <p:nvPr/>
        </p:nvSpPr>
        <p:spPr>
          <a:xfrm>
            <a:off x="609600" y="2133600"/>
            <a:ext cx="2073148" cy="355600"/>
          </a:xfrm>
          <a:prstGeom prst="rect">
            <a:avLst/>
          </a:prstGeom>
          <a:noFill/>
          <a:ln/>
        </p:spPr>
        <p:txBody>
          <a:bodyPr wrap="none" lIns="0" tIns="0" rIns="0" bIns="0" rtlCol="0" anchor="t"/>
          <a:lstStyle/>
          <a:p>
            <a:pPr algn="l" indent="0" marL="0">
              <a:lnSpc>
                <a:spcPts val="2200"/>
              </a:lnSpc>
              <a:buNone/>
            </a:pPr>
            <a:r>
              <a:rPr lang="en-US" sz="2000" dirty="0">
                <a:solidFill>
                  <a:srgbClr val="222222"/>
                </a:solidFill>
                <a:latin typeface="Yu Gothic" pitchFamily="34" charset="0"/>
                <a:ea typeface="Yu Gothic" pitchFamily="34" charset="-122"/>
                <a:cs typeface="Yu Gothic" pitchFamily="34" charset="-120"/>
              </a:rPr>
              <a:t>5鉱山</a:t>
            </a:r>
            <a:endParaRPr lang="en-US" sz="2000" dirty="0"/>
          </a:p>
        </p:txBody>
      </p:sp>
      <p:sp>
        <p:nvSpPr>
          <p:cNvPr id="12" name="t2_9"/>
          <p:cNvSpPr txBox="1"/>
          <p:nvPr/>
        </p:nvSpPr>
        <p:spPr>
          <a:xfrm>
            <a:off x="609600" y="2463800"/>
            <a:ext cx="2073148"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高品位の鉱山に厳選して保有</a:t>
            </a:r>
            <a:endParaRPr lang="en-US" sz="680" dirty="0"/>
          </a:p>
        </p:txBody>
      </p:sp>
      <p:sp>
        <p:nvSpPr>
          <p:cNvPr id="13" name="Shape 10"/>
          <p:cNvSpPr/>
          <p:nvPr/>
        </p:nvSpPr>
        <p:spPr>
          <a:xfrm>
            <a:off x="2743200" y="1905000"/>
            <a:ext cx="1981200" cy="0"/>
          </a:xfrm>
          <a:prstGeom prst="line">
            <a:avLst/>
          </a:prstGeom>
          <a:noFill/>
          <a:ln w="12700">
            <a:solidFill>
              <a:srgbClr val="888888"/>
            </a:solidFill>
            <a:prstDash val="solid"/>
          </a:ln>
        </p:spPr>
      </p:sp>
      <p:sp>
        <p:nvSpPr>
          <p:cNvPr id="14" name="t2_11"/>
          <p:cNvSpPr txBox="1"/>
          <p:nvPr/>
        </p:nvSpPr>
        <p:spPr>
          <a:xfrm>
            <a:off x="2743200" y="1981200"/>
            <a:ext cx="11320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銅</a:t>
            </a:r>
            <a:endParaRPr lang="en-US" sz="680" dirty="0"/>
          </a:p>
        </p:txBody>
      </p:sp>
      <p:sp>
        <p:nvSpPr>
          <p:cNvPr id="15" name="t2_12"/>
          <p:cNvSpPr txBox="1"/>
          <p:nvPr/>
        </p:nvSpPr>
        <p:spPr>
          <a:xfrm>
            <a:off x="2743200" y="2133600"/>
            <a:ext cx="2073148" cy="355600"/>
          </a:xfrm>
          <a:prstGeom prst="rect">
            <a:avLst/>
          </a:prstGeom>
          <a:noFill/>
          <a:ln/>
        </p:spPr>
        <p:txBody>
          <a:bodyPr wrap="none" lIns="0" tIns="0" rIns="0" bIns="0" rtlCol="0" anchor="t"/>
          <a:lstStyle/>
          <a:p>
            <a:pPr algn="l" indent="0" marL="0">
              <a:lnSpc>
                <a:spcPts val="2200"/>
              </a:lnSpc>
              <a:buNone/>
            </a:pPr>
            <a:r>
              <a:rPr lang="en-US" sz="2000" dirty="0">
                <a:solidFill>
                  <a:srgbClr val="222222"/>
                </a:solidFill>
                <a:latin typeface="Yu Gothic" pitchFamily="34" charset="0"/>
                <a:ea typeface="Yu Gothic" pitchFamily="34" charset="-122"/>
                <a:cs typeface="Yu Gothic" pitchFamily="34" charset="-120"/>
              </a:rPr>
              <a:t>日本最大</a:t>
            </a:r>
            <a:endParaRPr lang="en-US" sz="2000" dirty="0"/>
          </a:p>
        </p:txBody>
      </p:sp>
      <p:sp>
        <p:nvSpPr>
          <p:cNvPr id="16" name="t2_13"/>
          <p:cNvSpPr txBox="1"/>
          <p:nvPr/>
        </p:nvSpPr>
        <p:spPr>
          <a:xfrm>
            <a:off x="2743200" y="2463800"/>
            <a:ext cx="2073148"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持分生産量（世界第20位）</a:t>
            </a:r>
            <a:endParaRPr lang="en-US" sz="680" dirty="0"/>
          </a:p>
        </p:txBody>
      </p:sp>
      <p:sp>
        <p:nvSpPr>
          <p:cNvPr id="17" name="Shape 14"/>
          <p:cNvSpPr/>
          <p:nvPr/>
        </p:nvSpPr>
        <p:spPr>
          <a:xfrm>
            <a:off x="4876800" y="1905000"/>
            <a:ext cx="1981200" cy="0"/>
          </a:xfrm>
          <a:prstGeom prst="line">
            <a:avLst/>
          </a:prstGeom>
          <a:noFill/>
          <a:ln w="12700">
            <a:solidFill>
              <a:srgbClr val="888888"/>
            </a:solidFill>
            <a:prstDash val="solid"/>
          </a:ln>
        </p:spPr>
      </p:sp>
      <p:sp>
        <p:nvSpPr>
          <p:cNvPr id="18" name="t2_15"/>
          <p:cNvSpPr txBox="1"/>
          <p:nvPr/>
        </p:nvSpPr>
        <p:spPr>
          <a:xfrm>
            <a:off x="4876800" y="1981200"/>
            <a:ext cx="11320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銅</a:t>
            </a:r>
            <a:endParaRPr lang="en-US" sz="680" dirty="0"/>
          </a:p>
        </p:txBody>
      </p:sp>
      <p:sp>
        <p:nvSpPr>
          <p:cNvPr id="19" name="t2_16"/>
          <p:cNvSpPr txBox="1"/>
          <p:nvPr/>
        </p:nvSpPr>
        <p:spPr>
          <a:xfrm>
            <a:off x="4876800" y="2133600"/>
            <a:ext cx="2073148" cy="355600"/>
          </a:xfrm>
          <a:prstGeom prst="rect">
            <a:avLst/>
          </a:prstGeom>
          <a:noFill/>
          <a:ln/>
        </p:spPr>
        <p:txBody>
          <a:bodyPr wrap="none" lIns="0" tIns="0" rIns="0" bIns="0" rtlCol="0" anchor="t"/>
          <a:lstStyle/>
          <a:p>
            <a:pPr algn="l" indent="0" marL="0">
              <a:lnSpc>
                <a:spcPts val="2200"/>
              </a:lnSpc>
              <a:buNone/>
            </a:pPr>
            <a:r>
              <a:rPr lang="en-US" sz="2000" dirty="0">
                <a:solidFill>
                  <a:srgbClr val="222222"/>
                </a:solidFill>
                <a:latin typeface="Yu Gothic" pitchFamily="34" charset="0"/>
                <a:ea typeface="Yu Gothic" pitchFamily="34" charset="-122"/>
                <a:cs typeface="Yu Gothic" pitchFamily="34" charset="-120"/>
              </a:rPr>
              <a:t>世界上位15</a:t>
            </a:r>
            <a:endParaRPr lang="en-US" sz="2000" dirty="0"/>
          </a:p>
        </p:txBody>
      </p:sp>
      <p:sp>
        <p:nvSpPr>
          <p:cNvPr id="20" name="t2_17"/>
          <p:cNvSpPr txBox="1"/>
          <p:nvPr/>
        </p:nvSpPr>
        <p:spPr>
          <a:xfrm>
            <a:off x="4876800" y="2463800"/>
            <a:ext cx="2073148"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に入る優良鉱山に複数参画</a:t>
            </a:r>
            <a:endParaRPr lang="en-US" sz="680" dirty="0"/>
          </a:p>
        </p:txBody>
      </p:sp>
      <p:sp>
        <p:nvSpPr>
          <p:cNvPr id="21" name="t2_18"/>
          <p:cNvSpPr txBox="1"/>
          <p:nvPr/>
        </p:nvSpPr>
        <p:spPr>
          <a:xfrm>
            <a:off x="609600" y="2717800"/>
            <a:ext cx="6337300" cy="1143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図：生産量ランキング／Market・Scale・Quality の整理（参照：金属資源G_P6）</a:t>
            </a:r>
            <a:endParaRPr lang="en-US" sz="700" dirty="0"/>
          </a:p>
        </p:txBody>
      </p:sp>
      <p:sp>
        <p:nvSpPr>
          <p:cNvPr id="22" name="t2_19"/>
          <p:cNvSpPr txBox="1"/>
          <p:nvPr/>
        </p:nvSpPr>
        <p:spPr>
          <a:xfrm>
            <a:off x="609600" y="39116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※「ノンオペレーターとして世界最大」は消極的に受け取られる懸念あり。販売力・トラックレコードに裏打ちされた「声がかかる存在」として表現を検討</a:t>
            </a:r>
            <a:endParaRPr lang="en-US" sz="620" dirty="0"/>
          </a:p>
        </p:txBody>
      </p:sp>
      <p:sp>
        <p:nvSpPr>
          <p:cNvPr id="23" name="Shape 20"/>
          <p:cNvSpPr/>
          <p:nvPr/>
        </p:nvSpPr>
        <p:spPr>
          <a:xfrm>
            <a:off x="609600" y="4241800"/>
            <a:ext cx="6337300" cy="0"/>
          </a:xfrm>
          <a:prstGeom prst="line">
            <a:avLst/>
          </a:prstGeom>
          <a:noFill/>
          <a:ln w="12700">
            <a:solidFill>
              <a:srgbClr val="CFD2D5"/>
            </a:solidFill>
            <a:prstDash val="solid"/>
          </a:ln>
        </p:spPr>
      </p:sp>
      <p:sp>
        <p:nvSpPr>
          <p:cNvPr id="24" name="t2_21"/>
          <p:cNvSpPr txBox="1"/>
          <p:nvPr/>
        </p:nvSpPr>
        <p:spPr>
          <a:xfrm>
            <a:off x="609600" y="43942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原料炭事業</a:t>
            </a:r>
            <a:endParaRPr lang="en-US" sz="1800" dirty="0"/>
          </a:p>
        </p:txBody>
      </p:sp>
      <p:sp>
        <p:nvSpPr>
          <p:cNvPr id="25" name="t2_22"/>
          <p:cNvSpPr txBox="1"/>
          <p:nvPr/>
        </p:nvSpPr>
        <p:spPr>
          <a:xfrm>
            <a:off x="609600" y="47498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鉄の主原料“産業のコメ”を、世界最高品位で届ける</a:t>
            </a:r>
            <a:endParaRPr lang="en-US" sz="1000" dirty="0"/>
          </a:p>
        </p:txBody>
      </p:sp>
      <p:sp>
        <p:nvSpPr>
          <p:cNvPr id="26" name="t2_23"/>
          <p:cNvSpPr txBox="1"/>
          <p:nvPr/>
        </p:nvSpPr>
        <p:spPr>
          <a:xfrm>
            <a:off x="609600" y="5003800"/>
            <a:ext cx="6603492" cy="190500"/>
          </a:xfrm>
          <a:prstGeom prst="rect">
            <a:avLst/>
          </a:prstGeom>
          <a:noFill/>
          <a:ln/>
        </p:spPr>
        <p:txBody>
          <a:bodyPr wrap="none" lIns="0" tIns="0" rIns="0" bIns="0" rtlCol="0" anchor="t"/>
          <a:lstStyle/>
          <a:p>
            <a:pPr algn="l" indent="0" marL="0">
              <a:lnSpc>
                <a:spcPts val="1300"/>
              </a:lnSpc>
              <a:buNone/>
            </a:pPr>
            <a:r>
              <a:rPr lang="en-US" sz="1000" dirty="0">
                <a:solidFill>
                  <a:srgbClr val="222222"/>
                </a:solidFill>
                <a:latin typeface="Yu Gothic" pitchFamily="34" charset="0"/>
                <a:ea typeface="Yu Gothic" pitchFamily="34" charset="-122"/>
                <a:cs typeface="Yu Gothic" pitchFamily="34" charset="-120"/>
              </a:rPr>
              <a:t>BHPと50:50の合弁（BMA）で、原料炭の一級資産に参画</a:t>
            </a:r>
            <a:endParaRPr lang="en-US" sz="1000" dirty="0"/>
          </a:p>
        </p:txBody>
      </p:sp>
      <p:sp>
        <p:nvSpPr>
          <p:cNvPr id="27" name="t2_24"/>
          <p:cNvSpPr txBox="1"/>
          <p:nvPr/>
        </p:nvSpPr>
        <p:spPr>
          <a:xfrm>
            <a:off x="609600" y="5308600"/>
            <a:ext cx="1422400" cy="660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1</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世界最高品位の</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原料炭を保有</a:t>
            </a:r>
            <a:endParaRPr lang="en-US" sz="740" dirty="0"/>
          </a:p>
        </p:txBody>
      </p:sp>
      <p:sp>
        <p:nvSpPr>
          <p:cNvPr id="28" name="t2_25"/>
          <p:cNvSpPr txBox="1"/>
          <p:nvPr/>
        </p:nvSpPr>
        <p:spPr>
          <a:xfrm>
            <a:off x="2057400" y="55626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29" name="t2_26"/>
          <p:cNvSpPr txBox="1"/>
          <p:nvPr/>
        </p:nvSpPr>
        <p:spPr>
          <a:xfrm>
            <a:off x="2209800" y="5308600"/>
            <a:ext cx="1422400" cy="660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2</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原料炭は鉄の主原料</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＝“産業のコメ”</a:t>
            </a:r>
            <a:endParaRPr lang="en-US" sz="740" dirty="0"/>
          </a:p>
        </p:txBody>
      </p:sp>
      <p:sp>
        <p:nvSpPr>
          <p:cNvPr id="30" name="t2_27"/>
          <p:cNvSpPr txBox="1"/>
          <p:nvPr/>
        </p:nvSpPr>
        <p:spPr>
          <a:xfrm>
            <a:off x="3657600" y="55626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31" name="t2_28"/>
          <p:cNvSpPr txBox="1"/>
          <p:nvPr/>
        </p:nvSpPr>
        <p:spPr>
          <a:xfrm>
            <a:off x="3810000" y="5308600"/>
            <a:ext cx="1422400" cy="660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3</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鉄は今後も</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底堅く必要とされる</a:t>
            </a:r>
            <a:endParaRPr lang="en-US" sz="740" dirty="0"/>
          </a:p>
        </p:txBody>
      </p:sp>
      <p:sp>
        <p:nvSpPr>
          <p:cNvPr id="32" name="t2_29"/>
          <p:cNvSpPr txBox="1"/>
          <p:nvPr/>
        </p:nvSpPr>
        <p:spPr>
          <a:xfrm>
            <a:off x="5257800" y="55626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33" name="t2_30"/>
          <p:cNvSpPr txBox="1"/>
          <p:nvPr/>
        </p:nvSpPr>
        <p:spPr>
          <a:xfrm>
            <a:off x="5410200" y="5308600"/>
            <a:ext cx="1422400" cy="660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888888"/>
                </a:solidFill>
                <a:latin typeface="Yu Gothic" pitchFamily="34" charset="0"/>
                <a:ea typeface="Yu Gothic" pitchFamily="34" charset="-122"/>
                <a:cs typeface="Yu Gothic" pitchFamily="34" charset="-120"/>
              </a:rPr>
              <a:t>4</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ゆえに</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社会に不可欠</a:t>
            </a:r>
            <a:endParaRPr lang="en-US" sz="740" dirty="0"/>
          </a:p>
        </p:txBody>
      </p:sp>
      <p:sp>
        <p:nvSpPr>
          <p:cNvPr id="34" name="t2_31"/>
          <p:cNvSpPr txBox="1"/>
          <p:nvPr/>
        </p:nvSpPr>
        <p:spPr>
          <a:xfrm>
            <a:off x="609600" y="6045200"/>
            <a:ext cx="1491996" cy="414338"/>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80" dirty="0"/>
          </a:p>
        </p:txBody>
      </p:sp>
      <p:sp>
        <p:nvSpPr>
          <p:cNvPr id="35" name="t2_32"/>
          <p:cNvSpPr txBox="1"/>
          <p:nvPr/>
        </p:nvSpPr>
        <p:spPr>
          <a:xfrm>
            <a:off x="2209800" y="6045200"/>
            <a:ext cx="1491996" cy="414338"/>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80" dirty="0"/>
          </a:p>
        </p:txBody>
      </p:sp>
      <p:sp>
        <p:nvSpPr>
          <p:cNvPr id="36" name="t2_33"/>
          <p:cNvSpPr txBox="1"/>
          <p:nvPr/>
        </p:nvSpPr>
        <p:spPr>
          <a:xfrm>
            <a:off x="3810000" y="6045200"/>
            <a:ext cx="1491996" cy="414338"/>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80" dirty="0"/>
          </a:p>
        </p:txBody>
      </p:sp>
      <p:sp>
        <p:nvSpPr>
          <p:cNvPr id="37" name="t2_34"/>
          <p:cNvSpPr txBox="1"/>
          <p:nvPr/>
        </p:nvSpPr>
        <p:spPr>
          <a:xfrm>
            <a:off x="5410200" y="6045200"/>
            <a:ext cx="1491996" cy="414338"/>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80" dirty="0"/>
          </a:p>
        </p:txBody>
      </p:sp>
      <p:pic>
        <p:nvPicPr>
          <p:cNvPr id="38" name="Image 0" descr="preencoded.png">    </p:cNvPr>
          <p:cNvPicPr>
            <a:picLocks noChangeAspect="1"/>
          </p:cNvPicPr>
          <p:nvPr/>
        </p:nvPicPr>
        <p:blipFill>
          <a:blip r:embed="rId1"/>
          <a:stretch>
            <a:fillRect/>
          </a:stretch>
        </p:blipFill>
        <p:spPr>
          <a:xfrm>
            <a:off x="609600" y="6858000"/>
            <a:ext cx="3048000" cy="2159000"/>
          </a:xfrm>
          <a:prstGeom prst="rect">
            <a:avLst/>
          </a:prstGeom>
        </p:spPr>
      </p:pic>
      <p:sp>
        <p:nvSpPr>
          <p:cNvPr id="39" name="t2_36"/>
          <p:cNvSpPr txBox="1"/>
          <p:nvPr/>
        </p:nvSpPr>
        <p:spPr>
          <a:xfrm>
            <a:off x="609600" y="9055100"/>
            <a:ext cx="318262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写真：BMAの鉱山（流用：粗原稿）</a:t>
            </a:r>
            <a:endParaRPr lang="en-US" sz="680" dirty="0"/>
          </a:p>
        </p:txBody>
      </p:sp>
      <p:sp>
        <p:nvSpPr>
          <p:cNvPr id="40" name="t2_37"/>
          <p:cNvSpPr txBox="1"/>
          <p:nvPr/>
        </p:nvSpPr>
        <p:spPr>
          <a:xfrm>
            <a:off x="3898900" y="6858000"/>
            <a:ext cx="3048000" cy="2159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地図：豪州ボーエン盆地とBMAの鉱山</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（参照：金属資源G_P7）</a:t>
            </a:r>
            <a:endParaRPr lang="en-US" sz="700" dirty="0"/>
          </a:p>
        </p:txBody>
      </p:sp>
      <p:sp>
        <p:nvSpPr>
          <p:cNvPr id="41" name="t2_38"/>
          <p:cNvSpPr txBox="1"/>
          <p:nvPr/>
        </p:nvSpPr>
        <p:spPr>
          <a:xfrm>
            <a:off x="609600" y="92710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※社会における必要性の文脈を主に訴求。川上の代表例として銅・トレーディングより前に配置。BMAロゴは「他社ロゴ不使用」の方針に照らし扱い要確認</a:t>
            </a:r>
            <a:endParaRPr lang="en-US" sz="620" dirty="0"/>
          </a:p>
        </p:txBody>
      </p:sp>
      <p:sp>
        <p:nvSpPr>
          <p:cNvPr id="42" name="t2_39"/>
          <p:cNvSpPr txBox="1"/>
          <p:nvPr/>
        </p:nvSpPr>
        <p:spPr>
          <a:xfrm>
            <a:off x="8166100" y="431800"/>
            <a:ext cx="166658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a:t>
            </a:r>
            <a:endParaRPr lang="en-US" sz="740" dirty="0"/>
          </a:p>
        </p:txBody>
      </p:sp>
      <p:sp>
        <p:nvSpPr>
          <p:cNvPr id="43" name="t2_40"/>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44" name="t2_41"/>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銅事業</a:t>
            </a:r>
            <a:endParaRPr lang="en-US" sz="1800" dirty="0"/>
          </a:p>
        </p:txBody>
      </p:sp>
      <p:sp>
        <p:nvSpPr>
          <p:cNvPr id="45" name="t2_42"/>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自社操業を伴わずに、世界最大級の銅ポジションを築く</a:t>
            </a:r>
            <a:endParaRPr lang="en-US" sz="1000" dirty="0"/>
          </a:p>
        </p:txBody>
      </p:sp>
      <p:pic>
        <p:nvPicPr>
          <p:cNvPr id="46" name="Image 1" descr="preencoded.png">    </p:cNvPr>
          <p:cNvPicPr>
            <a:picLocks noChangeAspect="1"/>
          </p:cNvPicPr>
          <p:nvPr/>
        </p:nvPicPr>
        <p:blipFill>
          <a:blip r:embed="rId2"/>
          <a:stretch>
            <a:fillRect/>
          </a:stretch>
        </p:blipFill>
        <p:spPr>
          <a:xfrm>
            <a:off x="11455400" y="762000"/>
            <a:ext cx="3048000" cy="2159000"/>
          </a:xfrm>
          <a:prstGeom prst="rect">
            <a:avLst/>
          </a:prstGeom>
        </p:spPr>
      </p:pic>
      <p:sp>
        <p:nvSpPr>
          <p:cNvPr id="47" name="t2_44"/>
          <p:cNvSpPr txBox="1"/>
          <p:nvPr/>
        </p:nvSpPr>
        <p:spPr>
          <a:xfrm>
            <a:off x="11455400" y="2959100"/>
            <a:ext cx="318262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写真：銅鉱山（流用：三菱商事サイト）</a:t>
            </a:r>
            <a:endParaRPr lang="en-US" sz="680" dirty="0"/>
          </a:p>
        </p:txBody>
      </p:sp>
      <p:sp>
        <p:nvSpPr>
          <p:cNvPr id="48" name="t2_45"/>
          <p:cNvSpPr txBox="1"/>
          <p:nvPr/>
        </p:nvSpPr>
        <p:spPr>
          <a:xfrm>
            <a:off x="8166100" y="1422400"/>
            <a:ext cx="3182620" cy="866180"/>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49" name="t2_46"/>
          <p:cNvSpPr txBox="1"/>
          <p:nvPr/>
        </p:nvSpPr>
        <p:spPr>
          <a:xfrm>
            <a:off x="8166100" y="2301875"/>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130字／英語 約72語</a:t>
            </a:r>
            <a:endParaRPr lang="en-US" sz="580" dirty="0"/>
          </a:p>
        </p:txBody>
      </p:sp>
      <p:sp>
        <p:nvSpPr>
          <p:cNvPr id="50" name="Shape 45"/>
          <p:cNvSpPr/>
          <p:nvPr/>
        </p:nvSpPr>
        <p:spPr>
          <a:xfrm>
            <a:off x="8166100" y="3251200"/>
            <a:ext cx="6337300" cy="0"/>
          </a:xfrm>
          <a:prstGeom prst="line">
            <a:avLst/>
          </a:prstGeom>
          <a:noFill/>
          <a:ln w="12700">
            <a:solidFill>
              <a:srgbClr val="CFD2D5"/>
            </a:solidFill>
            <a:prstDash val="solid"/>
          </a:ln>
        </p:spPr>
      </p:sp>
      <p:sp>
        <p:nvSpPr>
          <p:cNvPr id="51" name="t2_48"/>
          <p:cNvSpPr txBox="1"/>
          <p:nvPr/>
        </p:nvSpPr>
        <p:spPr>
          <a:xfrm>
            <a:off x="8166100" y="3454400"/>
            <a:ext cx="3182620" cy="190500"/>
          </a:xfrm>
          <a:prstGeom prst="rect">
            <a:avLst/>
          </a:prstGeom>
          <a:noFill/>
          <a:ln/>
        </p:spPr>
        <p:txBody>
          <a:bodyPr wrap="none" lIns="0" tIns="0" rIns="0" bIns="0" rtlCol="0" anchor="t"/>
          <a:lstStyle/>
          <a:p>
            <a:pPr algn="l" indent="0" marL="0">
              <a:lnSpc>
                <a:spcPts val="1300"/>
              </a:lnSpc>
              <a:buNone/>
            </a:pPr>
            <a:r>
              <a:rPr lang="en-US" sz="1000" dirty="0">
                <a:solidFill>
                  <a:srgbClr val="222222"/>
                </a:solidFill>
                <a:latin typeface="Yu Gothic" pitchFamily="34" charset="0"/>
                <a:ea typeface="Yu Gothic" pitchFamily="34" charset="-122"/>
                <a:cs typeface="Yu Gothic" pitchFamily="34" charset="-120"/>
              </a:rPr>
              <a:t>Tier1アセットの保有</a:t>
            </a:r>
            <a:endParaRPr lang="en-US" sz="1000" dirty="0"/>
          </a:p>
        </p:txBody>
      </p:sp>
      <p:sp>
        <p:nvSpPr>
          <p:cNvPr id="52" name="t2_49"/>
          <p:cNvSpPr txBox="1"/>
          <p:nvPr/>
        </p:nvSpPr>
        <p:spPr>
          <a:xfrm>
            <a:off x="8166100" y="3657600"/>
            <a:ext cx="318262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規模で世界上位の優良鉱山に参画</a:t>
            </a:r>
            <a:endParaRPr lang="en-US" sz="680" dirty="0"/>
          </a:p>
        </p:txBody>
      </p:sp>
      <p:sp>
        <p:nvSpPr>
          <p:cNvPr id="53" name="t2_50"/>
          <p:cNvSpPr txBox="1"/>
          <p:nvPr/>
        </p:nvSpPr>
        <p:spPr>
          <a:xfrm>
            <a:off x="8166100" y="3860800"/>
            <a:ext cx="3182620"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54" name="t2_51"/>
          <p:cNvSpPr txBox="1"/>
          <p:nvPr/>
        </p:nvSpPr>
        <p:spPr>
          <a:xfrm>
            <a:off x="8166100" y="4220170"/>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55" name="t2_52"/>
          <p:cNvSpPr txBox="1"/>
          <p:nvPr/>
        </p:nvSpPr>
        <p:spPr>
          <a:xfrm>
            <a:off x="11417300" y="3454400"/>
            <a:ext cx="3182620" cy="190500"/>
          </a:xfrm>
          <a:prstGeom prst="rect">
            <a:avLst/>
          </a:prstGeom>
          <a:noFill/>
          <a:ln/>
        </p:spPr>
        <p:txBody>
          <a:bodyPr wrap="none" lIns="0" tIns="0" rIns="0" bIns="0" rtlCol="0" anchor="t"/>
          <a:lstStyle/>
          <a:p>
            <a:pPr algn="l" indent="0" marL="0">
              <a:lnSpc>
                <a:spcPts val="1300"/>
              </a:lnSpc>
              <a:buNone/>
            </a:pPr>
            <a:r>
              <a:rPr lang="en-US" sz="1000" dirty="0">
                <a:solidFill>
                  <a:srgbClr val="222222"/>
                </a:solidFill>
                <a:latin typeface="Yu Gothic" pitchFamily="34" charset="0"/>
                <a:ea typeface="Yu Gothic" pitchFamily="34" charset="-122"/>
                <a:cs typeface="Yu Gothic" pitchFamily="34" charset="-120"/>
              </a:rPr>
              <a:t>主要メジャー各社との協業</a:t>
            </a:r>
            <a:endParaRPr lang="en-US" sz="1000" dirty="0"/>
          </a:p>
        </p:txBody>
      </p:sp>
      <p:sp>
        <p:nvSpPr>
          <p:cNvPr id="56" name="t2_53"/>
          <p:cNvSpPr txBox="1"/>
          <p:nvPr/>
        </p:nvSpPr>
        <p:spPr>
          <a:xfrm>
            <a:off x="11417300" y="3657600"/>
            <a:ext cx="318262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特定1社に偏らず、ほぼすべてのメジャーと共同事業・取引</a:t>
            </a:r>
            <a:endParaRPr lang="en-US" sz="680" dirty="0"/>
          </a:p>
        </p:txBody>
      </p:sp>
      <p:sp>
        <p:nvSpPr>
          <p:cNvPr id="57" name="t2_54"/>
          <p:cNvSpPr txBox="1"/>
          <p:nvPr/>
        </p:nvSpPr>
        <p:spPr>
          <a:xfrm>
            <a:off x="11417300" y="3860800"/>
            <a:ext cx="3182620"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58" name="t2_55"/>
          <p:cNvSpPr txBox="1"/>
          <p:nvPr/>
        </p:nvSpPr>
        <p:spPr>
          <a:xfrm>
            <a:off x="11417300" y="4220170"/>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59" name="t2_56"/>
          <p:cNvSpPr txBox="1"/>
          <p:nvPr/>
        </p:nvSpPr>
        <p:spPr>
          <a:xfrm>
            <a:off x="8166100" y="4978400"/>
            <a:ext cx="3182620" cy="190500"/>
          </a:xfrm>
          <a:prstGeom prst="rect">
            <a:avLst/>
          </a:prstGeom>
          <a:noFill/>
          <a:ln/>
        </p:spPr>
        <p:txBody>
          <a:bodyPr wrap="none" lIns="0" tIns="0" rIns="0" bIns="0" rtlCol="0" anchor="t"/>
          <a:lstStyle/>
          <a:p>
            <a:pPr algn="l" indent="0" marL="0">
              <a:lnSpc>
                <a:spcPts val="1300"/>
              </a:lnSpc>
              <a:buNone/>
            </a:pPr>
            <a:r>
              <a:rPr lang="en-US" sz="1000" dirty="0">
                <a:solidFill>
                  <a:srgbClr val="222222"/>
                </a:solidFill>
                <a:latin typeface="Yu Gothic" pitchFamily="34" charset="0"/>
                <a:ea typeface="Yu Gothic" pitchFamily="34" charset="-122"/>
                <a:cs typeface="Yu Gothic" pitchFamily="34" charset="-120"/>
              </a:rPr>
              <a:t>トレーディングによる関係構築</a:t>
            </a:r>
            <a:endParaRPr lang="en-US" sz="1000" dirty="0"/>
          </a:p>
        </p:txBody>
      </p:sp>
      <p:sp>
        <p:nvSpPr>
          <p:cNvPr id="60" name="t2_57"/>
          <p:cNvSpPr txBox="1"/>
          <p:nvPr/>
        </p:nvSpPr>
        <p:spPr>
          <a:xfrm>
            <a:off x="8166100" y="5181600"/>
            <a:ext cx="318262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販売を通じて業界内の幅広いリレーションを形成</a:t>
            </a:r>
            <a:endParaRPr lang="en-US" sz="680" dirty="0"/>
          </a:p>
        </p:txBody>
      </p:sp>
      <p:sp>
        <p:nvSpPr>
          <p:cNvPr id="61" name="t2_58"/>
          <p:cNvSpPr txBox="1"/>
          <p:nvPr/>
        </p:nvSpPr>
        <p:spPr>
          <a:xfrm>
            <a:off x="8166100" y="5384800"/>
            <a:ext cx="3182620"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62" name="t2_59"/>
          <p:cNvSpPr txBox="1"/>
          <p:nvPr/>
        </p:nvSpPr>
        <p:spPr>
          <a:xfrm>
            <a:off x="8166100" y="5744170"/>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63" name="t2_60"/>
          <p:cNvSpPr txBox="1"/>
          <p:nvPr/>
        </p:nvSpPr>
        <p:spPr>
          <a:xfrm>
            <a:off x="11417300" y="4978400"/>
            <a:ext cx="3182620" cy="190500"/>
          </a:xfrm>
          <a:prstGeom prst="rect">
            <a:avLst/>
          </a:prstGeom>
          <a:noFill/>
          <a:ln/>
        </p:spPr>
        <p:txBody>
          <a:bodyPr wrap="none" lIns="0" tIns="0" rIns="0" bIns="0" rtlCol="0" anchor="t"/>
          <a:lstStyle/>
          <a:p>
            <a:pPr algn="l" indent="0" marL="0">
              <a:lnSpc>
                <a:spcPts val="1300"/>
              </a:lnSpc>
              <a:buNone/>
            </a:pPr>
            <a:r>
              <a:rPr lang="en-US" sz="1000" dirty="0">
                <a:solidFill>
                  <a:srgbClr val="222222"/>
                </a:solidFill>
                <a:latin typeface="Yu Gothic" pitchFamily="34" charset="0"/>
                <a:ea typeface="Yu Gothic" pitchFamily="34" charset="-122"/>
                <a:cs typeface="Yu Gothic" pitchFamily="34" charset="-120"/>
              </a:rPr>
              <a:t>新技術・スタートアップへの投資</a:t>
            </a:r>
            <a:endParaRPr lang="en-US" sz="1000" dirty="0"/>
          </a:p>
        </p:txBody>
      </p:sp>
      <p:sp>
        <p:nvSpPr>
          <p:cNvPr id="64" name="t2_61"/>
          <p:cNvSpPr txBox="1"/>
          <p:nvPr/>
        </p:nvSpPr>
        <p:spPr>
          <a:xfrm>
            <a:off x="11417300" y="5181600"/>
            <a:ext cx="318262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業界のボトルネックに挑む技術に投資</a:t>
            </a:r>
            <a:endParaRPr lang="en-US" sz="680" dirty="0"/>
          </a:p>
        </p:txBody>
      </p:sp>
      <p:sp>
        <p:nvSpPr>
          <p:cNvPr id="65" name="t2_62"/>
          <p:cNvSpPr txBox="1"/>
          <p:nvPr/>
        </p:nvSpPr>
        <p:spPr>
          <a:xfrm>
            <a:off x="11417300" y="5384800"/>
            <a:ext cx="3182620"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780" dirty="0"/>
          </a:p>
        </p:txBody>
      </p:sp>
      <p:sp>
        <p:nvSpPr>
          <p:cNvPr id="66" name="t2_63"/>
          <p:cNvSpPr txBox="1"/>
          <p:nvPr/>
        </p:nvSpPr>
        <p:spPr>
          <a:xfrm>
            <a:off x="11417300" y="5744170"/>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67" name="t2_64"/>
          <p:cNvSpPr txBox="1"/>
          <p:nvPr/>
        </p:nvSpPr>
        <p:spPr>
          <a:xfrm>
            <a:off x="8166100" y="6604000"/>
            <a:ext cx="6337300" cy="2159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図：銅生産量ランキング2025（持分ベース）と当社の位置付け</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参照：金属資源G_P8／P42</a:t>
            </a:r>
            <a:endParaRPr lang="en-US" sz="700" dirty="0"/>
          </a:p>
        </p:txBody>
      </p:sp>
      <p:sp>
        <p:nvSpPr>
          <p:cNvPr id="68" name="t2_65"/>
          <p:cNvSpPr txBox="1"/>
          <p:nvPr/>
        </p:nvSpPr>
        <p:spPr>
          <a:xfrm>
            <a:off x="8166100" y="88900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※他社（メジャー各社）のロゴは使用しない。社名をテキストで示すかは要確認</a:t>
            </a:r>
            <a:endParaRPr lang="en-US" sz="620" dirty="0"/>
          </a:p>
        </p:txBody>
      </p:sp>
      <p:sp>
        <p:nvSpPr>
          <p:cNvPr id="69" name="t2_66"/>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06</a:t>
            </a:r>
            <a:endParaRPr lang="en-US" sz="660" dirty="0"/>
          </a:p>
        </p:txBody>
      </p:sp>
      <p:sp>
        <p:nvSpPr>
          <p:cNvPr id="70" name="t2_67"/>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07</a:t>
            </a:r>
            <a:endParaRPr lang="en-US" sz="660" dirty="0"/>
          </a:p>
        </p:txBody>
      </p:sp>
      <p:sp>
        <p:nvSpPr>
          <p:cNvPr id="71" name="t2_68"/>
          <p:cNvSpPr txBox="1"/>
          <p:nvPr/>
        </p:nvSpPr>
        <p:spPr>
          <a:xfrm>
            <a:off x="3810000" y="10261600"/>
            <a:ext cx="4433292" cy="152400"/>
          </a:xfrm>
          <a:prstGeom prst="rect">
            <a:avLst/>
          </a:prstGeom>
          <a:solidFill>
            <a:srgbClr val="FFFFFF"/>
          </a:solidFill>
          <a:ln/>
        </p:spPr>
        <p:txBody>
          <a:bodyPr wrap="none" lIns="25400" tIns="38100" rIns="38100" bIns="25400" rtlCol="0" anchor="t"/>
          <a:lstStyle/>
          <a:p>
            <a:pPr algn="l" indent="0" marL="0">
              <a:lnSpc>
                <a:spcPts val="858"/>
              </a:lnSpc>
              <a:buNone/>
            </a:pPr>
            <a:r>
              <a:rPr lang="en-US" sz="660" spc="50" kern="0" dirty="0">
                <a:solidFill>
                  <a:srgbClr val="999999"/>
                </a:solidFill>
                <a:latin typeface="Yu Gothic" pitchFamily="34" charset="0"/>
                <a:ea typeface="Yu Gothic" pitchFamily="34" charset="-122"/>
                <a:cs typeface="Yu Gothic" pitchFamily="34" charset="-120"/>
              </a:rPr>
              <a:t>台割 改善案（構成確認用）— 青ラベル＝PwC台割ver.0からの改善点／本文字数は日本語、英語語数は目安</a:t>
            </a:r>
            <a:endParaRPr lang="en-US" sz="660" dirty="0"/>
          </a:p>
        </p:txBody>
      </p:sp>
      <p:sp>
        <p:nvSpPr>
          <p:cNvPr id="72" name="Shape 67"/>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3_0"/>
          <p:cNvSpPr txBox="1"/>
          <p:nvPr/>
        </p:nvSpPr>
        <p:spPr>
          <a:xfrm>
            <a:off x="609600" y="431800"/>
            <a:ext cx="166658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a:t>
            </a:r>
            <a:endParaRPr lang="en-US" sz="740" dirty="0"/>
          </a:p>
        </p:txBody>
      </p:sp>
      <p:sp>
        <p:nvSpPr>
          <p:cNvPr id="4" name="t3_1"/>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5" name="t3_2"/>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トレーディング事業</a:t>
            </a:r>
            <a:endParaRPr lang="en-US" sz="1800" dirty="0"/>
          </a:p>
        </p:txBody>
      </p:sp>
      <p:sp>
        <p:nvSpPr>
          <p:cNvPr id="6" name="t3_3"/>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15業界×50カ国×約1,000社の販売網で、市場をつなぐ</a:t>
            </a:r>
            <a:endParaRPr lang="en-US" sz="1000" dirty="0"/>
          </a:p>
        </p:txBody>
      </p:sp>
      <p:sp>
        <p:nvSpPr>
          <p:cNvPr id="7" name="t3_4"/>
          <p:cNvSpPr txBox="1"/>
          <p:nvPr/>
        </p:nvSpPr>
        <p:spPr>
          <a:xfrm>
            <a:off x="609600" y="1422400"/>
            <a:ext cx="3446780" cy="337820"/>
          </a:xfrm>
          <a:prstGeom prst="rect">
            <a:avLst/>
          </a:prstGeom>
          <a:noFill/>
          <a:ln/>
        </p:spPr>
        <p:txBody>
          <a:bodyPr wrap="none" lIns="0" tIns="0" rIns="0" bIns="0" rtlCol="0" anchor="t"/>
          <a:lstStyle/>
          <a:p>
            <a:pPr algn="l" indent="0" marL="0">
              <a:lnSpc>
                <a:spcPts val="2090"/>
              </a:lnSpc>
              <a:buNone/>
            </a:pPr>
            <a:r>
              <a:rPr lang="en-US" sz="1900" dirty="0">
                <a:solidFill>
                  <a:srgbClr val="222222"/>
                </a:solidFill>
                <a:latin typeface="Yu Gothic" pitchFamily="34" charset="0"/>
                <a:ea typeface="Yu Gothic" pitchFamily="34" charset="-122"/>
                <a:cs typeface="Yu Gothic" pitchFamily="34" charset="-120"/>
              </a:rPr>
              <a:t>15</a:t>
            </a:r>
            <a:pPr algn="l" indent="0" marL="0">
              <a:lnSpc>
                <a:spcPts val="2090"/>
              </a:lnSpc>
              <a:buNone/>
            </a:pPr>
            <a:r>
              <a:rPr lang="en-US" sz="800" dirty="0">
                <a:solidFill>
                  <a:srgbClr val="222222"/>
                </a:solidFill>
                <a:latin typeface="Yu Gothic" pitchFamily="34" charset="0"/>
                <a:ea typeface="Yu Gothic" pitchFamily="34" charset="-122"/>
                <a:cs typeface="Yu Gothic" pitchFamily="34" charset="-120"/>
              </a:rPr>
              <a:t>業界</a:t>
            </a:r>
            <a:pPr algn="l" indent="0" marL="0">
              <a:lnSpc>
                <a:spcPts val="2090"/>
              </a:lnSpc>
              <a:buNone/>
            </a:pPr>
            <a:r>
              <a:rPr lang="en-US" sz="1900" dirty="0">
                <a:solidFill>
                  <a:srgbClr val="222222"/>
                </a:solidFill>
                <a:latin typeface="Yu Gothic" pitchFamily="34" charset="0"/>
                <a:ea typeface="Yu Gothic" pitchFamily="34" charset="-122"/>
                <a:cs typeface="Yu Gothic" pitchFamily="34" charset="-120"/>
              </a:rPr>
              <a:t> × 50</a:t>
            </a:r>
            <a:pPr algn="l" indent="0" marL="0">
              <a:lnSpc>
                <a:spcPts val="2090"/>
              </a:lnSpc>
              <a:buNone/>
            </a:pPr>
            <a:r>
              <a:rPr lang="en-US" sz="800" dirty="0">
                <a:solidFill>
                  <a:srgbClr val="222222"/>
                </a:solidFill>
                <a:latin typeface="Yu Gothic" pitchFamily="34" charset="0"/>
                <a:ea typeface="Yu Gothic" pitchFamily="34" charset="-122"/>
                <a:cs typeface="Yu Gothic" pitchFamily="34" charset="-120"/>
              </a:rPr>
              <a:t>カ国</a:t>
            </a:r>
            <a:pPr algn="l" indent="0" marL="0">
              <a:lnSpc>
                <a:spcPts val="2090"/>
              </a:lnSpc>
              <a:buNone/>
            </a:pPr>
            <a:r>
              <a:rPr lang="en-US" sz="1900" dirty="0">
                <a:solidFill>
                  <a:srgbClr val="222222"/>
                </a:solidFill>
                <a:latin typeface="Yu Gothic" pitchFamily="34" charset="0"/>
                <a:ea typeface="Yu Gothic" pitchFamily="34" charset="-122"/>
                <a:cs typeface="Yu Gothic" pitchFamily="34" charset="-120"/>
              </a:rPr>
              <a:t> × 約1,000</a:t>
            </a:r>
            <a:pPr algn="l" indent="0" marL="0">
              <a:lnSpc>
                <a:spcPts val="2090"/>
              </a:lnSpc>
              <a:buNone/>
            </a:pPr>
            <a:r>
              <a:rPr lang="en-US" sz="800" dirty="0">
                <a:solidFill>
                  <a:srgbClr val="222222"/>
                </a:solidFill>
                <a:latin typeface="Yu Gothic" pitchFamily="34" charset="0"/>
                <a:ea typeface="Yu Gothic" pitchFamily="34" charset="-122"/>
                <a:cs typeface="Yu Gothic" pitchFamily="34" charset="-120"/>
              </a:rPr>
              <a:t>社</a:t>
            </a:r>
            <a:endParaRPr lang="en-US" sz="1900" dirty="0"/>
          </a:p>
        </p:txBody>
      </p:sp>
      <p:sp>
        <p:nvSpPr>
          <p:cNvPr id="8" name="t3_5"/>
          <p:cNvSpPr txBox="1"/>
          <p:nvPr/>
        </p:nvSpPr>
        <p:spPr>
          <a:xfrm>
            <a:off x="609600" y="1879600"/>
            <a:ext cx="3314700" cy="692944"/>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9" name="t3_6"/>
          <p:cNvSpPr txBox="1"/>
          <p:nvPr/>
        </p:nvSpPr>
        <p:spPr>
          <a:xfrm>
            <a:off x="609600" y="2585641"/>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100字／英語 約55語</a:t>
            </a:r>
            <a:endParaRPr lang="en-US" sz="580" dirty="0"/>
          </a:p>
        </p:txBody>
      </p:sp>
      <p:pic>
        <p:nvPicPr>
          <p:cNvPr id="10" name="Image 0" descr="preencoded.png">    </p:cNvPr>
          <p:cNvPicPr>
            <a:picLocks noChangeAspect="1"/>
          </p:cNvPicPr>
          <p:nvPr/>
        </p:nvPicPr>
        <p:blipFill>
          <a:blip r:embed="rId1"/>
          <a:stretch>
            <a:fillRect/>
          </a:stretch>
        </p:blipFill>
        <p:spPr>
          <a:xfrm>
            <a:off x="4038600" y="1422400"/>
            <a:ext cx="2908300" cy="1778000"/>
          </a:xfrm>
          <a:prstGeom prst="rect">
            <a:avLst/>
          </a:prstGeom>
        </p:spPr>
      </p:pic>
      <p:sp>
        <p:nvSpPr>
          <p:cNvPr id="11" name="t3_8"/>
          <p:cNvSpPr txBox="1"/>
          <p:nvPr/>
        </p:nvSpPr>
        <p:spPr>
          <a:xfrm>
            <a:off x="4038600" y="3238500"/>
            <a:ext cx="3037332"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写真：積出港（流用：三菱商事サイト）</a:t>
            </a:r>
            <a:endParaRPr lang="en-US" sz="680" dirty="0"/>
          </a:p>
        </p:txBody>
      </p:sp>
      <p:sp>
        <p:nvSpPr>
          <p:cNvPr id="12" name="t3_9"/>
          <p:cNvSpPr txBox="1"/>
          <p:nvPr/>
        </p:nvSpPr>
        <p:spPr>
          <a:xfrm>
            <a:off x="609600" y="3454400"/>
            <a:ext cx="715201"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444444"/>
                </a:solidFill>
                <a:latin typeface="Yu Gothic" pitchFamily="34" charset="0"/>
                <a:ea typeface="Yu Gothic" pitchFamily="34" charset="-122"/>
                <a:cs typeface="Yu Gothic" pitchFamily="34" charset="-120"/>
              </a:rPr>
              <a:t>多様な取引機能</a:t>
            </a:r>
            <a:endParaRPr lang="en-US" sz="680" dirty="0"/>
          </a:p>
        </p:txBody>
      </p:sp>
      <p:sp>
        <p:nvSpPr>
          <p:cNvPr id="13" name="t3_10"/>
          <p:cNvSpPr txBox="1"/>
          <p:nvPr/>
        </p:nvSpPr>
        <p:spPr>
          <a:xfrm>
            <a:off x="609600" y="36576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取扱商品の広さ</a:t>
            </a:r>
            <a:endParaRPr lang="en-US" sz="740" dirty="0"/>
          </a:p>
        </p:txBody>
      </p:sp>
      <p:sp>
        <p:nvSpPr>
          <p:cNvPr id="14" name="t3_11"/>
          <p:cNvSpPr txBox="1"/>
          <p:nvPr/>
        </p:nvSpPr>
        <p:spPr>
          <a:xfrm>
            <a:off x="609600" y="4038600"/>
            <a:ext cx="1491996"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80" dirty="0"/>
          </a:p>
        </p:txBody>
      </p:sp>
      <p:sp>
        <p:nvSpPr>
          <p:cNvPr id="15" name="t3_12"/>
          <p:cNvSpPr txBox="1"/>
          <p:nvPr/>
        </p:nvSpPr>
        <p:spPr>
          <a:xfrm>
            <a:off x="2209800" y="36576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在庫</a:t>
            </a:r>
            <a:endParaRPr lang="en-US" sz="740" dirty="0"/>
          </a:p>
        </p:txBody>
      </p:sp>
      <p:sp>
        <p:nvSpPr>
          <p:cNvPr id="16" name="t3_13"/>
          <p:cNvSpPr txBox="1"/>
          <p:nvPr/>
        </p:nvSpPr>
        <p:spPr>
          <a:xfrm>
            <a:off x="2209800" y="4038600"/>
            <a:ext cx="1491996"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80" dirty="0"/>
          </a:p>
        </p:txBody>
      </p:sp>
      <p:sp>
        <p:nvSpPr>
          <p:cNvPr id="17" name="t3_14"/>
          <p:cNvSpPr txBox="1"/>
          <p:nvPr/>
        </p:nvSpPr>
        <p:spPr>
          <a:xfrm>
            <a:off x="3810000" y="36576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輸送手配</a:t>
            </a:r>
            <a:endParaRPr lang="en-US" sz="740" dirty="0"/>
          </a:p>
        </p:txBody>
      </p:sp>
      <p:sp>
        <p:nvSpPr>
          <p:cNvPr id="18" name="t3_15"/>
          <p:cNvSpPr txBox="1"/>
          <p:nvPr/>
        </p:nvSpPr>
        <p:spPr>
          <a:xfrm>
            <a:off x="3810000" y="4038600"/>
            <a:ext cx="1491996"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80" dirty="0"/>
          </a:p>
        </p:txBody>
      </p:sp>
      <p:sp>
        <p:nvSpPr>
          <p:cNvPr id="19" name="t3_16"/>
          <p:cNvSpPr txBox="1"/>
          <p:nvPr/>
        </p:nvSpPr>
        <p:spPr>
          <a:xfrm>
            <a:off x="5410200" y="3657600"/>
            <a:ext cx="1422400" cy="304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ヘッジ</a:t>
            </a:r>
            <a:endParaRPr lang="en-US" sz="740" dirty="0"/>
          </a:p>
        </p:txBody>
      </p:sp>
      <p:sp>
        <p:nvSpPr>
          <p:cNvPr id="20" name="t3_17"/>
          <p:cNvSpPr txBox="1"/>
          <p:nvPr/>
        </p:nvSpPr>
        <p:spPr>
          <a:xfrm>
            <a:off x="5410200" y="4038600"/>
            <a:ext cx="1491996"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80" dirty="0"/>
          </a:p>
        </p:txBody>
      </p:sp>
      <p:sp>
        <p:nvSpPr>
          <p:cNvPr id="21" name="t3_18"/>
          <p:cNvSpPr txBox="1"/>
          <p:nvPr/>
        </p:nvSpPr>
        <p:spPr>
          <a:xfrm>
            <a:off x="609600" y="4622800"/>
            <a:ext cx="2114423"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444444"/>
                </a:solidFill>
                <a:latin typeface="Yu Gothic" pitchFamily="34" charset="0"/>
                <a:ea typeface="Yu Gothic" pitchFamily="34" charset="-122"/>
                <a:cs typeface="Yu Gothic" pitchFamily="34" charset="-120"/>
              </a:rPr>
              <a:t>投資（本体）とトレーディング（RtM）の連携</a:t>
            </a:r>
            <a:endParaRPr lang="en-US" sz="680" dirty="0"/>
          </a:p>
        </p:txBody>
      </p:sp>
      <p:sp>
        <p:nvSpPr>
          <p:cNvPr id="22" name="t3_19"/>
          <p:cNvSpPr txBox="1"/>
          <p:nvPr/>
        </p:nvSpPr>
        <p:spPr>
          <a:xfrm>
            <a:off x="609600" y="4826000"/>
            <a:ext cx="19050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資源投資</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（三菱商事本体）</a:t>
            </a:r>
            <a:endParaRPr lang="en-US" sz="740" dirty="0"/>
          </a:p>
        </p:txBody>
      </p:sp>
      <p:sp>
        <p:nvSpPr>
          <p:cNvPr id="23" name="t3_20"/>
          <p:cNvSpPr txBox="1"/>
          <p:nvPr/>
        </p:nvSpPr>
        <p:spPr>
          <a:xfrm>
            <a:off x="2552700" y="4851400"/>
            <a:ext cx="507381" cy="114300"/>
          </a:xfrm>
          <a:prstGeom prst="rect">
            <a:avLst/>
          </a:prstGeom>
          <a:noFill/>
          <a:ln/>
        </p:spPr>
        <p:txBody>
          <a:bodyPr wrap="none" lIns="0" tIns="0" rIns="0" bIns="0" rtlCol="0" anchor="t"/>
          <a:lstStyle/>
          <a:p>
            <a:pPr algn="l" indent="0" marL="0">
              <a:lnSpc>
                <a:spcPts val="780"/>
              </a:lnSpc>
              <a:buNone/>
            </a:pPr>
            <a:r>
              <a:rPr lang="en-US" sz="600" dirty="0">
                <a:solidFill>
                  <a:srgbClr val="666666"/>
                </a:solidFill>
                <a:latin typeface="Yu Gothic" pitchFamily="34" charset="0"/>
                <a:ea typeface="Yu Gothic" pitchFamily="34" charset="-122"/>
                <a:cs typeface="Yu Gothic" pitchFamily="34" charset="-120"/>
              </a:rPr>
              <a:t>オフテイク →</a:t>
            </a:r>
            <a:endParaRPr lang="en-US" sz="600" dirty="0"/>
          </a:p>
        </p:txBody>
      </p:sp>
      <p:sp>
        <p:nvSpPr>
          <p:cNvPr id="24" name="t3_21"/>
          <p:cNvSpPr txBox="1"/>
          <p:nvPr/>
        </p:nvSpPr>
        <p:spPr>
          <a:xfrm>
            <a:off x="2768600" y="4826000"/>
            <a:ext cx="19050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RtM</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ヘッジ・在庫・物流を付加</a:t>
            </a:r>
            <a:endParaRPr lang="en-US" sz="740" dirty="0"/>
          </a:p>
        </p:txBody>
      </p:sp>
      <p:sp>
        <p:nvSpPr>
          <p:cNvPr id="25" name="t3_22"/>
          <p:cNvSpPr txBox="1"/>
          <p:nvPr/>
        </p:nvSpPr>
        <p:spPr>
          <a:xfrm>
            <a:off x="4711700" y="4851400"/>
            <a:ext cx="271082" cy="114300"/>
          </a:xfrm>
          <a:prstGeom prst="rect">
            <a:avLst/>
          </a:prstGeom>
          <a:noFill/>
          <a:ln/>
        </p:spPr>
        <p:txBody>
          <a:bodyPr wrap="none" lIns="0" tIns="0" rIns="0" bIns="0" rtlCol="0" anchor="t"/>
          <a:lstStyle/>
          <a:p>
            <a:pPr algn="l" indent="0" marL="0">
              <a:lnSpc>
                <a:spcPts val="780"/>
              </a:lnSpc>
              <a:buNone/>
            </a:pPr>
            <a:r>
              <a:rPr lang="en-US" sz="600" dirty="0">
                <a:solidFill>
                  <a:srgbClr val="666666"/>
                </a:solidFill>
                <a:latin typeface="Yu Gothic" pitchFamily="34" charset="0"/>
                <a:ea typeface="Yu Gothic" pitchFamily="34" charset="-122"/>
                <a:cs typeface="Yu Gothic" pitchFamily="34" charset="-120"/>
              </a:rPr>
              <a:t>販売 →</a:t>
            </a:r>
            <a:endParaRPr lang="en-US" sz="600" dirty="0"/>
          </a:p>
        </p:txBody>
      </p:sp>
      <p:sp>
        <p:nvSpPr>
          <p:cNvPr id="26" name="t3_23"/>
          <p:cNvSpPr txBox="1"/>
          <p:nvPr/>
        </p:nvSpPr>
        <p:spPr>
          <a:xfrm>
            <a:off x="4927600" y="4826000"/>
            <a:ext cx="1905000" cy="4318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顧客</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欧州・シンガポール・米州</a:t>
            </a:r>
            <a:endParaRPr lang="en-US" sz="740" dirty="0"/>
          </a:p>
        </p:txBody>
      </p:sp>
      <p:sp>
        <p:nvSpPr>
          <p:cNvPr id="27" name="Shape 23"/>
          <p:cNvSpPr/>
          <p:nvPr/>
        </p:nvSpPr>
        <p:spPr>
          <a:xfrm>
            <a:off x="1117600" y="5334000"/>
            <a:ext cx="5334000" cy="0"/>
          </a:xfrm>
          <a:prstGeom prst="line">
            <a:avLst/>
          </a:prstGeom>
          <a:noFill/>
          <a:ln w="12700">
            <a:solidFill>
              <a:srgbClr val="888888"/>
            </a:solidFill>
            <a:prstDash val="dash"/>
          </a:ln>
        </p:spPr>
      </p:sp>
      <p:sp>
        <p:nvSpPr>
          <p:cNvPr id="28" name="t3_24"/>
          <p:cNvSpPr txBox="1"/>
          <p:nvPr/>
        </p:nvSpPr>
        <p:spPr>
          <a:xfrm>
            <a:off x="1117600" y="5334000"/>
            <a:ext cx="5560060" cy="177800"/>
          </a:xfrm>
          <a:prstGeom prst="rect">
            <a:avLst/>
          </a:prstGeom>
          <a:noFill/>
          <a:ln/>
        </p:spPr>
        <p:txBody>
          <a:bodyPr wrap="square" lIns="0" tIns="0" rIns="0" bIns="0" rtlCol="0" anchor="t"/>
          <a:lstStyle/>
          <a:p>
            <a:pPr algn="l" indent="0" marL="0">
              <a:lnSpc>
                <a:spcPts val="910"/>
              </a:lnSpc>
              <a:buNone/>
            </a:pPr>
            <a:r>
              <a:rPr lang="en-US" sz="700" dirty="0">
                <a:solidFill>
                  <a:srgbClr val="555555"/>
                </a:solidFill>
                <a:latin typeface="Yu Gothic" pitchFamily="34" charset="0"/>
                <a:ea typeface="Yu Gothic" pitchFamily="34" charset="-122"/>
                <a:cs typeface="Yu Gothic" pitchFamily="34" charset="-120"/>
              </a:rPr>
              <a:t>← 市場の生きた情報を還元し、事業機会を発掘（好循環）</a:t>
            </a:r>
            <a:endParaRPr lang="en-US" sz="700" dirty="0"/>
          </a:p>
        </p:txBody>
      </p:sp>
      <p:sp>
        <p:nvSpPr>
          <p:cNvPr id="29" name="t3_25"/>
          <p:cNvSpPr txBox="1"/>
          <p:nvPr/>
        </p:nvSpPr>
        <p:spPr>
          <a:xfrm>
            <a:off x="609600" y="55880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※販売顧客に「投資目的の主体」と誤認されない表現に。多様な取引機能の詳細はヒアリング予定</a:t>
            </a:r>
            <a:endParaRPr lang="en-US" sz="620" dirty="0"/>
          </a:p>
        </p:txBody>
      </p:sp>
      <p:sp>
        <p:nvSpPr>
          <p:cNvPr id="30" name="Shape 26"/>
          <p:cNvSpPr/>
          <p:nvPr/>
        </p:nvSpPr>
        <p:spPr>
          <a:xfrm>
            <a:off x="609600" y="5918200"/>
            <a:ext cx="6337300" cy="0"/>
          </a:xfrm>
          <a:prstGeom prst="line">
            <a:avLst/>
          </a:prstGeom>
          <a:noFill/>
          <a:ln w="12700">
            <a:solidFill>
              <a:srgbClr val="CFD2D5"/>
            </a:solidFill>
            <a:prstDash val="solid"/>
          </a:ln>
        </p:spPr>
      </p:sp>
      <p:sp>
        <p:nvSpPr>
          <p:cNvPr id="31" name="t3_27"/>
          <p:cNvSpPr txBox="1"/>
          <p:nvPr/>
        </p:nvSpPr>
        <p:spPr>
          <a:xfrm>
            <a:off x="609600" y="60706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トレーディング事業の事例（銅）</a:t>
            </a:r>
            <a:endParaRPr lang="en-US" sz="1800" dirty="0"/>
          </a:p>
        </p:txBody>
      </p:sp>
      <p:sp>
        <p:nvSpPr>
          <p:cNvPr id="32" name="t3_28"/>
          <p:cNvSpPr txBox="1"/>
          <p:nvPr/>
        </p:nvSpPr>
        <p:spPr>
          <a:xfrm>
            <a:off x="609600" y="64262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一つの商品の中で、投資から販売まで一気通貫でつなぐ</a:t>
            </a:r>
            <a:endParaRPr lang="en-US" sz="1000" dirty="0"/>
          </a:p>
        </p:txBody>
      </p:sp>
      <p:sp>
        <p:nvSpPr>
          <p:cNvPr id="33" name="t3_29"/>
          <p:cNvSpPr txBox="1"/>
          <p:nvPr/>
        </p:nvSpPr>
        <p:spPr>
          <a:xfrm>
            <a:off x="609600" y="6680200"/>
            <a:ext cx="6337300" cy="2159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事例図：銅の投資から販売までの一気通貫／複数地域・多機能にわたる展開</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※PwCにて情報収集中</a:t>
            </a:r>
            <a:endParaRPr lang="en-US" sz="700" dirty="0"/>
          </a:p>
        </p:txBody>
      </p:sp>
      <p:sp>
        <p:nvSpPr>
          <p:cNvPr id="34" name="t3_30"/>
          <p:cNvSpPr txBox="1"/>
          <p:nvPr/>
        </p:nvSpPr>
        <p:spPr>
          <a:xfrm>
            <a:off x="609600" y="8940800"/>
            <a:ext cx="6603492"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35" name="t3_31"/>
          <p:cNvSpPr txBox="1"/>
          <p:nvPr/>
        </p:nvSpPr>
        <p:spPr>
          <a:xfrm>
            <a:off x="609600" y="9300170"/>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120字／英語 約66語</a:t>
            </a:r>
            <a:endParaRPr lang="en-US" sz="580" dirty="0"/>
          </a:p>
        </p:txBody>
      </p:sp>
      <p:sp>
        <p:nvSpPr>
          <p:cNvPr id="36" name="t3_32"/>
          <p:cNvSpPr txBox="1"/>
          <p:nvPr/>
        </p:nvSpPr>
        <p:spPr>
          <a:xfrm>
            <a:off x="8166100" y="431800"/>
            <a:ext cx="1666589"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第2章　HOW/WHAT｜独自価値</a:t>
            </a:r>
            <a:endParaRPr lang="en-US" sz="740" dirty="0"/>
          </a:p>
        </p:txBody>
      </p:sp>
      <p:sp>
        <p:nvSpPr>
          <p:cNvPr id="37" name="t3_33"/>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読み手の心理：納得</a:t>
            </a:r>
            <a:endParaRPr lang="en-US" sz="660" dirty="0"/>
          </a:p>
        </p:txBody>
      </p:sp>
      <p:sp>
        <p:nvSpPr>
          <p:cNvPr id="38" name="t3_34"/>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事業・プロジェクト一覧</a:t>
            </a:r>
            <a:endParaRPr lang="en-US" sz="1800" dirty="0"/>
          </a:p>
        </p:txBody>
      </p:sp>
      <p:sp>
        <p:nvSpPr>
          <p:cNvPr id="39" name="t3_35"/>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鉄鉱石から電池資源・肥料・アルミまで、世界に広がる事業領域</a:t>
            </a:r>
            <a:endParaRPr lang="en-US" sz="1000" dirty="0"/>
          </a:p>
        </p:txBody>
      </p:sp>
      <p:sp>
        <p:nvSpPr>
          <p:cNvPr id="40" name="t3_36"/>
          <p:cNvSpPr txBox="1"/>
          <p:nvPr/>
        </p:nvSpPr>
        <p:spPr>
          <a:xfrm>
            <a:off x="8166100" y="1371600"/>
            <a:ext cx="6337300" cy="2540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地図：事業・プロジェクトの所在地</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（参照：金属資源G_P10）</a:t>
            </a:r>
            <a:endParaRPr lang="en-US" sz="700" dirty="0"/>
          </a:p>
        </p:txBody>
      </p:sp>
      <p:pic>
        <p:nvPicPr>
          <p:cNvPr id="41" name="Image 1" descr="preencoded.png">    </p:cNvPr>
          <p:cNvPicPr>
            <a:picLocks noChangeAspect="1"/>
          </p:cNvPicPr>
          <p:nvPr/>
        </p:nvPicPr>
        <p:blipFill>
          <a:blip r:embed="rId2"/>
          <a:stretch>
            <a:fillRect/>
          </a:stretch>
        </p:blipFill>
        <p:spPr>
          <a:xfrm>
            <a:off x="8166100" y="4089400"/>
            <a:ext cx="990600" cy="787400"/>
          </a:xfrm>
          <a:prstGeom prst="rect">
            <a:avLst/>
          </a:prstGeom>
        </p:spPr>
      </p:pic>
      <p:sp>
        <p:nvSpPr>
          <p:cNvPr id="42" name="t3_38"/>
          <p:cNvSpPr txBox="1"/>
          <p:nvPr/>
        </p:nvSpPr>
        <p:spPr>
          <a:xfrm>
            <a:off x="8166100" y="4927600"/>
            <a:ext cx="106934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鉄鉱石</a:t>
            </a:r>
            <a:endParaRPr lang="en-US" sz="760" dirty="0"/>
          </a:p>
        </p:txBody>
      </p:sp>
      <p:sp>
        <p:nvSpPr>
          <p:cNvPr id="43" name="t3_39"/>
          <p:cNvSpPr txBox="1"/>
          <p:nvPr/>
        </p:nvSpPr>
        <p:spPr>
          <a:xfrm>
            <a:off x="8166100" y="5105400"/>
            <a:ext cx="1042924" cy="378023"/>
          </a:xfrm>
          <a:prstGeom prst="rect">
            <a:avLst/>
          </a:prstGeom>
          <a:noFill/>
          <a:ln/>
        </p:spPr>
        <p:txBody>
          <a:bodyPr wrap="square" lIns="0" tIns="0" rIns="0" bIns="0" rtlCol="0" anchor="t"/>
          <a:lstStyle/>
          <a:p>
            <a:pPr algn="l" indent="0" marL="0">
              <a:lnSpc>
                <a:spcPts val="992"/>
              </a:lnSpc>
              <a:buNone/>
            </a:pPr>
            <a:r>
              <a:rPr lang="en-US" sz="64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40" dirty="0"/>
          </a:p>
        </p:txBody>
      </p:sp>
      <p:pic>
        <p:nvPicPr>
          <p:cNvPr id="44" name="Image 2" descr="preencoded.png">    </p:cNvPr>
          <p:cNvPicPr>
            <a:picLocks noChangeAspect="1"/>
          </p:cNvPicPr>
          <p:nvPr/>
        </p:nvPicPr>
        <p:blipFill>
          <a:blip r:embed="rId3"/>
          <a:stretch>
            <a:fillRect/>
          </a:stretch>
        </p:blipFill>
        <p:spPr>
          <a:xfrm>
            <a:off x="9232900" y="4089400"/>
            <a:ext cx="990600" cy="787400"/>
          </a:xfrm>
          <a:prstGeom prst="rect">
            <a:avLst/>
          </a:prstGeom>
        </p:spPr>
      </p:pic>
      <p:sp>
        <p:nvSpPr>
          <p:cNvPr id="45" name="t3_41"/>
          <p:cNvSpPr txBox="1"/>
          <p:nvPr/>
        </p:nvSpPr>
        <p:spPr>
          <a:xfrm>
            <a:off x="9232900" y="4927600"/>
            <a:ext cx="106934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電池資源（ニッケル）</a:t>
            </a:r>
            <a:endParaRPr lang="en-US" sz="760" dirty="0"/>
          </a:p>
        </p:txBody>
      </p:sp>
      <p:sp>
        <p:nvSpPr>
          <p:cNvPr id="46" name="t3_42"/>
          <p:cNvSpPr txBox="1"/>
          <p:nvPr/>
        </p:nvSpPr>
        <p:spPr>
          <a:xfrm>
            <a:off x="9232900" y="5105400"/>
            <a:ext cx="1042924" cy="378023"/>
          </a:xfrm>
          <a:prstGeom prst="rect">
            <a:avLst/>
          </a:prstGeom>
          <a:noFill/>
          <a:ln/>
        </p:spPr>
        <p:txBody>
          <a:bodyPr wrap="square" lIns="0" tIns="0" rIns="0" bIns="0" rtlCol="0" anchor="t"/>
          <a:lstStyle/>
          <a:p>
            <a:pPr algn="l" indent="0" marL="0">
              <a:lnSpc>
                <a:spcPts val="992"/>
              </a:lnSpc>
              <a:buNone/>
            </a:pPr>
            <a:r>
              <a:rPr lang="en-US" sz="64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40" dirty="0"/>
          </a:p>
        </p:txBody>
      </p:sp>
      <p:pic>
        <p:nvPicPr>
          <p:cNvPr id="47" name="Image 3" descr="preencoded.png">    </p:cNvPr>
          <p:cNvPicPr>
            <a:picLocks noChangeAspect="1"/>
          </p:cNvPicPr>
          <p:nvPr/>
        </p:nvPicPr>
        <p:blipFill>
          <a:blip r:embed="rId4"/>
          <a:stretch>
            <a:fillRect/>
          </a:stretch>
        </p:blipFill>
        <p:spPr>
          <a:xfrm>
            <a:off x="10299700" y="4089400"/>
            <a:ext cx="990600" cy="787400"/>
          </a:xfrm>
          <a:prstGeom prst="rect">
            <a:avLst/>
          </a:prstGeom>
        </p:spPr>
      </p:pic>
      <p:sp>
        <p:nvSpPr>
          <p:cNvPr id="48" name="t3_44"/>
          <p:cNvSpPr txBox="1"/>
          <p:nvPr/>
        </p:nvSpPr>
        <p:spPr>
          <a:xfrm>
            <a:off x="10299700" y="4927600"/>
            <a:ext cx="106934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電池資源（リチウム）</a:t>
            </a:r>
            <a:endParaRPr lang="en-US" sz="760" dirty="0"/>
          </a:p>
        </p:txBody>
      </p:sp>
      <p:sp>
        <p:nvSpPr>
          <p:cNvPr id="49" name="t3_45"/>
          <p:cNvSpPr txBox="1"/>
          <p:nvPr/>
        </p:nvSpPr>
        <p:spPr>
          <a:xfrm>
            <a:off x="10299700" y="5105400"/>
            <a:ext cx="1042924" cy="378023"/>
          </a:xfrm>
          <a:prstGeom prst="rect">
            <a:avLst/>
          </a:prstGeom>
          <a:noFill/>
          <a:ln/>
        </p:spPr>
        <p:txBody>
          <a:bodyPr wrap="square" lIns="0" tIns="0" rIns="0" bIns="0" rtlCol="0" anchor="t"/>
          <a:lstStyle/>
          <a:p>
            <a:pPr algn="l" indent="0" marL="0">
              <a:lnSpc>
                <a:spcPts val="992"/>
              </a:lnSpc>
              <a:buNone/>
            </a:pPr>
            <a:r>
              <a:rPr lang="en-US" sz="64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40" dirty="0"/>
          </a:p>
        </p:txBody>
      </p:sp>
      <p:sp>
        <p:nvSpPr>
          <p:cNvPr id="50" name="t3_46"/>
          <p:cNvSpPr txBox="1"/>
          <p:nvPr/>
        </p:nvSpPr>
        <p:spPr>
          <a:xfrm>
            <a:off x="11366500" y="4089400"/>
            <a:ext cx="990600" cy="7874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写真：〇〇</a:t>
            </a:r>
            <a:endParaRPr lang="en-US" sz="700" dirty="0"/>
          </a:p>
        </p:txBody>
      </p:sp>
      <p:sp>
        <p:nvSpPr>
          <p:cNvPr id="51" name="t3_47"/>
          <p:cNvSpPr txBox="1"/>
          <p:nvPr/>
        </p:nvSpPr>
        <p:spPr>
          <a:xfrm>
            <a:off x="11366500" y="4927600"/>
            <a:ext cx="106934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肥料資源</a:t>
            </a:r>
            <a:endParaRPr lang="en-US" sz="760" dirty="0"/>
          </a:p>
        </p:txBody>
      </p:sp>
      <p:sp>
        <p:nvSpPr>
          <p:cNvPr id="52" name="t3_48"/>
          <p:cNvSpPr txBox="1"/>
          <p:nvPr/>
        </p:nvSpPr>
        <p:spPr>
          <a:xfrm>
            <a:off x="11366500" y="5105400"/>
            <a:ext cx="1042924" cy="378023"/>
          </a:xfrm>
          <a:prstGeom prst="rect">
            <a:avLst/>
          </a:prstGeom>
          <a:noFill/>
          <a:ln/>
        </p:spPr>
        <p:txBody>
          <a:bodyPr wrap="square" lIns="0" tIns="0" rIns="0" bIns="0" rtlCol="0" anchor="t"/>
          <a:lstStyle/>
          <a:p>
            <a:pPr algn="l" indent="0" marL="0">
              <a:lnSpc>
                <a:spcPts val="992"/>
              </a:lnSpc>
              <a:buNone/>
            </a:pPr>
            <a:r>
              <a:rPr lang="en-US" sz="64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40" dirty="0"/>
          </a:p>
        </p:txBody>
      </p:sp>
      <p:pic>
        <p:nvPicPr>
          <p:cNvPr id="53" name="Image 4" descr="preencoded.png">    </p:cNvPr>
          <p:cNvPicPr>
            <a:picLocks noChangeAspect="1"/>
          </p:cNvPicPr>
          <p:nvPr/>
        </p:nvPicPr>
        <p:blipFill>
          <a:blip r:embed="rId5"/>
          <a:stretch>
            <a:fillRect/>
          </a:stretch>
        </p:blipFill>
        <p:spPr>
          <a:xfrm>
            <a:off x="12433300" y="4089400"/>
            <a:ext cx="990600" cy="787400"/>
          </a:xfrm>
          <a:prstGeom prst="rect">
            <a:avLst/>
          </a:prstGeom>
        </p:spPr>
      </p:pic>
      <p:sp>
        <p:nvSpPr>
          <p:cNvPr id="54" name="t3_50"/>
          <p:cNvSpPr txBox="1"/>
          <p:nvPr/>
        </p:nvSpPr>
        <p:spPr>
          <a:xfrm>
            <a:off x="12433300" y="4927600"/>
            <a:ext cx="106934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アルミ・ボーキサイト</a:t>
            </a:r>
            <a:endParaRPr lang="en-US" sz="760" dirty="0"/>
          </a:p>
        </p:txBody>
      </p:sp>
      <p:sp>
        <p:nvSpPr>
          <p:cNvPr id="55" name="t3_51"/>
          <p:cNvSpPr txBox="1"/>
          <p:nvPr/>
        </p:nvSpPr>
        <p:spPr>
          <a:xfrm>
            <a:off x="12433300" y="5105400"/>
            <a:ext cx="1042924" cy="378023"/>
          </a:xfrm>
          <a:prstGeom prst="rect">
            <a:avLst/>
          </a:prstGeom>
          <a:noFill/>
          <a:ln/>
        </p:spPr>
        <p:txBody>
          <a:bodyPr wrap="square" lIns="0" tIns="0" rIns="0" bIns="0" rtlCol="0" anchor="t"/>
          <a:lstStyle/>
          <a:p>
            <a:pPr algn="l" indent="0" marL="0">
              <a:lnSpc>
                <a:spcPts val="992"/>
              </a:lnSpc>
              <a:buNone/>
            </a:pPr>
            <a:r>
              <a:rPr lang="en-US" sz="64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40" dirty="0"/>
          </a:p>
        </p:txBody>
      </p:sp>
      <p:pic>
        <p:nvPicPr>
          <p:cNvPr id="56" name="Image 5" descr="preencoded.png">    </p:cNvPr>
          <p:cNvPicPr>
            <a:picLocks noChangeAspect="1"/>
          </p:cNvPicPr>
          <p:nvPr/>
        </p:nvPicPr>
        <p:blipFill>
          <a:blip r:embed="rId6"/>
          <a:stretch>
            <a:fillRect/>
          </a:stretch>
        </p:blipFill>
        <p:spPr>
          <a:xfrm>
            <a:off x="13500100" y="4089400"/>
            <a:ext cx="990600" cy="787400"/>
          </a:xfrm>
          <a:prstGeom prst="rect">
            <a:avLst/>
          </a:prstGeom>
        </p:spPr>
      </p:pic>
      <p:sp>
        <p:nvSpPr>
          <p:cNvPr id="57" name="t3_53"/>
          <p:cNvSpPr txBox="1"/>
          <p:nvPr/>
        </p:nvSpPr>
        <p:spPr>
          <a:xfrm>
            <a:off x="13500100" y="4927600"/>
            <a:ext cx="1069340" cy="139700"/>
          </a:xfrm>
          <a:prstGeom prst="rect">
            <a:avLst/>
          </a:prstGeom>
          <a:noFill/>
          <a:ln/>
        </p:spPr>
        <p:txBody>
          <a:bodyPr wrap="none" lIns="0" tIns="0" rIns="0" bIns="0" rtlCol="0" anchor="t"/>
          <a:lstStyle/>
          <a:p>
            <a:pPr algn="l" indent="0" marL="0">
              <a:lnSpc>
                <a:spcPts val="988"/>
              </a:lnSpc>
              <a:buNone/>
            </a:pPr>
            <a:r>
              <a:rPr lang="en-US" sz="760" dirty="0">
                <a:solidFill>
                  <a:srgbClr val="222222"/>
                </a:solidFill>
                <a:latin typeface="Yu Gothic" pitchFamily="34" charset="0"/>
                <a:ea typeface="Yu Gothic" pitchFamily="34" charset="-122"/>
                <a:cs typeface="Yu Gothic" pitchFamily="34" charset="-120"/>
              </a:rPr>
              <a:t>二次資源</a:t>
            </a:r>
            <a:endParaRPr lang="en-US" sz="760" dirty="0"/>
          </a:p>
        </p:txBody>
      </p:sp>
      <p:sp>
        <p:nvSpPr>
          <p:cNvPr id="58" name="t3_54"/>
          <p:cNvSpPr txBox="1"/>
          <p:nvPr/>
        </p:nvSpPr>
        <p:spPr>
          <a:xfrm>
            <a:off x="13500100" y="5105400"/>
            <a:ext cx="1042924" cy="378023"/>
          </a:xfrm>
          <a:prstGeom prst="rect">
            <a:avLst/>
          </a:prstGeom>
          <a:noFill/>
          <a:ln/>
        </p:spPr>
        <p:txBody>
          <a:bodyPr wrap="square" lIns="0" tIns="0" rIns="0" bIns="0" rtlCol="0" anchor="t"/>
          <a:lstStyle/>
          <a:p>
            <a:pPr algn="l" indent="0" marL="0">
              <a:lnSpc>
                <a:spcPts val="992"/>
              </a:lnSpc>
              <a:buNone/>
            </a:pPr>
            <a:r>
              <a:rPr lang="en-US" sz="64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a:t>
            </a:r>
            <a:endParaRPr lang="en-US" sz="640" dirty="0"/>
          </a:p>
        </p:txBody>
      </p:sp>
      <p:sp>
        <p:nvSpPr>
          <p:cNvPr id="59" name="t3_55"/>
          <p:cNvSpPr txBox="1"/>
          <p:nvPr/>
        </p:nvSpPr>
        <p:spPr>
          <a:xfrm>
            <a:off x="8166100" y="5740400"/>
            <a:ext cx="6603492"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※鉄鉱石は主力3商品の一角だが、銅・原料炭と同格には押し出さず一覧の先頭に配置。原料炭・銅はP.06–07で紹介</a:t>
            </a:r>
            <a:endParaRPr lang="en-US" sz="620" dirty="0"/>
          </a:p>
        </p:txBody>
      </p:sp>
      <p:sp>
        <p:nvSpPr>
          <p:cNvPr id="60" name="Shape 51"/>
          <p:cNvSpPr/>
          <p:nvPr/>
        </p:nvSpPr>
        <p:spPr>
          <a:xfrm>
            <a:off x="8166100" y="6045200"/>
            <a:ext cx="6337300" cy="0"/>
          </a:xfrm>
          <a:prstGeom prst="line">
            <a:avLst/>
          </a:prstGeom>
          <a:noFill/>
          <a:ln w="12700">
            <a:solidFill>
              <a:srgbClr val="CFD2D5"/>
            </a:solidFill>
            <a:prstDash val="solid"/>
          </a:ln>
        </p:spPr>
      </p:sp>
      <p:sp>
        <p:nvSpPr>
          <p:cNvPr id="61" name="t3_57"/>
          <p:cNvSpPr txBox="1"/>
          <p:nvPr/>
        </p:nvSpPr>
        <p:spPr>
          <a:xfrm>
            <a:off x="8166100" y="61976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新技術への投資（CVC）</a:t>
            </a:r>
            <a:endParaRPr lang="en-US" sz="1800" dirty="0"/>
          </a:p>
        </p:txBody>
      </p:sp>
      <p:sp>
        <p:nvSpPr>
          <p:cNvPr id="62" name="t3_58"/>
          <p:cNvSpPr txBox="1"/>
          <p:nvPr/>
        </p:nvSpPr>
        <p:spPr>
          <a:xfrm>
            <a:off x="8166100" y="65532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銅のバリューチェーン全体に、新技術の網を張る</a:t>
            </a:r>
            <a:endParaRPr lang="en-US" sz="1000" dirty="0"/>
          </a:p>
        </p:txBody>
      </p:sp>
      <p:sp>
        <p:nvSpPr>
          <p:cNvPr id="63" name="t3_59"/>
          <p:cNvSpPr txBox="1"/>
          <p:nvPr/>
        </p:nvSpPr>
        <p:spPr>
          <a:xfrm>
            <a:off x="8166100" y="6832600"/>
            <a:ext cx="14224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川上｜採掘</a:t>
            </a:r>
            <a:endParaRPr lang="en-US" sz="740" dirty="0"/>
          </a:p>
        </p:txBody>
      </p:sp>
      <p:sp>
        <p:nvSpPr>
          <p:cNvPr id="64" name="t3_60"/>
          <p:cNvSpPr txBox="1"/>
          <p:nvPr/>
        </p:nvSpPr>
        <p:spPr>
          <a:xfrm>
            <a:off x="9613900" y="68834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65" name="t3_61"/>
          <p:cNvSpPr txBox="1"/>
          <p:nvPr/>
        </p:nvSpPr>
        <p:spPr>
          <a:xfrm>
            <a:off x="9766300" y="6832600"/>
            <a:ext cx="14224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精鉱</a:t>
            </a:r>
            <a:endParaRPr lang="en-US" sz="740" dirty="0"/>
          </a:p>
        </p:txBody>
      </p:sp>
      <p:sp>
        <p:nvSpPr>
          <p:cNvPr id="66" name="t3_62"/>
          <p:cNvSpPr txBox="1"/>
          <p:nvPr/>
        </p:nvSpPr>
        <p:spPr>
          <a:xfrm>
            <a:off x="11214100" y="68834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67" name="t3_63"/>
          <p:cNvSpPr txBox="1"/>
          <p:nvPr/>
        </p:nvSpPr>
        <p:spPr>
          <a:xfrm>
            <a:off x="11366500" y="6832600"/>
            <a:ext cx="14224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川中｜製錬</a:t>
            </a:r>
            <a:endParaRPr lang="en-US" sz="740" dirty="0"/>
          </a:p>
        </p:txBody>
      </p:sp>
      <p:sp>
        <p:nvSpPr>
          <p:cNvPr id="68" name="t3_64"/>
          <p:cNvSpPr txBox="1"/>
          <p:nvPr/>
        </p:nvSpPr>
        <p:spPr>
          <a:xfrm>
            <a:off x="12814300" y="6883400"/>
            <a:ext cx="144780" cy="190500"/>
          </a:xfrm>
          <a:prstGeom prst="rect">
            <a:avLst/>
          </a:prstGeom>
          <a:noFill/>
          <a:ln/>
        </p:spPr>
        <p:txBody>
          <a:bodyPr wrap="none" lIns="0" tIns="0" rIns="0" bIns="0" rtlCol="0" anchor="t"/>
          <a:lstStyle/>
          <a:p>
            <a:pPr algn="l" indent="0" marL="0">
              <a:lnSpc>
                <a:spcPts val="1300"/>
              </a:lnSpc>
              <a:buNone/>
            </a:pPr>
            <a:r>
              <a:rPr lang="en-US" sz="1000" dirty="0">
                <a:solidFill>
                  <a:srgbClr val="888888"/>
                </a:solidFill>
                <a:latin typeface="Yu Gothic" pitchFamily="34" charset="0"/>
                <a:ea typeface="Yu Gothic" pitchFamily="34" charset="-122"/>
                <a:cs typeface="Yu Gothic" pitchFamily="34" charset="-120"/>
              </a:rPr>
              <a:t>→</a:t>
            </a:r>
            <a:endParaRPr lang="en-US" sz="1000" dirty="0"/>
          </a:p>
        </p:txBody>
      </p:sp>
      <p:sp>
        <p:nvSpPr>
          <p:cNvPr id="69" name="t3_65"/>
          <p:cNvSpPr txBox="1"/>
          <p:nvPr/>
        </p:nvSpPr>
        <p:spPr>
          <a:xfrm>
            <a:off x="12966700" y="6832600"/>
            <a:ext cx="14224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川下｜製品</a:t>
            </a:r>
            <a:endParaRPr lang="en-US" sz="740" dirty="0"/>
          </a:p>
        </p:txBody>
      </p:sp>
      <p:sp>
        <p:nvSpPr>
          <p:cNvPr id="70" name="Shape 61"/>
          <p:cNvSpPr/>
          <p:nvPr/>
        </p:nvSpPr>
        <p:spPr>
          <a:xfrm>
            <a:off x="8166100" y="7264400"/>
            <a:ext cx="0" cy="279400"/>
          </a:xfrm>
          <a:prstGeom prst="line">
            <a:avLst/>
          </a:prstGeom>
          <a:noFill/>
          <a:ln w="25400">
            <a:solidFill>
              <a:srgbClr val="888888"/>
            </a:solidFill>
            <a:prstDash val="solid"/>
          </a:ln>
        </p:spPr>
      </p:sp>
      <p:sp>
        <p:nvSpPr>
          <p:cNvPr id="71" name="t3_66"/>
          <p:cNvSpPr txBox="1"/>
          <p:nvPr/>
        </p:nvSpPr>
        <p:spPr>
          <a:xfrm>
            <a:off x="8166100" y="7264400"/>
            <a:ext cx="1993900" cy="279400"/>
          </a:xfrm>
          <a:prstGeom prst="rect">
            <a:avLst/>
          </a:prstGeom>
          <a:noFill/>
          <a:ln/>
        </p:spPr>
        <p:txBody>
          <a:bodyPr wrap="square" lIns="0" tIns="101600" rIns="0" bIns="0" rtlCol="0" anchor="t"/>
          <a:lstStyle/>
          <a:p>
            <a:pPr algn="l" indent="0" marL="0">
              <a:lnSpc>
                <a:spcPts val="1040"/>
              </a:lnSpc>
              <a:buNone/>
            </a:pPr>
            <a:r>
              <a:rPr lang="en-US" sz="800" dirty="0">
                <a:solidFill>
                  <a:srgbClr val="222222"/>
                </a:solidFill>
                <a:latin typeface="Yu Gothic" pitchFamily="34" charset="0"/>
                <a:ea typeface="Yu Gothic" pitchFamily="34" charset="-122"/>
                <a:cs typeface="Yu Gothic" pitchFamily="34" charset="-120"/>
              </a:rPr>
              <a:t>JETTI</a:t>
            </a:r>
            <a:endParaRPr lang="en-US" sz="800" dirty="0"/>
          </a:p>
          <a:p>
            <a:pPr algn="l" indent="0" marL="0">
              <a:lnSpc>
                <a:spcPts val="1040"/>
              </a:lnSpc>
              <a:buNone/>
            </a:pPr>
            <a:r>
              <a:rPr lang="en-US" sz="680" spc="80" kern="0" dirty="0">
                <a:solidFill>
                  <a:srgbClr val="666666"/>
                </a:solidFill>
                <a:latin typeface="Yu Gothic" pitchFamily="34" charset="0"/>
                <a:ea typeface="Yu Gothic" pitchFamily="34" charset="-122"/>
                <a:cs typeface="Yu Gothic" pitchFamily="34" charset="-120"/>
              </a:rPr>
              <a:t>（川上）</a:t>
            </a:r>
            <a:endParaRPr lang="en-US" sz="800" dirty="0"/>
          </a:p>
        </p:txBody>
      </p:sp>
      <p:sp>
        <p:nvSpPr>
          <p:cNvPr id="72" name="Shape 63"/>
          <p:cNvSpPr/>
          <p:nvPr/>
        </p:nvSpPr>
        <p:spPr>
          <a:xfrm>
            <a:off x="10325100" y="7264400"/>
            <a:ext cx="0" cy="279400"/>
          </a:xfrm>
          <a:prstGeom prst="line">
            <a:avLst/>
          </a:prstGeom>
          <a:noFill/>
          <a:ln w="25400">
            <a:solidFill>
              <a:srgbClr val="888888"/>
            </a:solidFill>
            <a:prstDash val="solid"/>
          </a:ln>
        </p:spPr>
      </p:sp>
      <p:sp>
        <p:nvSpPr>
          <p:cNvPr id="73" name="t3_67"/>
          <p:cNvSpPr txBox="1"/>
          <p:nvPr/>
        </p:nvSpPr>
        <p:spPr>
          <a:xfrm>
            <a:off x="10325100" y="7264400"/>
            <a:ext cx="1993900" cy="279400"/>
          </a:xfrm>
          <a:prstGeom prst="rect">
            <a:avLst/>
          </a:prstGeom>
          <a:noFill/>
          <a:ln/>
        </p:spPr>
        <p:txBody>
          <a:bodyPr wrap="square" lIns="0" tIns="101600" rIns="0" bIns="0" rtlCol="0" anchor="t"/>
          <a:lstStyle/>
          <a:p>
            <a:pPr algn="l" indent="0" marL="0">
              <a:lnSpc>
                <a:spcPts val="1040"/>
              </a:lnSpc>
              <a:buNone/>
            </a:pPr>
            <a:r>
              <a:rPr lang="en-US" sz="800" dirty="0">
                <a:solidFill>
                  <a:srgbClr val="222222"/>
                </a:solidFill>
                <a:latin typeface="Yu Gothic" pitchFamily="34" charset="0"/>
                <a:ea typeface="Yu Gothic" pitchFamily="34" charset="-122"/>
                <a:cs typeface="Yu Gothic" pitchFamily="34" charset="-120"/>
              </a:rPr>
              <a:t>CiDRA</a:t>
            </a:r>
            <a:endParaRPr lang="en-US" sz="800" dirty="0"/>
          </a:p>
          <a:p>
            <a:pPr algn="l" indent="0" marL="0">
              <a:lnSpc>
                <a:spcPts val="1040"/>
              </a:lnSpc>
              <a:buNone/>
            </a:pPr>
            <a:r>
              <a:rPr lang="en-US" sz="680" spc="80" kern="0" dirty="0">
                <a:solidFill>
                  <a:srgbClr val="666666"/>
                </a:solidFill>
                <a:latin typeface="Yu Gothic" pitchFamily="34" charset="0"/>
                <a:ea typeface="Yu Gothic" pitchFamily="34" charset="-122"/>
                <a:cs typeface="Yu Gothic" pitchFamily="34" charset="-120"/>
              </a:rPr>
              <a:t>（川上）</a:t>
            </a:r>
            <a:endParaRPr lang="en-US" sz="800" dirty="0"/>
          </a:p>
        </p:txBody>
      </p:sp>
      <p:sp>
        <p:nvSpPr>
          <p:cNvPr id="74" name="Shape 65"/>
          <p:cNvSpPr/>
          <p:nvPr/>
        </p:nvSpPr>
        <p:spPr>
          <a:xfrm>
            <a:off x="12484100" y="7264400"/>
            <a:ext cx="0" cy="279400"/>
          </a:xfrm>
          <a:prstGeom prst="line">
            <a:avLst/>
          </a:prstGeom>
          <a:noFill/>
          <a:ln w="25400">
            <a:solidFill>
              <a:srgbClr val="888888"/>
            </a:solidFill>
            <a:prstDash val="solid"/>
          </a:ln>
        </p:spPr>
      </p:sp>
      <p:sp>
        <p:nvSpPr>
          <p:cNvPr id="75" name="t3_68"/>
          <p:cNvSpPr txBox="1"/>
          <p:nvPr/>
        </p:nvSpPr>
        <p:spPr>
          <a:xfrm>
            <a:off x="12484100" y="7264400"/>
            <a:ext cx="1993900" cy="279400"/>
          </a:xfrm>
          <a:prstGeom prst="rect">
            <a:avLst/>
          </a:prstGeom>
          <a:noFill/>
          <a:ln/>
        </p:spPr>
        <p:txBody>
          <a:bodyPr wrap="square" lIns="0" tIns="101600" rIns="0" bIns="0" rtlCol="0" anchor="t"/>
          <a:lstStyle/>
          <a:p>
            <a:pPr algn="l" indent="0" marL="0">
              <a:lnSpc>
                <a:spcPts val="1040"/>
              </a:lnSpc>
              <a:buNone/>
            </a:pPr>
            <a:r>
              <a:rPr lang="en-US" sz="800" dirty="0">
                <a:solidFill>
                  <a:srgbClr val="222222"/>
                </a:solidFill>
                <a:latin typeface="Yu Gothic" pitchFamily="34" charset="0"/>
                <a:ea typeface="Yu Gothic" pitchFamily="34" charset="-122"/>
                <a:cs typeface="Yu Gothic" pitchFamily="34" charset="-120"/>
              </a:rPr>
              <a:t>Triland Metals</a:t>
            </a:r>
            <a:endParaRPr lang="en-US" sz="800" dirty="0"/>
          </a:p>
          <a:p>
            <a:pPr algn="l" indent="0" marL="0">
              <a:lnSpc>
                <a:spcPts val="1040"/>
              </a:lnSpc>
              <a:buNone/>
            </a:pPr>
            <a:r>
              <a:rPr lang="en-US" sz="680" spc="80" kern="0" dirty="0">
                <a:solidFill>
                  <a:srgbClr val="666666"/>
                </a:solidFill>
                <a:latin typeface="Yu Gothic" pitchFamily="34" charset="0"/>
                <a:ea typeface="Yu Gothic" pitchFamily="34" charset="-122"/>
                <a:cs typeface="Yu Gothic" pitchFamily="34" charset="-120"/>
              </a:rPr>
              <a:t>（流通）</a:t>
            </a:r>
            <a:endParaRPr lang="en-US" sz="800" dirty="0"/>
          </a:p>
        </p:txBody>
      </p:sp>
      <p:sp>
        <p:nvSpPr>
          <p:cNvPr id="76" name="t3_69"/>
          <p:cNvSpPr txBox="1"/>
          <p:nvPr/>
        </p:nvSpPr>
        <p:spPr>
          <a:xfrm>
            <a:off x="8166100" y="7772400"/>
            <a:ext cx="6603492"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77" name="t3_70"/>
          <p:cNvSpPr txBox="1"/>
          <p:nvPr/>
        </p:nvSpPr>
        <p:spPr>
          <a:xfrm>
            <a:off x="8166100" y="8131770"/>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110字／英語 約61語</a:t>
            </a:r>
            <a:endParaRPr lang="en-US" sz="580" dirty="0"/>
          </a:p>
        </p:txBody>
      </p:sp>
      <p:sp>
        <p:nvSpPr>
          <p:cNvPr id="78" name="t3_71"/>
          <p:cNvSpPr txBox="1"/>
          <p:nvPr/>
        </p:nvSpPr>
        <p:spPr>
          <a:xfrm>
            <a:off x="8166100" y="8509000"/>
            <a:ext cx="6337300" cy="1143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図：銅バリューチェーンと当社の投資先（参照：金属資源G_P41、統合報告書P19）</a:t>
            </a:r>
            <a:endParaRPr lang="en-US" sz="700" dirty="0"/>
          </a:p>
        </p:txBody>
      </p:sp>
      <p:sp>
        <p:nvSpPr>
          <p:cNvPr id="79" name="t3_72"/>
          <p:cNvSpPr txBox="1"/>
          <p:nvPr/>
        </p:nvSpPr>
        <p:spPr>
          <a:xfrm>
            <a:off x="8166100" y="9728200"/>
            <a:ext cx="6603492" cy="236141"/>
          </a:xfrm>
          <a:prstGeom prst="rect">
            <a:avLst/>
          </a:prstGeom>
          <a:noFill/>
          <a:ln/>
        </p:spPr>
        <p:txBody>
          <a:bodyPr wrap="squar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※「CVC」の定義（コーポレート・ベンチャー・キャピタル／銅バリューチェーン）と、各投資先のバリューチェーン上の位置を要確認。新技術の把握が既存事業の高度化・将来価値に還元される点を訴求</a:t>
            </a:r>
            <a:endParaRPr lang="en-US" sz="620" dirty="0"/>
          </a:p>
        </p:txBody>
      </p:sp>
      <p:sp>
        <p:nvSpPr>
          <p:cNvPr id="80" name="t3_73"/>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08</a:t>
            </a:r>
            <a:endParaRPr lang="en-US" sz="660" dirty="0"/>
          </a:p>
        </p:txBody>
      </p:sp>
      <p:sp>
        <p:nvSpPr>
          <p:cNvPr id="81" name="t3_74"/>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09</a:t>
            </a:r>
            <a:endParaRPr lang="en-US" sz="660" dirty="0"/>
          </a:p>
        </p:txBody>
      </p:sp>
      <p:sp>
        <p:nvSpPr>
          <p:cNvPr id="82" name="t3_75"/>
          <p:cNvSpPr txBox="1"/>
          <p:nvPr/>
        </p:nvSpPr>
        <p:spPr>
          <a:xfrm>
            <a:off x="3810000" y="10261600"/>
            <a:ext cx="4433292" cy="152400"/>
          </a:xfrm>
          <a:prstGeom prst="rect">
            <a:avLst/>
          </a:prstGeom>
          <a:solidFill>
            <a:srgbClr val="FFFFFF"/>
          </a:solidFill>
          <a:ln/>
        </p:spPr>
        <p:txBody>
          <a:bodyPr wrap="none" lIns="25400" tIns="38100" rIns="38100" bIns="25400" rtlCol="0" anchor="t"/>
          <a:lstStyle/>
          <a:p>
            <a:pPr algn="l" indent="0" marL="0">
              <a:lnSpc>
                <a:spcPts val="858"/>
              </a:lnSpc>
              <a:buNone/>
            </a:pPr>
            <a:r>
              <a:rPr lang="en-US" sz="660" spc="50" kern="0" dirty="0">
                <a:solidFill>
                  <a:srgbClr val="999999"/>
                </a:solidFill>
                <a:latin typeface="Yu Gothic" pitchFamily="34" charset="0"/>
                <a:ea typeface="Yu Gothic" pitchFamily="34" charset="-122"/>
                <a:cs typeface="Yu Gothic" pitchFamily="34" charset="-120"/>
              </a:rPr>
              <a:t>台割 改善案（構成確認用）— 青ラベル＝PwC台割ver.0からの改善点／本文字数は日本語、英語語数は目安</a:t>
            </a:r>
            <a:endParaRPr lang="en-US" sz="660" dirty="0"/>
          </a:p>
        </p:txBody>
      </p:sp>
      <p:sp>
        <p:nvSpPr>
          <p:cNvPr id="83" name="Shape 74"/>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4_0"/>
          <p:cNvSpPr txBox="1"/>
          <p:nvPr/>
        </p:nvSpPr>
        <p:spPr>
          <a:xfrm>
            <a:off x="609600" y="431800"/>
            <a:ext cx="3096355"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第3章　PROOF｜選ばれ続ける理由　—　実績・関係・評価</a:t>
            </a:r>
            <a:endParaRPr lang="en-US" sz="740" dirty="0"/>
          </a:p>
        </p:txBody>
      </p:sp>
      <p:sp>
        <p:nvSpPr>
          <p:cNvPr id="4" name="t4_1"/>
          <p:cNvSpPr txBox="1"/>
          <p:nvPr/>
        </p:nvSpPr>
        <p:spPr>
          <a:xfrm>
            <a:off x="60706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読み手の心理：安心</a:t>
            </a:r>
            <a:endParaRPr lang="en-US" sz="660" dirty="0"/>
          </a:p>
        </p:txBody>
      </p:sp>
      <p:sp>
        <p:nvSpPr>
          <p:cNvPr id="5" name="t4_2"/>
          <p:cNvSpPr txBox="1"/>
          <p:nvPr/>
        </p:nvSpPr>
        <p:spPr>
          <a:xfrm>
            <a:off x="6096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Partner of Choice</a:t>
            </a:r>
            <a:endParaRPr lang="en-US" sz="1800" dirty="0"/>
          </a:p>
        </p:txBody>
      </p:sp>
      <p:sp>
        <p:nvSpPr>
          <p:cNvPr id="6" name="t4_3"/>
          <p:cNvSpPr txBox="1"/>
          <p:nvPr/>
        </p:nvSpPr>
        <p:spPr>
          <a:xfrm>
            <a:off x="6096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資源業界に不可欠な存在として、選ばれ続ける</a:t>
            </a:r>
            <a:endParaRPr lang="en-US" sz="1000" dirty="0"/>
          </a:p>
        </p:txBody>
      </p:sp>
      <p:sp>
        <p:nvSpPr>
          <p:cNvPr id="7" name="t4_4"/>
          <p:cNvSpPr txBox="1"/>
          <p:nvPr/>
        </p:nvSpPr>
        <p:spPr>
          <a:xfrm>
            <a:off x="2641600" y="838200"/>
            <a:ext cx="775295" cy="139700"/>
          </a:xfrm>
          <a:prstGeom prst="rect">
            <a:avLst/>
          </a:prstGeom>
          <a:solidFill>
            <a:srgbClr val="2A6FB0"/>
          </a:solidFill>
          <a:ln/>
        </p:spPr>
        <p:txBody>
          <a:bodyPr wrap="none" lIns="25400" tIns="38100" rIns="38100" bIns="25400" rtlCol="0" anchor="t"/>
          <a:lstStyle/>
          <a:p>
            <a:pPr algn="l" indent="0" marL="0">
              <a:lnSpc>
                <a:spcPts val="806"/>
              </a:lnSpc>
              <a:buNone/>
            </a:pPr>
            <a:r>
              <a:rPr lang="en-US" sz="620" spc="30" kern="0" dirty="0">
                <a:solidFill>
                  <a:srgbClr val="FFFFFF"/>
                </a:solidFill>
                <a:latin typeface="Yu Gothic" pitchFamily="34" charset="0"/>
                <a:ea typeface="Yu Gothic" pitchFamily="34" charset="-122"/>
                <a:cs typeface="Yu Gothic" pitchFamily="34" charset="-120"/>
              </a:rPr>
              <a:t>改善③ 1ページ化</a:t>
            </a:r>
            <a:endParaRPr lang="en-US" sz="620" dirty="0"/>
          </a:p>
        </p:txBody>
      </p:sp>
      <p:sp>
        <p:nvSpPr>
          <p:cNvPr id="8" name="t4_5"/>
          <p:cNvSpPr txBox="1"/>
          <p:nvPr/>
        </p:nvSpPr>
        <p:spPr>
          <a:xfrm>
            <a:off x="609600" y="1371600"/>
            <a:ext cx="3182620" cy="692944"/>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9" name="t4_6"/>
          <p:cNvSpPr txBox="1"/>
          <p:nvPr/>
        </p:nvSpPr>
        <p:spPr>
          <a:xfrm>
            <a:off x="609600" y="2077641"/>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120字／英語 約66語</a:t>
            </a:r>
            <a:endParaRPr lang="en-US" sz="580" dirty="0"/>
          </a:p>
        </p:txBody>
      </p:sp>
      <p:pic>
        <p:nvPicPr>
          <p:cNvPr id="10" name="Image 0" descr="preencoded.png">    </p:cNvPr>
          <p:cNvPicPr>
            <a:picLocks noChangeAspect="1"/>
          </p:cNvPicPr>
          <p:nvPr/>
        </p:nvPicPr>
        <p:blipFill>
          <a:blip r:embed="rId1"/>
          <a:stretch>
            <a:fillRect/>
          </a:stretch>
        </p:blipFill>
        <p:spPr>
          <a:xfrm>
            <a:off x="3898900" y="1371600"/>
            <a:ext cx="3048000" cy="1905000"/>
          </a:xfrm>
          <a:prstGeom prst="rect">
            <a:avLst/>
          </a:prstGeom>
        </p:spPr>
      </p:pic>
      <p:sp>
        <p:nvSpPr>
          <p:cNvPr id="11" name="t4_8"/>
          <p:cNvSpPr txBox="1"/>
          <p:nvPr/>
        </p:nvSpPr>
        <p:spPr>
          <a:xfrm>
            <a:off x="3898900" y="3314700"/>
            <a:ext cx="318262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写真：現場の人々（流用：三菱商事サイト）</a:t>
            </a:r>
            <a:endParaRPr lang="en-US" sz="680" dirty="0"/>
          </a:p>
        </p:txBody>
      </p:sp>
      <p:sp>
        <p:nvSpPr>
          <p:cNvPr id="12" name="t4_9"/>
          <p:cNvSpPr txBox="1"/>
          <p:nvPr/>
        </p:nvSpPr>
        <p:spPr>
          <a:xfrm>
            <a:off x="609600" y="36830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01</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資源メジャーとの</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企業文化的親和性</a:t>
            </a:r>
            <a:endParaRPr lang="en-US" sz="950" dirty="0"/>
          </a:p>
        </p:txBody>
      </p:sp>
      <p:sp>
        <p:nvSpPr>
          <p:cNvPr id="13" name="t4_10"/>
          <p:cNvSpPr txBox="1"/>
          <p:nvPr/>
        </p:nvSpPr>
        <p:spPr>
          <a:xfrm>
            <a:off x="609600" y="40894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14" name="t4_11"/>
          <p:cNvSpPr txBox="1"/>
          <p:nvPr/>
        </p:nvSpPr>
        <p:spPr>
          <a:xfrm>
            <a:off x="609600" y="43783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15" name="t4_12"/>
          <p:cNvSpPr txBox="1"/>
          <p:nvPr/>
        </p:nvSpPr>
        <p:spPr>
          <a:xfrm>
            <a:off x="3860800" y="36830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02</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資源投資経験に裏打ちされた</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JV経営力</a:t>
            </a:r>
            <a:endParaRPr lang="en-US" sz="950" dirty="0"/>
          </a:p>
        </p:txBody>
      </p:sp>
      <p:sp>
        <p:nvSpPr>
          <p:cNvPr id="16" name="t4_13"/>
          <p:cNvSpPr txBox="1"/>
          <p:nvPr/>
        </p:nvSpPr>
        <p:spPr>
          <a:xfrm>
            <a:off x="3860800" y="40894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17" name="t4_14"/>
          <p:cNvSpPr txBox="1"/>
          <p:nvPr/>
        </p:nvSpPr>
        <p:spPr>
          <a:xfrm>
            <a:off x="3860800" y="43783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18" name="t4_15"/>
          <p:cNvSpPr txBox="1"/>
          <p:nvPr/>
        </p:nvSpPr>
        <p:spPr>
          <a:xfrm>
            <a:off x="609600" y="48514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03</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事業ポートフォリオを活かした</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健全な財務基盤</a:t>
            </a:r>
            <a:endParaRPr lang="en-US" sz="950" dirty="0"/>
          </a:p>
        </p:txBody>
      </p:sp>
      <p:sp>
        <p:nvSpPr>
          <p:cNvPr id="19" name="t4_16"/>
          <p:cNvSpPr txBox="1"/>
          <p:nvPr/>
        </p:nvSpPr>
        <p:spPr>
          <a:xfrm>
            <a:off x="609600" y="52578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20" name="t4_17"/>
          <p:cNvSpPr txBox="1"/>
          <p:nvPr/>
        </p:nvSpPr>
        <p:spPr>
          <a:xfrm>
            <a:off x="609600" y="55467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21" name="t4_18"/>
          <p:cNvSpPr txBox="1"/>
          <p:nvPr/>
        </p:nvSpPr>
        <p:spPr>
          <a:xfrm>
            <a:off x="3860800" y="4851400"/>
            <a:ext cx="3182620" cy="349647"/>
          </a:xfrm>
          <a:prstGeom prst="rect">
            <a:avLst/>
          </a:prstGeom>
          <a:noFill/>
          <a:ln/>
        </p:spPr>
        <p:txBody>
          <a:bodyPr wrap="square" lIns="0" tIns="0" rIns="0" bIns="0" rtlCol="0" anchor="t"/>
          <a:lstStyle/>
          <a:p>
            <a:pPr algn="l" indent="0" marL="0">
              <a:lnSpc>
                <a:spcPts val="1378"/>
              </a:lnSpc>
              <a:buNone/>
            </a:pPr>
            <a:r>
              <a:rPr lang="en-US" sz="950" dirty="0">
                <a:solidFill>
                  <a:srgbClr val="888888"/>
                </a:solidFill>
                <a:latin typeface="Yu Gothic" pitchFamily="34" charset="0"/>
                <a:ea typeface="Yu Gothic" pitchFamily="34" charset="-122"/>
                <a:cs typeface="Yu Gothic" pitchFamily="34" charset="-120"/>
              </a:rPr>
              <a:t>04</a:t>
            </a:r>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　マクロ環境とバリューチェーンに</a:t>
            </a:r>
            <a:endParaRPr lang="en-US" sz="950" dirty="0"/>
          </a:p>
          <a:p>
            <a:pPr algn="l" indent="0" marL="0">
              <a:lnSpc>
                <a:spcPts val="1378"/>
              </a:lnSpc>
              <a:buNone/>
            </a:pPr>
            <a:r>
              <a:rPr lang="en-US" sz="950" dirty="0">
                <a:solidFill>
                  <a:srgbClr val="222222"/>
                </a:solidFill>
                <a:latin typeface="Yu Gothic" pitchFamily="34" charset="0"/>
                <a:ea typeface="Yu Gothic" pitchFamily="34" charset="-122"/>
                <a:cs typeface="Yu Gothic" pitchFamily="34" charset="-120"/>
              </a:rPr>
              <a:t>対する深い知見</a:t>
            </a:r>
            <a:endParaRPr lang="en-US" sz="950" dirty="0"/>
          </a:p>
        </p:txBody>
      </p:sp>
      <p:sp>
        <p:nvSpPr>
          <p:cNvPr id="22" name="t4_19"/>
          <p:cNvSpPr txBox="1"/>
          <p:nvPr/>
        </p:nvSpPr>
        <p:spPr>
          <a:xfrm>
            <a:off x="3860800" y="5257800"/>
            <a:ext cx="318262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23" name="t4_20"/>
          <p:cNvSpPr txBox="1"/>
          <p:nvPr/>
        </p:nvSpPr>
        <p:spPr>
          <a:xfrm>
            <a:off x="3860800" y="5546725"/>
            <a:ext cx="938292"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60字／英語 約33語</a:t>
            </a:r>
            <a:endParaRPr lang="en-US" sz="580" dirty="0"/>
          </a:p>
        </p:txBody>
      </p:sp>
      <p:sp>
        <p:nvSpPr>
          <p:cNvPr id="24" name="Shape 20"/>
          <p:cNvSpPr/>
          <p:nvPr/>
        </p:nvSpPr>
        <p:spPr>
          <a:xfrm>
            <a:off x="609600" y="6045200"/>
            <a:ext cx="6337300" cy="0"/>
          </a:xfrm>
          <a:prstGeom prst="line">
            <a:avLst/>
          </a:prstGeom>
          <a:noFill/>
          <a:ln w="12700">
            <a:solidFill>
              <a:srgbClr val="CFD2D5"/>
            </a:solidFill>
            <a:prstDash val="solid"/>
          </a:ln>
        </p:spPr>
      </p:sp>
      <p:sp>
        <p:nvSpPr>
          <p:cNvPr id="25" name="t4_22"/>
          <p:cNvSpPr txBox="1"/>
          <p:nvPr/>
        </p:nvSpPr>
        <p:spPr>
          <a:xfrm>
            <a:off x="609600" y="6172200"/>
            <a:ext cx="1014444"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444444"/>
                </a:solidFill>
                <a:latin typeface="Yu Gothic" pitchFamily="34" charset="0"/>
                <a:ea typeface="Yu Gothic" pitchFamily="34" charset="-122"/>
                <a:cs typeface="Yu Gothic" pitchFamily="34" charset="-120"/>
              </a:rPr>
              <a:t>業界最大手とのJV実績</a:t>
            </a:r>
            <a:endParaRPr lang="en-US" sz="680" dirty="0"/>
          </a:p>
        </p:txBody>
      </p:sp>
      <p:sp>
        <p:nvSpPr>
          <p:cNvPr id="26" name="t4_23"/>
          <p:cNvSpPr txBox="1"/>
          <p:nvPr/>
        </p:nvSpPr>
        <p:spPr>
          <a:xfrm>
            <a:off x="609600" y="6350000"/>
            <a:ext cx="19812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BHP</a:t>
            </a:r>
            <a:endParaRPr lang="en-US" sz="740" dirty="0"/>
          </a:p>
        </p:txBody>
      </p:sp>
      <p:sp>
        <p:nvSpPr>
          <p:cNvPr id="27" name="t4_24"/>
          <p:cNvSpPr txBox="1"/>
          <p:nvPr/>
        </p:nvSpPr>
        <p:spPr>
          <a:xfrm>
            <a:off x="2743200" y="6350000"/>
            <a:ext cx="19812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Rio Tinto</a:t>
            </a:r>
            <a:endParaRPr lang="en-US" sz="740" dirty="0"/>
          </a:p>
        </p:txBody>
      </p:sp>
      <p:sp>
        <p:nvSpPr>
          <p:cNvPr id="28" name="t4_25"/>
          <p:cNvSpPr txBox="1"/>
          <p:nvPr/>
        </p:nvSpPr>
        <p:spPr>
          <a:xfrm>
            <a:off x="4876800" y="6350000"/>
            <a:ext cx="1981200" cy="279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Anglo American</a:t>
            </a:r>
            <a:endParaRPr lang="en-US" sz="740" dirty="0"/>
          </a:p>
        </p:txBody>
      </p:sp>
      <p:sp>
        <p:nvSpPr>
          <p:cNvPr id="29" name="t4_26"/>
          <p:cNvSpPr txBox="1"/>
          <p:nvPr/>
        </p:nvSpPr>
        <p:spPr>
          <a:xfrm>
            <a:off x="609600" y="6781800"/>
            <a:ext cx="201866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444444"/>
                </a:solidFill>
                <a:latin typeface="Yu Gothic" pitchFamily="34" charset="0"/>
                <a:ea typeface="Yu Gothic" pitchFamily="34" charset="-122"/>
                <a:cs typeface="Yu Gothic" pitchFamily="34" charset="-120"/>
              </a:rPr>
              <a:t>単なる共同出資者に留まらない、JVへの貢献</a:t>
            </a:r>
            <a:endParaRPr lang="en-US" sz="680" dirty="0"/>
          </a:p>
        </p:txBody>
      </p:sp>
      <p:sp>
        <p:nvSpPr>
          <p:cNvPr id="30" name="t4_27"/>
          <p:cNvSpPr txBox="1"/>
          <p:nvPr/>
        </p:nvSpPr>
        <p:spPr>
          <a:xfrm>
            <a:off x="609600" y="6959600"/>
            <a:ext cx="19812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人材派遣</a:t>
            </a:r>
            <a:endParaRPr lang="en-US" sz="740" dirty="0"/>
          </a:p>
        </p:txBody>
      </p:sp>
      <p:sp>
        <p:nvSpPr>
          <p:cNvPr id="31" name="t4_28"/>
          <p:cNvSpPr txBox="1"/>
          <p:nvPr/>
        </p:nvSpPr>
        <p:spPr>
          <a:xfrm>
            <a:off x="609600" y="74168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32" name="t4_29"/>
          <p:cNvSpPr txBox="1"/>
          <p:nvPr/>
        </p:nvSpPr>
        <p:spPr>
          <a:xfrm>
            <a:off x="2743200" y="6959600"/>
            <a:ext cx="19812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ガバナンス参画</a:t>
            </a:r>
            <a:endParaRPr lang="en-US" sz="740" dirty="0"/>
          </a:p>
        </p:txBody>
      </p:sp>
      <p:sp>
        <p:nvSpPr>
          <p:cNvPr id="33" name="t4_30"/>
          <p:cNvSpPr txBox="1"/>
          <p:nvPr/>
        </p:nvSpPr>
        <p:spPr>
          <a:xfrm>
            <a:off x="2743200" y="74168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34" name="t4_31"/>
          <p:cNvSpPr txBox="1"/>
          <p:nvPr/>
        </p:nvSpPr>
        <p:spPr>
          <a:xfrm>
            <a:off x="4876800" y="6959600"/>
            <a:ext cx="1981200" cy="3810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三菱の総合力による</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事業価値の最大化</a:t>
            </a:r>
            <a:endParaRPr lang="en-US" sz="740" dirty="0"/>
          </a:p>
        </p:txBody>
      </p:sp>
      <p:sp>
        <p:nvSpPr>
          <p:cNvPr id="35" name="t4_32"/>
          <p:cNvSpPr txBox="1"/>
          <p:nvPr/>
        </p:nvSpPr>
        <p:spPr>
          <a:xfrm>
            <a:off x="4876800" y="74168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36" name="Shape 32"/>
          <p:cNvSpPr/>
          <p:nvPr/>
        </p:nvSpPr>
        <p:spPr>
          <a:xfrm>
            <a:off x="609600" y="7975600"/>
            <a:ext cx="6337300" cy="0"/>
          </a:xfrm>
          <a:prstGeom prst="line">
            <a:avLst/>
          </a:prstGeom>
          <a:noFill/>
          <a:ln w="12700">
            <a:solidFill>
              <a:srgbClr val="CFD2D5"/>
            </a:solidFill>
            <a:prstDash val="solid"/>
          </a:ln>
        </p:spPr>
      </p:sp>
      <p:sp>
        <p:nvSpPr>
          <p:cNvPr id="37" name="t4_34"/>
          <p:cNvSpPr txBox="1"/>
          <p:nvPr/>
        </p:nvSpPr>
        <p:spPr>
          <a:xfrm>
            <a:off x="609600" y="8102600"/>
            <a:ext cx="1317196"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444444"/>
                </a:solidFill>
                <a:latin typeface="Yu Gothic" pitchFamily="34" charset="0"/>
                <a:ea typeface="Yu Gothic" pitchFamily="34" charset="-122"/>
                <a:cs typeface="Yu Gothic" pitchFamily="34" charset="-120"/>
              </a:rPr>
              <a:t>パートナーに評価される理由</a:t>
            </a:r>
            <a:endParaRPr lang="en-US" sz="680" dirty="0"/>
          </a:p>
        </p:txBody>
      </p:sp>
      <p:sp>
        <p:nvSpPr>
          <p:cNvPr id="38" name="t4_35"/>
          <p:cNvSpPr txBox="1"/>
          <p:nvPr/>
        </p:nvSpPr>
        <p:spPr>
          <a:xfrm>
            <a:off x="609600" y="8305800"/>
            <a:ext cx="207314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中長期的な視座</a:t>
            </a:r>
            <a:endParaRPr lang="en-US" sz="900" dirty="0"/>
          </a:p>
        </p:txBody>
      </p:sp>
      <p:sp>
        <p:nvSpPr>
          <p:cNvPr id="39" name="t4_36"/>
          <p:cNvSpPr txBox="1"/>
          <p:nvPr/>
        </p:nvSpPr>
        <p:spPr>
          <a:xfrm>
            <a:off x="609600" y="8509000"/>
            <a:ext cx="2073148" cy="401836"/>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a:t>
            </a:r>
            <a:endParaRPr lang="en-US" sz="660" dirty="0"/>
          </a:p>
        </p:txBody>
      </p:sp>
      <p:sp>
        <p:nvSpPr>
          <p:cNvPr id="40" name="t4_37"/>
          <p:cNvSpPr txBox="1"/>
          <p:nvPr/>
        </p:nvSpPr>
        <p:spPr>
          <a:xfrm>
            <a:off x="2743200" y="8305800"/>
            <a:ext cx="207314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リスクシェアリング</a:t>
            </a:r>
            <a:endParaRPr lang="en-US" sz="900" dirty="0"/>
          </a:p>
        </p:txBody>
      </p:sp>
      <p:sp>
        <p:nvSpPr>
          <p:cNvPr id="41" name="t4_38"/>
          <p:cNvSpPr txBox="1"/>
          <p:nvPr/>
        </p:nvSpPr>
        <p:spPr>
          <a:xfrm>
            <a:off x="2743200" y="8509000"/>
            <a:ext cx="2073148" cy="401836"/>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a:t>
            </a:r>
            <a:endParaRPr lang="en-US" sz="660" dirty="0"/>
          </a:p>
        </p:txBody>
      </p:sp>
      <p:sp>
        <p:nvSpPr>
          <p:cNvPr id="42" name="t4_39"/>
          <p:cNvSpPr txBox="1"/>
          <p:nvPr/>
        </p:nvSpPr>
        <p:spPr>
          <a:xfrm>
            <a:off x="4876800" y="8305800"/>
            <a:ext cx="2073148"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総合力</a:t>
            </a:r>
            <a:endParaRPr lang="en-US" sz="900" dirty="0"/>
          </a:p>
        </p:txBody>
      </p:sp>
      <p:sp>
        <p:nvSpPr>
          <p:cNvPr id="43" name="t4_40"/>
          <p:cNvSpPr txBox="1"/>
          <p:nvPr/>
        </p:nvSpPr>
        <p:spPr>
          <a:xfrm>
            <a:off x="4876800" y="8509000"/>
            <a:ext cx="2073148" cy="401836"/>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a:t>
            </a:r>
            <a:endParaRPr lang="en-US" sz="660" dirty="0"/>
          </a:p>
        </p:txBody>
      </p:sp>
      <p:sp>
        <p:nvSpPr>
          <p:cNvPr id="44" name="t4_41"/>
          <p:cNvSpPr txBox="1"/>
          <p:nvPr/>
        </p:nvSpPr>
        <p:spPr>
          <a:xfrm>
            <a:off x="609600" y="9245600"/>
            <a:ext cx="6603492" cy="236141"/>
          </a:xfrm>
          <a:prstGeom prst="rect">
            <a:avLst/>
          </a:prstGeom>
          <a:noFill/>
          <a:ln/>
        </p:spPr>
        <p:txBody>
          <a:bodyPr wrap="squar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※他社ロゴは使用しない（社名はテキスト表記）。財務貢献だけを強調すると「資金提供に留まる」と受け取られるため、JV経営への関与と総合力を併せて示す（参照：金属資源G資料 P38の2ページ後）</a:t>
            </a:r>
            <a:endParaRPr lang="en-US" sz="620" dirty="0"/>
          </a:p>
        </p:txBody>
      </p:sp>
      <p:sp>
        <p:nvSpPr>
          <p:cNvPr id="45" name="t4_42"/>
          <p:cNvSpPr txBox="1"/>
          <p:nvPr/>
        </p:nvSpPr>
        <p:spPr>
          <a:xfrm>
            <a:off x="8166100" y="431800"/>
            <a:ext cx="3231531"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第4章　VISION｜何を実現するか　—　社会課題への取り組み</a:t>
            </a:r>
            <a:endParaRPr lang="en-US" sz="740" dirty="0"/>
          </a:p>
        </p:txBody>
      </p:sp>
      <p:sp>
        <p:nvSpPr>
          <p:cNvPr id="46" name="t4_43"/>
          <p:cNvSpPr txBox="1"/>
          <p:nvPr/>
        </p:nvSpPr>
        <p:spPr>
          <a:xfrm>
            <a:off x="13627100" y="406400"/>
            <a:ext cx="1014016" cy="177800"/>
          </a:xfrm>
          <a:prstGeom prst="roundRect">
            <a:avLst>
              <a:gd name="adj" fmla="val 257143"/>
            </a:avLst>
          </a:prstGeom>
          <a:noFill/>
          <a:ln w="12700">
            <a:solidFill>
              <a:srgbClr val="AAAAAA"/>
            </a:solidFill>
            <a:prstDash val="solid"/>
          </a:ln>
        </p:spPr>
        <p:txBody>
          <a:bodyPr wrap="square" lIns="25400" tIns="38100" rIns="38100" bIns="25400" rtlCol="0" anchor="t"/>
          <a:lstStyle/>
          <a:p>
            <a:pPr algn="l" indent="0" marL="0">
              <a:lnSpc>
                <a:spcPts val="858"/>
              </a:lnSpc>
              <a:buNone/>
            </a:pPr>
            <a:r>
              <a:rPr lang="en-US" sz="660" spc="50" kern="0" dirty="0">
                <a:solidFill>
                  <a:srgbClr val="777777"/>
                </a:solidFill>
                <a:latin typeface="Yu Gothic" pitchFamily="34" charset="0"/>
                <a:ea typeface="Yu Gothic" pitchFamily="34" charset="-122"/>
                <a:cs typeface="Yu Gothic" pitchFamily="34" charset="-120"/>
              </a:rPr>
              <a:t>読み手の心理：期待</a:t>
            </a:r>
            <a:endParaRPr lang="en-US" sz="660" dirty="0"/>
          </a:p>
        </p:txBody>
      </p:sp>
      <p:sp>
        <p:nvSpPr>
          <p:cNvPr id="47" name="t4_44"/>
          <p:cNvSpPr txBox="1"/>
          <p:nvPr/>
        </p:nvSpPr>
        <p:spPr>
          <a:xfrm>
            <a:off x="8166100" y="762000"/>
            <a:ext cx="6352540" cy="320040"/>
          </a:xfrm>
          <a:prstGeom prst="rect">
            <a:avLst/>
          </a:prstGeom>
          <a:noFill/>
          <a:ln/>
        </p:spPr>
        <p:txBody>
          <a:bodyPr wrap="non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外部環境と社会課題</a:t>
            </a:r>
            <a:endParaRPr lang="en-US" sz="1800" dirty="0"/>
          </a:p>
        </p:txBody>
      </p:sp>
      <p:sp>
        <p:nvSpPr>
          <p:cNvPr id="48" name="t4_45"/>
          <p:cNvSpPr txBox="1"/>
          <p:nvPr/>
        </p:nvSpPr>
        <p:spPr>
          <a:xfrm>
            <a:off x="8166100" y="1117600"/>
            <a:ext cx="6352540" cy="196850"/>
          </a:xfrm>
          <a:prstGeom prst="rect">
            <a:avLst/>
          </a:prstGeom>
          <a:noFill/>
          <a:ln/>
        </p:spPr>
        <p:txBody>
          <a:bodyPr wrap="none" lIns="0" tIns="0" rIns="0" bIns="0" rtlCol="0" anchor="t"/>
          <a:lstStyle/>
          <a:p>
            <a:pPr algn="l" indent="0" marL="0">
              <a:lnSpc>
                <a:spcPts val="1550"/>
              </a:lnSpc>
              <a:buNone/>
            </a:pPr>
            <a:r>
              <a:rPr lang="en-US" sz="1000" spc="30" kern="0" dirty="0">
                <a:solidFill>
                  <a:srgbClr val="444444"/>
                </a:solidFill>
                <a:latin typeface="Yu Gothic" pitchFamily="34" charset="0"/>
                <a:ea typeface="Yu Gothic" pitchFamily="34" charset="-122"/>
                <a:cs typeface="Yu Gothic" pitchFamily="34" charset="-120"/>
              </a:rPr>
              <a:t>社会課題に、安定供給と効率的な供給の両面で応える</a:t>
            </a:r>
            <a:endParaRPr lang="en-US" sz="1000" dirty="0"/>
          </a:p>
        </p:txBody>
      </p:sp>
      <p:sp>
        <p:nvSpPr>
          <p:cNvPr id="49" name="t4_46"/>
          <p:cNvSpPr txBox="1"/>
          <p:nvPr/>
        </p:nvSpPr>
        <p:spPr>
          <a:xfrm>
            <a:off x="8166100" y="1397000"/>
            <a:ext cx="1981200" cy="406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人口増・電化による</a:t>
            </a:r>
            <a:endParaRPr lang="en-US" sz="740" dirty="0"/>
          </a:p>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需要の拡大</a:t>
            </a:r>
            <a:endParaRPr lang="en-US" sz="740" dirty="0"/>
          </a:p>
        </p:txBody>
      </p:sp>
      <p:sp>
        <p:nvSpPr>
          <p:cNvPr id="50" name="t4_47"/>
          <p:cNvSpPr txBox="1"/>
          <p:nvPr/>
        </p:nvSpPr>
        <p:spPr>
          <a:xfrm>
            <a:off x="8166100" y="18796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51" name="t4_48"/>
          <p:cNvSpPr txBox="1"/>
          <p:nvPr/>
        </p:nvSpPr>
        <p:spPr>
          <a:xfrm>
            <a:off x="10299700" y="1397000"/>
            <a:ext cx="1981200" cy="406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供給制約</a:t>
            </a:r>
            <a:endParaRPr lang="en-US" sz="740" dirty="0"/>
          </a:p>
        </p:txBody>
      </p:sp>
      <p:sp>
        <p:nvSpPr>
          <p:cNvPr id="52" name="t4_49"/>
          <p:cNvSpPr txBox="1"/>
          <p:nvPr/>
        </p:nvSpPr>
        <p:spPr>
          <a:xfrm>
            <a:off x="10299700" y="18796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53" name="t4_50"/>
          <p:cNvSpPr txBox="1"/>
          <p:nvPr/>
        </p:nvSpPr>
        <p:spPr>
          <a:xfrm>
            <a:off x="12433300" y="1397000"/>
            <a:ext cx="1981200" cy="406400"/>
          </a:xfrm>
          <a:prstGeom prst="rect">
            <a:avLst/>
          </a:prstGeom>
          <a:noFill/>
          <a:ln w="12700">
            <a:solidFill>
              <a:srgbClr val="9AA0A6"/>
            </a:solidFill>
            <a:prstDash val="solid"/>
          </a:ln>
        </p:spPr>
        <p:txBody>
          <a:bodyPr wrap="square" lIns="25400" tIns="38100" rIns="38100" bIns="25400" rtlCol="0" anchor="ctr"/>
          <a:lstStyle/>
          <a:p>
            <a:pPr algn="ctr" indent="0" marL="0">
              <a:lnSpc>
                <a:spcPts val="999"/>
              </a:lnSpc>
              <a:buNone/>
            </a:pPr>
            <a:r>
              <a:rPr lang="en-US" sz="740" dirty="0">
                <a:solidFill>
                  <a:srgbClr val="222222"/>
                </a:solidFill>
                <a:latin typeface="Yu Gothic" pitchFamily="34" charset="0"/>
                <a:ea typeface="Yu Gothic" pitchFamily="34" charset="-122"/>
                <a:cs typeface="Yu Gothic" pitchFamily="34" charset="-120"/>
              </a:rPr>
              <a:t>地政学リスク</a:t>
            </a:r>
            <a:endParaRPr lang="en-US" sz="740" dirty="0"/>
          </a:p>
        </p:txBody>
      </p:sp>
      <p:sp>
        <p:nvSpPr>
          <p:cNvPr id="54" name="t4_51"/>
          <p:cNvSpPr txBox="1"/>
          <p:nvPr/>
        </p:nvSpPr>
        <p:spPr>
          <a:xfrm>
            <a:off x="12433300" y="1879600"/>
            <a:ext cx="2073148"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a:t>
            </a:r>
            <a:endParaRPr lang="en-US" sz="660" dirty="0"/>
          </a:p>
        </p:txBody>
      </p:sp>
      <p:sp>
        <p:nvSpPr>
          <p:cNvPr id="55" name="t4_52"/>
          <p:cNvSpPr txBox="1"/>
          <p:nvPr/>
        </p:nvSpPr>
        <p:spPr>
          <a:xfrm>
            <a:off x="8166100" y="2413000"/>
            <a:ext cx="6603492" cy="228600"/>
          </a:xfrm>
          <a:prstGeom prst="rect">
            <a:avLst/>
          </a:prstGeom>
          <a:noFill/>
          <a:ln/>
        </p:spPr>
        <p:txBody>
          <a:bodyPr wrap="none" lIns="0" tIns="0" rIns="0" bIns="0" rtlCol="0" anchor="t"/>
          <a:lstStyle/>
          <a:p>
            <a:pPr algn="ctr" indent="0" marL="0">
              <a:lnSpc>
                <a:spcPts val="1560"/>
              </a:lnSpc>
              <a:buNone/>
            </a:pPr>
            <a:r>
              <a:rPr lang="en-US" sz="1200" dirty="0">
                <a:solidFill>
                  <a:srgbClr val="888888"/>
                </a:solidFill>
                <a:latin typeface="Yu Gothic" pitchFamily="34" charset="0"/>
                <a:ea typeface="Yu Gothic" pitchFamily="34" charset="-122"/>
                <a:cs typeface="Yu Gothic" pitchFamily="34" charset="-120"/>
              </a:rPr>
              <a:t>↓</a:t>
            </a:r>
            <a:endParaRPr lang="en-US" sz="1200" dirty="0"/>
          </a:p>
        </p:txBody>
      </p:sp>
      <p:sp>
        <p:nvSpPr>
          <p:cNvPr id="56" name="t4_53"/>
          <p:cNvSpPr txBox="1"/>
          <p:nvPr/>
        </p:nvSpPr>
        <p:spPr>
          <a:xfrm>
            <a:off x="8166100" y="2641600"/>
            <a:ext cx="3048000" cy="431800"/>
          </a:xfrm>
          <a:prstGeom prst="rect">
            <a:avLst/>
          </a:prstGeom>
          <a:noFill/>
          <a:ln w="12700">
            <a:solidFill>
              <a:srgbClr val="444444"/>
            </a:solidFill>
            <a:prstDash val="solid"/>
          </a:ln>
        </p:spPr>
        <p:txBody>
          <a:bodyPr wrap="square" lIns="25400" tIns="38100" rIns="38100" bIns="25400" rtlCol="0" anchor="ctr"/>
          <a:lstStyle/>
          <a:p>
            <a:pPr algn="ctr" indent="0" marL="0">
              <a:lnSpc>
                <a:spcPts val="1134"/>
              </a:lnSpc>
              <a:buNone/>
            </a:pPr>
            <a:r>
              <a:rPr lang="en-US" sz="840" dirty="0">
                <a:solidFill>
                  <a:srgbClr val="222222"/>
                </a:solidFill>
                <a:latin typeface="Yu Gothic" pitchFamily="34" charset="0"/>
                <a:ea typeface="Yu Gothic" pitchFamily="34" charset="-122"/>
                <a:cs typeface="Yu Gothic" pitchFamily="34" charset="-120"/>
              </a:rPr>
              <a:t>① 安定供給</a:t>
            </a:r>
            <a:endParaRPr lang="en-US" sz="840" dirty="0"/>
          </a:p>
          <a:p>
            <a:pPr algn="ctr" indent="0" marL="0">
              <a:lnSpc>
                <a:spcPts val="1134"/>
              </a:lnSpc>
              <a:buNone/>
            </a:pPr>
            <a:r>
              <a:rPr lang="en-US" sz="840" dirty="0">
                <a:solidFill>
                  <a:srgbClr val="222222"/>
                </a:solidFill>
                <a:latin typeface="Yu Gothic" pitchFamily="34" charset="0"/>
                <a:ea typeface="Yu Gothic" pitchFamily="34" charset="-122"/>
                <a:cs typeface="Yu Gothic" pitchFamily="34" charset="-120"/>
              </a:rPr>
              <a:t>安定的な資源確保</a:t>
            </a:r>
            <a:endParaRPr lang="en-US" sz="840" dirty="0"/>
          </a:p>
        </p:txBody>
      </p:sp>
      <p:sp>
        <p:nvSpPr>
          <p:cNvPr id="57" name="t4_54"/>
          <p:cNvSpPr txBox="1"/>
          <p:nvPr/>
        </p:nvSpPr>
        <p:spPr>
          <a:xfrm>
            <a:off x="8166100" y="3149600"/>
            <a:ext cx="3182620"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a:t>
            </a:r>
            <a:endParaRPr lang="en-US" sz="660" dirty="0"/>
          </a:p>
        </p:txBody>
      </p:sp>
      <p:sp>
        <p:nvSpPr>
          <p:cNvPr id="58" name="t4_55"/>
          <p:cNvSpPr txBox="1"/>
          <p:nvPr/>
        </p:nvSpPr>
        <p:spPr>
          <a:xfrm>
            <a:off x="11417300" y="2641600"/>
            <a:ext cx="3048000" cy="431800"/>
          </a:xfrm>
          <a:prstGeom prst="rect">
            <a:avLst/>
          </a:prstGeom>
          <a:noFill/>
          <a:ln w="12700">
            <a:solidFill>
              <a:srgbClr val="444444"/>
            </a:solidFill>
            <a:prstDash val="solid"/>
          </a:ln>
        </p:spPr>
        <p:txBody>
          <a:bodyPr wrap="square" lIns="25400" tIns="38100" rIns="38100" bIns="25400" rtlCol="0" anchor="ctr"/>
          <a:lstStyle/>
          <a:p>
            <a:pPr algn="ctr" indent="0" marL="0">
              <a:lnSpc>
                <a:spcPts val="1134"/>
              </a:lnSpc>
              <a:buNone/>
            </a:pPr>
            <a:r>
              <a:rPr lang="en-US" sz="840" dirty="0">
                <a:solidFill>
                  <a:srgbClr val="222222"/>
                </a:solidFill>
                <a:latin typeface="Yu Gothic" pitchFamily="34" charset="0"/>
                <a:ea typeface="Yu Gothic" pitchFamily="34" charset="-122"/>
                <a:cs typeface="Yu Gothic" pitchFamily="34" charset="-120"/>
              </a:rPr>
              <a:t>② 効率的な供給</a:t>
            </a:r>
            <a:endParaRPr lang="en-US" sz="840" dirty="0"/>
          </a:p>
        </p:txBody>
      </p:sp>
      <p:sp>
        <p:nvSpPr>
          <p:cNvPr id="59" name="t4_56"/>
          <p:cNvSpPr txBox="1"/>
          <p:nvPr/>
        </p:nvSpPr>
        <p:spPr>
          <a:xfrm>
            <a:off x="11417300" y="3149600"/>
            <a:ext cx="3182620" cy="267891"/>
          </a:xfrm>
          <a:prstGeom prst="rect">
            <a:avLst/>
          </a:prstGeom>
          <a:noFill/>
          <a:ln/>
        </p:spPr>
        <p:txBody>
          <a:bodyPr wrap="square" lIns="0" tIns="0" rIns="0" bIns="0" rtlCol="0" anchor="t"/>
          <a:lstStyle/>
          <a:p>
            <a:pPr algn="l" indent="0" marL="0">
              <a:lnSpc>
                <a:spcPts val="1056"/>
              </a:lnSpc>
              <a:buNone/>
            </a:pPr>
            <a:r>
              <a:rPr lang="en-US" sz="66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a:t>
            </a:r>
            <a:endParaRPr lang="en-US" sz="660" dirty="0"/>
          </a:p>
        </p:txBody>
      </p:sp>
      <p:sp>
        <p:nvSpPr>
          <p:cNvPr id="60" name="t4_57"/>
          <p:cNvSpPr txBox="1"/>
          <p:nvPr/>
        </p:nvSpPr>
        <p:spPr>
          <a:xfrm>
            <a:off x="8166100" y="3759200"/>
            <a:ext cx="6603492" cy="236141"/>
          </a:xfrm>
          <a:prstGeom prst="rect">
            <a:avLst/>
          </a:prstGeom>
          <a:noFill/>
          <a:ln/>
        </p:spPr>
        <p:txBody>
          <a:bodyPr wrap="squar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※短期的な潮流（脱炭素・生成AI・データセンター等）は前面に出さない。「金属＝経済活動を支える礎」として、社会に必要な資源を支える責務として表現（参照：金属資源G_P38）</a:t>
            </a:r>
            <a:endParaRPr lang="en-US" sz="620" dirty="0"/>
          </a:p>
        </p:txBody>
      </p:sp>
      <p:sp>
        <p:nvSpPr>
          <p:cNvPr id="61" name="Shape 57"/>
          <p:cNvSpPr/>
          <p:nvPr/>
        </p:nvSpPr>
        <p:spPr>
          <a:xfrm>
            <a:off x="7556500" y="4318000"/>
            <a:ext cx="7556500" cy="6375400"/>
          </a:xfrm>
          <a:prstGeom prst="rect">
            <a:avLst/>
          </a:prstGeom>
          <a:solidFill>
            <a:srgbClr val="E6E8EB"/>
          </a:solidFill>
          <a:ln/>
        </p:spPr>
      </p:sp>
      <p:sp>
        <p:nvSpPr>
          <p:cNvPr id="62" name="t4_59"/>
          <p:cNvSpPr txBox="1"/>
          <p:nvPr/>
        </p:nvSpPr>
        <p:spPr>
          <a:xfrm>
            <a:off x="8420100" y="4445000"/>
            <a:ext cx="2813415"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締めのビジュアル（選定された表紙案の表現に合わせて決定）</a:t>
            </a:r>
            <a:endParaRPr lang="en-US" sz="680" dirty="0"/>
          </a:p>
        </p:txBody>
      </p:sp>
      <p:sp>
        <p:nvSpPr>
          <p:cNvPr id="63" name="Shape 59"/>
          <p:cNvSpPr/>
          <p:nvPr/>
        </p:nvSpPr>
        <p:spPr>
          <a:xfrm>
            <a:off x="8293100" y="4724400"/>
            <a:ext cx="6096000" cy="5308600"/>
          </a:xfrm>
          <a:prstGeom prst="rect">
            <a:avLst/>
          </a:prstGeom>
          <a:solidFill>
            <a:srgbClr val="FFFFFF"/>
          </a:solidFill>
          <a:ln/>
        </p:spPr>
      </p:sp>
      <p:sp>
        <p:nvSpPr>
          <p:cNvPr id="64" name="t4_61"/>
          <p:cNvSpPr txBox="1"/>
          <p:nvPr/>
        </p:nvSpPr>
        <p:spPr>
          <a:xfrm>
            <a:off x="8547100" y="4953000"/>
            <a:ext cx="1786493" cy="139700"/>
          </a:xfrm>
          <a:prstGeom prst="rect">
            <a:avLst/>
          </a:prstGeom>
          <a:noFill/>
          <a:ln/>
        </p:spPr>
        <p:txBody>
          <a:bodyPr wrap="none" lIns="0" tIns="0" rIns="0" bIns="0" rtlCol="0" anchor="t"/>
          <a:lstStyle/>
          <a:p>
            <a:pPr algn="l" indent="0" marL="0">
              <a:lnSpc>
                <a:spcPts val="962"/>
              </a:lnSpc>
              <a:buNone/>
            </a:pPr>
            <a:r>
              <a:rPr lang="en-US" sz="740" spc="120" kern="0" dirty="0">
                <a:solidFill>
                  <a:srgbClr val="555555"/>
                </a:solidFill>
                <a:latin typeface="Yu Gothic" pitchFamily="34" charset="0"/>
                <a:ea typeface="Yu Gothic" pitchFamily="34" charset="-122"/>
                <a:cs typeface="Yu Gothic" pitchFamily="34" charset="-120"/>
              </a:rPr>
              <a:t>締め｜ビジョン共感×協業への誘い</a:t>
            </a:r>
            <a:endParaRPr lang="en-US" sz="740" dirty="0"/>
          </a:p>
        </p:txBody>
      </p:sp>
      <p:sp>
        <p:nvSpPr>
          <p:cNvPr id="65" name="t4_62"/>
          <p:cNvSpPr txBox="1"/>
          <p:nvPr/>
        </p:nvSpPr>
        <p:spPr>
          <a:xfrm>
            <a:off x="10706100" y="4927600"/>
            <a:ext cx="456605" cy="139700"/>
          </a:xfrm>
          <a:prstGeom prst="rect">
            <a:avLst/>
          </a:prstGeom>
          <a:solidFill>
            <a:srgbClr val="2A6FB0"/>
          </a:solidFill>
          <a:ln/>
        </p:spPr>
        <p:txBody>
          <a:bodyPr wrap="none" lIns="25400" tIns="38100" rIns="38100" bIns="25400" rtlCol="0" anchor="t"/>
          <a:lstStyle/>
          <a:p>
            <a:pPr algn="l" indent="0" marL="0">
              <a:lnSpc>
                <a:spcPts val="806"/>
              </a:lnSpc>
              <a:buNone/>
            </a:pPr>
            <a:r>
              <a:rPr lang="en-US" sz="620" spc="30" kern="0" dirty="0">
                <a:solidFill>
                  <a:srgbClr val="FFFFFF"/>
                </a:solidFill>
                <a:latin typeface="Yu Gothic" pitchFamily="34" charset="0"/>
                <a:ea typeface="Yu Gothic" pitchFamily="34" charset="-122"/>
                <a:cs typeface="Yu Gothic" pitchFamily="34" charset="-120"/>
              </a:rPr>
              <a:t>改善③⑤</a:t>
            </a:r>
            <a:endParaRPr lang="en-US" sz="620" dirty="0"/>
          </a:p>
        </p:txBody>
      </p:sp>
      <p:sp>
        <p:nvSpPr>
          <p:cNvPr id="66" name="t4_63"/>
          <p:cNvSpPr txBox="1"/>
          <p:nvPr/>
        </p:nvSpPr>
        <p:spPr>
          <a:xfrm>
            <a:off x="8547100" y="5232400"/>
            <a:ext cx="5692140" cy="639763"/>
          </a:xfrm>
          <a:prstGeom prst="rect">
            <a:avLst/>
          </a:prstGeom>
          <a:noFill/>
          <a:ln/>
        </p:spPr>
        <p:txBody>
          <a:bodyPr wrap="square" lIns="0" tIns="0" rIns="0" bIns="0" rtlCol="0" anchor="t"/>
          <a:lstStyle/>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締めのメッセージ（コアメッセージ／</a:t>
            </a:r>
            <a:endParaRPr lang="en-US" sz="1800" dirty="0"/>
          </a:p>
          <a:p>
            <a:pPr algn="l" indent="0" marL="0">
              <a:lnSpc>
                <a:spcPts val="2520"/>
              </a:lnSpc>
              <a:buNone/>
            </a:pPr>
            <a:r>
              <a:rPr lang="en-US" sz="1800" spc="80" kern="0" dirty="0">
                <a:solidFill>
                  <a:srgbClr val="222222"/>
                </a:solidFill>
                <a:latin typeface="Yu Gothic" pitchFamily="34" charset="0"/>
                <a:ea typeface="Yu Gothic" pitchFamily="34" charset="-122"/>
                <a:cs typeface="Yu Gothic" pitchFamily="34" charset="-120"/>
              </a:rPr>
              <a:t>グループミッションに帰結）</a:t>
            </a:r>
            <a:endParaRPr lang="en-US" sz="1800" dirty="0"/>
          </a:p>
        </p:txBody>
      </p:sp>
      <p:sp>
        <p:nvSpPr>
          <p:cNvPr id="67" name="t4_64"/>
          <p:cNvSpPr txBox="1"/>
          <p:nvPr/>
        </p:nvSpPr>
        <p:spPr>
          <a:xfrm>
            <a:off x="8547100" y="5969000"/>
            <a:ext cx="5692140" cy="346472"/>
          </a:xfrm>
          <a:prstGeom prst="rect">
            <a:avLst/>
          </a:prstGeom>
          <a:noFill/>
          <a:ln/>
        </p:spPr>
        <p:txBody>
          <a:bodyPr wrap="square" lIns="0" tIns="0" rIns="0" bIns="0" rtlCol="0" anchor="t"/>
          <a:lstStyle/>
          <a:p>
            <a:pPr algn="l" indent="0" marL="0">
              <a:lnSpc>
                <a:spcPts val="1365"/>
              </a:lnSpc>
              <a:buNone/>
            </a:pPr>
            <a:r>
              <a:rPr lang="en-US" sz="7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Ｘ</a:t>
            </a:r>
            <a:endParaRPr lang="en-US" sz="780" dirty="0"/>
          </a:p>
        </p:txBody>
      </p:sp>
      <p:sp>
        <p:nvSpPr>
          <p:cNvPr id="68" name="t4_65"/>
          <p:cNvSpPr txBox="1"/>
          <p:nvPr/>
        </p:nvSpPr>
        <p:spPr>
          <a:xfrm>
            <a:off x="8547100" y="6328370"/>
            <a:ext cx="985965" cy="114300"/>
          </a:xfrm>
          <a:prstGeom prst="rect">
            <a:avLst/>
          </a:prstGeom>
          <a:noFill/>
          <a:ln/>
        </p:spPr>
        <p:txBody>
          <a:bodyPr wrap="none" lIns="0" tIns="0" rIns="0" bIns="0" rtlCol="0" anchor="t"/>
          <a:lstStyle/>
          <a:p>
            <a:pPr algn="l" indent="0" marL="0">
              <a:lnSpc>
                <a:spcPts val="754"/>
              </a:lnSpc>
              <a:buNone/>
            </a:pPr>
            <a:r>
              <a:rPr lang="en-US" sz="580" spc="30" kern="0" dirty="0">
                <a:solidFill>
                  <a:srgbClr val="B0B4B8"/>
                </a:solidFill>
                <a:latin typeface="Yu Gothic" pitchFamily="34" charset="0"/>
                <a:ea typeface="Yu Gothic" pitchFamily="34" charset="-122"/>
                <a:cs typeface="Yu Gothic" pitchFamily="34" charset="-120"/>
              </a:rPr>
              <a:t>▸本文 110字／英語 約61語</a:t>
            </a:r>
            <a:endParaRPr lang="en-US" sz="580" dirty="0"/>
          </a:p>
        </p:txBody>
      </p:sp>
      <p:sp>
        <p:nvSpPr>
          <p:cNvPr id="69" name="t4_66"/>
          <p:cNvSpPr txBox="1"/>
          <p:nvPr/>
        </p:nvSpPr>
        <p:spPr>
          <a:xfrm>
            <a:off x="8547100" y="7010400"/>
            <a:ext cx="5692140"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※直接的な営業色は抑える。コアメッセージの言葉で締め、冒頭（P.02）と呼応させる</a:t>
            </a:r>
            <a:endParaRPr lang="en-US" sz="620" dirty="0"/>
          </a:p>
        </p:txBody>
      </p:sp>
      <p:sp>
        <p:nvSpPr>
          <p:cNvPr id="70" name="Shape 66"/>
          <p:cNvSpPr/>
          <p:nvPr/>
        </p:nvSpPr>
        <p:spPr>
          <a:xfrm>
            <a:off x="8547100" y="7391400"/>
            <a:ext cx="5461000" cy="0"/>
          </a:xfrm>
          <a:prstGeom prst="line">
            <a:avLst/>
          </a:prstGeom>
          <a:noFill/>
          <a:ln w="12700">
            <a:solidFill>
              <a:srgbClr val="CFD2D5"/>
            </a:solidFill>
            <a:prstDash val="solid"/>
          </a:ln>
        </p:spPr>
      </p:sp>
      <p:sp>
        <p:nvSpPr>
          <p:cNvPr id="71" name="t4_68"/>
          <p:cNvSpPr txBox="1"/>
          <p:nvPr/>
        </p:nvSpPr>
        <p:spPr>
          <a:xfrm>
            <a:off x="8547100" y="7518400"/>
            <a:ext cx="845010" cy="165100"/>
          </a:xfrm>
          <a:prstGeom prst="rect">
            <a:avLst/>
          </a:prstGeom>
          <a:noFill/>
          <a:ln/>
        </p:spPr>
        <p:txBody>
          <a:bodyPr wrap="none" lIns="0" tIns="0" rIns="0" bIns="0" rtlCol="0" anchor="t"/>
          <a:lstStyle/>
          <a:p>
            <a:pPr algn="l" indent="0" marL="0">
              <a:lnSpc>
                <a:spcPts val="1170"/>
              </a:lnSpc>
              <a:buNone/>
            </a:pPr>
            <a:r>
              <a:rPr lang="en-US" sz="900" dirty="0">
                <a:solidFill>
                  <a:srgbClr val="222222"/>
                </a:solidFill>
                <a:latin typeface="Yu Gothic" pitchFamily="34" charset="0"/>
                <a:ea typeface="Yu Gothic" pitchFamily="34" charset="-122"/>
                <a:cs typeface="Yu Gothic" pitchFamily="34" charset="-120"/>
              </a:rPr>
              <a:t>お問い合わせ先</a:t>
            </a:r>
            <a:endParaRPr lang="en-US" sz="900" dirty="0"/>
          </a:p>
        </p:txBody>
      </p:sp>
      <p:sp>
        <p:nvSpPr>
          <p:cNvPr id="72" name="t4_69"/>
          <p:cNvSpPr txBox="1"/>
          <p:nvPr/>
        </p:nvSpPr>
        <p:spPr>
          <a:xfrm>
            <a:off x="9563100" y="7543800"/>
            <a:ext cx="374253" cy="139700"/>
          </a:xfrm>
          <a:prstGeom prst="rect">
            <a:avLst/>
          </a:prstGeom>
          <a:solidFill>
            <a:srgbClr val="2A6FB0"/>
          </a:solidFill>
          <a:ln/>
        </p:spPr>
        <p:txBody>
          <a:bodyPr wrap="none" lIns="25400" tIns="38100" rIns="38100" bIns="25400" rtlCol="0" anchor="t"/>
          <a:lstStyle/>
          <a:p>
            <a:pPr algn="l" indent="0" marL="0">
              <a:lnSpc>
                <a:spcPts val="806"/>
              </a:lnSpc>
              <a:buNone/>
            </a:pPr>
            <a:r>
              <a:rPr lang="en-US" sz="620" spc="30" kern="0" dirty="0">
                <a:solidFill>
                  <a:srgbClr val="FFFFFF"/>
                </a:solidFill>
                <a:latin typeface="Yu Gothic" pitchFamily="34" charset="0"/>
                <a:ea typeface="Yu Gothic" pitchFamily="34" charset="-122"/>
                <a:cs typeface="Yu Gothic" pitchFamily="34" charset="-120"/>
              </a:rPr>
              <a:t>改善⑤</a:t>
            </a:r>
            <a:endParaRPr lang="en-US" sz="620" dirty="0"/>
          </a:p>
        </p:txBody>
      </p:sp>
      <p:sp>
        <p:nvSpPr>
          <p:cNvPr id="73" name="t4_70"/>
          <p:cNvSpPr txBox="1"/>
          <p:nvPr/>
        </p:nvSpPr>
        <p:spPr>
          <a:xfrm>
            <a:off x="8547100" y="7747000"/>
            <a:ext cx="3710940" cy="276225"/>
          </a:xfrm>
          <a:prstGeom prst="rect">
            <a:avLst/>
          </a:prstGeom>
          <a:noFill/>
          <a:ln/>
        </p:spPr>
        <p:txBody>
          <a:bodyPr wrap="square" lIns="0" tIns="0" rIns="0" bIns="0" rtlCol="0" anchor="t"/>
          <a:lstStyle/>
          <a:p>
            <a:pPr algn="l" indent="0" marL="0">
              <a:lnSpc>
                <a:spcPts val="1088"/>
              </a:lnSpc>
              <a:buNone/>
            </a:pPr>
            <a:r>
              <a:rPr lang="en-US" sz="680" dirty="0">
                <a:solidFill>
                  <a:srgbClr val="9AA0A6"/>
                </a:solidFill>
                <a:latin typeface="Yu Gothic" pitchFamily="34" charset="0"/>
                <a:ea typeface="Yu Gothic" pitchFamily="34" charset="-122"/>
                <a:cs typeface="Yu Gothic" pitchFamily="34" charset="-120"/>
              </a:rPr>
              <a:t>ＸＸＸＸＸＸＸＸＸＸＸＸＸＸＸＸＸＸＸＸＸＸＸＸＸＸＸＸＸＸＸＸＸＸＸＸＸＸＸＸＸＸＸＸＸＸＸＸＸＸＸＸＸＸＸＸＸＸＸＸ</a:t>
            </a:r>
            <a:endParaRPr lang="en-US" sz="680" dirty="0"/>
          </a:p>
        </p:txBody>
      </p:sp>
      <p:sp>
        <p:nvSpPr>
          <p:cNvPr id="74" name="t4_71"/>
          <p:cNvSpPr txBox="1"/>
          <p:nvPr/>
        </p:nvSpPr>
        <p:spPr>
          <a:xfrm>
            <a:off x="8547100" y="8305800"/>
            <a:ext cx="3710940"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部署名・所在地・メール／Webサイト</a:t>
            </a:r>
            <a:endParaRPr lang="en-US" sz="680" dirty="0"/>
          </a:p>
        </p:txBody>
      </p:sp>
      <p:sp>
        <p:nvSpPr>
          <p:cNvPr id="75" name="t4_72"/>
          <p:cNvSpPr txBox="1"/>
          <p:nvPr/>
        </p:nvSpPr>
        <p:spPr>
          <a:xfrm>
            <a:off x="12992100" y="7620000"/>
            <a:ext cx="1016000" cy="1016000"/>
          </a:xfrm>
          <a:prstGeom prst="rect">
            <a:avLst/>
          </a:prstGeom>
          <a:solidFill>
            <a:srgbClr val="EEF0F2"/>
          </a:solidFill>
          <a:ln w="12700">
            <a:solidFill>
              <a:srgbClr val="B6BBC0"/>
            </a:solidFill>
            <a:prstDash val="dash"/>
          </a:ln>
        </p:spPr>
        <p:txBody>
          <a:bodyPr wrap="square" lIns="25400" tIns="38100" rIns="38100" bIns="25400" rtlCol="0" anchor="ctr"/>
          <a:lstStyle/>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QRコード</a:t>
            </a:r>
            <a:endParaRPr lang="en-US" sz="700" dirty="0"/>
          </a:p>
          <a:p>
            <a:pPr algn="ctr" indent="0" marL="0">
              <a:lnSpc>
                <a:spcPts val="2080"/>
              </a:lnSpc>
              <a:buNone/>
            </a:pPr>
            <a:r>
              <a:rPr lang="en-US" sz="700" dirty="0">
                <a:solidFill>
                  <a:srgbClr val="6A7076"/>
                </a:solidFill>
                <a:latin typeface="Yu Gothic" pitchFamily="34" charset="0"/>
                <a:ea typeface="Yu Gothic" pitchFamily="34" charset="-122"/>
                <a:cs typeface="Yu Gothic" pitchFamily="34" charset="-120"/>
              </a:rPr>
              <a:t>（Webサイト）</a:t>
            </a:r>
            <a:endParaRPr lang="en-US" sz="700" dirty="0"/>
          </a:p>
        </p:txBody>
      </p:sp>
      <p:sp>
        <p:nvSpPr>
          <p:cNvPr id="76" name="t4_73"/>
          <p:cNvSpPr txBox="1"/>
          <p:nvPr/>
        </p:nvSpPr>
        <p:spPr>
          <a:xfrm>
            <a:off x="8547100" y="8890000"/>
            <a:ext cx="5692140" cy="118070"/>
          </a:xfrm>
          <a:prstGeom prst="rect">
            <a:avLst/>
          </a:prstGeom>
          <a:noFill/>
          <a:ln/>
        </p:spPr>
        <p:txBody>
          <a:bodyPr wrap="none" lIns="0" tIns="0" rIns="0" bIns="0" rtlCol="0" anchor="t"/>
          <a:lstStyle/>
          <a:p>
            <a:pPr algn="l" indent="0" marL="0">
              <a:lnSpc>
                <a:spcPts val="930"/>
              </a:lnSpc>
              <a:buNone/>
            </a:pPr>
            <a:r>
              <a:rPr lang="en-US" sz="620" dirty="0">
                <a:solidFill>
                  <a:srgbClr val="9A5A60"/>
                </a:solidFill>
                <a:latin typeface="Yu Gothic" pitchFamily="34" charset="0"/>
                <a:ea typeface="Yu Gothic" pitchFamily="34" charset="-122"/>
                <a:cs typeface="Yu Gothic" pitchFamily="34" charset="-120"/>
              </a:rPr>
              <a:t>※商談で手渡す冊子のため、問い合わせ先とWebサイトへの導線を控えめに設ける（裏表紙に置く案も可）</a:t>
            </a:r>
            <a:endParaRPr lang="en-US" sz="620" dirty="0"/>
          </a:p>
        </p:txBody>
      </p:sp>
      <p:sp>
        <p:nvSpPr>
          <p:cNvPr id="77" name="t4_74"/>
          <p:cNvSpPr txBox="1"/>
          <p:nvPr/>
        </p:nvSpPr>
        <p:spPr>
          <a:xfrm>
            <a:off x="8547100" y="9702800"/>
            <a:ext cx="1609217" cy="127000"/>
          </a:xfrm>
          <a:prstGeom prst="rect">
            <a:avLst/>
          </a:prstGeom>
          <a:noFill/>
          <a:ln/>
        </p:spPr>
        <p:txBody>
          <a:bodyPr wrap="none" lIns="0" tIns="0" rIns="0" bIns="0" rtlCol="0" anchor="t"/>
          <a:lstStyle/>
          <a:p>
            <a:pPr algn="l" indent="0" marL="0">
              <a:lnSpc>
                <a:spcPts val="884"/>
              </a:lnSpc>
              <a:buNone/>
            </a:pPr>
            <a:r>
              <a:rPr lang="en-US" sz="680" spc="80" kern="0" dirty="0">
                <a:solidFill>
                  <a:srgbClr val="666666"/>
                </a:solidFill>
                <a:latin typeface="Yu Gothic" pitchFamily="34" charset="0"/>
                <a:ea typeface="Yu Gothic" pitchFamily="34" charset="-122"/>
                <a:cs typeface="Yu Gothic" pitchFamily="34" charset="-120"/>
              </a:rPr>
              <a:t>ビジュアルは表紙案に合わせて決定</a:t>
            </a:r>
            <a:endParaRPr lang="en-US" sz="680" dirty="0"/>
          </a:p>
        </p:txBody>
      </p:sp>
      <p:sp>
        <p:nvSpPr>
          <p:cNvPr id="78" name="t4_75"/>
          <p:cNvSpPr txBox="1"/>
          <p:nvPr/>
        </p:nvSpPr>
        <p:spPr>
          <a:xfrm>
            <a:off x="6096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10</a:t>
            </a:r>
            <a:endParaRPr lang="en-US" sz="660" dirty="0"/>
          </a:p>
        </p:txBody>
      </p:sp>
      <p:sp>
        <p:nvSpPr>
          <p:cNvPr id="79" name="t4_76"/>
          <p:cNvSpPr txBox="1"/>
          <p:nvPr/>
        </p:nvSpPr>
        <p:spPr>
          <a:xfrm>
            <a:off x="14262100" y="10261600"/>
            <a:ext cx="149320" cy="117348"/>
          </a:xfrm>
          <a:prstGeom prst="rect">
            <a:avLst/>
          </a:prstGeom>
          <a:noFill/>
          <a:ln/>
        </p:spPr>
        <p:txBody>
          <a:bodyPr wrap="none" lIns="0" tIns="0" rIns="0" bIns="0" rtlCol="0" anchor="t"/>
          <a:lstStyle/>
          <a:p>
            <a:pPr algn="l" indent="0" marL="0">
              <a:lnSpc>
                <a:spcPts val="858"/>
              </a:lnSpc>
              <a:buNone/>
            </a:pPr>
            <a:r>
              <a:rPr lang="en-US" sz="660" spc="140" kern="0" dirty="0">
                <a:solidFill>
                  <a:srgbClr val="999999"/>
                </a:solidFill>
                <a:latin typeface="Yu Gothic" pitchFamily="34" charset="0"/>
                <a:ea typeface="Yu Gothic" pitchFamily="34" charset="-122"/>
                <a:cs typeface="Yu Gothic" pitchFamily="34" charset="-120"/>
              </a:rPr>
              <a:t>11</a:t>
            </a:r>
            <a:endParaRPr lang="en-US" sz="660" dirty="0"/>
          </a:p>
        </p:txBody>
      </p:sp>
      <p:sp>
        <p:nvSpPr>
          <p:cNvPr id="80" name="t4_77"/>
          <p:cNvSpPr txBox="1"/>
          <p:nvPr/>
        </p:nvSpPr>
        <p:spPr>
          <a:xfrm>
            <a:off x="3810000" y="10261600"/>
            <a:ext cx="4433292" cy="152400"/>
          </a:xfrm>
          <a:prstGeom prst="rect">
            <a:avLst/>
          </a:prstGeom>
          <a:solidFill>
            <a:srgbClr val="FFFFFF"/>
          </a:solidFill>
          <a:ln/>
        </p:spPr>
        <p:txBody>
          <a:bodyPr wrap="none" lIns="25400" tIns="38100" rIns="38100" bIns="25400" rtlCol="0" anchor="t"/>
          <a:lstStyle/>
          <a:p>
            <a:pPr algn="l" indent="0" marL="0">
              <a:lnSpc>
                <a:spcPts val="858"/>
              </a:lnSpc>
              <a:buNone/>
            </a:pPr>
            <a:r>
              <a:rPr lang="en-US" sz="660" spc="50" kern="0" dirty="0">
                <a:solidFill>
                  <a:srgbClr val="999999"/>
                </a:solidFill>
                <a:latin typeface="Yu Gothic" pitchFamily="34" charset="0"/>
                <a:ea typeface="Yu Gothic" pitchFamily="34" charset="-122"/>
                <a:cs typeface="Yu Gothic" pitchFamily="34" charset="-120"/>
              </a:rPr>
              <a:t>台割 改善案（構成確認用）— 青ラベル＝PwC台割ver.0からの改善点／本文字数は日本語、英語語数は目安</a:t>
            </a:r>
            <a:endParaRPr lang="en-US" sz="660" dirty="0"/>
          </a:p>
        </p:txBody>
      </p:sp>
      <p:sp>
        <p:nvSpPr>
          <p:cNvPr id="81" name="Shape 77"/>
          <p:cNvSpPr/>
          <p:nvPr/>
        </p:nvSpPr>
        <p:spPr>
          <a:xfrm>
            <a:off x="7556500" y="0"/>
            <a:ext cx="0" cy="10693400"/>
          </a:xfrm>
          <a:prstGeom prst="line">
            <a:avLst/>
          </a:prstGeom>
          <a:noFill/>
          <a:ln w="9525">
            <a:solidFill>
              <a:srgbClr val="D5D8DB"/>
            </a:solidFill>
            <a:prstDash val="dash"/>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金属資源グループ 会社案内 台割 改善案</dc:title>
  <dc:subject>PptxGenJS Presentation</dc:subject>
  <dc:creator>PptxGenJS</dc:creator>
  <cp:lastModifiedBy>PptxGenJS</cp:lastModifiedBy>
  <cp:revision>1</cp:revision>
  <dcterms:created xsi:type="dcterms:W3CDTF">2026-10-02T06:20:31Z</dcterms:created>
  <dcterms:modified xsi:type="dcterms:W3CDTF">2026-10-02T06:20:31Z</dcterms:modified>
</cp:coreProperties>
</file>