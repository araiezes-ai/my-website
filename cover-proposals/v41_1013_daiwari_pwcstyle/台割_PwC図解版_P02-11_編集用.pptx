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2922276"/>
            <a:ext cx="25216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都市</a:t>
            </a:r>
            <a:endParaRPr lang="en-US" sz="580" dirty="0"/>
          </a:p>
        </p:txBody>
      </p:sp>
      <p:sp>
        <p:nvSpPr>
          <p:cNvPr id="3" name="Text 1"/>
          <p:cNvSpPr/>
          <p:nvPr/>
        </p:nvSpPr>
        <p:spPr>
          <a:xfrm>
            <a:off x="127055" y="3036626"/>
            <a:ext cx="70202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鉄・銅・アルミ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70709" y="1308672"/>
            <a:ext cx="56335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モビリティ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4370709" y="1423022"/>
            <a:ext cx="79614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鉄・銅・リチウム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362258" y="2322328"/>
            <a:ext cx="1078939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8A96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鉄道の写真（ストック）</a:t>
            </a:r>
            <a:endParaRPr lang="en-US" sz="670" dirty="0"/>
          </a:p>
        </p:txBody>
      </p:sp>
      <p:sp>
        <p:nvSpPr>
          <p:cNvPr id="7" name="Text 5"/>
          <p:cNvSpPr/>
          <p:nvPr/>
        </p:nvSpPr>
        <p:spPr>
          <a:xfrm>
            <a:off x="4370709" y="2922276"/>
            <a:ext cx="25216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5A6570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鉄道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4370709" y="3036626"/>
            <a:ext cx="32750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5A65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27055" y="4828109"/>
            <a:ext cx="96385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再生可能エネルギー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127055" y="4942459"/>
            <a:ext cx="32750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銅・鉄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2248882" y="482810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送電網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2248882" y="4942459"/>
            <a:ext cx="51771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銅・アルミ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4756054" y="4082047"/>
            <a:ext cx="2291148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8A96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スマートフォン・データセンターの写真（ストック）</a:t>
            </a:r>
            <a:endParaRPr lang="en-US" sz="670" dirty="0"/>
          </a:p>
        </p:txBody>
      </p:sp>
      <p:sp>
        <p:nvSpPr>
          <p:cNvPr id="14" name="Text 12"/>
          <p:cNvSpPr/>
          <p:nvPr/>
        </p:nvSpPr>
        <p:spPr>
          <a:xfrm>
            <a:off x="4370709" y="4828109"/>
            <a:ext cx="46093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5A6570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デバイス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4370709" y="4942459"/>
            <a:ext cx="10802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5A65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銅・リチウム・ニッケル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7737680" y="3100154"/>
            <a:ext cx="45329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金属素材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7737680" y="3214504"/>
            <a:ext cx="145105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暮らしを形づくる鉄・銅・アルミ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11981333" y="3100154"/>
            <a:ext cx="55374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製錬・精製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7737680" y="4828109"/>
            <a:ext cx="45329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海上輸送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053828" y="482810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銅地金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508222" y="5590442"/>
            <a:ext cx="89484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コアメッセージ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508222" y="5730203"/>
            <a:ext cx="85532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私たちの存在意義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508222" y="5918880"/>
            <a:ext cx="5064750" cy="122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Strength to Hold.</a:t>
            </a:r>
            <a:endParaRPr lang="en-US" sz="46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Power to Connect.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508222" y="7359690"/>
            <a:ext cx="2208820" cy="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持つ力と、つなぐ力。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8222" y="7666243"/>
            <a:ext cx="4243654" cy="904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資源は、そこに「ある」だけでは、まだ価値ではありません。誰かが見出し、育て、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必要とする場所へ届けて、はじめて力になる。私たちは、世界有数の資産に関わり、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投資とトレーディングの両輪で川上から川下までをつなぎます。フェアな立場だから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こそ、埋められる隙間がある。多様なパートナーと使い手の間に立ち、その時々の最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適解を導く。世界に眠る価値を、社会の力へ。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8068024" y="5590442"/>
            <a:ext cx="28841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目次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8068024" y="5730203"/>
            <a:ext cx="505701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Contents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8068024" y="6041489"/>
            <a:ext cx="543917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135290" y="6092311"/>
            <a:ext cx="1266743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我々は何者か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35290" y="6368530"/>
            <a:ext cx="1752631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三菱商事とは／金属資源グループとは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4179393" y="6124075"/>
            <a:ext cx="32379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068024" y="6956288"/>
            <a:ext cx="667081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135290" y="7007111"/>
            <a:ext cx="861436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独自価値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35290" y="7283329"/>
            <a:ext cx="3150897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投資とトレーディングの両輪／原料炭・銅・トレーディング・新技術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14179393" y="7038874"/>
            <a:ext cx="32139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P.06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8068024" y="7871088"/>
            <a:ext cx="677126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135290" y="7921910"/>
            <a:ext cx="1672050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選ばれ続ける理由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35290" y="8198129"/>
            <a:ext cx="854448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Partner of Choice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4179393" y="7953674"/>
            <a:ext cx="29824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P.10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068024" y="8785888"/>
            <a:ext cx="67559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135290" y="8836710"/>
            <a:ext cx="1469397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何を実現するか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35290" y="9112928"/>
            <a:ext cx="1055573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社会課題への取り組み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4179393" y="8868474"/>
            <a:ext cx="27902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P.11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08222" y="10316906"/>
            <a:ext cx="20150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4458915" y="10316906"/>
            <a:ext cx="20237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665" y="2483935"/>
            <a:ext cx="3664737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1434995" y="2483935"/>
            <a:ext cx="3664737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2286999"/>
            <a:ext cx="45329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005987" y="228699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総合力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005987" y="2401349"/>
            <a:ext cx="89026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産業と地域をまたぐ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7737680" y="228699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7737680" y="2401349"/>
            <a:ext cx="235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豪州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00167" y="2286999"/>
            <a:ext cx="1514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11600167" y="2401349"/>
            <a:ext cx="235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南米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508222" y="2820632"/>
            <a:ext cx="35392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第1章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508222" y="2960393"/>
            <a:ext cx="1358025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我々は何者か｜三菱商事とは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508222" y="3190363"/>
            <a:ext cx="3023583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10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Who we are.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08222" y="3991726"/>
            <a:ext cx="3655347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三綱領を精神の根幹に、「総合力」で価値を生む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8222" y="4233164"/>
            <a:ext cx="3544848" cy="54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三菱商事は三綱領を企業理念とし、事業を通じて経済価値・社会価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値・環境価値の同時実現を目指しています。幅広い産業と地域にまた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がる事業と人のつながり＝「総合力」が、三菱商事の強みです。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508222" y="5666675"/>
            <a:ext cx="40699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</a:t>
            </a:r>
            <a:endParaRPr lang="en-US" sz="660" dirty="0"/>
          </a:p>
        </p:txBody>
      </p:sp>
      <p:sp>
        <p:nvSpPr>
          <p:cNvPr id="17" name="Text 15"/>
          <p:cNvSpPr/>
          <p:nvPr/>
        </p:nvSpPr>
        <p:spPr>
          <a:xfrm>
            <a:off x="1143499" y="5666675"/>
            <a:ext cx="955775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三菱商事の企業理念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508222" y="6022431"/>
            <a:ext cx="973463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所期奉公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666" y="6085958"/>
            <a:ext cx="69983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しょきほうこう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508222" y="6323806"/>
            <a:ext cx="2905005" cy="26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事業を通じ、物心共に豊かな社会の実現に努力すると同時に、かけが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えのない地球環境の維持にも貢献する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508222" y="6988052"/>
            <a:ext cx="973463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処事光明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4666" y="7051580"/>
            <a:ext cx="69983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しょじこうめい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508222" y="7289428"/>
            <a:ext cx="2907625" cy="26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公明正大で品格のある行動を旨とし、活動の公開性、透明性を堅持す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508222" y="7953674"/>
            <a:ext cx="973463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立業貿易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666" y="8017202"/>
            <a:ext cx="88523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りつぎょうぼうえき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508222" y="8255050"/>
            <a:ext cx="2078231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全世界的、宇宙的視野に立脚した事業展開を図る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3719599" y="6556858"/>
            <a:ext cx="255004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spc="30" kern="0" dirty="0">
                <a:solidFill>
                  <a:srgbClr val="3D424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産業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78868" y="5510040"/>
            <a:ext cx="255004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spc="30" kern="0" dirty="0">
                <a:solidFill>
                  <a:srgbClr val="3D424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地域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097125" y="5448100"/>
            <a:ext cx="255004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spc="30" kern="0" dirty="0">
                <a:solidFill>
                  <a:srgbClr val="3D424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機能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243580" y="6629120"/>
            <a:ext cx="693723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61514" y="7111931"/>
            <a:ext cx="457658" cy="12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00" spc="-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62377" y="7316618"/>
            <a:ext cx="456129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精神の根幹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5220869" y="7672373"/>
            <a:ext cx="739145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7つの営業グループ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6885862" y="7165612"/>
            <a:ext cx="255004" cy="20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5"/>
              </a:lnSpc>
              <a:buNone/>
            </a:pPr>
            <a:r>
              <a:rPr lang="en-US" sz="7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金属</a:t>
            </a:r>
            <a:endParaRPr lang="en-US" sz="700" dirty="0"/>
          </a:p>
          <a:p>
            <a:pPr algn="ctr" indent="0" marL="0">
              <a:lnSpc>
                <a:spcPts val="805"/>
              </a:lnSpc>
              <a:buNone/>
            </a:pPr>
            <a:r>
              <a:rPr lang="en-US" sz="7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28604" y="7699563"/>
            <a:ext cx="76971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中核グループ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3494820" y="9245130"/>
            <a:ext cx="4191243" cy="322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8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産業・地域・機能をまたぐ「総合力」の中で、金属資源グループは長年三菱商</a:t>
            </a:r>
            <a:endParaRPr lang="en-US" sz="820" dirty="0"/>
          </a:p>
          <a:p>
            <a:pPr algn="ctr" indent="0" marL="0">
              <a:lnSpc>
                <a:spcPts val="1271"/>
              </a:lnSpc>
              <a:buNone/>
            </a:pPr>
            <a:r>
              <a:rPr lang="en-US" sz="8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事を支えてきた中核グループの一つ。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8068024" y="2820632"/>
            <a:ext cx="35392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第1章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8068024" y="2960393"/>
            <a:ext cx="175459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我々は何者か｜金属資源グループとは</a:t>
            </a:r>
            <a:endParaRPr lang="en-US" sz="660" dirty="0"/>
          </a:p>
        </p:txBody>
      </p:sp>
      <p:sp>
        <p:nvSpPr>
          <p:cNvPr id="39" name="Text 37"/>
          <p:cNvSpPr/>
          <p:nvPr/>
        </p:nvSpPr>
        <p:spPr>
          <a:xfrm>
            <a:off x="8068024" y="3197224"/>
            <a:ext cx="3776328" cy="933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core that has</a:t>
            </a:r>
            <a:endParaRPr lang="en-US" sz="3600" dirty="0"/>
          </a:p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carried us.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8068024" y="4406443"/>
            <a:ext cx="2887535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三綱領を体現する中核グループとして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068024" y="4647881"/>
            <a:ext cx="7248516" cy="36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社会に不可欠な金属資源を世界から確保し、安定的に届けてきました。三綱領を事業で体現する中核グループとして、長年にわたり会社の屋台骨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を支えています。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8271313" y="5278362"/>
            <a:ext cx="11365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グループミッション</a:t>
            </a:r>
            <a:endParaRPr lang="en-US" sz="660" dirty="0"/>
          </a:p>
        </p:txBody>
      </p:sp>
      <p:sp>
        <p:nvSpPr>
          <p:cNvPr id="43" name="Text 41"/>
          <p:cNvSpPr/>
          <p:nvPr/>
        </p:nvSpPr>
        <p:spPr>
          <a:xfrm>
            <a:off x="8271313" y="5481651"/>
            <a:ext cx="6799970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社会が必要とする良質な金属資源を、持続可能な形で安定供給することで、より良い社会の実現に寄与す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る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68024" y="6205867"/>
            <a:ext cx="29060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歩み</a:t>
            </a:r>
            <a:endParaRPr lang="en-US" sz="660" dirty="0"/>
          </a:p>
        </p:txBody>
      </p:sp>
      <p:sp>
        <p:nvSpPr>
          <p:cNvPr id="45" name="Text 43"/>
          <p:cNvSpPr/>
          <p:nvPr/>
        </p:nvSpPr>
        <p:spPr>
          <a:xfrm>
            <a:off x="8576246" y="6205867"/>
            <a:ext cx="3251569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先見性をもって先手を打ち、市況の波を越えて全社の利益を支えてきた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8068024" y="7111296"/>
            <a:ext cx="470324" cy="12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事業の重心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8068024" y="7286887"/>
            <a:ext cx="688700" cy="227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資源投資</a:t>
            </a:r>
            <a:endParaRPr lang="en-US" sz="560" dirty="0"/>
          </a:p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3F464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トレーディング</a:t>
            </a:r>
            <a:endParaRPr lang="en-US" sz="560" dirty="0"/>
          </a:p>
        </p:txBody>
      </p:sp>
      <p:sp>
        <p:nvSpPr>
          <p:cNvPr id="48" name="Text 46"/>
          <p:cNvSpPr/>
          <p:nvPr/>
        </p:nvSpPr>
        <p:spPr>
          <a:xfrm>
            <a:off x="8830357" y="7899993"/>
            <a:ext cx="1004691" cy="13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1100" spc="-33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1980〜90年代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830357" y="8427591"/>
            <a:ext cx="1323521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日本の産業に、資源を。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830357" y="8786396"/>
            <a:ext cx="1255606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トレーディングで参入し、少数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出資から事業に関わる</a:t>
            </a:r>
            <a:endParaRPr lang="en-US" sz="620" dirty="0"/>
          </a:p>
        </p:txBody>
      </p:sp>
      <p:sp>
        <p:nvSpPr>
          <p:cNvPr id="51" name="Text 49"/>
          <p:cNvSpPr/>
          <p:nvPr/>
        </p:nvSpPr>
        <p:spPr>
          <a:xfrm>
            <a:off x="10050090" y="7899993"/>
            <a:ext cx="674069" cy="13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1100" spc="-33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1990年代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050090" y="8427591"/>
            <a:ext cx="1210839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仲介から、担い手へ。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050090" y="8786396"/>
            <a:ext cx="1271111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投資モデルへ転換し、JV運営の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知見を蓄える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11269822" y="7899993"/>
            <a:ext cx="711193" cy="13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1100" spc="-33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2000年代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269822" y="8427591"/>
            <a:ext cx="1323521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一級資産に、早くから。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269822" y="8786396"/>
            <a:ext cx="1263249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BHPと原料炭の合弁を組成し、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事業経営に参画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12489555" y="7899993"/>
            <a:ext cx="673414" cy="13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1100" spc="-33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2010年代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2489555" y="8427591"/>
            <a:ext cx="1320246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次の柱を、先回りして。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2489555" y="8786396"/>
            <a:ext cx="1169129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銅へ領域を広げ、販売機能を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RtMに集約</a:t>
            </a:r>
            <a:endParaRPr lang="en-US" sz="620" dirty="0"/>
          </a:p>
        </p:txBody>
      </p:sp>
      <p:sp>
        <p:nvSpPr>
          <p:cNvPr id="60" name="Text 58"/>
          <p:cNvSpPr/>
          <p:nvPr/>
        </p:nvSpPr>
        <p:spPr>
          <a:xfrm>
            <a:off x="13709288" y="7899993"/>
            <a:ext cx="853138" cy="13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1100" spc="-33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2020年代〜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3709288" y="8427591"/>
            <a:ext cx="1327015" cy="315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投資と販売を、一つの力</a:t>
            </a:r>
            <a:endParaRPr lang="en-US" sz="80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に。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3709288" y="8786396"/>
            <a:ext cx="1253859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両輪を一体で動かす、グローバ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ルな事業者へ</a:t>
            </a:r>
            <a:endParaRPr lang="en-US" sz="620" dirty="0"/>
          </a:p>
        </p:txBody>
      </p:sp>
      <p:sp>
        <p:nvSpPr>
          <p:cNvPr id="63" name="Text 61"/>
          <p:cNvSpPr/>
          <p:nvPr/>
        </p:nvSpPr>
        <p:spPr>
          <a:xfrm>
            <a:off x="8068024" y="9681629"/>
            <a:ext cx="5257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事業領域</a:t>
            </a:r>
            <a:endParaRPr lang="en-US" sz="660" dirty="0"/>
          </a:p>
        </p:txBody>
      </p:sp>
      <p:sp>
        <p:nvSpPr>
          <p:cNvPr id="64" name="Text 62"/>
          <p:cNvSpPr/>
          <p:nvPr/>
        </p:nvSpPr>
        <p:spPr>
          <a:xfrm>
            <a:off x="8881179" y="9647768"/>
            <a:ext cx="5189661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6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　銅</a:t>
            </a:r>
            <a:pPr algn="l" indent="0" marL="0">
              <a:lnSpc>
                <a:spcPts val="1333"/>
              </a:lnSpc>
              <a:buNone/>
            </a:pPr>
            <a:r>
              <a:rPr lang="en-US" sz="860" spc="6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　鉄鉱石　ニッケル　リチウム　アルミ・ボーキサイト　肥料資源　二次資源</a:t>
            </a:r>
            <a:endParaRPr lang="en-US" sz="860" dirty="0"/>
          </a:p>
        </p:txBody>
      </p:sp>
      <p:sp>
        <p:nvSpPr>
          <p:cNvPr id="65" name="Text 63"/>
          <p:cNvSpPr/>
          <p:nvPr/>
        </p:nvSpPr>
        <p:spPr>
          <a:xfrm>
            <a:off x="508222" y="10316906"/>
            <a:ext cx="20477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14458915" y="10316906"/>
            <a:ext cx="20041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4466001"/>
            <a:ext cx="4588034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9910329" y="4466001"/>
            <a:ext cx="4588034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3938720"/>
            <a:ext cx="418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01 川上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27055" y="4053070"/>
            <a:ext cx="69634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鉱山・資源開発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3150976" y="3938720"/>
            <a:ext cx="63585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02 中間流通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3150976" y="4053070"/>
            <a:ext cx="70769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6174897" y="3938720"/>
            <a:ext cx="43538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03 川中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6174897" y="4053070"/>
            <a:ext cx="51181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製錬・製鉄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9198818" y="3938720"/>
            <a:ext cx="63912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04 中間流通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9198818" y="4053070"/>
            <a:ext cx="70769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12222739" y="3938720"/>
            <a:ext cx="43363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05 川下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12222739" y="4053070"/>
            <a:ext cx="78849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需要家・最終製品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127055" y="4281770"/>
            <a:ext cx="464209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3150976" y="4281770"/>
            <a:ext cx="76666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174897" y="4281770"/>
            <a:ext cx="464209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9198818" y="4281770"/>
            <a:ext cx="76666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12222739" y="4281770"/>
            <a:ext cx="360917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需要家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08222" y="4726464"/>
            <a:ext cx="37227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第2章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508222" y="4866225"/>
            <a:ext cx="185417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独自価値｜投資とトレーディングの両輪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508222" y="5102040"/>
            <a:ext cx="3350493" cy="114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Two wheels,</a:t>
            </a:r>
            <a:endParaRPr lang="en-US" sz="4400" dirty="0"/>
          </a:p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one flow.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08222" y="6519535"/>
            <a:ext cx="3721297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資源の流れ全体に関わり、互いを強め合ってきた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68024" y="4820200"/>
            <a:ext cx="3544848" cy="72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投資とトレーディングの両輪で、資源の流れ全体に関わる。互いを強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め合いながら、長い時間をかけて積み重ねてきたこと。それが、鉱山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会社でも純粋なトレーダーでもない、金属資源グループならではの強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さです。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12845102" y="4597821"/>
            <a:ext cx="610085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spc="5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640255" y="6986464"/>
            <a:ext cx="1019978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spc="50" kern="0" dirty="0">
                <a:solidFill>
                  <a:srgbClr val="3F464E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876112" y="5681858"/>
            <a:ext cx="548066" cy="295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61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互いを</a:t>
            </a:r>
            <a:endParaRPr lang="en-US" sz="860" dirty="0"/>
          </a:p>
          <a:p>
            <a:pPr algn="ctr" indent="0" marL="0">
              <a:lnSpc>
                <a:spcPts val="1161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強め合う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14014221" y="5105852"/>
            <a:ext cx="456129" cy="235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新技術が</a:t>
            </a:r>
            <a:endParaRPr lang="en-US" sz="58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流れを進化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11462312" y="5382579"/>
            <a:ext cx="798544" cy="272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投資で得た資源を</a:t>
            </a:r>
            <a:endParaRPr lang="en-US" sz="670" dirty="0"/>
          </a:p>
          <a:p>
            <a:pPr algn="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市場へ届ける</a:t>
            </a:r>
            <a:endParaRPr lang="en-US" sz="670" dirty="0"/>
          </a:p>
        </p:txBody>
      </p:sp>
      <p:sp>
        <p:nvSpPr>
          <p:cNvPr id="29" name="Text 27"/>
          <p:cNvSpPr/>
          <p:nvPr/>
        </p:nvSpPr>
        <p:spPr>
          <a:xfrm>
            <a:off x="14090454" y="6221145"/>
            <a:ext cx="611613" cy="272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3F464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</a:t>
            </a:r>
            <a:endParaRPr lang="en-US" sz="670" dirty="0"/>
          </a:p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3F464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投資判断へ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508222" y="7439099"/>
            <a:ext cx="1448651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持つ力・つなぐ力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8222" y="7719384"/>
            <a:ext cx="1279191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508222" y="8532031"/>
            <a:ext cx="2827699" cy="164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資源に投資して育てる力と、市場へ届ける力の両方を持つ。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3455909" y="7439099"/>
            <a:ext cx="1273950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互いを強め合う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55909" y="7719384"/>
            <a:ext cx="1000761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3F464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一方通行ではない循環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3455909" y="8532031"/>
            <a:ext cx="2846043" cy="32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市場の情報を投資判断に生かし、投資の資源を市場へ届け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る。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6403597" y="7439099"/>
            <a:ext cx="1798054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流れ全体を進化させる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3597" y="7719384"/>
            <a:ext cx="715779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新技術への投資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6403597" y="8532031"/>
            <a:ext cx="2735326" cy="164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業界の課題に挑む技術に投資し、知見を両輪に還元する。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9351284" y="7439099"/>
            <a:ext cx="1448651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長い時間をかけて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51284" y="7719384"/>
            <a:ext cx="905767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積み重ねが先見性に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9351284" y="8532031"/>
            <a:ext cx="2725281" cy="164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市況の浮き沈みに左右されず、流れに関わり続けてきた。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12298972" y="7439099"/>
            <a:ext cx="1967732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その結果としての、いま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298972" y="7719384"/>
            <a:ext cx="1279191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C810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原料炭・銅・トレーディング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12298972" y="8532031"/>
            <a:ext cx="2846043" cy="32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強みがあることの「結果」として、いまの主力事業がある。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P.08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579492" y="8182374"/>
            <a:ext cx="14559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</a:t>
            </a:r>
            <a:endParaRPr lang="en-US" sz="990" dirty="0"/>
          </a:p>
        </p:txBody>
      </p:sp>
      <p:sp>
        <p:nvSpPr>
          <p:cNvPr id="46" name="Text 44"/>
          <p:cNvSpPr/>
          <p:nvPr/>
        </p:nvSpPr>
        <p:spPr>
          <a:xfrm>
            <a:off x="3531349" y="8182374"/>
            <a:ext cx="13642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</a:t>
            </a:r>
            <a:endParaRPr lang="en-US" sz="990" dirty="0"/>
          </a:p>
        </p:txBody>
      </p:sp>
      <p:sp>
        <p:nvSpPr>
          <p:cNvPr id="47" name="Text 45"/>
          <p:cNvSpPr/>
          <p:nvPr/>
        </p:nvSpPr>
        <p:spPr>
          <a:xfrm>
            <a:off x="6473478" y="8182374"/>
            <a:ext cx="148437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</a:t>
            </a:r>
            <a:endParaRPr lang="en-US" sz="990" dirty="0"/>
          </a:p>
        </p:txBody>
      </p:sp>
      <p:sp>
        <p:nvSpPr>
          <p:cNvPr id="48" name="Text 46"/>
          <p:cNvSpPr/>
          <p:nvPr/>
        </p:nvSpPr>
        <p:spPr>
          <a:xfrm>
            <a:off x="9422555" y="8182374"/>
            <a:ext cx="14559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</a:t>
            </a:r>
            <a:endParaRPr lang="en-US" sz="990" dirty="0"/>
          </a:p>
        </p:txBody>
      </p:sp>
      <p:sp>
        <p:nvSpPr>
          <p:cNvPr id="49" name="Text 47"/>
          <p:cNvSpPr/>
          <p:nvPr/>
        </p:nvSpPr>
        <p:spPr>
          <a:xfrm>
            <a:off x="12377389" y="8182374"/>
            <a:ext cx="12965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</a:t>
            </a:r>
            <a:endParaRPr lang="en-US" sz="990" dirty="0"/>
          </a:p>
        </p:txBody>
      </p:sp>
      <p:sp>
        <p:nvSpPr>
          <p:cNvPr id="50" name="Text 48"/>
          <p:cNvSpPr/>
          <p:nvPr/>
        </p:nvSpPr>
        <p:spPr>
          <a:xfrm>
            <a:off x="508222" y="9443400"/>
            <a:ext cx="5143802" cy="40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spc="-60" kern="0" dirty="0">
                <a:solidFill>
                  <a:srgbClr val="3D424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Not a miner. Not just a trader.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10803171" y="9551397"/>
            <a:ext cx="3808211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鉱山会社でも、純粋なトレーダーでもない。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8222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14458915" y="10316906"/>
            <a:ext cx="19604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665" y="6600533"/>
            <a:ext cx="3680679" cy="243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0"/>
              </a:lnSpc>
              <a:buNone/>
            </a:pPr>
            <a:r>
              <a:rPr lang="en-US" sz="24000" spc="-96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11307939" y="6600533"/>
            <a:ext cx="3680679" cy="243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0"/>
              </a:lnSpc>
              <a:buNone/>
            </a:pPr>
            <a:r>
              <a:rPr lang="en-US" sz="24000" spc="-96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127055" y="1905832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27055" y="2020182"/>
            <a:ext cx="235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豪州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196570" y="1905832"/>
            <a:ext cx="1514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5196570" y="2020182"/>
            <a:ext cx="235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南米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10266084" y="1905832"/>
            <a:ext cx="76644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508222" y="2337821"/>
            <a:ext cx="135409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1　原料炭事業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508222" y="2513031"/>
            <a:ext cx="3862150" cy="27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2"/>
              </a:lnSpc>
              <a:buNone/>
            </a:pPr>
            <a:r>
              <a:rPr lang="en-US" sz="2100" spc="-52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World-class metallurgical coal.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8222" y="2995929"/>
            <a:ext cx="3130369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鉄の主原料“産業のコメ”を、世界最高品位で届ける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8222" y="3198114"/>
            <a:ext cx="4690889" cy="479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8"/>
              </a:lnSpc>
              <a:buNone/>
            </a:pPr>
            <a:r>
              <a:rPr lang="en-US" sz="68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原料炭は鉄の主原料。BHPとの50:50の合弁BMAを通じ、豪州クイーンズランド州ボーエン・ベースンで</a:t>
            </a:r>
            <a:endParaRPr lang="en-US" sz="680" dirty="0"/>
          </a:p>
          <a:p>
            <a:pPr algn="l" indent="0" marL="0">
              <a:lnSpc>
                <a:spcPts val="1258"/>
              </a:lnSpc>
              <a:buNone/>
            </a:pPr>
            <a:r>
              <a:rPr lang="en-US" sz="68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世界最高品位の原料炭を生産。炭鉱から港湾・鉄道までを保有し、全体最適の操業で安定供給を実現して</a:t>
            </a:r>
            <a:endParaRPr lang="en-US" sz="680" dirty="0"/>
          </a:p>
          <a:p>
            <a:pPr algn="l" indent="0" marL="0">
              <a:lnSpc>
                <a:spcPts val="1258"/>
              </a:lnSpc>
              <a:buNone/>
            </a:pPr>
            <a:r>
              <a:rPr lang="en-US" sz="68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います。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08222" y="3875193"/>
            <a:ext cx="48582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</a:t>
            </a:r>
            <a:endParaRPr lang="en-US" sz="540" dirty="0"/>
          </a:p>
        </p:txBody>
      </p:sp>
      <p:sp>
        <p:nvSpPr>
          <p:cNvPr id="14" name="Text 12"/>
          <p:cNvSpPr/>
          <p:nvPr/>
        </p:nvSpPr>
        <p:spPr>
          <a:xfrm>
            <a:off x="1194322" y="3820749"/>
            <a:ext cx="1101869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上位5社で約80%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1194322" y="3987764"/>
            <a:ext cx="1023253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寡占度が高く、供給は漸減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508222" y="4256359"/>
            <a:ext cx="39258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SCALE</a:t>
            </a:r>
            <a:endParaRPr lang="en-US" sz="540" dirty="0"/>
          </a:p>
        </p:txBody>
      </p:sp>
      <p:sp>
        <p:nvSpPr>
          <p:cNvPr id="17" name="Text 15"/>
          <p:cNvSpPr/>
          <p:nvPr/>
        </p:nvSpPr>
        <p:spPr>
          <a:xfrm>
            <a:off x="1194322" y="4201916"/>
            <a:ext cx="912318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BMAで約50%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1194322" y="4368930"/>
            <a:ext cx="1428342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一級強粘炭の世界供給に占めるシェア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508222" y="4637526"/>
            <a:ext cx="51945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QUALITY</a:t>
            </a:r>
            <a:endParaRPr lang="en-US" sz="540" dirty="0"/>
          </a:p>
        </p:txBody>
      </p:sp>
      <p:sp>
        <p:nvSpPr>
          <p:cNvPr id="20" name="Text 18"/>
          <p:cNvSpPr/>
          <p:nvPr/>
        </p:nvSpPr>
        <p:spPr>
          <a:xfrm>
            <a:off x="1194322" y="4583082"/>
            <a:ext cx="862310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高品位に集約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1194322" y="4750097"/>
            <a:ext cx="1923183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7炭鉱から高品位の5炭鉱へ。港湾・鉄道も自社保有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508222" y="5056809"/>
            <a:ext cx="469887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出資構成</a:t>
            </a:r>
            <a:endParaRPr lang="en-US" sz="560" dirty="0"/>
          </a:p>
        </p:txBody>
      </p:sp>
      <p:sp>
        <p:nvSpPr>
          <p:cNvPr id="23" name="Text 21"/>
          <p:cNvSpPr/>
          <p:nvPr/>
        </p:nvSpPr>
        <p:spPr>
          <a:xfrm>
            <a:off x="874450" y="5298214"/>
            <a:ext cx="43625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949561" y="5761967"/>
            <a:ext cx="28623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MDP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851804" y="5774672"/>
            <a:ext cx="23491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BHP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173278" y="6251130"/>
            <a:ext cx="321609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BMA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27833" y="6371833"/>
            <a:ext cx="81230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BHP Mitsubishi Alliance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1143499" y="5535554"/>
            <a:ext cx="245833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100%</a:t>
            </a:r>
            <a:endParaRPr lang="en-US" sz="540" dirty="0"/>
          </a:p>
        </p:txBody>
      </p:sp>
      <p:sp>
        <p:nvSpPr>
          <p:cNvPr id="29" name="Text 27"/>
          <p:cNvSpPr/>
          <p:nvPr/>
        </p:nvSpPr>
        <p:spPr>
          <a:xfrm>
            <a:off x="1143499" y="5992954"/>
            <a:ext cx="203904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50%</a:t>
            </a:r>
            <a:endParaRPr lang="en-US" sz="540" dirty="0"/>
          </a:p>
        </p:txBody>
      </p:sp>
      <p:sp>
        <p:nvSpPr>
          <p:cNvPr id="30" name="Text 28"/>
          <p:cNvSpPr/>
          <p:nvPr/>
        </p:nvSpPr>
        <p:spPr>
          <a:xfrm>
            <a:off x="2020182" y="5992954"/>
            <a:ext cx="203904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50%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3781092" y="5234686"/>
            <a:ext cx="52884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Broadmeadow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2439466" y="5107631"/>
            <a:ext cx="205420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520" dirty="0"/>
          </a:p>
        </p:txBody>
      </p:sp>
      <p:sp>
        <p:nvSpPr>
          <p:cNvPr id="33" name="Text 31"/>
          <p:cNvSpPr/>
          <p:nvPr/>
        </p:nvSpPr>
        <p:spPr>
          <a:xfrm>
            <a:off x="3781092" y="5387153"/>
            <a:ext cx="70267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Goonyella Riverside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2439466" y="5107631"/>
            <a:ext cx="205420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520" dirty="0"/>
          </a:p>
        </p:txBody>
      </p:sp>
      <p:sp>
        <p:nvSpPr>
          <p:cNvPr id="35" name="Text 33"/>
          <p:cNvSpPr/>
          <p:nvPr/>
        </p:nvSpPr>
        <p:spPr>
          <a:xfrm>
            <a:off x="3781092" y="5539620"/>
            <a:ext cx="44324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Caval Ridge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2439466" y="5107631"/>
            <a:ext cx="205420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520" dirty="0"/>
          </a:p>
        </p:txBody>
      </p:sp>
      <p:sp>
        <p:nvSpPr>
          <p:cNvPr id="37" name="Text 35"/>
          <p:cNvSpPr/>
          <p:nvPr/>
        </p:nvSpPr>
        <p:spPr>
          <a:xfrm>
            <a:off x="3781092" y="5692086"/>
            <a:ext cx="46027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Downs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2439466" y="5107631"/>
            <a:ext cx="205420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520" dirty="0"/>
          </a:p>
        </p:txBody>
      </p:sp>
      <p:sp>
        <p:nvSpPr>
          <p:cNvPr id="39" name="Text 37"/>
          <p:cNvSpPr/>
          <p:nvPr/>
        </p:nvSpPr>
        <p:spPr>
          <a:xfrm>
            <a:off x="3781092" y="5844553"/>
            <a:ext cx="23447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Saraji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2439466" y="5107631"/>
            <a:ext cx="205420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520" dirty="0"/>
          </a:p>
        </p:txBody>
      </p:sp>
      <p:sp>
        <p:nvSpPr>
          <p:cNvPr id="41" name="Text 39"/>
          <p:cNvSpPr/>
          <p:nvPr/>
        </p:nvSpPr>
        <p:spPr>
          <a:xfrm>
            <a:off x="3781092" y="5997019"/>
            <a:ext cx="55898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Daunia（売却）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2439466" y="5107631"/>
            <a:ext cx="205420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520" dirty="0"/>
          </a:p>
        </p:txBody>
      </p:sp>
      <p:sp>
        <p:nvSpPr>
          <p:cNvPr id="43" name="Text 41"/>
          <p:cNvSpPr/>
          <p:nvPr/>
        </p:nvSpPr>
        <p:spPr>
          <a:xfrm>
            <a:off x="3781092" y="6149486"/>
            <a:ext cx="69634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Blackwater（売却）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2439466" y="5107631"/>
            <a:ext cx="205420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520" dirty="0"/>
          </a:p>
        </p:txBody>
      </p:sp>
      <p:sp>
        <p:nvSpPr>
          <p:cNvPr id="45" name="Text 43"/>
          <p:cNvSpPr/>
          <p:nvPr/>
        </p:nvSpPr>
        <p:spPr>
          <a:xfrm>
            <a:off x="3154550" y="5344669"/>
            <a:ext cx="54981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ヘイポイント港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2439466" y="5107631"/>
            <a:ext cx="205420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520" dirty="0"/>
          </a:p>
        </p:txBody>
      </p:sp>
      <p:sp>
        <p:nvSpPr>
          <p:cNvPr id="47" name="Text 45"/>
          <p:cNvSpPr/>
          <p:nvPr/>
        </p:nvSpPr>
        <p:spPr>
          <a:xfrm>
            <a:off x="3910331" y="6433177"/>
            <a:ext cx="69132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グラッドストーン港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2439466" y="5107631"/>
            <a:ext cx="2054209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520" dirty="0"/>
          </a:p>
        </p:txBody>
      </p:sp>
      <p:sp>
        <p:nvSpPr>
          <p:cNvPr id="49" name="Text 47"/>
          <p:cNvSpPr/>
          <p:nvPr/>
        </p:nvSpPr>
        <p:spPr>
          <a:xfrm>
            <a:off x="2439466" y="6460772"/>
            <a:ext cx="154779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操業中　○売却（中低品位）　- -鉄道　■港湾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5450681" y="2337821"/>
            <a:ext cx="113528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2　銅事業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5450681" y="2507186"/>
            <a:ext cx="2034556" cy="660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4"/>
              </a:lnSpc>
              <a:buNone/>
            </a:pPr>
            <a:r>
              <a:rPr lang="en-US" sz="1700" spc="-42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partner</a:t>
            </a:r>
            <a:endParaRPr lang="en-US" sz="1700" dirty="0"/>
          </a:p>
          <a:p>
            <a:pPr algn="l" indent="0" marL="0">
              <a:lnSpc>
                <a:spcPts val="1734"/>
              </a:lnSpc>
              <a:buNone/>
            </a:pPr>
            <a:r>
              <a:rPr lang="en-US" sz="1700" spc="-42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copper industry</a:t>
            </a:r>
            <a:endParaRPr lang="en-US" sz="1700" dirty="0"/>
          </a:p>
          <a:p>
            <a:pPr algn="l" indent="0" marL="0">
              <a:lnSpc>
                <a:spcPts val="1734"/>
              </a:lnSpc>
              <a:buNone/>
            </a:pPr>
            <a:r>
              <a:rPr lang="en-US" sz="1700" spc="-42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calls first.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5450681" y="3396154"/>
            <a:ext cx="2165145" cy="3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日本最大の銅生産者として、業界か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ら声がかかる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50681" y="3886564"/>
            <a:ext cx="2203142" cy="620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66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電化や再エネ、AI・データセンターの広がりを背</a:t>
            </a:r>
            <a:endParaRPr lang="en-US" sz="660" dirty="0"/>
          </a:p>
          <a:p>
            <a:pPr algn="l" indent="0" marL="0">
              <a:lnSpc>
                <a:spcPts val="1221"/>
              </a:lnSpc>
              <a:buNone/>
            </a:pPr>
            <a:r>
              <a:rPr lang="en-US" sz="66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景に、銅の需要は拡大を続けています。主要メジ</a:t>
            </a:r>
            <a:endParaRPr lang="en-US" sz="660" dirty="0"/>
          </a:p>
          <a:p>
            <a:pPr algn="l" indent="0" marL="0">
              <a:lnSpc>
                <a:spcPts val="1221"/>
              </a:lnSpc>
              <a:buNone/>
            </a:pPr>
            <a:r>
              <a:rPr lang="en-US" sz="66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ャー各社との協業を通じ、世界最大級の銅ポジシ</a:t>
            </a:r>
            <a:endParaRPr lang="en-US" sz="660" dirty="0"/>
          </a:p>
          <a:p>
            <a:pPr algn="l" indent="0" marL="0">
              <a:lnSpc>
                <a:spcPts val="1221"/>
              </a:lnSpc>
              <a:buNone/>
            </a:pPr>
            <a:r>
              <a:rPr lang="en-US" sz="66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ョンを築いています。</a:t>
            </a:r>
            <a:endParaRPr lang="en-US" sz="660" dirty="0"/>
          </a:p>
        </p:txBody>
      </p:sp>
      <p:sp>
        <p:nvSpPr>
          <p:cNvPr id="54" name="Text 52"/>
          <p:cNvSpPr/>
          <p:nvPr/>
        </p:nvSpPr>
        <p:spPr>
          <a:xfrm>
            <a:off x="5450681" y="4840814"/>
            <a:ext cx="48582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</a:t>
            </a:r>
            <a:endParaRPr lang="en-US" sz="540" dirty="0"/>
          </a:p>
        </p:txBody>
      </p:sp>
      <p:sp>
        <p:nvSpPr>
          <p:cNvPr id="55" name="Text 53"/>
          <p:cNvSpPr/>
          <p:nvPr/>
        </p:nvSpPr>
        <p:spPr>
          <a:xfrm>
            <a:off x="6009725" y="4786371"/>
            <a:ext cx="1101869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上位5社で約25%</a:t>
            </a:r>
            <a:endParaRPr lang="en-US" sz="940" dirty="0"/>
          </a:p>
        </p:txBody>
      </p:sp>
      <p:sp>
        <p:nvSpPr>
          <p:cNvPr id="56" name="Text 54"/>
          <p:cNvSpPr/>
          <p:nvPr/>
        </p:nvSpPr>
        <p:spPr>
          <a:xfrm>
            <a:off x="6009725" y="4953386"/>
            <a:ext cx="1023253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寡占化が進まず再編の機運</a:t>
            </a:r>
            <a:endParaRPr lang="en-US" sz="580" dirty="0"/>
          </a:p>
        </p:txBody>
      </p:sp>
      <p:sp>
        <p:nvSpPr>
          <p:cNvPr id="57" name="Text 55"/>
          <p:cNvSpPr/>
          <p:nvPr/>
        </p:nvSpPr>
        <p:spPr>
          <a:xfrm>
            <a:off x="5450681" y="5221981"/>
            <a:ext cx="392582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SCALE</a:t>
            </a:r>
            <a:endParaRPr lang="en-US" sz="540" dirty="0"/>
          </a:p>
        </p:txBody>
      </p:sp>
      <p:sp>
        <p:nvSpPr>
          <p:cNvPr id="58" name="Text 56"/>
          <p:cNvSpPr/>
          <p:nvPr/>
        </p:nvSpPr>
        <p:spPr>
          <a:xfrm>
            <a:off x="6009725" y="5167538"/>
            <a:ext cx="1403229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持分生産量で日本最大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6009725" y="5334552"/>
            <a:ext cx="861218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パートナー型の生産者</a:t>
            </a:r>
            <a:endParaRPr lang="en-US" sz="580" dirty="0"/>
          </a:p>
        </p:txBody>
      </p:sp>
      <p:sp>
        <p:nvSpPr>
          <p:cNvPr id="60" name="Text 58"/>
          <p:cNvSpPr/>
          <p:nvPr/>
        </p:nvSpPr>
        <p:spPr>
          <a:xfrm>
            <a:off x="5450681" y="5603147"/>
            <a:ext cx="51945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4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QUALITY</a:t>
            </a:r>
            <a:endParaRPr lang="en-US" sz="540" dirty="0"/>
          </a:p>
        </p:txBody>
      </p:sp>
      <p:sp>
        <p:nvSpPr>
          <p:cNvPr id="61" name="Text 59"/>
          <p:cNvSpPr/>
          <p:nvPr/>
        </p:nvSpPr>
        <p:spPr>
          <a:xfrm>
            <a:off x="6009725" y="5548704"/>
            <a:ext cx="1476822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5鉱山すべて世界Top15</a:t>
            </a:r>
            <a:endParaRPr lang="en-US" sz="940" dirty="0"/>
          </a:p>
        </p:txBody>
      </p:sp>
      <p:sp>
        <p:nvSpPr>
          <p:cNvPr id="62" name="Text 60"/>
          <p:cNvSpPr/>
          <p:nvPr/>
        </p:nvSpPr>
        <p:spPr>
          <a:xfrm>
            <a:off x="6009725" y="5715719"/>
            <a:ext cx="1025655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平均コストは世界上位25%</a:t>
            </a:r>
            <a:endParaRPr lang="en-US" sz="580" dirty="0"/>
          </a:p>
        </p:txBody>
      </p:sp>
      <p:sp>
        <p:nvSpPr>
          <p:cNvPr id="63" name="Text 61"/>
          <p:cNvSpPr/>
          <p:nvPr/>
        </p:nvSpPr>
        <p:spPr>
          <a:xfrm>
            <a:off x="7712269" y="2337821"/>
            <a:ext cx="64655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早期の参画</a:t>
            </a:r>
            <a:endParaRPr lang="en-US" sz="660" dirty="0"/>
          </a:p>
        </p:txBody>
      </p:sp>
      <p:sp>
        <p:nvSpPr>
          <p:cNvPr id="64" name="Text 62"/>
          <p:cNvSpPr/>
          <p:nvPr/>
        </p:nvSpPr>
        <p:spPr>
          <a:xfrm>
            <a:off x="7712269" y="2490288"/>
            <a:ext cx="1056228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主要銅鉱山への参画年</a:t>
            </a:r>
            <a:endParaRPr lang="en-US" sz="660" dirty="0"/>
          </a:p>
        </p:txBody>
      </p:sp>
      <p:sp>
        <p:nvSpPr>
          <p:cNvPr id="65" name="Text 63"/>
          <p:cNvSpPr/>
          <p:nvPr/>
        </p:nvSpPr>
        <p:spPr>
          <a:xfrm>
            <a:off x="7712269" y="2744399"/>
            <a:ext cx="26090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1988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8195079" y="2739634"/>
            <a:ext cx="430798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Escondida</a:t>
            </a:r>
            <a:endParaRPr lang="en-US" sz="540" dirty="0"/>
          </a:p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540" dirty="0"/>
          </a:p>
        </p:txBody>
      </p:sp>
      <p:sp>
        <p:nvSpPr>
          <p:cNvPr id="67" name="Text 65"/>
          <p:cNvSpPr/>
          <p:nvPr/>
        </p:nvSpPr>
        <p:spPr>
          <a:xfrm>
            <a:off x="7712269" y="2960393"/>
            <a:ext cx="25434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1997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8195079" y="2955628"/>
            <a:ext cx="584316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Los Pelambres</a:t>
            </a:r>
            <a:endParaRPr lang="en-US" sz="540" dirty="0"/>
          </a:p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540" dirty="0"/>
          </a:p>
        </p:txBody>
      </p:sp>
      <p:sp>
        <p:nvSpPr>
          <p:cNvPr id="69" name="Text 67"/>
          <p:cNvSpPr/>
          <p:nvPr/>
        </p:nvSpPr>
        <p:spPr>
          <a:xfrm>
            <a:off x="7712269" y="3176387"/>
            <a:ext cx="26090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1999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8195079" y="3171623"/>
            <a:ext cx="398915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Antamina</a:t>
            </a:r>
            <a:endParaRPr lang="en-US" sz="540" dirty="0"/>
          </a:p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</a:t>
            </a:r>
            <a:endParaRPr lang="en-US" sz="540" dirty="0"/>
          </a:p>
        </p:txBody>
      </p:sp>
      <p:sp>
        <p:nvSpPr>
          <p:cNvPr id="71" name="Text 69"/>
          <p:cNvSpPr/>
          <p:nvPr/>
        </p:nvSpPr>
        <p:spPr>
          <a:xfrm>
            <a:off x="7712269" y="3392382"/>
            <a:ext cx="24321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2011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8195079" y="3387617"/>
            <a:ext cx="778890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Anglo American Sur</a:t>
            </a:r>
            <a:endParaRPr lang="en-US" sz="540" dirty="0"/>
          </a:p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540" dirty="0"/>
          </a:p>
        </p:txBody>
      </p:sp>
      <p:sp>
        <p:nvSpPr>
          <p:cNvPr id="73" name="Text 71"/>
          <p:cNvSpPr/>
          <p:nvPr/>
        </p:nvSpPr>
        <p:spPr>
          <a:xfrm>
            <a:off x="7712269" y="3608376"/>
            <a:ext cx="24321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2011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8195079" y="3603611"/>
            <a:ext cx="458313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Quellaveco</a:t>
            </a:r>
            <a:endParaRPr lang="en-US" sz="540" dirty="0"/>
          </a:p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</a:t>
            </a:r>
            <a:endParaRPr lang="en-US" sz="540" dirty="0"/>
          </a:p>
        </p:txBody>
      </p:sp>
      <p:sp>
        <p:nvSpPr>
          <p:cNvPr id="75" name="Text 73"/>
          <p:cNvSpPr/>
          <p:nvPr/>
        </p:nvSpPr>
        <p:spPr>
          <a:xfrm>
            <a:off x="7712269" y="3824370"/>
            <a:ext cx="27771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2023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8195079" y="3819606"/>
            <a:ext cx="503080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Marimaca</a:t>
            </a:r>
            <a:endParaRPr lang="en-US" sz="540" dirty="0"/>
          </a:p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チリ・開発中</a:t>
            </a:r>
            <a:endParaRPr lang="en-US" sz="540" dirty="0"/>
          </a:p>
        </p:txBody>
      </p:sp>
      <p:sp>
        <p:nvSpPr>
          <p:cNvPr id="77" name="Text 75"/>
          <p:cNvSpPr/>
          <p:nvPr/>
        </p:nvSpPr>
        <p:spPr>
          <a:xfrm>
            <a:off x="7712269" y="4040365"/>
            <a:ext cx="2757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2025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8195079" y="4035600"/>
            <a:ext cx="556582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Copper World</a:t>
            </a:r>
            <a:endParaRPr lang="en-US" sz="540" dirty="0"/>
          </a:p>
          <a:p>
            <a:pPr algn="l" indent="0" marL="0">
              <a:lnSpc>
                <a:spcPts val="675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米国・開発中</a:t>
            </a:r>
            <a:endParaRPr lang="en-US" sz="540" dirty="0"/>
          </a:p>
        </p:txBody>
      </p:sp>
      <p:sp>
        <p:nvSpPr>
          <p:cNvPr id="79" name="Text 77"/>
          <p:cNvSpPr/>
          <p:nvPr/>
        </p:nvSpPr>
        <p:spPr>
          <a:xfrm>
            <a:off x="7712269" y="4396120"/>
            <a:ext cx="5257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参画鉱山</a:t>
            </a:r>
            <a:endParaRPr lang="en-US" sz="660" dirty="0"/>
          </a:p>
        </p:txBody>
      </p:sp>
      <p:sp>
        <p:nvSpPr>
          <p:cNvPr id="80" name="Text 78"/>
          <p:cNvSpPr/>
          <p:nvPr/>
        </p:nvSpPr>
        <p:spPr>
          <a:xfrm>
            <a:off x="8347546" y="4396120"/>
            <a:ext cx="1656764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鉱山別生産量ランキング／出資比率</a:t>
            </a:r>
            <a:endParaRPr lang="en-US" sz="660" dirty="0"/>
          </a:p>
        </p:txBody>
      </p:sp>
      <p:sp>
        <p:nvSpPr>
          <p:cNvPr id="81" name="Text 79"/>
          <p:cNvSpPr/>
          <p:nvPr/>
        </p:nvSpPr>
        <p:spPr>
          <a:xfrm>
            <a:off x="7712269" y="4599409"/>
            <a:ext cx="204341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30" kern="0" dirty="0">
                <a:solidFill>
                  <a:srgbClr val="7D838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鉱山</a:t>
            </a:r>
            <a:endParaRPr lang="en-US" sz="520" dirty="0"/>
          </a:p>
        </p:txBody>
      </p:sp>
      <p:sp>
        <p:nvSpPr>
          <p:cNvPr id="82" name="Text 80"/>
          <p:cNvSpPr/>
          <p:nvPr/>
        </p:nvSpPr>
        <p:spPr>
          <a:xfrm>
            <a:off x="8550835" y="4599409"/>
            <a:ext cx="127691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30" kern="0" dirty="0">
                <a:solidFill>
                  <a:srgbClr val="7D838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国</a:t>
            </a:r>
            <a:endParaRPr lang="en-US" sz="520" dirty="0"/>
          </a:p>
        </p:txBody>
      </p:sp>
      <p:sp>
        <p:nvSpPr>
          <p:cNvPr id="83" name="Text 81"/>
          <p:cNvSpPr/>
          <p:nvPr/>
        </p:nvSpPr>
        <p:spPr>
          <a:xfrm>
            <a:off x="8881179" y="4599409"/>
            <a:ext cx="204341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30" kern="0" dirty="0">
                <a:solidFill>
                  <a:srgbClr val="7D838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順位</a:t>
            </a:r>
            <a:endParaRPr lang="en-US" sz="520" dirty="0"/>
          </a:p>
        </p:txBody>
      </p:sp>
      <p:sp>
        <p:nvSpPr>
          <p:cNvPr id="84" name="Text 82"/>
          <p:cNvSpPr/>
          <p:nvPr/>
        </p:nvSpPr>
        <p:spPr>
          <a:xfrm>
            <a:off x="9287757" y="4599409"/>
            <a:ext cx="204341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20" spc="30" kern="0" dirty="0">
                <a:solidFill>
                  <a:srgbClr val="7D838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出資</a:t>
            </a:r>
            <a:endParaRPr lang="en-US" sz="520" dirty="0"/>
          </a:p>
        </p:txBody>
      </p:sp>
      <p:sp>
        <p:nvSpPr>
          <p:cNvPr id="85" name="Text 83"/>
          <p:cNvSpPr/>
          <p:nvPr/>
        </p:nvSpPr>
        <p:spPr>
          <a:xfrm>
            <a:off x="7712269" y="4802698"/>
            <a:ext cx="49718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Escondida</a:t>
            </a:r>
            <a:endParaRPr lang="en-US" sz="580" dirty="0"/>
          </a:p>
        </p:txBody>
      </p:sp>
      <p:sp>
        <p:nvSpPr>
          <p:cNvPr id="86" name="Text 84"/>
          <p:cNvSpPr/>
          <p:nvPr/>
        </p:nvSpPr>
        <p:spPr>
          <a:xfrm>
            <a:off x="8550835" y="4796599"/>
            <a:ext cx="207398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560" dirty="0"/>
          </a:p>
        </p:txBody>
      </p:sp>
      <p:sp>
        <p:nvSpPr>
          <p:cNvPr id="87" name="Text 85"/>
          <p:cNvSpPr/>
          <p:nvPr/>
        </p:nvSpPr>
        <p:spPr>
          <a:xfrm>
            <a:off x="8881179" y="4789802"/>
            <a:ext cx="187744" cy="89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40" spc="-22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1位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9287757" y="4802698"/>
            <a:ext cx="32488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8.25%</a:t>
            </a:r>
            <a:endParaRPr lang="en-US" sz="580" dirty="0"/>
          </a:p>
        </p:txBody>
      </p:sp>
      <p:sp>
        <p:nvSpPr>
          <p:cNvPr id="89" name="Text 87"/>
          <p:cNvSpPr/>
          <p:nvPr/>
        </p:nvSpPr>
        <p:spPr>
          <a:xfrm>
            <a:off x="7712269" y="4993281"/>
            <a:ext cx="67909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Los Pelambres</a:t>
            </a:r>
            <a:endParaRPr lang="en-US" sz="580" dirty="0"/>
          </a:p>
        </p:txBody>
      </p:sp>
      <p:sp>
        <p:nvSpPr>
          <p:cNvPr id="90" name="Text 88"/>
          <p:cNvSpPr/>
          <p:nvPr/>
        </p:nvSpPr>
        <p:spPr>
          <a:xfrm>
            <a:off x="8550835" y="4987182"/>
            <a:ext cx="207398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560" dirty="0"/>
          </a:p>
        </p:txBody>
      </p:sp>
      <p:sp>
        <p:nvSpPr>
          <p:cNvPr id="91" name="Text 89"/>
          <p:cNvSpPr/>
          <p:nvPr/>
        </p:nvSpPr>
        <p:spPr>
          <a:xfrm>
            <a:off x="8881179" y="4980385"/>
            <a:ext cx="244959" cy="89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40" spc="-22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12位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9287757" y="4993281"/>
            <a:ext cx="18861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5%</a:t>
            </a:r>
            <a:endParaRPr lang="en-US" sz="580" dirty="0"/>
          </a:p>
        </p:txBody>
      </p:sp>
      <p:sp>
        <p:nvSpPr>
          <p:cNvPr id="93" name="Text 91"/>
          <p:cNvSpPr/>
          <p:nvPr/>
        </p:nvSpPr>
        <p:spPr>
          <a:xfrm>
            <a:off x="7712269" y="5183864"/>
            <a:ext cx="34999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AA Sur</a:t>
            </a:r>
            <a:endParaRPr lang="en-US" sz="580" dirty="0"/>
          </a:p>
        </p:txBody>
      </p:sp>
      <p:sp>
        <p:nvSpPr>
          <p:cNvPr id="94" name="Text 92"/>
          <p:cNvSpPr/>
          <p:nvPr/>
        </p:nvSpPr>
        <p:spPr>
          <a:xfrm>
            <a:off x="8550835" y="5177766"/>
            <a:ext cx="207398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560" dirty="0"/>
          </a:p>
        </p:txBody>
      </p:sp>
      <p:sp>
        <p:nvSpPr>
          <p:cNvPr id="95" name="Text 93"/>
          <p:cNvSpPr/>
          <p:nvPr/>
        </p:nvSpPr>
        <p:spPr>
          <a:xfrm>
            <a:off x="8881179" y="5170968"/>
            <a:ext cx="249763" cy="89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40" spc="-22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10位</a:t>
            </a:r>
            <a:endParaRPr lang="en-US" sz="740" dirty="0"/>
          </a:p>
        </p:txBody>
      </p:sp>
      <p:sp>
        <p:nvSpPr>
          <p:cNvPr id="96" name="Text 94"/>
          <p:cNvSpPr/>
          <p:nvPr/>
        </p:nvSpPr>
        <p:spPr>
          <a:xfrm>
            <a:off x="9287757" y="5183864"/>
            <a:ext cx="38755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20.44%</a:t>
            </a:r>
            <a:endParaRPr lang="en-US" sz="580" dirty="0"/>
          </a:p>
        </p:txBody>
      </p:sp>
      <p:sp>
        <p:nvSpPr>
          <p:cNvPr id="97" name="Text 95"/>
          <p:cNvSpPr/>
          <p:nvPr/>
        </p:nvSpPr>
        <p:spPr>
          <a:xfrm>
            <a:off x="7712269" y="5374447"/>
            <a:ext cx="47359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Marimaca</a:t>
            </a:r>
            <a:endParaRPr lang="en-US" sz="580" dirty="0"/>
          </a:p>
        </p:txBody>
      </p:sp>
      <p:sp>
        <p:nvSpPr>
          <p:cNvPr id="98" name="Text 96"/>
          <p:cNvSpPr/>
          <p:nvPr/>
        </p:nvSpPr>
        <p:spPr>
          <a:xfrm>
            <a:off x="8550835" y="5368349"/>
            <a:ext cx="207398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560" dirty="0"/>
          </a:p>
        </p:txBody>
      </p:sp>
      <p:sp>
        <p:nvSpPr>
          <p:cNvPr id="99" name="Text 97"/>
          <p:cNvSpPr/>
          <p:nvPr/>
        </p:nvSpPr>
        <p:spPr>
          <a:xfrm>
            <a:off x="8881179" y="5361551"/>
            <a:ext cx="351527" cy="89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40" spc="-22" kern="0" dirty="0">
                <a:solidFill>
                  <a:srgbClr val="7D838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開発中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9287757" y="5374447"/>
            <a:ext cx="18861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5%</a:t>
            </a:r>
            <a:endParaRPr lang="en-US" sz="580" dirty="0"/>
          </a:p>
        </p:txBody>
      </p:sp>
      <p:sp>
        <p:nvSpPr>
          <p:cNvPr id="101" name="Text 99"/>
          <p:cNvSpPr/>
          <p:nvPr/>
        </p:nvSpPr>
        <p:spPr>
          <a:xfrm>
            <a:off x="7712269" y="5565031"/>
            <a:ext cx="4587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Antamina</a:t>
            </a:r>
            <a:endParaRPr lang="en-US" sz="580" dirty="0"/>
          </a:p>
        </p:txBody>
      </p:sp>
      <p:sp>
        <p:nvSpPr>
          <p:cNvPr id="102" name="Text 100"/>
          <p:cNvSpPr/>
          <p:nvPr/>
        </p:nvSpPr>
        <p:spPr>
          <a:xfrm>
            <a:off x="8550835" y="5558932"/>
            <a:ext cx="285577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</a:t>
            </a:r>
            <a:endParaRPr lang="en-US" sz="560" dirty="0"/>
          </a:p>
        </p:txBody>
      </p:sp>
      <p:sp>
        <p:nvSpPr>
          <p:cNvPr id="103" name="Text 101"/>
          <p:cNvSpPr/>
          <p:nvPr/>
        </p:nvSpPr>
        <p:spPr>
          <a:xfrm>
            <a:off x="8881179" y="5552135"/>
            <a:ext cx="212858" cy="89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40" spc="-22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4位</a:t>
            </a:r>
            <a:endParaRPr lang="en-US" sz="740" dirty="0"/>
          </a:p>
        </p:txBody>
      </p:sp>
      <p:sp>
        <p:nvSpPr>
          <p:cNvPr id="104" name="Text 102"/>
          <p:cNvSpPr/>
          <p:nvPr/>
        </p:nvSpPr>
        <p:spPr>
          <a:xfrm>
            <a:off x="9287757" y="5565031"/>
            <a:ext cx="22989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10%</a:t>
            </a:r>
            <a:endParaRPr lang="en-US" sz="580" dirty="0"/>
          </a:p>
        </p:txBody>
      </p:sp>
      <p:sp>
        <p:nvSpPr>
          <p:cNvPr id="105" name="Text 103"/>
          <p:cNvSpPr/>
          <p:nvPr/>
        </p:nvSpPr>
        <p:spPr>
          <a:xfrm>
            <a:off x="7712269" y="5755614"/>
            <a:ext cx="53103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Quellaveco</a:t>
            </a:r>
            <a:endParaRPr lang="en-US" sz="580" dirty="0"/>
          </a:p>
        </p:txBody>
      </p:sp>
      <p:sp>
        <p:nvSpPr>
          <p:cNvPr id="106" name="Text 104"/>
          <p:cNvSpPr/>
          <p:nvPr/>
        </p:nvSpPr>
        <p:spPr>
          <a:xfrm>
            <a:off x="8550835" y="5749515"/>
            <a:ext cx="285577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</a:t>
            </a:r>
            <a:endParaRPr lang="en-US" sz="560" dirty="0"/>
          </a:p>
        </p:txBody>
      </p:sp>
      <p:sp>
        <p:nvSpPr>
          <p:cNvPr id="107" name="Text 105"/>
          <p:cNvSpPr/>
          <p:nvPr/>
        </p:nvSpPr>
        <p:spPr>
          <a:xfrm>
            <a:off x="8881179" y="5742718"/>
            <a:ext cx="246051" cy="89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40" spc="-22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15位</a:t>
            </a:r>
            <a:endParaRPr lang="en-US" sz="740" dirty="0"/>
          </a:p>
        </p:txBody>
      </p:sp>
      <p:sp>
        <p:nvSpPr>
          <p:cNvPr id="108" name="Text 106"/>
          <p:cNvSpPr/>
          <p:nvPr/>
        </p:nvSpPr>
        <p:spPr>
          <a:xfrm>
            <a:off x="9287757" y="5755614"/>
            <a:ext cx="24954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40%</a:t>
            </a:r>
            <a:endParaRPr lang="en-US" sz="580" dirty="0"/>
          </a:p>
        </p:txBody>
      </p:sp>
      <p:sp>
        <p:nvSpPr>
          <p:cNvPr id="109" name="Text 107"/>
          <p:cNvSpPr/>
          <p:nvPr/>
        </p:nvSpPr>
        <p:spPr>
          <a:xfrm>
            <a:off x="7712269" y="5946197"/>
            <a:ext cx="64502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Copper World</a:t>
            </a:r>
            <a:endParaRPr lang="en-US" sz="580" dirty="0"/>
          </a:p>
        </p:txBody>
      </p:sp>
      <p:sp>
        <p:nvSpPr>
          <p:cNvPr id="110" name="Text 108"/>
          <p:cNvSpPr/>
          <p:nvPr/>
        </p:nvSpPr>
        <p:spPr>
          <a:xfrm>
            <a:off x="8550835" y="5940099"/>
            <a:ext cx="207398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米国</a:t>
            </a:r>
            <a:endParaRPr lang="en-US" sz="560" dirty="0"/>
          </a:p>
        </p:txBody>
      </p:sp>
      <p:sp>
        <p:nvSpPr>
          <p:cNvPr id="111" name="Text 109"/>
          <p:cNvSpPr/>
          <p:nvPr/>
        </p:nvSpPr>
        <p:spPr>
          <a:xfrm>
            <a:off x="8881179" y="5933301"/>
            <a:ext cx="351527" cy="89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40" spc="-22" kern="0" dirty="0">
                <a:solidFill>
                  <a:srgbClr val="7D838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開発中</a:t>
            </a:r>
            <a:endParaRPr lang="en-US" sz="740" dirty="0"/>
          </a:p>
        </p:txBody>
      </p:sp>
      <p:sp>
        <p:nvSpPr>
          <p:cNvPr id="112" name="Text 110"/>
          <p:cNvSpPr/>
          <p:nvPr/>
        </p:nvSpPr>
        <p:spPr>
          <a:xfrm>
            <a:off x="9287757" y="5946197"/>
            <a:ext cx="24714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30%</a:t>
            </a:r>
            <a:endParaRPr lang="en-US" sz="580" dirty="0"/>
          </a:p>
        </p:txBody>
      </p:sp>
      <p:sp>
        <p:nvSpPr>
          <p:cNvPr id="113" name="Text 111"/>
          <p:cNvSpPr/>
          <p:nvPr/>
        </p:nvSpPr>
        <p:spPr>
          <a:xfrm>
            <a:off x="10393140" y="2337821"/>
            <a:ext cx="238461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3　トレーディング事業（RtM）</a:t>
            </a:r>
            <a:endParaRPr lang="en-US" sz="660" dirty="0"/>
          </a:p>
        </p:txBody>
      </p:sp>
      <p:sp>
        <p:nvSpPr>
          <p:cNvPr id="114" name="Text 112"/>
          <p:cNvSpPr/>
          <p:nvPr/>
        </p:nvSpPr>
        <p:spPr>
          <a:xfrm>
            <a:off x="10393140" y="2513031"/>
            <a:ext cx="2561498" cy="27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2"/>
              </a:lnSpc>
              <a:buNone/>
            </a:pPr>
            <a:r>
              <a:rPr lang="en-US" sz="2100" spc="-52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Resource to Market.</a:t>
            </a:r>
            <a:endParaRPr lang="en-US" sz="2100" dirty="0"/>
          </a:p>
        </p:txBody>
      </p:sp>
      <p:sp>
        <p:nvSpPr>
          <p:cNvPr id="115" name="Text 113"/>
          <p:cNvSpPr/>
          <p:nvPr/>
        </p:nvSpPr>
        <p:spPr>
          <a:xfrm>
            <a:off x="10393140" y="2995929"/>
            <a:ext cx="3498116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一つの商品の中で、投資から販売までを一気通貫でつなぐ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10393140" y="3272314"/>
            <a:ext cx="314621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15</a:t>
            </a:r>
            <a:endParaRPr lang="en-US" sz="2200" dirty="0"/>
          </a:p>
        </p:txBody>
      </p:sp>
      <p:sp>
        <p:nvSpPr>
          <p:cNvPr id="117" name="Text 115"/>
          <p:cNvSpPr/>
          <p:nvPr/>
        </p:nvSpPr>
        <p:spPr>
          <a:xfrm>
            <a:off x="10393140" y="3608376"/>
            <a:ext cx="634543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00" spc="12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INDUSTRIES</a:t>
            </a:r>
            <a:endParaRPr lang="en-US" sz="500" dirty="0"/>
          </a:p>
        </p:txBody>
      </p:sp>
      <p:sp>
        <p:nvSpPr>
          <p:cNvPr id="118" name="Text 116"/>
          <p:cNvSpPr/>
          <p:nvPr/>
        </p:nvSpPr>
        <p:spPr>
          <a:xfrm>
            <a:off x="10393140" y="3703922"/>
            <a:ext cx="441935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業界に販売</a:t>
            </a:r>
            <a:endParaRPr lang="en-US" sz="560" dirty="0"/>
          </a:p>
        </p:txBody>
      </p:sp>
      <p:sp>
        <p:nvSpPr>
          <p:cNvPr id="119" name="Text 117"/>
          <p:cNvSpPr/>
          <p:nvPr/>
        </p:nvSpPr>
        <p:spPr>
          <a:xfrm>
            <a:off x="11816161" y="3272314"/>
            <a:ext cx="383191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50</a:t>
            </a:r>
            <a:endParaRPr lang="en-US" sz="2200" dirty="0"/>
          </a:p>
        </p:txBody>
      </p:sp>
      <p:sp>
        <p:nvSpPr>
          <p:cNvPr id="120" name="Text 118"/>
          <p:cNvSpPr/>
          <p:nvPr/>
        </p:nvSpPr>
        <p:spPr>
          <a:xfrm>
            <a:off x="11816161" y="3608376"/>
            <a:ext cx="608556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00" spc="12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COUNTRIES</a:t>
            </a:r>
            <a:endParaRPr lang="en-US" sz="500" dirty="0"/>
          </a:p>
        </p:txBody>
      </p:sp>
      <p:sp>
        <p:nvSpPr>
          <p:cNvPr id="121" name="Text 119"/>
          <p:cNvSpPr/>
          <p:nvPr/>
        </p:nvSpPr>
        <p:spPr>
          <a:xfrm>
            <a:off x="11816161" y="3703922"/>
            <a:ext cx="441935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カ国に販売</a:t>
            </a:r>
            <a:endParaRPr lang="en-US" sz="560" dirty="0"/>
          </a:p>
        </p:txBody>
      </p:sp>
      <p:sp>
        <p:nvSpPr>
          <p:cNvPr id="122" name="Text 120"/>
          <p:cNvSpPr/>
          <p:nvPr/>
        </p:nvSpPr>
        <p:spPr>
          <a:xfrm>
            <a:off x="13239183" y="3272314"/>
            <a:ext cx="1020633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〜1,000</a:t>
            </a:r>
            <a:endParaRPr lang="en-US" sz="2200" dirty="0"/>
          </a:p>
        </p:txBody>
      </p:sp>
      <p:sp>
        <p:nvSpPr>
          <p:cNvPr id="123" name="Text 121"/>
          <p:cNvSpPr/>
          <p:nvPr/>
        </p:nvSpPr>
        <p:spPr>
          <a:xfrm>
            <a:off x="13239183" y="3608376"/>
            <a:ext cx="643060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00" spc="12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CUSTOMERS</a:t>
            </a:r>
            <a:endParaRPr lang="en-US" sz="500" dirty="0"/>
          </a:p>
        </p:txBody>
      </p:sp>
      <p:sp>
        <p:nvSpPr>
          <p:cNvPr id="124" name="Text 122"/>
          <p:cNvSpPr/>
          <p:nvPr/>
        </p:nvSpPr>
        <p:spPr>
          <a:xfrm>
            <a:off x="13239183" y="3703922"/>
            <a:ext cx="441935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社の販売先</a:t>
            </a:r>
            <a:endParaRPr lang="en-US" sz="560" dirty="0"/>
          </a:p>
        </p:txBody>
      </p:sp>
      <p:sp>
        <p:nvSpPr>
          <p:cNvPr id="125" name="Text 123"/>
          <p:cNvSpPr/>
          <p:nvPr/>
        </p:nvSpPr>
        <p:spPr>
          <a:xfrm>
            <a:off x="10393140" y="3964131"/>
            <a:ext cx="154102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RtM事業のビジネスモデル</a:t>
            </a:r>
            <a:endParaRPr lang="en-US" sz="660" dirty="0"/>
          </a:p>
        </p:txBody>
      </p:sp>
      <p:sp>
        <p:nvSpPr>
          <p:cNvPr id="126" name="Text 124"/>
          <p:cNvSpPr/>
          <p:nvPr/>
        </p:nvSpPr>
        <p:spPr>
          <a:xfrm>
            <a:off x="12278355" y="4192831"/>
            <a:ext cx="447613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680" dirty="0"/>
          </a:p>
        </p:txBody>
      </p:sp>
      <p:sp>
        <p:nvSpPr>
          <p:cNvPr id="127" name="Text 125"/>
          <p:cNvSpPr/>
          <p:nvPr/>
        </p:nvSpPr>
        <p:spPr>
          <a:xfrm>
            <a:off x="11569038" y="4487846"/>
            <a:ext cx="456129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第三者取引</a:t>
            </a:r>
            <a:endParaRPr lang="en-US" sz="580" dirty="0"/>
          </a:p>
        </p:txBody>
      </p:sp>
      <p:sp>
        <p:nvSpPr>
          <p:cNvPr id="128" name="Text 126"/>
          <p:cNvSpPr/>
          <p:nvPr/>
        </p:nvSpPr>
        <p:spPr>
          <a:xfrm>
            <a:off x="12961229" y="4487846"/>
            <a:ext cx="492380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MC保有資産</a:t>
            </a:r>
            <a:endParaRPr lang="en-US" sz="580" dirty="0"/>
          </a:p>
        </p:txBody>
      </p:sp>
      <p:sp>
        <p:nvSpPr>
          <p:cNvPr id="129" name="Text 127"/>
          <p:cNvSpPr/>
          <p:nvPr/>
        </p:nvSpPr>
        <p:spPr>
          <a:xfrm>
            <a:off x="12322676" y="5113984"/>
            <a:ext cx="35917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RtM</a:t>
            </a:r>
            <a:endParaRPr lang="en-US" sz="1200" dirty="0"/>
          </a:p>
        </p:txBody>
      </p:sp>
      <p:sp>
        <p:nvSpPr>
          <p:cNvPr id="130" name="Text 128"/>
          <p:cNvSpPr/>
          <p:nvPr/>
        </p:nvSpPr>
        <p:spPr>
          <a:xfrm>
            <a:off x="12284033" y="5844553"/>
            <a:ext cx="43625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顧客基盤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10966160" y="4745777"/>
            <a:ext cx="595890" cy="227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資源確保による</a:t>
            </a:r>
            <a:endParaRPr lang="en-US" sz="560" dirty="0"/>
          </a:p>
          <a:p>
            <a:pPr algn="r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安定供給</a:t>
            </a:r>
            <a:endParaRPr lang="en-US" sz="560" dirty="0"/>
          </a:p>
        </p:txBody>
      </p:sp>
      <p:sp>
        <p:nvSpPr>
          <p:cNvPr id="132" name="Text 130"/>
          <p:cNvSpPr/>
          <p:nvPr/>
        </p:nvSpPr>
        <p:spPr>
          <a:xfrm>
            <a:off x="13442471" y="4720366"/>
            <a:ext cx="676471" cy="34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市場・業界動向の</a:t>
            </a:r>
            <a:endParaRPr lang="en-US" sz="560" dirty="0"/>
          </a:p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発信と知見共有で</a:t>
            </a:r>
            <a:endParaRPr lang="en-US" sz="560" dirty="0"/>
          </a:p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事業機会を発掘</a:t>
            </a:r>
            <a:endParaRPr lang="en-US" sz="560" dirty="0"/>
          </a:p>
        </p:txBody>
      </p:sp>
      <p:sp>
        <p:nvSpPr>
          <p:cNvPr id="133" name="Text 131"/>
          <p:cNvSpPr/>
          <p:nvPr/>
        </p:nvSpPr>
        <p:spPr>
          <a:xfrm>
            <a:off x="10809802" y="5457288"/>
            <a:ext cx="752248" cy="34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トレーディング機能</a:t>
            </a:r>
            <a:endParaRPr lang="en-US" sz="560" dirty="0"/>
          </a:p>
          <a:p>
            <a:pPr algn="r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強化による継続的な</a:t>
            </a:r>
            <a:endParaRPr lang="en-US" sz="560" dirty="0"/>
          </a:p>
          <a:p>
            <a:pPr algn="r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付加価値創出</a:t>
            </a:r>
            <a:endParaRPr lang="en-US" sz="560" dirty="0"/>
          </a:p>
        </p:txBody>
      </p:sp>
      <p:sp>
        <p:nvSpPr>
          <p:cNvPr id="134" name="Text 132"/>
          <p:cNvSpPr/>
          <p:nvPr/>
        </p:nvSpPr>
        <p:spPr>
          <a:xfrm>
            <a:off x="13442471" y="5457288"/>
            <a:ext cx="674724" cy="34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広い産業接点を</a:t>
            </a:r>
            <a:endParaRPr lang="en-US" sz="560" dirty="0"/>
          </a:p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生かした</a:t>
            </a:r>
            <a:endParaRPr lang="en-US" sz="560" dirty="0"/>
          </a:p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インテリジェンス</a:t>
            </a:r>
            <a:endParaRPr lang="en-US" sz="560" dirty="0"/>
          </a:p>
        </p:txBody>
      </p:sp>
      <p:sp>
        <p:nvSpPr>
          <p:cNvPr id="135" name="Text 133"/>
          <p:cNvSpPr/>
          <p:nvPr/>
        </p:nvSpPr>
        <p:spPr>
          <a:xfrm>
            <a:off x="10393140" y="6124075"/>
            <a:ext cx="622751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Sustainability</a:t>
            </a:r>
            <a:endParaRPr lang="en-US" sz="560" dirty="0"/>
          </a:p>
        </p:txBody>
      </p:sp>
      <p:sp>
        <p:nvSpPr>
          <p:cNvPr id="136" name="Text 134"/>
          <p:cNvSpPr/>
          <p:nvPr/>
        </p:nvSpPr>
        <p:spPr>
          <a:xfrm>
            <a:off x="11460406" y="6124075"/>
            <a:ext cx="854667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Market Intelligence</a:t>
            </a:r>
            <a:endParaRPr lang="en-US" sz="560" dirty="0"/>
          </a:p>
        </p:txBody>
      </p:sp>
      <p:sp>
        <p:nvSpPr>
          <p:cNvPr id="137" name="Text 135"/>
          <p:cNvSpPr/>
          <p:nvPr/>
        </p:nvSpPr>
        <p:spPr>
          <a:xfrm>
            <a:off x="12527672" y="6124075"/>
            <a:ext cx="716871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Professionalism</a:t>
            </a:r>
            <a:endParaRPr lang="en-US" sz="560" dirty="0"/>
          </a:p>
        </p:txBody>
      </p:sp>
      <p:sp>
        <p:nvSpPr>
          <p:cNvPr id="138" name="Text 136"/>
          <p:cNvSpPr/>
          <p:nvPr/>
        </p:nvSpPr>
        <p:spPr>
          <a:xfrm>
            <a:off x="13594938" y="6124075"/>
            <a:ext cx="694160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30" kern="0" dirty="0">
                <a:solidFill>
                  <a:srgbClr val="3D424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Global Network</a:t>
            </a:r>
            <a:endParaRPr lang="en-US" sz="560" dirty="0"/>
          </a:p>
        </p:txBody>
      </p:sp>
      <p:sp>
        <p:nvSpPr>
          <p:cNvPr id="139" name="Text 137"/>
          <p:cNvSpPr/>
          <p:nvPr/>
        </p:nvSpPr>
        <p:spPr>
          <a:xfrm>
            <a:off x="10393140" y="6276541"/>
            <a:ext cx="88414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多様な取引機能</a:t>
            </a:r>
            <a:endParaRPr lang="en-US" sz="660" dirty="0"/>
          </a:p>
        </p:txBody>
      </p:sp>
      <p:sp>
        <p:nvSpPr>
          <p:cNvPr id="140" name="Text 138"/>
          <p:cNvSpPr/>
          <p:nvPr/>
        </p:nvSpPr>
        <p:spPr>
          <a:xfrm>
            <a:off x="10647251" y="6490757"/>
            <a:ext cx="618165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取扱商品の広さ</a:t>
            </a:r>
            <a:endParaRPr lang="en-US" sz="580" dirty="0"/>
          </a:p>
        </p:txBody>
      </p:sp>
      <p:sp>
        <p:nvSpPr>
          <p:cNvPr id="141" name="Text 139"/>
          <p:cNvSpPr/>
          <p:nvPr/>
        </p:nvSpPr>
        <p:spPr>
          <a:xfrm>
            <a:off x="11714517" y="6490757"/>
            <a:ext cx="213076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在庫</a:t>
            </a:r>
            <a:endParaRPr lang="en-US" sz="580" dirty="0"/>
          </a:p>
        </p:txBody>
      </p:sp>
      <p:sp>
        <p:nvSpPr>
          <p:cNvPr id="142" name="Text 140"/>
          <p:cNvSpPr/>
          <p:nvPr/>
        </p:nvSpPr>
        <p:spPr>
          <a:xfrm>
            <a:off x="12781783" y="6490757"/>
            <a:ext cx="375111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輸送手配</a:t>
            </a:r>
            <a:endParaRPr lang="en-US" sz="580" dirty="0"/>
          </a:p>
        </p:txBody>
      </p:sp>
      <p:sp>
        <p:nvSpPr>
          <p:cNvPr id="143" name="Text 141"/>
          <p:cNvSpPr/>
          <p:nvPr/>
        </p:nvSpPr>
        <p:spPr>
          <a:xfrm>
            <a:off x="13849049" y="6490757"/>
            <a:ext cx="294094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ヘッジ</a:t>
            </a:r>
            <a:endParaRPr lang="en-US" sz="580" dirty="0"/>
          </a:p>
        </p:txBody>
      </p:sp>
      <p:sp>
        <p:nvSpPr>
          <p:cNvPr id="144" name="Text 142"/>
          <p:cNvSpPr/>
          <p:nvPr/>
        </p:nvSpPr>
        <p:spPr>
          <a:xfrm>
            <a:off x="508222" y="7089697"/>
            <a:ext cx="178713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NEW TECHNOLOGY　新技術</a:t>
            </a:r>
            <a:endParaRPr lang="en-US" sz="660" dirty="0"/>
          </a:p>
        </p:txBody>
      </p:sp>
      <p:sp>
        <p:nvSpPr>
          <p:cNvPr id="145" name="Text 143"/>
          <p:cNvSpPr/>
          <p:nvPr/>
        </p:nvSpPr>
        <p:spPr>
          <a:xfrm>
            <a:off x="508222" y="7290190"/>
            <a:ext cx="1658293" cy="57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200" spc="-5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Investing in</a:t>
            </a:r>
            <a:endParaRPr lang="en-US" sz="2200" dirty="0"/>
          </a:p>
          <a:p>
            <a:pPr algn="l" indent="0" marL="0">
              <a:lnSpc>
                <a:spcPts val="2244"/>
              </a:lnSpc>
              <a:buNone/>
            </a:pPr>
            <a:r>
              <a:rPr lang="en-US" sz="2200" spc="-5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what's next.</a:t>
            </a:r>
            <a:endParaRPr lang="en-US" sz="2200" dirty="0"/>
          </a:p>
        </p:txBody>
      </p:sp>
      <p:sp>
        <p:nvSpPr>
          <p:cNvPr id="146" name="Text 144"/>
          <p:cNvSpPr/>
          <p:nvPr/>
        </p:nvSpPr>
        <p:spPr>
          <a:xfrm>
            <a:off x="508222" y="8052142"/>
            <a:ext cx="2706500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業界のボトルネックに挑む新技術へ投資する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508222" y="8332331"/>
            <a:ext cx="3405087" cy="47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6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業界の課題を見極め、課題を解く技術を持つスタートアップに出資。トレー</a:t>
            </a:r>
            <a:endParaRPr lang="en-US" sz="67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6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ディングや業界とのつながりを生かして技術を現場に取り入れ、知見を既存</a:t>
            </a:r>
            <a:endParaRPr lang="en-US" sz="67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6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事業の高度化に還元しています。</a:t>
            </a:r>
            <a:endParaRPr lang="en-US" sz="670" dirty="0"/>
          </a:p>
        </p:txBody>
      </p:sp>
      <p:sp>
        <p:nvSpPr>
          <p:cNvPr id="148" name="Text 146"/>
          <p:cNvSpPr/>
          <p:nvPr/>
        </p:nvSpPr>
        <p:spPr>
          <a:xfrm>
            <a:off x="4698671" y="7083344"/>
            <a:ext cx="47512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Upstream</a:t>
            </a:r>
            <a:endParaRPr lang="en-US" sz="600" dirty="0"/>
          </a:p>
        </p:txBody>
      </p:sp>
      <p:sp>
        <p:nvSpPr>
          <p:cNvPr id="149" name="Text 147"/>
          <p:cNvSpPr/>
          <p:nvPr/>
        </p:nvSpPr>
        <p:spPr>
          <a:xfrm>
            <a:off x="6149883" y="7083344"/>
            <a:ext cx="38537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Trading</a:t>
            </a:r>
            <a:endParaRPr lang="en-US" sz="600" dirty="0"/>
          </a:p>
        </p:txBody>
      </p:sp>
      <p:sp>
        <p:nvSpPr>
          <p:cNvPr id="150" name="Text 148"/>
          <p:cNvSpPr/>
          <p:nvPr/>
        </p:nvSpPr>
        <p:spPr>
          <a:xfrm>
            <a:off x="7602882" y="7083344"/>
            <a:ext cx="51487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Midstream</a:t>
            </a:r>
            <a:endParaRPr lang="en-US" sz="600" dirty="0"/>
          </a:p>
        </p:txBody>
      </p:sp>
      <p:sp>
        <p:nvSpPr>
          <p:cNvPr id="151" name="Text 149"/>
          <p:cNvSpPr/>
          <p:nvPr/>
        </p:nvSpPr>
        <p:spPr>
          <a:xfrm>
            <a:off x="9173804" y="7083344"/>
            <a:ext cx="38537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Trading</a:t>
            </a:r>
            <a:endParaRPr lang="en-US" sz="600" dirty="0"/>
          </a:p>
        </p:txBody>
      </p:sp>
      <p:sp>
        <p:nvSpPr>
          <p:cNvPr id="152" name="Text 150"/>
          <p:cNvSpPr/>
          <p:nvPr/>
        </p:nvSpPr>
        <p:spPr>
          <a:xfrm>
            <a:off x="10296260" y="7083344"/>
            <a:ext cx="59938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Downstream</a:t>
            </a:r>
            <a:endParaRPr lang="en-US" sz="600" dirty="0"/>
          </a:p>
        </p:txBody>
      </p:sp>
      <p:sp>
        <p:nvSpPr>
          <p:cNvPr id="153" name="Text 151"/>
          <p:cNvSpPr/>
          <p:nvPr/>
        </p:nvSpPr>
        <p:spPr>
          <a:xfrm>
            <a:off x="4192831" y="7292985"/>
            <a:ext cx="58846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鉱石 Cu約1%</a:t>
            </a:r>
            <a:endParaRPr lang="en-US" sz="600" dirty="0"/>
          </a:p>
        </p:txBody>
      </p:sp>
      <p:sp>
        <p:nvSpPr>
          <p:cNvPr id="154" name="Text 152"/>
          <p:cNvSpPr/>
          <p:nvPr/>
        </p:nvSpPr>
        <p:spPr>
          <a:xfrm>
            <a:off x="6098664" y="7292985"/>
            <a:ext cx="866677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銅精鉱 Cu20〜30%</a:t>
            </a:r>
            <a:endParaRPr lang="en-US" sz="600" dirty="0"/>
          </a:p>
        </p:txBody>
      </p:sp>
      <p:sp>
        <p:nvSpPr>
          <p:cNvPr id="155" name="Text 153"/>
          <p:cNvSpPr/>
          <p:nvPr/>
        </p:nvSpPr>
        <p:spPr>
          <a:xfrm>
            <a:off x="7775796" y="7292985"/>
            <a:ext cx="80422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銅地金 Cu99.99%</a:t>
            </a:r>
            <a:endParaRPr lang="en-US" sz="600" dirty="0"/>
          </a:p>
        </p:txBody>
      </p:sp>
      <p:sp>
        <p:nvSpPr>
          <p:cNvPr id="156" name="Text 154"/>
          <p:cNvSpPr/>
          <p:nvPr/>
        </p:nvSpPr>
        <p:spPr>
          <a:xfrm>
            <a:off x="3900604" y="7597919"/>
            <a:ext cx="38908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Mining</a:t>
            </a:r>
            <a:endParaRPr lang="en-US" sz="680" dirty="0"/>
          </a:p>
        </p:txBody>
      </p:sp>
      <p:sp>
        <p:nvSpPr>
          <p:cNvPr id="157" name="Text 155"/>
          <p:cNvSpPr/>
          <p:nvPr/>
        </p:nvSpPr>
        <p:spPr>
          <a:xfrm>
            <a:off x="3900604" y="7708203"/>
            <a:ext cx="201720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採掘</a:t>
            </a:r>
            <a:endParaRPr lang="en-US" sz="540" dirty="0"/>
          </a:p>
        </p:txBody>
      </p:sp>
      <p:sp>
        <p:nvSpPr>
          <p:cNvPr id="158" name="Text 156"/>
          <p:cNvSpPr/>
          <p:nvPr/>
        </p:nvSpPr>
        <p:spPr>
          <a:xfrm>
            <a:off x="3887898" y="7898786"/>
            <a:ext cx="721238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Escondida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8.25%</a:t>
            </a:r>
            <a:endParaRPr lang="en-US" sz="540" dirty="0"/>
          </a:p>
        </p:txBody>
      </p:sp>
      <p:sp>
        <p:nvSpPr>
          <p:cNvPr id="159" name="Text 157"/>
          <p:cNvSpPr/>
          <p:nvPr/>
        </p:nvSpPr>
        <p:spPr>
          <a:xfrm>
            <a:off x="3887898" y="8076664"/>
            <a:ext cx="753121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Los Pelambres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5%</a:t>
            </a:r>
            <a:endParaRPr lang="en-US" sz="540" dirty="0"/>
          </a:p>
        </p:txBody>
      </p:sp>
      <p:sp>
        <p:nvSpPr>
          <p:cNvPr id="160" name="Text 158"/>
          <p:cNvSpPr/>
          <p:nvPr/>
        </p:nvSpPr>
        <p:spPr>
          <a:xfrm>
            <a:off x="3887898" y="8254541"/>
            <a:ext cx="629084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AA Sur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20.44%</a:t>
            </a:r>
            <a:endParaRPr lang="en-US" sz="540" dirty="0"/>
          </a:p>
        </p:txBody>
      </p:sp>
      <p:sp>
        <p:nvSpPr>
          <p:cNvPr id="161" name="Text 159"/>
          <p:cNvSpPr/>
          <p:nvPr/>
        </p:nvSpPr>
        <p:spPr>
          <a:xfrm>
            <a:off x="3887898" y="8432419"/>
            <a:ext cx="627555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Antamina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10%</a:t>
            </a:r>
            <a:endParaRPr lang="en-US" sz="540" dirty="0"/>
          </a:p>
        </p:txBody>
      </p:sp>
      <p:sp>
        <p:nvSpPr>
          <p:cNvPr id="162" name="Text 160"/>
          <p:cNvSpPr/>
          <p:nvPr/>
        </p:nvSpPr>
        <p:spPr>
          <a:xfrm>
            <a:off x="3887898" y="8610297"/>
            <a:ext cx="679092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Quellaveco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40%</a:t>
            </a:r>
            <a:endParaRPr lang="en-US" sz="540" dirty="0"/>
          </a:p>
        </p:txBody>
      </p:sp>
      <p:sp>
        <p:nvSpPr>
          <p:cNvPr id="163" name="Text 161"/>
          <p:cNvSpPr/>
          <p:nvPr/>
        </p:nvSpPr>
        <p:spPr>
          <a:xfrm>
            <a:off x="3887898" y="8788175"/>
            <a:ext cx="589121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Marimaca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5%</a:t>
            </a:r>
            <a:endParaRPr lang="en-US" sz="540" dirty="0"/>
          </a:p>
        </p:txBody>
      </p:sp>
      <p:sp>
        <p:nvSpPr>
          <p:cNvPr id="164" name="Text 162"/>
          <p:cNvSpPr/>
          <p:nvPr/>
        </p:nvSpPr>
        <p:spPr>
          <a:xfrm>
            <a:off x="3887898" y="8966052"/>
            <a:ext cx="772120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Copper World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30%</a:t>
            </a:r>
            <a:endParaRPr lang="en-US" sz="540" dirty="0"/>
          </a:p>
        </p:txBody>
      </p:sp>
      <p:sp>
        <p:nvSpPr>
          <p:cNvPr id="165" name="Text 163"/>
          <p:cNvSpPr/>
          <p:nvPr/>
        </p:nvSpPr>
        <p:spPr>
          <a:xfrm>
            <a:off x="6060547" y="7597919"/>
            <a:ext cx="49019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Flotation</a:t>
            </a:r>
            <a:endParaRPr lang="en-US" sz="680" dirty="0"/>
          </a:p>
        </p:txBody>
      </p:sp>
      <p:sp>
        <p:nvSpPr>
          <p:cNvPr id="166" name="Text 164"/>
          <p:cNvSpPr/>
          <p:nvPr/>
        </p:nvSpPr>
        <p:spPr>
          <a:xfrm>
            <a:off x="6060547" y="7708203"/>
            <a:ext cx="201720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選鉱</a:t>
            </a:r>
            <a:endParaRPr lang="en-US" sz="540" dirty="0"/>
          </a:p>
        </p:txBody>
      </p:sp>
      <p:sp>
        <p:nvSpPr>
          <p:cNvPr id="167" name="Text 165"/>
          <p:cNvSpPr/>
          <p:nvPr/>
        </p:nvSpPr>
        <p:spPr>
          <a:xfrm>
            <a:off x="7966380" y="7597919"/>
            <a:ext cx="102696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Smelting &amp; Refining</a:t>
            </a:r>
            <a:endParaRPr lang="en-US" sz="680" dirty="0"/>
          </a:p>
        </p:txBody>
      </p:sp>
      <p:sp>
        <p:nvSpPr>
          <p:cNvPr id="168" name="Text 166"/>
          <p:cNvSpPr/>
          <p:nvPr/>
        </p:nvSpPr>
        <p:spPr>
          <a:xfrm>
            <a:off x="7966380" y="7708203"/>
            <a:ext cx="427740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製錬・精製</a:t>
            </a:r>
            <a:endParaRPr lang="en-US" sz="540" dirty="0"/>
          </a:p>
        </p:txBody>
      </p:sp>
      <p:sp>
        <p:nvSpPr>
          <p:cNvPr id="169" name="Text 167"/>
          <p:cNvSpPr/>
          <p:nvPr/>
        </p:nvSpPr>
        <p:spPr>
          <a:xfrm>
            <a:off x="6060547" y="9122585"/>
            <a:ext cx="50570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Leaching</a:t>
            </a:r>
            <a:endParaRPr lang="en-US" sz="680" dirty="0"/>
          </a:p>
        </p:txBody>
      </p:sp>
      <p:sp>
        <p:nvSpPr>
          <p:cNvPr id="170" name="Text 168"/>
          <p:cNvSpPr/>
          <p:nvPr/>
        </p:nvSpPr>
        <p:spPr>
          <a:xfrm>
            <a:off x="6060547" y="9232869"/>
            <a:ext cx="879780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浸出（硫化鉱・酸化鉱）</a:t>
            </a:r>
            <a:endParaRPr lang="en-US" sz="540" dirty="0"/>
          </a:p>
        </p:txBody>
      </p:sp>
      <p:sp>
        <p:nvSpPr>
          <p:cNvPr id="171" name="Text 169"/>
          <p:cNvSpPr/>
          <p:nvPr/>
        </p:nvSpPr>
        <p:spPr>
          <a:xfrm>
            <a:off x="9872212" y="7597919"/>
            <a:ext cx="45743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End Use</a:t>
            </a:r>
            <a:endParaRPr lang="en-US" sz="680" dirty="0"/>
          </a:p>
        </p:txBody>
      </p:sp>
      <p:sp>
        <p:nvSpPr>
          <p:cNvPr id="172" name="Text 170"/>
          <p:cNvSpPr/>
          <p:nvPr/>
        </p:nvSpPr>
        <p:spPr>
          <a:xfrm>
            <a:off x="9872212" y="7708203"/>
            <a:ext cx="352400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最終用途</a:t>
            </a:r>
            <a:endParaRPr lang="en-US" sz="540" dirty="0"/>
          </a:p>
        </p:txBody>
      </p:sp>
      <p:sp>
        <p:nvSpPr>
          <p:cNvPr id="173" name="Text 171"/>
          <p:cNvSpPr/>
          <p:nvPr/>
        </p:nvSpPr>
        <p:spPr>
          <a:xfrm>
            <a:off x="9884918" y="7922164"/>
            <a:ext cx="1031770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Base Demand　基礎需要</a:t>
            </a:r>
            <a:endParaRPr lang="en-US" sz="560" dirty="0"/>
          </a:p>
        </p:txBody>
      </p:sp>
      <p:sp>
        <p:nvSpPr>
          <p:cNvPr id="174" name="Text 172"/>
          <p:cNvSpPr/>
          <p:nvPr/>
        </p:nvSpPr>
        <p:spPr>
          <a:xfrm>
            <a:off x="9884918" y="8201686"/>
            <a:ext cx="1399953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Energy Transition　エネルギー転換</a:t>
            </a:r>
            <a:endParaRPr lang="en-US" sz="560" dirty="0"/>
          </a:p>
        </p:txBody>
      </p:sp>
      <p:sp>
        <p:nvSpPr>
          <p:cNvPr id="175" name="Text 173"/>
          <p:cNvSpPr/>
          <p:nvPr/>
        </p:nvSpPr>
        <p:spPr>
          <a:xfrm>
            <a:off x="9884918" y="8481208"/>
            <a:ext cx="1534910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AI &amp; Data Centers　AI・データセンター</a:t>
            </a:r>
            <a:endParaRPr lang="en-US" sz="560" dirty="0"/>
          </a:p>
        </p:txBody>
      </p:sp>
      <p:sp>
        <p:nvSpPr>
          <p:cNvPr id="176" name="Text 174"/>
          <p:cNvSpPr/>
          <p:nvPr/>
        </p:nvSpPr>
        <p:spPr>
          <a:xfrm>
            <a:off x="4703634" y="9872212"/>
            <a:ext cx="29671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24Mt</a:t>
            </a:r>
            <a:endParaRPr lang="en-US" sz="640" dirty="0"/>
          </a:p>
        </p:txBody>
      </p:sp>
      <p:sp>
        <p:nvSpPr>
          <p:cNvPr id="177" name="Text 175"/>
          <p:cNvSpPr/>
          <p:nvPr/>
        </p:nvSpPr>
        <p:spPr>
          <a:xfrm>
            <a:off x="6745654" y="8245902"/>
            <a:ext cx="27640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21Mt</a:t>
            </a:r>
            <a:endParaRPr lang="en-US" sz="640" dirty="0"/>
          </a:p>
        </p:txBody>
      </p:sp>
      <p:sp>
        <p:nvSpPr>
          <p:cNvPr id="178" name="Text 176"/>
          <p:cNvSpPr/>
          <p:nvPr/>
        </p:nvSpPr>
        <p:spPr>
          <a:xfrm>
            <a:off x="8644737" y="9872212"/>
            <a:ext cx="23556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3Mt</a:t>
            </a:r>
            <a:endParaRPr lang="en-US" sz="640" dirty="0"/>
          </a:p>
        </p:txBody>
      </p:sp>
      <p:sp>
        <p:nvSpPr>
          <p:cNvPr id="179" name="Text 177"/>
          <p:cNvSpPr/>
          <p:nvPr/>
        </p:nvSpPr>
        <p:spPr>
          <a:xfrm>
            <a:off x="11031395" y="9872212"/>
            <a:ext cx="29584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3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28Mt</a:t>
            </a:r>
            <a:endParaRPr lang="en-US" sz="640" dirty="0"/>
          </a:p>
        </p:txBody>
      </p:sp>
      <p:sp>
        <p:nvSpPr>
          <p:cNvPr id="180" name="Text 178"/>
          <p:cNvSpPr/>
          <p:nvPr/>
        </p:nvSpPr>
        <p:spPr>
          <a:xfrm>
            <a:off x="5209275" y="7769444"/>
            <a:ext cx="26068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硫化鉱</a:t>
            </a:r>
            <a:endParaRPr lang="en-US" sz="500" dirty="0"/>
          </a:p>
        </p:txBody>
      </p:sp>
      <p:sp>
        <p:nvSpPr>
          <p:cNvPr id="181" name="Text 179"/>
          <p:cNvSpPr/>
          <p:nvPr/>
        </p:nvSpPr>
        <p:spPr>
          <a:xfrm>
            <a:off x="5209275" y="9294110"/>
            <a:ext cx="54020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酸化鉱・硫化鉱</a:t>
            </a:r>
            <a:endParaRPr lang="en-US" sz="500" dirty="0"/>
          </a:p>
        </p:txBody>
      </p:sp>
      <p:sp>
        <p:nvSpPr>
          <p:cNvPr id="182" name="Text 180"/>
          <p:cNvSpPr/>
          <p:nvPr/>
        </p:nvSpPr>
        <p:spPr>
          <a:xfrm>
            <a:off x="7191341" y="7769444"/>
            <a:ext cx="26068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銅精鉱</a:t>
            </a:r>
            <a:endParaRPr lang="en-US" sz="500" dirty="0"/>
          </a:p>
        </p:txBody>
      </p:sp>
      <p:sp>
        <p:nvSpPr>
          <p:cNvPr id="183" name="Text 181"/>
          <p:cNvSpPr/>
          <p:nvPr/>
        </p:nvSpPr>
        <p:spPr>
          <a:xfrm>
            <a:off x="9097173" y="7769444"/>
            <a:ext cx="26068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銅地金</a:t>
            </a:r>
            <a:endParaRPr lang="en-US" sz="500" dirty="0"/>
          </a:p>
        </p:txBody>
      </p:sp>
      <p:sp>
        <p:nvSpPr>
          <p:cNvPr id="184" name="Text 182"/>
          <p:cNvSpPr/>
          <p:nvPr/>
        </p:nvSpPr>
        <p:spPr>
          <a:xfrm>
            <a:off x="9097173" y="9294110"/>
            <a:ext cx="26068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銅地金</a:t>
            </a:r>
            <a:endParaRPr lang="en-US" sz="500" dirty="0"/>
          </a:p>
        </p:txBody>
      </p:sp>
      <p:sp>
        <p:nvSpPr>
          <p:cNvPr id="185" name="Text 183"/>
          <p:cNvSpPr/>
          <p:nvPr/>
        </p:nvSpPr>
        <p:spPr>
          <a:xfrm>
            <a:off x="9046351" y="7263509"/>
            <a:ext cx="534090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Recycling 4Mt</a:t>
            </a:r>
            <a:endParaRPr lang="en-US" sz="540" dirty="0"/>
          </a:p>
        </p:txBody>
      </p:sp>
      <p:sp>
        <p:nvSpPr>
          <p:cNvPr id="186" name="Text 184"/>
          <p:cNvSpPr/>
          <p:nvPr/>
        </p:nvSpPr>
        <p:spPr>
          <a:xfrm>
            <a:off x="7286434" y="8036260"/>
            <a:ext cx="20499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RtM</a:t>
            </a:r>
            <a:endParaRPr lang="en-US" sz="600" dirty="0"/>
          </a:p>
        </p:txBody>
      </p:sp>
      <p:sp>
        <p:nvSpPr>
          <p:cNvPr id="187" name="Text 185"/>
          <p:cNvSpPr/>
          <p:nvPr/>
        </p:nvSpPr>
        <p:spPr>
          <a:xfrm>
            <a:off x="9192267" y="8036260"/>
            <a:ext cx="20499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RtM</a:t>
            </a:r>
            <a:endParaRPr lang="en-US" sz="600" dirty="0"/>
          </a:p>
        </p:txBody>
      </p:sp>
      <p:sp>
        <p:nvSpPr>
          <p:cNvPr id="188" name="Text 186"/>
          <p:cNvSpPr/>
          <p:nvPr/>
        </p:nvSpPr>
        <p:spPr>
          <a:xfrm>
            <a:off x="6415508" y="8582599"/>
            <a:ext cx="33187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CiDRA</a:t>
            </a:r>
            <a:endParaRPr lang="en-US" sz="600" dirty="0"/>
          </a:p>
        </p:txBody>
      </p:sp>
      <p:sp>
        <p:nvSpPr>
          <p:cNvPr id="189" name="Text 187"/>
          <p:cNvSpPr/>
          <p:nvPr/>
        </p:nvSpPr>
        <p:spPr>
          <a:xfrm>
            <a:off x="7392645" y="8836710"/>
            <a:ext cx="250637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Jetti</a:t>
            </a:r>
            <a:endParaRPr lang="en-US" sz="600" dirty="0"/>
          </a:p>
        </p:txBody>
      </p:sp>
      <p:sp>
        <p:nvSpPr>
          <p:cNvPr id="190" name="Text 188"/>
          <p:cNvSpPr/>
          <p:nvPr/>
        </p:nvSpPr>
        <p:spPr>
          <a:xfrm>
            <a:off x="10871186" y="7261222"/>
            <a:ext cx="480587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DESCycle</a:t>
            </a:r>
            <a:endParaRPr lang="en-US" sz="600" dirty="0"/>
          </a:p>
        </p:txBody>
      </p:sp>
      <p:sp>
        <p:nvSpPr>
          <p:cNvPr id="191" name="Text 189"/>
          <p:cNvSpPr/>
          <p:nvPr/>
        </p:nvSpPr>
        <p:spPr>
          <a:xfrm>
            <a:off x="3811665" y="10183752"/>
            <a:ext cx="3816290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pPr algn="l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三菱商事の関与（資産・トレーディング・技術投資）　｜　LME・CMEでのヘッジはTriland Metalsが担う</a:t>
            </a:r>
            <a:endParaRPr lang="en-US" sz="560" dirty="0"/>
          </a:p>
        </p:txBody>
      </p:sp>
      <p:sp>
        <p:nvSpPr>
          <p:cNvPr id="192" name="Text 190"/>
          <p:cNvSpPr/>
          <p:nvPr/>
        </p:nvSpPr>
        <p:spPr>
          <a:xfrm>
            <a:off x="11866983" y="7191341"/>
            <a:ext cx="148621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営業グループ取り組み事例</a:t>
            </a:r>
            <a:endParaRPr lang="en-US" sz="660" dirty="0"/>
          </a:p>
        </p:txBody>
      </p:sp>
      <p:sp>
        <p:nvSpPr>
          <p:cNvPr id="193" name="Text 191"/>
          <p:cNvSpPr/>
          <p:nvPr/>
        </p:nvSpPr>
        <p:spPr>
          <a:xfrm>
            <a:off x="12947084" y="7464907"/>
            <a:ext cx="406121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JETTI</a:t>
            </a:r>
            <a:endParaRPr lang="en-US" sz="860" dirty="0"/>
          </a:p>
        </p:txBody>
      </p:sp>
      <p:sp>
        <p:nvSpPr>
          <p:cNvPr id="194" name="Text 192"/>
          <p:cNvSpPr/>
          <p:nvPr/>
        </p:nvSpPr>
        <p:spPr>
          <a:xfrm>
            <a:off x="12381925" y="7585864"/>
            <a:ext cx="1536438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銅生産の革新技術を有するスタートアップ</a:t>
            </a:r>
            <a:endParaRPr lang="en-US" sz="560" dirty="0"/>
          </a:p>
        </p:txBody>
      </p:sp>
      <p:sp>
        <p:nvSpPr>
          <p:cNvPr id="195" name="Text 193"/>
          <p:cNvSpPr/>
          <p:nvPr/>
        </p:nvSpPr>
        <p:spPr>
          <a:xfrm>
            <a:off x="12884837" y="7826619"/>
            <a:ext cx="53081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× 価値共創</a:t>
            </a:r>
            <a:endParaRPr lang="en-US" sz="660" dirty="0"/>
          </a:p>
        </p:txBody>
      </p:sp>
      <p:sp>
        <p:nvSpPr>
          <p:cNvPr id="196" name="Text 194"/>
          <p:cNvSpPr/>
          <p:nvPr/>
        </p:nvSpPr>
        <p:spPr>
          <a:xfrm>
            <a:off x="12876112" y="8062068"/>
            <a:ext cx="54806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860" dirty="0"/>
          </a:p>
        </p:txBody>
      </p:sp>
      <p:sp>
        <p:nvSpPr>
          <p:cNvPr id="197" name="Text 195"/>
          <p:cNvSpPr/>
          <p:nvPr/>
        </p:nvSpPr>
        <p:spPr>
          <a:xfrm>
            <a:off x="12075970" y="8208436"/>
            <a:ext cx="2148548" cy="113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6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銅資源開発／トレーディング分野のリーディングプレイヤー</a:t>
            </a:r>
            <a:endParaRPr lang="en-US" sz="560" dirty="0"/>
          </a:p>
        </p:txBody>
      </p:sp>
      <p:sp>
        <p:nvSpPr>
          <p:cNvPr id="198" name="Text 196"/>
          <p:cNvSpPr/>
          <p:nvPr/>
        </p:nvSpPr>
        <p:spPr>
          <a:xfrm>
            <a:off x="11866983" y="8537970"/>
            <a:ext cx="2873995" cy="763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3"/>
              </a:lnSpc>
              <a:buNone/>
            </a:pPr>
            <a:r>
              <a:rPr lang="en-US" sz="65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銅鉱石からの銅分回収に関する革新技術を有する米Jettiに出資参</a:t>
            </a:r>
            <a:endParaRPr lang="en-US" sz="650" dirty="0"/>
          </a:p>
          <a:p>
            <a:pPr algn="l" indent="0" marL="0">
              <a:lnSpc>
                <a:spcPts val="1203"/>
              </a:lnSpc>
              <a:buNone/>
            </a:pPr>
            <a:r>
              <a:rPr lang="en-US" sz="65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画し、同社の事業拡大を支援しています。同社技術で生産される環</a:t>
            </a:r>
            <a:endParaRPr lang="en-US" sz="650" dirty="0"/>
          </a:p>
          <a:p>
            <a:pPr algn="l" indent="0" marL="0">
              <a:lnSpc>
                <a:spcPts val="1203"/>
              </a:lnSpc>
              <a:buNone/>
            </a:pPr>
            <a:r>
              <a:rPr lang="en-US" sz="65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境価値の高い銅地金を販売するほか、当社の銅事業のネットワーク</a:t>
            </a:r>
            <a:endParaRPr lang="en-US" sz="650" dirty="0"/>
          </a:p>
          <a:p>
            <a:pPr algn="l" indent="0" marL="0">
              <a:lnSpc>
                <a:spcPts val="1203"/>
              </a:lnSpc>
              <a:buNone/>
            </a:pPr>
            <a:r>
              <a:rPr lang="en-US" sz="65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を活用し、低品位の銅鉱石からの銅分回収に課題を抱える鉱山に同</a:t>
            </a:r>
            <a:endParaRPr lang="en-US" sz="650" dirty="0"/>
          </a:p>
          <a:p>
            <a:pPr algn="l" indent="0" marL="0">
              <a:lnSpc>
                <a:spcPts val="1203"/>
              </a:lnSpc>
              <a:buNone/>
            </a:pPr>
            <a:r>
              <a:rPr lang="en-US" sz="65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社技術が導入されるよう、共同検討を行っています。</a:t>
            </a:r>
            <a:endParaRPr lang="en-US" sz="650" dirty="0"/>
          </a:p>
        </p:txBody>
      </p:sp>
      <p:sp>
        <p:nvSpPr>
          <p:cNvPr id="199" name="Text 197"/>
          <p:cNvSpPr/>
          <p:nvPr/>
        </p:nvSpPr>
        <p:spPr>
          <a:xfrm>
            <a:off x="508222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600" dirty="0"/>
          </a:p>
        </p:txBody>
      </p:sp>
      <p:sp>
        <p:nvSpPr>
          <p:cNvPr id="200" name="Text 198"/>
          <p:cNvSpPr/>
          <p:nvPr/>
        </p:nvSpPr>
        <p:spPr>
          <a:xfrm>
            <a:off x="14458915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09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3627434"/>
            <a:ext cx="4663810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1816161" y="2280646"/>
            <a:ext cx="4651581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3303443"/>
            <a:ext cx="86689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パートナーシップ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7737680" y="1905832"/>
            <a:ext cx="86121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社会を支える資源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08222" y="3760843"/>
            <a:ext cx="37358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第3章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508222" y="3900604"/>
            <a:ext cx="85532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選ばれ続ける理由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508222" y="4137435"/>
            <a:ext cx="3837255" cy="46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Partner of choice.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8222" y="4880122"/>
            <a:ext cx="3559916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資源業界に不可欠な存在として、選ばれ続ける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8222" y="5148527"/>
            <a:ext cx="29736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800" y="5167585"/>
            <a:ext cx="144166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Cultural affinity with the majors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914800" y="5288161"/>
            <a:ext cx="1983674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資源メジャーとの企業文化的親和性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3837076" y="5148527"/>
            <a:ext cx="358952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43654" y="5167585"/>
            <a:ext cx="12189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JV management capability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243654" y="5288161"/>
            <a:ext cx="2138066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資源投資経験に裏打ちされたJV経営力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508222" y="5580516"/>
            <a:ext cx="363974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800" y="5599574"/>
            <a:ext cx="97171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Sound financial base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914800" y="5720150"/>
            <a:ext cx="2597094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事業ポートフォリオを生かした健全な財務基盤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3837076" y="5580516"/>
            <a:ext cx="36331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43654" y="5599574"/>
            <a:ext cx="60331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Deep insight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243654" y="5720150"/>
            <a:ext cx="2469999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マクロ環境とバリューチェーンへの深い知見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08222" y="6120501"/>
            <a:ext cx="70355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JVへの貢献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1397610" y="6120501"/>
            <a:ext cx="1257353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経営から現場まで伴走する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635277" y="6368133"/>
            <a:ext cx="293439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現場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647983" y="6665506"/>
            <a:ext cx="1709611" cy="46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・長期目線での戦略策定と案件開発</a:t>
            </a:r>
            <a:endParaRPr lang="en-US" sz="660" dirty="0"/>
          </a:p>
          <a:p>
            <a:pPr algn="l" indent="0" marL="0">
              <a:lnSpc>
                <a:spcPts val="1221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・幅広い産業接点を生かした知見の提供</a:t>
            </a:r>
            <a:endParaRPr lang="en-US" sz="660" dirty="0"/>
          </a:p>
          <a:p>
            <a:pPr algn="l" indent="0" marL="0">
              <a:lnSpc>
                <a:spcPts val="1221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・人材派遣による操業支援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3964131" y="6368133"/>
            <a:ext cx="293439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経営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3976837" y="6665506"/>
            <a:ext cx="1709611" cy="46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・中長期の事業計画・資本政策への参画</a:t>
            </a:r>
            <a:endParaRPr lang="en-US" sz="660" dirty="0"/>
          </a:p>
          <a:p>
            <a:pPr algn="l" indent="0" marL="0">
              <a:lnSpc>
                <a:spcPts val="1221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・販売戦略・人事計画への関与</a:t>
            </a:r>
            <a:endParaRPr lang="en-US" sz="660" dirty="0"/>
          </a:p>
          <a:p>
            <a:pPr algn="l" indent="0" marL="0">
              <a:lnSpc>
                <a:spcPts val="1221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・他JVのベストプラクティスの導入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878480" y="8174854"/>
            <a:ext cx="2308618" cy="15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9"/>
              </a:lnSpc>
              <a:buNone/>
            </a:pPr>
            <a:r>
              <a:rPr lang="en-US" sz="7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資源メジャー各社と「会社対会社」の関係へ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4214758" y="8174854"/>
            <a:ext cx="616636" cy="15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9"/>
              </a:lnSpc>
              <a:buNone/>
            </a:pPr>
            <a:r>
              <a:rPr lang="en-US" sz="7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新たな協業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5622196" y="8174854"/>
            <a:ext cx="1295787" cy="15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9"/>
              </a:lnSpc>
              <a:buNone/>
            </a:pPr>
            <a:r>
              <a:rPr lang="en-US" sz="7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積み重ねが強み・信頼に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508222" y="8682210"/>
            <a:ext cx="3766937" cy="169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新たな協業が生まれ、その積み重ねが、さらなる強み・知見・信頼につながる。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08222" y="9275051"/>
            <a:ext cx="106409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主なJVパートナー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1651721" y="9216288"/>
            <a:ext cx="3440028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00" spc="-4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BHP　　Rio Tinto　　Anglo American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68024" y="2363232"/>
            <a:ext cx="37620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第4章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8068024" y="2502993"/>
            <a:ext cx="754650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何を実現するか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8068024" y="2740587"/>
            <a:ext cx="4088169" cy="77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Building the future</a:t>
            </a:r>
            <a:endParaRPr lang="en-US" sz="3000" dirty="0"/>
          </a:p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of resources, together.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8068024" y="3793401"/>
            <a:ext cx="2734234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社会の「当たり前」を、支え続ける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68024" y="4068158"/>
            <a:ext cx="112152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外部環境と社会課題</a:t>
            </a:r>
            <a:endParaRPr lang="en-US" sz="660" dirty="0"/>
          </a:p>
        </p:txBody>
      </p:sp>
      <p:sp>
        <p:nvSpPr>
          <p:cNvPr id="39" name="Text 37"/>
          <p:cNvSpPr/>
          <p:nvPr/>
        </p:nvSpPr>
        <p:spPr>
          <a:xfrm>
            <a:off x="8714250" y="4770775"/>
            <a:ext cx="740237" cy="264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クリティカル</a:t>
            </a:r>
            <a:endParaRPr lang="en-US" sz="800" dirty="0"/>
          </a:p>
          <a:p>
            <a:pPr algn="ctr" indent="0" marL="0">
              <a:lnSpc>
                <a:spcPts val="10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ミネラル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050090" y="4239556"/>
            <a:ext cx="899652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産業構造の転換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10050090" y="4406380"/>
            <a:ext cx="4811870" cy="124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6"/>
              </a:lnSpc>
              <a:buNone/>
            </a:pPr>
            <a:r>
              <a:rPr lang="en-US" sz="61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脱炭素化に加え、生成AI・データセンターの普及で電力需要が拡大。高効率・高性能化を前提とした設備・製品設計が一般化</a:t>
            </a:r>
            <a:endParaRPr lang="en-US" sz="610" dirty="0"/>
          </a:p>
        </p:txBody>
      </p:sp>
      <p:sp>
        <p:nvSpPr>
          <p:cNvPr id="42" name="Text 40"/>
          <p:cNvSpPr/>
          <p:nvPr/>
        </p:nvSpPr>
        <p:spPr>
          <a:xfrm>
            <a:off x="10050090" y="4671545"/>
            <a:ext cx="1020851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供給制約の深刻化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10050090" y="4838369"/>
            <a:ext cx="2433966" cy="124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6"/>
              </a:lnSpc>
              <a:buNone/>
            </a:pPr>
            <a:r>
              <a:rPr lang="en-US" sz="61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良質な資源の開発はより難しく、時間とコストがかかるように</a:t>
            </a:r>
            <a:endParaRPr lang="en-US" sz="610" dirty="0"/>
          </a:p>
        </p:txBody>
      </p:sp>
      <p:sp>
        <p:nvSpPr>
          <p:cNvPr id="44" name="Text 42"/>
          <p:cNvSpPr/>
          <p:nvPr/>
        </p:nvSpPr>
        <p:spPr>
          <a:xfrm>
            <a:off x="10050090" y="5103533"/>
            <a:ext cx="1263249" cy="16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地政学リスクの常態化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10050090" y="5270357"/>
            <a:ext cx="2772013" cy="124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6"/>
              </a:lnSpc>
              <a:buNone/>
            </a:pPr>
            <a:r>
              <a:rPr lang="en-US" sz="61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輸出規制など資源の囲い込みが進み、サプライチェーンに構造的に影響</a:t>
            </a:r>
            <a:endParaRPr lang="en-US" sz="610" dirty="0"/>
          </a:p>
        </p:txBody>
      </p:sp>
      <p:sp>
        <p:nvSpPr>
          <p:cNvPr id="46" name="Text 44"/>
          <p:cNvSpPr/>
          <p:nvPr/>
        </p:nvSpPr>
        <p:spPr>
          <a:xfrm>
            <a:off x="8896872" y="5635197"/>
            <a:ext cx="4885462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クリティカルミネラルのサプライチェーン確保の重要性・川上資源への参入障壁が増大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8068024" y="6024813"/>
            <a:ext cx="88829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当社の取り組み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9084468" y="6024813"/>
            <a:ext cx="235862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資源の安定供給と効率的な供給で社会を支えている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9140680" y="6270475"/>
            <a:ext cx="548066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8182374" y="6566990"/>
            <a:ext cx="2157720" cy="444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63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・銅などの基幹事業で、大規模資産の持分を拡大</a:t>
            </a:r>
            <a:endParaRPr lang="en-US" sz="63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63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・成長が期待される領域に、早い段階から参画</a:t>
            </a:r>
            <a:endParaRPr lang="en-US" sz="63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63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・信頼できるパートナーと、投資先の価値向上を推進</a:t>
            </a:r>
            <a:endParaRPr lang="en-US" sz="630" dirty="0"/>
          </a:p>
        </p:txBody>
      </p:sp>
      <p:sp>
        <p:nvSpPr>
          <p:cNvPr id="51" name="Text 49"/>
          <p:cNvSpPr/>
          <p:nvPr/>
        </p:nvSpPr>
        <p:spPr>
          <a:xfrm>
            <a:off x="12808326" y="6270475"/>
            <a:ext cx="912536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12032155" y="6566990"/>
            <a:ext cx="2248346" cy="444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63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・権益の引き取りと外部調達で、安定供給の体制を確立</a:t>
            </a:r>
            <a:endParaRPr lang="en-US" sz="63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63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・需給の変化をつかみ、試験的な取引から先行して動く</a:t>
            </a:r>
            <a:endParaRPr lang="en-US" sz="63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63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・国際的な取引基盤を軸に、業界ネットワークを構築</a:t>
            </a:r>
            <a:endParaRPr lang="en-US" sz="630" dirty="0"/>
          </a:p>
        </p:txBody>
      </p:sp>
      <p:sp>
        <p:nvSpPr>
          <p:cNvPr id="53" name="Text 51"/>
          <p:cNvSpPr/>
          <p:nvPr/>
        </p:nvSpPr>
        <p:spPr>
          <a:xfrm>
            <a:off x="11181310" y="6707736"/>
            <a:ext cx="316587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連携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61096" y="7388118"/>
            <a:ext cx="7157016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「金属＝経済活動を支える礎」。“儲ける”ではなく、社会に必要な資源を支えることを、私たちの責務と考えています。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96724" y="9325873"/>
            <a:ext cx="316574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グループミッション｜共に、持続可能で豊かな未来を築く</a:t>
            </a:r>
            <a:endParaRPr lang="en-US" sz="660" dirty="0"/>
          </a:p>
        </p:txBody>
      </p:sp>
      <p:sp>
        <p:nvSpPr>
          <p:cNvPr id="56" name="Text 54"/>
          <p:cNvSpPr/>
          <p:nvPr/>
        </p:nvSpPr>
        <p:spPr>
          <a:xfrm>
            <a:off x="8296724" y="9550762"/>
            <a:ext cx="6607581" cy="396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社会が必要とする良質な金属資源を、持続可能な形で安定供給することで、より良い社会の実現に</a:t>
            </a:r>
            <a:endParaRPr lang="en-US" sz="104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0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寄与する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8296724" y="10083632"/>
            <a:ext cx="6024515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9A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contribute to a better society by providing a stable supply of high-quality mineral resources that society needs, in a sustainable way.</a:t>
            </a:r>
            <a:endParaRPr lang="en-US" sz="67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184687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16525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2026-10-13T13:24:09Z</dcterms:created>
  <dcterms:modified xsi:type="dcterms:W3CDTF">2026-10-13T13:24:09Z</dcterms:modified>
</cp:coreProperties>
</file>