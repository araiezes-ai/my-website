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749627"/>
            <a:ext cx="403816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MITSUBISHI CORPORATION　MINERAL RESOURCES GROUP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8169668" y="1899480"/>
            <a:ext cx="4556369" cy="1118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Strength to Hold.</a:t>
            </a:r>
            <a:endParaRPr lang="en-US" sz="40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Power to Connect.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69668" y="3443204"/>
            <a:ext cx="205530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コアメッセージ（英文主体・和文は確認用）</a:t>
            </a:r>
            <a:endParaRPr lang="en-US" sz="660" dirty="0"/>
          </a:p>
        </p:txBody>
      </p:sp>
      <p:sp>
        <p:nvSpPr>
          <p:cNvPr id="5" name="Text 3"/>
          <p:cNvSpPr/>
          <p:nvPr/>
        </p:nvSpPr>
        <p:spPr>
          <a:xfrm>
            <a:off x="8169668" y="3673428"/>
            <a:ext cx="4221816" cy="150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Et enim adipiscing excepteur exercitation ex do consectetur amet ipsum </a:t>
            </a:r>
            <a:endParaRPr lang="en-US" sz="820" dirty="0"/>
          </a:p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exercitation aute anim. aliqua proident occaecat sit labore consequat duis quis </a:t>
            </a:r>
            <a:endParaRPr lang="en-US" sz="820" dirty="0"/>
          </a:p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magna cupidatat tempor sunt adipiscing. dolore ut est id ipsum culpa esse </a:t>
            </a:r>
            <a:endParaRPr lang="en-US" sz="820" dirty="0"/>
          </a:p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proident dolore proident magna incididunt eiusmod. enim aliqua velit officia </a:t>
            </a:r>
            <a:endParaRPr lang="en-US" sz="820" dirty="0"/>
          </a:p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excepteur laborum qui qui deserunt quis consectetur qui reprehenderit. </a:t>
            </a:r>
            <a:endParaRPr lang="en-US" sz="820" dirty="0"/>
          </a:p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minim cillum nostrud commodo et tempor et ex magna consectetur est id</a:t>
            </a:r>
            <a:endParaRPr lang="en-US" sz="820" dirty="0"/>
          </a:p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sunt. officia est aute culpa enim lorem anim aliqua irure pariatur deserunt </a:t>
            </a:r>
            <a:endParaRPr lang="en-US" sz="820" dirty="0"/>
          </a:p>
          <a:p>
            <a:pPr algn="l" indent="0" marL="0">
              <a:lnSpc>
                <a:spcPts val="1476"/>
              </a:lnSpc>
              <a:buNone/>
            </a:pPr>
            <a:r>
              <a:rPr lang="en-US" sz="820" spc="10" kern="0" dirty="0">
                <a:solidFill>
                  <a:srgbClr val="6C7279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enim qui. occaecat commodo.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8169668" y="7521685"/>
            <a:ext cx="928696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CONTENTS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169668" y="7915557"/>
            <a:ext cx="323793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28713" y="7902852"/>
            <a:ext cx="90751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28713" y="8104679"/>
            <a:ext cx="1816616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我々は何者か｜三菱商事 金属資源グループ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3747405" y="7928263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P.04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8169668" y="8474602"/>
            <a:ext cx="323793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28713" y="8461896"/>
            <a:ext cx="91559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28713" y="8663724"/>
            <a:ext cx="280913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独自価値｜フットプリント・原料炭・銅・トレーディング・新技術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13747405" y="8487307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P.05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8169668" y="9033646"/>
            <a:ext cx="323793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28713" y="9020940"/>
            <a:ext cx="177687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Why Partners Choose 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28713" y="9222768"/>
            <a:ext cx="1591688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選ばれ続ける理由｜Partner of Choice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13747405" y="9046351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P.10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169668" y="9592690"/>
            <a:ext cx="323793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28713" y="9579984"/>
            <a:ext cx="77670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28713" y="9781812"/>
            <a:ext cx="1801766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何を実現するか｜外部環境と私たちの約束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3747405" y="9605395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P.11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647983" y="10403304"/>
            <a:ext cx="4574494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台割メモ｜導入。表紙の地球儀を大きく扉に。軌道の輪がノドを越えて右ページへ伸び、コアメッセージと目次の間を通る。</a:t>
            </a:r>
            <a:endParaRPr lang="en-US" sz="560" dirty="0"/>
          </a:p>
        </p:txBody>
      </p:sp>
      <p:sp>
        <p:nvSpPr>
          <p:cNvPr id="26" name="Text 24"/>
          <p:cNvSpPr/>
          <p:nvPr/>
        </p:nvSpPr>
        <p:spPr>
          <a:xfrm>
            <a:off x="8207785" y="10403304"/>
            <a:ext cx="4256101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台割メモ｜コアメッセージと目次のみ。軌道線は文字に重ならない高さで横断させ、右端から次の見開きへ抜ける。</a:t>
            </a:r>
            <a:endParaRPr lang="en-US" sz="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673394"/>
            <a:ext cx="122656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　WHO WE ARE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609866" y="813155"/>
            <a:ext cx="101670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第1章　我々は何者か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09866" y="1088866"/>
            <a:ext cx="2733579" cy="85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From resource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to market.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866" y="2225853"/>
            <a:ext cx="2396406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 金属資源グループとは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866" y="2434733"/>
            <a:ext cx="3278866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投資とトレーディングの両輪で、川上から川下までをつなぐ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09866" y="2659570"/>
            <a:ext cx="4634766" cy="80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Incididunt ullamco laboris reprehenderit aliqua laboris nisi eiusmod labore enim dolore sunt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proident. dolor consectetur dolor aliquip velit magna consequat duis esse ex nulla minim do.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fugiat incididunt amet ullamco anim incididunt velit velit nisi magna tempor veniam laboris. sint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in ad velit aute incididunt mollit ad adipiscing culpa sit pariatur labore. magna occaecat in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voluptate officia et elit minim.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2999373" y="5637198"/>
            <a:ext cx="1573562" cy="313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64"/>
              </a:lnSpc>
              <a:buNone/>
            </a:pPr>
            <a:r>
              <a:rPr lang="en-US" sz="2200" spc="-20" kern="0" dirty="0">
                <a:solidFill>
                  <a:srgbClr val="7D8794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Value chain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83481" y="5997019"/>
            <a:ext cx="100534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バリューチェーン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866350" y="6543358"/>
            <a:ext cx="29999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668491" y="6694363"/>
            <a:ext cx="69590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資源開発・保有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2235750" y="7368425"/>
            <a:ext cx="33099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056463" y="7519430"/>
            <a:ext cx="689574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トレーディング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3450093" y="7496274"/>
            <a:ext cx="672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Smelt / Steel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3530455" y="7647280"/>
            <a:ext cx="51159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製錬・製鉄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5005560" y="7368425"/>
            <a:ext cx="33099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4826272" y="7519430"/>
            <a:ext cx="689574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トレーディング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6333677" y="6543358"/>
            <a:ext cx="44477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 use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162033" y="6694363"/>
            <a:ext cx="78806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最終製品・需要家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991033" y="4497765"/>
            <a:ext cx="3572801" cy="279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820" spc="160" kern="0" dirty="0">
                <a:solidFill>
                  <a:srgbClr val="B38F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INVESTMENT</a:t>
            </a:r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2200"/>
              </a:lnSpc>
              <a:buNone/>
            </a:pPr>
            <a:r>
              <a:rPr lang="en-US" sz="940" dirty="0">
                <a:solidFill>
                  <a:srgbClr val="B38F4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pPr algn="l" indent="0" marL="0">
              <a:lnSpc>
                <a:spcPts val="2200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｜鉄鋼原料本部・クリティカルミネラル本部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91033" y="7928263"/>
            <a:ext cx="3587432" cy="279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820" spc="160" kern="0" dirty="0">
                <a:solidFill>
                  <a:srgbClr val="4F7AA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TRADING (RtM)</a:t>
            </a:r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2200"/>
              </a:lnSpc>
              <a:buNone/>
            </a:pPr>
            <a:r>
              <a:rPr lang="en-US" sz="940" dirty="0">
                <a:solidFill>
                  <a:srgbClr val="4F7AA3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pPr algn="l" indent="0" marL="0">
              <a:lnSpc>
                <a:spcPts val="2200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｜金属資源トレーディング本部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09866" y="8436485"/>
            <a:ext cx="1215425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JOURNEY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821857" y="8436485"/>
            <a:ext cx="2684444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時代を先読みし、事業モデルを変革してきた歩み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09866" y="8684243"/>
            <a:ext cx="7935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50" kern="0" dirty="0">
                <a:solidFill>
                  <a:srgbClr val="23272C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〜1990s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866" y="9222768"/>
            <a:ext cx="1334658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トレーディングに参入し、少数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株主として出資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1893127" y="8684243"/>
            <a:ext cx="5908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1990s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93127" y="9222768"/>
            <a:ext cx="1156681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口銭モデルから投資モデル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へ。JV運営の知見を蓄積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176387" y="8684243"/>
            <a:ext cx="5908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2000s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176387" y="9222768"/>
            <a:ext cx="1248836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中国の成長を捉え、事業経営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に関与（BHPと50:50）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4459648" y="8684243"/>
            <a:ext cx="5908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2010s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59648" y="9222768"/>
            <a:ext cx="1248836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原料炭偏重から脱却。資産価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値の最大化へ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742908" y="8684243"/>
            <a:ext cx="7935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50" kern="0" dirty="0">
                <a:solidFill>
                  <a:srgbClr val="23272C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2020s〜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742908" y="9222768"/>
            <a:ext cx="1247963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地域特化から、グローバルな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トレーダーへ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609866" y="9732400"/>
            <a:ext cx="2890374" cy="139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640" spc="10" kern="0" dirty="0">
                <a:solidFill>
                  <a:srgbClr val="9AA0A6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Guided by the Three Corporate Principles of Mitsubishi Corporation.</a:t>
            </a:r>
            <a:endParaRPr lang="en-US" sz="640" dirty="0"/>
          </a:p>
        </p:txBody>
      </p:sp>
      <p:sp>
        <p:nvSpPr>
          <p:cNvPr id="35" name="Text 33"/>
          <p:cNvSpPr/>
          <p:nvPr/>
        </p:nvSpPr>
        <p:spPr>
          <a:xfrm>
            <a:off x="8169668" y="673394"/>
            <a:ext cx="123005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WHAT WE DO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8169668" y="813155"/>
            <a:ext cx="8157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第2章　独自価値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8169668" y="1088866"/>
            <a:ext cx="2970736" cy="42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Where we work.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169668" y="1799026"/>
            <a:ext cx="2193315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グローバル・フットプリント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69668" y="2007906"/>
            <a:ext cx="2566739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多様な資源と地域で、事業と人の拠点を広げる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169668" y="2232743"/>
            <a:ext cx="5292953" cy="64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Id tempor aliqua aliquip ipsum dolor veniam nulla consectetur mollit laborum laborum aliqua. sint fugiat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laborum ad ipsum ad aliqua ad laborum do cupidatat esse ullamco. officia est officia voluptate fugiat sunt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amet aliqua voluptate incididunt mollit nisi aliqua. sed dolore nostrud reprehenderit laborum eiusmod minim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irure lorem quis dolor aliquip eiusmod. quis non proident quis aliqua irure adipiscing nisi.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8309429" y="6153981"/>
            <a:ext cx="51159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事業・資産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9579984" y="6153981"/>
            <a:ext cx="106452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開発・探鉱プロジェクト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11231706" y="6153981"/>
            <a:ext cx="1611123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トレーディング拠点・金属資源の駐在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8169668" y="6536608"/>
            <a:ext cx="143795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RESOURCES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569661" y="6536608"/>
            <a:ext cx="3525850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鉄鉱石から電池資源・肥料・アルミまで、世界に広がる事業領域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8179902" y="7629285"/>
            <a:ext cx="84331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Metallurgical Coal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8454610" y="7769110"/>
            <a:ext cx="294094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9381361" y="7629285"/>
            <a:ext cx="37183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Copper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9501250" y="7769110"/>
            <a:ext cx="132058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銅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10216701" y="7514936"/>
            <a:ext cx="40350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Iron Ore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10271504" y="7654760"/>
            <a:ext cx="294094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鉄鉱石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11017429" y="7514936"/>
            <a:ext cx="30130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Nickel</a:t>
            </a:r>
            <a:endParaRPr lang="en-US" sz="660" dirty="0"/>
          </a:p>
        </p:txBody>
      </p:sp>
      <p:sp>
        <p:nvSpPr>
          <p:cNvPr id="53" name="Text 51"/>
          <p:cNvSpPr/>
          <p:nvPr/>
        </p:nvSpPr>
        <p:spPr>
          <a:xfrm>
            <a:off x="10980523" y="7654760"/>
            <a:ext cx="375111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ニッケル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11735382" y="7514936"/>
            <a:ext cx="36484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Lithium</a:t>
            </a:r>
            <a:endParaRPr lang="en-US" sz="660" dirty="0"/>
          </a:p>
        </p:txBody>
      </p:sp>
      <p:sp>
        <p:nvSpPr>
          <p:cNvPr id="55" name="Text 53"/>
          <p:cNvSpPr/>
          <p:nvPr/>
        </p:nvSpPr>
        <p:spPr>
          <a:xfrm>
            <a:off x="11730150" y="7654760"/>
            <a:ext cx="375111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リチウム</a:t>
            </a:r>
            <a:endParaRPr lang="en-US" sz="580" dirty="0"/>
          </a:p>
        </p:txBody>
      </p:sp>
      <p:sp>
        <p:nvSpPr>
          <p:cNvPr id="56" name="Text 54"/>
          <p:cNvSpPr/>
          <p:nvPr/>
        </p:nvSpPr>
        <p:spPr>
          <a:xfrm>
            <a:off x="12416885" y="7514936"/>
            <a:ext cx="5008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Aluminium</a:t>
            </a:r>
            <a:endParaRPr lang="en-US" sz="660" dirty="0"/>
          </a:p>
        </p:txBody>
      </p:sp>
      <p:sp>
        <p:nvSpPr>
          <p:cNvPr id="57" name="Text 55"/>
          <p:cNvSpPr/>
          <p:nvPr/>
        </p:nvSpPr>
        <p:spPr>
          <a:xfrm>
            <a:off x="12237161" y="7654760"/>
            <a:ext cx="860344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アルミ・ボーキサイト</a:t>
            </a:r>
            <a:endParaRPr lang="en-US" sz="580" dirty="0"/>
          </a:p>
        </p:txBody>
      </p:sp>
      <p:sp>
        <p:nvSpPr>
          <p:cNvPr id="58" name="Text 56"/>
          <p:cNvSpPr/>
          <p:nvPr/>
        </p:nvSpPr>
        <p:spPr>
          <a:xfrm>
            <a:off x="13209305" y="7514936"/>
            <a:ext cx="41551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Recycled</a:t>
            </a:r>
            <a:endParaRPr lang="en-US" sz="660" dirty="0"/>
          </a:p>
        </p:txBody>
      </p:sp>
      <p:sp>
        <p:nvSpPr>
          <p:cNvPr id="59" name="Text 57"/>
          <p:cNvSpPr/>
          <p:nvPr/>
        </p:nvSpPr>
        <p:spPr>
          <a:xfrm>
            <a:off x="13229405" y="7654760"/>
            <a:ext cx="375111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二次資源</a:t>
            </a:r>
            <a:endParaRPr lang="en-US" sz="580" dirty="0"/>
          </a:p>
        </p:txBody>
      </p:sp>
      <p:sp>
        <p:nvSpPr>
          <p:cNvPr id="60" name="Text 58"/>
          <p:cNvSpPr/>
          <p:nvPr/>
        </p:nvSpPr>
        <p:spPr>
          <a:xfrm>
            <a:off x="13961553" y="7514936"/>
            <a:ext cx="41027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Fertilizer</a:t>
            </a:r>
            <a:endParaRPr lang="en-US" sz="660" dirty="0"/>
          </a:p>
        </p:txBody>
      </p:sp>
      <p:sp>
        <p:nvSpPr>
          <p:cNvPr id="61" name="Text 59"/>
          <p:cNvSpPr/>
          <p:nvPr/>
        </p:nvSpPr>
        <p:spPr>
          <a:xfrm>
            <a:off x="13979033" y="7654760"/>
            <a:ext cx="375111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肥料資源</a:t>
            </a:r>
            <a:endParaRPr lang="en-US" sz="580" dirty="0"/>
          </a:p>
        </p:txBody>
      </p:sp>
      <p:sp>
        <p:nvSpPr>
          <p:cNvPr id="62" name="Text 60"/>
          <p:cNvSpPr/>
          <p:nvPr/>
        </p:nvSpPr>
        <p:spPr>
          <a:xfrm>
            <a:off x="8169668" y="8239152"/>
            <a:ext cx="1223723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 HUB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9381659" y="8239152"/>
            <a:ext cx="185133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世界の資源と需要をつなぐ販売網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86655" y="8829960"/>
            <a:ext cx="300208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4C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RtMI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142232" y="9281007"/>
            <a:ext cx="71556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RtM International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9254008" y="8829960"/>
            <a:ext cx="292784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4C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RtMJ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145981" y="9281007"/>
            <a:ext cx="43582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RtM Japan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10098728" y="8829960"/>
            <a:ext cx="33493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4C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RtMB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989202" y="9281007"/>
            <a:ext cx="47753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RtM Bharat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10967470" y="8829960"/>
            <a:ext cx="324448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4C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0842698" y="9281007"/>
            <a:ext cx="4984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RtM Europe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11827278" y="8829960"/>
            <a:ext cx="33362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4C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RtMA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1669114" y="9281007"/>
            <a:ext cx="57361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RtM Americas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12687851" y="9141309"/>
            <a:ext cx="21307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中国</a:t>
            </a:r>
            <a:endParaRPr lang="en-US" sz="580" dirty="0"/>
          </a:p>
        </p:txBody>
      </p:sp>
      <p:sp>
        <p:nvSpPr>
          <p:cNvPr id="75" name="Text 73"/>
          <p:cNvSpPr/>
          <p:nvPr/>
        </p:nvSpPr>
        <p:spPr>
          <a:xfrm>
            <a:off x="13126173" y="9141309"/>
            <a:ext cx="200410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UAE</a:t>
            </a:r>
            <a:endParaRPr lang="en-US" sz="580" dirty="0"/>
          </a:p>
        </p:txBody>
      </p:sp>
      <p:sp>
        <p:nvSpPr>
          <p:cNvPr id="76" name="Text 74"/>
          <p:cNvSpPr/>
          <p:nvPr/>
        </p:nvSpPr>
        <p:spPr>
          <a:xfrm>
            <a:off x="13389793" y="9141309"/>
            <a:ext cx="537147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インドネシア</a:t>
            </a:r>
            <a:endParaRPr lang="en-US" sz="580" dirty="0"/>
          </a:p>
        </p:txBody>
      </p:sp>
      <p:sp>
        <p:nvSpPr>
          <p:cNvPr id="77" name="Text 75"/>
          <p:cNvSpPr/>
          <p:nvPr/>
        </p:nvSpPr>
        <p:spPr>
          <a:xfrm>
            <a:off x="13983817" y="9141309"/>
            <a:ext cx="21307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タイ</a:t>
            </a:r>
            <a:endParaRPr lang="en-US" sz="580" dirty="0"/>
          </a:p>
        </p:txBody>
      </p:sp>
      <p:sp>
        <p:nvSpPr>
          <p:cNvPr id="78" name="Text 76"/>
          <p:cNvSpPr/>
          <p:nvPr/>
        </p:nvSpPr>
        <p:spPr>
          <a:xfrm>
            <a:off x="14415806" y="9141309"/>
            <a:ext cx="21307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チリ</a:t>
            </a:r>
            <a:endParaRPr lang="en-US" sz="580" dirty="0"/>
          </a:p>
        </p:txBody>
      </p:sp>
      <p:sp>
        <p:nvSpPr>
          <p:cNvPr id="79" name="Text 77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620" dirty="0"/>
          </a:p>
        </p:txBody>
      </p:sp>
      <p:sp>
        <p:nvSpPr>
          <p:cNvPr id="80" name="Text 78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620" dirty="0"/>
          </a:p>
        </p:txBody>
      </p:sp>
      <p:sp>
        <p:nvSpPr>
          <p:cNvPr id="81" name="Text 79"/>
          <p:cNvSpPr/>
          <p:nvPr/>
        </p:nvSpPr>
        <p:spPr>
          <a:xfrm>
            <a:off x="647983" y="10403304"/>
            <a:ext cx="5554568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台割メモ｜第1章を1ページに。「投資×トレーディング」を2つの輪（金＝投資、青＝トレーディング）として描き、両輪が事業の軸であることを強調。</a:t>
            </a:r>
            <a:endParaRPr lang="en-US" sz="560" dirty="0"/>
          </a:p>
        </p:txBody>
      </p:sp>
      <p:sp>
        <p:nvSpPr>
          <p:cNvPr id="82" name="Text 80"/>
          <p:cNvSpPr/>
          <p:nvPr/>
        </p:nvSpPr>
        <p:spPr>
          <a:xfrm>
            <a:off x="8207785" y="10403304"/>
            <a:ext cx="4890922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台割メモ｜第2章の扉＝全体像。地図＋取扱資源（肥料資源を追加）＋販売網（RtM 5社と主要拠点）。拠点・駐在（青）は名称なし。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520928"/>
            <a:ext cx="197537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WHAT WE DO｜PILLAR 1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8169668" y="520928"/>
            <a:ext cx="197537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WHAT WE DO｜PILLAR 2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09866" y="4565358"/>
            <a:ext cx="3110497" cy="79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World-class</a:t>
            </a:r>
            <a:endParaRPr lang="en-US" sz="2800" dirty="0"/>
          </a:p>
          <a:p>
            <a:pPr algn="l" indent="0" marL="0">
              <a:lnSpc>
                <a:spcPts val="3136"/>
              </a:lnSpc>
              <a:buNone/>
            </a:pPr>
            <a:r>
              <a:rPr lang="en-US" sz="28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metallurgical coal.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866" y="5615853"/>
            <a:ext cx="875412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原料炭事業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866" y="5824732"/>
            <a:ext cx="2797563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鉄の主原料“産業のコメ”を、世界最高品位で届ける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169668" y="4565358"/>
            <a:ext cx="4048425" cy="79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The partner the copper</a:t>
            </a:r>
            <a:endParaRPr lang="en-US" sz="2800" dirty="0"/>
          </a:p>
          <a:p>
            <a:pPr algn="l" indent="0" marL="0">
              <a:lnSpc>
                <a:spcPts val="3136"/>
              </a:lnSpc>
              <a:buNone/>
            </a:pPr>
            <a:r>
              <a:rPr lang="en-US" sz="28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industry calls first.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69668" y="5615853"/>
            <a:ext cx="545664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銅事業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69668" y="5824732"/>
            <a:ext cx="3048041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自社操業を伴わずに、世界最大級の銅ポジションを築く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09866" y="6378186"/>
            <a:ext cx="1014737" cy="431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~50</a:t>
            </a:r>
            <a:pPr algn="l" indent="0" marL="0">
              <a:lnSpc>
                <a:spcPts val="3400"/>
              </a:lnSpc>
              <a:buNone/>
            </a:pPr>
            <a:r>
              <a:rPr lang="en-US" sz="16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09866" y="6910358"/>
            <a:ext cx="1156681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一級強粘炭の供給に占める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BMAのシェア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2744399" y="6378186"/>
            <a:ext cx="1014737" cy="431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~20</a:t>
            </a:r>
            <a:pPr algn="l" indent="0" marL="0">
              <a:lnSpc>
                <a:spcPts val="3400"/>
              </a:lnSpc>
              <a:buNone/>
            </a:pPr>
            <a:r>
              <a:rPr lang="en-US" sz="16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744399" y="6910358"/>
            <a:ext cx="972372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原料炭の海上輸出市場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シェア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4878931" y="6378186"/>
            <a:ext cx="1017794" cy="431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60</a:t>
            </a:r>
            <a:pPr algn="l" indent="0" marL="0">
              <a:lnSpc>
                <a:spcPts val="3400"/>
              </a:lnSpc>
              <a:buNone/>
            </a:pPr>
            <a:r>
              <a:rPr lang="en-US" sz="16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+ yrs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78931" y="6910358"/>
            <a:ext cx="1064527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炭鉱寿命。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港湾・鉄道まで自社保有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8169668" y="6378186"/>
            <a:ext cx="1017139" cy="431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No.1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169668" y="6910358"/>
            <a:ext cx="1061906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ノンオペレーターとして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世界最大の銅生産者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10304201" y="6378186"/>
            <a:ext cx="962545" cy="431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5 / 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0304201" y="6910358"/>
            <a:ext cx="1195989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参画する主要5鉱山すべてが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世界Top15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12438733" y="6378186"/>
            <a:ext cx="1614399" cy="431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Top 25</a:t>
            </a:r>
            <a:pPr algn="l" indent="0" marL="0">
              <a:lnSpc>
                <a:spcPts val="3400"/>
              </a:lnSpc>
              <a:buNone/>
            </a:pPr>
            <a:r>
              <a:rPr lang="en-US" sz="16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2438733" y="6910358"/>
            <a:ext cx="880217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平均コストは世界の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上位25%に位置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609866" y="7390005"/>
            <a:ext cx="3524976" cy="64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Ut laboris anim ut elit sit sit sit sint eiusmod reprehenderit fugiat do.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reprehenderit dolor duis ea in et ad dolor elit culpa consequat aliqua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cupidatat. ullamco esse incididunt ex incididunt et nisi ullamco ea dolor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labore ullamco nisi. et esse deserunt laboris culpa ut ea incididunt dolor.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09866" y="8487307"/>
            <a:ext cx="1050114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OWNERSHIP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633854" y="8487307"/>
            <a:ext cx="2535512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出資構成｜BMAはMDPとBHPの50:50合弁会社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16887" y="8870657"/>
            <a:ext cx="47534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746580" y="8993393"/>
            <a:ext cx="615763" cy="11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5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Mitsubishi Corp.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2231511" y="8864305"/>
            <a:ext cx="28885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MDP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2009432" y="8987040"/>
            <a:ext cx="732812" cy="11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5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三菱商事 100%出資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2244406" y="9427518"/>
            <a:ext cx="26286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BHP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3682346" y="9118416"/>
            <a:ext cx="28404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BMA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3387756" y="9241151"/>
            <a:ext cx="873229" cy="11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5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BHP Mitsubishi Alliance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1550077" y="8817715"/>
            <a:ext cx="253694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100%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2846043" y="8830420"/>
            <a:ext cx="210237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50%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2846043" y="9338642"/>
            <a:ext cx="210237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50%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5575552" y="7899874"/>
            <a:ext cx="61510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dirty="0">
                <a:solidFill>
                  <a:srgbClr val="23272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Bowen Basin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5575552" y="8026929"/>
            <a:ext cx="72254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Queensland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421531" y="9458813"/>
            <a:ext cx="1507831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1968年 MDP設立／2001年 BMA組成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8670545" y="7713857"/>
            <a:ext cx="39389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Antamina</a:t>
            </a:r>
            <a:endParaRPr lang="en-US" sz="540" dirty="0"/>
          </a:p>
        </p:txBody>
      </p:sp>
      <p:sp>
        <p:nvSpPr>
          <p:cNvPr id="39" name="Text 37"/>
          <p:cNvSpPr/>
          <p:nvPr/>
        </p:nvSpPr>
        <p:spPr>
          <a:xfrm>
            <a:off x="9053101" y="8162720"/>
            <a:ext cx="44237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Quellaveco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9143827" y="8587959"/>
            <a:ext cx="41158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Escondida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9070770" y="8506762"/>
            <a:ext cx="40328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Marimaca</a:t>
            </a:r>
            <a:endParaRPr lang="en-US" sz="540" dirty="0"/>
          </a:p>
        </p:txBody>
      </p:sp>
      <p:sp>
        <p:nvSpPr>
          <p:cNvPr id="42" name="Text 40"/>
          <p:cNvSpPr/>
          <p:nvPr/>
        </p:nvSpPr>
        <p:spPr>
          <a:xfrm>
            <a:off x="9059057" y="9028484"/>
            <a:ext cx="56640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Los Pelambres</a:t>
            </a:r>
            <a:endParaRPr lang="en-US" sz="540" dirty="0"/>
          </a:p>
        </p:txBody>
      </p:sp>
      <p:sp>
        <p:nvSpPr>
          <p:cNvPr id="43" name="Text 41"/>
          <p:cNvSpPr/>
          <p:nvPr/>
        </p:nvSpPr>
        <p:spPr>
          <a:xfrm>
            <a:off x="9070770" y="9114445"/>
            <a:ext cx="75181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Anglo American Sur</a:t>
            </a:r>
            <a:endParaRPr lang="en-US" sz="540" dirty="0"/>
          </a:p>
        </p:txBody>
      </p:sp>
      <p:sp>
        <p:nvSpPr>
          <p:cNvPr id="44" name="Text 42"/>
          <p:cNvSpPr/>
          <p:nvPr/>
        </p:nvSpPr>
        <p:spPr>
          <a:xfrm>
            <a:off x="8169668" y="9442931"/>
            <a:ext cx="2304251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チリ・ペルーを中心に参画（ほか米国 Copper World）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10329612" y="7387515"/>
            <a:ext cx="4624721" cy="333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パートナー企業が多く、規模が大きく、業界と幅広い関係を築いている。だから、新たな</a:t>
            </a:r>
            <a:endParaRPr lang="en-US" sz="820" dirty="0"/>
          </a:p>
          <a:p>
            <a:pPr algn="l" indent="0" marL="0">
              <a:lnSpc>
                <a:spcPts val="1312"/>
              </a:lnSpc>
              <a:buNone/>
            </a:pPr>
            <a:r>
              <a:rPr lang="en-US" sz="82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案件で“声がかかる存在”である。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10329612" y="7796583"/>
            <a:ext cx="4540209" cy="485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Dolor dolore dolore et consequat ut cupidatat labore ullamco officia dolore do ad. sit mollit id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ad irure elit irure exercitation laborum mollit esse esse officia. non pariatur sint dolor ea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nostrud consectetur laboris ut id officia irure mollit. est.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10329612" y="8709654"/>
            <a:ext cx="244086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583723" y="8716007"/>
            <a:ext cx="65070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Tier 1 assets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10583723" y="8853862"/>
            <a:ext cx="1308890" cy="118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規模で世界上位の優良鉱山に参画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12426027" y="8709654"/>
            <a:ext cx="244086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680138" y="8716007"/>
            <a:ext cx="126761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Partnerships with majors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12680138" y="8853862"/>
            <a:ext cx="1509578" cy="118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特定1社に偏らず、主要メジャーと協業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10329612" y="9217876"/>
            <a:ext cx="244086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583723" y="9224229"/>
            <a:ext cx="107282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 relationships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0583723" y="9362084"/>
            <a:ext cx="1476603" cy="118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販売を通じ、業界の幅広い関係を構築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12426027" y="9217876"/>
            <a:ext cx="244086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04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2680138" y="9224229"/>
            <a:ext cx="83435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technology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12680138" y="9362084"/>
            <a:ext cx="1476603" cy="118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業界のボトルネックに挑む技術へ投資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647983" y="10403304"/>
            <a:ext cx="4962986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台割メモ｜主力① 原料炭。写真2枚を波形に切り抜き、金の軌道でつなぐ。BMA＝MDPとBHPの50:50合弁と分かる出資構成図を追加。</a:t>
            </a:r>
            <a:endParaRPr lang="en-US" sz="560" dirty="0"/>
          </a:p>
        </p:txBody>
      </p:sp>
      <p:sp>
        <p:nvSpPr>
          <p:cNvPr id="62" name="Text 60"/>
          <p:cNvSpPr/>
          <p:nvPr/>
        </p:nvSpPr>
        <p:spPr>
          <a:xfrm>
            <a:off x="8207785" y="10403304"/>
            <a:ext cx="4730633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台割メモ｜主力② 銅。本文（パートナーが多く、規模が大きく、幅広い関係＝声がかかる存在）を主に、強み4点は下段に移動。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673394"/>
            <a:ext cx="197122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WHAT WE DO｜TRADING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609866" y="813155"/>
            <a:ext cx="8157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第2章　独自価値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09866" y="1088866"/>
            <a:ext cx="3727411" cy="42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Resource to Market.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866" y="1799026"/>
            <a:ext cx="2177155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トレーディング事業（RtM）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866" y="2007906"/>
            <a:ext cx="3166838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一つの商品の中で、投資から販売までを一気通貫でつなぐ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09866" y="2288190"/>
            <a:ext cx="642404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09866" y="2821823"/>
            <a:ext cx="72713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INDUSTRIES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609866" y="2947418"/>
            <a:ext cx="23513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業界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2109121" y="2415246"/>
            <a:ext cx="194296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42754" y="2288190"/>
            <a:ext cx="642404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50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642754" y="2821823"/>
            <a:ext cx="68870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COUNTRIES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642754" y="2947418"/>
            <a:ext cx="23513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カ国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4142009" y="2415246"/>
            <a:ext cx="194296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75642" y="2288190"/>
            <a:ext cx="1628812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~1,000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75642" y="2821823"/>
            <a:ext cx="71861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75642" y="2947418"/>
            <a:ext cx="51159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社の販売先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609866" y="3223776"/>
            <a:ext cx="6985372" cy="32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Id eiusmod minim aliqua cillum ex proident mollit esse ad sunt ullamco consequat. ut esse proident fugiat proident magna minim id exercitation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laborum ea amet qui. magna laborum velit cillum incididunt dolor exercitation mollit voluptate sed cupidatat laborum magna. cillum.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2147913" y="5565031"/>
            <a:ext cx="481461" cy="29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C4C6E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RtM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084147" y="5831847"/>
            <a:ext cx="60899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7D93A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Functions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640469" y="5550594"/>
            <a:ext cx="548066" cy="17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Marketing &amp;</a:t>
            </a:r>
            <a:endParaRPr lang="en-US" sz="580" dirty="0"/>
          </a:p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Procurement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707729" y="5726645"/>
            <a:ext cx="413546" cy="10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6"/>
              </a:lnSpc>
              <a:buNone/>
            </a:pPr>
            <a:r>
              <a:rPr lang="en-US" sz="52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販売・調達</a:t>
            </a:r>
            <a:endParaRPr lang="en-US" sz="520" dirty="0"/>
          </a:p>
        </p:txBody>
      </p:sp>
      <p:sp>
        <p:nvSpPr>
          <p:cNvPr id="23" name="Text 21"/>
          <p:cNvSpPr/>
          <p:nvPr/>
        </p:nvSpPr>
        <p:spPr>
          <a:xfrm>
            <a:off x="1438913" y="5069967"/>
            <a:ext cx="434947" cy="17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Carbon</a:t>
            </a:r>
            <a:endParaRPr lang="en-US" sz="580" dirty="0"/>
          </a:p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Reduction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1522115" y="5246018"/>
            <a:ext cx="268544" cy="10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6"/>
              </a:lnSpc>
              <a:buNone/>
            </a:pPr>
            <a:r>
              <a:rPr lang="en-US" sz="52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脱炭素</a:t>
            </a:r>
            <a:endParaRPr lang="en-US" sz="520" dirty="0"/>
          </a:p>
        </p:txBody>
      </p:sp>
      <p:sp>
        <p:nvSpPr>
          <p:cNvPr id="25" name="Text 23"/>
          <p:cNvSpPr/>
          <p:nvPr/>
        </p:nvSpPr>
        <p:spPr>
          <a:xfrm>
            <a:off x="2795429" y="4897251"/>
            <a:ext cx="561605" cy="17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</a:t>
            </a:r>
            <a:endParaRPr lang="en-US" sz="580" dirty="0"/>
          </a:p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Management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2869459" y="5073302"/>
            <a:ext cx="413546" cy="10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6"/>
              </a:lnSpc>
              <a:buNone/>
            </a:pPr>
            <a:r>
              <a:rPr lang="en-US" sz="52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リスク管理</a:t>
            </a:r>
            <a:endParaRPr lang="en-US" sz="520" dirty="0"/>
          </a:p>
        </p:txBody>
      </p:sp>
      <p:sp>
        <p:nvSpPr>
          <p:cNvPr id="27" name="Text 25"/>
          <p:cNvSpPr/>
          <p:nvPr/>
        </p:nvSpPr>
        <p:spPr>
          <a:xfrm>
            <a:off x="3674614" y="5289733"/>
            <a:ext cx="419224" cy="8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Financing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3642731" y="5377441"/>
            <a:ext cx="482990" cy="10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6"/>
              </a:lnSpc>
              <a:buNone/>
            </a:pPr>
            <a:r>
              <a:rPr lang="en-US" sz="52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ファイナンス</a:t>
            </a:r>
            <a:endParaRPr lang="en-US" sz="520" dirty="0"/>
          </a:p>
        </p:txBody>
      </p:sp>
      <p:sp>
        <p:nvSpPr>
          <p:cNvPr id="29" name="Text 27"/>
          <p:cNvSpPr/>
          <p:nvPr/>
        </p:nvSpPr>
        <p:spPr>
          <a:xfrm>
            <a:off x="2290711" y="6270046"/>
            <a:ext cx="379697" cy="8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6"/>
              </a:lnSpc>
              <a:buNone/>
            </a:pPr>
            <a:r>
              <a:rPr lang="en-US" sz="5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Logistics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2382439" y="6357754"/>
            <a:ext cx="196043" cy="10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6"/>
              </a:lnSpc>
              <a:buNone/>
            </a:pPr>
            <a:r>
              <a:rPr lang="en-US" sz="52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物流</a:t>
            </a:r>
            <a:endParaRPr lang="en-US" sz="520" dirty="0"/>
          </a:p>
        </p:txBody>
      </p:sp>
      <p:sp>
        <p:nvSpPr>
          <p:cNvPr id="31" name="Text 29"/>
          <p:cNvSpPr/>
          <p:nvPr/>
        </p:nvSpPr>
        <p:spPr>
          <a:xfrm>
            <a:off x="1664000" y="6748362"/>
            <a:ext cx="1449088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お客様に提供できる5つの機能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4675642" y="4701053"/>
            <a:ext cx="152552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MODEL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675642" y="5056809"/>
            <a:ext cx="1329636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23272C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MC Assets ＋ Third-party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675642" y="5207814"/>
            <a:ext cx="165567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MC保有資産と第三者取引の両方を扱う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4675642" y="5603147"/>
            <a:ext cx="74111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Stable supply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675642" y="5766858"/>
            <a:ext cx="1061906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資源確保による安定供給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4675642" y="6162192"/>
            <a:ext cx="103985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Market intelligence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675642" y="6325903"/>
            <a:ext cx="225904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市場・業界動向の発信と知見共有で、事業機会を発掘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4675642" y="6721236"/>
            <a:ext cx="952063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Continuous value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675642" y="6884947"/>
            <a:ext cx="2252495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トレーディング機能の強化で、付加価値を生み続ける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609866" y="7852030"/>
            <a:ext cx="1626628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 EXAMPLE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198060" y="7852030"/>
            <a:ext cx="247676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トレーディング事業例｜Copper Value Chain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73179" y="8392015"/>
            <a:ext cx="46420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鉱山会社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893260" y="8557188"/>
            <a:ext cx="42424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Mining</a:t>
            </a:r>
            <a:endParaRPr lang="en-US" sz="560" dirty="0"/>
          </a:p>
        </p:txBody>
      </p:sp>
      <p:sp>
        <p:nvSpPr>
          <p:cNvPr id="45" name="Text 43"/>
          <p:cNvSpPr/>
          <p:nvPr/>
        </p:nvSpPr>
        <p:spPr>
          <a:xfrm>
            <a:off x="1916374" y="8392015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4F7AA3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2171001" y="8557188"/>
            <a:ext cx="25740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</a:t>
            </a:r>
            <a:endParaRPr lang="en-US" sz="560" dirty="0"/>
          </a:p>
        </p:txBody>
      </p:sp>
      <p:sp>
        <p:nvSpPr>
          <p:cNvPr id="47" name="Text 45"/>
          <p:cNvSpPr/>
          <p:nvPr/>
        </p:nvSpPr>
        <p:spPr>
          <a:xfrm>
            <a:off x="3210275" y="8392015"/>
            <a:ext cx="56750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製鉄・製錬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3227746" y="8557188"/>
            <a:ext cx="53256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Smelting</a:t>
            </a:r>
            <a:endParaRPr lang="en-US" sz="560" dirty="0"/>
          </a:p>
        </p:txBody>
      </p:sp>
      <p:sp>
        <p:nvSpPr>
          <p:cNvPr id="49" name="Text 47"/>
          <p:cNvSpPr/>
          <p:nvPr/>
        </p:nvSpPr>
        <p:spPr>
          <a:xfrm>
            <a:off x="4305017" y="8392015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4F7AA3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4559645" y="8557188"/>
            <a:ext cx="25740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</a:t>
            </a:r>
            <a:endParaRPr lang="en-US" sz="560" dirty="0"/>
          </a:p>
        </p:txBody>
      </p:sp>
      <p:sp>
        <p:nvSpPr>
          <p:cNvPr id="51" name="Text 49"/>
          <p:cNvSpPr/>
          <p:nvPr/>
        </p:nvSpPr>
        <p:spPr>
          <a:xfrm>
            <a:off x="5387153" y="8203910"/>
            <a:ext cx="829117" cy="12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主な最終用途（例）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5387153" y="8385663"/>
            <a:ext cx="83523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00" dirty="0">
                <a:solidFill>
                  <a:srgbClr val="B38F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●</a:t>
            </a:r>
            <a:pPr algn="l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Base Demand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5387153" y="8550835"/>
            <a:ext cx="99683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00" dirty="0">
                <a:solidFill>
                  <a:srgbClr val="B38F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●</a:t>
            </a:r>
            <a:pPr algn="l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Energy Transition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387153" y="8716007"/>
            <a:ext cx="101844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00" dirty="0">
                <a:solidFill>
                  <a:srgbClr val="B38F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●</a:t>
            </a:r>
            <a:pPr algn="l"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AI &amp; Data Centers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09866" y="8994068"/>
            <a:ext cx="385516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RtMは鉱山会社から製錬所へ、製錬所から需要家へ、2度の流通を担い、川上と川下をつなぐ</a:t>
            </a:r>
            <a:endParaRPr lang="en-US" sz="660" dirty="0"/>
          </a:p>
        </p:txBody>
      </p:sp>
      <p:sp>
        <p:nvSpPr>
          <p:cNvPr id="56" name="Text 54"/>
          <p:cNvSpPr/>
          <p:nvPr/>
        </p:nvSpPr>
        <p:spPr>
          <a:xfrm>
            <a:off x="8169668" y="673394"/>
            <a:ext cx="262308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WHAT WE DO｜NEW TECHNOLOGY</a:t>
            </a:r>
            <a:endParaRPr lang="en-US" sz="660" dirty="0"/>
          </a:p>
        </p:txBody>
      </p:sp>
      <p:sp>
        <p:nvSpPr>
          <p:cNvPr id="57" name="Text 55"/>
          <p:cNvSpPr/>
          <p:nvPr/>
        </p:nvSpPr>
        <p:spPr>
          <a:xfrm>
            <a:off x="8169668" y="813155"/>
            <a:ext cx="8157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第2章　独自価値</a:t>
            </a:r>
            <a:endParaRPr lang="en-US" sz="660" dirty="0"/>
          </a:p>
        </p:txBody>
      </p:sp>
      <p:sp>
        <p:nvSpPr>
          <p:cNvPr id="58" name="Text 56"/>
          <p:cNvSpPr/>
          <p:nvPr/>
        </p:nvSpPr>
        <p:spPr>
          <a:xfrm>
            <a:off x="8169668" y="1088866"/>
            <a:ext cx="2191787" cy="85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Investing in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what's next.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8169668" y="2225853"/>
            <a:ext cx="15351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新技術への取り組み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169668" y="2434733"/>
            <a:ext cx="4240160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加工技術・回収・リサイクルなど、業界のボトルネックに挑む技術へ投資する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8169668" y="2659570"/>
            <a:ext cx="4955125" cy="64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Qui sit officia eiusmod nulla velit aliquip irure ex sint exercitation id nostrud. ut proident lorem ut id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eiusmod lorem voluptate deserunt dolore elit exercitation proident. cupidatat non nostrud deserunt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labore aute sit deserunt est incididunt eiusmod cillum reprehenderit. minim sunt mollit aute cupidatat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non ex anim consequat nisi ipsum.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7877441" y="6275080"/>
            <a:ext cx="271164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7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Mine</a:t>
            </a:r>
            <a:endParaRPr lang="en-US" sz="70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採掘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368193" y="7089824"/>
            <a:ext cx="511597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7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Process</a:t>
            </a:r>
            <a:endParaRPr lang="en-US" sz="70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選鉱・浸出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2851663" y="7285767"/>
            <a:ext cx="715997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7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Smelt &amp; Refine</a:t>
            </a:r>
            <a:endParaRPr lang="en-US" sz="70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製錬・精製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3696582" y="6478369"/>
            <a:ext cx="931317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7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End use</a:t>
            </a:r>
            <a:endParaRPr lang="en-US" sz="70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電化・再エネ・AI/DC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1117356" y="4979114"/>
            <a:ext cx="507011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7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Recycle</a:t>
            </a:r>
            <a:endParaRPr lang="en-US" sz="70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リサイクル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9249640" y="5730203"/>
            <a:ext cx="96145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spc="1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COPPER｜STARTUP</a:t>
            </a:r>
            <a:endParaRPr lang="en-US" sz="540" dirty="0"/>
          </a:p>
        </p:txBody>
      </p:sp>
      <p:sp>
        <p:nvSpPr>
          <p:cNvPr id="68" name="Text 66"/>
          <p:cNvSpPr/>
          <p:nvPr/>
        </p:nvSpPr>
        <p:spPr>
          <a:xfrm>
            <a:off x="9249640" y="5831847"/>
            <a:ext cx="433418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CiDRA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249640" y="5985203"/>
            <a:ext cx="810773" cy="125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浮遊選鉱の高度化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9249640" y="6122153"/>
            <a:ext cx="94223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回収率・処理能力を向上</a:t>
            </a:r>
            <a:endParaRPr lang="en-US" sz="580" dirty="0"/>
          </a:p>
        </p:txBody>
      </p:sp>
      <p:sp>
        <p:nvSpPr>
          <p:cNvPr id="71" name="Text 69"/>
          <p:cNvSpPr/>
          <p:nvPr/>
        </p:nvSpPr>
        <p:spPr>
          <a:xfrm>
            <a:off x="11866983" y="5730203"/>
            <a:ext cx="96145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spc="1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COPPER｜STARTUP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11866983" y="5831847"/>
            <a:ext cx="292128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Jetti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1866983" y="5985203"/>
            <a:ext cx="1000761" cy="125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硫化鉱のリーチング化</a:t>
            </a:r>
            <a:endParaRPr lang="en-US" sz="680" dirty="0"/>
          </a:p>
        </p:txBody>
      </p:sp>
      <p:sp>
        <p:nvSpPr>
          <p:cNvPr id="74" name="Text 72"/>
          <p:cNvSpPr/>
          <p:nvPr/>
        </p:nvSpPr>
        <p:spPr>
          <a:xfrm>
            <a:off x="11866983" y="6122153"/>
            <a:ext cx="1023253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触媒で硫化鉱から銅を回収</a:t>
            </a:r>
            <a:endParaRPr lang="en-US" sz="580" dirty="0"/>
          </a:p>
        </p:txBody>
      </p:sp>
      <p:sp>
        <p:nvSpPr>
          <p:cNvPr id="75" name="Text 73"/>
          <p:cNvSpPr/>
          <p:nvPr/>
        </p:nvSpPr>
        <p:spPr>
          <a:xfrm>
            <a:off x="10558312" y="6645002"/>
            <a:ext cx="60418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spc="12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RECYCLING</a:t>
            </a:r>
            <a:endParaRPr lang="en-US" sz="540" dirty="0"/>
          </a:p>
        </p:txBody>
      </p:sp>
      <p:sp>
        <p:nvSpPr>
          <p:cNvPr id="76" name="Text 74"/>
          <p:cNvSpPr/>
          <p:nvPr/>
        </p:nvSpPr>
        <p:spPr>
          <a:xfrm>
            <a:off x="10558312" y="6746647"/>
            <a:ext cx="619038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DESCycle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10558312" y="6900003"/>
            <a:ext cx="1095754" cy="125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銅スクラップの回収強化</a:t>
            </a:r>
            <a:endParaRPr lang="en-US" sz="680" dirty="0"/>
          </a:p>
        </p:txBody>
      </p:sp>
      <p:sp>
        <p:nvSpPr>
          <p:cNvPr id="78" name="Text 76"/>
          <p:cNvSpPr/>
          <p:nvPr/>
        </p:nvSpPr>
        <p:spPr>
          <a:xfrm>
            <a:off x="10558312" y="7036953"/>
            <a:ext cx="1428342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電子スクラップから銅・貴金属を回収</a:t>
            </a:r>
            <a:endParaRPr lang="en-US" sz="580" dirty="0"/>
          </a:p>
        </p:txBody>
      </p:sp>
      <p:sp>
        <p:nvSpPr>
          <p:cNvPr id="79" name="Text 77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620" dirty="0"/>
          </a:p>
        </p:txBody>
      </p:sp>
      <p:sp>
        <p:nvSpPr>
          <p:cNvPr id="80" name="Text 78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620" dirty="0"/>
          </a:p>
        </p:txBody>
      </p:sp>
      <p:sp>
        <p:nvSpPr>
          <p:cNvPr id="81" name="Text 79"/>
          <p:cNvSpPr/>
          <p:nvPr/>
        </p:nvSpPr>
        <p:spPr>
          <a:xfrm>
            <a:off x="647983" y="10403304"/>
            <a:ext cx="6607581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台割メモ｜ハブ図は削除し、5つの機能＝ガラス球を回る衛星に。本文を追加し、拠点一覧はP.05の販売網へ移動。銅を例にトレーディングが2度介在するバリューチェーンを追加。</a:t>
            </a:r>
            <a:endParaRPr lang="en-US" sz="560" dirty="0"/>
          </a:p>
        </p:txBody>
      </p:sp>
      <p:sp>
        <p:nvSpPr>
          <p:cNvPr id="82" name="Text 80"/>
          <p:cNvSpPr/>
          <p:nvPr/>
        </p:nvSpPr>
        <p:spPr>
          <a:xfrm>
            <a:off x="8207785" y="10403304"/>
            <a:ext cx="5881697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台割メモ｜CVCを「新技術」の枠で。CiDRA（浮遊選鉱の高度化）・Jetti（硫化鉱のリーチング化）・DESCycle（銅スクラップ回収）の3例。原料炭の枠は削除。</a:t>
            </a:r>
            <a:endParaRPr lang="en-US" sz="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520928"/>
            <a:ext cx="223327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WHY PARTNERS CHOOSE US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609866" y="5129230"/>
            <a:ext cx="3276900" cy="42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Partner of choice.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866" y="5839391"/>
            <a:ext cx="1963802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第3章　選ばれ続ける理由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866" y="6048270"/>
            <a:ext cx="4118961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資源業界に不可欠な存在として、世界のトッププレイヤーから選ばれ続ける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09866" y="6273108"/>
            <a:ext cx="6769179" cy="485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Consectetur dolor nulla reprehenderit elit ea aute officia dolore reprehenderit cupidatat sed dolor. quis consectetur cupidatat deserunt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consequat mollit lorem enim culpa veniam sunt amet consectetur. laborum duis aliquip nostrud ut non enim nostrud labore occaecat ea qui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laborum. exercitation adipiscing amet elit anim voluptate proident.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609866" y="6778411"/>
            <a:ext cx="451107" cy="33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18088" y="6803822"/>
            <a:ext cx="182971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Cultural affinity with the majors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1118088" y="6980238"/>
            <a:ext cx="151984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資源メジャーとの企業文化的親和性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3849782" y="6778411"/>
            <a:ext cx="451107" cy="33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58004" y="6803822"/>
            <a:ext cx="151656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JV management capability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358004" y="6980238"/>
            <a:ext cx="1623571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資源投資経験に裏打ちされたJV経営力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609866" y="7337455"/>
            <a:ext cx="451107" cy="33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18088" y="7362866"/>
            <a:ext cx="1216080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Sound financial base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118088" y="7539283"/>
            <a:ext cx="1986076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事業ポートフォリオを活かした健全な財務基盤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3849782" y="7337455"/>
            <a:ext cx="451107" cy="33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58004" y="7362866"/>
            <a:ext cx="76447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insight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4358004" y="7539283"/>
            <a:ext cx="2073645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マクロ環境とバリューチェーンに対する深い知見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609866" y="8150610"/>
            <a:ext cx="3678932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JOINT VENTURES WITH INDUSTRY LEADERS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421531" y="8150610"/>
            <a:ext cx="1263031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業界最大手とのJV実績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09866" y="8404721"/>
            <a:ext cx="431453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BHP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61588" y="8404721"/>
            <a:ext cx="828243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Rio Tinto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13309" y="8404721"/>
            <a:ext cx="1454766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Anglo American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866" y="8708193"/>
            <a:ext cx="3825244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単なる共同出資者に留まらず、人材派遣・ガバナンス参画・総合力でJVの事業価値を最大化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609866" y="8989176"/>
            <a:ext cx="2205108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PARTNERS VALUE US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023921" y="8989176"/>
            <a:ext cx="1611123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パートナーに評価される理由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213856" y="9316471"/>
            <a:ext cx="774086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中長期的な視座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895692" y="9489259"/>
            <a:ext cx="141021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LONG-TERM PERSPECTIVE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3245097" y="9316471"/>
            <a:ext cx="980670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リスクシェアリング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328080" y="9489259"/>
            <a:ext cx="81470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SHARING</a:t>
            </a:r>
            <a:endParaRPr lang="en-US" sz="560" dirty="0"/>
          </a:p>
        </p:txBody>
      </p:sp>
      <p:sp>
        <p:nvSpPr>
          <p:cNvPr id="31" name="Text 29"/>
          <p:cNvSpPr/>
          <p:nvPr/>
        </p:nvSpPr>
        <p:spPr>
          <a:xfrm>
            <a:off x="5689505" y="9316471"/>
            <a:ext cx="360917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総合力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5216938" y="9489259"/>
            <a:ext cx="130605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INTEGRATED STRENGTH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8169668" y="673394"/>
            <a:ext cx="117917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　OUR VISION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8169668" y="813155"/>
            <a:ext cx="111737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第4章　何を実現するか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8169668" y="1088866"/>
            <a:ext cx="4145166" cy="85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Building the future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of resources, together.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169668" y="2225853"/>
            <a:ext cx="186050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共に、資源の未来を築く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69668" y="2434733"/>
            <a:ext cx="4717968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クリティカルミネラルを取り巻く外部環境に、安定供給と効率的な供給の両面で応える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843172" y="3718756"/>
            <a:ext cx="81273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Demand shift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8680263" y="3907433"/>
            <a:ext cx="1138556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産業構造の転換</a:t>
            </a:r>
            <a:endParaRPr lang="en-US" sz="600" dirty="0"/>
          </a:p>
          <a:p>
            <a:pPr algn="ctr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人口増・電化による需要拡大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10801792" y="3718756"/>
            <a:ext cx="1088330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Supply constraints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10985010" y="3907433"/>
            <a:ext cx="721894" cy="118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供給制約の深刻化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13103918" y="3718756"/>
            <a:ext cx="67690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Geopolitics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12997569" y="3907433"/>
            <a:ext cx="889607" cy="118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地政学リスクの常態化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9821042" y="5511953"/>
            <a:ext cx="3037123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サプライチェーン確保の重要性と、川上資源への参入障壁が増大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8169668" y="6107399"/>
            <a:ext cx="162095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COMMITMENT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10075501" y="6107399"/>
            <a:ext cx="77102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私たちの約束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8169668" y="6350392"/>
            <a:ext cx="6278269" cy="55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“To contribute to a better society by providing a stable supply of high-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quality mineral resources that society needs, in a sustainable way.”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169668" y="6995326"/>
            <a:ext cx="4647650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「社会が必要とする良質な金属資源を、持続可能な形で安定供給することで、より良い社会の実現に寄与する」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8169668" y="8766829"/>
            <a:ext cx="81404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CONTACT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9313168" y="8766829"/>
            <a:ext cx="77102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お問い合わせ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8169668" y="9015223"/>
            <a:ext cx="2430254" cy="453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Mitsubishi Corporation　Mineral Resources Group</a:t>
            </a:r>
            <a:endParaRPr lang="en-US" sz="70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5D636A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2-3-1 Marunouchi, Chiyoda-ku, Tokyo 100-8086, Japan</a:t>
            </a:r>
            <a:endParaRPr lang="en-US" sz="70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5D636A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www.mitsubishicorp.com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620" dirty="0"/>
          </a:p>
        </p:txBody>
      </p:sp>
      <p:sp>
        <p:nvSpPr>
          <p:cNvPr id="53" name="Text 51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647983" y="10403304"/>
            <a:ext cx="6616971" cy="213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台割メモ｜写真を丸い「レンズ」で切り抜き、金の軌道が周回。本文を追加。JV実績のラベルを拡大し、「パートナーに評価される理由」（中長期的な視座・リスクシェアリング・総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合力）を復活。</a:t>
            </a:r>
            <a:endParaRPr lang="en-US" sz="560" dirty="0"/>
          </a:p>
        </p:txBody>
      </p:sp>
      <p:sp>
        <p:nvSpPr>
          <p:cNvPr id="55" name="Text 53"/>
          <p:cNvSpPr/>
          <p:nvPr/>
        </p:nvSpPr>
        <p:spPr>
          <a:xfrm>
            <a:off x="8207785" y="10403304"/>
            <a:ext cx="4515096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台割メモ｜外部環境の3つの変化を3つのガラス球に。最後に日本側の地球儀が現れ、軌道が裏表紙へ抜けて冊子を閉じる。</a:t>
            </a:r>
            <a:endParaRPr lang="en-US" sz="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2026-10-07T11:48:53Z</dcterms:created>
  <dcterms:modified xsi:type="dcterms:W3CDTF">2026-10-07T11:48:53Z</dcterms:modified>
</cp:coreProperties>
</file>