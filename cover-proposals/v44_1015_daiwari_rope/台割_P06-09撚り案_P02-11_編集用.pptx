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</p:sldIdLst>
  <p:notesMasterIdLst>
    <p:notesMasterId r:id="rId7"/>
  </p:notesMasterIdLst>
  <p:sldSz cx="15119604" cy="10692079"/>
  <p:notesSz cx="10692079" cy="15119604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notesMaster" Target="notesMasters/notesMaster1.xml"/><Relationship Id="rId8" Type="http://schemas.openxmlformats.org/officeDocument/2006/relationships/presProps" Target="presProps.xml"/><Relationship Id="rId9" Type="http://schemas.openxmlformats.org/officeDocument/2006/relationships/viewProps" Target="viewProps.xml"/><Relationship Id="rId10" Type="http://schemas.openxmlformats.org/officeDocument/2006/relationships/theme" Target="theme/theme1.xml"/><Relationship Id="rId1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-image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-image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-image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4-image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5-image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27055" y="2769810"/>
            <a:ext cx="375111" cy="19058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500"/>
              </a:lnSpc>
              <a:buNone/>
            </a:pPr>
            <a:r>
              <a:rPr lang="en-US" sz="1100" spc="60" kern="0" dirty="0">
                <a:solidFill>
                  <a:srgbClr val="FFFFFF"/>
                </a:solidFill>
                <a:latin typeface="Zen Kaku Gothic New Medium" pitchFamily="34" charset="0"/>
                <a:ea typeface="Zen Kaku Gothic New Medium" pitchFamily="34" charset="-122"/>
                <a:cs typeface="Zen Kaku Gothic New Medium" pitchFamily="34" charset="-120"/>
              </a:rPr>
              <a:t>都市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127055" y="2960393"/>
            <a:ext cx="1216080" cy="19058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500"/>
              </a:lnSpc>
              <a:buNone/>
            </a:pPr>
            <a:r>
              <a:rPr lang="en-US" sz="1100" spc="80" kern="0" dirty="0">
                <a:solidFill>
                  <a:srgbClr val="FFFFFF"/>
                </a:solidFill>
                <a:latin typeface="Zen Kaku Gothic New" pitchFamily="34" charset="0"/>
                <a:ea typeface="Zen Kaku Gothic New" pitchFamily="34" charset="-122"/>
                <a:cs typeface="Zen Kaku Gothic New" pitchFamily="34" charset="-120"/>
              </a:rPr>
              <a:t>鉄・銅・アルミ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370709" y="1156205"/>
            <a:ext cx="879562" cy="19058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500"/>
              </a:lnSpc>
              <a:buNone/>
            </a:pPr>
            <a:r>
              <a:rPr lang="en-US" sz="1100" spc="60" kern="0" dirty="0">
                <a:solidFill>
                  <a:srgbClr val="FFFFFF"/>
                </a:solidFill>
                <a:latin typeface="Zen Kaku Gothic New Medium" pitchFamily="34" charset="0"/>
                <a:ea typeface="Zen Kaku Gothic New Medium" pitchFamily="34" charset="-122"/>
                <a:cs typeface="Zen Kaku Gothic New Medium" pitchFamily="34" charset="-120"/>
              </a:rPr>
              <a:t>モビリティ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4370709" y="1346788"/>
            <a:ext cx="1384667" cy="19058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500"/>
              </a:lnSpc>
              <a:buNone/>
            </a:pPr>
            <a:r>
              <a:rPr lang="en-US" sz="1100" spc="80" kern="0" dirty="0">
                <a:solidFill>
                  <a:srgbClr val="FFFFFF"/>
                </a:solidFill>
                <a:latin typeface="Zen Kaku Gothic New" pitchFamily="34" charset="0"/>
                <a:ea typeface="Zen Kaku Gothic New" pitchFamily="34" charset="-122"/>
                <a:cs typeface="Zen Kaku Gothic New" pitchFamily="34" charset="-120"/>
              </a:rPr>
              <a:t>鉄・銅・リチウム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5030762" y="2273063"/>
            <a:ext cx="1741931" cy="22361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1760"/>
              </a:lnSpc>
              <a:buNone/>
            </a:pPr>
            <a:r>
              <a:rPr lang="en-US" sz="1100" dirty="0">
                <a:solidFill>
                  <a:srgbClr val="8A96A3"/>
                </a:solidFill>
                <a:latin typeface="Zen Kaku Gothic New" pitchFamily="34" charset="0"/>
                <a:ea typeface="Zen Kaku Gothic New" pitchFamily="34" charset="-122"/>
                <a:cs typeface="Zen Kaku Gothic New" pitchFamily="34" charset="-120"/>
              </a:rPr>
              <a:t>鉄道の写真（ストック）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4370709" y="2769810"/>
            <a:ext cx="375111" cy="19058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500"/>
              </a:lnSpc>
              <a:buNone/>
            </a:pPr>
            <a:r>
              <a:rPr lang="en-US" sz="1100" spc="60" kern="0" dirty="0">
                <a:solidFill>
                  <a:srgbClr val="5A6570"/>
                </a:solidFill>
                <a:latin typeface="Zen Kaku Gothic New Medium" pitchFamily="34" charset="0"/>
                <a:ea typeface="Zen Kaku Gothic New Medium" pitchFamily="34" charset="-122"/>
                <a:cs typeface="Zen Kaku Gothic New Medium" pitchFamily="34" charset="-120"/>
              </a:rPr>
              <a:t>鉄道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4370709" y="2960393"/>
            <a:ext cx="545664" cy="19058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500"/>
              </a:lnSpc>
              <a:buNone/>
            </a:pPr>
            <a:r>
              <a:rPr lang="en-US" sz="1100" spc="80" kern="0" dirty="0">
                <a:solidFill>
                  <a:srgbClr val="5A6570"/>
                </a:solidFill>
                <a:latin typeface="Zen Kaku Gothic New" pitchFamily="34" charset="0"/>
                <a:ea typeface="Zen Kaku Gothic New" pitchFamily="34" charset="-122"/>
                <a:cs typeface="Zen Kaku Gothic New" pitchFamily="34" charset="-120"/>
              </a:rPr>
              <a:t>鉄・銅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127055" y="4675642"/>
            <a:ext cx="1524428" cy="19058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500"/>
              </a:lnSpc>
              <a:buNone/>
            </a:pPr>
            <a:r>
              <a:rPr lang="en-US" sz="1100" spc="60" kern="0" dirty="0">
                <a:solidFill>
                  <a:srgbClr val="FFFFFF"/>
                </a:solidFill>
                <a:latin typeface="Zen Kaku Gothic New Medium" pitchFamily="34" charset="0"/>
                <a:ea typeface="Zen Kaku Gothic New Medium" pitchFamily="34" charset="-122"/>
                <a:cs typeface="Zen Kaku Gothic New Medium" pitchFamily="34" charset="-120"/>
              </a:rPr>
              <a:t>再生可能エネルギー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127055" y="4866225"/>
            <a:ext cx="545664" cy="19058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500"/>
              </a:lnSpc>
              <a:buNone/>
            </a:pPr>
            <a:r>
              <a:rPr lang="en-US" sz="1100" spc="80" kern="0" dirty="0">
                <a:solidFill>
                  <a:srgbClr val="FFFFFF"/>
                </a:solidFill>
                <a:latin typeface="Zen Kaku Gothic New" pitchFamily="34" charset="0"/>
                <a:ea typeface="Zen Kaku Gothic New" pitchFamily="34" charset="-122"/>
                <a:cs typeface="Zen Kaku Gothic New" pitchFamily="34" charset="-120"/>
              </a:rPr>
              <a:t>銅・鉄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2248882" y="4675642"/>
            <a:ext cx="537365" cy="19058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500"/>
              </a:lnSpc>
              <a:buNone/>
            </a:pPr>
            <a:r>
              <a:rPr lang="en-US" sz="1100" spc="60" kern="0" dirty="0">
                <a:solidFill>
                  <a:srgbClr val="FFFFFF"/>
                </a:solidFill>
                <a:latin typeface="Zen Kaku Gothic New Medium" pitchFamily="34" charset="0"/>
                <a:ea typeface="Zen Kaku Gothic New Medium" pitchFamily="34" charset="-122"/>
                <a:cs typeface="Zen Kaku Gothic New Medium" pitchFamily="34" charset="-120"/>
              </a:rPr>
              <a:t>送電網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2248882" y="4866225"/>
            <a:ext cx="886331" cy="19058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500"/>
              </a:lnSpc>
              <a:buNone/>
            </a:pPr>
            <a:r>
              <a:rPr lang="en-US" sz="1100" spc="80" kern="0" dirty="0">
                <a:solidFill>
                  <a:srgbClr val="FFFFFF"/>
                </a:solidFill>
                <a:latin typeface="Zen Kaku Gothic New" pitchFamily="34" charset="0"/>
                <a:ea typeface="Zen Kaku Gothic New" pitchFamily="34" charset="-122"/>
                <a:cs typeface="Zen Kaku Gothic New" pitchFamily="34" charset="-120"/>
              </a:rPr>
              <a:t>銅・アルミ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5107631" y="3921012"/>
            <a:ext cx="1588194" cy="44723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1760"/>
              </a:lnSpc>
              <a:buNone/>
            </a:pPr>
            <a:r>
              <a:rPr lang="en-US" sz="1100" dirty="0">
                <a:solidFill>
                  <a:srgbClr val="8A96A3"/>
                </a:solidFill>
                <a:latin typeface="Zen Kaku Gothic New" pitchFamily="34" charset="0"/>
                <a:ea typeface="Zen Kaku Gothic New" pitchFamily="34" charset="-122"/>
                <a:cs typeface="Zen Kaku Gothic New" pitchFamily="34" charset="-120"/>
              </a:rPr>
              <a:t>スマートフォン・</a:t>
            </a:r>
            <a:endParaRPr lang="en-US" sz="1100" dirty="0"/>
          </a:p>
          <a:p>
            <a:pPr algn="ctr" indent="0" marL="0">
              <a:lnSpc>
                <a:spcPts val="1760"/>
              </a:lnSpc>
              <a:buNone/>
            </a:pPr>
            <a:r>
              <a:rPr lang="en-US" sz="1100" dirty="0">
                <a:solidFill>
                  <a:srgbClr val="8A96A3"/>
                </a:solidFill>
                <a:latin typeface="Zen Kaku Gothic New" pitchFamily="34" charset="0"/>
                <a:ea typeface="Zen Kaku Gothic New" pitchFamily="34" charset="-122"/>
                <a:cs typeface="Zen Kaku Gothic New" pitchFamily="34" charset="-120"/>
              </a:rPr>
              <a:t>データセンターの写真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4370709" y="4675642"/>
            <a:ext cx="713814" cy="19058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500"/>
              </a:lnSpc>
              <a:buNone/>
            </a:pPr>
            <a:r>
              <a:rPr lang="en-US" sz="1100" spc="60" kern="0" dirty="0">
                <a:solidFill>
                  <a:srgbClr val="5A6570"/>
                </a:solidFill>
                <a:latin typeface="Zen Kaku Gothic New Medium" pitchFamily="34" charset="0"/>
                <a:ea typeface="Zen Kaku Gothic New Medium" pitchFamily="34" charset="-122"/>
                <a:cs typeface="Zen Kaku Gothic New Medium" pitchFamily="34" charset="-120"/>
              </a:rPr>
              <a:t>デバイス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4370709" y="4866225"/>
            <a:ext cx="1893921" cy="19058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500"/>
              </a:lnSpc>
              <a:buNone/>
            </a:pPr>
            <a:r>
              <a:rPr lang="en-US" sz="1100" spc="80" kern="0" dirty="0">
                <a:solidFill>
                  <a:srgbClr val="5A6570"/>
                </a:solidFill>
                <a:latin typeface="Zen Kaku Gothic New" pitchFamily="34" charset="0"/>
                <a:ea typeface="Zen Kaku Gothic New" pitchFamily="34" charset="-122"/>
                <a:cs typeface="Zen Kaku Gothic New" pitchFamily="34" charset="-120"/>
              </a:rPr>
              <a:t>銅・リチウム・ニッケル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7737680" y="2947688"/>
            <a:ext cx="699401" cy="19058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500"/>
              </a:lnSpc>
              <a:buNone/>
            </a:pPr>
            <a:r>
              <a:rPr lang="en-US" sz="1100" spc="60" kern="0" dirty="0">
                <a:solidFill>
                  <a:srgbClr val="FFFFFF"/>
                </a:solidFill>
                <a:latin typeface="Zen Kaku Gothic New Medium" pitchFamily="34" charset="0"/>
                <a:ea typeface="Zen Kaku Gothic New Medium" pitchFamily="34" charset="-122"/>
                <a:cs typeface="Zen Kaku Gothic New Medium" pitchFamily="34" charset="-120"/>
              </a:rPr>
              <a:t>金属素材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7737680" y="3138271"/>
            <a:ext cx="2557131" cy="19058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500"/>
              </a:lnSpc>
              <a:buNone/>
            </a:pPr>
            <a:r>
              <a:rPr lang="en-US" sz="1100" spc="80" kern="0" dirty="0">
                <a:solidFill>
                  <a:srgbClr val="FFFFFF"/>
                </a:solidFill>
                <a:latin typeface="Zen Kaku Gothic New" pitchFamily="34" charset="0"/>
                <a:ea typeface="Zen Kaku Gothic New" pitchFamily="34" charset="-122"/>
                <a:cs typeface="Zen Kaku Gothic New" pitchFamily="34" charset="-120"/>
              </a:rPr>
              <a:t>暮らしを形づくる鉄・銅・アルミ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11981333" y="3125565"/>
            <a:ext cx="861436" cy="19058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500"/>
              </a:lnSpc>
              <a:buNone/>
            </a:pPr>
            <a:r>
              <a:rPr lang="en-US" sz="1100" spc="60" kern="0" dirty="0">
                <a:solidFill>
                  <a:srgbClr val="FFFFFF"/>
                </a:solidFill>
                <a:latin typeface="Zen Kaku Gothic New Medium" pitchFamily="34" charset="0"/>
                <a:ea typeface="Zen Kaku Gothic New Medium" pitchFamily="34" charset="-122"/>
                <a:cs typeface="Zen Kaku Gothic New Medium" pitchFamily="34" charset="-120"/>
              </a:rPr>
              <a:t>製錬・精製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7737680" y="4853520"/>
            <a:ext cx="699401" cy="19058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500"/>
              </a:lnSpc>
              <a:buNone/>
            </a:pPr>
            <a:r>
              <a:rPr lang="en-US" sz="1100" spc="60" kern="0" dirty="0">
                <a:solidFill>
                  <a:srgbClr val="FFFFFF"/>
                </a:solidFill>
                <a:latin typeface="Zen Kaku Gothic New Medium" pitchFamily="34" charset="0"/>
                <a:ea typeface="Zen Kaku Gothic New Medium" pitchFamily="34" charset="-122"/>
                <a:cs typeface="Zen Kaku Gothic New Medium" pitchFamily="34" charset="-120"/>
              </a:rPr>
              <a:t>海上輸送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11053828" y="4853520"/>
            <a:ext cx="537365" cy="19058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500"/>
              </a:lnSpc>
              <a:buNone/>
            </a:pPr>
            <a:r>
              <a:rPr lang="en-US" sz="1100" spc="60" kern="0" dirty="0">
                <a:solidFill>
                  <a:srgbClr val="FFFFFF"/>
                </a:solidFill>
                <a:latin typeface="Zen Kaku Gothic New Medium" pitchFamily="34" charset="0"/>
                <a:ea typeface="Zen Kaku Gothic New Medium" pitchFamily="34" charset="-122"/>
                <a:cs typeface="Zen Kaku Gothic New Medium" pitchFamily="34" charset="-120"/>
              </a:rPr>
              <a:t>銅地金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508222" y="5590442"/>
            <a:ext cx="1266088" cy="19058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500"/>
              </a:lnSpc>
              <a:buNone/>
            </a:pPr>
            <a:r>
              <a:rPr lang="en-US" sz="1100" spc="120" kern="0" dirty="0">
                <a:solidFill>
                  <a:srgbClr val="9C7442"/>
                </a:solidFill>
                <a:latin typeface="Zen Kaku Gothic New Medium" pitchFamily="34" charset="0"/>
                <a:ea typeface="Zen Kaku Gothic New Medium" pitchFamily="34" charset="-122"/>
                <a:cs typeface="Zen Kaku Gothic New Medium" pitchFamily="34" charset="-120"/>
              </a:rPr>
              <a:t>コアメッセージ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508222" y="5781025"/>
            <a:ext cx="1325487" cy="20328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600"/>
              </a:lnSpc>
              <a:buNone/>
            </a:pPr>
            <a:r>
              <a:rPr lang="en-US" sz="1100" spc="40" kern="0" dirty="0">
                <a:solidFill>
                  <a:srgbClr val="7D838A"/>
                </a:solidFill>
                <a:latin typeface="Zen Kaku Gothic New" pitchFamily="34" charset="0"/>
                <a:ea typeface="Zen Kaku Gothic New" pitchFamily="34" charset="-122"/>
                <a:cs typeface="Zen Kaku Gothic New" pitchFamily="34" charset="-120"/>
              </a:rPr>
              <a:t>私たちの存在意義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508222" y="5912527"/>
            <a:ext cx="5219797" cy="12273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4830"/>
              </a:lnSpc>
              <a:buNone/>
            </a:pPr>
            <a:r>
              <a:rPr lang="en-US" sz="4600" spc="-92" kern="0" dirty="0">
                <a:solidFill>
                  <a:srgbClr val="121519"/>
                </a:solidFill>
                <a:latin typeface="Manrope Light" pitchFamily="34" charset="0"/>
                <a:ea typeface="Manrope Light" pitchFamily="34" charset="-122"/>
                <a:cs typeface="Manrope Light" pitchFamily="34" charset="-120"/>
              </a:rPr>
              <a:t>Strength to Hold.</a:t>
            </a:r>
            <a:endParaRPr lang="en-US" sz="4600" dirty="0"/>
          </a:p>
          <a:p>
            <a:pPr algn="l" indent="0" marL="0">
              <a:lnSpc>
                <a:spcPts val="4830"/>
              </a:lnSpc>
              <a:buNone/>
            </a:pPr>
            <a:r>
              <a:rPr lang="en-US" sz="4600" spc="-92" kern="0" dirty="0">
                <a:solidFill>
                  <a:srgbClr val="121519"/>
                </a:solidFill>
                <a:latin typeface="Manrope Light" pitchFamily="34" charset="0"/>
                <a:ea typeface="Manrope Light" pitchFamily="34" charset="-122"/>
                <a:cs typeface="Manrope Light" pitchFamily="34" charset="-120"/>
              </a:rPr>
              <a:t>Power to Connect.</a:t>
            </a:r>
            <a:endParaRPr lang="en-US" sz="4600" dirty="0"/>
          </a:p>
        </p:txBody>
      </p:sp>
      <p:sp>
        <p:nvSpPr>
          <p:cNvPr id="24" name="Text 22"/>
          <p:cNvSpPr/>
          <p:nvPr/>
        </p:nvSpPr>
        <p:spPr>
          <a:xfrm>
            <a:off x="508222" y="7359690"/>
            <a:ext cx="2217337" cy="2858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250"/>
              </a:lnSpc>
              <a:buNone/>
            </a:pPr>
            <a:r>
              <a:rPr lang="en-US" sz="1500" b="1" spc="50" kern="0" dirty="0">
                <a:solidFill>
                  <a:srgbClr val="121519"/>
                </a:solidFill>
                <a:latin typeface="Zen Kaku Gothic New" pitchFamily="34" charset="0"/>
                <a:ea typeface="Zen Kaku Gothic New" pitchFamily="34" charset="-122"/>
                <a:cs typeface="Zen Kaku Gothic New" pitchFamily="34" charset="-120"/>
              </a:rPr>
              <a:t>持つ力と、つなぐ力。</a:t>
            </a:r>
            <a:endParaRPr lang="en-US" sz="1500" dirty="0"/>
          </a:p>
        </p:txBody>
      </p:sp>
      <p:sp>
        <p:nvSpPr>
          <p:cNvPr id="25" name="Text 23"/>
          <p:cNvSpPr/>
          <p:nvPr/>
        </p:nvSpPr>
        <p:spPr>
          <a:xfrm>
            <a:off x="508222" y="7666529"/>
            <a:ext cx="4243872" cy="197444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220"/>
              </a:lnSpc>
              <a:buNone/>
            </a:pPr>
            <a:r>
              <a:rPr lang="en-US" sz="1200" dirty="0">
                <a:solidFill>
                  <a:srgbClr val="3D4249"/>
                </a:solidFill>
                <a:latin typeface="Zen Kaku Gothic New" pitchFamily="34" charset="0"/>
                <a:ea typeface="Zen Kaku Gothic New" pitchFamily="34" charset="-122"/>
                <a:cs typeface="Zen Kaku Gothic New" pitchFamily="34" charset="-120"/>
              </a:rPr>
              <a:t>資源は、そこに「ある」だけでは、まだ価値ではありま</a:t>
            </a:r>
            <a:endParaRPr lang="en-US" sz="1200" dirty="0"/>
          </a:p>
          <a:p>
            <a:pPr algn="l" indent="0" marL="0">
              <a:lnSpc>
                <a:spcPts val="2220"/>
              </a:lnSpc>
              <a:buNone/>
            </a:pPr>
            <a:r>
              <a:rPr lang="en-US" sz="1200" dirty="0">
                <a:solidFill>
                  <a:srgbClr val="3D4249"/>
                </a:solidFill>
                <a:latin typeface="Zen Kaku Gothic New" pitchFamily="34" charset="0"/>
                <a:ea typeface="Zen Kaku Gothic New" pitchFamily="34" charset="-122"/>
                <a:cs typeface="Zen Kaku Gothic New" pitchFamily="34" charset="-120"/>
              </a:rPr>
              <a:t>せん。誰かが見出し、育て、必要とする場所へ届けて、</a:t>
            </a:r>
            <a:endParaRPr lang="en-US" sz="1200" dirty="0"/>
          </a:p>
          <a:p>
            <a:pPr algn="l" indent="0" marL="0">
              <a:lnSpc>
                <a:spcPts val="2220"/>
              </a:lnSpc>
              <a:buNone/>
            </a:pPr>
            <a:r>
              <a:rPr lang="en-US" sz="1200" dirty="0">
                <a:solidFill>
                  <a:srgbClr val="3D4249"/>
                </a:solidFill>
                <a:latin typeface="Zen Kaku Gothic New" pitchFamily="34" charset="0"/>
                <a:ea typeface="Zen Kaku Gothic New" pitchFamily="34" charset="-122"/>
                <a:cs typeface="Zen Kaku Gothic New" pitchFamily="34" charset="-120"/>
              </a:rPr>
              <a:t>はじめて力になる。私たちは、世界有数の資産に関わ</a:t>
            </a:r>
            <a:endParaRPr lang="en-US" sz="1200" dirty="0"/>
          </a:p>
          <a:p>
            <a:pPr algn="l" indent="0" marL="0">
              <a:lnSpc>
                <a:spcPts val="2220"/>
              </a:lnSpc>
              <a:buNone/>
            </a:pPr>
            <a:r>
              <a:rPr lang="en-US" sz="1200" dirty="0">
                <a:solidFill>
                  <a:srgbClr val="3D4249"/>
                </a:solidFill>
                <a:latin typeface="Zen Kaku Gothic New" pitchFamily="34" charset="0"/>
                <a:ea typeface="Zen Kaku Gothic New" pitchFamily="34" charset="-122"/>
                <a:cs typeface="Zen Kaku Gothic New" pitchFamily="34" charset="-120"/>
              </a:rPr>
              <a:t>り、投資とトレーディングの両輪で川上から川下までを</a:t>
            </a:r>
            <a:endParaRPr lang="en-US" sz="1200" dirty="0"/>
          </a:p>
          <a:p>
            <a:pPr algn="l" indent="0" marL="0">
              <a:lnSpc>
                <a:spcPts val="2220"/>
              </a:lnSpc>
              <a:buNone/>
            </a:pPr>
            <a:r>
              <a:rPr lang="en-US" sz="1200" dirty="0">
                <a:solidFill>
                  <a:srgbClr val="3D4249"/>
                </a:solidFill>
                <a:latin typeface="Zen Kaku Gothic New" pitchFamily="34" charset="0"/>
                <a:ea typeface="Zen Kaku Gothic New" pitchFamily="34" charset="-122"/>
                <a:cs typeface="Zen Kaku Gothic New" pitchFamily="34" charset="-120"/>
              </a:rPr>
              <a:t>つなぎます。フェアな立場だからこそ、埋められる隙間</a:t>
            </a:r>
            <a:endParaRPr lang="en-US" sz="1200" dirty="0"/>
          </a:p>
          <a:p>
            <a:pPr algn="l" indent="0" marL="0">
              <a:lnSpc>
                <a:spcPts val="2220"/>
              </a:lnSpc>
              <a:buNone/>
            </a:pPr>
            <a:r>
              <a:rPr lang="en-US" sz="1200" dirty="0">
                <a:solidFill>
                  <a:srgbClr val="3D4249"/>
                </a:solidFill>
                <a:latin typeface="Zen Kaku Gothic New" pitchFamily="34" charset="0"/>
                <a:ea typeface="Zen Kaku Gothic New" pitchFamily="34" charset="-122"/>
                <a:cs typeface="Zen Kaku Gothic New" pitchFamily="34" charset="-120"/>
              </a:rPr>
              <a:t>がある。多様なパートナーと使い手の間に立ち、その</a:t>
            </a:r>
            <a:endParaRPr lang="en-US" sz="1200" dirty="0"/>
          </a:p>
          <a:p>
            <a:pPr algn="l" indent="0" marL="0">
              <a:lnSpc>
                <a:spcPts val="2220"/>
              </a:lnSpc>
              <a:buNone/>
            </a:pPr>
            <a:r>
              <a:rPr lang="en-US" sz="1200" dirty="0">
                <a:solidFill>
                  <a:srgbClr val="3D4249"/>
                </a:solidFill>
                <a:latin typeface="Zen Kaku Gothic New" pitchFamily="34" charset="0"/>
                <a:ea typeface="Zen Kaku Gothic New" pitchFamily="34" charset="-122"/>
                <a:cs typeface="Zen Kaku Gothic New" pitchFamily="34" charset="-120"/>
              </a:rPr>
              <a:t>時々の最適解を導く。世界に眠る価値を、社会の力へ。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8068024" y="5590442"/>
            <a:ext cx="391926" cy="19058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500"/>
              </a:lnSpc>
              <a:buNone/>
            </a:pPr>
            <a:r>
              <a:rPr lang="en-US" sz="1100" spc="120" kern="0" dirty="0">
                <a:solidFill>
                  <a:srgbClr val="9C7442"/>
                </a:solidFill>
                <a:latin typeface="Zen Kaku Gothic New Medium" pitchFamily="34" charset="0"/>
                <a:ea typeface="Zen Kaku Gothic New Medium" pitchFamily="34" charset="-122"/>
                <a:cs typeface="Zen Kaku Gothic New Medium" pitchFamily="34" charset="-120"/>
              </a:rPr>
              <a:t>目次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8068024" y="5781025"/>
            <a:ext cx="704860" cy="20328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600"/>
              </a:lnSpc>
              <a:buNone/>
            </a:pPr>
            <a:r>
              <a:rPr lang="en-US" sz="1100" spc="40" kern="0" dirty="0">
                <a:solidFill>
                  <a:srgbClr val="7D838A"/>
                </a:solidFill>
                <a:latin typeface="Zen Kaku Gothic New" pitchFamily="34" charset="0"/>
                <a:ea typeface="Zen Kaku Gothic New" pitchFamily="34" charset="-122"/>
                <a:cs typeface="Zen Kaku Gothic New" pitchFamily="34" charset="-120"/>
              </a:rPr>
              <a:t>Contents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8068024" y="6193955"/>
            <a:ext cx="558548" cy="48281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3800"/>
              </a:lnSpc>
              <a:buNone/>
            </a:pPr>
            <a:r>
              <a:rPr lang="en-US" sz="4000" spc="-120" kern="0" dirty="0">
                <a:solidFill>
                  <a:srgbClr val="9C7442"/>
                </a:solidFill>
                <a:latin typeface="Manrope Light" pitchFamily="34" charset="0"/>
                <a:ea typeface="Manrope Light" pitchFamily="34" charset="-122"/>
                <a:cs typeface="Manrope Light" pitchFamily="34" charset="-120"/>
              </a:rPr>
              <a:t>01</a:t>
            </a:r>
            <a:endParaRPr lang="en-US" sz="4000" dirty="0"/>
          </a:p>
        </p:txBody>
      </p:sp>
      <p:sp>
        <p:nvSpPr>
          <p:cNvPr id="29" name="Text 27"/>
          <p:cNvSpPr/>
          <p:nvPr/>
        </p:nvSpPr>
        <p:spPr>
          <a:xfrm>
            <a:off x="9135290" y="6244778"/>
            <a:ext cx="1266743" cy="26681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100"/>
              </a:lnSpc>
              <a:buNone/>
            </a:pPr>
            <a:r>
              <a:rPr lang="en-US" sz="1400" b="1" spc="50" kern="0" dirty="0">
                <a:solidFill>
                  <a:srgbClr val="121519"/>
                </a:solidFill>
                <a:latin typeface="Zen Kaku Gothic New" pitchFamily="34" charset="0"/>
                <a:ea typeface="Zen Kaku Gothic New" pitchFamily="34" charset="-122"/>
                <a:cs typeface="Zen Kaku Gothic New" pitchFamily="34" charset="-120"/>
              </a:rPr>
              <a:t>我々は何者か</a:t>
            </a:r>
            <a:endParaRPr lang="en-US" sz="1400" dirty="0"/>
          </a:p>
        </p:txBody>
      </p:sp>
      <p:sp>
        <p:nvSpPr>
          <p:cNvPr id="30" name="Text 28"/>
          <p:cNvSpPr/>
          <p:nvPr/>
        </p:nvSpPr>
        <p:spPr>
          <a:xfrm>
            <a:off x="9135290" y="6520488"/>
            <a:ext cx="2664354" cy="22361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760"/>
              </a:lnSpc>
              <a:buNone/>
            </a:pPr>
            <a:r>
              <a:rPr lang="en-US" sz="1100" dirty="0">
                <a:solidFill>
                  <a:srgbClr val="7D838A"/>
                </a:solidFill>
                <a:latin typeface="Zen Kaku Gothic New" pitchFamily="34" charset="0"/>
                <a:ea typeface="Zen Kaku Gothic New" pitchFamily="34" charset="-122"/>
                <a:cs typeface="Zen Kaku Gothic New" pitchFamily="34" charset="-120"/>
              </a:rPr>
              <a:t>三菱商事とは／金属資源グループとは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14179393" y="6276541"/>
            <a:ext cx="447613" cy="19058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500"/>
              </a:lnSpc>
              <a:buNone/>
            </a:pPr>
            <a:r>
              <a:rPr lang="en-US" sz="1100" spc="160" kern="0" dirty="0">
                <a:solidFill>
                  <a:srgbClr val="7D838A"/>
                </a:solidFill>
                <a:latin typeface="Manrope SemiBold" pitchFamily="34" charset="0"/>
                <a:ea typeface="Manrope SemiBold" pitchFamily="34" charset="-122"/>
                <a:cs typeface="Manrope SemiBold" pitchFamily="34" charset="-120"/>
              </a:rPr>
              <a:t>P.04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8068024" y="7108755"/>
            <a:ext cx="663369" cy="48281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3800"/>
              </a:lnSpc>
              <a:buNone/>
            </a:pPr>
            <a:r>
              <a:rPr lang="en-US" sz="4000" spc="-120" kern="0" dirty="0">
                <a:solidFill>
                  <a:srgbClr val="9C7442"/>
                </a:solidFill>
                <a:latin typeface="Manrope Light" pitchFamily="34" charset="0"/>
                <a:ea typeface="Manrope Light" pitchFamily="34" charset="-122"/>
                <a:cs typeface="Manrope Light" pitchFamily="34" charset="-120"/>
              </a:rPr>
              <a:t>02</a:t>
            </a:r>
            <a:endParaRPr lang="en-US" sz="4000" dirty="0"/>
          </a:p>
        </p:txBody>
      </p:sp>
      <p:sp>
        <p:nvSpPr>
          <p:cNvPr id="33" name="Text 31"/>
          <p:cNvSpPr/>
          <p:nvPr/>
        </p:nvSpPr>
        <p:spPr>
          <a:xfrm>
            <a:off x="9135290" y="7159577"/>
            <a:ext cx="861436" cy="26681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100"/>
              </a:lnSpc>
              <a:buNone/>
            </a:pPr>
            <a:r>
              <a:rPr lang="en-US" sz="1400" b="1" spc="50" kern="0" dirty="0">
                <a:solidFill>
                  <a:srgbClr val="121519"/>
                </a:solidFill>
                <a:latin typeface="Zen Kaku Gothic New" pitchFamily="34" charset="0"/>
                <a:ea typeface="Zen Kaku Gothic New" pitchFamily="34" charset="-122"/>
                <a:cs typeface="Zen Kaku Gothic New" pitchFamily="34" charset="-120"/>
              </a:rPr>
              <a:t>独自価値</a:t>
            </a:r>
            <a:endParaRPr lang="en-US" sz="1400" dirty="0"/>
          </a:p>
        </p:txBody>
      </p:sp>
      <p:sp>
        <p:nvSpPr>
          <p:cNvPr id="34" name="Text 32"/>
          <p:cNvSpPr/>
          <p:nvPr/>
        </p:nvSpPr>
        <p:spPr>
          <a:xfrm>
            <a:off x="9135290" y="7435288"/>
            <a:ext cx="4816674" cy="22361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760"/>
              </a:lnSpc>
              <a:buNone/>
            </a:pPr>
            <a:r>
              <a:rPr lang="en-US" sz="1100" dirty="0">
                <a:solidFill>
                  <a:srgbClr val="7D838A"/>
                </a:solidFill>
                <a:latin typeface="Zen Kaku Gothic New" pitchFamily="34" charset="0"/>
                <a:ea typeface="Zen Kaku Gothic New" pitchFamily="34" charset="-122"/>
                <a:cs typeface="Zen Kaku Gothic New" pitchFamily="34" charset="-120"/>
              </a:rPr>
              <a:t>投資とトレーディングの両輪／原料炭・銅・トレーディング・新技術</a:t>
            </a:r>
            <a:endParaRPr lang="en-US" sz="1100" dirty="0"/>
          </a:p>
        </p:txBody>
      </p:sp>
      <p:sp>
        <p:nvSpPr>
          <p:cNvPr id="35" name="Text 33"/>
          <p:cNvSpPr/>
          <p:nvPr/>
        </p:nvSpPr>
        <p:spPr>
          <a:xfrm>
            <a:off x="14179393" y="7191341"/>
            <a:ext cx="450451" cy="19058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500"/>
              </a:lnSpc>
              <a:buNone/>
            </a:pPr>
            <a:r>
              <a:rPr lang="en-US" sz="1100" spc="160" kern="0" dirty="0">
                <a:solidFill>
                  <a:srgbClr val="7D838A"/>
                </a:solidFill>
                <a:latin typeface="Manrope SemiBold" pitchFamily="34" charset="0"/>
                <a:ea typeface="Manrope SemiBold" pitchFamily="34" charset="-122"/>
                <a:cs typeface="Manrope SemiBold" pitchFamily="34" charset="-120"/>
              </a:rPr>
              <a:t>P.06</a:t>
            </a:r>
            <a:endParaRPr lang="en-US" sz="1100" dirty="0"/>
          </a:p>
        </p:txBody>
      </p:sp>
      <p:sp>
        <p:nvSpPr>
          <p:cNvPr id="36" name="Text 34"/>
          <p:cNvSpPr/>
          <p:nvPr/>
        </p:nvSpPr>
        <p:spPr>
          <a:xfrm>
            <a:off x="8068024" y="8023555"/>
            <a:ext cx="653323" cy="48281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3800"/>
              </a:lnSpc>
              <a:buNone/>
            </a:pPr>
            <a:r>
              <a:rPr lang="en-US" sz="4000" spc="-120" kern="0" dirty="0">
                <a:solidFill>
                  <a:srgbClr val="9C7442"/>
                </a:solidFill>
                <a:latin typeface="Manrope Light" pitchFamily="34" charset="0"/>
                <a:ea typeface="Manrope Light" pitchFamily="34" charset="-122"/>
                <a:cs typeface="Manrope Light" pitchFamily="34" charset="-120"/>
              </a:rPr>
              <a:t>03</a:t>
            </a:r>
            <a:endParaRPr lang="en-US" sz="4000" dirty="0"/>
          </a:p>
        </p:txBody>
      </p:sp>
      <p:sp>
        <p:nvSpPr>
          <p:cNvPr id="37" name="Text 35"/>
          <p:cNvSpPr/>
          <p:nvPr/>
        </p:nvSpPr>
        <p:spPr>
          <a:xfrm>
            <a:off x="9135290" y="8074377"/>
            <a:ext cx="1672050" cy="26681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100"/>
              </a:lnSpc>
              <a:buNone/>
            </a:pPr>
            <a:r>
              <a:rPr lang="en-US" sz="1400" b="1" spc="50" kern="0" dirty="0">
                <a:solidFill>
                  <a:srgbClr val="121519"/>
                </a:solidFill>
                <a:latin typeface="Zen Kaku Gothic New" pitchFamily="34" charset="0"/>
                <a:ea typeface="Zen Kaku Gothic New" pitchFamily="34" charset="-122"/>
                <a:cs typeface="Zen Kaku Gothic New" pitchFamily="34" charset="-120"/>
              </a:rPr>
              <a:t>選ばれ続ける理由</a:t>
            </a:r>
            <a:endParaRPr lang="en-US" sz="1400" dirty="0"/>
          </a:p>
        </p:txBody>
      </p:sp>
      <p:sp>
        <p:nvSpPr>
          <p:cNvPr id="38" name="Text 36"/>
          <p:cNvSpPr/>
          <p:nvPr/>
        </p:nvSpPr>
        <p:spPr>
          <a:xfrm>
            <a:off x="9135290" y="8350087"/>
            <a:ext cx="1245561" cy="22361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760"/>
              </a:lnSpc>
              <a:buNone/>
            </a:pPr>
            <a:r>
              <a:rPr lang="en-US" sz="1100" dirty="0">
                <a:solidFill>
                  <a:srgbClr val="7D838A"/>
                </a:solidFill>
                <a:latin typeface="Zen Kaku Gothic New" pitchFamily="34" charset="0"/>
                <a:ea typeface="Zen Kaku Gothic New" pitchFamily="34" charset="-122"/>
                <a:cs typeface="Zen Kaku Gothic New" pitchFamily="34" charset="-120"/>
              </a:rPr>
              <a:t>Partner of Choice</a:t>
            </a:r>
            <a:endParaRPr lang="en-US" sz="1100" dirty="0"/>
          </a:p>
        </p:txBody>
      </p:sp>
      <p:sp>
        <p:nvSpPr>
          <p:cNvPr id="39" name="Text 37"/>
          <p:cNvSpPr/>
          <p:nvPr/>
        </p:nvSpPr>
        <p:spPr>
          <a:xfrm>
            <a:off x="14179393" y="8106141"/>
            <a:ext cx="401317" cy="19058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500"/>
              </a:lnSpc>
              <a:buNone/>
            </a:pPr>
            <a:r>
              <a:rPr lang="en-US" sz="1100" spc="160" kern="0" dirty="0">
                <a:solidFill>
                  <a:srgbClr val="7D838A"/>
                </a:solidFill>
                <a:latin typeface="Manrope SemiBold" pitchFamily="34" charset="0"/>
                <a:ea typeface="Manrope SemiBold" pitchFamily="34" charset="-122"/>
                <a:cs typeface="Manrope SemiBold" pitchFamily="34" charset="-120"/>
              </a:rPr>
              <a:t>P.10</a:t>
            </a:r>
            <a:endParaRPr lang="en-US" sz="1100" dirty="0"/>
          </a:p>
        </p:txBody>
      </p:sp>
      <p:sp>
        <p:nvSpPr>
          <p:cNvPr id="40" name="Text 38"/>
          <p:cNvSpPr/>
          <p:nvPr/>
        </p:nvSpPr>
        <p:spPr>
          <a:xfrm>
            <a:off x="8068024" y="8938354"/>
            <a:ext cx="675598" cy="48281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3800"/>
              </a:lnSpc>
              <a:buNone/>
            </a:pPr>
            <a:r>
              <a:rPr lang="en-US" sz="4000" spc="-120" kern="0" dirty="0">
                <a:solidFill>
                  <a:srgbClr val="9C7442"/>
                </a:solidFill>
                <a:latin typeface="Manrope Light" pitchFamily="34" charset="0"/>
                <a:ea typeface="Manrope Light" pitchFamily="34" charset="-122"/>
                <a:cs typeface="Manrope Light" pitchFamily="34" charset="-120"/>
              </a:rPr>
              <a:t>04</a:t>
            </a:r>
            <a:endParaRPr lang="en-US" sz="4000" dirty="0"/>
          </a:p>
        </p:txBody>
      </p:sp>
      <p:sp>
        <p:nvSpPr>
          <p:cNvPr id="41" name="Text 39"/>
          <p:cNvSpPr/>
          <p:nvPr/>
        </p:nvSpPr>
        <p:spPr>
          <a:xfrm>
            <a:off x="9135290" y="8989176"/>
            <a:ext cx="1469397" cy="26681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100"/>
              </a:lnSpc>
              <a:buNone/>
            </a:pPr>
            <a:r>
              <a:rPr lang="en-US" sz="1400" b="1" spc="50" kern="0" dirty="0">
                <a:solidFill>
                  <a:srgbClr val="121519"/>
                </a:solidFill>
                <a:latin typeface="Zen Kaku Gothic New" pitchFamily="34" charset="0"/>
                <a:ea typeface="Zen Kaku Gothic New" pitchFamily="34" charset="-122"/>
                <a:cs typeface="Zen Kaku Gothic New" pitchFamily="34" charset="-120"/>
              </a:rPr>
              <a:t>何を実現するか</a:t>
            </a:r>
            <a:endParaRPr lang="en-US" sz="1400" dirty="0"/>
          </a:p>
        </p:txBody>
      </p:sp>
      <p:sp>
        <p:nvSpPr>
          <p:cNvPr id="42" name="Text 40"/>
          <p:cNvSpPr/>
          <p:nvPr/>
        </p:nvSpPr>
        <p:spPr>
          <a:xfrm>
            <a:off x="9135290" y="9264887"/>
            <a:ext cx="1588194" cy="22361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760"/>
              </a:lnSpc>
              <a:buNone/>
            </a:pPr>
            <a:r>
              <a:rPr lang="en-US" sz="1100" dirty="0">
                <a:solidFill>
                  <a:srgbClr val="7D838A"/>
                </a:solidFill>
                <a:latin typeface="Zen Kaku Gothic New" pitchFamily="34" charset="0"/>
                <a:ea typeface="Zen Kaku Gothic New" pitchFamily="34" charset="-122"/>
                <a:cs typeface="Zen Kaku Gothic New" pitchFamily="34" charset="-120"/>
              </a:rPr>
              <a:t>社会課題への取り組み</a:t>
            </a:r>
            <a:endParaRPr lang="en-US" sz="1100" dirty="0"/>
          </a:p>
        </p:txBody>
      </p:sp>
      <p:sp>
        <p:nvSpPr>
          <p:cNvPr id="43" name="Text 41"/>
          <p:cNvSpPr/>
          <p:nvPr/>
        </p:nvSpPr>
        <p:spPr>
          <a:xfrm>
            <a:off x="14179393" y="9020940"/>
            <a:ext cx="367468" cy="19058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500"/>
              </a:lnSpc>
              <a:buNone/>
            </a:pPr>
            <a:r>
              <a:rPr lang="en-US" sz="1100" spc="160" kern="0" dirty="0">
                <a:solidFill>
                  <a:srgbClr val="7D838A"/>
                </a:solidFill>
                <a:latin typeface="Manrope SemiBold" pitchFamily="34" charset="0"/>
                <a:ea typeface="Manrope SemiBold" pitchFamily="34" charset="-122"/>
                <a:cs typeface="Manrope SemiBold" pitchFamily="34" charset="-120"/>
              </a:rPr>
              <a:t>P.11</a:t>
            </a:r>
            <a:endParaRPr lang="en-US" sz="1100" dirty="0"/>
          </a:p>
        </p:txBody>
      </p:sp>
      <p:sp>
        <p:nvSpPr>
          <p:cNvPr id="44" name="Text 42"/>
          <p:cNvSpPr/>
          <p:nvPr/>
        </p:nvSpPr>
        <p:spPr>
          <a:xfrm>
            <a:off x="508222" y="10316906"/>
            <a:ext cx="284704" cy="19058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500"/>
              </a:lnSpc>
              <a:buNone/>
            </a:pPr>
            <a:r>
              <a:rPr lang="en-US" sz="1100" spc="160" kern="0" dirty="0">
                <a:solidFill>
                  <a:srgbClr val="7D838A"/>
                </a:solidFill>
                <a:latin typeface="Manrope SemiBold" pitchFamily="34" charset="0"/>
                <a:ea typeface="Manrope SemiBold" pitchFamily="34" charset="-122"/>
                <a:cs typeface="Manrope SemiBold" pitchFamily="34" charset="-120"/>
              </a:rPr>
              <a:t>02</a:t>
            </a:r>
            <a:endParaRPr lang="en-US" sz="1100" dirty="0"/>
          </a:p>
        </p:txBody>
      </p:sp>
      <p:sp>
        <p:nvSpPr>
          <p:cNvPr id="45" name="Text 43"/>
          <p:cNvSpPr/>
          <p:nvPr/>
        </p:nvSpPr>
        <p:spPr>
          <a:xfrm>
            <a:off x="14458915" y="10316906"/>
            <a:ext cx="282301" cy="19058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500"/>
              </a:lnSpc>
              <a:buNone/>
            </a:pPr>
            <a:r>
              <a:rPr lang="en-US" sz="1100" spc="160" kern="0" dirty="0">
                <a:solidFill>
                  <a:srgbClr val="7D838A"/>
                </a:solidFill>
                <a:latin typeface="Manrope SemiBold" pitchFamily="34" charset="0"/>
                <a:ea typeface="Manrope SemiBold" pitchFamily="34" charset="-122"/>
                <a:cs typeface="Manrope SemiBold" pitchFamily="34" charset="-120"/>
              </a:rPr>
              <a:t>03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319887" y="1391258"/>
            <a:ext cx="3277774" cy="264275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0800"/>
              </a:lnSpc>
              <a:buNone/>
            </a:pPr>
            <a:r>
              <a:rPr lang="en-US" sz="26000" spc="-1040" kern="0" dirty="0">
                <a:solidFill>
                  <a:srgbClr val="000000">
                    <a:alpha val="0"/>
                  </a:srgbClr>
                </a:solidFill>
                <a:latin typeface="Manrope Light" pitchFamily="34" charset="0"/>
                <a:ea typeface="Manrope Light" pitchFamily="34" charset="-122"/>
                <a:cs typeface="Manrope Light" pitchFamily="34" charset="-120"/>
              </a:rPr>
              <a:t>01</a:t>
            </a:r>
            <a:endParaRPr lang="en-US" sz="26000" dirty="0"/>
          </a:p>
        </p:txBody>
      </p:sp>
      <p:sp>
        <p:nvSpPr>
          <p:cNvPr id="3" name="Text 1"/>
          <p:cNvSpPr/>
          <p:nvPr/>
        </p:nvSpPr>
        <p:spPr>
          <a:xfrm>
            <a:off x="11816161" y="1391258"/>
            <a:ext cx="3277774" cy="264275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0800"/>
              </a:lnSpc>
              <a:buNone/>
            </a:pPr>
            <a:r>
              <a:rPr lang="en-US" sz="26000" spc="-1040" kern="0" dirty="0">
                <a:solidFill>
                  <a:srgbClr val="000000">
                    <a:alpha val="0"/>
                  </a:srgbClr>
                </a:solidFill>
                <a:latin typeface="Manrope Light" pitchFamily="34" charset="0"/>
                <a:ea typeface="Manrope Light" pitchFamily="34" charset="-122"/>
                <a:cs typeface="Manrope Light" pitchFamily="34" charset="-120"/>
              </a:rPr>
              <a:t>01</a:t>
            </a:r>
            <a:endParaRPr lang="en-US" sz="26000" dirty="0"/>
          </a:p>
        </p:txBody>
      </p:sp>
      <p:sp>
        <p:nvSpPr>
          <p:cNvPr id="4" name="Text 2"/>
          <p:cNvSpPr/>
          <p:nvPr/>
        </p:nvSpPr>
        <p:spPr>
          <a:xfrm>
            <a:off x="508222" y="1727955"/>
            <a:ext cx="2872030" cy="19058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500"/>
              </a:lnSpc>
              <a:buNone/>
            </a:pPr>
            <a:r>
              <a:rPr lang="en-US" sz="1100" spc="120" kern="0" dirty="0">
                <a:solidFill>
                  <a:srgbClr val="9C7442"/>
                </a:solidFill>
                <a:latin typeface="Zen Kaku Gothic New Medium" pitchFamily="34" charset="0"/>
                <a:ea typeface="Zen Kaku Gothic New Medium" pitchFamily="34" charset="-122"/>
                <a:cs typeface="Zen Kaku Gothic New Medium" pitchFamily="34" charset="-120"/>
              </a:rPr>
              <a:t>第1章　我々は何者か｜三菱商事とは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508222" y="1945220"/>
            <a:ext cx="3119014" cy="51838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4080"/>
              </a:lnSpc>
              <a:buNone/>
            </a:pPr>
            <a:r>
              <a:rPr lang="en-US" sz="4000" spc="-100" kern="0" dirty="0">
                <a:solidFill>
                  <a:srgbClr val="121519"/>
                </a:solidFill>
                <a:latin typeface="Manrope SemiBold" pitchFamily="34" charset="0"/>
                <a:ea typeface="Manrope SemiBold" pitchFamily="34" charset="-122"/>
                <a:cs typeface="Manrope SemiBold" pitchFamily="34" charset="-120"/>
              </a:rPr>
              <a:t>Who we are.</a:t>
            </a:r>
            <a:endParaRPr lang="en-US" sz="4000" dirty="0"/>
          </a:p>
        </p:txBody>
      </p:sp>
      <p:sp>
        <p:nvSpPr>
          <p:cNvPr id="6" name="Text 4"/>
          <p:cNvSpPr/>
          <p:nvPr/>
        </p:nvSpPr>
        <p:spPr>
          <a:xfrm>
            <a:off x="508222" y="2718988"/>
            <a:ext cx="4509200" cy="25411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000"/>
              </a:lnSpc>
              <a:buNone/>
            </a:pPr>
            <a:r>
              <a:rPr lang="en-US" sz="1400" b="1" spc="50" kern="0" dirty="0">
                <a:solidFill>
                  <a:srgbClr val="121519"/>
                </a:solidFill>
                <a:latin typeface="Zen Kaku Gothic New" pitchFamily="34" charset="0"/>
                <a:ea typeface="Zen Kaku Gothic New" pitchFamily="34" charset="-122"/>
                <a:cs typeface="Zen Kaku Gothic New" pitchFamily="34" charset="-120"/>
              </a:rPr>
              <a:t>三綱領を精神の根幹に、「総合力」で価値を生む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508222" y="3041709"/>
            <a:ext cx="4243872" cy="112825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220"/>
              </a:lnSpc>
              <a:buNone/>
            </a:pPr>
            <a:r>
              <a:rPr lang="en-US" sz="1200" dirty="0">
                <a:solidFill>
                  <a:srgbClr val="3D4249"/>
                </a:solidFill>
                <a:latin typeface="Zen Kaku Gothic New" pitchFamily="34" charset="0"/>
                <a:ea typeface="Zen Kaku Gothic New" pitchFamily="34" charset="-122"/>
                <a:cs typeface="Zen Kaku Gothic New" pitchFamily="34" charset="-120"/>
              </a:rPr>
              <a:t>三菱商事は三綱領を企業理念とし、事業を通じて経済価</a:t>
            </a:r>
            <a:endParaRPr lang="en-US" sz="1200" dirty="0"/>
          </a:p>
          <a:p>
            <a:pPr algn="l" indent="0" marL="0">
              <a:lnSpc>
                <a:spcPts val="2220"/>
              </a:lnSpc>
              <a:buNone/>
            </a:pPr>
            <a:r>
              <a:rPr lang="en-US" sz="1200" dirty="0">
                <a:solidFill>
                  <a:srgbClr val="3D4249"/>
                </a:solidFill>
                <a:latin typeface="Zen Kaku Gothic New" pitchFamily="34" charset="0"/>
                <a:ea typeface="Zen Kaku Gothic New" pitchFamily="34" charset="-122"/>
                <a:cs typeface="Zen Kaku Gothic New" pitchFamily="34" charset="-120"/>
              </a:rPr>
              <a:t>値・社会価値・環境価値の同時実現を目指しています。</a:t>
            </a:r>
            <a:endParaRPr lang="en-US" sz="1200" dirty="0"/>
          </a:p>
          <a:p>
            <a:pPr algn="l" indent="0" marL="0">
              <a:lnSpc>
                <a:spcPts val="2220"/>
              </a:lnSpc>
              <a:buNone/>
            </a:pPr>
            <a:r>
              <a:rPr lang="en-US" sz="1200" dirty="0">
                <a:solidFill>
                  <a:srgbClr val="3D4249"/>
                </a:solidFill>
                <a:latin typeface="Zen Kaku Gothic New" pitchFamily="34" charset="0"/>
                <a:ea typeface="Zen Kaku Gothic New" pitchFamily="34" charset="-122"/>
                <a:cs typeface="Zen Kaku Gothic New" pitchFamily="34" charset="-120"/>
              </a:rPr>
              <a:t>幅広い産業と地域にまたがる事業と人のつながり＝「総</a:t>
            </a:r>
            <a:endParaRPr lang="en-US" sz="1200" dirty="0"/>
          </a:p>
          <a:p>
            <a:pPr algn="l" indent="0" marL="0">
              <a:lnSpc>
                <a:spcPts val="2220"/>
              </a:lnSpc>
              <a:buNone/>
            </a:pPr>
            <a:r>
              <a:rPr lang="en-US" sz="1200" dirty="0">
                <a:solidFill>
                  <a:srgbClr val="3D4249"/>
                </a:solidFill>
                <a:latin typeface="Zen Kaku Gothic New" pitchFamily="34" charset="0"/>
                <a:ea typeface="Zen Kaku Gothic New" pitchFamily="34" charset="-122"/>
                <a:cs typeface="Zen Kaku Gothic New" pitchFamily="34" charset="-120"/>
              </a:rPr>
              <a:t>合力」が、三菱商事の強みです。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4878931" y="3097295"/>
            <a:ext cx="2397716" cy="81760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145"/>
              </a:lnSpc>
              <a:buNone/>
            </a:pPr>
            <a:r>
              <a:rPr lang="en-US" sz="1300" b="1" spc="50" kern="0" dirty="0">
                <a:solidFill>
                  <a:srgbClr val="121519"/>
                </a:solidFill>
                <a:latin typeface="Zen Kaku Gothic New" pitchFamily="34" charset="0"/>
                <a:ea typeface="Zen Kaku Gothic New" pitchFamily="34" charset="-122"/>
                <a:cs typeface="Zen Kaku Gothic New" pitchFamily="34" charset="-120"/>
              </a:rPr>
              <a:t>7つの営業グループのうち、</a:t>
            </a:r>
            <a:endParaRPr lang="en-US" sz="1300" dirty="0"/>
          </a:p>
          <a:p>
            <a:pPr algn="l" indent="0" marL="0">
              <a:lnSpc>
                <a:spcPts val="2145"/>
              </a:lnSpc>
              <a:buNone/>
            </a:pPr>
            <a:r>
              <a:rPr lang="en-US" sz="1300" b="1" spc="50" kern="0" dirty="0">
                <a:solidFill>
                  <a:srgbClr val="121519"/>
                </a:solidFill>
                <a:latin typeface="Zen Kaku Gothic New" pitchFamily="34" charset="0"/>
                <a:ea typeface="Zen Kaku Gothic New" pitchFamily="34" charset="-122"/>
                <a:cs typeface="Zen Kaku Gothic New" pitchFamily="34" charset="-120"/>
              </a:rPr>
              <a:t>長年三菱商事を支えてきた</a:t>
            </a:r>
            <a:endParaRPr lang="en-US" sz="1300" dirty="0"/>
          </a:p>
          <a:p>
            <a:pPr algn="l" indent="0" marL="0">
              <a:lnSpc>
                <a:spcPts val="2145"/>
              </a:lnSpc>
              <a:buNone/>
            </a:pPr>
            <a:r>
              <a:rPr lang="en-US" sz="1300" b="1" spc="50" kern="0" dirty="0">
                <a:solidFill>
                  <a:srgbClr val="121519"/>
                </a:solidFill>
                <a:latin typeface="Zen Kaku Gothic New" pitchFamily="34" charset="0"/>
                <a:ea typeface="Zen Kaku Gothic New" pitchFamily="34" charset="-122"/>
                <a:cs typeface="Zen Kaku Gothic New" pitchFamily="34" charset="-120"/>
              </a:rPr>
              <a:t>中核グループの一つ。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4283746" y="8739433"/>
            <a:ext cx="1099248" cy="21599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1700"/>
              </a:lnSpc>
              <a:buNone/>
            </a:pPr>
            <a:r>
              <a:rPr lang="en-US" sz="1200" b="1" spc="50" kern="0" dirty="0">
                <a:solidFill>
                  <a:srgbClr val="8A9097"/>
                </a:solidFill>
                <a:latin typeface="Zen Kaku Gothic New" pitchFamily="34" charset="0"/>
                <a:ea typeface="Zen Kaku Gothic New" pitchFamily="34" charset="-122"/>
                <a:cs typeface="Zen Kaku Gothic New" pitchFamily="34" charset="-120"/>
              </a:rPr>
              <a:t>○○グループ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4423715" y="8970674"/>
            <a:ext cx="819508" cy="22361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1760"/>
              </a:lnSpc>
              <a:buNone/>
            </a:pPr>
            <a:r>
              <a:rPr lang="en-US" sz="1100" dirty="0">
                <a:solidFill>
                  <a:srgbClr val="A7ADB3"/>
                </a:solidFill>
                <a:latin typeface="Zen Kaku Gothic New" pitchFamily="34" charset="0"/>
                <a:ea typeface="Zen Kaku Gothic New" pitchFamily="34" charset="-122"/>
                <a:cs typeface="Zen Kaku Gothic New" pitchFamily="34" charset="-120"/>
              </a:rPr>
              <a:t>事業・製品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2897054" y="9056079"/>
            <a:ext cx="1099248" cy="21599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1700"/>
              </a:lnSpc>
              <a:buNone/>
            </a:pPr>
            <a:r>
              <a:rPr lang="en-US" sz="1200" b="1" spc="50" kern="0" dirty="0">
                <a:solidFill>
                  <a:srgbClr val="8A9097"/>
                </a:solidFill>
                <a:latin typeface="Zen Kaku Gothic New" pitchFamily="34" charset="0"/>
                <a:ea typeface="Zen Kaku Gothic New" pitchFamily="34" charset="-122"/>
                <a:cs typeface="Zen Kaku Gothic New" pitchFamily="34" charset="-120"/>
              </a:rPr>
              <a:t>○○グループ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3037023" y="9287320"/>
            <a:ext cx="819508" cy="22361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1760"/>
              </a:lnSpc>
              <a:buNone/>
            </a:pPr>
            <a:r>
              <a:rPr lang="en-US" sz="1100" dirty="0">
                <a:solidFill>
                  <a:srgbClr val="A7ADB3"/>
                </a:solidFill>
                <a:latin typeface="Zen Kaku Gothic New" pitchFamily="34" charset="0"/>
                <a:ea typeface="Zen Kaku Gothic New" pitchFamily="34" charset="-122"/>
                <a:cs typeface="Zen Kaku Gothic New" pitchFamily="34" charset="-120"/>
              </a:rPr>
              <a:t>事業・製品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1785120" y="8169271"/>
            <a:ext cx="1099248" cy="21599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1700"/>
              </a:lnSpc>
              <a:buNone/>
            </a:pPr>
            <a:r>
              <a:rPr lang="en-US" sz="1200" b="1" spc="50" kern="0" dirty="0">
                <a:solidFill>
                  <a:srgbClr val="8A9097"/>
                </a:solidFill>
                <a:latin typeface="Zen Kaku Gothic New" pitchFamily="34" charset="0"/>
                <a:ea typeface="Zen Kaku Gothic New" pitchFamily="34" charset="-122"/>
                <a:cs typeface="Zen Kaku Gothic New" pitchFamily="34" charset="-120"/>
              </a:rPr>
              <a:t>○○グループ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1925089" y="8400512"/>
            <a:ext cx="819508" cy="22361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1760"/>
              </a:lnSpc>
              <a:buNone/>
            </a:pPr>
            <a:r>
              <a:rPr lang="en-US" sz="1100" dirty="0">
                <a:solidFill>
                  <a:srgbClr val="A7ADB3"/>
                </a:solidFill>
                <a:latin typeface="Zen Kaku Gothic New" pitchFamily="34" charset="0"/>
                <a:ea typeface="Zen Kaku Gothic New" pitchFamily="34" charset="-122"/>
                <a:cs typeface="Zen Kaku Gothic New" pitchFamily="34" charset="-120"/>
              </a:rPr>
              <a:t>事業・製品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1785120" y="6746845"/>
            <a:ext cx="1099248" cy="21599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1700"/>
              </a:lnSpc>
              <a:buNone/>
            </a:pPr>
            <a:r>
              <a:rPr lang="en-US" sz="1200" b="1" spc="50" kern="0" dirty="0">
                <a:solidFill>
                  <a:srgbClr val="8A9097"/>
                </a:solidFill>
                <a:latin typeface="Zen Kaku Gothic New" pitchFamily="34" charset="0"/>
                <a:ea typeface="Zen Kaku Gothic New" pitchFamily="34" charset="-122"/>
                <a:cs typeface="Zen Kaku Gothic New" pitchFamily="34" charset="-120"/>
              </a:rPr>
              <a:t>○○グループ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1925089" y="6978086"/>
            <a:ext cx="819508" cy="22361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1760"/>
              </a:lnSpc>
              <a:buNone/>
            </a:pPr>
            <a:r>
              <a:rPr lang="en-US" sz="1100" dirty="0">
                <a:solidFill>
                  <a:srgbClr val="A7ADB3"/>
                </a:solidFill>
                <a:latin typeface="Zen Kaku Gothic New" pitchFamily="34" charset="0"/>
                <a:ea typeface="Zen Kaku Gothic New" pitchFamily="34" charset="-122"/>
                <a:cs typeface="Zen Kaku Gothic New" pitchFamily="34" charset="-120"/>
              </a:rPr>
              <a:t>事業・製品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2897054" y="5860038"/>
            <a:ext cx="1099248" cy="21599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1700"/>
              </a:lnSpc>
              <a:buNone/>
            </a:pPr>
            <a:r>
              <a:rPr lang="en-US" sz="1200" b="1" spc="50" kern="0" dirty="0">
                <a:solidFill>
                  <a:srgbClr val="8A9097"/>
                </a:solidFill>
                <a:latin typeface="Zen Kaku Gothic New" pitchFamily="34" charset="0"/>
                <a:ea typeface="Zen Kaku Gothic New" pitchFamily="34" charset="-122"/>
                <a:cs typeface="Zen Kaku Gothic New" pitchFamily="34" charset="-120"/>
              </a:rPr>
              <a:t>○○グループ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3037023" y="6091279"/>
            <a:ext cx="819508" cy="22361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1760"/>
              </a:lnSpc>
              <a:buNone/>
            </a:pPr>
            <a:r>
              <a:rPr lang="en-US" sz="1100" dirty="0">
                <a:solidFill>
                  <a:srgbClr val="A7ADB3"/>
                </a:solidFill>
                <a:latin typeface="Zen Kaku Gothic New" pitchFamily="34" charset="0"/>
                <a:ea typeface="Zen Kaku Gothic New" pitchFamily="34" charset="-122"/>
                <a:cs typeface="Zen Kaku Gothic New" pitchFamily="34" charset="-120"/>
              </a:rPr>
              <a:t>事業・製品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4283746" y="6176684"/>
            <a:ext cx="1099248" cy="21599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1700"/>
              </a:lnSpc>
              <a:buNone/>
            </a:pPr>
            <a:r>
              <a:rPr lang="en-US" sz="1200" b="1" spc="50" kern="0" dirty="0">
                <a:solidFill>
                  <a:srgbClr val="8A9097"/>
                </a:solidFill>
                <a:latin typeface="Zen Kaku Gothic New" pitchFamily="34" charset="0"/>
                <a:ea typeface="Zen Kaku Gothic New" pitchFamily="34" charset="-122"/>
                <a:cs typeface="Zen Kaku Gothic New" pitchFamily="34" charset="-120"/>
              </a:rPr>
              <a:t>○○グループ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4423715" y="6407925"/>
            <a:ext cx="819508" cy="22361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1760"/>
              </a:lnSpc>
              <a:buNone/>
            </a:pPr>
            <a:r>
              <a:rPr lang="en-US" sz="1100" dirty="0">
                <a:solidFill>
                  <a:srgbClr val="A7ADB3"/>
                </a:solidFill>
                <a:latin typeface="Zen Kaku Gothic New" pitchFamily="34" charset="0"/>
                <a:ea typeface="Zen Kaku Gothic New" pitchFamily="34" charset="-122"/>
                <a:cs typeface="Zen Kaku Gothic New" pitchFamily="34" charset="-120"/>
              </a:rPr>
              <a:t>事業・製品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5334852" y="7188165"/>
            <a:ext cx="917559" cy="49551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1950"/>
              </a:lnSpc>
              <a:buNone/>
            </a:pPr>
            <a:r>
              <a:rPr lang="en-US" sz="1500" b="1" spc="50" kern="0" dirty="0">
                <a:solidFill>
                  <a:srgbClr val="FFFFFF"/>
                </a:solidFill>
                <a:latin typeface="Zen Kaku Gothic New" pitchFamily="34" charset="0"/>
                <a:ea typeface="Zen Kaku Gothic New" pitchFamily="34" charset="-122"/>
                <a:cs typeface="Zen Kaku Gothic New" pitchFamily="34" charset="-120"/>
              </a:rPr>
              <a:t>金属資源</a:t>
            </a:r>
            <a:endParaRPr lang="en-US" sz="1500" dirty="0"/>
          </a:p>
          <a:p>
            <a:pPr algn="ctr" indent="0" marL="0">
              <a:lnSpc>
                <a:spcPts val="1950"/>
              </a:lnSpc>
              <a:buNone/>
            </a:pPr>
            <a:r>
              <a:rPr lang="en-US" sz="1500" b="1" spc="50" kern="0" dirty="0">
                <a:solidFill>
                  <a:srgbClr val="FFFFFF"/>
                </a:solidFill>
                <a:latin typeface="Zen Kaku Gothic New" pitchFamily="34" charset="0"/>
                <a:ea typeface="Zen Kaku Gothic New" pitchFamily="34" charset="-122"/>
                <a:cs typeface="Zen Kaku Gothic New" pitchFamily="34" charset="-120"/>
              </a:rPr>
              <a:t>グループ</a:t>
            </a:r>
            <a:endParaRPr lang="en-US" sz="1500" dirty="0"/>
          </a:p>
        </p:txBody>
      </p:sp>
      <p:sp>
        <p:nvSpPr>
          <p:cNvPr id="22" name="Text 20"/>
          <p:cNvSpPr/>
          <p:nvPr/>
        </p:nvSpPr>
        <p:spPr>
          <a:xfrm>
            <a:off x="5251214" y="7775796"/>
            <a:ext cx="1084836" cy="19058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1500"/>
              </a:lnSpc>
              <a:buNone/>
            </a:pPr>
            <a:r>
              <a:rPr lang="en-US" sz="1100" spc="120" kern="0" dirty="0">
                <a:solidFill>
                  <a:srgbClr val="F3DCC8"/>
                </a:solidFill>
                <a:latin typeface="Zen Kaku Gothic New Medium" pitchFamily="34" charset="0"/>
                <a:ea typeface="Zen Kaku Gothic New Medium" pitchFamily="34" charset="-122"/>
                <a:cs typeface="Zen Kaku Gothic New Medium" pitchFamily="34" charset="-120"/>
              </a:rPr>
              <a:t>中核グループ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5208620" y="7968921"/>
            <a:ext cx="1170221" cy="22361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1760"/>
              </a:lnSpc>
              <a:buNone/>
            </a:pPr>
            <a:r>
              <a:rPr lang="en-US" sz="1100" dirty="0">
                <a:solidFill>
                  <a:srgbClr val="F3DCC8"/>
                </a:solidFill>
                <a:latin typeface="Zen Kaku Gothic New" pitchFamily="34" charset="0"/>
                <a:ea typeface="Zen Kaku Gothic New" pitchFamily="34" charset="-122"/>
                <a:cs typeface="Zen Kaku Gothic New" pitchFamily="34" charset="-120"/>
              </a:rPr>
              <a:t>原料炭・銅 ほか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3352786" y="7038874"/>
            <a:ext cx="917559" cy="26681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2100"/>
              </a:lnSpc>
              <a:buNone/>
            </a:pPr>
            <a:r>
              <a:rPr lang="en-US" sz="1500" b="1" spc="50" kern="0" dirty="0">
                <a:solidFill>
                  <a:srgbClr val="121519"/>
                </a:solidFill>
                <a:latin typeface="Zen Kaku Gothic New" pitchFamily="34" charset="0"/>
                <a:ea typeface="Zen Kaku Gothic New" pitchFamily="34" charset="-122"/>
                <a:cs typeface="Zen Kaku Gothic New" pitchFamily="34" charset="-120"/>
              </a:rPr>
              <a:t>三菱商事</a:t>
            </a:r>
            <a:endParaRPr lang="en-US" sz="1500" dirty="0"/>
          </a:p>
        </p:txBody>
      </p:sp>
      <p:sp>
        <p:nvSpPr>
          <p:cNvPr id="25" name="Text 23"/>
          <p:cNvSpPr/>
          <p:nvPr/>
        </p:nvSpPr>
        <p:spPr>
          <a:xfrm>
            <a:off x="3530326" y="7331102"/>
            <a:ext cx="562479" cy="19058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1500"/>
              </a:lnSpc>
              <a:buNone/>
            </a:pPr>
            <a:r>
              <a:rPr lang="en-US" sz="1100" spc="120" kern="0" dirty="0">
                <a:solidFill>
                  <a:srgbClr val="9C7442"/>
                </a:solidFill>
                <a:latin typeface="Zen Kaku Gothic New Medium" pitchFamily="34" charset="0"/>
                <a:ea typeface="Zen Kaku Gothic New Medium" pitchFamily="34" charset="-122"/>
                <a:cs typeface="Zen Kaku Gothic New Medium" pitchFamily="34" charset="-120"/>
              </a:rPr>
              <a:t>総合力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3530326" y="7597919"/>
            <a:ext cx="562479" cy="19058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1500"/>
              </a:lnSpc>
              <a:buNone/>
            </a:pPr>
            <a:r>
              <a:rPr lang="en-US" sz="1100" spc="120" kern="0" dirty="0">
                <a:solidFill>
                  <a:srgbClr val="8A9097"/>
                </a:solidFill>
                <a:latin typeface="Zen Kaku Gothic New Medium" pitchFamily="34" charset="0"/>
                <a:ea typeface="Zen Kaku Gothic New Medium" pitchFamily="34" charset="-122"/>
                <a:cs typeface="Zen Kaku Gothic New Medium" pitchFamily="34" charset="-120"/>
              </a:rPr>
              <a:t>三綱領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3478779" y="7788820"/>
            <a:ext cx="665771" cy="60796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1595"/>
              </a:lnSpc>
              <a:buNone/>
            </a:pPr>
            <a:r>
              <a:rPr lang="en-US" sz="1100" dirty="0">
                <a:solidFill>
                  <a:srgbClr val="121519"/>
                </a:solidFill>
                <a:latin typeface="Zen Kaku Gothic New" pitchFamily="34" charset="0"/>
                <a:ea typeface="Zen Kaku Gothic New" pitchFamily="34" charset="-122"/>
                <a:cs typeface="Zen Kaku Gothic New" pitchFamily="34" charset="-120"/>
              </a:rPr>
              <a:t>所期奉公</a:t>
            </a:r>
            <a:endParaRPr lang="en-US" sz="1100" dirty="0"/>
          </a:p>
          <a:p>
            <a:pPr algn="ctr" indent="0" marL="0">
              <a:lnSpc>
                <a:spcPts val="1595"/>
              </a:lnSpc>
              <a:buNone/>
            </a:pPr>
            <a:r>
              <a:rPr lang="en-US" sz="1100" dirty="0">
                <a:solidFill>
                  <a:srgbClr val="121519"/>
                </a:solidFill>
                <a:latin typeface="Zen Kaku Gothic New" pitchFamily="34" charset="0"/>
                <a:ea typeface="Zen Kaku Gothic New" pitchFamily="34" charset="-122"/>
                <a:cs typeface="Zen Kaku Gothic New" pitchFamily="34" charset="-120"/>
              </a:rPr>
              <a:t>処事光明</a:t>
            </a:r>
            <a:endParaRPr lang="en-US" sz="1100" dirty="0"/>
          </a:p>
          <a:p>
            <a:pPr algn="ctr" indent="0" marL="0">
              <a:lnSpc>
                <a:spcPts val="1595"/>
              </a:lnSpc>
              <a:buNone/>
            </a:pPr>
            <a:r>
              <a:rPr lang="en-US" sz="1100" dirty="0">
                <a:solidFill>
                  <a:srgbClr val="121519"/>
                </a:solidFill>
                <a:latin typeface="Zen Kaku Gothic New" pitchFamily="34" charset="0"/>
                <a:ea typeface="Zen Kaku Gothic New" pitchFamily="34" charset="-122"/>
                <a:cs typeface="Zen Kaku Gothic New" pitchFamily="34" charset="-120"/>
              </a:rPr>
              <a:t>立業貿易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508222" y="10052631"/>
            <a:ext cx="2203142" cy="22361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760"/>
              </a:lnSpc>
              <a:buNone/>
            </a:pPr>
            <a:r>
              <a:rPr lang="en-US" sz="1100" dirty="0">
                <a:solidFill>
                  <a:srgbClr val="A7ADB3"/>
                </a:solidFill>
                <a:latin typeface="Zen Kaku Gothic New" pitchFamily="34" charset="0"/>
                <a:ea typeface="Zen Kaku Gothic New" pitchFamily="34" charset="-122"/>
                <a:cs typeface="Zen Kaku Gothic New" pitchFamily="34" charset="-120"/>
              </a:rPr>
              <a:t>※グループ名称は確認後に記載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8068024" y="1727955"/>
            <a:ext cx="3564721" cy="19058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500"/>
              </a:lnSpc>
              <a:buNone/>
            </a:pPr>
            <a:r>
              <a:rPr lang="en-US" sz="1100" spc="120" kern="0" dirty="0">
                <a:solidFill>
                  <a:srgbClr val="9C7442"/>
                </a:solidFill>
                <a:latin typeface="Zen Kaku Gothic New Medium" pitchFamily="34" charset="0"/>
                <a:ea typeface="Zen Kaku Gothic New Medium" pitchFamily="34" charset="-122"/>
                <a:cs typeface="Zen Kaku Gothic New Medium" pitchFamily="34" charset="-120"/>
              </a:rPr>
              <a:t>第1章　我々は何者か｜金属資源グループとは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8068024" y="1946490"/>
            <a:ext cx="5412624" cy="38879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3060"/>
              </a:lnSpc>
              <a:buNone/>
            </a:pPr>
            <a:r>
              <a:rPr lang="en-US" sz="3000" spc="-75" kern="0" dirty="0">
                <a:solidFill>
                  <a:srgbClr val="121519"/>
                </a:solidFill>
                <a:latin typeface="Manrope SemiBold" pitchFamily="34" charset="0"/>
                <a:ea typeface="Manrope SemiBold" pitchFamily="34" charset="-122"/>
                <a:cs typeface="Manrope SemiBold" pitchFamily="34" charset="-120"/>
              </a:rPr>
              <a:t>The core that has carried us.</a:t>
            </a:r>
            <a:endParaRPr lang="en-US" sz="3000" dirty="0"/>
          </a:p>
        </p:txBody>
      </p:sp>
      <p:sp>
        <p:nvSpPr>
          <p:cNvPr id="31" name="Text 29"/>
          <p:cNvSpPr/>
          <p:nvPr/>
        </p:nvSpPr>
        <p:spPr>
          <a:xfrm>
            <a:off x="8068024" y="2642754"/>
            <a:ext cx="3495932" cy="25411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000"/>
              </a:lnSpc>
              <a:buNone/>
            </a:pPr>
            <a:r>
              <a:rPr lang="en-US" sz="1400" b="1" spc="50" kern="0" dirty="0">
                <a:solidFill>
                  <a:srgbClr val="121519"/>
                </a:solidFill>
                <a:latin typeface="Zen Kaku Gothic New" pitchFamily="34" charset="0"/>
                <a:ea typeface="Zen Kaku Gothic New" pitchFamily="34" charset="-122"/>
                <a:cs typeface="Zen Kaku Gothic New" pitchFamily="34" charset="-120"/>
              </a:rPr>
              <a:t>三綱領を体現する中核グループとして</a:t>
            </a:r>
            <a:endParaRPr lang="en-US" sz="1400" dirty="0"/>
          </a:p>
        </p:txBody>
      </p:sp>
      <p:sp>
        <p:nvSpPr>
          <p:cNvPr id="32" name="Text 30"/>
          <p:cNvSpPr/>
          <p:nvPr/>
        </p:nvSpPr>
        <p:spPr>
          <a:xfrm>
            <a:off x="8068024" y="2965475"/>
            <a:ext cx="7248516" cy="56412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220"/>
              </a:lnSpc>
              <a:buNone/>
            </a:pPr>
            <a:r>
              <a:rPr lang="en-US" sz="1200" dirty="0">
                <a:solidFill>
                  <a:srgbClr val="3D4249"/>
                </a:solidFill>
                <a:latin typeface="Zen Kaku Gothic New" pitchFamily="34" charset="0"/>
                <a:ea typeface="Zen Kaku Gothic New" pitchFamily="34" charset="-122"/>
                <a:cs typeface="Zen Kaku Gothic New" pitchFamily="34" charset="-120"/>
              </a:rPr>
              <a:t>社会に不可欠な金属資源を世界から確保し、安定的に届けてきました。三綱領を事業で体現す</a:t>
            </a:r>
            <a:endParaRPr lang="en-US" sz="1200" dirty="0"/>
          </a:p>
          <a:p>
            <a:pPr algn="l" indent="0" marL="0">
              <a:lnSpc>
                <a:spcPts val="2220"/>
              </a:lnSpc>
              <a:buNone/>
            </a:pPr>
            <a:r>
              <a:rPr lang="en-US" sz="1200" dirty="0">
                <a:solidFill>
                  <a:srgbClr val="3D4249"/>
                </a:solidFill>
                <a:latin typeface="Zen Kaku Gothic New" pitchFamily="34" charset="0"/>
                <a:ea typeface="Zen Kaku Gothic New" pitchFamily="34" charset="-122"/>
                <a:cs typeface="Zen Kaku Gothic New" pitchFamily="34" charset="-120"/>
              </a:rPr>
              <a:t>る中核グループとして、市況の波を越え、長年にわたり会社の屋台骨を支えています。</a:t>
            </a:r>
            <a:endParaRPr lang="en-US" sz="1200" dirty="0"/>
          </a:p>
        </p:txBody>
      </p:sp>
      <p:sp>
        <p:nvSpPr>
          <p:cNvPr id="33" name="Text 31"/>
          <p:cNvSpPr/>
          <p:nvPr/>
        </p:nvSpPr>
        <p:spPr>
          <a:xfrm>
            <a:off x="8322135" y="3976837"/>
            <a:ext cx="3199595" cy="19058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500"/>
              </a:lnSpc>
              <a:buNone/>
            </a:pPr>
            <a:r>
              <a:rPr lang="en-US" sz="1100" spc="120" kern="0" dirty="0">
                <a:solidFill>
                  <a:srgbClr val="E9D6AC"/>
                </a:solidFill>
                <a:latin typeface="Zen Kaku Gothic New Medium" pitchFamily="34" charset="0"/>
                <a:ea typeface="Zen Kaku Gothic New Medium" pitchFamily="34" charset="-122"/>
                <a:cs typeface="Zen Kaku Gothic New Medium" pitchFamily="34" charset="-120"/>
              </a:rPr>
              <a:t>GROUP MISSION　グループミッション</a:t>
            </a:r>
            <a:endParaRPr lang="en-US" sz="1100" dirty="0"/>
          </a:p>
        </p:txBody>
      </p:sp>
      <p:sp>
        <p:nvSpPr>
          <p:cNvPr id="34" name="Text 32"/>
          <p:cNvSpPr/>
          <p:nvPr/>
        </p:nvSpPr>
        <p:spPr>
          <a:xfrm>
            <a:off x="8322135" y="4219513"/>
            <a:ext cx="6654750" cy="52855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080"/>
              </a:lnSpc>
              <a:buNone/>
            </a:pPr>
            <a:r>
              <a:rPr lang="en-US" sz="1300" b="1" spc="50" kern="0" dirty="0">
                <a:solidFill>
                  <a:srgbClr val="FFFFFF"/>
                </a:solidFill>
                <a:latin typeface="Zen Kaku Gothic New" pitchFamily="34" charset="0"/>
                <a:ea typeface="Zen Kaku Gothic New" pitchFamily="34" charset="-122"/>
                <a:cs typeface="Zen Kaku Gothic New" pitchFamily="34" charset="-120"/>
              </a:rPr>
              <a:t>社会が必要とする良質な金属資源を、持続可能な形で安定供給することで、よ</a:t>
            </a:r>
            <a:endParaRPr lang="en-US" sz="1300" dirty="0"/>
          </a:p>
          <a:p>
            <a:pPr algn="l" indent="0" marL="0">
              <a:lnSpc>
                <a:spcPts val="2080"/>
              </a:lnSpc>
              <a:buNone/>
            </a:pPr>
            <a:r>
              <a:rPr lang="en-US" sz="1300" b="1" spc="50" kern="0" dirty="0">
                <a:solidFill>
                  <a:srgbClr val="FFFFFF"/>
                </a:solidFill>
                <a:latin typeface="Zen Kaku Gothic New" pitchFamily="34" charset="0"/>
                <a:ea typeface="Zen Kaku Gothic New" pitchFamily="34" charset="-122"/>
                <a:cs typeface="Zen Kaku Gothic New" pitchFamily="34" charset="-120"/>
              </a:rPr>
              <a:t>り良い社会の実現に寄与する</a:t>
            </a:r>
            <a:endParaRPr lang="en-US" sz="1300" dirty="0"/>
          </a:p>
        </p:txBody>
      </p:sp>
      <p:sp>
        <p:nvSpPr>
          <p:cNvPr id="35" name="Text 33"/>
          <p:cNvSpPr/>
          <p:nvPr/>
        </p:nvSpPr>
        <p:spPr>
          <a:xfrm>
            <a:off x="8068024" y="5183864"/>
            <a:ext cx="1469397" cy="25411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000"/>
              </a:lnSpc>
              <a:buNone/>
            </a:pPr>
            <a:r>
              <a:rPr lang="en-US" sz="1400" b="1" spc="50" kern="0" dirty="0">
                <a:solidFill>
                  <a:srgbClr val="121519"/>
                </a:solidFill>
                <a:latin typeface="Zen Kaku Gothic New" pitchFamily="34" charset="0"/>
                <a:ea typeface="Zen Kaku Gothic New" pitchFamily="34" charset="-122"/>
                <a:cs typeface="Zen Kaku Gothic New" pitchFamily="34" charset="-120"/>
              </a:rPr>
              <a:t>これまでの変遷</a:t>
            </a:r>
            <a:endParaRPr lang="en-US" sz="1400" dirty="0"/>
          </a:p>
        </p:txBody>
      </p:sp>
      <p:sp>
        <p:nvSpPr>
          <p:cNvPr id="36" name="Text 34"/>
          <p:cNvSpPr/>
          <p:nvPr/>
        </p:nvSpPr>
        <p:spPr>
          <a:xfrm>
            <a:off x="9567279" y="5211816"/>
            <a:ext cx="2664354" cy="22361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760"/>
              </a:lnSpc>
              <a:buNone/>
            </a:pPr>
            <a:r>
              <a:rPr lang="en-US" sz="1100" dirty="0">
                <a:solidFill>
                  <a:srgbClr val="7D838A"/>
                </a:solidFill>
                <a:latin typeface="Zen Kaku Gothic New" pitchFamily="34" charset="0"/>
                <a:ea typeface="Zen Kaku Gothic New" pitchFamily="34" charset="-122"/>
                <a:cs typeface="Zen Kaku Gothic New" pitchFamily="34" charset="-120"/>
              </a:rPr>
              <a:t>先見性をもって先手を打ってきた歩み</a:t>
            </a:r>
            <a:endParaRPr lang="en-US" sz="1100" dirty="0"/>
          </a:p>
        </p:txBody>
      </p:sp>
      <p:sp>
        <p:nvSpPr>
          <p:cNvPr id="37" name="Text 35"/>
          <p:cNvSpPr/>
          <p:nvPr/>
        </p:nvSpPr>
        <p:spPr>
          <a:xfrm>
            <a:off x="8068024" y="6530652"/>
            <a:ext cx="907077" cy="19058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500"/>
              </a:lnSpc>
              <a:buNone/>
            </a:pPr>
            <a:r>
              <a:rPr lang="en-US" sz="1100" spc="120" kern="0" dirty="0">
                <a:solidFill>
                  <a:srgbClr val="9C7442"/>
                </a:solidFill>
                <a:latin typeface="Zen Kaku Gothic New Medium" pitchFamily="34" charset="0"/>
                <a:ea typeface="Zen Kaku Gothic New Medium" pitchFamily="34" charset="-122"/>
                <a:cs typeface="Zen Kaku Gothic New Medium" pitchFamily="34" charset="-120"/>
              </a:rPr>
              <a:t>事業の重心</a:t>
            </a:r>
            <a:endParaRPr lang="en-US" sz="1100" dirty="0"/>
          </a:p>
        </p:txBody>
      </p:sp>
      <p:sp>
        <p:nvSpPr>
          <p:cNvPr id="38" name="Text 36"/>
          <p:cNvSpPr/>
          <p:nvPr/>
        </p:nvSpPr>
        <p:spPr>
          <a:xfrm>
            <a:off x="8068024" y="6773328"/>
            <a:ext cx="1323958" cy="5031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980"/>
              </a:lnSpc>
              <a:buNone/>
            </a:pPr>
            <a:r>
              <a:rPr lang="en-US" sz="1100" dirty="0">
                <a:solidFill>
                  <a:srgbClr val="9C7442"/>
                </a:solidFill>
                <a:latin typeface="Zen Kaku Gothic New" pitchFamily="34" charset="0"/>
                <a:ea typeface="Zen Kaku Gothic New" pitchFamily="34" charset="-122"/>
                <a:cs typeface="Zen Kaku Gothic New" pitchFamily="34" charset="-120"/>
              </a:rPr>
              <a:t>■</a:t>
            </a:r>
            <a:pPr algn="l" indent="0" marL="0">
              <a:lnSpc>
                <a:spcPts val="1980"/>
              </a:lnSpc>
              <a:buNone/>
            </a:pPr>
            <a:r>
              <a:rPr lang="en-US" sz="1100" dirty="0">
                <a:solidFill>
                  <a:srgbClr val="7D838A"/>
                </a:solidFill>
                <a:latin typeface="Zen Kaku Gothic New" pitchFamily="34" charset="0"/>
                <a:ea typeface="Zen Kaku Gothic New" pitchFamily="34" charset="-122"/>
                <a:cs typeface="Zen Kaku Gothic New" pitchFamily="34" charset="-120"/>
              </a:rPr>
              <a:t> 資源投資</a:t>
            </a:r>
            <a:endParaRPr lang="en-US" sz="1100" dirty="0"/>
          </a:p>
          <a:p>
            <a:pPr algn="l" indent="0" marL="0">
              <a:lnSpc>
                <a:spcPts val="1980"/>
              </a:lnSpc>
              <a:buNone/>
            </a:pPr>
            <a:r>
              <a:rPr lang="en-US" sz="1100" dirty="0">
                <a:solidFill>
                  <a:srgbClr val="3D4249"/>
                </a:solidFill>
                <a:latin typeface="Zen Kaku Gothic New" pitchFamily="34" charset="0"/>
                <a:ea typeface="Zen Kaku Gothic New" pitchFamily="34" charset="-122"/>
                <a:cs typeface="Zen Kaku Gothic New" pitchFamily="34" charset="-120"/>
              </a:rPr>
              <a:t>■</a:t>
            </a:r>
            <a:pPr algn="l" indent="0" marL="0">
              <a:lnSpc>
                <a:spcPts val="1980"/>
              </a:lnSpc>
              <a:buNone/>
            </a:pPr>
            <a:r>
              <a:rPr lang="en-US" sz="1100" dirty="0">
                <a:solidFill>
                  <a:srgbClr val="7D838A"/>
                </a:solidFill>
                <a:latin typeface="Zen Kaku Gothic New" pitchFamily="34" charset="0"/>
                <a:ea typeface="Zen Kaku Gothic New" pitchFamily="34" charset="-122"/>
                <a:cs typeface="Zen Kaku Gothic New" pitchFamily="34" charset="-120"/>
              </a:rPr>
              <a:t> トレーディング</a:t>
            </a:r>
            <a:endParaRPr lang="en-US" sz="1100" dirty="0"/>
          </a:p>
        </p:txBody>
      </p:sp>
      <p:sp>
        <p:nvSpPr>
          <p:cNvPr id="39" name="Text 37"/>
          <p:cNvSpPr/>
          <p:nvPr/>
        </p:nvSpPr>
        <p:spPr>
          <a:xfrm>
            <a:off x="8080730" y="8027684"/>
            <a:ext cx="1192058" cy="1569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235"/>
              </a:lnSpc>
              <a:buNone/>
            </a:pPr>
            <a:r>
              <a:rPr lang="en-US" sz="1300" spc="-39" kern="0" dirty="0">
                <a:solidFill>
                  <a:srgbClr val="121519"/>
                </a:solidFill>
                <a:latin typeface="Zen Kaku Gothic New Medium" pitchFamily="34" charset="0"/>
                <a:ea typeface="Zen Kaku Gothic New Medium" pitchFamily="34" charset="-122"/>
                <a:cs typeface="Zen Kaku Gothic New Medium" pitchFamily="34" charset="-120"/>
              </a:rPr>
              <a:t>1980〜90年代</a:t>
            </a:r>
            <a:endParaRPr lang="en-US" sz="1300" dirty="0"/>
          </a:p>
        </p:txBody>
      </p:sp>
      <p:sp>
        <p:nvSpPr>
          <p:cNvPr id="40" name="Text 38"/>
          <p:cNvSpPr/>
          <p:nvPr/>
        </p:nvSpPr>
        <p:spPr>
          <a:xfrm>
            <a:off x="8080730" y="8586410"/>
            <a:ext cx="1273950" cy="44215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740"/>
              </a:lnSpc>
              <a:buNone/>
            </a:pPr>
            <a:r>
              <a:rPr lang="en-US" sz="1200" b="1" spc="50" kern="0" dirty="0">
                <a:solidFill>
                  <a:srgbClr val="121519"/>
                </a:solidFill>
                <a:latin typeface="Zen Kaku Gothic New" pitchFamily="34" charset="0"/>
                <a:ea typeface="Zen Kaku Gothic New" pitchFamily="34" charset="-122"/>
                <a:cs typeface="Zen Kaku Gothic New" pitchFamily="34" charset="-120"/>
              </a:rPr>
              <a:t>日本の産業に、</a:t>
            </a:r>
            <a:endParaRPr lang="en-US" sz="1200" dirty="0"/>
          </a:p>
          <a:p>
            <a:pPr algn="l" indent="0" marL="0">
              <a:lnSpc>
                <a:spcPts val="1740"/>
              </a:lnSpc>
              <a:buNone/>
            </a:pPr>
            <a:r>
              <a:rPr lang="en-US" sz="1200" b="1" spc="50" kern="0" dirty="0">
                <a:solidFill>
                  <a:srgbClr val="121519"/>
                </a:solidFill>
                <a:latin typeface="Zen Kaku Gothic New" pitchFamily="34" charset="0"/>
                <a:ea typeface="Zen Kaku Gothic New" pitchFamily="34" charset="-122"/>
                <a:cs typeface="Zen Kaku Gothic New" pitchFamily="34" charset="-120"/>
              </a:rPr>
              <a:t>資源を。</a:t>
            </a:r>
            <a:endParaRPr lang="en-US" sz="1200" dirty="0"/>
          </a:p>
        </p:txBody>
      </p:sp>
      <p:sp>
        <p:nvSpPr>
          <p:cNvPr id="41" name="Text 39"/>
          <p:cNvSpPr/>
          <p:nvPr/>
        </p:nvSpPr>
        <p:spPr>
          <a:xfrm>
            <a:off x="8080730" y="9068586"/>
            <a:ext cx="1280719" cy="6289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650"/>
              </a:lnSpc>
              <a:buNone/>
            </a:pPr>
            <a:r>
              <a:rPr lang="en-US" sz="1100" dirty="0">
                <a:solidFill>
                  <a:srgbClr val="7D838A"/>
                </a:solidFill>
                <a:latin typeface="Zen Kaku Gothic New" pitchFamily="34" charset="0"/>
                <a:ea typeface="Zen Kaku Gothic New" pitchFamily="34" charset="-122"/>
                <a:cs typeface="Zen Kaku Gothic New" pitchFamily="34" charset="-120"/>
              </a:rPr>
              <a:t>トレーディングで</a:t>
            </a:r>
            <a:endParaRPr lang="en-US" sz="1100" dirty="0"/>
          </a:p>
          <a:p>
            <a:pPr algn="l" indent="0" marL="0">
              <a:lnSpc>
                <a:spcPts val="1650"/>
              </a:lnSpc>
              <a:buNone/>
            </a:pPr>
            <a:r>
              <a:rPr lang="en-US" sz="1100" dirty="0">
                <a:solidFill>
                  <a:srgbClr val="7D838A"/>
                </a:solidFill>
                <a:latin typeface="Zen Kaku Gothic New" pitchFamily="34" charset="0"/>
                <a:ea typeface="Zen Kaku Gothic New" pitchFamily="34" charset="-122"/>
                <a:cs typeface="Zen Kaku Gothic New" pitchFamily="34" charset="-120"/>
              </a:rPr>
              <a:t>参入し、少数出資</a:t>
            </a:r>
            <a:endParaRPr lang="en-US" sz="1100" dirty="0"/>
          </a:p>
          <a:p>
            <a:pPr algn="l" indent="0" marL="0">
              <a:lnSpc>
                <a:spcPts val="1650"/>
              </a:lnSpc>
              <a:buNone/>
            </a:pPr>
            <a:r>
              <a:rPr lang="en-US" sz="1100" dirty="0">
                <a:solidFill>
                  <a:srgbClr val="7D838A"/>
                </a:solidFill>
                <a:latin typeface="Zen Kaku Gothic New" pitchFamily="34" charset="0"/>
                <a:ea typeface="Zen Kaku Gothic New" pitchFamily="34" charset="-122"/>
                <a:cs typeface="Zen Kaku Gothic New" pitchFamily="34" charset="-120"/>
              </a:rPr>
              <a:t>から事業に関わる</a:t>
            </a:r>
            <a:endParaRPr lang="en-US" sz="1100" dirty="0"/>
          </a:p>
        </p:txBody>
      </p:sp>
      <p:sp>
        <p:nvSpPr>
          <p:cNvPr id="42" name="Text 40"/>
          <p:cNvSpPr/>
          <p:nvPr/>
        </p:nvSpPr>
        <p:spPr>
          <a:xfrm>
            <a:off x="9389401" y="8027684"/>
            <a:ext cx="800728" cy="1569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235"/>
              </a:lnSpc>
              <a:buNone/>
            </a:pPr>
            <a:r>
              <a:rPr lang="en-US" sz="1300" spc="-39" kern="0" dirty="0">
                <a:solidFill>
                  <a:srgbClr val="121519"/>
                </a:solidFill>
                <a:latin typeface="Zen Kaku Gothic New Medium" pitchFamily="34" charset="0"/>
                <a:ea typeface="Zen Kaku Gothic New Medium" pitchFamily="34" charset="-122"/>
                <a:cs typeface="Zen Kaku Gothic New Medium" pitchFamily="34" charset="-120"/>
              </a:rPr>
              <a:t>1990年代</a:t>
            </a:r>
            <a:endParaRPr lang="en-US" sz="1300" dirty="0"/>
          </a:p>
        </p:txBody>
      </p:sp>
      <p:sp>
        <p:nvSpPr>
          <p:cNvPr id="43" name="Text 41"/>
          <p:cNvSpPr/>
          <p:nvPr/>
        </p:nvSpPr>
        <p:spPr>
          <a:xfrm>
            <a:off x="9389401" y="8586410"/>
            <a:ext cx="924547" cy="44215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740"/>
              </a:lnSpc>
              <a:buNone/>
            </a:pPr>
            <a:r>
              <a:rPr lang="en-US" sz="1200" b="1" spc="50" kern="0" dirty="0">
                <a:solidFill>
                  <a:srgbClr val="121519"/>
                </a:solidFill>
                <a:latin typeface="Zen Kaku Gothic New" pitchFamily="34" charset="0"/>
                <a:ea typeface="Zen Kaku Gothic New" pitchFamily="34" charset="-122"/>
                <a:cs typeface="Zen Kaku Gothic New" pitchFamily="34" charset="-120"/>
              </a:rPr>
              <a:t>仲介から、</a:t>
            </a:r>
            <a:endParaRPr lang="en-US" sz="1200" dirty="0"/>
          </a:p>
          <a:p>
            <a:pPr algn="l" indent="0" marL="0">
              <a:lnSpc>
                <a:spcPts val="1740"/>
              </a:lnSpc>
              <a:buNone/>
            </a:pPr>
            <a:r>
              <a:rPr lang="en-US" sz="1200" b="1" spc="50" kern="0" dirty="0">
                <a:solidFill>
                  <a:srgbClr val="121519"/>
                </a:solidFill>
                <a:latin typeface="Zen Kaku Gothic New" pitchFamily="34" charset="0"/>
                <a:ea typeface="Zen Kaku Gothic New" pitchFamily="34" charset="-122"/>
                <a:cs typeface="Zen Kaku Gothic New" pitchFamily="34" charset="-120"/>
              </a:rPr>
              <a:t>担い手へ。</a:t>
            </a:r>
            <a:endParaRPr lang="en-US" sz="1200" dirty="0"/>
          </a:p>
        </p:txBody>
      </p:sp>
      <p:sp>
        <p:nvSpPr>
          <p:cNvPr id="44" name="Text 42"/>
          <p:cNvSpPr/>
          <p:nvPr/>
        </p:nvSpPr>
        <p:spPr>
          <a:xfrm>
            <a:off x="9389401" y="9068586"/>
            <a:ext cx="1302775" cy="6289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650"/>
              </a:lnSpc>
              <a:buNone/>
            </a:pPr>
            <a:r>
              <a:rPr lang="en-US" sz="1100" dirty="0">
                <a:solidFill>
                  <a:srgbClr val="7D838A"/>
                </a:solidFill>
                <a:latin typeface="Zen Kaku Gothic New" pitchFamily="34" charset="0"/>
                <a:ea typeface="Zen Kaku Gothic New" pitchFamily="34" charset="-122"/>
                <a:cs typeface="Zen Kaku Gothic New" pitchFamily="34" charset="-120"/>
              </a:rPr>
              <a:t>投資モデルへ転換</a:t>
            </a:r>
            <a:endParaRPr lang="en-US" sz="1100" dirty="0"/>
          </a:p>
          <a:p>
            <a:pPr algn="l" indent="0" marL="0">
              <a:lnSpc>
                <a:spcPts val="1650"/>
              </a:lnSpc>
              <a:buNone/>
            </a:pPr>
            <a:r>
              <a:rPr lang="en-US" sz="1100" dirty="0">
                <a:solidFill>
                  <a:srgbClr val="7D838A"/>
                </a:solidFill>
                <a:latin typeface="Zen Kaku Gothic New" pitchFamily="34" charset="0"/>
                <a:ea typeface="Zen Kaku Gothic New" pitchFamily="34" charset="-122"/>
                <a:cs typeface="Zen Kaku Gothic New" pitchFamily="34" charset="-120"/>
              </a:rPr>
              <a:t>し、JV運営の知見</a:t>
            </a:r>
            <a:endParaRPr lang="en-US" sz="1100" dirty="0"/>
          </a:p>
          <a:p>
            <a:pPr algn="l" indent="0" marL="0">
              <a:lnSpc>
                <a:spcPts val="1650"/>
              </a:lnSpc>
              <a:buNone/>
            </a:pPr>
            <a:r>
              <a:rPr lang="en-US" sz="1100" dirty="0">
                <a:solidFill>
                  <a:srgbClr val="7D838A"/>
                </a:solidFill>
                <a:latin typeface="Zen Kaku Gothic New" pitchFamily="34" charset="0"/>
                <a:ea typeface="Zen Kaku Gothic New" pitchFamily="34" charset="-122"/>
                <a:cs typeface="Zen Kaku Gothic New" pitchFamily="34" charset="-120"/>
              </a:rPr>
              <a:t>を蓄える</a:t>
            </a:r>
            <a:endParaRPr lang="en-US" sz="1100" dirty="0"/>
          </a:p>
        </p:txBody>
      </p:sp>
      <p:sp>
        <p:nvSpPr>
          <p:cNvPr id="45" name="Text 43"/>
          <p:cNvSpPr/>
          <p:nvPr/>
        </p:nvSpPr>
        <p:spPr>
          <a:xfrm>
            <a:off x="10698073" y="8027684"/>
            <a:ext cx="838288" cy="1569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235"/>
              </a:lnSpc>
              <a:buNone/>
            </a:pPr>
            <a:r>
              <a:rPr lang="en-US" sz="1300" spc="-39" kern="0" dirty="0">
                <a:solidFill>
                  <a:srgbClr val="121519"/>
                </a:solidFill>
                <a:latin typeface="Zen Kaku Gothic New Medium" pitchFamily="34" charset="0"/>
                <a:ea typeface="Zen Kaku Gothic New Medium" pitchFamily="34" charset="-122"/>
                <a:cs typeface="Zen Kaku Gothic New Medium" pitchFamily="34" charset="-120"/>
              </a:rPr>
              <a:t>2000年代</a:t>
            </a:r>
            <a:endParaRPr lang="en-US" sz="1300" dirty="0"/>
          </a:p>
        </p:txBody>
      </p:sp>
      <p:sp>
        <p:nvSpPr>
          <p:cNvPr id="46" name="Text 44"/>
          <p:cNvSpPr/>
          <p:nvPr/>
        </p:nvSpPr>
        <p:spPr>
          <a:xfrm>
            <a:off x="10698073" y="8586410"/>
            <a:ext cx="1099248" cy="44215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740"/>
              </a:lnSpc>
              <a:buNone/>
            </a:pPr>
            <a:r>
              <a:rPr lang="en-US" sz="1200" b="1" spc="50" kern="0" dirty="0">
                <a:solidFill>
                  <a:srgbClr val="121519"/>
                </a:solidFill>
                <a:latin typeface="Zen Kaku Gothic New" pitchFamily="34" charset="0"/>
                <a:ea typeface="Zen Kaku Gothic New" pitchFamily="34" charset="-122"/>
                <a:cs typeface="Zen Kaku Gothic New" pitchFamily="34" charset="-120"/>
              </a:rPr>
              <a:t>一級資産に、</a:t>
            </a:r>
            <a:endParaRPr lang="en-US" sz="1200" dirty="0"/>
          </a:p>
          <a:p>
            <a:pPr algn="l" indent="0" marL="0">
              <a:lnSpc>
                <a:spcPts val="1740"/>
              </a:lnSpc>
              <a:buNone/>
            </a:pPr>
            <a:r>
              <a:rPr lang="en-US" sz="1200" b="1" spc="50" kern="0" dirty="0">
                <a:solidFill>
                  <a:srgbClr val="121519"/>
                </a:solidFill>
                <a:latin typeface="Zen Kaku Gothic New" pitchFamily="34" charset="0"/>
                <a:ea typeface="Zen Kaku Gothic New" pitchFamily="34" charset="-122"/>
                <a:cs typeface="Zen Kaku Gothic New" pitchFamily="34" charset="-120"/>
              </a:rPr>
              <a:t>早くから。</a:t>
            </a:r>
            <a:endParaRPr lang="en-US" sz="1200" dirty="0"/>
          </a:p>
        </p:txBody>
      </p:sp>
      <p:sp>
        <p:nvSpPr>
          <p:cNvPr id="47" name="Text 45"/>
          <p:cNvSpPr/>
          <p:nvPr/>
        </p:nvSpPr>
        <p:spPr>
          <a:xfrm>
            <a:off x="10698073" y="9068586"/>
            <a:ext cx="1280719" cy="6289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650"/>
              </a:lnSpc>
              <a:buNone/>
            </a:pPr>
            <a:r>
              <a:rPr lang="en-US" sz="1100" dirty="0">
                <a:solidFill>
                  <a:srgbClr val="7D838A"/>
                </a:solidFill>
                <a:latin typeface="Zen Kaku Gothic New" pitchFamily="34" charset="0"/>
                <a:ea typeface="Zen Kaku Gothic New" pitchFamily="34" charset="-122"/>
                <a:cs typeface="Zen Kaku Gothic New" pitchFamily="34" charset="-120"/>
              </a:rPr>
              <a:t>BHPと原料炭の合</a:t>
            </a:r>
            <a:endParaRPr lang="en-US" sz="1100" dirty="0"/>
          </a:p>
          <a:p>
            <a:pPr algn="l" indent="0" marL="0">
              <a:lnSpc>
                <a:spcPts val="1650"/>
              </a:lnSpc>
              <a:buNone/>
            </a:pPr>
            <a:r>
              <a:rPr lang="en-US" sz="1100" dirty="0">
                <a:solidFill>
                  <a:srgbClr val="7D838A"/>
                </a:solidFill>
                <a:latin typeface="Zen Kaku Gothic New" pitchFamily="34" charset="0"/>
                <a:ea typeface="Zen Kaku Gothic New" pitchFamily="34" charset="-122"/>
                <a:cs typeface="Zen Kaku Gothic New" pitchFamily="34" charset="-120"/>
              </a:rPr>
              <a:t>弁を組成し、事業</a:t>
            </a:r>
            <a:endParaRPr lang="en-US" sz="1100" dirty="0"/>
          </a:p>
          <a:p>
            <a:pPr algn="l" indent="0" marL="0">
              <a:lnSpc>
                <a:spcPts val="1650"/>
              </a:lnSpc>
              <a:buNone/>
            </a:pPr>
            <a:r>
              <a:rPr lang="en-US" sz="1100" dirty="0">
                <a:solidFill>
                  <a:srgbClr val="7D838A"/>
                </a:solidFill>
                <a:latin typeface="Zen Kaku Gothic New" pitchFamily="34" charset="0"/>
                <a:ea typeface="Zen Kaku Gothic New" pitchFamily="34" charset="-122"/>
                <a:cs typeface="Zen Kaku Gothic New" pitchFamily="34" charset="-120"/>
              </a:rPr>
              <a:t>経営に参画</a:t>
            </a:r>
            <a:endParaRPr lang="en-US" sz="1100" dirty="0"/>
          </a:p>
        </p:txBody>
      </p:sp>
      <p:sp>
        <p:nvSpPr>
          <p:cNvPr id="48" name="Text 46"/>
          <p:cNvSpPr/>
          <p:nvPr/>
        </p:nvSpPr>
        <p:spPr>
          <a:xfrm>
            <a:off x="12006744" y="8027684"/>
            <a:ext cx="798325" cy="1569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235"/>
              </a:lnSpc>
              <a:buNone/>
            </a:pPr>
            <a:r>
              <a:rPr lang="en-US" sz="1300" spc="-39" kern="0" dirty="0">
                <a:solidFill>
                  <a:srgbClr val="121519"/>
                </a:solidFill>
                <a:latin typeface="Zen Kaku Gothic New Medium" pitchFamily="34" charset="0"/>
                <a:ea typeface="Zen Kaku Gothic New Medium" pitchFamily="34" charset="-122"/>
                <a:cs typeface="Zen Kaku Gothic New Medium" pitchFamily="34" charset="-120"/>
              </a:rPr>
              <a:t>2010年代</a:t>
            </a:r>
            <a:endParaRPr lang="en-US" sz="1300" dirty="0"/>
          </a:p>
        </p:txBody>
      </p:sp>
      <p:sp>
        <p:nvSpPr>
          <p:cNvPr id="49" name="Text 47"/>
          <p:cNvSpPr/>
          <p:nvPr/>
        </p:nvSpPr>
        <p:spPr>
          <a:xfrm>
            <a:off x="12006744" y="8586410"/>
            <a:ext cx="1099248" cy="44215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740"/>
              </a:lnSpc>
              <a:buNone/>
            </a:pPr>
            <a:r>
              <a:rPr lang="en-US" sz="1200" b="1" spc="50" kern="0" dirty="0">
                <a:solidFill>
                  <a:srgbClr val="121519"/>
                </a:solidFill>
                <a:latin typeface="Zen Kaku Gothic New" pitchFamily="34" charset="0"/>
                <a:ea typeface="Zen Kaku Gothic New" pitchFamily="34" charset="-122"/>
                <a:cs typeface="Zen Kaku Gothic New" pitchFamily="34" charset="-120"/>
              </a:rPr>
              <a:t>次の柱を、</a:t>
            </a:r>
            <a:endParaRPr lang="en-US" sz="1200" dirty="0"/>
          </a:p>
          <a:p>
            <a:pPr algn="l" indent="0" marL="0">
              <a:lnSpc>
                <a:spcPts val="1740"/>
              </a:lnSpc>
              <a:buNone/>
            </a:pPr>
            <a:r>
              <a:rPr lang="en-US" sz="1200" b="1" spc="50" kern="0" dirty="0">
                <a:solidFill>
                  <a:srgbClr val="121519"/>
                </a:solidFill>
                <a:latin typeface="Zen Kaku Gothic New" pitchFamily="34" charset="0"/>
                <a:ea typeface="Zen Kaku Gothic New" pitchFamily="34" charset="-122"/>
                <a:cs typeface="Zen Kaku Gothic New" pitchFamily="34" charset="-120"/>
              </a:rPr>
              <a:t>先回りして。</a:t>
            </a:r>
            <a:endParaRPr lang="en-US" sz="1200" dirty="0"/>
          </a:p>
        </p:txBody>
      </p:sp>
      <p:sp>
        <p:nvSpPr>
          <p:cNvPr id="50" name="Text 48"/>
          <p:cNvSpPr/>
          <p:nvPr/>
        </p:nvSpPr>
        <p:spPr>
          <a:xfrm>
            <a:off x="12006744" y="9068586"/>
            <a:ext cx="1280719" cy="6289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650"/>
              </a:lnSpc>
              <a:buNone/>
            </a:pPr>
            <a:r>
              <a:rPr lang="en-US" sz="1100" dirty="0">
                <a:solidFill>
                  <a:srgbClr val="7D838A"/>
                </a:solidFill>
                <a:latin typeface="Zen Kaku Gothic New" pitchFamily="34" charset="0"/>
                <a:ea typeface="Zen Kaku Gothic New" pitchFamily="34" charset="-122"/>
                <a:cs typeface="Zen Kaku Gothic New" pitchFamily="34" charset="-120"/>
              </a:rPr>
              <a:t>銅へ領域を広げ、</a:t>
            </a:r>
            <a:endParaRPr lang="en-US" sz="1100" dirty="0"/>
          </a:p>
          <a:p>
            <a:pPr algn="l" indent="0" marL="0">
              <a:lnSpc>
                <a:spcPts val="1650"/>
              </a:lnSpc>
              <a:buNone/>
            </a:pPr>
            <a:r>
              <a:rPr lang="en-US" sz="1100" dirty="0">
                <a:solidFill>
                  <a:srgbClr val="7D838A"/>
                </a:solidFill>
                <a:latin typeface="Zen Kaku Gothic New" pitchFamily="34" charset="0"/>
                <a:ea typeface="Zen Kaku Gothic New" pitchFamily="34" charset="-122"/>
                <a:cs typeface="Zen Kaku Gothic New" pitchFamily="34" charset="-120"/>
              </a:rPr>
              <a:t>販売機能をRtMに</a:t>
            </a:r>
            <a:endParaRPr lang="en-US" sz="1100" dirty="0"/>
          </a:p>
          <a:p>
            <a:pPr algn="l" indent="0" marL="0">
              <a:lnSpc>
                <a:spcPts val="1650"/>
              </a:lnSpc>
              <a:buNone/>
            </a:pPr>
            <a:r>
              <a:rPr lang="en-US" sz="1100" dirty="0">
                <a:solidFill>
                  <a:srgbClr val="7D838A"/>
                </a:solidFill>
                <a:latin typeface="Zen Kaku Gothic New" pitchFamily="34" charset="0"/>
                <a:ea typeface="Zen Kaku Gothic New" pitchFamily="34" charset="-122"/>
                <a:cs typeface="Zen Kaku Gothic New" pitchFamily="34" charset="-120"/>
              </a:rPr>
              <a:t>集約</a:t>
            </a:r>
            <a:endParaRPr lang="en-US" sz="1100" dirty="0"/>
          </a:p>
        </p:txBody>
      </p:sp>
      <p:sp>
        <p:nvSpPr>
          <p:cNvPr id="51" name="Text 49"/>
          <p:cNvSpPr/>
          <p:nvPr/>
        </p:nvSpPr>
        <p:spPr>
          <a:xfrm>
            <a:off x="13315416" y="8027684"/>
            <a:ext cx="1004473" cy="1569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235"/>
              </a:lnSpc>
              <a:buNone/>
            </a:pPr>
            <a:r>
              <a:rPr lang="en-US" sz="1300" spc="-39" kern="0" dirty="0">
                <a:solidFill>
                  <a:srgbClr val="121519"/>
                </a:solidFill>
                <a:latin typeface="Zen Kaku Gothic New Medium" pitchFamily="34" charset="0"/>
                <a:ea typeface="Zen Kaku Gothic New Medium" pitchFamily="34" charset="-122"/>
                <a:cs typeface="Zen Kaku Gothic New Medium" pitchFamily="34" charset="-120"/>
              </a:rPr>
              <a:t>2020年代〜</a:t>
            </a:r>
            <a:endParaRPr lang="en-US" sz="1300" dirty="0"/>
          </a:p>
        </p:txBody>
      </p:sp>
      <p:sp>
        <p:nvSpPr>
          <p:cNvPr id="52" name="Text 50"/>
          <p:cNvSpPr/>
          <p:nvPr/>
        </p:nvSpPr>
        <p:spPr>
          <a:xfrm>
            <a:off x="13315416" y="8586410"/>
            <a:ext cx="1273950" cy="44215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740"/>
              </a:lnSpc>
              <a:buNone/>
            </a:pPr>
            <a:r>
              <a:rPr lang="en-US" sz="1200" b="1" spc="50" kern="0" dirty="0">
                <a:solidFill>
                  <a:srgbClr val="121519"/>
                </a:solidFill>
                <a:latin typeface="Zen Kaku Gothic New" pitchFamily="34" charset="0"/>
                <a:ea typeface="Zen Kaku Gothic New" pitchFamily="34" charset="-122"/>
                <a:cs typeface="Zen Kaku Gothic New" pitchFamily="34" charset="-120"/>
              </a:rPr>
              <a:t>投資と販売を、</a:t>
            </a:r>
            <a:endParaRPr lang="en-US" sz="1200" dirty="0"/>
          </a:p>
          <a:p>
            <a:pPr algn="l" indent="0" marL="0">
              <a:lnSpc>
                <a:spcPts val="1740"/>
              </a:lnSpc>
              <a:buNone/>
            </a:pPr>
            <a:r>
              <a:rPr lang="en-US" sz="1200" b="1" spc="50" kern="0" dirty="0">
                <a:solidFill>
                  <a:srgbClr val="121519"/>
                </a:solidFill>
                <a:latin typeface="Zen Kaku Gothic New" pitchFamily="34" charset="0"/>
                <a:ea typeface="Zen Kaku Gothic New" pitchFamily="34" charset="-122"/>
                <a:cs typeface="Zen Kaku Gothic New" pitchFamily="34" charset="-120"/>
              </a:rPr>
              <a:t>一つの力に。</a:t>
            </a:r>
            <a:endParaRPr lang="en-US" sz="1200" dirty="0"/>
          </a:p>
        </p:txBody>
      </p:sp>
      <p:sp>
        <p:nvSpPr>
          <p:cNvPr id="53" name="Text 51"/>
          <p:cNvSpPr/>
          <p:nvPr/>
        </p:nvSpPr>
        <p:spPr>
          <a:xfrm>
            <a:off x="13315416" y="9068586"/>
            <a:ext cx="1280719" cy="6289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650"/>
              </a:lnSpc>
              <a:buNone/>
            </a:pPr>
            <a:r>
              <a:rPr lang="en-US" sz="1100" dirty="0">
                <a:solidFill>
                  <a:srgbClr val="7D838A"/>
                </a:solidFill>
                <a:latin typeface="Zen Kaku Gothic New" pitchFamily="34" charset="0"/>
                <a:ea typeface="Zen Kaku Gothic New" pitchFamily="34" charset="-122"/>
                <a:cs typeface="Zen Kaku Gothic New" pitchFamily="34" charset="-120"/>
              </a:rPr>
              <a:t>両輪を一体で動か</a:t>
            </a:r>
            <a:endParaRPr lang="en-US" sz="1100" dirty="0"/>
          </a:p>
          <a:p>
            <a:pPr algn="l" indent="0" marL="0">
              <a:lnSpc>
                <a:spcPts val="1650"/>
              </a:lnSpc>
              <a:buNone/>
            </a:pPr>
            <a:r>
              <a:rPr lang="en-US" sz="1100" dirty="0">
                <a:solidFill>
                  <a:srgbClr val="7D838A"/>
                </a:solidFill>
                <a:latin typeface="Zen Kaku Gothic New" pitchFamily="34" charset="0"/>
                <a:ea typeface="Zen Kaku Gothic New" pitchFamily="34" charset="-122"/>
                <a:cs typeface="Zen Kaku Gothic New" pitchFamily="34" charset="-120"/>
              </a:rPr>
              <a:t>す、グローバルな</a:t>
            </a:r>
            <a:endParaRPr lang="en-US" sz="1100" dirty="0"/>
          </a:p>
          <a:p>
            <a:pPr algn="l" indent="0" marL="0">
              <a:lnSpc>
                <a:spcPts val="1650"/>
              </a:lnSpc>
              <a:buNone/>
            </a:pPr>
            <a:r>
              <a:rPr lang="en-US" sz="1100" dirty="0">
                <a:solidFill>
                  <a:srgbClr val="7D838A"/>
                </a:solidFill>
                <a:latin typeface="Zen Kaku Gothic New" pitchFamily="34" charset="0"/>
                <a:ea typeface="Zen Kaku Gothic New" pitchFamily="34" charset="-122"/>
                <a:cs typeface="Zen Kaku Gothic New" pitchFamily="34" charset="-120"/>
              </a:rPr>
              <a:t>事業者へ</a:t>
            </a:r>
            <a:endParaRPr lang="en-US" sz="1100" dirty="0"/>
          </a:p>
        </p:txBody>
      </p:sp>
      <p:sp>
        <p:nvSpPr>
          <p:cNvPr id="54" name="Text 52"/>
          <p:cNvSpPr/>
          <p:nvPr/>
        </p:nvSpPr>
        <p:spPr>
          <a:xfrm>
            <a:off x="8068024" y="10037384"/>
            <a:ext cx="733031" cy="19058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500"/>
              </a:lnSpc>
              <a:buNone/>
            </a:pPr>
            <a:r>
              <a:rPr lang="en-US" sz="1100" spc="120" kern="0" dirty="0">
                <a:solidFill>
                  <a:srgbClr val="9C7442"/>
                </a:solidFill>
                <a:latin typeface="Zen Kaku Gothic New Medium" pitchFamily="34" charset="0"/>
                <a:ea typeface="Zen Kaku Gothic New Medium" pitchFamily="34" charset="-122"/>
                <a:cs typeface="Zen Kaku Gothic New Medium" pitchFamily="34" charset="-120"/>
              </a:rPr>
              <a:t>事業領域</a:t>
            </a:r>
            <a:endParaRPr lang="en-US" sz="1100" dirty="0"/>
          </a:p>
        </p:txBody>
      </p:sp>
      <p:sp>
        <p:nvSpPr>
          <p:cNvPr id="55" name="Text 53"/>
          <p:cNvSpPr/>
          <p:nvPr/>
        </p:nvSpPr>
        <p:spPr>
          <a:xfrm>
            <a:off x="8906590" y="9999268"/>
            <a:ext cx="5724029" cy="21599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700"/>
              </a:lnSpc>
              <a:buNone/>
            </a:pPr>
            <a:r>
              <a:rPr lang="en-US" sz="1200" b="1" spc="30" kern="0" dirty="0">
                <a:solidFill>
                  <a:srgbClr val="A8622F"/>
                </a:solidFill>
                <a:latin typeface="Zen Kaku Gothic New" pitchFamily="34" charset="0"/>
                <a:ea typeface="Zen Kaku Gothic New" pitchFamily="34" charset="-122"/>
                <a:cs typeface="Zen Kaku Gothic New" pitchFamily="34" charset="-120"/>
              </a:rPr>
              <a:t>原料炭　銅</a:t>
            </a:r>
            <a:pPr algn="l" indent="0" marL="0">
              <a:lnSpc>
                <a:spcPts val="1700"/>
              </a:lnSpc>
              <a:buNone/>
            </a:pPr>
            <a:r>
              <a:rPr lang="en-US" sz="1200" spc="30" kern="0" dirty="0">
                <a:solidFill>
                  <a:srgbClr val="121519"/>
                </a:solidFill>
                <a:latin typeface="Zen Kaku Gothic New Medium" pitchFamily="34" charset="0"/>
                <a:ea typeface="Zen Kaku Gothic New Medium" pitchFamily="34" charset="-122"/>
                <a:cs typeface="Zen Kaku Gothic New Medium" pitchFamily="34" charset="-120"/>
              </a:rPr>
              <a:t>　鉄鉱石　ニッケル　リチウム　アルミ　肥料資源　二次資源</a:t>
            </a:r>
            <a:endParaRPr lang="en-US" sz="1200" dirty="0"/>
          </a:p>
        </p:txBody>
      </p:sp>
      <p:sp>
        <p:nvSpPr>
          <p:cNvPr id="56" name="Text 54"/>
          <p:cNvSpPr/>
          <p:nvPr/>
        </p:nvSpPr>
        <p:spPr>
          <a:xfrm>
            <a:off x="508222" y="10316906"/>
            <a:ext cx="286887" cy="19058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500"/>
              </a:lnSpc>
              <a:buNone/>
            </a:pPr>
            <a:r>
              <a:rPr lang="en-US" sz="1100" spc="160" kern="0" dirty="0">
                <a:solidFill>
                  <a:srgbClr val="7D838A"/>
                </a:solidFill>
                <a:latin typeface="Manrope SemiBold" pitchFamily="34" charset="0"/>
                <a:ea typeface="Manrope SemiBold" pitchFamily="34" charset="-122"/>
                <a:cs typeface="Manrope SemiBold" pitchFamily="34" charset="-120"/>
              </a:rPr>
              <a:t>04</a:t>
            </a:r>
            <a:endParaRPr lang="en-US" sz="1100" dirty="0"/>
          </a:p>
        </p:txBody>
      </p:sp>
      <p:sp>
        <p:nvSpPr>
          <p:cNvPr id="57" name="Text 55"/>
          <p:cNvSpPr/>
          <p:nvPr/>
        </p:nvSpPr>
        <p:spPr>
          <a:xfrm>
            <a:off x="14458915" y="10316906"/>
            <a:ext cx="284048" cy="19058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500"/>
              </a:lnSpc>
              <a:buNone/>
            </a:pPr>
            <a:r>
              <a:rPr lang="en-US" sz="1100" spc="160" kern="0" dirty="0">
                <a:solidFill>
                  <a:srgbClr val="7D838A"/>
                </a:solidFill>
                <a:latin typeface="Manrope SemiBold" pitchFamily="34" charset="0"/>
                <a:ea typeface="Manrope SemiBold" pitchFamily="34" charset="-122"/>
                <a:cs typeface="Manrope SemiBold" pitchFamily="34" charset="-120"/>
              </a:rPr>
              <a:t>05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8222" y="508222"/>
            <a:ext cx="3938363" cy="19058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500"/>
              </a:lnSpc>
              <a:buNone/>
            </a:pPr>
            <a:r>
              <a:rPr lang="en-US" sz="1100" spc="120" kern="0" dirty="0">
                <a:solidFill>
                  <a:srgbClr val="9C7442"/>
                </a:solidFill>
                <a:latin typeface="Zen Kaku Gothic New Medium" pitchFamily="34" charset="0"/>
                <a:ea typeface="Zen Kaku Gothic New Medium" pitchFamily="34" charset="-122"/>
                <a:cs typeface="Zen Kaku Gothic New Medium" pitchFamily="34" charset="-120"/>
              </a:rPr>
              <a:t>第2章　独自価値｜What makes us different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08222" y="724725"/>
            <a:ext cx="4281869" cy="119228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4692"/>
              </a:lnSpc>
              <a:buNone/>
            </a:pPr>
            <a:r>
              <a:rPr lang="en-US" sz="4600" spc="-115" kern="0" dirty="0">
                <a:solidFill>
                  <a:srgbClr val="121519"/>
                </a:solidFill>
                <a:latin typeface="Manrope SemiBold" pitchFamily="34" charset="0"/>
                <a:ea typeface="Manrope SemiBold" pitchFamily="34" charset="-122"/>
                <a:cs typeface="Manrope SemiBold" pitchFamily="34" charset="-120"/>
              </a:rPr>
              <a:t>Three strands,</a:t>
            </a:r>
            <a:endParaRPr lang="en-US" sz="4600" dirty="0"/>
          </a:p>
          <a:p>
            <a:pPr algn="l" indent="0" marL="0">
              <a:lnSpc>
                <a:spcPts val="4692"/>
              </a:lnSpc>
              <a:buNone/>
            </a:pPr>
            <a:r>
              <a:rPr lang="en-US" sz="4600" spc="-115" kern="0" dirty="0">
                <a:solidFill>
                  <a:srgbClr val="121519"/>
                </a:solidFill>
                <a:latin typeface="Manrope SemiBold" pitchFamily="34" charset="0"/>
                <a:ea typeface="Manrope SemiBold" pitchFamily="34" charset="-122"/>
                <a:cs typeface="Manrope SemiBold" pitchFamily="34" charset="-120"/>
              </a:rPr>
              <a:t>one rope.</a:t>
            </a:r>
            <a:endParaRPr lang="en-US" sz="4600" dirty="0"/>
          </a:p>
        </p:txBody>
      </p:sp>
      <p:sp>
        <p:nvSpPr>
          <p:cNvPr id="4" name="Text 2"/>
          <p:cNvSpPr/>
          <p:nvPr/>
        </p:nvSpPr>
        <p:spPr>
          <a:xfrm>
            <a:off x="508222" y="2185355"/>
            <a:ext cx="4208713" cy="31763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500"/>
              </a:lnSpc>
              <a:buNone/>
            </a:pPr>
            <a:r>
              <a:rPr lang="en-US" sz="1700" b="1" spc="50" kern="0" dirty="0">
                <a:solidFill>
                  <a:srgbClr val="121519"/>
                </a:solidFill>
                <a:latin typeface="Zen Kaku Gothic New" pitchFamily="34" charset="0"/>
                <a:ea typeface="Zen Kaku Gothic New" pitchFamily="34" charset="-122"/>
                <a:cs typeface="Zen Kaku Gothic New" pitchFamily="34" charset="-120"/>
              </a:rPr>
              <a:t>三つの力を撚り合わせ、一本の綱に。</a:t>
            </a:r>
            <a:endParaRPr lang="en-US" sz="1700" dirty="0"/>
          </a:p>
        </p:txBody>
      </p:sp>
      <p:sp>
        <p:nvSpPr>
          <p:cNvPr id="5" name="Text 3"/>
          <p:cNvSpPr/>
          <p:nvPr/>
        </p:nvSpPr>
        <p:spPr>
          <a:xfrm>
            <a:off x="508222" y="2584309"/>
            <a:ext cx="4662937" cy="112825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220"/>
              </a:lnSpc>
              <a:buNone/>
            </a:pPr>
            <a:r>
              <a:rPr lang="en-US" sz="1200" dirty="0">
                <a:solidFill>
                  <a:srgbClr val="3D4249"/>
                </a:solidFill>
                <a:latin typeface="Zen Kaku Gothic New" pitchFamily="34" charset="0"/>
                <a:ea typeface="Zen Kaku Gothic New" pitchFamily="34" charset="-122"/>
                <a:cs typeface="Zen Kaku Gothic New" pitchFamily="34" charset="-120"/>
              </a:rPr>
              <a:t>資源を持つ力、市場へつなぐ力、そして新しい技術で流れを</a:t>
            </a:r>
            <a:endParaRPr lang="en-US" sz="1200" dirty="0"/>
          </a:p>
          <a:p>
            <a:pPr algn="l" indent="0" marL="0">
              <a:lnSpc>
                <a:spcPts val="2220"/>
              </a:lnSpc>
              <a:buNone/>
            </a:pPr>
            <a:r>
              <a:rPr lang="en-US" sz="1200" dirty="0">
                <a:solidFill>
                  <a:srgbClr val="3D4249"/>
                </a:solidFill>
                <a:latin typeface="Zen Kaku Gothic New" pitchFamily="34" charset="0"/>
                <a:ea typeface="Zen Kaku Gothic New" pitchFamily="34" charset="-122"/>
                <a:cs typeface="Zen Kaku Gothic New" pitchFamily="34" charset="-120"/>
              </a:rPr>
              <a:t>進化させる力。私たちは、この三つを別々に動かさず、一本</a:t>
            </a:r>
            <a:endParaRPr lang="en-US" sz="1200" dirty="0"/>
          </a:p>
          <a:p>
            <a:pPr algn="l" indent="0" marL="0">
              <a:lnSpc>
                <a:spcPts val="2220"/>
              </a:lnSpc>
              <a:buNone/>
            </a:pPr>
            <a:r>
              <a:rPr lang="en-US" sz="1200" dirty="0">
                <a:solidFill>
                  <a:srgbClr val="3D4249"/>
                </a:solidFill>
                <a:latin typeface="Zen Kaku Gothic New" pitchFamily="34" charset="0"/>
                <a:ea typeface="Zen Kaku Gothic New" pitchFamily="34" charset="-122"/>
                <a:cs typeface="Zen Kaku Gothic New" pitchFamily="34" charset="-120"/>
              </a:rPr>
              <a:t>の綱のように撚り合わせてきました。撚り合わせた綱は、一</a:t>
            </a:r>
            <a:endParaRPr lang="en-US" sz="1200" dirty="0"/>
          </a:p>
          <a:p>
            <a:pPr algn="l" indent="0" marL="0">
              <a:lnSpc>
                <a:spcPts val="2220"/>
              </a:lnSpc>
              <a:buNone/>
            </a:pPr>
            <a:r>
              <a:rPr lang="en-US" sz="1200" dirty="0">
                <a:solidFill>
                  <a:srgbClr val="3D4249"/>
                </a:solidFill>
                <a:latin typeface="Zen Kaku Gothic New" pitchFamily="34" charset="0"/>
                <a:ea typeface="Zen Kaku Gothic New" pitchFamily="34" charset="-122"/>
                <a:cs typeface="Zen Kaku Gothic New" pitchFamily="34" charset="-120"/>
              </a:rPr>
              <a:t>本ずつの糸よりはるかに強い。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8068024" y="498693"/>
            <a:ext cx="412017" cy="36210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3000" spc="-90" kern="0" dirty="0">
                <a:solidFill>
                  <a:srgbClr val="A8622F"/>
                </a:solidFill>
                <a:latin typeface="Manrope Light" pitchFamily="34" charset="0"/>
                <a:ea typeface="Manrope Light" pitchFamily="34" charset="-122"/>
                <a:cs typeface="Manrope Light" pitchFamily="34" charset="-120"/>
              </a:rPr>
              <a:t>Q.</a:t>
            </a:r>
            <a:endParaRPr lang="en-US" sz="3000" dirty="0"/>
          </a:p>
        </p:txBody>
      </p:sp>
      <p:sp>
        <p:nvSpPr>
          <p:cNvPr id="7" name="Text 5"/>
          <p:cNvSpPr/>
          <p:nvPr/>
        </p:nvSpPr>
        <p:spPr>
          <a:xfrm>
            <a:off x="8576246" y="577467"/>
            <a:ext cx="6277395" cy="56158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210"/>
              </a:lnSpc>
              <a:buNone/>
            </a:pPr>
            <a:r>
              <a:rPr lang="en-US" sz="1300" b="1" spc="50" kern="0" dirty="0">
                <a:solidFill>
                  <a:srgbClr val="121519"/>
                </a:solidFill>
                <a:latin typeface="Zen Kaku Gothic New" pitchFamily="34" charset="0"/>
                <a:ea typeface="Zen Kaku Gothic New" pitchFamily="34" charset="-122"/>
                <a:cs typeface="Zen Kaku Gothic New" pitchFamily="34" charset="-120"/>
              </a:rPr>
              <a:t>資源を持つ、市場へつなぐ、技術に投資する。</a:t>
            </a:r>
            <a:endParaRPr lang="en-US" sz="1300" dirty="0"/>
          </a:p>
          <a:p>
            <a:pPr algn="l" indent="0" marL="0">
              <a:lnSpc>
                <a:spcPts val="2210"/>
              </a:lnSpc>
              <a:buNone/>
            </a:pPr>
            <a:r>
              <a:rPr lang="en-US" sz="1300" b="1" spc="50" kern="0" dirty="0">
                <a:solidFill>
                  <a:srgbClr val="121519"/>
                </a:solidFill>
                <a:latin typeface="Zen Kaku Gothic New" pitchFamily="34" charset="0"/>
                <a:ea typeface="Zen Kaku Gothic New" pitchFamily="34" charset="-122"/>
                <a:cs typeface="Zen Kaku Gothic New" pitchFamily="34" charset="-120"/>
              </a:rPr>
              <a:t>この三つの機能は、資源メジャーも持っています。では、何が違うのか。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8372957" y="2505534"/>
            <a:ext cx="1426158" cy="23632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860"/>
              </a:lnSpc>
              <a:buNone/>
            </a:pPr>
            <a:r>
              <a:rPr lang="en-US" sz="1200" b="1" spc="30" kern="0" dirty="0">
                <a:solidFill>
                  <a:srgbClr val="7D838A"/>
                </a:solidFill>
                <a:latin typeface="Zen Kaku Gothic New" pitchFamily="34" charset="0"/>
                <a:ea typeface="Zen Kaku Gothic New" pitchFamily="34" charset="-122"/>
                <a:cs typeface="Zen Kaku Gothic New" pitchFamily="34" charset="-120"/>
              </a:rPr>
              <a:t>機能を「並べる」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8372957" y="2708823"/>
            <a:ext cx="1588194" cy="22361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760"/>
              </a:lnSpc>
              <a:buNone/>
            </a:pPr>
            <a:r>
              <a:rPr lang="en-US" sz="1100" dirty="0">
                <a:solidFill>
                  <a:srgbClr val="7D838A"/>
                </a:solidFill>
                <a:latin typeface="Zen Kaku Gothic New" pitchFamily="34" charset="0"/>
                <a:ea typeface="Zen Kaku Gothic New" pitchFamily="34" charset="-122"/>
                <a:cs typeface="Zen Kaku Gothic New" pitchFamily="34" charset="-120"/>
              </a:rPr>
              <a:t>それぞれが別々に動く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11752633" y="2505534"/>
            <a:ext cx="1941964" cy="23632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860"/>
              </a:lnSpc>
              <a:buNone/>
            </a:pPr>
            <a:r>
              <a:rPr lang="en-US" sz="1200" b="1" spc="30" kern="0" dirty="0">
                <a:solidFill>
                  <a:srgbClr val="A8622F"/>
                </a:solidFill>
                <a:latin typeface="Zen Kaku Gothic New" pitchFamily="34" charset="0"/>
                <a:ea typeface="Zen Kaku Gothic New" pitchFamily="34" charset="-122"/>
                <a:cs typeface="Zen Kaku Gothic New" pitchFamily="34" charset="-120"/>
              </a:rPr>
              <a:t>機能を「撚り合わせる」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11752633" y="2708823"/>
            <a:ext cx="1280719" cy="22361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760"/>
              </a:lnSpc>
              <a:buNone/>
            </a:pPr>
            <a:r>
              <a:rPr lang="en-US" sz="1100" dirty="0">
                <a:solidFill>
                  <a:srgbClr val="A8622F"/>
                </a:solidFill>
                <a:latin typeface="Zen Kaku Gothic New" pitchFamily="34" charset="0"/>
                <a:ea typeface="Zen Kaku Gothic New" pitchFamily="34" charset="-122"/>
                <a:cs typeface="Zen Kaku Gothic New" pitchFamily="34" charset="-120"/>
              </a:rPr>
              <a:t>金属資源グループ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11015711" y="1974442"/>
            <a:ext cx="259372" cy="19312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520"/>
              </a:lnSpc>
              <a:buNone/>
            </a:pPr>
            <a:r>
              <a:rPr lang="en-US" sz="1600" spc="-48" kern="0" dirty="0">
                <a:solidFill>
                  <a:srgbClr val="7D838A"/>
                </a:solidFill>
                <a:latin typeface="Manrope Light" pitchFamily="34" charset="0"/>
                <a:ea typeface="Manrope Light" pitchFamily="34" charset="-122"/>
                <a:cs typeface="Manrope Light" pitchFamily="34" charset="-120"/>
              </a:rPr>
              <a:t>vs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8068024" y="3090625"/>
            <a:ext cx="385594" cy="36210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3000" spc="-90" kern="0" dirty="0">
                <a:solidFill>
                  <a:srgbClr val="A8622F"/>
                </a:solidFill>
                <a:latin typeface="Manrope Light" pitchFamily="34" charset="0"/>
                <a:ea typeface="Manrope Light" pitchFamily="34" charset="-122"/>
                <a:cs typeface="Manrope Light" pitchFamily="34" charset="-120"/>
              </a:rPr>
              <a:t>A.</a:t>
            </a:r>
            <a:endParaRPr lang="en-US" sz="3000" dirty="0"/>
          </a:p>
        </p:txBody>
      </p:sp>
      <p:sp>
        <p:nvSpPr>
          <p:cNvPr id="14" name="Text 12"/>
          <p:cNvSpPr/>
          <p:nvPr/>
        </p:nvSpPr>
        <p:spPr>
          <a:xfrm>
            <a:off x="8576246" y="3169399"/>
            <a:ext cx="4767976" cy="56158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210"/>
              </a:lnSpc>
              <a:buNone/>
            </a:pPr>
            <a:r>
              <a:rPr lang="en-US" sz="1300" b="1" spc="50" kern="0" dirty="0">
                <a:solidFill>
                  <a:srgbClr val="121519"/>
                </a:solidFill>
                <a:latin typeface="Zen Kaku Gothic New" pitchFamily="34" charset="0"/>
                <a:ea typeface="Zen Kaku Gothic New" pitchFamily="34" charset="-122"/>
                <a:cs typeface="Zen Kaku Gothic New" pitchFamily="34" charset="-120"/>
              </a:rPr>
              <a:t>三つを撚り合わせ、一本の綱として動かしていること。</a:t>
            </a:r>
            <a:endParaRPr lang="en-US" sz="1300" dirty="0"/>
          </a:p>
          <a:p>
            <a:pPr algn="l" indent="0" marL="0">
              <a:lnSpc>
                <a:spcPts val="2210"/>
              </a:lnSpc>
              <a:buNone/>
            </a:pPr>
            <a:r>
              <a:rPr lang="en-US" sz="1300" b="1" spc="50" kern="0" dirty="0">
                <a:solidFill>
                  <a:srgbClr val="121519"/>
                </a:solidFill>
                <a:latin typeface="Zen Kaku Gothic New" pitchFamily="34" charset="0"/>
                <a:ea typeface="Zen Kaku Gothic New" pitchFamily="34" charset="-122"/>
                <a:cs typeface="Zen Kaku Gothic New" pitchFamily="34" charset="-120"/>
              </a:rPr>
              <a:t>そして、その芯に揺るがない信念があること。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508222" y="3913309"/>
            <a:ext cx="1808972" cy="19058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500"/>
              </a:lnSpc>
              <a:buNone/>
            </a:pPr>
            <a:r>
              <a:rPr lang="en-US" sz="1100" spc="120" kern="0" dirty="0">
                <a:solidFill>
                  <a:srgbClr val="A8622F"/>
                </a:solidFill>
                <a:latin typeface="Zen Kaku Gothic New Medium" pitchFamily="34" charset="0"/>
                <a:ea typeface="Zen Kaku Gothic New Medium" pitchFamily="34" charset="-122"/>
                <a:cs typeface="Zen Kaku Gothic New Medium" pitchFamily="34" charset="-120"/>
              </a:rPr>
              <a:t>INVESTMENT｜HOLD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508222" y="4116598"/>
            <a:ext cx="1672050" cy="25411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000"/>
              </a:lnSpc>
              <a:buNone/>
            </a:pPr>
            <a:r>
              <a:rPr lang="en-US" sz="1400" b="1" spc="50" kern="0" dirty="0">
                <a:solidFill>
                  <a:srgbClr val="121519"/>
                </a:solidFill>
                <a:latin typeface="Zen Kaku Gothic New" pitchFamily="34" charset="0"/>
                <a:ea typeface="Zen Kaku Gothic New" pitchFamily="34" charset="-122"/>
                <a:cs typeface="Zen Kaku Gothic New" pitchFamily="34" charset="-120"/>
              </a:rPr>
              <a:t>資源投資　持つ力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508222" y="4385956"/>
            <a:ext cx="2356879" cy="22361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760"/>
              </a:lnSpc>
              <a:buNone/>
            </a:pPr>
            <a:r>
              <a:rPr lang="en-US" sz="1100" dirty="0">
                <a:solidFill>
                  <a:srgbClr val="3D4249"/>
                </a:solidFill>
                <a:latin typeface="Zen Kaku Gothic New" pitchFamily="34" charset="0"/>
                <a:ea typeface="Zen Kaku Gothic New" pitchFamily="34" charset="-122"/>
                <a:cs typeface="Zen Kaku Gothic New" pitchFamily="34" charset="-120"/>
              </a:rPr>
              <a:t>世界屈指の資産に参画し、育てる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508222" y="5133042"/>
            <a:ext cx="1847407" cy="19058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500"/>
              </a:lnSpc>
              <a:buNone/>
            </a:pPr>
            <a:r>
              <a:rPr lang="en-US" sz="1100" spc="120" kern="0" dirty="0">
                <a:solidFill>
                  <a:srgbClr val="3D4249"/>
                </a:solidFill>
                <a:latin typeface="Zen Kaku Gothic New Medium" pitchFamily="34" charset="0"/>
                <a:ea typeface="Zen Kaku Gothic New Medium" pitchFamily="34" charset="-122"/>
                <a:cs typeface="Zen Kaku Gothic New Medium" pitchFamily="34" charset="-120"/>
              </a:rPr>
              <a:t>TRADING｜CONNECT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508222" y="5336331"/>
            <a:ext cx="2482664" cy="25411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000"/>
              </a:lnSpc>
              <a:buNone/>
            </a:pPr>
            <a:r>
              <a:rPr lang="en-US" sz="1400" b="1" spc="50" kern="0" dirty="0">
                <a:solidFill>
                  <a:srgbClr val="121519"/>
                </a:solidFill>
                <a:latin typeface="Zen Kaku Gothic New" pitchFamily="34" charset="0"/>
                <a:ea typeface="Zen Kaku Gothic New" pitchFamily="34" charset="-122"/>
                <a:cs typeface="Zen Kaku Gothic New" pitchFamily="34" charset="-120"/>
              </a:rPr>
              <a:t>トレーディング　つなぐ力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508222" y="5605688"/>
            <a:ext cx="2176064" cy="22361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760"/>
              </a:lnSpc>
              <a:buNone/>
            </a:pPr>
            <a:r>
              <a:rPr lang="en-US" sz="1100" dirty="0">
                <a:solidFill>
                  <a:srgbClr val="3D4249"/>
                </a:solidFill>
                <a:latin typeface="Zen Kaku Gothic New" pitchFamily="34" charset="0"/>
                <a:ea typeface="Zen Kaku Gothic New" pitchFamily="34" charset="-122"/>
                <a:cs typeface="Zen Kaku Gothic New" pitchFamily="34" charset="-120"/>
              </a:rPr>
              <a:t>15業界・50カ国の需要へ届ける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508222" y="6352775"/>
            <a:ext cx="2492273" cy="19058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500"/>
              </a:lnSpc>
              <a:buNone/>
            </a:pPr>
            <a:r>
              <a:rPr lang="en-US" sz="1100" spc="120" kern="0" dirty="0">
                <a:solidFill>
                  <a:srgbClr val="C8102E"/>
                </a:solidFill>
                <a:latin typeface="Zen Kaku Gothic New Medium" pitchFamily="34" charset="0"/>
                <a:ea typeface="Zen Kaku Gothic New Medium" pitchFamily="34" charset="-122"/>
                <a:cs typeface="Zen Kaku Gothic New Medium" pitchFamily="34" charset="-120"/>
              </a:rPr>
              <a:t>NEW TECHNOLOGY｜EVOLVE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508222" y="6556064"/>
            <a:ext cx="3090625" cy="25411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000"/>
              </a:lnSpc>
              <a:buNone/>
            </a:pPr>
            <a:r>
              <a:rPr lang="en-US" sz="1400" b="1" spc="50" kern="0" dirty="0">
                <a:solidFill>
                  <a:srgbClr val="121519"/>
                </a:solidFill>
                <a:latin typeface="Zen Kaku Gothic New" pitchFamily="34" charset="0"/>
                <a:ea typeface="Zen Kaku Gothic New" pitchFamily="34" charset="-122"/>
                <a:cs typeface="Zen Kaku Gothic New" pitchFamily="34" charset="-120"/>
              </a:rPr>
              <a:t>新技術・事業創出　進化させる力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508222" y="6825421"/>
            <a:ext cx="2356879" cy="22361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760"/>
              </a:lnSpc>
              <a:buNone/>
            </a:pPr>
            <a:r>
              <a:rPr lang="en-US" sz="1100" dirty="0">
                <a:solidFill>
                  <a:srgbClr val="3D4249"/>
                </a:solidFill>
                <a:latin typeface="Zen Kaku Gothic New" pitchFamily="34" charset="0"/>
                <a:ea typeface="Zen Kaku Gothic New" pitchFamily="34" charset="-122"/>
                <a:cs typeface="Zen Kaku Gothic New" pitchFamily="34" charset="-120"/>
              </a:rPr>
              <a:t>業界の課題を解く技術に投資する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8297319" y="4402473"/>
            <a:ext cx="161321" cy="21599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70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Manrope SemiBold" pitchFamily="34" charset="0"/>
                <a:ea typeface="Manrope SemiBold" pitchFamily="34" charset="-122"/>
                <a:cs typeface="Manrope SemiBold" pitchFamily="34" charset="-120"/>
              </a:rPr>
              <a:t>A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8538129" y="4370709"/>
            <a:ext cx="1749137" cy="24140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900"/>
              </a:lnSpc>
              <a:buNone/>
            </a:pPr>
            <a:r>
              <a:rPr lang="en-US" sz="1300" b="1" spc="50" kern="0" dirty="0">
                <a:solidFill>
                  <a:srgbClr val="121519"/>
                </a:solidFill>
                <a:latin typeface="Zen Kaku Gothic New" pitchFamily="34" charset="0"/>
                <a:ea typeface="Zen Kaku Gothic New" pitchFamily="34" charset="-122"/>
                <a:cs typeface="Zen Kaku Gothic New" pitchFamily="34" charset="-120"/>
              </a:rPr>
              <a:t>持つ力と、つなぐ力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8538129" y="4621644"/>
            <a:ext cx="2664354" cy="41928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650"/>
              </a:lnSpc>
              <a:buNone/>
            </a:pPr>
            <a:r>
              <a:rPr lang="en-US" sz="1100" dirty="0">
                <a:solidFill>
                  <a:srgbClr val="121519"/>
                </a:solidFill>
                <a:latin typeface="Zen Kaku Gothic New" pitchFamily="34" charset="0"/>
                <a:ea typeface="Zen Kaku Gothic New" pitchFamily="34" charset="-122"/>
                <a:cs typeface="Zen Kaku Gothic New" pitchFamily="34" charset="-120"/>
              </a:rPr>
              <a:t>投資で得た資源を市場へ。</a:t>
            </a:r>
            <a:endParaRPr lang="en-US" sz="1100" dirty="0"/>
          </a:p>
          <a:p>
            <a:pPr algn="l" indent="0" marL="0">
              <a:lnSpc>
                <a:spcPts val="1650"/>
              </a:lnSpc>
              <a:buNone/>
            </a:pPr>
            <a:r>
              <a:rPr lang="en-US" sz="1100" dirty="0">
                <a:solidFill>
                  <a:srgbClr val="121519"/>
                </a:solidFill>
                <a:latin typeface="Zen Kaku Gothic New" pitchFamily="34" charset="0"/>
                <a:ea typeface="Zen Kaku Gothic New" pitchFamily="34" charset="-122"/>
                <a:cs typeface="Zen Kaku Gothic New" pitchFamily="34" charset="-120"/>
              </a:rPr>
              <a:t>鉱山会社でも、純粋な商社でもない。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10332590" y="6968994"/>
            <a:ext cx="155861" cy="21599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70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Manrope SemiBold" pitchFamily="34" charset="0"/>
                <a:ea typeface="Manrope SemiBold" pitchFamily="34" charset="-122"/>
                <a:cs typeface="Manrope SemiBold" pitchFamily="34" charset="-120"/>
              </a:rPr>
              <a:t>B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10571017" y="6937230"/>
            <a:ext cx="1749137" cy="24140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900"/>
              </a:lnSpc>
              <a:buNone/>
            </a:pPr>
            <a:r>
              <a:rPr lang="en-US" sz="1300" b="1" spc="50" kern="0" dirty="0">
                <a:solidFill>
                  <a:srgbClr val="121519"/>
                </a:solidFill>
                <a:latin typeface="Zen Kaku Gothic New" pitchFamily="34" charset="0"/>
                <a:ea typeface="Zen Kaku Gothic New" pitchFamily="34" charset="-122"/>
                <a:cs typeface="Zen Kaku Gothic New" pitchFamily="34" charset="-120"/>
              </a:rPr>
              <a:t>互いを強め合う循環</a:t>
            </a:r>
            <a:endParaRPr lang="en-US" sz="1300" dirty="0"/>
          </a:p>
        </p:txBody>
      </p:sp>
      <p:sp>
        <p:nvSpPr>
          <p:cNvPr id="29" name="Text 27"/>
          <p:cNvSpPr/>
          <p:nvPr/>
        </p:nvSpPr>
        <p:spPr>
          <a:xfrm>
            <a:off x="10571017" y="7188165"/>
            <a:ext cx="2818091" cy="41928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650"/>
              </a:lnSpc>
              <a:buNone/>
            </a:pPr>
            <a:r>
              <a:rPr lang="en-US" sz="1100" dirty="0">
                <a:solidFill>
                  <a:srgbClr val="121519"/>
                </a:solidFill>
                <a:latin typeface="Zen Kaku Gothic New" pitchFamily="34" charset="0"/>
                <a:ea typeface="Zen Kaku Gothic New" pitchFamily="34" charset="-122"/>
                <a:cs typeface="Zen Kaku Gothic New" pitchFamily="34" charset="-120"/>
              </a:rPr>
              <a:t>市場の声を次の投資判断へ。</a:t>
            </a:r>
            <a:endParaRPr lang="en-US" sz="1100" dirty="0"/>
          </a:p>
          <a:p>
            <a:pPr algn="l" indent="0" marL="0">
              <a:lnSpc>
                <a:spcPts val="1650"/>
              </a:lnSpc>
              <a:buNone/>
            </a:pPr>
            <a:r>
              <a:rPr lang="en-US" sz="1100" dirty="0">
                <a:solidFill>
                  <a:srgbClr val="121519"/>
                </a:solidFill>
                <a:latin typeface="Zen Kaku Gothic New" pitchFamily="34" charset="0"/>
                <a:ea typeface="Zen Kaku Gothic New" pitchFamily="34" charset="-122"/>
                <a:cs typeface="Zen Kaku Gothic New" pitchFamily="34" charset="-120"/>
              </a:rPr>
              <a:t>顧客の課題が、技術の出番を見つける。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12103426" y="4402473"/>
            <a:ext cx="173550" cy="21599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70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Manrope SemiBold" pitchFamily="34" charset="0"/>
                <a:ea typeface="Manrope SemiBold" pitchFamily="34" charset="-122"/>
                <a:cs typeface="Manrope SemiBold" pitchFamily="34" charset="-120"/>
              </a:rPr>
              <a:t>C</a:t>
            </a:r>
            <a:endParaRPr lang="en-US" sz="1200" dirty="0"/>
          </a:p>
        </p:txBody>
      </p:sp>
      <p:sp>
        <p:nvSpPr>
          <p:cNvPr id="31" name="Text 29"/>
          <p:cNvSpPr/>
          <p:nvPr/>
        </p:nvSpPr>
        <p:spPr>
          <a:xfrm>
            <a:off x="12349794" y="4370709"/>
            <a:ext cx="2503847" cy="24140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900"/>
              </a:lnSpc>
              <a:buNone/>
            </a:pPr>
            <a:r>
              <a:rPr lang="en-US" sz="1300" b="1" spc="50" kern="0" dirty="0">
                <a:solidFill>
                  <a:srgbClr val="121519"/>
                </a:solidFill>
                <a:latin typeface="Zen Kaku Gothic New" pitchFamily="34" charset="0"/>
                <a:ea typeface="Zen Kaku Gothic New" pitchFamily="34" charset="-122"/>
                <a:cs typeface="Zen Kaku Gothic New" pitchFamily="34" charset="-120"/>
              </a:rPr>
              <a:t>新技術が、流れを進化させる</a:t>
            </a:r>
            <a:endParaRPr lang="en-US" sz="1300" dirty="0"/>
          </a:p>
        </p:txBody>
      </p:sp>
      <p:sp>
        <p:nvSpPr>
          <p:cNvPr id="32" name="Text 30"/>
          <p:cNvSpPr/>
          <p:nvPr/>
        </p:nvSpPr>
        <p:spPr>
          <a:xfrm>
            <a:off x="12349794" y="4621644"/>
            <a:ext cx="2510617" cy="41928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650"/>
              </a:lnSpc>
              <a:buNone/>
            </a:pPr>
            <a:r>
              <a:rPr lang="en-US" sz="1100" dirty="0">
                <a:solidFill>
                  <a:srgbClr val="121519"/>
                </a:solidFill>
                <a:latin typeface="Zen Kaku Gothic New" pitchFamily="34" charset="0"/>
                <a:ea typeface="Zen Kaku Gothic New" pitchFamily="34" charset="-122"/>
                <a:cs typeface="Zen Kaku Gothic New" pitchFamily="34" charset="-120"/>
              </a:rPr>
              <a:t>技術が保有資産の価値を引き上げ、</a:t>
            </a:r>
            <a:endParaRPr lang="en-US" sz="1100" dirty="0"/>
          </a:p>
          <a:p>
            <a:pPr algn="l" indent="0" marL="0">
              <a:lnSpc>
                <a:spcPts val="1650"/>
              </a:lnSpc>
              <a:buNone/>
            </a:pPr>
            <a:r>
              <a:rPr lang="en-US" sz="1100" dirty="0">
                <a:solidFill>
                  <a:srgbClr val="121519"/>
                </a:solidFill>
                <a:latin typeface="Zen Kaku Gothic New" pitchFamily="34" charset="0"/>
                <a:ea typeface="Zen Kaku Gothic New" pitchFamily="34" charset="-122"/>
                <a:cs typeface="Zen Kaku Gothic New" pitchFamily="34" charset="-120"/>
              </a:rPr>
              <a:t>新しい商流を生む。</a:t>
            </a:r>
            <a:endParaRPr lang="en-US" sz="1100" dirty="0"/>
          </a:p>
        </p:txBody>
      </p:sp>
      <p:sp>
        <p:nvSpPr>
          <p:cNvPr id="33" name="Text 31"/>
          <p:cNvSpPr/>
          <p:nvPr/>
        </p:nvSpPr>
        <p:spPr>
          <a:xfrm>
            <a:off x="13942653" y="6352775"/>
            <a:ext cx="1049895" cy="19058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r" indent="0" marL="0">
              <a:lnSpc>
                <a:spcPts val="1500"/>
              </a:lnSpc>
              <a:buNone/>
            </a:pPr>
            <a:r>
              <a:rPr lang="en-US" sz="1100" spc="30" kern="0" dirty="0">
                <a:solidFill>
                  <a:srgbClr val="A8622F"/>
                </a:solidFill>
                <a:latin typeface="Zen Kaku Gothic New Medium" pitchFamily="34" charset="0"/>
                <a:ea typeface="Zen Kaku Gothic New Medium" pitchFamily="34" charset="-122"/>
                <a:cs typeface="Zen Kaku Gothic New Medium" pitchFamily="34" charset="-120"/>
              </a:rPr>
              <a:t>P.08へ続く →</a:t>
            </a:r>
            <a:endParaRPr lang="en-US" sz="1100" dirty="0"/>
          </a:p>
        </p:txBody>
      </p:sp>
      <p:sp>
        <p:nvSpPr>
          <p:cNvPr id="34" name="Text 32"/>
          <p:cNvSpPr/>
          <p:nvPr/>
        </p:nvSpPr>
        <p:spPr>
          <a:xfrm>
            <a:off x="2083710" y="10139029"/>
            <a:ext cx="682586" cy="19058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500"/>
              </a:lnSpc>
              <a:buNone/>
            </a:pPr>
            <a:r>
              <a:rPr lang="en-US" sz="1100" spc="30" kern="0" dirty="0">
                <a:solidFill>
                  <a:srgbClr val="9C7442"/>
                </a:solidFill>
                <a:latin typeface="Zen Kaku Gothic New Medium" pitchFamily="34" charset="0"/>
                <a:ea typeface="Zen Kaku Gothic New Medium" pitchFamily="34" charset="-122"/>
                <a:cs typeface="Zen Kaku Gothic New Medium" pitchFamily="34" charset="-120"/>
              </a:rPr>
              <a:t>芯＝信念</a:t>
            </a:r>
            <a:endParaRPr lang="en-US" sz="1100" dirty="0"/>
          </a:p>
        </p:txBody>
      </p:sp>
      <p:sp>
        <p:nvSpPr>
          <p:cNvPr id="35" name="Text 33"/>
          <p:cNvSpPr/>
          <p:nvPr/>
        </p:nvSpPr>
        <p:spPr>
          <a:xfrm>
            <a:off x="2973099" y="7826619"/>
            <a:ext cx="922145" cy="19058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500"/>
              </a:lnSpc>
              <a:buNone/>
            </a:pPr>
            <a:r>
              <a:rPr lang="en-US" sz="1100" spc="120" kern="0" dirty="0">
                <a:solidFill>
                  <a:srgbClr val="9C7442"/>
                </a:solidFill>
                <a:latin typeface="Manrope SemiBold" pitchFamily="34" charset="0"/>
                <a:ea typeface="Manrope SemiBold" pitchFamily="34" charset="-122"/>
                <a:cs typeface="Manrope SemiBold" pitchFamily="34" charset="-120"/>
              </a:rPr>
              <a:t>THE CORE</a:t>
            </a:r>
            <a:endParaRPr lang="en-US" sz="1100" dirty="0"/>
          </a:p>
        </p:txBody>
      </p:sp>
      <p:sp>
        <p:nvSpPr>
          <p:cNvPr id="36" name="Text 34"/>
          <p:cNvSpPr/>
          <p:nvPr/>
        </p:nvSpPr>
        <p:spPr>
          <a:xfrm>
            <a:off x="2973099" y="8029907"/>
            <a:ext cx="3293278" cy="25411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000"/>
              </a:lnSpc>
              <a:buNone/>
            </a:pPr>
            <a:r>
              <a:rPr lang="en-US" sz="1400" b="1" spc="50" kern="0" dirty="0">
                <a:solidFill>
                  <a:srgbClr val="121519"/>
                </a:solidFill>
                <a:latin typeface="Zen Kaku Gothic New" pitchFamily="34" charset="0"/>
                <a:ea typeface="Zen Kaku Gothic New" pitchFamily="34" charset="-122"/>
                <a:cs typeface="Zen Kaku Gothic New" pitchFamily="34" charset="-120"/>
              </a:rPr>
              <a:t>芯にあるもの　三綱領に根ざす信念</a:t>
            </a:r>
            <a:endParaRPr lang="en-US" sz="1400" dirty="0"/>
          </a:p>
        </p:txBody>
      </p:sp>
      <p:sp>
        <p:nvSpPr>
          <p:cNvPr id="37" name="Text 35"/>
          <p:cNvSpPr/>
          <p:nvPr/>
        </p:nvSpPr>
        <p:spPr>
          <a:xfrm>
            <a:off x="2973099" y="8530824"/>
            <a:ext cx="2095701" cy="25601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015"/>
              </a:lnSpc>
              <a:buNone/>
            </a:pPr>
            <a:r>
              <a:rPr lang="en-US" sz="1300" b="1" spc="30" kern="0" dirty="0">
                <a:solidFill>
                  <a:srgbClr val="121519"/>
                </a:solidFill>
                <a:latin typeface="Zen Kaku Gothic New" pitchFamily="34" charset="0"/>
                <a:ea typeface="Zen Kaku Gothic New" pitchFamily="34" charset="-122"/>
                <a:cs typeface="Zen Kaku Gothic New" pitchFamily="34" charset="-120"/>
              </a:rPr>
              <a:t>業界のギャップを埋める</a:t>
            </a:r>
            <a:endParaRPr lang="en-US" sz="1300" dirty="0"/>
          </a:p>
        </p:txBody>
      </p:sp>
      <p:sp>
        <p:nvSpPr>
          <p:cNvPr id="38" name="Text 36"/>
          <p:cNvSpPr/>
          <p:nvPr/>
        </p:nvSpPr>
        <p:spPr>
          <a:xfrm>
            <a:off x="2973099" y="8776358"/>
            <a:ext cx="2203142" cy="20964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650"/>
              </a:lnSpc>
              <a:buNone/>
            </a:pPr>
            <a:r>
              <a:rPr lang="en-US" sz="1100" dirty="0">
                <a:solidFill>
                  <a:srgbClr val="7D838A"/>
                </a:solidFill>
                <a:latin typeface="Zen Kaku Gothic New" pitchFamily="34" charset="0"/>
                <a:ea typeface="Zen Kaku Gothic New" pitchFamily="34" charset="-122"/>
                <a:cs typeface="Zen Kaku Gothic New" pitchFamily="34" charset="-120"/>
              </a:rPr>
              <a:t>フェアな立場で、隙間を埋める</a:t>
            </a:r>
            <a:endParaRPr lang="en-US" sz="1100" dirty="0"/>
          </a:p>
        </p:txBody>
      </p:sp>
      <p:sp>
        <p:nvSpPr>
          <p:cNvPr id="39" name="Text 37"/>
          <p:cNvSpPr/>
          <p:nvPr/>
        </p:nvSpPr>
        <p:spPr>
          <a:xfrm>
            <a:off x="5336331" y="8530824"/>
            <a:ext cx="1232677" cy="25601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015"/>
              </a:lnSpc>
              <a:buNone/>
            </a:pPr>
            <a:r>
              <a:rPr lang="en-US" sz="1300" b="1" spc="30" kern="0" dirty="0">
                <a:solidFill>
                  <a:srgbClr val="121519"/>
                </a:solidFill>
                <a:latin typeface="Zen Kaku Gothic New" pitchFamily="34" charset="0"/>
                <a:ea typeface="Zen Kaku Gothic New" pitchFamily="34" charset="-122"/>
                <a:cs typeface="Zen Kaku Gothic New" pitchFamily="34" charset="-120"/>
              </a:rPr>
              <a:t>1を10に育てる</a:t>
            </a:r>
            <a:endParaRPr lang="en-US" sz="1300" dirty="0"/>
          </a:p>
        </p:txBody>
      </p:sp>
      <p:sp>
        <p:nvSpPr>
          <p:cNvPr id="40" name="Text 38"/>
          <p:cNvSpPr/>
          <p:nvPr/>
        </p:nvSpPr>
        <p:spPr>
          <a:xfrm>
            <a:off x="5336331" y="8776358"/>
            <a:ext cx="2356879" cy="20964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650"/>
              </a:lnSpc>
              <a:buNone/>
            </a:pPr>
            <a:r>
              <a:rPr lang="en-US" sz="1100" dirty="0">
                <a:solidFill>
                  <a:srgbClr val="7D838A"/>
                </a:solidFill>
                <a:latin typeface="Zen Kaku Gothic New" pitchFamily="34" charset="0"/>
                <a:ea typeface="Zen Kaku Gothic New" pitchFamily="34" charset="-122"/>
                <a:cs typeface="Zen Kaku Gothic New" pitchFamily="34" charset="-120"/>
              </a:rPr>
              <a:t>見出された資源を事業に仕上げる</a:t>
            </a:r>
            <a:endParaRPr lang="en-US" sz="1100" dirty="0"/>
          </a:p>
        </p:txBody>
      </p:sp>
      <p:sp>
        <p:nvSpPr>
          <p:cNvPr id="41" name="Text 39"/>
          <p:cNvSpPr/>
          <p:nvPr/>
        </p:nvSpPr>
        <p:spPr>
          <a:xfrm>
            <a:off x="2973099" y="9267746"/>
            <a:ext cx="1166290" cy="25601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015"/>
              </a:lnSpc>
              <a:buNone/>
            </a:pPr>
            <a:r>
              <a:rPr lang="en-US" sz="1300" b="1" spc="30" kern="0" dirty="0">
                <a:solidFill>
                  <a:srgbClr val="121519"/>
                </a:solidFill>
                <a:latin typeface="Zen Kaku Gothic New" pitchFamily="34" charset="0"/>
                <a:ea typeface="Zen Kaku Gothic New" pitchFamily="34" charset="-122"/>
                <a:cs typeface="Zen Kaku Gothic New" pitchFamily="34" charset="-120"/>
              </a:rPr>
              <a:t>長い時間軸で</a:t>
            </a:r>
            <a:endParaRPr lang="en-US" sz="1300" dirty="0"/>
          </a:p>
        </p:txBody>
      </p:sp>
      <p:sp>
        <p:nvSpPr>
          <p:cNvPr id="42" name="Text 40"/>
          <p:cNvSpPr/>
          <p:nvPr/>
        </p:nvSpPr>
        <p:spPr>
          <a:xfrm>
            <a:off x="2973099" y="9513280"/>
            <a:ext cx="2049405" cy="20964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650"/>
              </a:lnSpc>
              <a:buNone/>
            </a:pPr>
            <a:r>
              <a:rPr lang="en-US" sz="1100" dirty="0">
                <a:solidFill>
                  <a:srgbClr val="7D838A"/>
                </a:solidFill>
                <a:latin typeface="Zen Kaku Gothic New" pitchFamily="34" charset="0"/>
                <a:ea typeface="Zen Kaku Gothic New" pitchFamily="34" charset="-122"/>
                <a:cs typeface="Zen Kaku Gothic New" pitchFamily="34" charset="-120"/>
              </a:rPr>
              <a:t>短期ではなく、関わり続ける</a:t>
            </a:r>
            <a:endParaRPr lang="en-US" sz="1100" dirty="0"/>
          </a:p>
        </p:txBody>
      </p:sp>
      <p:sp>
        <p:nvSpPr>
          <p:cNvPr id="43" name="Text 41"/>
          <p:cNvSpPr/>
          <p:nvPr/>
        </p:nvSpPr>
        <p:spPr>
          <a:xfrm>
            <a:off x="5336331" y="9267746"/>
            <a:ext cx="1166290" cy="25601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015"/>
              </a:lnSpc>
              <a:buNone/>
            </a:pPr>
            <a:r>
              <a:rPr lang="en-US" sz="1300" b="1" spc="30" kern="0" dirty="0">
                <a:solidFill>
                  <a:srgbClr val="121519"/>
                </a:solidFill>
                <a:latin typeface="Zen Kaku Gothic New" pitchFamily="34" charset="0"/>
                <a:ea typeface="Zen Kaku Gothic New" pitchFamily="34" charset="-122"/>
                <a:cs typeface="Zen Kaku Gothic New" pitchFamily="34" charset="-120"/>
              </a:rPr>
              <a:t>三菱の安心感</a:t>
            </a:r>
            <a:endParaRPr lang="en-US" sz="1300" dirty="0"/>
          </a:p>
        </p:txBody>
      </p:sp>
      <p:sp>
        <p:nvSpPr>
          <p:cNvPr id="44" name="Text 42"/>
          <p:cNvSpPr/>
          <p:nvPr/>
        </p:nvSpPr>
        <p:spPr>
          <a:xfrm>
            <a:off x="5336331" y="9513280"/>
            <a:ext cx="2049405" cy="20964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650"/>
              </a:lnSpc>
              <a:buNone/>
            </a:pPr>
            <a:r>
              <a:rPr lang="en-US" sz="1100" dirty="0">
                <a:solidFill>
                  <a:srgbClr val="7D838A"/>
                </a:solidFill>
                <a:latin typeface="Zen Kaku Gothic New" pitchFamily="34" charset="0"/>
                <a:ea typeface="Zen Kaku Gothic New" pitchFamily="34" charset="-122"/>
                <a:cs typeface="Zen Kaku Gothic New" pitchFamily="34" charset="-120"/>
              </a:rPr>
              <a:t>信頼される相手であり続ける</a:t>
            </a:r>
            <a:endParaRPr lang="en-US" sz="1100" dirty="0"/>
          </a:p>
        </p:txBody>
      </p:sp>
      <p:sp>
        <p:nvSpPr>
          <p:cNvPr id="45" name="Text 43"/>
          <p:cNvSpPr/>
          <p:nvPr/>
        </p:nvSpPr>
        <p:spPr>
          <a:xfrm>
            <a:off x="8129566" y="8303077"/>
            <a:ext cx="166780" cy="21599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70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Manrope SemiBold" pitchFamily="34" charset="0"/>
                <a:ea typeface="Manrope SemiBold" pitchFamily="34" charset="-122"/>
                <a:cs typeface="Manrope SemiBold" pitchFamily="34" charset="-120"/>
              </a:rPr>
              <a:t>D</a:t>
            </a:r>
            <a:endParaRPr lang="en-US" sz="1200" dirty="0"/>
          </a:p>
        </p:txBody>
      </p:sp>
      <p:sp>
        <p:nvSpPr>
          <p:cNvPr id="46" name="Text 44"/>
          <p:cNvSpPr/>
          <p:nvPr/>
        </p:nvSpPr>
        <p:spPr>
          <a:xfrm>
            <a:off x="8398368" y="8284018"/>
            <a:ext cx="2887971" cy="25411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000"/>
              </a:lnSpc>
              <a:buNone/>
            </a:pPr>
            <a:r>
              <a:rPr lang="en-US" sz="1400" b="1" spc="50" kern="0" dirty="0">
                <a:solidFill>
                  <a:srgbClr val="121519"/>
                </a:solidFill>
                <a:latin typeface="Zen Kaku Gothic New" pitchFamily="34" charset="0"/>
                <a:ea typeface="Zen Kaku Gothic New" pitchFamily="34" charset="-122"/>
                <a:cs typeface="Zen Kaku Gothic New" pitchFamily="34" charset="-120"/>
              </a:rPr>
              <a:t>撚りは、時間とともに強くなる</a:t>
            </a:r>
            <a:endParaRPr lang="en-US" sz="1400" dirty="0"/>
          </a:p>
        </p:txBody>
      </p:sp>
      <p:sp>
        <p:nvSpPr>
          <p:cNvPr id="47" name="Text 45"/>
          <p:cNvSpPr/>
          <p:nvPr/>
        </p:nvSpPr>
        <p:spPr>
          <a:xfrm>
            <a:off x="8398368" y="8527965"/>
            <a:ext cx="2356879" cy="44723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760"/>
              </a:lnSpc>
              <a:buNone/>
            </a:pPr>
            <a:r>
              <a:rPr lang="en-US" sz="1100" dirty="0">
                <a:solidFill>
                  <a:srgbClr val="121519"/>
                </a:solidFill>
                <a:latin typeface="Zen Kaku Gothic New" pitchFamily="34" charset="0"/>
                <a:ea typeface="Zen Kaku Gothic New" pitchFamily="34" charset="-122"/>
                <a:cs typeface="Zen Kaku Gothic New" pitchFamily="34" charset="-120"/>
              </a:rPr>
              <a:t>一本の糸から始まり、</a:t>
            </a:r>
            <a:endParaRPr lang="en-US" sz="1100" dirty="0"/>
          </a:p>
          <a:p>
            <a:pPr algn="l" indent="0" marL="0">
              <a:lnSpc>
                <a:spcPts val="1760"/>
              </a:lnSpc>
              <a:buNone/>
            </a:pPr>
            <a:r>
              <a:rPr lang="en-US" sz="1100" dirty="0">
                <a:solidFill>
                  <a:srgbClr val="121519"/>
                </a:solidFill>
                <a:latin typeface="Zen Kaku Gothic New" pitchFamily="34" charset="0"/>
                <a:ea typeface="Zen Kaku Gothic New" pitchFamily="34" charset="-122"/>
                <a:cs typeface="Zen Kaku Gothic New" pitchFamily="34" charset="-120"/>
              </a:rPr>
              <a:t>力を一つずつ撚り合わせてきた。</a:t>
            </a:r>
            <a:endParaRPr lang="en-US" sz="1100" dirty="0"/>
          </a:p>
        </p:txBody>
      </p:sp>
      <p:sp>
        <p:nvSpPr>
          <p:cNvPr id="48" name="Text 46"/>
          <p:cNvSpPr/>
          <p:nvPr/>
        </p:nvSpPr>
        <p:spPr>
          <a:xfrm>
            <a:off x="8169668" y="9757862"/>
            <a:ext cx="366813" cy="19058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500"/>
              </a:lnSpc>
              <a:buNone/>
            </a:pPr>
            <a:r>
              <a:rPr lang="en-US" sz="1100" spc="30" kern="0" dirty="0">
                <a:solidFill>
                  <a:srgbClr val="3D4249"/>
                </a:solidFill>
                <a:latin typeface="Zen Kaku Gothic New Medium" pitchFamily="34" charset="0"/>
                <a:ea typeface="Zen Kaku Gothic New Medium" pitchFamily="34" charset="-122"/>
                <a:cs typeface="Zen Kaku Gothic New Medium" pitchFamily="34" charset="-120"/>
              </a:rPr>
              <a:t>源流</a:t>
            </a:r>
            <a:endParaRPr lang="en-US" sz="1100" dirty="0"/>
          </a:p>
        </p:txBody>
      </p:sp>
      <p:sp>
        <p:nvSpPr>
          <p:cNvPr id="49" name="Text 47"/>
          <p:cNvSpPr/>
          <p:nvPr/>
        </p:nvSpPr>
        <p:spPr>
          <a:xfrm>
            <a:off x="8169668" y="9950986"/>
            <a:ext cx="1126982" cy="22361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760"/>
              </a:lnSpc>
              <a:buNone/>
            </a:pPr>
            <a:r>
              <a:rPr lang="en-US" sz="1100" dirty="0">
                <a:solidFill>
                  <a:srgbClr val="121519"/>
                </a:solidFill>
                <a:latin typeface="Zen Kaku Gothic New" pitchFamily="34" charset="0"/>
                <a:ea typeface="Zen Kaku Gothic New" pitchFamily="34" charset="-122"/>
                <a:cs typeface="Zen Kaku Gothic New" pitchFamily="34" charset="-120"/>
              </a:rPr>
              <a:t>石炭の販売から</a:t>
            </a:r>
            <a:endParaRPr lang="en-US" sz="1100" dirty="0"/>
          </a:p>
        </p:txBody>
      </p:sp>
      <p:sp>
        <p:nvSpPr>
          <p:cNvPr id="50" name="Text 48"/>
          <p:cNvSpPr/>
          <p:nvPr/>
        </p:nvSpPr>
        <p:spPr>
          <a:xfrm>
            <a:off x="10202556" y="9757862"/>
            <a:ext cx="893101" cy="19058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500"/>
              </a:lnSpc>
              <a:buNone/>
            </a:pPr>
            <a:r>
              <a:rPr lang="en-US" sz="1100" spc="30" kern="0" dirty="0">
                <a:solidFill>
                  <a:srgbClr val="A8622F"/>
                </a:solidFill>
                <a:latin typeface="Zen Kaku Gothic New Medium" pitchFamily="34" charset="0"/>
                <a:ea typeface="Zen Kaku Gothic New Medium" pitchFamily="34" charset="-122"/>
                <a:cs typeface="Zen Kaku Gothic New Medium" pitchFamily="34" charset="-120"/>
              </a:rPr>
              <a:t>1980年代〜</a:t>
            </a:r>
            <a:endParaRPr lang="en-US" sz="1100" dirty="0"/>
          </a:p>
        </p:txBody>
      </p:sp>
      <p:sp>
        <p:nvSpPr>
          <p:cNvPr id="51" name="Text 49"/>
          <p:cNvSpPr/>
          <p:nvPr/>
        </p:nvSpPr>
        <p:spPr>
          <a:xfrm>
            <a:off x="10202556" y="9950986"/>
            <a:ext cx="1280719" cy="22361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760"/>
              </a:lnSpc>
              <a:buNone/>
            </a:pPr>
            <a:r>
              <a:rPr lang="en-US" sz="1100" dirty="0">
                <a:solidFill>
                  <a:srgbClr val="121519"/>
                </a:solidFill>
                <a:latin typeface="Zen Kaku Gothic New" pitchFamily="34" charset="0"/>
                <a:ea typeface="Zen Kaku Gothic New" pitchFamily="34" charset="-122"/>
                <a:cs typeface="Zen Kaku Gothic New" pitchFamily="34" charset="-120"/>
              </a:rPr>
              <a:t>世界の鉱山へ参画</a:t>
            </a:r>
            <a:endParaRPr lang="en-US" sz="1100" dirty="0"/>
          </a:p>
        </p:txBody>
      </p:sp>
      <p:sp>
        <p:nvSpPr>
          <p:cNvPr id="52" name="Text 50"/>
          <p:cNvSpPr/>
          <p:nvPr/>
        </p:nvSpPr>
        <p:spPr>
          <a:xfrm>
            <a:off x="12362500" y="9757862"/>
            <a:ext cx="919306" cy="19058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500"/>
              </a:lnSpc>
              <a:buNone/>
            </a:pPr>
            <a:r>
              <a:rPr lang="en-US" sz="1100" spc="30" kern="0" dirty="0">
                <a:solidFill>
                  <a:srgbClr val="C8102E"/>
                </a:solidFill>
                <a:latin typeface="Zen Kaku Gothic New Medium" pitchFamily="34" charset="0"/>
                <a:ea typeface="Zen Kaku Gothic New Medium" pitchFamily="34" charset="-122"/>
                <a:cs typeface="Zen Kaku Gothic New Medium" pitchFamily="34" charset="-120"/>
              </a:rPr>
              <a:t>2020年代〜</a:t>
            </a:r>
            <a:endParaRPr lang="en-US" sz="1100" dirty="0"/>
          </a:p>
        </p:txBody>
      </p:sp>
      <p:sp>
        <p:nvSpPr>
          <p:cNvPr id="53" name="Text 51"/>
          <p:cNvSpPr/>
          <p:nvPr/>
        </p:nvSpPr>
        <p:spPr>
          <a:xfrm>
            <a:off x="12362500" y="9950986"/>
            <a:ext cx="973245" cy="22361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760"/>
              </a:lnSpc>
              <a:buNone/>
            </a:pPr>
            <a:r>
              <a:rPr lang="en-US" sz="1100" dirty="0">
                <a:solidFill>
                  <a:srgbClr val="121519"/>
                </a:solidFill>
                <a:latin typeface="Zen Kaku Gothic New" pitchFamily="34" charset="0"/>
                <a:ea typeface="Zen Kaku Gothic New" pitchFamily="34" charset="-122"/>
                <a:cs typeface="Zen Kaku Gothic New" pitchFamily="34" charset="-120"/>
              </a:rPr>
              <a:t>新技術へ投資</a:t>
            </a:r>
            <a:endParaRPr lang="en-US" sz="1100" dirty="0"/>
          </a:p>
        </p:txBody>
      </p:sp>
      <p:sp>
        <p:nvSpPr>
          <p:cNvPr id="54" name="Text 52"/>
          <p:cNvSpPr/>
          <p:nvPr/>
        </p:nvSpPr>
        <p:spPr>
          <a:xfrm>
            <a:off x="12521518" y="8303077"/>
            <a:ext cx="148218" cy="21599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70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Manrope SemiBold" pitchFamily="34" charset="0"/>
                <a:ea typeface="Manrope SemiBold" pitchFamily="34" charset="-122"/>
                <a:cs typeface="Manrope SemiBold" pitchFamily="34" charset="-120"/>
              </a:rPr>
              <a:t>E</a:t>
            </a:r>
            <a:endParaRPr lang="en-US" sz="1200" dirty="0"/>
          </a:p>
        </p:txBody>
      </p:sp>
      <p:sp>
        <p:nvSpPr>
          <p:cNvPr id="55" name="Text 53"/>
          <p:cNvSpPr/>
          <p:nvPr/>
        </p:nvSpPr>
        <p:spPr>
          <a:xfrm>
            <a:off x="12756372" y="8284018"/>
            <a:ext cx="2280011" cy="25411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000"/>
              </a:lnSpc>
              <a:buNone/>
            </a:pPr>
            <a:r>
              <a:rPr lang="en-US" sz="1400" b="1" spc="50" kern="0" dirty="0">
                <a:solidFill>
                  <a:srgbClr val="121519"/>
                </a:solidFill>
                <a:latin typeface="Zen Kaku Gothic New" pitchFamily="34" charset="0"/>
                <a:ea typeface="Zen Kaku Gothic New" pitchFamily="34" charset="-122"/>
                <a:cs typeface="Zen Kaku Gothic New" pitchFamily="34" charset="-120"/>
              </a:rPr>
              <a:t>その結果としての、いま</a:t>
            </a:r>
            <a:endParaRPr lang="en-US" sz="1400" dirty="0"/>
          </a:p>
        </p:txBody>
      </p:sp>
      <p:sp>
        <p:nvSpPr>
          <p:cNvPr id="56" name="Text 54"/>
          <p:cNvSpPr/>
          <p:nvPr/>
        </p:nvSpPr>
        <p:spPr>
          <a:xfrm>
            <a:off x="12756372" y="8534953"/>
            <a:ext cx="1741931" cy="41928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650"/>
              </a:lnSpc>
              <a:buNone/>
            </a:pPr>
            <a:r>
              <a:rPr lang="en-US" sz="1100" dirty="0">
                <a:solidFill>
                  <a:srgbClr val="121519"/>
                </a:solidFill>
                <a:latin typeface="Zen Kaku Gothic New" pitchFamily="34" charset="0"/>
                <a:ea typeface="Zen Kaku Gothic New" pitchFamily="34" charset="-122"/>
                <a:cs typeface="Zen Kaku Gothic New" pitchFamily="34" charset="-120"/>
              </a:rPr>
              <a:t>撚り合わせた綱が支える</a:t>
            </a:r>
            <a:endParaRPr lang="en-US" sz="1100" dirty="0"/>
          </a:p>
          <a:p>
            <a:pPr algn="l" indent="0" marL="0">
              <a:lnSpc>
                <a:spcPts val="1650"/>
              </a:lnSpc>
              <a:buNone/>
            </a:pPr>
            <a:r>
              <a:rPr lang="en-US" sz="1100" dirty="0">
                <a:solidFill>
                  <a:srgbClr val="121519"/>
                </a:solidFill>
                <a:latin typeface="Zen Kaku Gothic New" pitchFamily="34" charset="0"/>
                <a:ea typeface="Zen Kaku Gothic New" pitchFamily="34" charset="-122"/>
                <a:cs typeface="Zen Kaku Gothic New" pitchFamily="34" charset="-120"/>
              </a:rPr>
              <a:t>いまの事業へ　→ P.08</a:t>
            </a:r>
            <a:endParaRPr lang="en-US" sz="1100" dirty="0"/>
          </a:p>
        </p:txBody>
      </p:sp>
      <p:sp>
        <p:nvSpPr>
          <p:cNvPr id="57" name="Text 55"/>
          <p:cNvSpPr/>
          <p:nvPr/>
        </p:nvSpPr>
        <p:spPr>
          <a:xfrm>
            <a:off x="508222" y="10316906"/>
            <a:ext cx="289945" cy="19058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500"/>
              </a:lnSpc>
              <a:buNone/>
            </a:pPr>
            <a:r>
              <a:rPr lang="en-US" sz="1100" spc="160" kern="0" dirty="0">
                <a:solidFill>
                  <a:srgbClr val="7D838A"/>
                </a:solidFill>
                <a:latin typeface="Manrope SemiBold" pitchFamily="34" charset="0"/>
                <a:ea typeface="Manrope SemiBold" pitchFamily="34" charset="-122"/>
                <a:cs typeface="Manrope SemiBold" pitchFamily="34" charset="-120"/>
              </a:rPr>
              <a:t>06</a:t>
            </a:r>
            <a:endParaRPr lang="en-US" sz="1100" dirty="0"/>
          </a:p>
        </p:txBody>
      </p:sp>
      <p:sp>
        <p:nvSpPr>
          <p:cNvPr id="58" name="Text 56"/>
          <p:cNvSpPr/>
          <p:nvPr/>
        </p:nvSpPr>
        <p:spPr>
          <a:xfrm>
            <a:off x="14458915" y="10316906"/>
            <a:ext cx="274658" cy="19058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500"/>
              </a:lnSpc>
              <a:buNone/>
            </a:pPr>
            <a:r>
              <a:rPr lang="en-US" sz="1100" spc="160" kern="0" dirty="0">
                <a:solidFill>
                  <a:srgbClr val="7D838A"/>
                </a:solidFill>
                <a:latin typeface="Manrope SemiBold" pitchFamily="34" charset="0"/>
                <a:ea typeface="Manrope SemiBold" pitchFamily="34" charset="-122"/>
                <a:cs typeface="Manrope SemiBold" pitchFamily="34" charset="-120"/>
              </a:rPr>
              <a:t>07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8222" y="8207785"/>
            <a:ext cx="742858" cy="30493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400"/>
              </a:lnSpc>
              <a:buNone/>
            </a:pPr>
            <a:r>
              <a:rPr lang="en-US" sz="1600" b="1" spc="50" kern="0" dirty="0">
                <a:solidFill>
                  <a:srgbClr val="121519"/>
                </a:solidFill>
                <a:latin typeface="Zen Kaku Gothic New" pitchFamily="34" charset="0"/>
                <a:ea typeface="Zen Kaku Gothic New" pitchFamily="34" charset="-122"/>
                <a:cs typeface="Zen Kaku Gothic New" pitchFamily="34" charset="-120"/>
              </a:rPr>
              <a:t>原料炭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1270555" y="8271313"/>
            <a:ext cx="523171" cy="19058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500"/>
              </a:lnSpc>
              <a:buNone/>
            </a:pPr>
            <a:r>
              <a:rPr lang="en-US" sz="1100" spc="120" kern="0" dirty="0">
                <a:solidFill>
                  <a:srgbClr val="7D838A"/>
                </a:solidFill>
                <a:latin typeface="Manrope SemiBold" pitchFamily="34" charset="0"/>
                <a:ea typeface="Manrope SemiBold" pitchFamily="34" charset="-122"/>
                <a:cs typeface="Manrope SemiBold" pitchFamily="34" charset="-120"/>
              </a:rPr>
              <a:t>COAL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656718" y="8588952"/>
            <a:ext cx="366813" cy="20328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600"/>
              </a:lnSpc>
              <a:buNone/>
            </a:pPr>
            <a:r>
              <a:rPr lang="en-US" sz="1100" spc="30" kern="0" dirty="0">
                <a:solidFill>
                  <a:srgbClr val="FFFFFF"/>
                </a:solidFill>
                <a:latin typeface="Zen Kaku Gothic New Medium" pitchFamily="34" charset="0"/>
                <a:ea typeface="Zen Kaku Gothic New Medium" pitchFamily="34" charset="-122"/>
                <a:cs typeface="Zen Kaku Gothic New Medium" pitchFamily="34" charset="-120"/>
              </a:rPr>
              <a:t>投資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1307878" y="8588952"/>
            <a:ext cx="1156463" cy="20328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600"/>
              </a:lnSpc>
              <a:buNone/>
            </a:pPr>
            <a:r>
              <a:rPr lang="en-US" sz="1100" spc="30" kern="0" dirty="0">
                <a:solidFill>
                  <a:srgbClr val="FFFFFF"/>
                </a:solidFill>
                <a:latin typeface="Zen Kaku Gothic New Medium" pitchFamily="34" charset="0"/>
                <a:ea typeface="Zen Kaku Gothic New Medium" pitchFamily="34" charset="-122"/>
                <a:cs typeface="Zen Kaku Gothic New Medium" pitchFamily="34" charset="-120"/>
              </a:rPr>
              <a:t>トレーディング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508222" y="8909767"/>
            <a:ext cx="1287926" cy="36210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3000" spc="-90" kern="0" dirty="0">
                <a:solidFill>
                  <a:srgbClr val="121519"/>
                </a:solidFill>
                <a:latin typeface="Zen Kaku Gothic New" pitchFamily="34" charset="0"/>
                <a:ea typeface="Zen Kaku Gothic New" pitchFamily="34" charset="-122"/>
                <a:cs typeface="Zen Kaku Gothic New" pitchFamily="34" charset="-120"/>
              </a:rPr>
              <a:t>約50%</a:t>
            </a:r>
            <a:endParaRPr lang="en-US" sz="3000" dirty="0"/>
          </a:p>
        </p:txBody>
      </p:sp>
      <p:sp>
        <p:nvSpPr>
          <p:cNvPr id="7" name="Text 5"/>
          <p:cNvSpPr/>
          <p:nvPr/>
        </p:nvSpPr>
        <p:spPr>
          <a:xfrm>
            <a:off x="508222" y="9391942"/>
            <a:ext cx="3287601" cy="22361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760"/>
              </a:lnSpc>
              <a:buNone/>
            </a:pPr>
            <a:r>
              <a:rPr lang="en-US" sz="1100" dirty="0">
                <a:solidFill>
                  <a:srgbClr val="9C7442"/>
                </a:solidFill>
                <a:latin typeface="Zen Kaku Gothic New" pitchFamily="34" charset="0"/>
                <a:ea typeface="Zen Kaku Gothic New" pitchFamily="34" charset="-122"/>
                <a:cs typeface="Zen Kaku Gothic New" pitchFamily="34" charset="-120"/>
              </a:rPr>
              <a:t>一級強粘結炭の世界供給に占めるBMAのシェア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508222" y="9676547"/>
            <a:ext cx="3283015" cy="5031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980"/>
              </a:lnSpc>
              <a:buNone/>
            </a:pPr>
            <a:r>
              <a:rPr lang="en-US" sz="1200" dirty="0">
                <a:solidFill>
                  <a:srgbClr val="121519"/>
                </a:solidFill>
                <a:latin typeface="Zen Kaku Gothic New" pitchFamily="34" charset="0"/>
                <a:ea typeface="Zen Kaku Gothic New" pitchFamily="34" charset="-122"/>
                <a:cs typeface="Zen Kaku Gothic New" pitchFamily="34" charset="-120"/>
              </a:rPr>
              <a:t>販売から出資、JV経営へ。BHPと50:50で、</a:t>
            </a:r>
            <a:endParaRPr lang="en-US" sz="1200" dirty="0"/>
          </a:p>
          <a:p>
            <a:pPr algn="l" indent="0" marL="0">
              <a:lnSpc>
                <a:spcPts val="1980"/>
              </a:lnSpc>
              <a:buNone/>
            </a:pPr>
            <a:r>
              <a:rPr lang="en-US" sz="1200" dirty="0">
                <a:solidFill>
                  <a:srgbClr val="121519"/>
                </a:solidFill>
                <a:latin typeface="Zen Kaku Gothic New" pitchFamily="34" charset="0"/>
                <a:ea typeface="Zen Kaku Gothic New" pitchFamily="34" charset="-122"/>
                <a:cs typeface="Zen Kaku Gothic New" pitchFamily="34" charset="-120"/>
              </a:rPr>
              <a:t>世界最高品位の原料炭を生む。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027659" y="508222"/>
            <a:ext cx="281646" cy="30493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400"/>
              </a:lnSpc>
              <a:buNone/>
            </a:pPr>
            <a:r>
              <a:rPr lang="en-US" sz="1600" b="1" spc="50" kern="0" dirty="0">
                <a:solidFill>
                  <a:srgbClr val="121519"/>
                </a:solidFill>
                <a:latin typeface="Zen Kaku Gothic New" pitchFamily="34" charset="0"/>
                <a:ea typeface="Zen Kaku Gothic New" pitchFamily="34" charset="-122"/>
                <a:cs typeface="Zen Kaku Gothic New" pitchFamily="34" charset="-120"/>
              </a:rPr>
              <a:t>銅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4383415" y="571750"/>
            <a:ext cx="759673" cy="19058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500"/>
              </a:lnSpc>
              <a:buNone/>
            </a:pPr>
            <a:r>
              <a:rPr lang="en-US" sz="1100" spc="120" kern="0" dirty="0">
                <a:solidFill>
                  <a:srgbClr val="7D838A"/>
                </a:solidFill>
                <a:latin typeface="Manrope SemiBold" pitchFamily="34" charset="0"/>
                <a:ea typeface="Manrope SemiBold" pitchFamily="34" charset="-122"/>
                <a:cs typeface="Manrope SemiBold" pitchFamily="34" charset="-120"/>
              </a:rPr>
              <a:t>COPPER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4176155" y="889388"/>
            <a:ext cx="366813" cy="20328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600"/>
              </a:lnSpc>
              <a:buNone/>
            </a:pPr>
            <a:r>
              <a:rPr lang="en-US" sz="1100" spc="30" kern="0" dirty="0">
                <a:solidFill>
                  <a:srgbClr val="FFFFFF"/>
                </a:solidFill>
                <a:latin typeface="Zen Kaku Gothic New Medium" pitchFamily="34" charset="0"/>
                <a:ea typeface="Zen Kaku Gothic New Medium" pitchFamily="34" charset="-122"/>
                <a:cs typeface="Zen Kaku Gothic New Medium" pitchFamily="34" charset="-120"/>
              </a:rPr>
              <a:t>投資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4835057" y="889388"/>
            <a:ext cx="524699" cy="20328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600"/>
              </a:lnSpc>
              <a:buNone/>
            </a:pPr>
            <a:r>
              <a:rPr lang="en-US" sz="1100" spc="30" kern="0" dirty="0">
                <a:solidFill>
                  <a:srgbClr val="FFFFFF"/>
                </a:solidFill>
                <a:latin typeface="Zen Kaku Gothic New Medium" pitchFamily="34" charset="0"/>
                <a:ea typeface="Zen Kaku Gothic New Medium" pitchFamily="34" charset="-122"/>
                <a:cs typeface="Zen Kaku Gothic New Medium" pitchFamily="34" charset="-120"/>
              </a:rPr>
              <a:t>新技術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4027659" y="1210204"/>
            <a:ext cx="1161923" cy="36210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3000" spc="-90" kern="0" dirty="0">
                <a:solidFill>
                  <a:srgbClr val="121519"/>
                </a:solidFill>
                <a:latin typeface="Manrope Light" pitchFamily="34" charset="0"/>
                <a:ea typeface="Manrope Light" pitchFamily="34" charset="-122"/>
                <a:cs typeface="Manrope Light" pitchFamily="34" charset="-120"/>
              </a:rPr>
              <a:t>Top 15</a:t>
            </a:r>
            <a:endParaRPr lang="en-US" sz="3000" dirty="0"/>
          </a:p>
        </p:txBody>
      </p:sp>
      <p:sp>
        <p:nvSpPr>
          <p:cNvPr id="14" name="Text 12"/>
          <p:cNvSpPr/>
          <p:nvPr/>
        </p:nvSpPr>
        <p:spPr>
          <a:xfrm>
            <a:off x="4027659" y="1692379"/>
            <a:ext cx="3120106" cy="22361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760"/>
              </a:lnSpc>
              <a:buNone/>
            </a:pPr>
            <a:r>
              <a:rPr lang="en-US" sz="1100" dirty="0">
                <a:solidFill>
                  <a:srgbClr val="9C7442"/>
                </a:solidFill>
                <a:latin typeface="Zen Kaku Gothic New" pitchFamily="34" charset="0"/>
                <a:ea typeface="Zen Kaku Gothic New" pitchFamily="34" charset="-122"/>
                <a:cs typeface="Zen Kaku Gothic New" pitchFamily="34" charset="-120"/>
              </a:rPr>
              <a:t>主要5鉱山すべてが鉱山別生産量で世界Top15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4027659" y="1976984"/>
            <a:ext cx="3048915" cy="5031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980"/>
              </a:lnSpc>
              <a:buNone/>
            </a:pPr>
            <a:r>
              <a:rPr lang="en-US" sz="1200" dirty="0">
                <a:solidFill>
                  <a:srgbClr val="121519"/>
                </a:solidFill>
                <a:latin typeface="Zen Kaku Gothic New" pitchFamily="34" charset="0"/>
                <a:ea typeface="Zen Kaku Gothic New" pitchFamily="34" charset="-122"/>
                <a:cs typeface="Zen Kaku Gothic New" pitchFamily="34" charset="-120"/>
              </a:rPr>
              <a:t>1988年から一級資産に参画。日本最大の</a:t>
            </a:r>
            <a:endParaRPr lang="en-US" sz="1200" dirty="0"/>
          </a:p>
          <a:p>
            <a:pPr algn="l" indent="0" marL="0">
              <a:lnSpc>
                <a:spcPts val="1980"/>
              </a:lnSpc>
              <a:buNone/>
            </a:pPr>
            <a:r>
              <a:rPr lang="en-US" sz="1200" dirty="0">
                <a:solidFill>
                  <a:srgbClr val="121519"/>
                </a:solidFill>
                <a:latin typeface="Zen Kaku Gothic New" pitchFamily="34" charset="0"/>
                <a:ea typeface="Zen Kaku Gothic New" pitchFamily="34" charset="-122"/>
                <a:cs typeface="Zen Kaku Gothic New" pitchFamily="34" charset="-120"/>
              </a:rPr>
              <a:t>銅生産者として、世界の大手と組む。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8220491" y="8207785"/>
            <a:ext cx="1665281" cy="30493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400"/>
              </a:lnSpc>
              <a:buNone/>
            </a:pPr>
            <a:r>
              <a:rPr lang="en-US" sz="1600" b="1" spc="50" kern="0" dirty="0">
                <a:solidFill>
                  <a:srgbClr val="121519"/>
                </a:solidFill>
                <a:latin typeface="Zen Kaku Gothic New" pitchFamily="34" charset="0"/>
                <a:ea typeface="Zen Kaku Gothic New" pitchFamily="34" charset="-122"/>
                <a:cs typeface="Zen Kaku Gothic New" pitchFamily="34" charset="-120"/>
              </a:rPr>
              <a:t>トレーディング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9795979" y="8271313"/>
            <a:ext cx="396949" cy="19058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500"/>
              </a:lnSpc>
              <a:buNone/>
            </a:pPr>
            <a:r>
              <a:rPr lang="en-US" sz="1100" spc="120" kern="0" dirty="0">
                <a:solidFill>
                  <a:srgbClr val="7D838A"/>
                </a:solidFill>
                <a:latin typeface="Manrope SemiBold" pitchFamily="34" charset="0"/>
                <a:ea typeface="Manrope SemiBold" pitchFamily="34" charset="-122"/>
                <a:cs typeface="Manrope SemiBold" pitchFamily="34" charset="-120"/>
              </a:rPr>
              <a:t>RtM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8359458" y="8588952"/>
            <a:ext cx="1156463" cy="20328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600"/>
              </a:lnSpc>
              <a:buNone/>
            </a:pPr>
            <a:r>
              <a:rPr lang="en-US" sz="1100" spc="30" kern="0" dirty="0">
                <a:solidFill>
                  <a:srgbClr val="FFFFFF"/>
                </a:solidFill>
                <a:latin typeface="Zen Kaku Gothic New Medium" pitchFamily="34" charset="0"/>
                <a:ea typeface="Zen Kaku Gothic New Medium" pitchFamily="34" charset="-122"/>
                <a:cs typeface="Zen Kaku Gothic New Medium" pitchFamily="34" charset="-120"/>
              </a:rPr>
              <a:t>トレーディング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9728480" y="8588952"/>
            <a:ext cx="366813" cy="20328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600"/>
              </a:lnSpc>
              <a:buNone/>
            </a:pPr>
            <a:r>
              <a:rPr lang="en-US" sz="1100" spc="30" kern="0" dirty="0">
                <a:solidFill>
                  <a:srgbClr val="FFFFFF"/>
                </a:solidFill>
                <a:latin typeface="Zen Kaku Gothic New Medium" pitchFamily="34" charset="0"/>
                <a:ea typeface="Zen Kaku Gothic New Medium" pitchFamily="34" charset="-122"/>
                <a:cs typeface="Zen Kaku Gothic New Medium" pitchFamily="34" charset="-120"/>
              </a:rPr>
              <a:t>投資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8220491" y="8915484"/>
            <a:ext cx="2320411" cy="33796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660"/>
              </a:lnSpc>
              <a:buNone/>
            </a:pPr>
            <a:r>
              <a:rPr lang="en-US" sz="2800" spc="-84" kern="0" dirty="0">
                <a:solidFill>
                  <a:srgbClr val="121519"/>
                </a:solidFill>
                <a:latin typeface="Manrope Light" pitchFamily="34" charset="0"/>
                <a:ea typeface="Manrope Light" pitchFamily="34" charset="-122"/>
                <a:cs typeface="Manrope Light" pitchFamily="34" charset="-120"/>
              </a:rPr>
              <a:t>15 × 50 × 1,000</a:t>
            </a:r>
            <a:endParaRPr lang="en-US" sz="2800" dirty="0"/>
          </a:p>
        </p:txBody>
      </p:sp>
      <p:sp>
        <p:nvSpPr>
          <p:cNvPr id="21" name="Text 19"/>
          <p:cNvSpPr/>
          <p:nvPr/>
        </p:nvSpPr>
        <p:spPr>
          <a:xfrm>
            <a:off x="8220491" y="9361370"/>
            <a:ext cx="2086966" cy="22361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760"/>
              </a:lnSpc>
              <a:buNone/>
            </a:pPr>
            <a:r>
              <a:rPr lang="en-US" sz="1100" dirty="0">
                <a:solidFill>
                  <a:srgbClr val="9C7442"/>
                </a:solidFill>
                <a:latin typeface="Zen Kaku Gothic New" pitchFamily="34" charset="0"/>
                <a:ea typeface="Zen Kaku Gothic New" pitchFamily="34" charset="-122"/>
                <a:cs typeface="Zen Kaku Gothic New" pitchFamily="34" charset="-120"/>
              </a:rPr>
              <a:t>業界 × カ国 × 社 の顧客基盤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8220491" y="9645974"/>
            <a:ext cx="3237592" cy="5031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980"/>
              </a:lnSpc>
              <a:buNone/>
            </a:pPr>
            <a:r>
              <a:rPr lang="en-US" sz="1200" dirty="0">
                <a:solidFill>
                  <a:srgbClr val="121519"/>
                </a:solidFill>
                <a:latin typeface="Zen Kaku Gothic New" pitchFamily="34" charset="0"/>
                <a:ea typeface="Zen Kaku Gothic New" pitchFamily="34" charset="-122"/>
                <a:cs typeface="Zen Kaku Gothic New" pitchFamily="34" charset="-120"/>
              </a:rPr>
              <a:t>自社と第三者の資源に機能を付けて届け、</a:t>
            </a:r>
            <a:endParaRPr lang="en-US" sz="1200" dirty="0"/>
          </a:p>
          <a:p>
            <a:pPr algn="l" indent="0" marL="0">
              <a:lnSpc>
                <a:spcPts val="1980"/>
              </a:lnSpc>
              <a:buNone/>
            </a:pPr>
            <a:r>
              <a:rPr lang="en-US" sz="1200" dirty="0">
                <a:solidFill>
                  <a:srgbClr val="121519"/>
                </a:solidFill>
                <a:latin typeface="Zen Kaku Gothic New" pitchFamily="34" charset="0"/>
                <a:ea typeface="Zen Kaku Gothic New" pitchFamily="34" charset="-122"/>
                <a:cs typeface="Zen Kaku Gothic New" pitchFamily="34" charset="-120"/>
              </a:rPr>
              <a:t>市場の声を次の投資へ返す。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11434995" y="508222"/>
            <a:ext cx="1895886" cy="30493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400"/>
              </a:lnSpc>
              <a:buNone/>
            </a:pPr>
            <a:r>
              <a:rPr lang="en-US" sz="1600" b="1" spc="50" kern="0" dirty="0">
                <a:solidFill>
                  <a:srgbClr val="121519"/>
                </a:solidFill>
                <a:latin typeface="Zen Kaku Gothic New" pitchFamily="34" charset="0"/>
                <a:ea typeface="Zen Kaku Gothic New" pitchFamily="34" charset="-122"/>
                <a:cs typeface="Zen Kaku Gothic New" pitchFamily="34" charset="-120"/>
              </a:rPr>
              <a:t>新技術・事業創出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13213772" y="571750"/>
            <a:ext cx="1133970" cy="19058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500"/>
              </a:lnSpc>
              <a:buNone/>
            </a:pPr>
            <a:r>
              <a:rPr lang="en-US" sz="1100" spc="120" kern="0" dirty="0">
                <a:solidFill>
                  <a:srgbClr val="7D838A"/>
                </a:solidFill>
                <a:latin typeface="Manrope SemiBold" pitchFamily="34" charset="0"/>
                <a:ea typeface="Manrope SemiBold" pitchFamily="34" charset="-122"/>
                <a:cs typeface="Manrope SemiBold" pitchFamily="34" charset="-120"/>
              </a:rPr>
              <a:t>INCUBATION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11581704" y="889388"/>
            <a:ext cx="524699" cy="20328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600"/>
              </a:lnSpc>
              <a:buNone/>
            </a:pPr>
            <a:r>
              <a:rPr lang="en-US" sz="1100" spc="30" kern="0" dirty="0">
                <a:solidFill>
                  <a:srgbClr val="FFFFFF"/>
                </a:solidFill>
                <a:latin typeface="Zen Kaku Gothic New Medium" pitchFamily="34" charset="0"/>
                <a:ea typeface="Zen Kaku Gothic New Medium" pitchFamily="34" charset="-122"/>
                <a:cs typeface="Zen Kaku Gothic New Medium" pitchFamily="34" charset="-120"/>
              </a:rPr>
              <a:t>新技術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12383940" y="889388"/>
            <a:ext cx="366813" cy="20328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600"/>
              </a:lnSpc>
              <a:buNone/>
            </a:pPr>
            <a:r>
              <a:rPr lang="en-US" sz="1100" spc="30" kern="0" dirty="0">
                <a:solidFill>
                  <a:srgbClr val="FFFFFF"/>
                </a:solidFill>
                <a:latin typeface="Zen Kaku Gothic New Medium" pitchFamily="34" charset="0"/>
                <a:ea typeface="Zen Kaku Gothic New Medium" pitchFamily="34" charset="-122"/>
                <a:cs typeface="Zen Kaku Gothic New Medium" pitchFamily="34" charset="-120"/>
              </a:rPr>
              <a:t>投資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13035100" y="889388"/>
            <a:ext cx="1156463" cy="20328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600"/>
              </a:lnSpc>
              <a:buNone/>
            </a:pPr>
            <a:r>
              <a:rPr lang="en-US" sz="1100" spc="30" kern="0" dirty="0">
                <a:solidFill>
                  <a:srgbClr val="FFFFFF"/>
                </a:solidFill>
                <a:latin typeface="Zen Kaku Gothic New Medium" pitchFamily="34" charset="0"/>
                <a:ea typeface="Zen Kaku Gothic New Medium" pitchFamily="34" charset="-122"/>
                <a:cs typeface="Zen Kaku Gothic New Medium" pitchFamily="34" charset="-120"/>
              </a:rPr>
              <a:t>トレーディング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11434995" y="1207345"/>
            <a:ext cx="2895396" cy="25347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995"/>
              </a:lnSpc>
              <a:buNone/>
            </a:pPr>
            <a:r>
              <a:rPr lang="en-US" sz="2100" spc="-63" kern="0" dirty="0">
                <a:solidFill>
                  <a:srgbClr val="121519"/>
                </a:solidFill>
                <a:latin typeface="Manrope Light" pitchFamily="34" charset="0"/>
                <a:ea typeface="Manrope Light" pitchFamily="34" charset="-122"/>
                <a:cs typeface="Manrope Light" pitchFamily="34" charset="-120"/>
              </a:rPr>
              <a:t>CiDRA · Jetti · DESCycle</a:t>
            </a:r>
            <a:endParaRPr lang="en-US" sz="2100" dirty="0"/>
          </a:p>
        </p:txBody>
      </p:sp>
      <p:sp>
        <p:nvSpPr>
          <p:cNvPr id="29" name="Text 27"/>
          <p:cNvSpPr/>
          <p:nvPr/>
        </p:nvSpPr>
        <p:spPr>
          <a:xfrm>
            <a:off x="11434995" y="1555000"/>
            <a:ext cx="2664354" cy="22361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760"/>
              </a:lnSpc>
              <a:buNone/>
            </a:pPr>
            <a:r>
              <a:rPr lang="en-US" sz="1100" dirty="0">
                <a:solidFill>
                  <a:srgbClr val="9C7442"/>
                </a:solidFill>
                <a:latin typeface="Zen Kaku Gothic New" pitchFamily="34" charset="0"/>
                <a:ea typeface="Zen Kaku Gothic New" pitchFamily="34" charset="-122"/>
                <a:cs typeface="Zen Kaku Gothic New" pitchFamily="34" charset="-120"/>
              </a:rPr>
              <a:t>選鉱・浸出・リサイクルの技術に出資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11434995" y="1839605"/>
            <a:ext cx="3069879" cy="5031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980"/>
              </a:lnSpc>
              <a:buNone/>
            </a:pPr>
            <a:r>
              <a:rPr lang="en-US" sz="1200" dirty="0">
                <a:solidFill>
                  <a:srgbClr val="121519"/>
                </a:solidFill>
                <a:latin typeface="Zen Kaku Gothic New" pitchFamily="34" charset="0"/>
                <a:ea typeface="Zen Kaku Gothic New" pitchFamily="34" charset="-122"/>
                <a:cs typeface="Zen Kaku Gothic New" pitchFamily="34" charset="-120"/>
              </a:rPr>
              <a:t>技術を鉱山の現場へ運び、新しい技術で</a:t>
            </a:r>
            <a:endParaRPr lang="en-US" sz="1200" dirty="0"/>
          </a:p>
          <a:p>
            <a:pPr algn="l" indent="0" marL="0">
              <a:lnSpc>
                <a:spcPts val="1980"/>
              </a:lnSpc>
              <a:buNone/>
            </a:pPr>
            <a:r>
              <a:rPr lang="en-US" sz="1200" dirty="0">
                <a:solidFill>
                  <a:srgbClr val="121519"/>
                </a:solidFill>
                <a:latin typeface="Zen Kaku Gothic New" pitchFamily="34" charset="0"/>
                <a:ea typeface="Zen Kaku Gothic New" pitchFamily="34" charset="-122"/>
                <a:cs typeface="Zen Kaku Gothic New" pitchFamily="34" charset="-120"/>
              </a:rPr>
              <a:t>生まれた銅を、市場へ届ける。</a:t>
            </a:r>
            <a:endParaRPr lang="en-US" sz="1200" dirty="0"/>
          </a:p>
        </p:txBody>
      </p:sp>
      <p:sp>
        <p:nvSpPr>
          <p:cNvPr id="31" name="Text 29"/>
          <p:cNvSpPr/>
          <p:nvPr/>
        </p:nvSpPr>
        <p:spPr>
          <a:xfrm>
            <a:off x="508222" y="508222"/>
            <a:ext cx="3423213" cy="19058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500"/>
              </a:lnSpc>
              <a:buNone/>
            </a:pPr>
            <a:r>
              <a:rPr lang="en-US" sz="1100" spc="120" kern="0" dirty="0">
                <a:solidFill>
                  <a:srgbClr val="9C7442"/>
                </a:solidFill>
                <a:latin typeface="Zen Kaku Gothic New Medium" pitchFamily="34" charset="0"/>
                <a:ea typeface="Zen Kaku Gothic New Medium" pitchFamily="34" charset="-122"/>
                <a:cs typeface="Zen Kaku Gothic New Medium" pitchFamily="34" charset="-120"/>
              </a:rPr>
              <a:t>第2章　独自価値｜その結果としての、いま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508222" y="732094"/>
            <a:ext cx="2725281" cy="98493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3876"/>
              </a:lnSpc>
              <a:buNone/>
            </a:pPr>
            <a:r>
              <a:rPr lang="en-US" sz="3800" spc="-95" kern="0" dirty="0">
                <a:solidFill>
                  <a:srgbClr val="121519"/>
                </a:solidFill>
                <a:latin typeface="Manrope SemiBold" pitchFamily="34" charset="0"/>
                <a:ea typeface="Manrope SemiBold" pitchFamily="34" charset="-122"/>
                <a:cs typeface="Manrope SemiBold" pitchFamily="34" charset="-120"/>
              </a:rPr>
              <a:t>What the</a:t>
            </a:r>
            <a:endParaRPr lang="en-US" sz="3800" dirty="0"/>
          </a:p>
          <a:p>
            <a:pPr algn="l" indent="0" marL="0">
              <a:lnSpc>
                <a:spcPts val="3876"/>
              </a:lnSpc>
              <a:buNone/>
            </a:pPr>
            <a:r>
              <a:rPr lang="en-US" sz="3800" spc="-95" kern="0" dirty="0">
                <a:solidFill>
                  <a:srgbClr val="121519"/>
                </a:solidFill>
                <a:latin typeface="Manrope SemiBold" pitchFamily="34" charset="0"/>
                <a:ea typeface="Manrope SemiBold" pitchFamily="34" charset="-122"/>
                <a:cs typeface="Manrope SemiBold" pitchFamily="34" charset="-120"/>
              </a:rPr>
              <a:t>rope holds.</a:t>
            </a:r>
            <a:endParaRPr lang="en-US" sz="3800" dirty="0"/>
          </a:p>
        </p:txBody>
      </p:sp>
      <p:sp>
        <p:nvSpPr>
          <p:cNvPr id="33" name="Text 31"/>
          <p:cNvSpPr/>
          <p:nvPr/>
        </p:nvSpPr>
        <p:spPr>
          <a:xfrm>
            <a:off x="508222" y="1975713"/>
            <a:ext cx="2650596" cy="60986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400"/>
              </a:lnSpc>
              <a:buNone/>
            </a:pPr>
            <a:r>
              <a:rPr lang="en-US" sz="1500" b="1" spc="50" kern="0" dirty="0">
                <a:solidFill>
                  <a:srgbClr val="121519"/>
                </a:solidFill>
                <a:latin typeface="Zen Kaku Gothic New" pitchFamily="34" charset="0"/>
                <a:ea typeface="Zen Kaku Gothic New" pitchFamily="34" charset="-122"/>
                <a:cs typeface="Zen Kaku Gothic New" pitchFamily="34" charset="-120"/>
              </a:rPr>
              <a:t>撚り合わせた力が、</a:t>
            </a:r>
            <a:endParaRPr lang="en-US" sz="1500" dirty="0"/>
          </a:p>
          <a:p>
            <a:pPr algn="l" indent="0" marL="0">
              <a:lnSpc>
                <a:spcPts val="2400"/>
              </a:lnSpc>
              <a:buNone/>
            </a:pPr>
            <a:r>
              <a:rPr lang="en-US" sz="1500" b="1" spc="50" kern="0" dirty="0">
                <a:solidFill>
                  <a:srgbClr val="121519"/>
                </a:solidFill>
                <a:latin typeface="Zen Kaku Gothic New" pitchFamily="34" charset="0"/>
                <a:ea typeface="Zen Kaku Gothic New" pitchFamily="34" charset="-122"/>
                <a:cs typeface="Zen Kaku Gothic New" pitchFamily="34" charset="-120"/>
              </a:rPr>
              <a:t>いまの事業を支えている。</a:t>
            </a:r>
            <a:endParaRPr lang="en-US" sz="1500" dirty="0"/>
          </a:p>
        </p:txBody>
      </p:sp>
      <p:sp>
        <p:nvSpPr>
          <p:cNvPr id="34" name="Text 32"/>
          <p:cNvSpPr/>
          <p:nvPr/>
        </p:nvSpPr>
        <p:spPr>
          <a:xfrm>
            <a:off x="508222" y="2711364"/>
            <a:ext cx="3544848" cy="84619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220"/>
              </a:lnSpc>
              <a:buNone/>
            </a:pPr>
            <a:r>
              <a:rPr lang="en-US" sz="1200" dirty="0">
                <a:solidFill>
                  <a:srgbClr val="3D4249"/>
                </a:solidFill>
                <a:latin typeface="Zen Kaku Gothic New" pitchFamily="34" charset="0"/>
                <a:ea typeface="Zen Kaku Gothic New" pitchFamily="34" charset="-122"/>
                <a:cs typeface="Zen Kaku Gothic New" pitchFamily="34" charset="-120"/>
              </a:rPr>
              <a:t>原料炭、銅、トレーディング、新技術。別々</a:t>
            </a:r>
            <a:endParaRPr lang="en-US" sz="1200" dirty="0"/>
          </a:p>
          <a:p>
            <a:pPr algn="l" indent="0" marL="0">
              <a:lnSpc>
                <a:spcPts val="2220"/>
              </a:lnSpc>
              <a:buNone/>
            </a:pPr>
            <a:r>
              <a:rPr lang="en-US" sz="1200" dirty="0">
                <a:solidFill>
                  <a:srgbClr val="3D4249"/>
                </a:solidFill>
                <a:latin typeface="Zen Kaku Gothic New" pitchFamily="34" charset="0"/>
                <a:ea typeface="Zen Kaku Gothic New" pitchFamily="34" charset="-122"/>
                <a:cs typeface="Zen Kaku Gothic New" pitchFamily="34" charset="-120"/>
              </a:rPr>
              <a:t>の事業に見えて、どれも三つの力が重なって</a:t>
            </a:r>
            <a:endParaRPr lang="en-US" sz="1200" dirty="0"/>
          </a:p>
          <a:p>
            <a:pPr algn="l" indent="0" marL="0">
              <a:lnSpc>
                <a:spcPts val="2220"/>
              </a:lnSpc>
              <a:buNone/>
            </a:pPr>
            <a:r>
              <a:rPr lang="en-US" sz="1200" dirty="0">
                <a:solidFill>
                  <a:srgbClr val="3D4249"/>
                </a:solidFill>
                <a:latin typeface="Zen Kaku Gothic New" pitchFamily="34" charset="0"/>
                <a:ea typeface="Zen Kaku Gothic New" pitchFamily="34" charset="-122"/>
                <a:cs typeface="Zen Kaku Gothic New" pitchFamily="34" charset="-120"/>
              </a:rPr>
              <a:t>生まれた“結び目”です。</a:t>
            </a:r>
            <a:endParaRPr lang="en-US" sz="1200" dirty="0"/>
          </a:p>
        </p:txBody>
      </p:sp>
      <p:sp>
        <p:nvSpPr>
          <p:cNvPr id="35" name="Text 33"/>
          <p:cNvSpPr/>
          <p:nvPr/>
        </p:nvSpPr>
        <p:spPr>
          <a:xfrm>
            <a:off x="965622" y="4004789"/>
            <a:ext cx="1280719" cy="22361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760"/>
              </a:lnSpc>
              <a:buNone/>
            </a:pPr>
            <a:r>
              <a:rPr lang="en-US" sz="1100" dirty="0">
                <a:solidFill>
                  <a:srgbClr val="121519"/>
                </a:solidFill>
                <a:latin typeface="Zen Kaku Gothic New" pitchFamily="34" charset="0"/>
                <a:ea typeface="Zen Kaku Gothic New" pitchFamily="34" charset="-122"/>
                <a:cs typeface="Zen Kaku Gothic New" pitchFamily="34" charset="-120"/>
              </a:rPr>
              <a:t>資源投資｜持つ力</a:t>
            </a:r>
            <a:endParaRPr lang="en-US" sz="1100" dirty="0"/>
          </a:p>
        </p:txBody>
      </p:sp>
      <p:sp>
        <p:nvSpPr>
          <p:cNvPr id="36" name="Text 34"/>
          <p:cNvSpPr/>
          <p:nvPr/>
        </p:nvSpPr>
        <p:spPr>
          <a:xfrm>
            <a:off x="965622" y="4309722"/>
            <a:ext cx="1895668" cy="22361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760"/>
              </a:lnSpc>
              <a:buNone/>
            </a:pPr>
            <a:r>
              <a:rPr lang="en-US" sz="1100" dirty="0">
                <a:solidFill>
                  <a:srgbClr val="121519"/>
                </a:solidFill>
                <a:latin typeface="Zen Kaku Gothic New" pitchFamily="34" charset="0"/>
                <a:ea typeface="Zen Kaku Gothic New" pitchFamily="34" charset="-122"/>
                <a:cs typeface="Zen Kaku Gothic New" pitchFamily="34" charset="-120"/>
              </a:rPr>
              <a:t>トレーディング｜つなぐ力</a:t>
            </a:r>
            <a:endParaRPr lang="en-US" sz="1100" dirty="0"/>
          </a:p>
        </p:txBody>
      </p:sp>
      <p:sp>
        <p:nvSpPr>
          <p:cNvPr id="37" name="Text 35"/>
          <p:cNvSpPr/>
          <p:nvPr/>
        </p:nvSpPr>
        <p:spPr>
          <a:xfrm>
            <a:off x="965622" y="4614656"/>
            <a:ext cx="2356879" cy="22361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760"/>
              </a:lnSpc>
              <a:buNone/>
            </a:pPr>
            <a:r>
              <a:rPr lang="en-US" sz="1100" dirty="0">
                <a:solidFill>
                  <a:srgbClr val="121519"/>
                </a:solidFill>
                <a:latin typeface="Zen Kaku Gothic New" pitchFamily="34" charset="0"/>
                <a:ea typeface="Zen Kaku Gothic New" pitchFamily="34" charset="-122"/>
                <a:cs typeface="Zen Kaku Gothic New" pitchFamily="34" charset="-120"/>
              </a:rPr>
              <a:t>新技術・事業創出｜進化させる力</a:t>
            </a:r>
            <a:endParaRPr lang="en-US" sz="1100" dirty="0"/>
          </a:p>
        </p:txBody>
      </p:sp>
      <p:sp>
        <p:nvSpPr>
          <p:cNvPr id="38" name="Text 36"/>
          <p:cNvSpPr/>
          <p:nvPr/>
        </p:nvSpPr>
        <p:spPr>
          <a:xfrm>
            <a:off x="8220491" y="508222"/>
            <a:ext cx="1031552" cy="19058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500"/>
              </a:lnSpc>
              <a:buNone/>
            </a:pPr>
            <a:r>
              <a:rPr lang="en-US" sz="1100" spc="120" kern="0" dirty="0">
                <a:solidFill>
                  <a:srgbClr val="9C7442"/>
                </a:solidFill>
                <a:latin typeface="Manrope SemiBold" pitchFamily="34" charset="0"/>
                <a:ea typeface="Manrope SemiBold" pitchFamily="34" charset="-122"/>
                <a:cs typeface="Manrope SemiBold" pitchFamily="34" charset="-120"/>
              </a:rPr>
              <a:t>THE KNOTS</a:t>
            </a:r>
            <a:endParaRPr lang="en-US" sz="1100" dirty="0"/>
          </a:p>
        </p:txBody>
      </p:sp>
      <p:sp>
        <p:nvSpPr>
          <p:cNvPr id="39" name="Text 37"/>
          <p:cNvSpPr/>
          <p:nvPr/>
        </p:nvSpPr>
        <p:spPr>
          <a:xfrm>
            <a:off x="8220491" y="750898"/>
            <a:ext cx="2447724" cy="88430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3480"/>
              </a:lnSpc>
              <a:buNone/>
            </a:pPr>
            <a:r>
              <a:rPr lang="en-US" sz="2400" b="1" spc="50" kern="0" dirty="0">
                <a:solidFill>
                  <a:srgbClr val="121519"/>
                </a:solidFill>
                <a:latin typeface="Zen Kaku Gothic New" pitchFamily="34" charset="0"/>
                <a:ea typeface="Zen Kaku Gothic New" pitchFamily="34" charset="-122"/>
                <a:cs typeface="Zen Kaku Gothic New" pitchFamily="34" charset="-120"/>
              </a:rPr>
              <a:t>点ではなく、</a:t>
            </a:r>
            <a:endParaRPr lang="en-US" sz="2400" dirty="0"/>
          </a:p>
          <a:p>
            <a:pPr algn="l" indent="0" marL="0">
              <a:lnSpc>
                <a:spcPts val="3480"/>
              </a:lnSpc>
              <a:buNone/>
            </a:pPr>
            <a:r>
              <a:rPr lang="en-US" sz="2400" b="1" spc="50" kern="0" dirty="0">
                <a:solidFill>
                  <a:srgbClr val="121519"/>
                </a:solidFill>
                <a:latin typeface="Zen Kaku Gothic New" pitchFamily="34" charset="0"/>
                <a:ea typeface="Zen Kaku Gothic New" pitchFamily="34" charset="-122"/>
                <a:cs typeface="Zen Kaku Gothic New" pitchFamily="34" charset="-120"/>
              </a:rPr>
              <a:t>結び目として。</a:t>
            </a:r>
            <a:endParaRPr lang="en-US" sz="2400" dirty="0"/>
          </a:p>
        </p:txBody>
      </p:sp>
      <p:sp>
        <p:nvSpPr>
          <p:cNvPr id="40" name="Text 38"/>
          <p:cNvSpPr/>
          <p:nvPr/>
        </p:nvSpPr>
        <p:spPr>
          <a:xfrm>
            <a:off x="8220491" y="1771154"/>
            <a:ext cx="3237592" cy="112825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220"/>
              </a:lnSpc>
              <a:buNone/>
            </a:pPr>
            <a:r>
              <a:rPr lang="en-US" sz="1200" dirty="0">
                <a:solidFill>
                  <a:srgbClr val="3D4249"/>
                </a:solidFill>
                <a:latin typeface="Zen Kaku Gothic New" pitchFamily="34" charset="0"/>
                <a:ea typeface="Zen Kaku Gothic New" pitchFamily="34" charset="-122"/>
                <a:cs typeface="Zen Kaku Gothic New" pitchFamily="34" charset="-120"/>
              </a:rPr>
              <a:t>一つの事業で得た知見と信頼が、別の結び</a:t>
            </a:r>
            <a:endParaRPr lang="en-US" sz="1200" dirty="0"/>
          </a:p>
          <a:p>
            <a:pPr algn="l" indent="0" marL="0">
              <a:lnSpc>
                <a:spcPts val="2220"/>
              </a:lnSpc>
              <a:buNone/>
            </a:pPr>
            <a:r>
              <a:rPr lang="en-US" sz="1200" dirty="0">
                <a:solidFill>
                  <a:srgbClr val="3D4249"/>
                </a:solidFill>
                <a:latin typeface="Zen Kaku Gothic New" pitchFamily="34" charset="0"/>
                <a:ea typeface="Zen Kaku Gothic New" pitchFamily="34" charset="-122"/>
                <a:cs typeface="Zen Kaku Gothic New" pitchFamily="34" charset="-120"/>
              </a:rPr>
              <a:t>目を強くする。三つの力が重なるから、事</a:t>
            </a:r>
            <a:endParaRPr lang="en-US" sz="1200" dirty="0"/>
          </a:p>
          <a:p>
            <a:pPr algn="l" indent="0" marL="0">
              <a:lnSpc>
                <a:spcPts val="2220"/>
              </a:lnSpc>
              <a:buNone/>
            </a:pPr>
            <a:r>
              <a:rPr lang="en-US" sz="1200" dirty="0">
                <a:solidFill>
                  <a:srgbClr val="3D4249"/>
                </a:solidFill>
                <a:latin typeface="Zen Kaku Gothic New" pitchFamily="34" charset="0"/>
                <a:ea typeface="Zen Kaku Gothic New" pitchFamily="34" charset="-122"/>
                <a:cs typeface="Zen Kaku Gothic New" pitchFamily="34" charset="-120"/>
              </a:rPr>
              <a:t>業どうしも響き合う。それが、ほかの誰に</a:t>
            </a:r>
            <a:endParaRPr lang="en-US" sz="1200" dirty="0"/>
          </a:p>
          <a:p>
            <a:pPr algn="l" indent="0" marL="0">
              <a:lnSpc>
                <a:spcPts val="2220"/>
              </a:lnSpc>
              <a:buNone/>
            </a:pPr>
            <a:r>
              <a:rPr lang="en-US" sz="1200" dirty="0">
                <a:solidFill>
                  <a:srgbClr val="3D4249"/>
                </a:solidFill>
                <a:latin typeface="Zen Kaku Gothic New" pitchFamily="34" charset="0"/>
                <a:ea typeface="Zen Kaku Gothic New" pitchFamily="34" charset="-122"/>
                <a:cs typeface="Zen Kaku Gothic New" pitchFamily="34" charset="-120"/>
              </a:rPr>
              <a:t>もない私たちのかたちです。</a:t>
            </a:r>
            <a:endParaRPr lang="en-US" sz="1200" dirty="0"/>
          </a:p>
        </p:txBody>
      </p:sp>
      <p:sp>
        <p:nvSpPr>
          <p:cNvPr id="41" name="Text 39"/>
          <p:cNvSpPr/>
          <p:nvPr/>
        </p:nvSpPr>
        <p:spPr>
          <a:xfrm>
            <a:off x="4027659" y="6047842"/>
            <a:ext cx="3090625" cy="25411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000"/>
              </a:lnSpc>
              <a:buNone/>
            </a:pPr>
            <a:r>
              <a:rPr lang="en-US" sz="1400" b="1" spc="50" kern="0" dirty="0">
                <a:solidFill>
                  <a:srgbClr val="121519"/>
                </a:solidFill>
                <a:latin typeface="Zen Kaku Gothic New" pitchFamily="34" charset="0"/>
                <a:ea typeface="Zen Kaku Gothic New" pitchFamily="34" charset="-122"/>
                <a:cs typeface="Zen Kaku Gothic New" pitchFamily="34" charset="-120"/>
              </a:rPr>
              <a:t>結び目どうしも、つながっている</a:t>
            </a:r>
            <a:endParaRPr lang="en-US" sz="1400" dirty="0"/>
          </a:p>
        </p:txBody>
      </p:sp>
      <p:sp>
        <p:nvSpPr>
          <p:cNvPr id="42" name="Text 40"/>
          <p:cNvSpPr/>
          <p:nvPr/>
        </p:nvSpPr>
        <p:spPr>
          <a:xfrm>
            <a:off x="4027659" y="6304494"/>
            <a:ext cx="2510617" cy="22361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760"/>
              </a:lnSpc>
              <a:buNone/>
            </a:pPr>
            <a:r>
              <a:rPr lang="en-US" sz="1100" dirty="0">
                <a:solidFill>
                  <a:srgbClr val="7D838A"/>
                </a:solidFill>
                <a:latin typeface="Zen Kaku Gothic New" pitchFamily="34" charset="0"/>
                <a:ea typeface="Zen Kaku Gothic New" pitchFamily="34" charset="-122"/>
                <a:cs typeface="Zen Kaku Gothic New" pitchFamily="34" charset="-120"/>
              </a:rPr>
              <a:t>事業の間にも、三つの力が行き交う</a:t>
            </a:r>
            <a:endParaRPr lang="en-US" sz="1100" dirty="0"/>
          </a:p>
        </p:txBody>
      </p:sp>
      <p:sp>
        <p:nvSpPr>
          <p:cNvPr id="43" name="Text 41"/>
          <p:cNvSpPr/>
          <p:nvPr/>
        </p:nvSpPr>
        <p:spPr>
          <a:xfrm>
            <a:off x="4408826" y="6838127"/>
            <a:ext cx="2019269" cy="23632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860"/>
              </a:lnSpc>
              <a:buNone/>
            </a:pPr>
            <a:r>
              <a:rPr lang="en-US" sz="1200" b="1" spc="30" kern="0" dirty="0">
                <a:solidFill>
                  <a:srgbClr val="121519"/>
                </a:solidFill>
                <a:latin typeface="Zen Kaku Gothic New" pitchFamily="34" charset="0"/>
                <a:ea typeface="Zen Kaku Gothic New" pitchFamily="34" charset="-122"/>
                <a:cs typeface="Zen Kaku Gothic New" pitchFamily="34" charset="-120"/>
              </a:rPr>
              <a:t>原料炭 × トレーディング</a:t>
            </a:r>
            <a:endParaRPr lang="en-US" sz="1200" dirty="0"/>
          </a:p>
        </p:txBody>
      </p:sp>
      <p:sp>
        <p:nvSpPr>
          <p:cNvPr id="44" name="Text 42"/>
          <p:cNvSpPr/>
          <p:nvPr/>
        </p:nvSpPr>
        <p:spPr>
          <a:xfrm>
            <a:off x="4027659" y="7117649"/>
            <a:ext cx="2793851" cy="22361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760"/>
              </a:lnSpc>
              <a:buNone/>
            </a:pPr>
            <a:r>
              <a:rPr lang="en-US" sz="1100" dirty="0">
                <a:solidFill>
                  <a:srgbClr val="121519"/>
                </a:solidFill>
                <a:latin typeface="Zen Kaku Gothic New" pitchFamily="34" charset="0"/>
                <a:ea typeface="Zen Kaku Gothic New" pitchFamily="34" charset="-122"/>
                <a:cs typeface="Zen Kaku Gothic New" pitchFamily="34" charset="-120"/>
              </a:rPr>
              <a:t>BMAの原料炭を、RtMが世界の製鉄所へ</a:t>
            </a:r>
            <a:endParaRPr lang="en-US" sz="1100" dirty="0"/>
          </a:p>
        </p:txBody>
      </p:sp>
      <p:sp>
        <p:nvSpPr>
          <p:cNvPr id="45" name="Text 43"/>
          <p:cNvSpPr/>
          <p:nvPr/>
        </p:nvSpPr>
        <p:spPr>
          <a:xfrm>
            <a:off x="4408826" y="7625871"/>
            <a:ext cx="987876" cy="23632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860"/>
              </a:lnSpc>
              <a:buNone/>
            </a:pPr>
            <a:r>
              <a:rPr lang="en-US" sz="1200" b="1" spc="30" kern="0" dirty="0">
                <a:solidFill>
                  <a:srgbClr val="121519"/>
                </a:solidFill>
                <a:latin typeface="Zen Kaku Gothic New" pitchFamily="34" charset="0"/>
                <a:ea typeface="Zen Kaku Gothic New" pitchFamily="34" charset="-122"/>
                <a:cs typeface="Zen Kaku Gothic New" pitchFamily="34" charset="-120"/>
              </a:rPr>
              <a:t>銅 × 新技術</a:t>
            </a:r>
            <a:endParaRPr lang="en-US" sz="1200" dirty="0"/>
          </a:p>
        </p:txBody>
      </p:sp>
      <p:sp>
        <p:nvSpPr>
          <p:cNvPr id="46" name="Text 44"/>
          <p:cNvSpPr/>
          <p:nvPr/>
        </p:nvSpPr>
        <p:spPr>
          <a:xfrm>
            <a:off x="4027659" y="7905393"/>
            <a:ext cx="2824861" cy="22361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760"/>
              </a:lnSpc>
              <a:buNone/>
            </a:pPr>
            <a:r>
              <a:rPr lang="en-US" sz="1100" dirty="0">
                <a:solidFill>
                  <a:srgbClr val="121519"/>
                </a:solidFill>
                <a:latin typeface="Zen Kaku Gothic New" pitchFamily="34" charset="0"/>
                <a:ea typeface="Zen Kaku Gothic New" pitchFamily="34" charset="-122"/>
                <a:cs typeface="Zen Kaku Gothic New" pitchFamily="34" charset="-120"/>
              </a:rPr>
              <a:t>低品位鉱からの銅回収に、Jettiの技術を</a:t>
            </a:r>
            <a:endParaRPr lang="en-US" sz="1100" dirty="0"/>
          </a:p>
        </p:txBody>
      </p:sp>
      <p:sp>
        <p:nvSpPr>
          <p:cNvPr id="47" name="Text 45"/>
          <p:cNvSpPr/>
          <p:nvPr/>
        </p:nvSpPr>
        <p:spPr>
          <a:xfrm>
            <a:off x="4408826" y="8413615"/>
            <a:ext cx="2019269" cy="23632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860"/>
              </a:lnSpc>
              <a:buNone/>
            </a:pPr>
            <a:r>
              <a:rPr lang="en-US" sz="1200" b="1" spc="30" kern="0" dirty="0">
                <a:solidFill>
                  <a:srgbClr val="121519"/>
                </a:solidFill>
                <a:latin typeface="Zen Kaku Gothic New" pitchFamily="34" charset="0"/>
                <a:ea typeface="Zen Kaku Gothic New" pitchFamily="34" charset="-122"/>
                <a:cs typeface="Zen Kaku Gothic New" pitchFamily="34" charset="-120"/>
              </a:rPr>
              <a:t>新技術 × トレーディング</a:t>
            </a:r>
            <a:endParaRPr lang="en-US" sz="1200" dirty="0"/>
          </a:p>
        </p:txBody>
      </p:sp>
      <p:sp>
        <p:nvSpPr>
          <p:cNvPr id="48" name="Text 46"/>
          <p:cNvSpPr/>
          <p:nvPr/>
        </p:nvSpPr>
        <p:spPr>
          <a:xfrm>
            <a:off x="4027659" y="8693137"/>
            <a:ext cx="2939290" cy="22361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760"/>
              </a:lnSpc>
              <a:buNone/>
            </a:pPr>
            <a:r>
              <a:rPr lang="en-US" sz="1100" dirty="0">
                <a:solidFill>
                  <a:srgbClr val="121519"/>
                </a:solidFill>
                <a:latin typeface="Zen Kaku Gothic New" pitchFamily="34" charset="0"/>
                <a:ea typeface="Zen Kaku Gothic New" pitchFamily="34" charset="-122"/>
                <a:cs typeface="Zen Kaku Gothic New" pitchFamily="34" charset="-120"/>
              </a:rPr>
              <a:t>新しい技術で生まれた銅を、RtMが市場へ</a:t>
            </a:r>
            <a:endParaRPr lang="en-US" sz="1100" dirty="0"/>
          </a:p>
        </p:txBody>
      </p:sp>
      <p:sp>
        <p:nvSpPr>
          <p:cNvPr id="49" name="Text 47"/>
          <p:cNvSpPr/>
          <p:nvPr/>
        </p:nvSpPr>
        <p:spPr>
          <a:xfrm>
            <a:off x="11523933" y="6174897"/>
            <a:ext cx="512907" cy="19058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500"/>
              </a:lnSpc>
              <a:buNone/>
            </a:pPr>
            <a:r>
              <a:rPr lang="en-US" sz="1100" spc="120" kern="0" dirty="0">
                <a:solidFill>
                  <a:srgbClr val="9C7442"/>
                </a:solidFill>
                <a:latin typeface="Manrope SemiBold" pitchFamily="34" charset="0"/>
                <a:ea typeface="Manrope SemiBold" pitchFamily="34" charset="-122"/>
                <a:cs typeface="Manrope SemiBold" pitchFamily="34" charset="-120"/>
              </a:rPr>
              <a:t>NEXT</a:t>
            </a:r>
            <a:endParaRPr lang="en-US" sz="1100" dirty="0"/>
          </a:p>
        </p:txBody>
      </p:sp>
      <p:sp>
        <p:nvSpPr>
          <p:cNvPr id="50" name="Text 48"/>
          <p:cNvSpPr/>
          <p:nvPr/>
        </p:nvSpPr>
        <p:spPr>
          <a:xfrm>
            <a:off x="11523933" y="6422655"/>
            <a:ext cx="2636402" cy="10291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00"/>
              </a:lnSpc>
              <a:buNone/>
            </a:pPr>
            <a:r>
              <a:rPr lang="en-US" sz="1800" b="1" spc="50" kern="0" dirty="0">
                <a:solidFill>
                  <a:srgbClr val="121519"/>
                </a:solidFill>
                <a:latin typeface="Zen Kaku Gothic New" pitchFamily="34" charset="0"/>
                <a:ea typeface="Zen Kaku Gothic New" pitchFamily="34" charset="-122"/>
                <a:cs typeface="Zen Kaku Gothic New" pitchFamily="34" charset="-120"/>
              </a:rPr>
              <a:t>撚り合わせた力が、</a:t>
            </a:r>
            <a:endParaRPr lang="en-US" sz="1800" dirty="0"/>
          </a:p>
          <a:p>
            <a:pPr algn="l" indent="0" marL="0">
              <a:lnSpc>
                <a:spcPts val="2700"/>
              </a:lnSpc>
              <a:buNone/>
            </a:pPr>
            <a:r>
              <a:rPr lang="en-US" sz="1800" b="1" spc="50" kern="0" dirty="0">
                <a:solidFill>
                  <a:srgbClr val="121519"/>
                </a:solidFill>
                <a:latin typeface="Zen Kaku Gothic New" pitchFamily="34" charset="0"/>
                <a:ea typeface="Zen Kaku Gothic New" pitchFamily="34" charset="-122"/>
                <a:cs typeface="Zen Kaku Gothic New" pitchFamily="34" charset="-120"/>
              </a:rPr>
              <a:t>パートナーにとっての</a:t>
            </a:r>
            <a:endParaRPr lang="en-US" sz="1800" dirty="0"/>
          </a:p>
          <a:p>
            <a:pPr algn="l" indent="0" marL="0">
              <a:lnSpc>
                <a:spcPts val="2700"/>
              </a:lnSpc>
              <a:buNone/>
            </a:pPr>
            <a:r>
              <a:rPr lang="en-US" sz="1800" b="1" spc="50" kern="0" dirty="0">
                <a:solidFill>
                  <a:srgbClr val="121519"/>
                </a:solidFill>
                <a:latin typeface="Zen Kaku Gothic New" pitchFamily="34" charset="0"/>
                <a:ea typeface="Zen Kaku Gothic New" pitchFamily="34" charset="-122"/>
                <a:cs typeface="Zen Kaku Gothic New" pitchFamily="34" charset="-120"/>
              </a:rPr>
              <a:t>価値になる。</a:t>
            </a:r>
            <a:endParaRPr lang="en-US" sz="1800" dirty="0"/>
          </a:p>
        </p:txBody>
      </p:sp>
      <p:sp>
        <p:nvSpPr>
          <p:cNvPr id="51" name="Text 49"/>
          <p:cNvSpPr/>
          <p:nvPr/>
        </p:nvSpPr>
        <p:spPr>
          <a:xfrm>
            <a:off x="11523933" y="7514062"/>
            <a:ext cx="3447016" cy="56412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220"/>
              </a:lnSpc>
              <a:buNone/>
            </a:pPr>
            <a:r>
              <a:rPr lang="en-US" sz="1200" dirty="0">
                <a:solidFill>
                  <a:srgbClr val="3D4249"/>
                </a:solidFill>
                <a:latin typeface="Zen Kaku Gothic New" pitchFamily="34" charset="0"/>
                <a:ea typeface="Zen Kaku Gothic New" pitchFamily="34" charset="-122"/>
                <a:cs typeface="Zen Kaku Gothic New" pitchFamily="34" charset="-120"/>
              </a:rPr>
              <a:t>だから、世界の資源メジャーと長く組み、選</a:t>
            </a:r>
            <a:endParaRPr lang="en-US" sz="1200" dirty="0"/>
          </a:p>
          <a:p>
            <a:pPr algn="l" indent="0" marL="0">
              <a:lnSpc>
                <a:spcPts val="2220"/>
              </a:lnSpc>
              <a:buNone/>
            </a:pPr>
            <a:r>
              <a:rPr lang="en-US" sz="1200" dirty="0">
                <a:solidFill>
                  <a:srgbClr val="3D4249"/>
                </a:solidFill>
                <a:latin typeface="Zen Kaku Gothic New" pitchFamily="34" charset="0"/>
                <a:ea typeface="Zen Kaku Gothic New" pitchFamily="34" charset="-122"/>
                <a:cs typeface="Zen Kaku Gothic New" pitchFamily="34" charset="-120"/>
              </a:rPr>
              <a:t>ばれ続けている。</a:t>
            </a:r>
            <a:endParaRPr lang="en-US" sz="1200" dirty="0"/>
          </a:p>
        </p:txBody>
      </p:sp>
      <p:sp>
        <p:nvSpPr>
          <p:cNvPr id="52" name="Text 50"/>
          <p:cNvSpPr/>
          <p:nvPr/>
        </p:nvSpPr>
        <p:spPr>
          <a:xfrm>
            <a:off x="11523933" y="8258607"/>
            <a:ext cx="1958560" cy="19058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500"/>
              </a:lnSpc>
              <a:buNone/>
            </a:pPr>
            <a:r>
              <a:rPr lang="en-US" sz="1100" spc="30" kern="0" dirty="0">
                <a:solidFill>
                  <a:srgbClr val="A8622F"/>
                </a:solidFill>
                <a:latin typeface="Zen Kaku Gothic New Medium" pitchFamily="34" charset="0"/>
                <a:ea typeface="Zen Kaku Gothic New Medium" pitchFamily="34" charset="-122"/>
                <a:cs typeface="Zen Kaku Gothic New Medium" pitchFamily="34" charset="-120"/>
              </a:rPr>
              <a:t>→ P.10　選ばれ続ける理由</a:t>
            </a:r>
            <a:endParaRPr lang="en-US" sz="1100" dirty="0"/>
          </a:p>
        </p:txBody>
      </p:sp>
      <p:sp>
        <p:nvSpPr>
          <p:cNvPr id="53" name="Text 51"/>
          <p:cNvSpPr/>
          <p:nvPr/>
        </p:nvSpPr>
        <p:spPr>
          <a:xfrm>
            <a:off x="508222" y="10316906"/>
            <a:ext cx="286887" cy="19058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500"/>
              </a:lnSpc>
              <a:buNone/>
            </a:pPr>
            <a:r>
              <a:rPr lang="en-US" sz="1100" spc="160" kern="0" dirty="0">
                <a:solidFill>
                  <a:srgbClr val="7D838A"/>
                </a:solidFill>
                <a:latin typeface="Manrope SemiBold" pitchFamily="34" charset="0"/>
                <a:ea typeface="Manrope SemiBold" pitchFamily="34" charset="-122"/>
                <a:cs typeface="Manrope SemiBold" pitchFamily="34" charset="-120"/>
              </a:rPr>
              <a:t>08</a:t>
            </a:r>
            <a:endParaRPr lang="en-US" sz="1100" dirty="0"/>
          </a:p>
        </p:txBody>
      </p:sp>
      <p:sp>
        <p:nvSpPr>
          <p:cNvPr id="54" name="Text 52"/>
          <p:cNvSpPr/>
          <p:nvPr/>
        </p:nvSpPr>
        <p:spPr>
          <a:xfrm>
            <a:off x="14458915" y="10316906"/>
            <a:ext cx="289945" cy="19058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500"/>
              </a:lnSpc>
              <a:buNone/>
            </a:pPr>
            <a:r>
              <a:rPr lang="en-US" sz="1100" spc="160" kern="0" dirty="0">
                <a:solidFill>
                  <a:srgbClr val="7D838A"/>
                </a:solidFill>
                <a:latin typeface="Manrope SemiBold" pitchFamily="34" charset="0"/>
                <a:ea typeface="Manrope SemiBold" pitchFamily="34" charset="-122"/>
                <a:cs typeface="Manrope SemiBold" pitchFamily="34" charset="-120"/>
              </a:rPr>
              <a:t>09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92831" y="3633787"/>
            <a:ext cx="4484960" cy="304933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4000"/>
              </a:lnSpc>
              <a:buNone/>
            </a:pPr>
            <a:r>
              <a:rPr lang="en-US" sz="30000" spc="-1200" kern="0" dirty="0">
                <a:solidFill>
                  <a:srgbClr val="000000">
                    <a:alpha val="0"/>
                  </a:srgbClr>
                </a:solidFill>
                <a:latin typeface="Manrope Light" pitchFamily="34" charset="0"/>
                <a:ea typeface="Manrope Light" pitchFamily="34" charset="-122"/>
                <a:cs typeface="Manrope Light" pitchFamily="34" charset="-120"/>
              </a:rPr>
              <a:t>03</a:t>
            </a:r>
            <a:endParaRPr lang="en-US" sz="30000" dirty="0"/>
          </a:p>
        </p:txBody>
      </p:sp>
      <p:sp>
        <p:nvSpPr>
          <p:cNvPr id="3" name="Text 1"/>
          <p:cNvSpPr/>
          <p:nvPr/>
        </p:nvSpPr>
        <p:spPr>
          <a:xfrm>
            <a:off x="11816161" y="2286999"/>
            <a:ext cx="4652673" cy="304933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4000"/>
              </a:lnSpc>
              <a:buNone/>
            </a:pPr>
            <a:r>
              <a:rPr lang="en-US" sz="30000" spc="-1200" kern="0" dirty="0">
                <a:solidFill>
                  <a:srgbClr val="000000">
                    <a:alpha val="0"/>
                  </a:srgbClr>
                </a:solidFill>
                <a:latin typeface="Manrope Light" pitchFamily="34" charset="0"/>
                <a:ea typeface="Manrope Light" pitchFamily="34" charset="-122"/>
                <a:cs typeface="Manrope Light" pitchFamily="34" charset="-120"/>
              </a:rPr>
              <a:t>04</a:t>
            </a:r>
            <a:endParaRPr lang="en-US" sz="30000" dirty="0"/>
          </a:p>
        </p:txBody>
      </p:sp>
      <p:sp>
        <p:nvSpPr>
          <p:cNvPr id="4" name="Text 2"/>
          <p:cNvSpPr/>
          <p:nvPr/>
        </p:nvSpPr>
        <p:spPr>
          <a:xfrm>
            <a:off x="127055" y="2947688"/>
            <a:ext cx="1369599" cy="19058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500"/>
              </a:lnSpc>
              <a:buNone/>
            </a:pPr>
            <a:r>
              <a:rPr lang="en-US" sz="1100" spc="60" kern="0" dirty="0">
                <a:solidFill>
                  <a:srgbClr val="FFFFFF"/>
                </a:solidFill>
                <a:latin typeface="Zen Kaku Gothic New Medium" pitchFamily="34" charset="0"/>
                <a:ea typeface="Zen Kaku Gothic New Medium" pitchFamily="34" charset="-122"/>
                <a:cs typeface="Zen Kaku Gothic New Medium" pitchFamily="34" charset="-120"/>
              </a:rPr>
              <a:t>パートナーシップ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737680" y="1804188"/>
            <a:ext cx="1358680" cy="19058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500"/>
              </a:lnSpc>
              <a:buNone/>
            </a:pPr>
            <a:r>
              <a:rPr lang="en-US" sz="1100" spc="60" kern="0" dirty="0">
                <a:solidFill>
                  <a:srgbClr val="FFFFFF"/>
                </a:solidFill>
                <a:latin typeface="Zen Kaku Gothic New Medium" pitchFamily="34" charset="0"/>
                <a:ea typeface="Zen Kaku Gothic New Medium" pitchFamily="34" charset="-122"/>
                <a:cs typeface="Zen Kaku Gothic New Medium" pitchFamily="34" charset="-120"/>
              </a:rPr>
              <a:t>社会を支える資源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508222" y="3328854"/>
            <a:ext cx="496747" cy="19058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500"/>
              </a:lnSpc>
              <a:buNone/>
            </a:pPr>
            <a:r>
              <a:rPr lang="en-US" sz="1100" spc="120" kern="0" dirty="0">
                <a:solidFill>
                  <a:srgbClr val="9C7442"/>
                </a:solidFill>
                <a:latin typeface="Zen Kaku Gothic New Medium" pitchFamily="34" charset="0"/>
                <a:ea typeface="Zen Kaku Gothic New Medium" pitchFamily="34" charset="-122"/>
                <a:cs typeface="Zen Kaku Gothic New Medium" pitchFamily="34" charset="-120"/>
              </a:rPr>
              <a:t>第3章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508222" y="3519437"/>
            <a:ext cx="1325487" cy="20328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600"/>
              </a:lnSpc>
              <a:buNone/>
            </a:pPr>
            <a:r>
              <a:rPr lang="en-US" sz="1100" spc="40" kern="0" dirty="0">
                <a:solidFill>
                  <a:srgbClr val="7D838A"/>
                </a:solidFill>
                <a:latin typeface="Zen Kaku Gothic New" pitchFamily="34" charset="0"/>
                <a:ea typeface="Zen Kaku Gothic New" pitchFamily="34" charset="-122"/>
                <a:cs typeface="Zen Kaku Gothic New" pitchFamily="34" charset="-120"/>
              </a:rPr>
              <a:t>選ばれ続ける理由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508222" y="3781934"/>
            <a:ext cx="3845116" cy="44062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3468"/>
              </a:lnSpc>
              <a:buNone/>
            </a:pPr>
            <a:r>
              <a:rPr lang="en-US" sz="3400" spc="-85" kern="0" dirty="0">
                <a:solidFill>
                  <a:srgbClr val="121519"/>
                </a:solidFill>
                <a:latin typeface="Manrope SemiBold" pitchFamily="34" charset="0"/>
                <a:ea typeface="Manrope SemiBold" pitchFamily="34" charset="-122"/>
                <a:cs typeface="Manrope SemiBold" pitchFamily="34" charset="-120"/>
              </a:rPr>
              <a:t>Partner of choice.</a:t>
            </a:r>
            <a:endParaRPr lang="en-US" sz="3400" dirty="0"/>
          </a:p>
        </p:txBody>
      </p:sp>
      <p:sp>
        <p:nvSpPr>
          <p:cNvPr id="9" name="Text 7"/>
          <p:cNvSpPr/>
          <p:nvPr/>
        </p:nvSpPr>
        <p:spPr>
          <a:xfrm>
            <a:off x="508222" y="4503125"/>
            <a:ext cx="4013266" cy="2477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950"/>
              </a:lnSpc>
              <a:buNone/>
            </a:pPr>
            <a:r>
              <a:rPr lang="en-US" sz="1300" b="1" spc="50" kern="0" dirty="0">
                <a:solidFill>
                  <a:srgbClr val="121519"/>
                </a:solidFill>
                <a:latin typeface="Zen Kaku Gothic New" pitchFamily="34" charset="0"/>
                <a:ea typeface="Zen Kaku Gothic New" pitchFamily="34" charset="-122"/>
                <a:cs typeface="Zen Kaku Gothic New" pitchFamily="34" charset="-120"/>
              </a:rPr>
              <a:t>資源業界に不可欠な存在として、選ばれ続ける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508222" y="4799799"/>
            <a:ext cx="355458" cy="2896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280"/>
              </a:lnSpc>
              <a:buNone/>
            </a:pPr>
            <a:r>
              <a:rPr lang="en-US" sz="2400" spc="-72" kern="0" dirty="0">
                <a:solidFill>
                  <a:srgbClr val="9C7442"/>
                </a:solidFill>
                <a:latin typeface="Manrope Light" pitchFamily="34" charset="0"/>
                <a:ea typeface="Manrope Light" pitchFamily="34" charset="-122"/>
                <a:cs typeface="Manrope Light" pitchFamily="34" charset="-120"/>
              </a:rPr>
              <a:t>01</a:t>
            </a:r>
            <a:endParaRPr lang="en-US" sz="2400" dirty="0"/>
          </a:p>
        </p:txBody>
      </p:sp>
      <p:sp>
        <p:nvSpPr>
          <p:cNvPr id="11" name="Text 9"/>
          <p:cNvSpPr/>
          <p:nvPr/>
        </p:nvSpPr>
        <p:spPr>
          <a:xfrm>
            <a:off x="965622" y="4811234"/>
            <a:ext cx="1271984" cy="19058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500"/>
              </a:lnSpc>
              <a:buNone/>
            </a:pPr>
            <a:r>
              <a:rPr lang="en-US" sz="1100" spc="30" kern="0" dirty="0">
                <a:solidFill>
                  <a:srgbClr val="7D838A"/>
                </a:solidFill>
                <a:latin typeface="Manrope SemiBold" pitchFamily="34" charset="0"/>
                <a:ea typeface="Manrope SemiBold" pitchFamily="34" charset="-122"/>
                <a:cs typeface="Manrope SemiBold" pitchFamily="34" charset="-120"/>
              </a:rPr>
              <a:t>Cultural affinity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965622" y="5007217"/>
            <a:ext cx="2653217" cy="25601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015"/>
              </a:lnSpc>
              <a:buNone/>
            </a:pPr>
            <a:r>
              <a:rPr lang="en-US" sz="1300" b="1" spc="30" kern="0" dirty="0">
                <a:solidFill>
                  <a:srgbClr val="121519"/>
                </a:solidFill>
                <a:latin typeface="Zen Kaku Gothic New" pitchFamily="34" charset="0"/>
                <a:ea typeface="Zen Kaku Gothic New" pitchFamily="34" charset="-122"/>
                <a:cs typeface="Zen Kaku Gothic New" pitchFamily="34" charset="-120"/>
              </a:rPr>
              <a:t>資源メジャーとの文化的親和性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3837076" y="4799799"/>
            <a:ext cx="418350" cy="2896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280"/>
              </a:lnSpc>
              <a:buNone/>
            </a:pPr>
            <a:r>
              <a:rPr lang="en-US" sz="2400" spc="-72" kern="0" dirty="0">
                <a:solidFill>
                  <a:srgbClr val="9C7442"/>
                </a:solidFill>
                <a:latin typeface="Manrope Light" pitchFamily="34" charset="0"/>
                <a:ea typeface="Manrope Light" pitchFamily="34" charset="-122"/>
                <a:cs typeface="Manrope Light" pitchFamily="34" charset="-120"/>
              </a:rPr>
              <a:t>02</a:t>
            </a:r>
            <a:endParaRPr lang="en-US" sz="2400" dirty="0"/>
          </a:p>
        </p:txBody>
      </p:sp>
      <p:sp>
        <p:nvSpPr>
          <p:cNvPr id="14" name="Text 12"/>
          <p:cNvSpPr/>
          <p:nvPr/>
        </p:nvSpPr>
        <p:spPr>
          <a:xfrm>
            <a:off x="4294476" y="4811234"/>
            <a:ext cx="1279628" cy="19058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500"/>
              </a:lnSpc>
              <a:buNone/>
            </a:pPr>
            <a:r>
              <a:rPr lang="en-US" sz="1100" spc="30" kern="0" dirty="0">
                <a:solidFill>
                  <a:srgbClr val="7D838A"/>
                </a:solidFill>
                <a:latin typeface="Manrope SemiBold" pitchFamily="34" charset="0"/>
                <a:ea typeface="Manrope SemiBold" pitchFamily="34" charset="-122"/>
                <a:cs typeface="Manrope SemiBold" pitchFamily="34" charset="-120"/>
              </a:rPr>
              <a:t>JV management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4294476" y="5007217"/>
            <a:ext cx="2873559" cy="25601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015"/>
              </a:lnSpc>
              <a:buNone/>
            </a:pPr>
            <a:r>
              <a:rPr lang="en-US" sz="1300" b="1" spc="30" kern="0" dirty="0">
                <a:solidFill>
                  <a:srgbClr val="121519"/>
                </a:solidFill>
                <a:latin typeface="Zen Kaku Gothic New" pitchFamily="34" charset="0"/>
                <a:ea typeface="Zen Kaku Gothic New" pitchFamily="34" charset="-122"/>
                <a:cs typeface="Zen Kaku Gothic New" pitchFamily="34" charset="-120"/>
              </a:rPr>
              <a:t>資源投資に裏打ちされたJV経営力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508222" y="5358843"/>
            <a:ext cx="412454" cy="2896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280"/>
              </a:lnSpc>
              <a:buNone/>
            </a:pPr>
            <a:r>
              <a:rPr lang="en-US" sz="2400" spc="-72" kern="0" dirty="0">
                <a:solidFill>
                  <a:srgbClr val="9C7442"/>
                </a:solidFill>
                <a:latin typeface="Manrope Light" pitchFamily="34" charset="0"/>
                <a:ea typeface="Manrope Light" pitchFamily="34" charset="-122"/>
                <a:cs typeface="Manrope Light" pitchFamily="34" charset="-120"/>
              </a:rPr>
              <a:t>03</a:t>
            </a:r>
            <a:endParaRPr lang="en-US" sz="2400" dirty="0"/>
          </a:p>
        </p:txBody>
      </p:sp>
      <p:sp>
        <p:nvSpPr>
          <p:cNvPr id="17" name="Text 15"/>
          <p:cNvSpPr/>
          <p:nvPr/>
        </p:nvSpPr>
        <p:spPr>
          <a:xfrm>
            <a:off x="965622" y="5370278"/>
            <a:ext cx="1449088" cy="19058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500"/>
              </a:lnSpc>
              <a:buNone/>
            </a:pPr>
            <a:r>
              <a:rPr lang="en-US" sz="1100" spc="30" kern="0" dirty="0">
                <a:solidFill>
                  <a:srgbClr val="7D838A"/>
                </a:solidFill>
                <a:latin typeface="Manrope SemiBold" pitchFamily="34" charset="0"/>
                <a:ea typeface="Manrope SemiBold" pitchFamily="34" charset="-122"/>
                <a:cs typeface="Manrope SemiBold" pitchFamily="34" charset="-120"/>
              </a:rPr>
              <a:t>Financial strength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965622" y="5566262"/>
            <a:ext cx="2653217" cy="25601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015"/>
              </a:lnSpc>
              <a:buNone/>
            </a:pPr>
            <a:r>
              <a:rPr lang="en-US" sz="1300" b="1" spc="30" kern="0" dirty="0">
                <a:solidFill>
                  <a:srgbClr val="121519"/>
                </a:solidFill>
                <a:latin typeface="Zen Kaku Gothic New" pitchFamily="34" charset="0"/>
                <a:ea typeface="Zen Kaku Gothic New" pitchFamily="34" charset="-122"/>
                <a:cs typeface="Zen Kaku Gothic New" pitchFamily="34" charset="-120"/>
              </a:rPr>
              <a:t>健全な財務基盤とリスクシェア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3837076" y="5358843"/>
            <a:ext cx="425775" cy="2896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280"/>
              </a:lnSpc>
              <a:buNone/>
            </a:pPr>
            <a:r>
              <a:rPr lang="en-US" sz="2400" spc="-72" kern="0" dirty="0">
                <a:solidFill>
                  <a:srgbClr val="9C7442"/>
                </a:solidFill>
                <a:latin typeface="Manrope Light" pitchFamily="34" charset="0"/>
                <a:ea typeface="Manrope Light" pitchFamily="34" charset="-122"/>
                <a:cs typeface="Manrope Light" pitchFamily="34" charset="-120"/>
              </a:rPr>
              <a:t>04</a:t>
            </a:r>
            <a:endParaRPr lang="en-US" sz="2400" dirty="0"/>
          </a:p>
        </p:txBody>
      </p:sp>
      <p:sp>
        <p:nvSpPr>
          <p:cNvPr id="20" name="Text 18"/>
          <p:cNvSpPr/>
          <p:nvPr/>
        </p:nvSpPr>
        <p:spPr>
          <a:xfrm>
            <a:off x="4294476" y="5370278"/>
            <a:ext cx="1023908" cy="19058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500"/>
              </a:lnSpc>
              <a:buNone/>
            </a:pPr>
            <a:r>
              <a:rPr lang="en-US" sz="1100" spc="30" kern="0" dirty="0">
                <a:solidFill>
                  <a:srgbClr val="7D838A"/>
                </a:solidFill>
                <a:latin typeface="Manrope SemiBold" pitchFamily="34" charset="0"/>
                <a:ea typeface="Manrope SemiBold" pitchFamily="34" charset="-122"/>
                <a:cs typeface="Manrope SemiBold" pitchFamily="34" charset="-120"/>
              </a:rPr>
              <a:t>Deep insight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4294476" y="5566262"/>
            <a:ext cx="2839273" cy="25601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015"/>
              </a:lnSpc>
              <a:buNone/>
            </a:pPr>
            <a:r>
              <a:rPr lang="en-US" sz="1300" b="1" spc="30" kern="0" dirty="0">
                <a:solidFill>
                  <a:srgbClr val="121519"/>
                </a:solidFill>
                <a:latin typeface="Zen Kaku Gothic New" pitchFamily="34" charset="0"/>
                <a:ea typeface="Zen Kaku Gothic New" pitchFamily="34" charset="-122"/>
                <a:cs typeface="Zen Kaku Gothic New" pitchFamily="34" charset="-120"/>
              </a:rPr>
              <a:t>マクロとバリューチェーンの知見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508222" y="6030967"/>
            <a:ext cx="945511" cy="19058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500"/>
              </a:lnSpc>
              <a:buNone/>
            </a:pPr>
            <a:r>
              <a:rPr lang="en-US" sz="1100" spc="120" kern="0" dirty="0">
                <a:solidFill>
                  <a:srgbClr val="9C7442"/>
                </a:solidFill>
                <a:latin typeface="Zen Kaku Gothic New Medium" pitchFamily="34" charset="0"/>
                <a:ea typeface="Zen Kaku Gothic New Medium" pitchFamily="34" charset="-122"/>
                <a:cs typeface="Zen Kaku Gothic New Medium" pitchFamily="34" charset="-120"/>
              </a:rPr>
              <a:t>JVへの貢献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1524666" y="6030967"/>
            <a:ext cx="1962928" cy="20328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600"/>
              </a:lnSpc>
              <a:buNone/>
            </a:pPr>
            <a:r>
              <a:rPr lang="en-US" sz="1100" spc="40" kern="0" dirty="0">
                <a:solidFill>
                  <a:srgbClr val="7D838A"/>
                </a:solidFill>
                <a:latin typeface="Zen Kaku Gothic New" pitchFamily="34" charset="0"/>
                <a:ea typeface="Zen Kaku Gothic New" pitchFamily="34" charset="-122"/>
                <a:cs typeface="Zen Kaku Gothic New" pitchFamily="34" charset="-120"/>
              </a:rPr>
              <a:t>経営から現場まで伴走する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660689" y="6314896"/>
            <a:ext cx="422718" cy="25601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015"/>
              </a:lnSpc>
              <a:buNone/>
            </a:pPr>
            <a:r>
              <a:rPr lang="en-US" sz="1300" b="1" spc="30" kern="0" dirty="0">
                <a:solidFill>
                  <a:srgbClr val="FFFFFF"/>
                </a:solidFill>
                <a:latin typeface="Zen Kaku Gothic New" pitchFamily="34" charset="0"/>
                <a:ea typeface="Zen Kaku Gothic New" pitchFamily="34" charset="-122"/>
                <a:cs typeface="Zen Kaku Gothic New" pitchFamily="34" charset="-120"/>
              </a:rPr>
              <a:t>現場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647983" y="6717067"/>
            <a:ext cx="3069879" cy="8004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100"/>
              </a:lnSpc>
              <a:buNone/>
            </a:pPr>
            <a:r>
              <a:rPr lang="en-US" sz="1200" dirty="0">
                <a:solidFill>
                  <a:srgbClr val="121519"/>
                </a:solidFill>
                <a:latin typeface="Zen Kaku Gothic New" pitchFamily="34" charset="0"/>
                <a:ea typeface="Zen Kaku Gothic New" pitchFamily="34" charset="-122"/>
                <a:cs typeface="Zen Kaku Gothic New" pitchFamily="34" charset="-120"/>
              </a:rPr>
              <a:t>・長期目線での戦略策定と案件開発</a:t>
            </a:r>
            <a:endParaRPr lang="en-US" sz="1200" dirty="0"/>
          </a:p>
          <a:p>
            <a:pPr algn="l" indent="0" marL="0">
              <a:lnSpc>
                <a:spcPts val="2100"/>
              </a:lnSpc>
              <a:buNone/>
            </a:pPr>
            <a:r>
              <a:rPr lang="en-US" sz="1200" dirty="0">
                <a:solidFill>
                  <a:srgbClr val="121519"/>
                </a:solidFill>
                <a:latin typeface="Zen Kaku Gothic New" pitchFamily="34" charset="0"/>
                <a:ea typeface="Zen Kaku Gothic New" pitchFamily="34" charset="-122"/>
                <a:cs typeface="Zen Kaku Gothic New" pitchFamily="34" charset="-120"/>
              </a:rPr>
              <a:t>・幅広い産業接点を生かした知見の提供</a:t>
            </a:r>
            <a:endParaRPr lang="en-US" sz="1200" dirty="0"/>
          </a:p>
          <a:p>
            <a:pPr algn="l" indent="0" marL="0">
              <a:lnSpc>
                <a:spcPts val="2100"/>
              </a:lnSpc>
              <a:buNone/>
            </a:pPr>
            <a:r>
              <a:rPr lang="en-US" sz="1200" dirty="0">
                <a:solidFill>
                  <a:srgbClr val="121519"/>
                </a:solidFill>
                <a:latin typeface="Zen Kaku Gothic New" pitchFamily="34" charset="0"/>
                <a:ea typeface="Zen Kaku Gothic New" pitchFamily="34" charset="-122"/>
                <a:cs typeface="Zen Kaku Gothic New" pitchFamily="34" charset="-120"/>
              </a:rPr>
              <a:t>・人材派遣による操業支援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3989543" y="6314896"/>
            <a:ext cx="422718" cy="25601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015"/>
              </a:lnSpc>
              <a:buNone/>
            </a:pPr>
            <a:r>
              <a:rPr lang="en-US" sz="1300" b="1" spc="30" kern="0" dirty="0">
                <a:solidFill>
                  <a:srgbClr val="FFFFFF"/>
                </a:solidFill>
                <a:latin typeface="Zen Kaku Gothic New" pitchFamily="34" charset="0"/>
                <a:ea typeface="Zen Kaku Gothic New" pitchFamily="34" charset="-122"/>
                <a:cs typeface="Zen Kaku Gothic New" pitchFamily="34" charset="-120"/>
              </a:rPr>
              <a:t>経営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3976837" y="6717067"/>
            <a:ext cx="3069879" cy="8004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100"/>
              </a:lnSpc>
              <a:buNone/>
            </a:pPr>
            <a:r>
              <a:rPr lang="en-US" sz="1200" dirty="0">
                <a:solidFill>
                  <a:srgbClr val="121519"/>
                </a:solidFill>
                <a:latin typeface="Zen Kaku Gothic New" pitchFamily="34" charset="0"/>
                <a:ea typeface="Zen Kaku Gothic New" pitchFamily="34" charset="-122"/>
                <a:cs typeface="Zen Kaku Gothic New" pitchFamily="34" charset="-120"/>
              </a:rPr>
              <a:t>・中長期の事業計画・資本政策への参画</a:t>
            </a:r>
            <a:endParaRPr lang="en-US" sz="1200" dirty="0"/>
          </a:p>
          <a:p>
            <a:pPr algn="l" indent="0" marL="0">
              <a:lnSpc>
                <a:spcPts val="2100"/>
              </a:lnSpc>
              <a:buNone/>
            </a:pPr>
            <a:r>
              <a:rPr lang="en-US" sz="1200" dirty="0">
                <a:solidFill>
                  <a:srgbClr val="121519"/>
                </a:solidFill>
                <a:latin typeface="Zen Kaku Gothic New" pitchFamily="34" charset="0"/>
                <a:ea typeface="Zen Kaku Gothic New" pitchFamily="34" charset="-122"/>
                <a:cs typeface="Zen Kaku Gothic New" pitchFamily="34" charset="-120"/>
              </a:rPr>
              <a:t>・販売戦略・人事計画への関与</a:t>
            </a:r>
            <a:endParaRPr lang="en-US" sz="1200" dirty="0"/>
          </a:p>
          <a:p>
            <a:pPr algn="l" indent="0" marL="0">
              <a:lnSpc>
                <a:spcPts val="2100"/>
              </a:lnSpc>
              <a:buNone/>
            </a:pPr>
            <a:r>
              <a:rPr lang="en-US" sz="1200" dirty="0">
                <a:solidFill>
                  <a:srgbClr val="121519"/>
                </a:solidFill>
                <a:latin typeface="Zen Kaku Gothic New" pitchFamily="34" charset="0"/>
                <a:ea typeface="Zen Kaku Gothic New" pitchFamily="34" charset="-122"/>
                <a:cs typeface="Zen Kaku Gothic New" pitchFamily="34" charset="-120"/>
              </a:rPr>
              <a:t>・他JVのベストプラクティスの導入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730926" y="7992029"/>
            <a:ext cx="2095701" cy="25601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2015"/>
              </a:lnSpc>
              <a:buNone/>
            </a:pPr>
            <a:r>
              <a:rPr lang="en-US" sz="1300" b="1" spc="30" kern="0" dirty="0">
                <a:solidFill>
                  <a:srgbClr val="121519"/>
                </a:solidFill>
                <a:latin typeface="Zen Kaku Gothic New" pitchFamily="34" charset="0"/>
                <a:ea typeface="Zen Kaku Gothic New" pitchFamily="34" charset="-122"/>
                <a:cs typeface="Zen Kaku Gothic New" pitchFamily="34" charset="-120"/>
              </a:rPr>
              <a:t>「会社対会社」の関係へ</a:t>
            </a:r>
            <a:endParaRPr lang="en-US" sz="1300" dirty="0"/>
          </a:p>
        </p:txBody>
      </p:sp>
      <p:sp>
        <p:nvSpPr>
          <p:cNvPr id="29" name="Text 27"/>
          <p:cNvSpPr/>
          <p:nvPr/>
        </p:nvSpPr>
        <p:spPr>
          <a:xfrm>
            <a:off x="3600862" y="7992029"/>
            <a:ext cx="980452" cy="25601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2015"/>
              </a:lnSpc>
              <a:buNone/>
            </a:pPr>
            <a:r>
              <a:rPr lang="en-US" sz="1300" b="1" spc="30" kern="0" dirty="0">
                <a:solidFill>
                  <a:srgbClr val="121519"/>
                </a:solidFill>
                <a:latin typeface="Zen Kaku Gothic New" pitchFamily="34" charset="0"/>
                <a:ea typeface="Zen Kaku Gothic New" pitchFamily="34" charset="-122"/>
                <a:cs typeface="Zen Kaku Gothic New" pitchFamily="34" charset="-120"/>
              </a:rPr>
              <a:t>新たな協業</a:t>
            </a:r>
            <a:endParaRPr lang="en-US" sz="1300" dirty="0"/>
          </a:p>
        </p:txBody>
      </p:sp>
      <p:sp>
        <p:nvSpPr>
          <p:cNvPr id="30" name="Text 28"/>
          <p:cNvSpPr/>
          <p:nvPr/>
        </p:nvSpPr>
        <p:spPr>
          <a:xfrm>
            <a:off x="5323327" y="7992029"/>
            <a:ext cx="1537967" cy="25601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2015"/>
              </a:lnSpc>
              <a:buNone/>
            </a:pPr>
            <a:r>
              <a:rPr lang="en-US" sz="1300" b="1" spc="30" kern="0" dirty="0">
                <a:solidFill>
                  <a:srgbClr val="121519"/>
                </a:solidFill>
                <a:latin typeface="Zen Kaku Gothic New" pitchFamily="34" charset="0"/>
                <a:ea typeface="Zen Kaku Gothic New" pitchFamily="34" charset="-122"/>
                <a:cs typeface="Zen Kaku Gothic New" pitchFamily="34" charset="-120"/>
              </a:rPr>
              <a:t>強み・信頼の蓄積</a:t>
            </a:r>
            <a:endParaRPr lang="en-US" sz="1300" dirty="0"/>
          </a:p>
        </p:txBody>
      </p:sp>
      <p:sp>
        <p:nvSpPr>
          <p:cNvPr id="31" name="Text 29"/>
          <p:cNvSpPr/>
          <p:nvPr/>
        </p:nvSpPr>
        <p:spPr>
          <a:xfrm>
            <a:off x="4701053" y="8663557"/>
            <a:ext cx="819508" cy="22361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760"/>
              </a:lnSpc>
              <a:buNone/>
            </a:pPr>
            <a:r>
              <a:rPr lang="en-US" sz="1100" dirty="0">
                <a:solidFill>
                  <a:srgbClr val="9C7442"/>
                </a:solidFill>
                <a:latin typeface="Zen Kaku Gothic New" pitchFamily="34" charset="0"/>
                <a:ea typeface="Zen Kaku Gothic New" pitchFamily="34" charset="-122"/>
                <a:cs typeface="Zen Kaku Gothic New" pitchFamily="34" charset="-120"/>
              </a:rPr>
              <a:t>次の協業へ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508222" y="8996442"/>
            <a:ext cx="6088718" cy="28206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220"/>
              </a:lnSpc>
              <a:buNone/>
            </a:pPr>
            <a:r>
              <a:rPr lang="en-US" sz="1200" dirty="0">
                <a:solidFill>
                  <a:srgbClr val="3D4249"/>
                </a:solidFill>
                <a:latin typeface="Zen Kaku Gothic New" pitchFamily="34" charset="0"/>
                <a:ea typeface="Zen Kaku Gothic New" pitchFamily="34" charset="-122"/>
                <a:cs typeface="Zen Kaku Gothic New" pitchFamily="34" charset="-120"/>
              </a:rPr>
              <a:t>新たな協業が生まれ、その積み重ねが、さらなる強み・知見・信頼につながる。</a:t>
            </a:r>
            <a:endParaRPr lang="en-US" sz="1200" dirty="0"/>
          </a:p>
        </p:txBody>
      </p:sp>
      <p:sp>
        <p:nvSpPr>
          <p:cNvPr id="33" name="Text 31"/>
          <p:cNvSpPr/>
          <p:nvPr/>
        </p:nvSpPr>
        <p:spPr>
          <a:xfrm>
            <a:off x="508222" y="9664754"/>
            <a:ext cx="1464156" cy="19058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500"/>
              </a:lnSpc>
              <a:buNone/>
            </a:pPr>
            <a:r>
              <a:rPr lang="en-US" sz="1100" spc="120" kern="0" dirty="0">
                <a:solidFill>
                  <a:srgbClr val="9C7442"/>
                </a:solidFill>
                <a:latin typeface="Zen Kaku Gothic New Medium" pitchFamily="34" charset="0"/>
                <a:ea typeface="Zen Kaku Gothic New Medium" pitchFamily="34" charset="-122"/>
                <a:cs typeface="Zen Kaku Gothic New Medium" pitchFamily="34" charset="-120"/>
              </a:rPr>
              <a:t>主なJVパートナー</a:t>
            </a:r>
            <a:endParaRPr lang="en-US" sz="1100" dirty="0"/>
          </a:p>
        </p:txBody>
      </p:sp>
      <p:sp>
        <p:nvSpPr>
          <p:cNvPr id="34" name="Text 32"/>
          <p:cNvSpPr/>
          <p:nvPr/>
        </p:nvSpPr>
        <p:spPr>
          <a:xfrm>
            <a:off x="2083710" y="9593603"/>
            <a:ext cx="3798602" cy="19312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520"/>
              </a:lnSpc>
              <a:buNone/>
            </a:pPr>
            <a:r>
              <a:rPr lang="en-US" sz="1600" spc="-48" kern="0" dirty="0">
                <a:solidFill>
                  <a:srgbClr val="121519"/>
                </a:solidFill>
                <a:latin typeface="Zen Kaku Gothic New Medium" pitchFamily="34" charset="0"/>
                <a:ea typeface="Zen Kaku Gothic New Medium" pitchFamily="34" charset="-122"/>
                <a:cs typeface="Zen Kaku Gothic New Medium" pitchFamily="34" charset="-120"/>
              </a:rPr>
              <a:t>BHP　　Rio Tinto　　Anglo American</a:t>
            </a:r>
            <a:endParaRPr lang="en-US" sz="1600" dirty="0"/>
          </a:p>
        </p:txBody>
      </p:sp>
      <p:sp>
        <p:nvSpPr>
          <p:cNvPr id="35" name="Text 33"/>
          <p:cNvSpPr/>
          <p:nvPr/>
        </p:nvSpPr>
        <p:spPr>
          <a:xfrm>
            <a:off x="8068024" y="2185355"/>
            <a:ext cx="501333" cy="19058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500"/>
              </a:lnSpc>
              <a:buNone/>
            </a:pPr>
            <a:r>
              <a:rPr lang="en-US" sz="1100" spc="120" kern="0" dirty="0">
                <a:solidFill>
                  <a:srgbClr val="9C7442"/>
                </a:solidFill>
                <a:latin typeface="Zen Kaku Gothic New Medium" pitchFamily="34" charset="0"/>
                <a:ea typeface="Zen Kaku Gothic New Medium" pitchFamily="34" charset="-122"/>
                <a:cs typeface="Zen Kaku Gothic New Medium" pitchFamily="34" charset="-120"/>
              </a:rPr>
              <a:t>第4章</a:t>
            </a:r>
            <a:endParaRPr lang="en-US" sz="1100" dirty="0"/>
          </a:p>
        </p:txBody>
      </p:sp>
      <p:sp>
        <p:nvSpPr>
          <p:cNvPr id="36" name="Text 34"/>
          <p:cNvSpPr/>
          <p:nvPr/>
        </p:nvSpPr>
        <p:spPr>
          <a:xfrm>
            <a:off x="8068024" y="2375938"/>
            <a:ext cx="1166290" cy="20328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600"/>
              </a:lnSpc>
              <a:buNone/>
            </a:pPr>
            <a:r>
              <a:rPr lang="en-US" sz="1100" spc="40" kern="0" dirty="0">
                <a:solidFill>
                  <a:srgbClr val="7D838A"/>
                </a:solidFill>
                <a:latin typeface="Zen Kaku Gothic New" pitchFamily="34" charset="0"/>
                <a:ea typeface="Zen Kaku Gothic New" pitchFamily="34" charset="-122"/>
                <a:cs typeface="Zen Kaku Gothic New" pitchFamily="34" charset="-120"/>
              </a:rPr>
              <a:t>何を実現するか</a:t>
            </a:r>
            <a:endParaRPr lang="en-US" sz="1100" dirty="0"/>
          </a:p>
        </p:txBody>
      </p:sp>
      <p:sp>
        <p:nvSpPr>
          <p:cNvPr id="37" name="Text 35"/>
          <p:cNvSpPr/>
          <p:nvPr/>
        </p:nvSpPr>
        <p:spPr>
          <a:xfrm>
            <a:off x="8068024" y="2639197"/>
            <a:ext cx="4093410" cy="7257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856"/>
              </a:lnSpc>
              <a:buNone/>
            </a:pPr>
            <a:r>
              <a:rPr lang="en-US" sz="2800" spc="-70" kern="0" dirty="0">
                <a:solidFill>
                  <a:srgbClr val="121519"/>
                </a:solidFill>
                <a:latin typeface="Manrope SemiBold" pitchFamily="34" charset="0"/>
                <a:ea typeface="Manrope SemiBold" pitchFamily="34" charset="-122"/>
                <a:cs typeface="Manrope SemiBold" pitchFamily="34" charset="-120"/>
              </a:rPr>
              <a:t>Building the future</a:t>
            </a:r>
            <a:endParaRPr lang="en-US" sz="2800" dirty="0"/>
          </a:p>
          <a:p>
            <a:pPr algn="l" indent="0" marL="0">
              <a:lnSpc>
                <a:spcPts val="2856"/>
              </a:lnSpc>
              <a:buNone/>
            </a:pPr>
            <a:r>
              <a:rPr lang="en-US" sz="2800" spc="-70" kern="0" dirty="0">
                <a:solidFill>
                  <a:srgbClr val="121519"/>
                </a:solidFill>
                <a:latin typeface="Manrope SemiBold" pitchFamily="34" charset="0"/>
                <a:ea typeface="Manrope SemiBold" pitchFamily="34" charset="-122"/>
                <a:cs typeface="Manrope SemiBold" pitchFamily="34" charset="-120"/>
              </a:rPr>
              <a:t>of resources, together.</a:t>
            </a:r>
            <a:endParaRPr lang="en-US" sz="2800" dirty="0"/>
          </a:p>
        </p:txBody>
      </p:sp>
      <p:sp>
        <p:nvSpPr>
          <p:cNvPr id="38" name="Text 36"/>
          <p:cNvSpPr/>
          <p:nvPr/>
        </p:nvSpPr>
        <p:spPr>
          <a:xfrm>
            <a:off x="8068024" y="3644706"/>
            <a:ext cx="3069879" cy="2477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950"/>
              </a:lnSpc>
              <a:buNone/>
            </a:pPr>
            <a:r>
              <a:rPr lang="en-US" sz="1300" b="1" spc="50" kern="0" dirty="0">
                <a:solidFill>
                  <a:srgbClr val="121519"/>
                </a:solidFill>
                <a:latin typeface="Zen Kaku Gothic New" pitchFamily="34" charset="0"/>
                <a:ea typeface="Zen Kaku Gothic New" pitchFamily="34" charset="-122"/>
                <a:cs typeface="Zen Kaku Gothic New" pitchFamily="34" charset="-120"/>
              </a:rPr>
              <a:t>社会の「当たり前」を、支え続ける</a:t>
            </a:r>
            <a:endParaRPr lang="en-US" sz="1300" dirty="0"/>
          </a:p>
        </p:txBody>
      </p:sp>
      <p:sp>
        <p:nvSpPr>
          <p:cNvPr id="39" name="Text 37"/>
          <p:cNvSpPr/>
          <p:nvPr/>
        </p:nvSpPr>
        <p:spPr>
          <a:xfrm>
            <a:off x="8068024" y="3978227"/>
            <a:ext cx="1589067" cy="19058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500"/>
              </a:lnSpc>
              <a:buNone/>
            </a:pPr>
            <a:r>
              <a:rPr lang="en-US" sz="1100" spc="120" kern="0" dirty="0">
                <a:solidFill>
                  <a:srgbClr val="9C7442"/>
                </a:solidFill>
                <a:latin typeface="Zen Kaku Gothic New Medium" pitchFamily="34" charset="0"/>
                <a:ea typeface="Zen Kaku Gothic New Medium" pitchFamily="34" charset="-122"/>
                <a:cs typeface="Zen Kaku Gothic New Medium" pitchFamily="34" charset="-120"/>
              </a:rPr>
              <a:t>外部環境と社会課題</a:t>
            </a:r>
            <a:endParaRPr lang="en-US" sz="1100" dirty="0"/>
          </a:p>
        </p:txBody>
      </p:sp>
      <p:sp>
        <p:nvSpPr>
          <p:cNvPr id="40" name="Text 38"/>
          <p:cNvSpPr/>
          <p:nvPr/>
        </p:nvSpPr>
        <p:spPr>
          <a:xfrm>
            <a:off x="8272623" y="4762477"/>
            <a:ext cx="1166290" cy="4459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1755"/>
              </a:lnSpc>
              <a:buNone/>
            </a:pPr>
            <a:r>
              <a:rPr lang="en-US" sz="1300" b="1" spc="30" kern="0" dirty="0">
                <a:solidFill>
                  <a:srgbClr val="121519"/>
                </a:solidFill>
                <a:latin typeface="Zen Kaku Gothic New" pitchFamily="34" charset="0"/>
                <a:ea typeface="Zen Kaku Gothic New" pitchFamily="34" charset="-122"/>
                <a:cs typeface="Zen Kaku Gothic New" pitchFamily="34" charset="-120"/>
              </a:rPr>
              <a:t>クリティカル</a:t>
            </a:r>
            <a:endParaRPr lang="en-US" sz="1300" dirty="0"/>
          </a:p>
          <a:p>
            <a:pPr algn="ctr" indent="0" marL="0">
              <a:lnSpc>
                <a:spcPts val="1755"/>
              </a:lnSpc>
              <a:buNone/>
            </a:pPr>
            <a:r>
              <a:rPr lang="en-US" sz="1300" b="1" spc="30" kern="0" dirty="0">
                <a:solidFill>
                  <a:srgbClr val="121519"/>
                </a:solidFill>
                <a:latin typeface="Zen Kaku Gothic New" pitchFamily="34" charset="0"/>
                <a:ea typeface="Zen Kaku Gothic New" pitchFamily="34" charset="-122"/>
                <a:cs typeface="Zen Kaku Gothic New" pitchFamily="34" charset="-120"/>
              </a:rPr>
              <a:t>ミネラル</a:t>
            </a:r>
            <a:endParaRPr lang="en-US" sz="1300" dirty="0"/>
          </a:p>
        </p:txBody>
      </p:sp>
      <p:sp>
        <p:nvSpPr>
          <p:cNvPr id="41" name="Text 39"/>
          <p:cNvSpPr/>
          <p:nvPr/>
        </p:nvSpPr>
        <p:spPr>
          <a:xfrm>
            <a:off x="9923034" y="4275854"/>
            <a:ext cx="1352129" cy="25601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015"/>
              </a:lnSpc>
              <a:buNone/>
            </a:pPr>
            <a:r>
              <a:rPr lang="en-US" sz="1300" b="1" spc="30" kern="0" dirty="0">
                <a:solidFill>
                  <a:srgbClr val="121519"/>
                </a:solidFill>
                <a:latin typeface="Zen Kaku Gothic New" pitchFamily="34" charset="0"/>
                <a:ea typeface="Zen Kaku Gothic New" pitchFamily="34" charset="-122"/>
                <a:cs typeface="Zen Kaku Gothic New" pitchFamily="34" charset="-120"/>
              </a:rPr>
              <a:t>産業構造の転換</a:t>
            </a:r>
            <a:endParaRPr lang="en-US" sz="1300" dirty="0"/>
          </a:p>
        </p:txBody>
      </p:sp>
      <p:sp>
        <p:nvSpPr>
          <p:cNvPr id="42" name="Text 40"/>
          <p:cNvSpPr/>
          <p:nvPr/>
        </p:nvSpPr>
        <p:spPr>
          <a:xfrm>
            <a:off x="9923034" y="4514401"/>
            <a:ext cx="3415133" cy="22361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760"/>
              </a:lnSpc>
              <a:buNone/>
            </a:pPr>
            <a:r>
              <a:rPr lang="en-US" sz="1100" dirty="0">
                <a:solidFill>
                  <a:srgbClr val="7D838A"/>
                </a:solidFill>
                <a:latin typeface="Zen Kaku Gothic New" pitchFamily="34" charset="0"/>
                <a:ea typeface="Zen Kaku Gothic New" pitchFamily="34" charset="-122"/>
                <a:cs typeface="Zen Kaku Gothic New" pitchFamily="34" charset="-120"/>
              </a:rPr>
              <a:t>脱炭素化とAI・データセンターで電力需要が拡大</a:t>
            </a:r>
            <a:endParaRPr lang="en-US" sz="1100" dirty="0"/>
          </a:p>
        </p:txBody>
      </p:sp>
      <p:sp>
        <p:nvSpPr>
          <p:cNvPr id="43" name="Text 41"/>
          <p:cNvSpPr/>
          <p:nvPr/>
        </p:nvSpPr>
        <p:spPr>
          <a:xfrm>
            <a:off x="9923034" y="4784076"/>
            <a:ext cx="1537967" cy="25601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015"/>
              </a:lnSpc>
              <a:buNone/>
            </a:pPr>
            <a:r>
              <a:rPr lang="en-US" sz="1300" b="1" spc="30" kern="0" dirty="0">
                <a:solidFill>
                  <a:srgbClr val="121519"/>
                </a:solidFill>
                <a:latin typeface="Zen Kaku Gothic New" pitchFamily="34" charset="0"/>
                <a:ea typeface="Zen Kaku Gothic New" pitchFamily="34" charset="-122"/>
                <a:cs typeface="Zen Kaku Gothic New" pitchFamily="34" charset="-120"/>
              </a:rPr>
              <a:t>供給制約の深刻化</a:t>
            </a:r>
            <a:endParaRPr lang="en-US" sz="1300" dirty="0"/>
          </a:p>
        </p:txBody>
      </p:sp>
      <p:sp>
        <p:nvSpPr>
          <p:cNvPr id="44" name="Text 42"/>
          <p:cNvSpPr/>
          <p:nvPr/>
        </p:nvSpPr>
        <p:spPr>
          <a:xfrm>
            <a:off x="9923034" y="5022623"/>
            <a:ext cx="3433039" cy="22361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760"/>
              </a:lnSpc>
              <a:buNone/>
            </a:pPr>
            <a:r>
              <a:rPr lang="en-US" sz="1100" dirty="0">
                <a:solidFill>
                  <a:srgbClr val="7D838A"/>
                </a:solidFill>
                <a:latin typeface="Zen Kaku Gothic New" pitchFamily="34" charset="0"/>
                <a:ea typeface="Zen Kaku Gothic New" pitchFamily="34" charset="-122"/>
                <a:cs typeface="Zen Kaku Gothic New" pitchFamily="34" charset="-120"/>
              </a:rPr>
              <a:t>良質な資源の開発に、より時間とコストが必要に</a:t>
            </a:r>
            <a:endParaRPr lang="en-US" sz="1100" dirty="0"/>
          </a:p>
        </p:txBody>
      </p:sp>
      <p:sp>
        <p:nvSpPr>
          <p:cNvPr id="45" name="Text 43"/>
          <p:cNvSpPr/>
          <p:nvPr/>
        </p:nvSpPr>
        <p:spPr>
          <a:xfrm>
            <a:off x="9923034" y="5292298"/>
            <a:ext cx="1909862" cy="25601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015"/>
              </a:lnSpc>
              <a:buNone/>
            </a:pPr>
            <a:r>
              <a:rPr lang="en-US" sz="1300" b="1" spc="30" kern="0" dirty="0">
                <a:solidFill>
                  <a:srgbClr val="121519"/>
                </a:solidFill>
                <a:latin typeface="Zen Kaku Gothic New" pitchFamily="34" charset="0"/>
                <a:ea typeface="Zen Kaku Gothic New" pitchFamily="34" charset="-122"/>
                <a:cs typeface="Zen Kaku Gothic New" pitchFamily="34" charset="-120"/>
              </a:rPr>
              <a:t>地政学リスクの常態化</a:t>
            </a:r>
            <a:endParaRPr lang="en-US" sz="1300" dirty="0"/>
          </a:p>
        </p:txBody>
      </p:sp>
      <p:sp>
        <p:nvSpPr>
          <p:cNvPr id="46" name="Text 44"/>
          <p:cNvSpPr/>
          <p:nvPr/>
        </p:nvSpPr>
        <p:spPr>
          <a:xfrm>
            <a:off x="9923034" y="5530845"/>
            <a:ext cx="2818091" cy="22361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760"/>
              </a:lnSpc>
              <a:buNone/>
            </a:pPr>
            <a:r>
              <a:rPr lang="en-US" sz="1100" dirty="0">
                <a:solidFill>
                  <a:srgbClr val="7D838A"/>
                </a:solidFill>
                <a:latin typeface="Zen Kaku Gothic New" pitchFamily="34" charset="0"/>
                <a:ea typeface="Zen Kaku Gothic New" pitchFamily="34" charset="-122"/>
                <a:cs typeface="Zen Kaku Gothic New" pitchFamily="34" charset="-120"/>
              </a:rPr>
              <a:t>輸出規制など、資源の囲い込みが常態化</a:t>
            </a:r>
            <a:endParaRPr lang="en-US" sz="1100" dirty="0"/>
          </a:p>
        </p:txBody>
      </p:sp>
      <p:sp>
        <p:nvSpPr>
          <p:cNvPr id="47" name="Text 45"/>
          <p:cNvSpPr/>
          <p:nvPr/>
        </p:nvSpPr>
        <p:spPr>
          <a:xfrm>
            <a:off x="8711898" y="5939289"/>
            <a:ext cx="5255611" cy="25601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2015"/>
              </a:lnSpc>
              <a:buNone/>
            </a:pPr>
            <a:r>
              <a:rPr lang="en-US" sz="1300" b="1" spc="30" kern="0" dirty="0">
                <a:solidFill>
                  <a:srgbClr val="FFFFFF"/>
                </a:solidFill>
                <a:latin typeface="Zen Kaku Gothic New" pitchFamily="34" charset="0"/>
                <a:ea typeface="Zen Kaku Gothic New" pitchFamily="34" charset="-122"/>
                <a:cs typeface="Zen Kaku Gothic New" pitchFamily="34" charset="-120"/>
              </a:rPr>
              <a:t>クリティカルミネラルの供給網確保が、これまで以上に重要に</a:t>
            </a:r>
            <a:endParaRPr lang="en-US" sz="1300" dirty="0"/>
          </a:p>
        </p:txBody>
      </p:sp>
      <p:sp>
        <p:nvSpPr>
          <p:cNvPr id="48" name="Text 46"/>
          <p:cNvSpPr/>
          <p:nvPr/>
        </p:nvSpPr>
        <p:spPr>
          <a:xfrm>
            <a:off x="8068024" y="6468514"/>
            <a:ext cx="1255388" cy="19058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500"/>
              </a:lnSpc>
              <a:buNone/>
            </a:pPr>
            <a:r>
              <a:rPr lang="en-US" sz="1100" spc="120" kern="0" dirty="0">
                <a:solidFill>
                  <a:srgbClr val="9C7442"/>
                </a:solidFill>
                <a:latin typeface="Zen Kaku Gothic New Medium" pitchFamily="34" charset="0"/>
                <a:ea typeface="Zen Kaku Gothic New Medium" pitchFamily="34" charset="-122"/>
                <a:cs typeface="Zen Kaku Gothic New Medium" pitchFamily="34" charset="-120"/>
              </a:rPr>
              <a:t>当社の取り組み</a:t>
            </a:r>
            <a:endParaRPr lang="en-US" sz="1100" dirty="0"/>
          </a:p>
        </p:txBody>
      </p:sp>
      <p:sp>
        <p:nvSpPr>
          <p:cNvPr id="49" name="Text 47"/>
          <p:cNvSpPr/>
          <p:nvPr/>
        </p:nvSpPr>
        <p:spPr>
          <a:xfrm>
            <a:off x="9313168" y="6468514"/>
            <a:ext cx="2918763" cy="20328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600"/>
              </a:lnSpc>
              <a:buNone/>
            </a:pPr>
            <a:r>
              <a:rPr lang="en-US" sz="1100" spc="40" kern="0" dirty="0">
                <a:solidFill>
                  <a:srgbClr val="7D838A"/>
                </a:solidFill>
                <a:latin typeface="Zen Kaku Gothic New" pitchFamily="34" charset="0"/>
                <a:ea typeface="Zen Kaku Gothic New" pitchFamily="34" charset="-122"/>
                <a:cs typeface="Zen Kaku Gothic New" pitchFamily="34" charset="-120"/>
              </a:rPr>
              <a:t>資源の安定供給と効率化で社会を支える</a:t>
            </a:r>
            <a:endParaRPr lang="en-US" sz="1100" dirty="0"/>
          </a:p>
        </p:txBody>
      </p:sp>
      <p:sp>
        <p:nvSpPr>
          <p:cNvPr id="50" name="Text 48"/>
          <p:cNvSpPr/>
          <p:nvPr/>
        </p:nvSpPr>
        <p:spPr>
          <a:xfrm>
            <a:off x="9017516" y="6752444"/>
            <a:ext cx="794395" cy="25601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2015"/>
              </a:lnSpc>
              <a:buNone/>
            </a:pPr>
            <a:r>
              <a:rPr lang="en-US" sz="1300" b="1" spc="30" kern="0" dirty="0">
                <a:solidFill>
                  <a:srgbClr val="FFFFFF"/>
                </a:solidFill>
                <a:latin typeface="Zen Kaku Gothic New" pitchFamily="34" charset="0"/>
                <a:ea typeface="Zen Kaku Gothic New" pitchFamily="34" charset="-122"/>
                <a:cs typeface="Zen Kaku Gothic New" pitchFamily="34" charset="-120"/>
              </a:rPr>
              <a:t>資源投資</a:t>
            </a:r>
            <a:endParaRPr lang="en-US" sz="1300" dirty="0"/>
          </a:p>
        </p:txBody>
      </p:sp>
      <p:sp>
        <p:nvSpPr>
          <p:cNvPr id="51" name="Text 49"/>
          <p:cNvSpPr/>
          <p:nvPr/>
        </p:nvSpPr>
        <p:spPr>
          <a:xfrm>
            <a:off x="8207785" y="7154614"/>
            <a:ext cx="2399026" cy="53363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100"/>
              </a:lnSpc>
              <a:buNone/>
            </a:pPr>
            <a:r>
              <a:rPr lang="en-US" sz="1200" dirty="0">
                <a:solidFill>
                  <a:srgbClr val="121519"/>
                </a:solidFill>
                <a:latin typeface="Zen Kaku Gothic New" pitchFamily="34" charset="0"/>
                <a:ea typeface="Zen Kaku Gothic New" pitchFamily="34" charset="-122"/>
                <a:cs typeface="Zen Kaku Gothic New" pitchFamily="34" charset="-120"/>
              </a:rPr>
              <a:t>・基幹事業で大規模資産を拡大</a:t>
            </a:r>
            <a:endParaRPr lang="en-US" sz="1200" dirty="0"/>
          </a:p>
          <a:p>
            <a:pPr algn="l" indent="0" marL="0">
              <a:lnSpc>
                <a:spcPts val="2100"/>
              </a:lnSpc>
              <a:buNone/>
            </a:pPr>
            <a:r>
              <a:rPr lang="en-US" sz="1200" dirty="0">
                <a:solidFill>
                  <a:srgbClr val="121519"/>
                </a:solidFill>
                <a:latin typeface="Zen Kaku Gothic New" pitchFamily="34" charset="0"/>
                <a:ea typeface="Zen Kaku Gothic New" pitchFamily="34" charset="-122"/>
                <a:cs typeface="Zen Kaku Gothic New" pitchFamily="34" charset="-120"/>
              </a:rPr>
              <a:t>・成長領域へ早い段階から参画</a:t>
            </a:r>
            <a:endParaRPr lang="en-US" sz="1200" dirty="0"/>
          </a:p>
        </p:txBody>
      </p:sp>
      <p:sp>
        <p:nvSpPr>
          <p:cNvPr id="52" name="Text 50"/>
          <p:cNvSpPr/>
          <p:nvPr/>
        </p:nvSpPr>
        <p:spPr>
          <a:xfrm>
            <a:off x="12588430" y="6752444"/>
            <a:ext cx="1352129" cy="25601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2015"/>
              </a:lnSpc>
              <a:buNone/>
            </a:pPr>
            <a:r>
              <a:rPr lang="en-US" sz="1300" b="1" spc="30" kern="0" dirty="0">
                <a:solidFill>
                  <a:srgbClr val="FFFFFF"/>
                </a:solidFill>
                <a:latin typeface="Zen Kaku Gothic New" pitchFamily="34" charset="0"/>
                <a:ea typeface="Zen Kaku Gothic New" pitchFamily="34" charset="-122"/>
                <a:cs typeface="Zen Kaku Gothic New" pitchFamily="34" charset="-120"/>
              </a:rPr>
              <a:t>トレーディング</a:t>
            </a:r>
            <a:endParaRPr lang="en-US" sz="1300" dirty="0"/>
          </a:p>
        </p:txBody>
      </p:sp>
      <p:sp>
        <p:nvSpPr>
          <p:cNvPr id="53" name="Text 51"/>
          <p:cNvSpPr/>
          <p:nvPr/>
        </p:nvSpPr>
        <p:spPr>
          <a:xfrm>
            <a:off x="12057567" y="7154614"/>
            <a:ext cx="2566739" cy="53363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100"/>
              </a:lnSpc>
              <a:buNone/>
            </a:pPr>
            <a:r>
              <a:rPr lang="en-US" sz="1200" dirty="0">
                <a:solidFill>
                  <a:srgbClr val="121519"/>
                </a:solidFill>
                <a:latin typeface="Zen Kaku Gothic New" pitchFamily="34" charset="0"/>
                <a:ea typeface="Zen Kaku Gothic New" pitchFamily="34" charset="-122"/>
                <a:cs typeface="Zen Kaku Gothic New" pitchFamily="34" charset="-120"/>
              </a:rPr>
              <a:t>・引き取りと外部調達で安定供給</a:t>
            </a:r>
            <a:endParaRPr lang="en-US" sz="1200" dirty="0"/>
          </a:p>
          <a:p>
            <a:pPr algn="l" indent="0" marL="0">
              <a:lnSpc>
                <a:spcPts val="2100"/>
              </a:lnSpc>
              <a:buNone/>
            </a:pPr>
            <a:r>
              <a:rPr lang="en-US" sz="1200" dirty="0">
                <a:solidFill>
                  <a:srgbClr val="121519"/>
                </a:solidFill>
                <a:latin typeface="Zen Kaku Gothic New" pitchFamily="34" charset="0"/>
                <a:ea typeface="Zen Kaku Gothic New" pitchFamily="34" charset="-122"/>
                <a:cs typeface="Zen Kaku Gothic New" pitchFamily="34" charset="-120"/>
              </a:rPr>
              <a:t>・国際取引基盤で業界網を構築</a:t>
            </a:r>
            <a:endParaRPr lang="en-US" sz="1200" dirty="0"/>
          </a:p>
        </p:txBody>
      </p:sp>
      <p:sp>
        <p:nvSpPr>
          <p:cNvPr id="54" name="Text 52"/>
          <p:cNvSpPr/>
          <p:nvPr/>
        </p:nvSpPr>
        <p:spPr>
          <a:xfrm>
            <a:off x="11125406" y="7189554"/>
            <a:ext cx="428395" cy="2477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1950"/>
              </a:lnSpc>
              <a:buNone/>
            </a:pPr>
            <a:r>
              <a:rPr lang="en-US" sz="1300" b="1" spc="50" kern="0" dirty="0">
                <a:solidFill>
                  <a:srgbClr val="9C7442"/>
                </a:solidFill>
                <a:latin typeface="Zen Kaku Gothic New" pitchFamily="34" charset="0"/>
                <a:ea typeface="Zen Kaku Gothic New" pitchFamily="34" charset="-122"/>
                <a:cs typeface="Zen Kaku Gothic New" pitchFamily="34" charset="-120"/>
              </a:rPr>
              <a:t>連携</a:t>
            </a:r>
            <a:endParaRPr lang="en-US" sz="1300" dirty="0"/>
          </a:p>
        </p:txBody>
      </p:sp>
      <p:sp>
        <p:nvSpPr>
          <p:cNvPr id="55" name="Text 53"/>
          <p:cNvSpPr/>
          <p:nvPr/>
        </p:nvSpPr>
        <p:spPr>
          <a:xfrm>
            <a:off x="8389584" y="7905512"/>
            <a:ext cx="5900040" cy="52855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2080"/>
              </a:lnSpc>
              <a:buNone/>
            </a:pPr>
            <a:r>
              <a:rPr lang="en-US" sz="1300" b="1" spc="50" kern="0" dirty="0">
                <a:solidFill>
                  <a:srgbClr val="121519"/>
                </a:solidFill>
                <a:latin typeface="Zen Kaku Gothic New" pitchFamily="34" charset="0"/>
                <a:ea typeface="Zen Kaku Gothic New" pitchFamily="34" charset="-122"/>
                <a:cs typeface="Zen Kaku Gothic New" pitchFamily="34" charset="-120"/>
              </a:rPr>
              <a:t>「金属＝経済活動を支える礎」。社会に必要な資源を支えることが、</a:t>
            </a:r>
            <a:endParaRPr lang="en-US" sz="1300" dirty="0"/>
          </a:p>
          <a:p>
            <a:pPr algn="ctr" indent="0" marL="0">
              <a:lnSpc>
                <a:spcPts val="2080"/>
              </a:lnSpc>
              <a:buNone/>
            </a:pPr>
            <a:r>
              <a:rPr lang="en-US" sz="1300" b="1" spc="50" kern="0" dirty="0">
                <a:solidFill>
                  <a:srgbClr val="121519"/>
                </a:solidFill>
                <a:latin typeface="Zen Kaku Gothic New" pitchFamily="34" charset="0"/>
                <a:ea typeface="Zen Kaku Gothic New" pitchFamily="34" charset="-122"/>
                <a:cs typeface="Zen Kaku Gothic New" pitchFamily="34" charset="-120"/>
              </a:rPr>
              <a:t>私たちの責務です。</a:t>
            </a:r>
            <a:endParaRPr lang="en-US" sz="1300" dirty="0"/>
          </a:p>
        </p:txBody>
      </p:sp>
      <p:sp>
        <p:nvSpPr>
          <p:cNvPr id="56" name="Text 54"/>
          <p:cNvSpPr/>
          <p:nvPr/>
        </p:nvSpPr>
        <p:spPr>
          <a:xfrm>
            <a:off x="8322135" y="9097173"/>
            <a:ext cx="4531474" cy="19058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500"/>
              </a:lnSpc>
              <a:buNone/>
            </a:pPr>
            <a:r>
              <a:rPr lang="en-US" sz="1100" spc="120" kern="0" dirty="0">
                <a:solidFill>
                  <a:srgbClr val="E9D6AC"/>
                </a:solidFill>
                <a:latin typeface="Zen Kaku Gothic New Medium" pitchFamily="34" charset="0"/>
                <a:ea typeface="Zen Kaku Gothic New Medium" pitchFamily="34" charset="-122"/>
                <a:cs typeface="Zen Kaku Gothic New Medium" pitchFamily="34" charset="-120"/>
              </a:rPr>
              <a:t>グループミッション｜共に、持続可能で豊かな未来を築く</a:t>
            </a:r>
            <a:endParaRPr lang="en-US" sz="1100" dirty="0"/>
          </a:p>
        </p:txBody>
      </p:sp>
      <p:sp>
        <p:nvSpPr>
          <p:cNvPr id="57" name="Text 55"/>
          <p:cNvSpPr/>
          <p:nvPr/>
        </p:nvSpPr>
        <p:spPr>
          <a:xfrm>
            <a:off x="8322135" y="9374154"/>
            <a:ext cx="6446419" cy="56920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240"/>
              </a:lnSpc>
              <a:buNone/>
            </a:pPr>
            <a:r>
              <a:rPr lang="en-US" sz="1400" b="1" spc="30" kern="0" dirty="0">
                <a:solidFill>
                  <a:srgbClr val="FFFFFF"/>
                </a:solidFill>
                <a:latin typeface="Zen Kaku Gothic New" pitchFamily="34" charset="0"/>
                <a:ea typeface="Zen Kaku Gothic New" pitchFamily="34" charset="-122"/>
                <a:cs typeface="Zen Kaku Gothic New" pitchFamily="34" charset="-120"/>
              </a:rPr>
              <a:t>社会が必要とする良質な金属資源を、持続可能な形で安定供給すること</a:t>
            </a:r>
            <a:endParaRPr lang="en-US" sz="1400" dirty="0"/>
          </a:p>
          <a:p>
            <a:pPr algn="l" indent="0" marL="0">
              <a:lnSpc>
                <a:spcPts val="2240"/>
              </a:lnSpc>
              <a:buNone/>
            </a:pPr>
            <a:r>
              <a:rPr lang="en-US" sz="1400" b="1" spc="30" kern="0" dirty="0">
                <a:solidFill>
                  <a:srgbClr val="FFFFFF"/>
                </a:solidFill>
                <a:latin typeface="Zen Kaku Gothic New" pitchFamily="34" charset="0"/>
                <a:ea typeface="Zen Kaku Gothic New" pitchFamily="34" charset="-122"/>
                <a:cs typeface="Zen Kaku Gothic New" pitchFamily="34" charset="-120"/>
              </a:rPr>
              <a:t>で、より良い社会の実現に寄与する</a:t>
            </a:r>
            <a:endParaRPr lang="en-US" sz="1400" dirty="0"/>
          </a:p>
        </p:txBody>
      </p:sp>
      <p:sp>
        <p:nvSpPr>
          <p:cNvPr id="58" name="Text 56"/>
          <p:cNvSpPr/>
          <p:nvPr/>
        </p:nvSpPr>
        <p:spPr>
          <a:xfrm>
            <a:off x="508222" y="10316906"/>
            <a:ext cx="259154" cy="19058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500"/>
              </a:lnSpc>
              <a:buNone/>
            </a:pPr>
            <a:r>
              <a:rPr lang="en-US" sz="1100" spc="160" kern="0" dirty="0">
                <a:solidFill>
                  <a:srgbClr val="7D838A"/>
                </a:solidFill>
                <a:latin typeface="Manrope SemiBold" pitchFamily="34" charset="0"/>
                <a:ea typeface="Manrope SemiBold" pitchFamily="34" charset="-122"/>
                <a:cs typeface="Manrope SemiBold" pitchFamily="34" charset="-120"/>
              </a:rPr>
              <a:t>10</a:t>
            </a:r>
            <a:endParaRPr lang="en-US" sz="1100" dirty="0"/>
          </a:p>
        </p:txBody>
      </p:sp>
      <p:sp>
        <p:nvSpPr>
          <p:cNvPr id="59" name="Text 57"/>
          <p:cNvSpPr/>
          <p:nvPr/>
        </p:nvSpPr>
        <p:spPr>
          <a:xfrm>
            <a:off x="14458915" y="10316906"/>
            <a:ext cx="225305" cy="19058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500"/>
              </a:lnSpc>
              <a:buNone/>
            </a:pPr>
            <a:r>
              <a:rPr lang="en-US" sz="1100" spc="160" kern="0" dirty="0">
                <a:solidFill>
                  <a:srgbClr val="7D838A"/>
                </a:solidFill>
                <a:latin typeface="Manrope SemiBold" pitchFamily="34" charset="0"/>
                <a:ea typeface="Manrope SemiBold" pitchFamily="34" charset="-122"/>
                <a:cs typeface="Manrope SemiBold" pitchFamily="34" charset="-120"/>
              </a:rPr>
              <a:t>11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5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2026-10-15T11:38:06Z</dcterms:created>
  <dcterms:modified xsi:type="dcterms:W3CDTF">2026-10-15T11:38:06Z</dcterms:modified>
</cp:coreProperties>
</file>