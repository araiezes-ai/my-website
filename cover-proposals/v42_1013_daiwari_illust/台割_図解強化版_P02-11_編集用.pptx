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都市</a:t>
            </a:r>
            <a:endParaRPr lang="en-US" sz="580" dirty="0"/>
          </a:p>
        </p:txBody>
      </p:sp>
      <p:sp>
        <p:nvSpPr>
          <p:cNvPr id="3" name="Text 1"/>
          <p:cNvSpPr/>
          <p:nvPr/>
        </p:nvSpPr>
        <p:spPr>
          <a:xfrm>
            <a:off x="127055" y="3036626"/>
            <a:ext cx="70202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鉄・銅・アルミ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4370709" y="1308672"/>
            <a:ext cx="5633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モビリティ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4370709" y="1423022"/>
            <a:ext cx="7961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鉄・銅・リチウム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323615" y="2312084"/>
            <a:ext cx="1156026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鉄道の写真（ストック）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4370709" y="2922276"/>
            <a:ext cx="25216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鉄道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4370709" y="3036626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鉄・銅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27055" y="4828109"/>
            <a:ext cx="96385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再生可能エネルギー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27055" y="4942459"/>
            <a:ext cx="327505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銅・鉄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2248882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送電網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2248882" y="4942459"/>
            <a:ext cx="51771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銅・アルミ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4672198" y="4071803"/>
            <a:ext cx="2458861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8A96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スマートフォン・データセンターの写真（ストック）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370709" y="4828109"/>
            <a:ext cx="46093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5A6570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デバイス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4370709" y="4942459"/>
            <a:ext cx="10802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5A65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銅・リチウム・ニッケル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7737680" y="3100154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金属素材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7737680" y="3214504"/>
            <a:ext cx="145105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暮らしを形づくる鉄・銅・アルミ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1981333" y="3100154"/>
            <a:ext cx="55374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製錬・精製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7737680" y="4828109"/>
            <a:ext cx="45329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海上輸送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11053828" y="4828109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95402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コアメッセージ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508222" y="5730203"/>
            <a:ext cx="92170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私たちの存在意義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8222" y="5918880"/>
            <a:ext cx="5064750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08820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4369"/>
            <a:ext cx="4243654" cy="98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資源は、そこに「ある」だけでは、まだ価値ではありません。誰かが見出し、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育て、必要とする場所へ届けて、はじめて力になる。私たちは、世界有数の資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産に関わり、投資とトレーディングの両輪で川上から川下までをつなぎます。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フェアな立場だからこそ、埋められる隙間がある。多様なパートナーと使い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手の間に立ち、その時々の最適解を導く。世界に眠る価値を、社会の力へ。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0501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目次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068024" y="5730203"/>
            <a:ext cx="54064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068024" y="6041489"/>
            <a:ext cx="543917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092311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368530"/>
            <a:ext cx="1752631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三菱商事とは／金属資源グループとは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4179393" y="6124075"/>
            <a:ext cx="32379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068024" y="6956288"/>
            <a:ext cx="667081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007111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283329"/>
            <a:ext cx="315089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投資とトレーディングの両輪／原料炭・銅・トレーディング・新技術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4179393" y="7038874"/>
            <a:ext cx="321391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P.06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068024" y="7871088"/>
            <a:ext cx="677126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7921910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198129"/>
            <a:ext cx="854448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Partner of Choice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4179393" y="7953674"/>
            <a:ext cx="2982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068024" y="8785888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836710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112928"/>
            <a:ext cx="105557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社会課題への取り組み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4179393" y="8868474"/>
            <a:ext cx="27902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P.11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0150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0237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182780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182780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15946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　我々は何者か｜三菱商事とは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023583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105640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三綱領を精神の根幹に、「総合力」で価値を生む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8222" y="3014138"/>
            <a:ext cx="3544848" cy="789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三菱商事は三綱領を企業理念とし、事業を通じて経済価値・社会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価値・環境価値の同時実現を目指しています。幅広い産業と地域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にまたがる事業と人のつながり＝「総合力」が、三菱商事の強み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です。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4879785" y="8859540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3050" y="9053173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3170690" y="9249640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3955" y="9443273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800079" y="8156764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3344" y="8350397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800079" y="6403597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43344" y="6597230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170690" y="5310721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3955" y="5504354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879785" y="5700821"/>
            <a:ext cx="840035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50" kern="0" dirty="0">
                <a:solidFill>
                  <a:srgbClr val="8A909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○○グループ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3050" y="5894454"/>
            <a:ext cx="553307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事業・製品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972879" y="7050309"/>
            <a:ext cx="861436" cy="462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金属資源</a:t>
            </a:r>
            <a:endParaRPr lang="en-US" sz="140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4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93625" y="7585213"/>
            <a:ext cx="81994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F3DCC8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中核グループ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015244" y="7753435"/>
            <a:ext cx="776706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F3DC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 ほか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581486" y="6873702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07287" y="7178636"/>
            <a:ext cx="465956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総合力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13839" y="7397679"/>
            <a:ext cx="452854" cy="439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所期奉公</a:t>
            </a:r>
            <a:endParaRPr lang="en-US" sz="720" dirty="0"/>
          </a:p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処事光明</a:t>
            </a:r>
            <a:endParaRPr lang="en-US" sz="720" dirty="0"/>
          </a:p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立業貿易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836768" y="8017202"/>
            <a:ext cx="4069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08222" y="4158780"/>
            <a:ext cx="1821857" cy="585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7つの営業グループのうち、</a:t>
            </a:r>
            <a:endParaRPr lang="en-US" sz="960" dirty="0"/>
          </a:p>
          <a:p>
            <a:pPr algn="l" indent="0" marL="0">
              <a:lnSpc>
                <a:spcPts val="1536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長年三菱商事を支えてきた</a:t>
            </a:r>
            <a:endParaRPr lang="en-US" sz="960" dirty="0"/>
          </a:p>
          <a:p>
            <a:pPr algn="l" indent="0" marL="0">
              <a:lnSpc>
                <a:spcPts val="1536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中核グループの一つ。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08222" y="9900672"/>
            <a:ext cx="1451272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A7ADB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※グループ名称は確認後に記載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267461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第1章　我々は何者か｜金属資源グループとは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068024" y="1952843"/>
            <a:ext cx="5104276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591932"/>
            <a:ext cx="3242178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三綱領を体現する中核グループとして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68024" y="2887082"/>
            <a:ext cx="7248516" cy="39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社会に不可欠な金属資源を世界から確保し、安定的に届けてきました。三綱領を事業で体現する中核グループとして、市況の波を越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え、長年にわたり会社の屋台骨を支えています。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8322135" y="3760843"/>
            <a:ext cx="249947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GROUP MISSION　グループミッション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322135" y="3979378"/>
            <a:ext cx="6669600" cy="47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社会の実現に寄与する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68024" y="4980575"/>
            <a:ext cx="12739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これまでの変遷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38579" y="5009036"/>
            <a:ext cx="174564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先見性をもって先手を打ってきた歩み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068024" y="6632297"/>
            <a:ext cx="68826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事業の重心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8068024" y="6834061"/>
            <a:ext cx="870171" cy="31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資源投資</a:t>
            </a:r>
            <a:endParaRPr lang="en-US" sz="720" dirty="0"/>
          </a:p>
          <a:p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</a:t>
            </a:r>
            <a:pPr algn="l" indent="0" marL="0">
              <a:lnSpc>
                <a:spcPts val="1224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トレーディング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8830357" y="7900311"/>
            <a:ext cx="1091387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1980〜90年代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30357" y="8433499"/>
            <a:ext cx="1191185" cy="31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日本の産業に、資源</a:t>
            </a:r>
            <a:endParaRPr lang="en-US" sz="860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を。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8830357" y="8782584"/>
            <a:ext cx="1256480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トレーディングで参入し、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少数出資から事業に関わる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0050090" y="7900311"/>
            <a:ext cx="730847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1990年代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0090" y="8433499"/>
            <a:ext cx="1321993" cy="15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仲介から、担い手へ。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10050090" y="8782584"/>
            <a:ext cx="1267398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投資モデルへ転換し、JV運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営の知見を蓄える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1269822" y="7900311"/>
            <a:ext cx="771028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2000年代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69822" y="8433499"/>
            <a:ext cx="1191185" cy="31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一級資産に、早くか</a:t>
            </a:r>
            <a:endParaRPr lang="en-US" sz="860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ら。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11269822" y="8782584"/>
            <a:ext cx="1258227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BHPと原料炭の合弁を組成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し、事業経営に参画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2489555" y="7900311"/>
            <a:ext cx="729974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2010年代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489555" y="8433499"/>
            <a:ext cx="1194897" cy="31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次の柱を、先回りし</a:t>
            </a:r>
            <a:endParaRPr lang="en-US" sz="860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て。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12489555" y="8782584"/>
            <a:ext cx="1249273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銅へ領域を広げ、販売機能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をRtMに集約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3709288" y="7900311"/>
            <a:ext cx="926076" cy="1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1200" spc="-36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2020年代〜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709288" y="8433499"/>
            <a:ext cx="1321993" cy="316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投資と販売を、一つの</a:t>
            </a:r>
            <a:endParaRPr lang="en-US" sz="860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8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力に。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13709288" y="8782584"/>
            <a:ext cx="1248400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両輪を一体で動かす、グロ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ーバルな事業者へ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8068024" y="9681629"/>
            <a:ext cx="55898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事業領域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8881179" y="9656218"/>
            <a:ext cx="5416773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spc="60" kern="0" dirty="0">
                <a:solidFill>
                  <a:srgbClr val="A8622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　銅</a:t>
            </a:r>
            <a:pPr algn="l" indent="0" marL="0">
              <a:lnSpc>
                <a:spcPts val="1300"/>
              </a:lnSpc>
              <a:buNone/>
            </a:pPr>
            <a:r>
              <a:rPr lang="en-US" sz="900" spc="6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　鉄鉱石　ニッケル　リチウム　アルミ・ボーキサイト　肥料資源　二次資源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0477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0041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755980"/>
            <a:ext cx="3983130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508222" y="508222"/>
            <a:ext cx="282398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第2章　独自価値｜投資とトレーディングの両輪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8222" y="731331"/>
            <a:ext cx="3350493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Two wheels,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flow.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8222" y="2134532"/>
            <a:ext cx="4180106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資源の流れ全体に関わり、互いを強め合ってきた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8222" y="2455093"/>
            <a:ext cx="4243654" cy="59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投資とトレーディングの両輪で、資源の流れ全体に関わる。互いを強め合いな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がら、長い時間をかけて積み重ねてきたこと。それが、鉱山会社でも純粋なト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レーダーでもない、金属資源グループならではの強さです。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8576246" y="508222"/>
            <a:ext cx="2656274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金属資源グループならではの強み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47516" y="952916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8932001" y="902094"/>
            <a:ext cx="117939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持つ力・つなぐ力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932001" y="1083021"/>
            <a:ext cx="2655619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資源に投資して育てる力と、市場へ届ける力の両方を持つ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651685" y="1435727"/>
            <a:ext cx="13642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8932001" y="1384905"/>
            <a:ext cx="1038321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互いを強め合う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932001" y="1565832"/>
            <a:ext cx="2157502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市場の情報を投資判断に、投資の資源を市場へ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646126" y="1918538"/>
            <a:ext cx="14843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</a:t>
            </a:r>
            <a:endParaRPr lang="en-US" sz="990" dirty="0"/>
          </a:p>
        </p:txBody>
      </p:sp>
      <p:sp>
        <p:nvSpPr>
          <p:cNvPr id="15" name="Text 13"/>
          <p:cNvSpPr/>
          <p:nvPr/>
        </p:nvSpPr>
        <p:spPr>
          <a:xfrm>
            <a:off x="8932001" y="1867716"/>
            <a:ext cx="1461535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流れ全体を進化させる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932001" y="2048643"/>
            <a:ext cx="2160559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業界の課題に挑む新技術へ投資し、両輪に還元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647516" y="2401349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8932001" y="2350527"/>
            <a:ext cx="1179393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長い時間をかけて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932001" y="2531454"/>
            <a:ext cx="205508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市況に左右されず関わり続け、先見性を培う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654663" y="2884160"/>
            <a:ext cx="1296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8932001" y="2833338"/>
            <a:ext cx="1598676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6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その結果としての、いま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932001" y="3014265"/>
            <a:ext cx="1763332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　→ P.08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6596721" y="6022431"/>
            <a:ext cx="861436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04398" y="6296870"/>
            <a:ext cx="653760" cy="27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F3E3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</a:t>
            </a:r>
            <a:endParaRPr lang="en-US" sz="720" dirty="0"/>
          </a:p>
          <a:p>
            <a:pPr algn="r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F3E3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育てる力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686857" y="6021795"/>
            <a:ext cx="847897" cy="40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</a:t>
            </a:r>
            <a:endParaRPr lang="en-US" sz="1400" dirty="0"/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5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ディング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6857" y="6500159"/>
            <a:ext cx="452854" cy="27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DFE3E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市場へ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DFE3E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届ける力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931463" y="4437286"/>
            <a:ext cx="1256480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投資で得た資源を、市場へ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931463" y="8045662"/>
            <a:ext cx="1256480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市場の情報を、投資判断へ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516722" y="4129304"/>
            <a:ext cx="145598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9032852" y="5120336"/>
            <a:ext cx="13642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1654898" y="5488797"/>
            <a:ext cx="15183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川上｜鉱山・資源開発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34582" y="5707841"/>
            <a:ext cx="1758746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世界上位の優良鉱山に参画し、育てる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088646" y="8131552"/>
            <a:ext cx="122481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川中｜製錬・製鉄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2261" y="8350595"/>
            <a:ext cx="1457386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精鉱・原料を製錬所・製鉄所へ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1873018" y="5488797"/>
            <a:ext cx="16650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川下｜需要家・最終製品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981343" y="5707841"/>
            <a:ext cx="1448214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電化・インフラ・モビリティへ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9365896" y="8131552"/>
            <a:ext cx="210531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新技術｜業界のボトルネックへ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41689" y="8350595"/>
            <a:ext cx="1753723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選鉱・浸出・リサイクルの技術に投資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377820" y="7890146"/>
            <a:ext cx="14843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13673355" y="5247392"/>
            <a:ext cx="1296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9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</a:t>
            </a:r>
            <a:endParaRPr lang="en-US" sz="990" dirty="0"/>
          </a:p>
        </p:txBody>
      </p:sp>
      <p:sp>
        <p:nvSpPr>
          <p:cNvPr id="41" name="Text 39"/>
          <p:cNvSpPr/>
          <p:nvPr/>
        </p:nvSpPr>
        <p:spPr>
          <a:xfrm>
            <a:off x="508222" y="10154783"/>
            <a:ext cx="4426435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D｜これらの流れに、長い時間をかけて関わり続けてきた積み重ねが、先見性につながっている。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58915" y="10316906"/>
            <a:ext cx="196043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665" y="6600533"/>
            <a:ext cx="3680679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11307939" y="6600533"/>
            <a:ext cx="3680679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127055" y="1905832"/>
            <a:ext cx="352619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27055" y="2020182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豪州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196570" y="1905832"/>
            <a:ext cx="1514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</a:t>
            </a:r>
            <a:endParaRPr lang="en-US" sz="580" dirty="0"/>
          </a:p>
        </p:txBody>
      </p:sp>
      <p:sp>
        <p:nvSpPr>
          <p:cNvPr id="7" name="Text 5"/>
          <p:cNvSpPr/>
          <p:nvPr/>
        </p:nvSpPr>
        <p:spPr>
          <a:xfrm>
            <a:off x="5196570" y="2020182"/>
            <a:ext cx="235350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南米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10266084" y="1905832"/>
            <a:ext cx="76644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508222" y="2337821"/>
            <a:ext cx="143795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1　原料炭事業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08222" y="2513031"/>
            <a:ext cx="3862150" cy="2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2100" spc="-5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World-class metallurgical coal.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8222" y="2995929"/>
            <a:ext cx="3130369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鉄の主原料“産業のコメ”を、世界最高品位で届ける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8222" y="3192015"/>
            <a:ext cx="4690889" cy="59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原料炭は鉄の主原料。BHPとの50:50の合弁BMAを通じ、豪州クイーンズランド州ボー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エン・ベースンで世界最高品位の原料炭を生産。炭鉱から港湾・鉄道までを保有し、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全体最適の操業で安定供給を実現しています。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08222" y="3976837"/>
            <a:ext cx="5565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194322" y="3922394"/>
            <a:ext cx="110186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上位5社で約80%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194322" y="4087629"/>
            <a:ext cx="115668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寡占度が高く、供給は漸減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508222" y="4358004"/>
            <a:ext cx="44695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1194322" y="4303560"/>
            <a:ext cx="912318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BMAで約50%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194322" y="4468796"/>
            <a:ext cx="161745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一級強粘炭の世界供給に占めるシェア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508222" y="4739170"/>
            <a:ext cx="59348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1194322" y="4684727"/>
            <a:ext cx="862310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高品位に集約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194322" y="4849962"/>
            <a:ext cx="2180650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7炭鉱から高品位の5炭鉱へ。港湾・鉄道も自社保有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508222" y="5056809"/>
            <a:ext cx="52579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出資構成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857853" y="5298214"/>
            <a:ext cx="4694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943238" y="5761967"/>
            <a:ext cx="29868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4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MDP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834979" y="5761967"/>
            <a:ext cx="26876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BHP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67164" y="6234851"/>
            <a:ext cx="33383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BMA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806624" y="6358349"/>
            <a:ext cx="1054918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 Mitsubishi Alliance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143499" y="5536062"/>
            <a:ext cx="28928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3499" y="5993462"/>
            <a:ext cx="23818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2020182" y="5993462"/>
            <a:ext cx="23818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3781092" y="5231129"/>
            <a:ext cx="68127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Broadmeadow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3781092" y="5383595"/>
            <a:ext cx="91057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Goonyella Riverside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3781092" y="5536062"/>
            <a:ext cx="56837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Caval Ridge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3781092" y="5688529"/>
            <a:ext cx="590868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Downs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3781092" y="5840995"/>
            <a:ext cx="292784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Saraji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3781092" y="5993462"/>
            <a:ext cx="72080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Daunia（売却）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43" name="Text 41"/>
          <p:cNvSpPr/>
          <p:nvPr/>
        </p:nvSpPr>
        <p:spPr>
          <a:xfrm>
            <a:off x="3781092" y="6145928"/>
            <a:ext cx="902054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Blackwater（売却）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2938555" y="5188645"/>
            <a:ext cx="70900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ヘイポイント港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3910331" y="6429620"/>
            <a:ext cx="895503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グラッドストーン港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2439466" y="5107631"/>
            <a:ext cx="245318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ボーエン・ベースン（クイーンズランド州）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2439466" y="6654150"/>
            <a:ext cx="151787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操業中　○売却　- -鉄道　■港湾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5450681" y="2337821"/>
            <a:ext cx="120406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2　銅事業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5450681" y="2507186"/>
            <a:ext cx="2034556" cy="660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partner</a:t>
            </a:r>
            <a:endParaRPr lang="en-US" sz="1700" dirty="0"/>
          </a:p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copper industry</a:t>
            </a:r>
            <a:endParaRPr lang="en-US" sz="1700" dirty="0"/>
          </a:p>
          <a:p>
            <a:pPr algn="l" indent="0" marL="0">
              <a:lnSpc>
                <a:spcPts val="1734"/>
              </a:lnSpc>
              <a:buNone/>
            </a:pPr>
            <a:r>
              <a:rPr lang="en-US" sz="1700" spc="-4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calls first.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5450681" y="3396154"/>
            <a:ext cx="2165145" cy="3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日本最大の銅生産者として、業界か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ら声がかかる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50681" y="3878115"/>
            <a:ext cx="2203142" cy="98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電化や再エネ、AI・データセンターの広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がりを背景に、銅の需要は拡大を続け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ています。主要メジャー各社との協業を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通じ、世界最大級の銅ポジションを築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いています。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5450681" y="5145748"/>
            <a:ext cx="55658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</a:t>
            </a:r>
            <a:endParaRPr lang="en-US" sz="660" dirty="0"/>
          </a:p>
        </p:txBody>
      </p:sp>
      <p:sp>
        <p:nvSpPr>
          <p:cNvPr id="55" name="Text 53"/>
          <p:cNvSpPr/>
          <p:nvPr/>
        </p:nvSpPr>
        <p:spPr>
          <a:xfrm>
            <a:off x="6009725" y="5091304"/>
            <a:ext cx="110186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上位5社で約25%</a:t>
            </a:r>
            <a:endParaRPr lang="en-US" sz="940" dirty="0"/>
          </a:p>
        </p:txBody>
      </p:sp>
      <p:sp>
        <p:nvSpPr>
          <p:cNvPr id="56" name="Text 54"/>
          <p:cNvSpPr/>
          <p:nvPr/>
        </p:nvSpPr>
        <p:spPr>
          <a:xfrm>
            <a:off x="6009725" y="5256540"/>
            <a:ext cx="115668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寡占化が進まず再編の機運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5450681" y="5526914"/>
            <a:ext cx="44695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SCALE</a:t>
            </a:r>
            <a:endParaRPr lang="en-US" sz="660" dirty="0"/>
          </a:p>
        </p:txBody>
      </p:sp>
      <p:sp>
        <p:nvSpPr>
          <p:cNvPr id="58" name="Text 56"/>
          <p:cNvSpPr/>
          <p:nvPr/>
        </p:nvSpPr>
        <p:spPr>
          <a:xfrm>
            <a:off x="6009725" y="5472471"/>
            <a:ext cx="1403229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持分生産量で日本最大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009725" y="5637706"/>
            <a:ext cx="97237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パートナー型の生産者</a:t>
            </a:r>
            <a:endParaRPr lang="en-US" sz="660" dirty="0"/>
          </a:p>
        </p:txBody>
      </p:sp>
      <p:sp>
        <p:nvSpPr>
          <p:cNvPr id="60" name="Text 58"/>
          <p:cNvSpPr/>
          <p:nvPr/>
        </p:nvSpPr>
        <p:spPr>
          <a:xfrm>
            <a:off x="5450681" y="5908081"/>
            <a:ext cx="59348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4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6009725" y="5853637"/>
            <a:ext cx="1476822" cy="18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9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5鉱山すべて世界Top15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6009725" y="6018873"/>
            <a:ext cx="115973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平均コストは世界上位25%</a:t>
            </a:r>
            <a:endParaRPr lang="en-US" sz="660" dirty="0"/>
          </a:p>
        </p:txBody>
      </p:sp>
      <p:sp>
        <p:nvSpPr>
          <p:cNvPr id="63" name="Text 61"/>
          <p:cNvSpPr/>
          <p:nvPr/>
        </p:nvSpPr>
        <p:spPr>
          <a:xfrm>
            <a:off x="7712269" y="2337821"/>
            <a:ext cx="68826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早期の参画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12269" y="2490288"/>
            <a:ext cx="113943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主要銅鉱山への参画年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7712269" y="2744399"/>
            <a:ext cx="29911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1988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8195079" y="2755516"/>
            <a:ext cx="515528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67" name="Text 65"/>
          <p:cNvSpPr/>
          <p:nvPr/>
        </p:nvSpPr>
        <p:spPr>
          <a:xfrm>
            <a:off x="7712269" y="2960393"/>
            <a:ext cx="29125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1997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8195079" y="2971510"/>
            <a:ext cx="703332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69" name="Text 67"/>
          <p:cNvSpPr/>
          <p:nvPr/>
        </p:nvSpPr>
        <p:spPr>
          <a:xfrm>
            <a:off x="7712269" y="3176387"/>
            <a:ext cx="29911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1999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8195079" y="3187505"/>
            <a:ext cx="476657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660" dirty="0"/>
          </a:p>
        </p:txBody>
      </p:sp>
      <p:sp>
        <p:nvSpPr>
          <p:cNvPr id="71" name="Text 69"/>
          <p:cNvSpPr/>
          <p:nvPr/>
        </p:nvSpPr>
        <p:spPr>
          <a:xfrm>
            <a:off x="7712269" y="3392382"/>
            <a:ext cx="27793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2011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8195079" y="3403499"/>
            <a:ext cx="941362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Anglo American Sur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73" name="Text 71"/>
          <p:cNvSpPr/>
          <p:nvPr/>
        </p:nvSpPr>
        <p:spPr>
          <a:xfrm>
            <a:off x="7712269" y="3608376"/>
            <a:ext cx="27793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2011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8195079" y="3619493"/>
            <a:ext cx="549376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660" dirty="0"/>
          </a:p>
        </p:txBody>
      </p:sp>
      <p:sp>
        <p:nvSpPr>
          <p:cNvPr id="75" name="Text 73"/>
          <p:cNvSpPr/>
          <p:nvPr/>
        </p:nvSpPr>
        <p:spPr>
          <a:xfrm>
            <a:off x="7712269" y="3824370"/>
            <a:ext cx="31942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2023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8195079" y="3835488"/>
            <a:ext cx="603752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Marimaca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チリ・開発中</a:t>
            </a:r>
            <a:endParaRPr lang="en-US" sz="660" dirty="0"/>
          </a:p>
        </p:txBody>
      </p:sp>
      <p:sp>
        <p:nvSpPr>
          <p:cNvPr id="77" name="Text 75"/>
          <p:cNvSpPr/>
          <p:nvPr/>
        </p:nvSpPr>
        <p:spPr>
          <a:xfrm>
            <a:off x="7712269" y="4040365"/>
            <a:ext cx="31702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3D424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8195079" y="4051482"/>
            <a:ext cx="669483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World</a:t>
            </a:r>
            <a:endParaRPr lang="en-US" sz="660" dirty="0"/>
          </a:p>
          <a:p>
            <a:pPr algn="l" indent="0" marL="0">
              <a:lnSpc>
                <a:spcPts val="825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米国・開発中</a:t>
            </a:r>
            <a:endParaRPr lang="en-US" sz="660" dirty="0"/>
          </a:p>
        </p:txBody>
      </p:sp>
      <p:sp>
        <p:nvSpPr>
          <p:cNvPr id="79" name="Text 77"/>
          <p:cNvSpPr/>
          <p:nvPr/>
        </p:nvSpPr>
        <p:spPr>
          <a:xfrm>
            <a:off x="7712269" y="4396120"/>
            <a:ext cx="55898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参画鉱山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8347546" y="4396120"/>
            <a:ext cx="178931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鉱山別生産量ランキング／出資比率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7712269" y="4599409"/>
            <a:ext cx="2436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鉱山</a:t>
            </a:r>
            <a:endParaRPr lang="en-US" sz="660" dirty="0"/>
          </a:p>
        </p:txBody>
      </p:sp>
      <p:sp>
        <p:nvSpPr>
          <p:cNvPr id="82" name="Text 80"/>
          <p:cNvSpPr/>
          <p:nvPr/>
        </p:nvSpPr>
        <p:spPr>
          <a:xfrm>
            <a:off x="8550835" y="4599409"/>
            <a:ext cx="14734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国</a:t>
            </a:r>
            <a:endParaRPr lang="en-US" sz="660" dirty="0"/>
          </a:p>
        </p:txBody>
      </p:sp>
      <p:sp>
        <p:nvSpPr>
          <p:cNvPr id="83" name="Text 81"/>
          <p:cNvSpPr/>
          <p:nvPr/>
        </p:nvSpPr>
        <p:spPr>
          <a:xfrm>
            <a:off x="8881179" y="4599409"/>
            <a:ext cx="2436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順位</a:t>
            </a:r>
            <a:endParaRPr lang="en-US" sz="660" dirty="0"/>
          </a:p>
        </p:txBody>
      </p:sp>
      <p:sp>
        <p:nvSpPr>
          <p:cNvPr id="84" name="Text 82"/>
          <p:cNvSpPr/>
          <p:nvPr/>
        </p:nvSpPr>
        <p:spPr>
          <a:xfrm>
            <a:off x="9287757" y="4599409"/>
            <a:ext cx="2436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7D838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出資</a:t>
            </a:r>
            <a:endParaRPr lang="en-US" sz="660" dirty="0"/>
          </a:p>
        </p:txBody>
      </p:sp>
      <p:sp>
        <p:nvSpPr>
          <p:cNvPr id="85" name="Text 83"/>
          <p:cNvSpPr/>
          <p:nvPr/>
        </p:nvSpPr>
        <p:spPr>
          <a:xfrm>
            <a:off x="7712269" y="4802698"/>
            <a:ext cx="55330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Escondida</a:t>
            </a:r>
            <a:endParaRPr lang="en-US" sz="660" dirty="0"/>
          </a:p>
        </p:txBody>
      </p:sp>
      <p:sp>
        <p:nvSpPr>
          <p:cNvPr id="86" name="Text 84"/>
          <p:cNvSpPr/>
          <p:nvPr/>
        </p:nvSpPr>
        <p:spPr>
          <a:xfrm>
            <a:off x="8550835" y="4799140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87" name="Text 85"/>
          <p:cNvSpPr/>
          <p:nvPr/>
        </p:nvSpPr>
        <p:spPr>
          <a:xfrm>
            <a:off x="8881179" y="4781035"/>
            <a:ext cx="195388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1位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9287757" y="4802698"/>
            <a:ext cx="35960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8.25%</a:t>
            </a:r>
            <a:endParaRPr lang="en-US" sz="660" dirty="0"/>
          </a:p>
        </p:txBody>
      </p:sp>
      <p:sp>
        <p:nvSpPr>
          <p:cNvPr id="89" name="Text 87"/>
          <p:cNvSpPr/>
          <p:nvPr/>
        </p:nvSpPr>
        <p:spPr>
          <a:xfrm>
            <a:off x="7712269" y="4993281"/>
            <a:ext cx="75792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Los Pelambres</a:t>
            </a:r>
            <a:endParaRPr lang="en-US" sz="660" dirty="0"/>
          </a:p>
        </p:txBody>
      </p:sp>
      <p:sp>
        <p:nvSpPr>
          <p:cNvPr id="90" name="Text 88"/>
          <p:cNvSpPr/>
          <p:nvPr/>
        </p:nvSpPr>
        <p:spPr>
          <a:xfrm>
            <a:off x="8550835" y="4989723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91" name="Text 89"/>
          <p:cNvSpPr/>
          <p:nvPr/>
        </p:nvSpPr>
        <p:spPr>
          <a:xfrm>
            <a:off x="8881179" y="4971618"/>
            <a:ext cx="255659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12位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9287757" y="4993281"/>
            <a:ext cx="20630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5%</a:t>
            </a:r>
            <a:endParaRPr lang="en-US" sz="660" dirty="0"/>
          </a:p>
        </p:txBody>
      </p:sp>
      <p:sp>
        <p:nvSpPr>
          <p:cNvPr id="93" name="Text 91"/>
          <p:cNvSpPr/>
          <p:nvPr/>
        </p:nvSpPr>
        <p:spPr>
          <a:xfrm>
            <a:off x="7712269" y="5183864"/>
            <a:ext cx="38777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AA Sur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8550835" y="5180307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8881179" y="5162201"/>
            <a:ext cx="260682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10位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9287757" y="5183864"/>
            <a:ext cx="43036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20.44%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7712269" y="5374447"/>
            <a:ext cx="52710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Marimaca</a:t>
            </a:r>
            <a:endParaRPr lang="en-US" sz="660" dirty="0"/>
          </a:p>
        </p:txBody>
      </p:sp>
      <p:sp>
        <p:nvSpPr>
          <p:cNvPr id="98" name="Text 96"/>
          <p:cNvSpPr/>
          <p:nvPr/>
        </p:nvSpPr>
        <p:spPr>
          <a:xfrm>
            <a:off x="8550835" y="5370890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</a:t>
            </a:r>
            <a:endParaRPr lang="en-US" sz="660" dirty="0"/>
          </a:p>
        </p:txBody>
      </p:sp>
      <p:sp>
        <p:nvSpPr>
          <p:cNvPr id="99" name="Text 97"/>
          <p:cNvSpPr/>
          <p:nvPr/>
        </p:nvSpPr>
        <p:spPr>
          <a:xfrm>
            <a:off x="8881179" y="5352785"/>
            <a:ext cx="368123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7D838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開発中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9287757" y="5374447"/>
            <a:ext cx="20630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5%</a:t>
            </a:r>
            <a:endParaRPr lang="en-US" sz="660" dirty="0"/>
          </a:p>
        </p:txBody>
      </p:sp>
      <p:sp>
        <p:nvSpPr>
          <p:cNvPr id="101" name="Text 99"/>
          <p:cNvSpPr/>
          <p:nvPr/>
        </p:nvSpPr>
        <p:spPr>
          <a:xfrm>
            <a:off x="7712269" y="5565031"/>
            <a:ext cx="51028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Antamina</a:t>
            </a:r>
            <a:endParaRPr lang="en-US" sz="660" dirty="0"/>
          </a:p>
        </p:txBody>
      </p:sp>
      <p:sp>
        <p:nvSpPr>
          <p:cNvPr id="102" name="Text 100"/>
          <p:cNvSpPr/>
          <p:nvPr/>
        </p:nvSpPr>
        <p:spPr>
          <a:xfrm>
            <a:off x="8550835" y="5561473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660" dirty="0"/>
          </a:p>
        </p:txBody>
      </p:sp>
      <p:sp>
        <p:nvSpPr>
          <p:cNvPr id="103" name="Text 101"/>
          <p:cNvSpPr/>
          <p:nvPr/>
        </p:nvSpPr>
        <p:spPr>
          <a:xfrm>
            <a:off x="8881179" y="5543368"/>
            <a:ext cx="221811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4位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9287757" y="5565031"/>
            <a:ext cx="252821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10%</a:t>
            </a:r>
            <a:endParaRPr lang="en-US" sz="660" dirty="0"/>
          </a:p>
        </p:txBody>
      </p:sp>
      <p:sp>
        <p:nvSpPr>
          <p:cNvPr id="105" name="Text 103"/>
          <p:cNvSpPr/>
          <p:nvPr/>
        </p:nvSpPr>
        <p:spPr>
          <a:xfrm>
            <a:off x="7712269" y="5755614"/>
            <a:ext cx="59130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Quellaveco</a:t>
            </a:r>
            <a:endParaRPr lang="en-US" sz="660" dirty="0"/>
          </a:p>
        </p:txBody>
      </p:sp>
      <p:sp>
        <p:nvSpPr>
          <p:cNvPr id="106" name="Text 104"/>
          <p:cNvSpPr/>
          <p:nvPr/>
        </p:nvSpPr>
        <p:spPr>
          <a:xfrm>
            <a:off x="8550835" y="5752056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ペルー</a:t>
            </a:r>
            <a:endParaRPr lang="en-US" sz="660" dirty="0"/>
          </a:p>
        </p:txBody>
      </p:sp>
      <p:sp>
        <p:nvSpPr>
          <p:cNvPr id="107" name="Text 105"/>
          <p:cNvSpPr/>
          <p:nvPr/>
        </p:nvSpPr>
        <p:spPr>
          <a:xfrm>
            <a:off x="8881179" y="5733951"/>
            <a:ext cx="256751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9C744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15位</a:t>
            </a:r>
            <a:endParaRPr lang="en-US" sz="780" dirty="0"/>
          </a:p>
        </p:txBody>
      </p:sp>
      <p:sp>
        <p:nvSpPr>
          <p:cNvPr id="108" name="Text 106"/>
          <p:cNvSpPr/>
          <p:nvPr/>
        </p:nvSpPr>
        <p:spPr>
          <a:xfrm>
            <a:off x="9287757" y="5755614"/>
            <a:ext cx="27509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40%</a:t>
            </a:r>
            <a:endParaRPr lang="en-US" sz="660" dirty="0"/>
          </a:p>
        </p:txBody>
      </p:sp>
      <p:sp>
        <p:nvSpPr>
          <p:cNvPr id="109" name="Text 107"/>
          <p:cNvSpPr/>
          <p:nvPr/>
        </p:nvSpPr>
        <p:spPr>
          <a:xfrm>
            <a:off x="7712269" y="5946197"/>
            <a:ext cx="71971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Copper World</a:t>
            </a:r>
            <a:endParaRPr lang="en-US" sz="660" dirty="0"/>
          </a:p>
        </p:txBody>
      </p:sp>
      <p:sp>
        <p:nvSpPr>
          <p:cNvPr id="110" name="Text 108"/>
          <p:cNvSpPr/>
          <p:nvPr/>
        </p:nvSpPr>
        <p:spPr>
          <a:xfrm>
            <a:off x="8550835" y="5942640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米国</a:t>
            </a:r>
            <a:endParaRPr lang="en-US" sz="660" dirty="0"/>
          </a:p>
        </p:txBody>
      </p:sp>
      <p:sp>
        <p:nvSpPr>
          <p:cNvPr id="111" name="Text 109"/>
          <p:cNvSpPr/>
          <p:nvPr/>
        </p:nvSpPr>
        <p:spPr>
          <a:xfrm>
            <a:off x="8881179" y="5924534"/>
            <a:ext cx="368123" cy="94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1"/>
              </a:lnSpc>
              <a:buNone/>
            </a:pPr>
            <a:r>
              <a:rPr lang="en-US" sz="780" spc="-23" kern="0" dirty="0">
                <a:solidFill>
                  <a:srgbClr val="7D838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開発中</a:t>
            </a:r>
            <a:endParaRPr lang="en-US" sz="780" dirty="0"/>
          </a:p>
        </p:txBody>
      </p:sp>
      <p:sp>
        <p:nvSpPr>
          <p:cNvPr id="112" name="Text 110"/>
          <p:cNvSpPr/>
          <p:nvPr/>
        </p:nvSpPr>
        <p:spPr>
          <a:xfrm>
            <a:off x="9287757" y="5946197"/>
            <a:ext cx="27225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30%</a:t>
            </a:r>
            <a:endParaRPr lang="en-US" sz="660" dirty="0"/>
          </a:p>
        </p:txBody>
      </p:sp>
      <p:sp>
        <p:nvSpPr>
          <p:cNvPr id="113" name="Text 111"/>
          <p:cNvSpPr/>
          <p:nvPr/>
        </p:nvSpPr>
        <p:spPr>
          <a:xfrm>
            <a:off x="10393140" y="2337821"/>
            <a:ext cx="253987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PILLAR 3　トレーディング事業（RtM）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10393140" y="2513031"/>
            <a:ext cx="2561498" cy="27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2100" spc="-52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Resource to Market.</a:t>
            </a:r>
            <a:endParaRPr lang="en-US" sz="2100" dirty="0"/>
          </a:p>
        </p:txBody>
      </p:sp>
      <p:sp>
        <p:nvSpPr>
          <p:cNvPr id="115" name="Text 113"/>
          <p:cNvSpPr/>
          <p:nvPr/>
        </p:nvSpPr>
        <p:spPr>
          <a:xfrm>
            <a:off x="10393140" y="2995929"/>
            <a:ext cx="3498116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一つの商品の中で、投資から販売までを一気通貫でつなぐ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0393140" y="3272314"/>
            <a:ext cx="314621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15</a:t>
            </a:r>
            <a:endParaRPr lang="en-US" sz="2200" dirty="0"/>
          </a:p>
        </p:txBody>
      </p:sp>
      <p:sp>
        <p:nvSpPr>
          <p:cNvPr id="117" name="Text 115"/>
          <p:cNvSpPr/>
          <p:nvPr/>
        </p:nvSpPr>
        <p:spPr>
          <a:xfrm>
            <a:off x="10393140" y="3608376"/>
            <a:ext cx="767316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</a:t>
            </a:r>
            <a:endParaRPr lang="en-US" sz="660" dirty="0"/>
          </a:p>
        </p:txBody>
      </p:sp>
      <p:sp>
        <p:nvSpPr>
          <p:cNvPr id="118" name="Text 116"/>
          <p:cNvSpPr/>
          <p:nvPr/>
        </p:nvSpPr>
        <p:spPr>
          <a:xfrm>
            <a:off x="10393140" y="3706463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業界に販売</a:t>
            </a:r>
            <a:endParaRPr lang="en-US" sz="660" dirty="0"/>
          </a:p>
        </p:txBody>
      </p:sp>
      <p:sp>
        <p:nvSpPr>
          <p:cNvPr id="119" name="Text 117"/>
          <p:cNvSpPr/>
          <p:nvPr/>
        </p:nvSpPr>
        <p:spPr>
          <a:xfrm>
            <a:off x="11816161" y="3272314"/>
            <a:ext cx="383191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50</a:t>
            </a:r>
            <a:endParaRPr lang="en-US" sz="2200" dirty="0"/>
          </a:p>
        </p:txBody>
      </p:sp>
      <p:sp>
        <p:nvSpPr>
          <p:cNvPr id="120" name="Text 118"/>
          <p:cNvSpPr/>
          <p:nvPr/>
        </p:nvSpPr>
        <p:spPr>
          <a:xfrm>
            <a:off x="11816161" y="3608376"/>
            <a:ext cx="73805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COUNTRIES</a:t>
            </a:r>
            <a:endParaRPr lang="en-US" sz="660" dirty="0"/>
          </a:p>
        </p:txBody>
      </p:sp>
      <p:sp>
        <p:nvSpPr>
          <p:cNvPr id="121" name="Text 119"/>
          <p:cNvSpPr/>
          <p:nvPr/>
        </p:nvSpPr>
        <p:spPr>
          <a:xfrm>
            <a:off x="11816161" y="3706463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カ国に販売</a:t>
            </a:r>
            <a:endParaRPr lang="en-US" sz="660" dirty="0"/>
          </a:p>
        </p:txBody>
      </p:sp>
      <p:sp>
        <p:nvSpPr>
          <p:cNvPr id="122" name="Text 120"/>
          <p:cNvSpPr/>
          <p:nvPr/>
        </p:nvSpPr>
        <p:spPr>
          <a:xfrm>
            <a:off x="13239183" y="3272314"/>
            <a:ext cx="1020633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2200" spc="-66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〜1,000</a:t>
            </a:r>
            <a:endParaRPr lang="en-US" sz="2200" dirty="0"/>
          </a:p>
        </p:txBody>
      </p:sp>
      <p:sp>
        <p:nvSpPr>
          <p:cNvPr id="123" name="Text 121"/>
          <p:cNvSpPr/>
          <p:nvPr/>
        </p:nvSpPr>
        <p:spPr>
          <a:xfrm>
            <a:off x="13239183" y="3608376"/>
            <a:ext cx="78369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120" kern="0" dirty="0">
                <a:solidFill>
                  <a:srgbClr val="9C744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</a:t>
            </a:r>
            <a:endParaRPr lang="en-US" sz="660" dirty="0"/>
          </a:p>
        </p:txBody>
      </p:sp>
      <p:sp>
        <p:nvSpPr>
          <p:cNvPr id="124" name="Text 122"/>
          <p:cNvSpPr/>
          <p:nvPr/>
        </p:nvSpPr>
        <p:spPr>
          <a:xfrm>
            <a:off x="13239183" y="3706463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社の販売先</a:t>
            </a:r>
            <a:endParaRPr lang="en-US" sz="660" dirty="0"/>
          </a:p>
        </p:txBody>
      </p:sp>
      <p:sp>
        <p:nvSpPr>
          <p:cNvPr id="125" name="Text 123"/>
          <p:cNvSpPr/>
          <p:nvPr/>
        </p:nvSpPr>
        <p:spPr>
          <a:xfrm>
            <a:off x="10393140" y="3964131"/>
            <a:ext cx="164409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RtM事業のビジネスモデル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12267436" y="4192831"/>
            <a:ext cx="4694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720" dirty="0"/>
          </a:p>
        </p:txBody>
      </p:sp>
      <p:sp>
        <p:nvSpPr>
          <p:cNvPr id="127" name="Text 125"/>
          <p:cNvSpPr/>
          <p:nvPr/>
        </p:nvSpPr>
        <p:spPr>
          <a:xfrm>
            <a:off x="11858943" y="4477928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第三者取引</a:t>
            </a:r>
            <a:endParaRPr lang="en-US" sz="660" dirty="0"/>
          </a:p>
        </p:txBody>
      </p:sp>
      <p:sp>
        <p:nvSpPr>
          <p:cNvPr id="128" name="Text 126"/>
          <p:cNvSpPr/>
          <p:nvPr/>
        </p:nvSpPr>
        <p:spPr>
          <a:xfrm>
            <a:off x="12613236" y="4477928"/>
            <a:ext cx="553088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MC保有資産</a:t>
            </a:r>
            <a:endParaRPr lang="en-US" sz="660" dirty="0"/>
          </a:p>
        </p:txBody>
      </p:sp>
      <p:sp>
        <p:nvSpPr>
          <p:cNvPr id="129" name="Text 127"/>
          <p:cNvSpPr/>
          <p:nvPr/>
        </p:nvSpPr>
        <p:spPr>
          <a:xfrm>
            <a:off x="12322676" y="5113984"/>
            <a:ext cx="35917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12267436" y="5844553"/>
            <a:ext cx="469450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顧客基盤</a:t>
            </a:r>
            <a:endParaRPr lang="en-US" sz="720" dirty="0"/>
          </a:p>
        </p:txBody>
      </p:sp>
      <p:sp>
        <p:nvSpPr>
          <p:cNvPr id="131" name="Text 129"/>
          <p:cNvSpPr/>
          <p:nvPr/>
        </p:nvSpPr>
        <p:spPr>
          <a:xfrm>
            <a:off x="10868764" y="4748318"/>
            <a:ext cx="693286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資源確保による</a:t>
            </a:r>
            <a:endParaRPr lang="en-US" sz="660" dirty="0"/>
          </a:p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安定供給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13442471" y="4722907"/>
            <a:ext cx="788062" cy="402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市場・業界動向の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発信と知見共有で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事業機会を発掘</a:t>
            </a:r>
            <a:endParaRPr lang="en-US" sz="660" dirty="0"/>
          </a:p>
        </p:txBody>
      </p:sp>
      <p:sp>
        <p:nvSpPr>
          <p:cNvPr id="133" name="Text 131"/>
          <p:cNvSpPr/>
          <p:nvPr/>
        </p:nvSpPr>
        <p:spPr>
          <a:xfrm>
            <a:off x="10684454" y="5459829"/>
            <a:ext cx="877596" cy="402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トレーディング機能</a:t>
            </a:r>
            <a:endParaRPr lang="en-US" sz="660" dirty="0"/>
          </a:p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強化による継続的な</a:t>
            </a:r>
            <a:endParaRPr lang="en-US" sz="660" dirty="0"/>
          </a:p>
          <a:p>
            <a:pPr algn="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付加価値創出</a:t>
            </a:r>
            <a:endParaRPr lang="en-US" sz="660" dirty="0"/>
          </a:p>
        </p:txBody>
      </p:sp>
      <p:sp>
        <p:nvSpPr>
          <p:cNvPr id="134" name="Text 132"/>
          <p:cNvSpPr/>
          <p:nvPr/>
        </p:nvSpPr>
        <p:spPr>
          <a:xfrm>
            <a:off x="13442471" y="5459829"/>
            <a:ext cx="786315" cy="402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広い産業接点を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生かした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インテリジェンス</a:t>
            </a:r>
            <a:endParaRPr lang="en-US" sz="660" dirty="0"/>
          </a:p>
        </p:txBody>
      </p:sp>
      <p:sp>
        <p:nvSpPr>
          <p:cNvPr id="135" name="Text 133"/>
          <p:cNvSpPr/>
          <p:nvPr/>
        </p:nvSpPr>
        <p:spPr>
          <a:xfrm>
            <a:off x="10393140" y="6124075"/>
            <a:ext cx="71446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Sustainability</a:t>
            </a:r>
            <a:endParaRPr lang="en-US" sz="660" dirty="0"/>
          </a:p>
        </p:txBody>
      </p:sp>
      <p:sp>
        <p:nvSpPr>
          <p:cNvPr id="136" name="Text 134"/>
          <p:cNvSpPr/>
          <p:nvPr/>
        </p:nvSpPr>
        <p:spPr>
          <a:xfrm>
            <a:off x="11460406" y="6124075"/>
            <a:ext cx="984164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Market Intelligence</a:t>
            </a:r>
            <a:endParaRPr lang="en-US" sz="660" dirty="0"/>
          </a:p>
        </p:txBody>
      </p:sp>
      <p:sp>
        <p:nvSpPr>
          <p:cNvPr id="137" name="Text 135"/>
          <p:cNvSpPr/>
          <p:nvPr/>
        </p:nvSpPr>
        <p:spPr>
          <a:xfrm>
            <a:off x="12527672" y="6124075"/>
            <a:ext cx="82474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Professionalism</a:t>
            </a:r>
            <a:endParaRPr lang="en-US" sz="660" dirty="0"/>
          </a:p>
        </p:txBody>
      </p:sp>
      <p:sp>
        <p:nvSpPr>
          <p:cNvPr id="138" name="Text 136"/>
          <p:cNvSpPr/>
          <p:nvPr/>
        </p:nvSpPr>
        <p:spPr>
          <a:xfrm>
            <a:off x="13594938" y="6124075"/>
            <a:ext cx="798762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60" spc="30" kern="0" dirty="0">
                <a:solidFill>
                  <a:srgbClr val="3D424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Global Network</a:t>
            </a:r>
            <a:endParaRPr lang="en-US" sz="660" dirty="0"/>
          </a:p>
        </p:txBody>
      </p:sp>
      <p:sp>
        <p:nvSpPr>
          <p:cNvPr id="139" name="Text 137"/>
          <p:cNvSpPr/>
          <p:nvPr/>
        </p:nvSpPr>
        <p:spPr>
          <a:xfrm>
            <a:off x="10393140" y="6276541"/>
            <a:ext cx="94223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多様な取引機能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10647251" y="6488978"/>
            <a:ext cx="69590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取扱商品の広さ</a:t>
            </a:r>
            <a:endParaRPr lang="en-US" sz="660" dirty="0"/>
          </a:p>
        </p:txBody>
      </p:sp>
      <p:sp>
        <p:nvSpPr>
          <p:cNvPr id="141" name="Text 139"/>
          <p:cNvSpPr/>
          <p:nvPr/>
        </p:nvSpPr>
        <p:spPr>
          <a:xfrm>
            <a:off x="11714517" y="6488978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在庫</a:t>
            </a:r>
            <a:endParaRPr lang="en-US" sz="660" dirty="0"/>
          </a:p>
        </p:txBody>
      </p:sp>
      <p:sp>
        <p:nvSpPr>
          <p:cNvPr id="142" name="Text 140"/>
          <p:cNvSpPr/>
          <p:nvPr/>
        </p:nvSpPr>
        <p:spPr>
          <a:xfrm>
            <a:off x="12781783" y="6488978"/>
            <a:ext cx="41944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輸送手配</a:t>
            </a:r>
            <a:endParaRPr lang="en-US" sz="660" dirty="0"/>
          </a:p>
        </p:txBody>
      </p:sp>
      <p:sp>
        <p:nvSpPr>
          <p:cNvPr id="143" name="Text 141"/>
          <p:cNvSpPr/>
          <p:nvPr/>
        </p:nvSpPr>
        <p:spPr>
          <a:xfrm>
            <a:off x="13849049" y="6488978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ヘッジ</a:t>
            </a:r>
            <a:endParaRPr lang="en-US" sz="660" dirty="0"/>
          </a:p>
        </p:txBody>
      </p:sp>
      <p:sp>
        <p:nvSpPr>
          <p:cNvPr id="144" name="Text 142"/>
          <p:cNvSpPr/>
          <p:nvPr/>
        </p:nvSpPr>
        <p:spPr>
          <a:xfrm>
            <a:off x="508222" y="7089697"/>
            <a:ext cx="190047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NEW TECHNOLOGY　新技術</a:t>
            </a:r>
            <a:endParaRPr lang="en-US" sz="720" dirty="0"/>
          </a:p>
        </p:txBody>
      </p:sp>
      <p:sp>
        <p:nvSpPr>
          <p:cNvPr id="145" name="Text 143"/>
          <p:cNvSpPr/>
          <p:nvPr/>
        </p:nvSpPr>
        <p:spPr>
          <a:xfrm>
            <a:off x="508222" y="7290190"/>
            <a:ext cx="1658293" cy="57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Investing in</a:t>
            </a:r>
            <a:endParaRPr lang="en-US" sz="2200" dirty="0"/>
          </a:p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what's next.</a:t>
            </a:r>
            <a:endParaRPr lang="en-US" sz="2200" dirty="0"/>
          </a:p>
        </p:txBody>
      </p:sp>
      <p:sp>
        <p:nvSpPr>
          <p:cNvPr id="146" name="Text 144"/>
          <p:cNvSpPr/>
          <p:nvPr/>
        </p:nvSpPr>
        <p:spPr>
          <a:xfrm>
            <a:off x="508222" y="8052142"/>
            <a:ext cx="2706500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業界のボトルネックに挑む新技術へ投資する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508222" y="8325057"/>
            <a:ext cx="3405087" cy="59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業界の課題を見極め、課題を解く技術を持つスタートアップ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に出資。トレーディングや業界とのつながりを生かして技術を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現場に取り入れ、知見を既存事業の高度化に還元しています。</a:t>
            </a:r>
            <a:endParaRPr lang="en-US" sz="840" dirty="0"/>
          </a:p>
        </p:txBody>
      </p:sp>
      <p:sp>
        <p:nvSpPr>
          <p:cNvPr id="148" name="Text 146"/>
          <p:cNvSpPr/>
          <p:nvPr/>
        </p:nvSpPr>
        <p:spPr>
          <a:xfrm>
            <a:off x="4663532" y="7070638"/>
            <a:ext cx="55243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Upstream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6122487" y="7070638"/>
            <a:ext cx="44564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Trading</a:t>
            </a:r>
            <a:endParaRPr lang="en-US" sz="720" dirty="0"/>
          </a:p>
        </p:txBody>
      </p:sp>
      <p:sp>
        <p:nvSpPr>
          <p:cNvPr id="150" name="Text 148"/>
          <p:cNvSpPr/>
          <p:nvPr/>
        </p:nvSpPr>
        <p:spPr>
          <a:xfrm>
            <a:off x="7564567" y="7070638"/>
            <a:ext cx="59916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Midstream</a:t>
            </a:r>
            <a:endParaRPr lang="en-US" sz="720" dirty="0"/>
          </a:p>
        </p:txBody>
      </p:sp>
      <p:sp>
        <p:nvSpPr>
          <p:cNvPr id="151" name="Text 149"/>
          <p:cNvSpPr/>
          <p:nvPr/>
        </p:nvSpPr>
        <p:spPr>
          <a:xfrm>
            <a:off x="9146408" y="7070638"/>
            <a:ext cx="44564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Trading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10250599" y="7070638"/>
            <a:ext cx="69961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Downstream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4192831" y="7292985"/>
            <a:ext cx="68826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鉱石 Cu約1%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6098664" y="7292985"/>
            <a:ext cx="101823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銅精鉱 Cu20〜30%</a:t>
            </a:r>
            <a:endParaRPr lang="en-US" sz="720" dirty="0"/>
          </a:p>
        </p:txBody>
      </p:sp>
      <p:sp>
        <p:nvSpPr>
          <p:cNvPr id="155" name="Text 153"/>
          <p:cNvSpPr/>
          <p:nvPr/>
        </p:nvSpPr>
        <p:spPr>
          <a:xfrm>
            <a:off x="7775796" y="7292985"/>
            <a:ext cx="94332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銅地金 Cu99.99%</a:t>
            </a:r>
            <a:endParaRPr lang="en-US" sz="720" dirty="0"/>
          </a:p>
        </p:txBody>
      </p:sp>
      <p:sp>
        <p:nvSpPr>
          <p:cNvPr id="156" name="Text 154"/>
          <p:cNvSpPr/>
          <p:nvPr/>
        </p:nvSpPr>
        <p:spPr>
          <a:xfrm>
            <a:off x="3900604" y="7597919"/>
            <a:ext cx="40699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Mining</a:t>
            </a:r>
            <a:endParaRPr lang="en-US" sz="720" dirty="0"/>
          </a:p>
        </p:txBody>
      </p:sp>
      <p:sp>
        <p:nvSpPr>
          <p:cNvPr id="157" name="Text 155"/>
          <p:cNvSpPr/>
          <p:nvPr/>
        </p:nvSpPr>
        <p:spPr>
          <a:xfrm>
            <a:off x="3900604" y="7708711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採掘</a:t>
            </a:r>
            <a:endParaRPr lang="en-US" sz="660" dirty="0"/>
          </a:p>
        </p:txBody>
      </p:sp>
      <p:sp>
        <p:nvSpPr>
          <p:cNvPr id="158" name="Text 156"/>
          <p:cNvSpPr/>
          <p:nvPr/>
        </p:nvSpPr>
        <p:spPr>
          <a:xfrm>
            <a:off x="3887898" y="7899294"/>
            <a:ext cx="870390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Escondida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8.25%</a:t>
            </a:r>
            <a:endParaRPr lang="en-US" sz="660" dirty="0"/>
          </a:p>
        </p:txBody>
      </p:sp>
      <p:sp>
        <p:nvSpPr>
          <p:cNvPr id="159" name="Text 157"/>
          <p:cNvSpPr/>
          <p:nvPr/>
        </p:nvSpPr>
        <p:spPr>
          <a:xfrm>
            <a:off x="3887898" y="8077172"/>
            <a:ext cx="9096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Los Pelambres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5%</a:t>
            </a:r>
            <a:endParaRPr lang="en-US" sz="660" dirty="0"/>
          </a:p>
        </p:txBody>
      </p:sp>
      <p:sp>
        <p:nvSpPr>
          <p:cNvPr id="160" name="Text 158"/>
          <p:cNvSpPr/>
          <p:nvPr/>
        </p:nvSpPr>
        <p:spPr>
          <a:xfrm>
            <a:off x="3887898" y="8255050"/>
            <a:ext cx="75792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AA Sur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20.44%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3887898" y="8432927"/>
            <a:ext cx="755960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Antamina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10%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3887898" y="8610805"/>
            <a:ext cx="81907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Quellaveco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40%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3887898" y="8788683"/>
            <a:ext cx="70900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Marimaca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5%</a:t>
            </a:r>
            <a:endParaRPr lang="en-US" sz="660" dirty="0"/>
          </a:p>
        </p:txBody>
      </p:sp>
      <p:sp>
        <p:nvSpPr>
          <p:cNvPr id="164" name="Text 162"/>
          <p:cNvSpPr/>
          <p:nvPr/>
        </p:nvSpPr>
        <p:spPr>
          <a:xfrm>
            <a:off x="3887898" y="8966560"/>
            <a:ext cx="932845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 World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30%</a:t>
            </a:r>
            <a:endParaRPr lang="en-US" sz="660" dirty="0"/>
          </a:p>
        </p:txBody>
      </p:sp>
      <p:sp>
        <p:nvSpPr>
          <p:cNvPr id="165" name="Text 163"/>
          <p:cNvSpPr/>
          <p:nvPr/>
        </p:nvSpPr>
        <p:spPr>
          <a:xfrm>
            <a:off x="6060547" y="7597919"/>
            <a:ext cx="51312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Flotation</a:t>
            </a:r>
            <a:endParaRPr lang="en-US" sz="720" dirty="0"/>
          </a:p>
        </p:txBody>
      </p:sp>
      <p:sp>
        <p:nvSpPr>
          <p:cNvPr id="166" name="Text 164"/>
          <p:cNvSpPr/>
          <p:nvPr/>
        </p:nvSpPr>
        <p:spPr>
          <a:xfrm>
            <a:off x="6060547" y="7708711"/>
            <a:ext cx="23513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</a:t>
            </a:r>
            <a:endParaRPr lang="en-US" sz="660" dirty="0"/>
          </a:p>
        </p:txBody>
      </p:sp>
      <p:sp>
        <p:nvSpPr>
          <p:cNvPr id="167" name="Text 165"/>
          <p:cNvSpPr/>
          <p:nvPr/>
        </p:nvSpPr>
        <p:spPr>
          <a:xfrm>
            <a:off x="7966380" y="7597919"/>
            <a:ext cx="10782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Smelting &amp; Refining</a:t>
            </a:r>
            <a:endParaRPr lang="en-US" sz="720" dirty="0"/>
          </a:p>
        </p:txBody>
      </p:sp>
      <p:sp>
        <p:nvSpPr>
          <p:cNvPr id="168" name="Text 166"/>
          <p:cNvSpPr/>
          <p:nvPr/>
        </p:nvSpPr>
        <p:spPr>
          <a:xfrm>
            <a:off x="7966380" y="7708711"/>
            <a:ext cx="51159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製錬・精製</a:t>
            </a:r>
            <a:endParaRPr lang="en-US" sz="660" dirty="0"/>
          </a:p>
        </p:txBody>
      </p:sp>
      <p:sp>
        <p:nvSpPr>
          <p:cNvPr id="169" name="Text 167"/>
          <p:cNvSpPr/>
          <p:nvPr/>
        </p:nvSpPr>
        <p:spPr>
          <a:xfrm>
            <a:off x="6060547" y="9122585"/>
            <a:ext cx="52994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Leaching</a:t>
            </a:r>
            <a:endParaRPr lang="en-US" sz="720" dirty="0"/>
          </a:p>
        </p:txBody>
      </p:sp>
      <p:sp>
        <p:nvSpPr>
          <p:cNvPr id="170" name="Text 168"/>
          <p:cNvSpPr/>
          <p:nvPr/>
        </p:nvSpPr>
        <p:spPr>
          <a:xfrm>
            <a:off x="6060547" y="9233377"/>
            <a:ext cx="106452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浸出（硫化鉱・酸化鉱）</a:t>
            </a:r>
            <a:endParaRPr lang="en-US" sz="660" dirty="0"/>
          </a:p>
        </p:txBody>
      </p:sp>
      <p:sp>
        <p:nvSpPr>
          <p:cNvPr id="171" name="Text 169"/>
          <p:cNvSpPr/>
          <p:nvPr/>
        </p:nvSpPr>
        <p:spPr>
          <a:xfrm>
            <a:off x="9872212" y="7597919"/>
            <a:ext cx="47905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End Use</a:t>
            </a:r>
            <a:endParaRPr lang="en-US" sz="720" dirty="0"/>
          </a:p>
        </p:txBody>
      </p:sp>
      <p:sp>
        <p:nvSpPr>
          <p:cNvPr id="172" name="Text 170"/>
          <p:cNvSpPr/>
          <p:nvPr/>
        </p:nvSpPr>
        <p:spPr>
          <a:xfrm>
            <a:off x="9872212" y="7708711"/>
            <a:ext cx="419442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最終用途</a:t>
            </a:r>
            <a:endParaRPr lang="en-US" sz="660" dirty="0"/>
          </a:p>
        </p:txBody>
      </p:sp>
      <p:sp>
        <p:nvSpPr>
          <p:cNvPr id="173" name="Text 171"/>
          <p:cNvSpPr/>
          <p:nvPr/>
        </p:nvSpPr>
        <p:spPr>
          <a:xfrm>
            <a:off x="9884918" y="7924705"/>
            <a:ext cx="1206908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Base Demand　基礎需要</a:t>
            </a:r>
            <a:endParaRPr lang="en-US" sz="660" dirty="0"/>
          </a:p>
        </p:txBody>
      </p:sp>
      <p:sp>
        <p:nvSpPr>
          <p:cNvPr id="174" name="Text 172"/>
          <p:cNvSpPr/>
          <p:nvPr/>
        </p:nvSpPr>
        <p:spPr>
          <a:xfrm>
            <a:off x="9884918" y="8204227"/>
            <a:ext cx="164104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Energy Transition　エネルギー転換</a:t>
            </a:r>
            <a:endParaRPr lang="en-US" sz="660" dirty="0"/>
          </a:p>
        </p:txBody>
      </p:sp>
      <p:sp>
        <p:nvSpPr>
          <p:cNvPr id="175" name="Text 173"/>
          <p:cNvSpPr/>
          <p:nvPr/>
        </p:nvSpPr>
        <p:spPr>
          <a:xfrm>
            <a:off x="9884918" y="8483750"/>
            <a:ext cx="1615928" cy="268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AI &amp; Data Centers　AI・データセン</a:t>
            </a:r>
            <a:endParaRPr lang="en-US" sz="660" dirty="0"/>
          </a:p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</a:t>
            </a:r>
            <a:endParaRPr lang="en-US" sz="660" dirty="0"/>
          </a:p>
        </p:txBody>
      </p:sp>
      <p:sp>
        <p:nvSpPr>
          <p:cNvPr id="176" name="Text 174"/>
          <p:cNvSpPr/>
          <p:nvPr/>
        </p:nvSpPr>
        <p:spPr>
          <a:xfrm>
            <a:off x="4690730" y="9865859"/>
            <a:ext cx="32510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24Mt</a:t>
            </a:r>
            <a:endParaRPr lang="en-US" sz="720" dirty="0"/>
          </a:p>
        </p:txBody>
      </p:sp>
      <p:sp>
        <p:nvSpPr>
          <p:cNvPr id="177" name="Text 175"/>
          <p:cNvSpPr/>
          <p:nvPr/>
        </p:nvSpPr>
        <p:spPr>
          <a:xfrm>
            <a:off x="6733941" y="8239549"/>
            <a:ext cx="30239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21Mt</a:t>
            </a:r>
            <a:endParaRPr lang="en-US" sz="720" dirty="0"/>
          </a:p>
        </p:txBody>
      </p:sp>
      <p:sp>
        <p:nvSpPr>
          <p:cNvPr id="178" name="Text 176"/>
          <p:cNvSpPr/>
          <p:nvPr/>
        </p:nvSpPr>
        <p:spPr>
          <a:xfrm>
            <a:off x="8635009" y="9865859"/>
            <a:ext cx="25697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3Mt</a:t>
            </a:r>
            <a:endParaRPr lang="en-US" sz="720" dirty="0"/>
          </a:p>
        </p:txBody>
      </p:sp>
      <p:sp>
        <p:nvSpPr>
          <p:cNvPr id="179" name="Text 177"/>
          <p:cNvSpPr/>
          <p:nvPr/>
        </p:nvSpPr>
        <p:spPr>
          <a:xfrm>
            <a:off x="11018491" y="9865859"/>
            <a:ext cx="32423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28Mt</a:t>
            </a:r>
            <a:endParaRPr lang="en-US" sz="720" dirty="0"/>
          </a:p>
        </p:txBody>
      </p:sp>
      <p:sp>
        <p:nvSpPr>
          <p:cNvPr id="180" name="Text 178"/>
          <p:cNvSpPr/>
          <p:nvPr/>
        </p:nvSpPr>
        <p:spPr>
          <a:xfrm>
            <a:off x="5209275" y="7772239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硫化鉱</a:t>
            </a:r>
            <a:endParaRPr lang="en-US" sz="660" dirty="0"/>
          </a:p>
        </p:txBody>
      </p:sp>
      <p:sp>
        <p:nvSpPr>
          <p:cNvPr id="181" name="Text 179"/>
          <p:cNvSpPr/>
          <p:nvPr/>
        </p:nvSpPr>
        <p:spPr>
          <a:xfrm>
            <a:off x="5209275" y="9296905"/>
            <a:ext cx="69590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酸化鉱・硫化鉱</a:t>
            </a:r>
            <a:endParaRPr lang="en-US" sz="660" dirty="0"/>
          </a:p>
        </p:txBody>
      </p:sp>
      <p:sp>
        <p:nvSpPr>
          <p:cNvPr id="182" name="Text 180"/>
          <p:cNvSpPr/>
          <p:nvPr/>
        </p:nvSpPr>
        <p:spPr>
          <a:xfrm>
            <a:off x="7191341" y="7772239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銅精鉱</a:t>
            </a:r>
            <a:endParaRPr lang="en-US" sz="660" dirty="0"/>
          </a:p>
        </p:txBody>
      </p:sp>
      <p:sp>
        <p:nvSpPr>
          <p:cNvPr id="183" name="Text 181"/>
          <p:cNvSpPr/>
          <p:nvPr/>
        </p:nvSpPr>
        <p:spPr>
          <a:xfrm>
            <a:off x="9097173" y="7772239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</a:t>
            </a:r>
            <a:endParaRPr lang="en-US" sz="660" dirty="0"/>
          </a:p>
        </p:txBody>
      </p:sp>
      <p:sp>
        <p:nvSpPr>
          <p:cNvPr id="184" name="Text 182"/>
          <p:cNvSpPr/>
          <p:nvPr/>
        </p:nvSpPr>
        <p:spPr>
          <a:xfrm>
            <a:off x="9097173" y="9296905"/>
            <a:ext cx="327287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銅地金</a:t>
            </a:r>
            <a:endParaRPr lang="en-US" sz="660" dirty="0"/>
          </a:p>
        </p:txBody>
      </p:sp>
      <p:sp>
        <p:nvSpPr>
          <p:cNvPr id="185" name="Text 183"/>
          <p:cNvSpPr/>
          <p:nvPr/>
        </p:nvSpPr>
        <p:spPr>
          <a:xfrm>
            <a:off x="9046351" y="7264017"/>
            <a:ext cx="641968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Recycling 4Mt</a:t>
            </a:r>
            <a:endParaRPr lang="en-US" sz="660" dirty="0"/>
          </a:p>
        </p:txBody>
      </p:sp>
      <p:sp>
        <p:nvSpPr>
          <p:cNvPr id="186" name="Text 184"/>
          <p:cNvSpPr/>
          <p:nvPr/>
        </p:nvSpPr>
        <p:spPr>
          <a:xfrm>
            <a:off x="7272537" y="8023555"/>
            <a:ext cx="23556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720" dirty="0"/>
          </a:p>
        </p:txBody>
      </p:sp>
      <p:sp>
        <p:nvSpPr>
          <p:cNvPr id="187" name="Text 185"/>
          <p:cNvSpPr/>
          <p:nvPr/>
        </p:nvSpPr>
        <p:spPr>
          <a:xfrm>
            <a:off x="9178370" y="8023555"/>
            <a:ext cx="23556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RtM</a:t>
            </a:r>
            <a:endParaRPr lang="en-US" sz="720" dirty="0"/>
          </a:p>
        </p:txBody>
      </p:sp>
      <p:sp>
        <p:nvSpPr>
          <p:cNvPr id="188" name="Text 186"/>
          <p:cNvSpPr/>
          <p:nvPr/>
        </p:nvSpPr>
        <p:spPr>
          <a:xfrm>
            <a:off x="6392083" y="8569893"/>
            <a:ext cx="38341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CiDRA</a:t>
            </a:r>
            <a:endParaRPr lang="en-US" sz="720" dirty="0"/>
          </a:p>
        </p:txBody>
      </p:sp>
      <p:sp>
        <p:nvSpPr>
          <p:cNvPr id="189" name="Text 187"/>
          <p:cNvSpPr/>
          <p:nvPr/>
        </p:nvSpPr>
        <p:spPr>
          <a:xfrm>
            <a:off x="7376564" y="8824004"/>
            <a:ext cx="2860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720" dirty="0"/>
          </a:p>
        </p:txBody>
      </p:sp>
      <p:sp>
        <p:nvSpPr>
          <p:cNvPr id="190" name="Text 188"/>
          <p:cNvSpPr/>
          <p:nvPr/>
        </p:nvSpPr>
        <p:spPr>
          <a:xfrm>
            <a:off x="10835452" y="7248516"/>
            <a:ext cx="55898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DESCycle</a:t>
            </a:r>
            <a:endParaRPr lang="en-US" sz="720" dirty="0"/>
          </a:p>
        </p:txBody>
      </p:sp>
      <p:sp>
        <p:nvSpPr>
          <p:cNvPr id="191" name="Text 189"/>
          <p:cNvSpPr/>
          <p:nvPr/>
        </p:nvSpPr>
        <p:spPr>
          <a:xfrm>
            <a:off x="3811665" y="10186293"/>
            <a:ext cx="4489109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pPr algn="l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三菱商事の関与（資産・トレーディング・技術投資）　｜　LME・CMEでのヘッジはTriland Metalsが担う</a:t>
            </a:r>
            <a:endParaRPr lang="en-US" sz="660" dirty="0"/>
          </a:p>
        </p:txBody>
      </p:sp>
      <p:sp>
        <p:nvSpPr>
          <p:cNvPr id="192" name="Text 190"/>
          <p:cNvSpPr/>
          <p:nvPr/>
        </p:nvSpPr>
        <p:spPr>
          <a:xfrm>
            <a:off x="11866983" y="7191341"/>
            <a:ext cx="158688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営業グループ取り組み事例</a:t>
            </a:r>
            <a:endParaRPr lang="en-US" sz="720" dirty="0"/>
          </a:p>
        </p:txBody>
      </p:sp>
      <p:sp>
        <p:nvSpPr>
          <p:cNvPr id="193" name="Text 191"/>
          <p:cNvSpPr/>
          <p:nvPr/>
        </p:nvSpPr>
        <p:spPr>
          <a:xfrm>
            <a:off x="12939223" y="7448231"/>
            <a:ext cx="421844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JETTI</a:t>
            </a:r>
            <a:endParaRPr lang="en-US" sz="900" dirty="0"/>
          </a:p>
        </p:txBody>
      </p:sp>
      <p:sp>
        <p:nvSpPr>
          <p:cNvPr id="194" name="Text 192"/>
          <p:cNvSpPr/>
          <p:nvPr/>
        </p:nvSpPr>
        <p:spPr>
          <a:xfrm>
            <a:off x="12249361" y="7584435"/>
            <a:ext cx="1801766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銅生産の革新技術を有するスタートアップ</a:t>
            </a:r>
            <a:endParaRPr lang="en-US" sz="660" dirty="0"/>
          </a:p>
        </p:txBody>
      </p:sp>
      <p:sp>
        <p:nvSpPr>
          <p:cNvPr id="195" name="Text 193"/>
          <p:cNvSpPr/>
          <p:nvPr/>
        </p:nvSpPr>
        <p:spPr>
          <a:xfrm>
            <a:off x="12864319" y="7826619"/>
            <a:ext cx="57165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× 価値共創</a:t>
            </a:r>
            <a:endParaRPr lang="en-US" sz="720" dirty="0"/>
          </a:p>
        </p:txBody>
      </p:sp>
      <p:sp>
        <p:nvSpPr>
          <p:cNvPr id="196" name="Text 194"/>
          <p:cNvSpPr/>
          <p:nvPr/>
        </p:nvSpPr>
        <p:spPr>
          <a:xfrm>
            <a:off x="12864756" y="8045392"/>
            <a:ext cx="570777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11888394" y="8207007"/>
            <a:ext cx="2523501" cy="134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6"/>
              </a:lnSpc>
              <a:buNone/>
            </a:pPr>
            <a:r>
              <a:rPr lang="en-US" sz="66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銅資源開発／トレーディング分野のリーディングプレイヤー</a:t>
            </a:r>
            <a:endParaRPr lang="en-US" sz="660" dirty="0"/>
          </a:p>
        </p:txBody>
      </p:sp>
      <p:sp>
        <p:nvSpPr>
          <p:cNvPr id="198" name="Text 196"/>
          <p:cNvSpPr/>
          <p:nvPr/>
        </p:nvSpPr>
        <p:spPr>
          <a:xfrm>
            <a:off x="11866983" y="8528346"/>
            <a:ext cx="2873995" cy="138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銅鉱石からの銅分回収に関する革新技術を有する米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Jettiに出資参画し、同社の事業拡大を支援していま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す。同社技術で生産される環境価値の高い銅地金を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販売するほか、当社の銅事業のネットワークを活用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し、低品位の銅鉱石からの銅分回収に課題を抱える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鉱山に同社技術が導入されるよう、共同検討を行っ</a:t>
            </a:r>
            <a:endParaRPr lang="en-US" sz="84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ています。</a:t>
            </a:r>
            <a:endParaRPr lang="en-US" sz="840" dirty="0"/>
          </a:p>
        </p:txBody>
      </p:sp>
      <p:sp>
        <p:nvSpPr>
          <p:cNvPr id="199" name="Text 197"/>
          <p:cNvSpPr/>
          <p:nvPr/>
        </p:nvSpPr>
        <p:spPr>
          <a:xfrm>
            <a:off x="508222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600" dirty="0"/>
          </a:p>
        </p:txBody>
      </p:sp>
      <p:sp>
        <p:nvSpPr>
          <p:cNvPr id="200" name="Text 198"/>
          <p:cNvSpPr/>
          <p:nvPr/>
        </p:nvSpPr>
        <p:spPr>
          <a:xfrm>
            <a:off x="14458915" y="10316906"/>
            <a:ext cx="202594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27434"/>
            <a:ext cx="466381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0646"/>
            <a:ext cx="4651581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3303443"/>
            <a:ext cx="866896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パートナーシップ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7737680" y="1905832"/>
            <a:ext cx="861218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80" spc="14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社会を支える資源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8222" y="3760843"/>
            <a:ext cx="39542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第3章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8222" y="3900604"/>
            <a:ext cx="92170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選ばれ続ける理由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08222" y="4137435"/>
            <a:ext cx="3837255" cy="46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Partner of choice.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8222" y="4880122"/>
            <a:ext cx="3559916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資源業界に不可欠な存在として、選ばれ続ける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8222" y="5148527"/>
            <a:ext cx="29736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800" y="5167585"/>
            <a:ext cx="168952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Cultural affinity with the majors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914800" y="5290575"/>
            <a:ext cx="2077794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資源メジャーとの企業文化的親和性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837076" y="5148527"/>
            <a:ext cx="35895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43654" y="5167585"/>
            <a:ext cx="143008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JV management capability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243654" y="5290575"/>
            <a:ext cx="2239393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資源投資経験に裏打ちされたJV経営力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8222" y="5580516"/>
            <a:ext cx="363974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800" y="5599574"/>
            <a:ext cx="113746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Sound financial base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914800" y="5722564"/>
            <a:ext cx="2720913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事業ポートフォリオを生かした健全な財務基盤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837076" y="5580516"/>
            <a:ext cx="3633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9C7442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43654" y="5599574"/>
            <a:ext cx="70267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3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insight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243654" y="5722564"/>
            <a:ext cx="2587485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マクロ環境とバリューチェーンへの深い知見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08222" y="6120501"/>
            <a:ext cx="74809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JVへの貢献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397610" y="6120501"/>
            <a:ext cx="135693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経営から現場まで伴走する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35277" y="6370547"/>
            <a:ext cx="305231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現場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47983" y="6658454"/>
            <a:ext cx="1859199" cy="507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・長期目線での戦略策定と案件開発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・幅広い産業接点を生かした知見の提供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・人材派遣による操業支援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964131" y="6370547"/>
            <a:ext cx="305231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経営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976837" y="6658454"/>
            <a:ext cx="1859199" cy="507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・中長期の事業計画・資本政策への参画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・販売戦略・人事計画への関与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・他JVのベストプラクティスの導入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24094" y="8173297"/>
            <a:ext cx="2417588" cy="16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資源メジャー各社と「会社対会社」の関係へ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201001" y="8173297"/>
            <a:ext cx="644152" cy="16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新たな協業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592268" y="8173297"/>
            <a:ext cx="1355841" cy="16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71"/>
              </a:lnSpc>
              <a:buNone/>
            </a:pPr>
            <a:r>
              <a:rPr lang="en-US" sz="82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積み重ねが強み・信頼に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08222" y="8680813"/>
            <a:ext cx="4364197" cy="19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840" spc="20" kern="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新たな協業が生まれ、その積み重ねが、さらなる強み・知見・信頼につながる。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508222" y="9275051"/>
            <a:ext cx="113375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主なJVパートナー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651721" y="9216288"/>
            <a:ext cx="3440028" cy="1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00" spc="-4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BHP　　Rio Tinto　　Anglo American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68024" y="2363232"/>
            <a:ext cx="39847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第4章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8068024" y="2502993"/>
            <a:ext cx="812738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何を実現するか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068024" y="2740587"/>
            <a:ext cx="4088169" cy="77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Building the future</a:t>
            </a:r>
            <a:endParaRPr lang="en-US" sz="3000" dirty="0"/>
          </a:p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of resources, together.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068024" y="3793401"/>
            <a:ext cx="2734234" cy="219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社会の「当たり前」を、支え続ける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68024" y="4068158"/>
            <a:ext cx="119642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外部環境と社会課題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8698745" y="4773824"/>
            <a:ext cx="771247" cy="27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</a:t>
            </a:r>
            <a:endParaRPr lang="en-US" sz="840" dirty="0"/>
          </a:p>
          <a:p>
            <a:pPr algn="ctr" indent="0" marL="0">
              <a:lnSpc>
                <a:spcPts val="1092"/>
              </a:lnSpc>
              <a:buNone/>
            </a:pPr>
            <a:r>
              <a:rPr lang="en-US" sz="84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ミネラル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0050090" y="4216559"/>
            <a:ext cx="940925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産業構造の転換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0050090" y="4376141"/>
            <a:ext cx="5063658" cy="29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脱炭素化に加え、生成AI・データセンターの普及で電力需要が拡大。高効率・高性能化を前提とした設備・製品</a:t>
            </a:r>
            <a:endParaRPr lang="en-US" sz="720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設計が一般化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0050090" y="4724781"/>
            <a:ext cx="1068021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供給制約の深刻化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0050090" y="4884363"/>
            <a:ext cx="2861548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良質な資源の開発はより難しく、時間とコストがかかるように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0050090" y="5233003"/>
            <a:ext cx="1322429" cy="173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880" spc="3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地政学リスクの常態化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10050090" y="5392585"/>
            <a:ext cx="3260522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輸出規制など資源の囲い込みが進み、サプライチェーンに構造的に影響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8786582" y="5790078"/>
            <a:ext cx="5106241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クリティカルミネラルのサプライチェーン確保の重要性・川上資源への参入障壁が増大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68024" y="6177279"/>
            <a:ext cx="94704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当社の取り組み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9084468" y="6177279"/>
            <a:ext cx="254926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0" spc="60" kern="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資源の安定供給と効率的な供給で社会を支えている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9129324" y="6425355"/>
            <a:ext cx="570777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82374" y="6715232"/>
            <a:ext cx="2455804" cy="507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・銅などの基幹事業で、大規模資産の持分を拡大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・成長が期待される領域に、早い段階から参画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・信頼できるパートナーと、投資先の価値向上を推進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2788463" y="6425355"/>
            <a:ext cx="952063" cy="177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5"/>
              </a:lnSpc>
              <a:buNone/>
            </a:pPr>
            <a:r>
              <a:rPr lang="en-US" sz="90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2032155" y="6715232"/>
            <a:ext cx="2559315" cy="507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・権益の引き取りと外部調達で、安定供給の体制を確立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・需給の変化をつかみ、試験的な取引から先行して動く</a:t>
            </a:r>
            <a:endParaRPr lang="en-US" sz="720" dirty="0"/>
          </a:p>
          <a:p>
            <a:pPr algn="l" indent="0" marL="0">
              <a:lnSpc>
                <a:spcPts val="1332"/>
              </a:lnSpc>
              <a:buNone/>
            </a:pPr>
            <a:r>
              <a:rPr lang="en-US" sz="720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・国際的な取引基盤を軸に、業界ネットワークを構築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11181310" y="6860203"/>
            <a:ext cx="316587" cy="1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9C7442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連携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61096" y="7540585"/>
            <a:ext cx="7157016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spc="50" kern="0" dirty="0">
                <a:solidFill>
                  <a:srgbClr val="121519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「金属＝経済活動を支える礎」。“儲ける”ではなく、社会に必要な資源を支えることを、私たちの責務と考えています。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96724" y="9325873"/>
            <a:ext cx="3384123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0" spc="190" kern="0" dirty="0">
                <a:solidFill>
                  <a:srgbClr val="E9D6A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グループミッション｜共に、持続可能で豊かな未来を築く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8296724" y="9550762"/>
            <a:ext cx="6607581" cy="39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社会が必要とする良質な金属資源を、持続可能な形で安定供給することで、より良い社会の実現に</a:t>
            </a:r>
            <a:endParaRPr lang="en-US" sz="104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040" spc="3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寄与する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8296724" y="10084903"/>
            <a:ext cx="6471095" cy="146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720" dirty="0">
                <a:solidFill>
                  <a:srgbClr val="9AA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contribute to a better society by providing a stable supply of high-quality mineral resources that society needs, in a sustainable way.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184687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165252" cy="8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spc="160" kern="0" dirty="0">
                <a:solidFill>
                  <a:srgbClr val="7D838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2026-10-13T13:32:37Z</dcterms:created>
  <dcterms:modified xsi:type="dcterms:W3CDTF">2026-10-13T13:32:37Z</dcterms:modified>
</cp:coreProperties>
</file>