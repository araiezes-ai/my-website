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5119604" cy="10692079"/>
  <p:notesSz cx="10692079" cy="1511960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55" y="2769810"/>
            <a:ext cx="37511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都市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27055" y="2960393"/>
            <a:ext cx="1216080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8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鉄・銅・アルミ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370709" y="1156205"/>
            <a:ext cx="879562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モビリティ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70709" y="1346788"/>
            <a:ext cx="1384667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8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鉄・銅・リチウム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30762" y="2273063"/>
            <a:ext cx="1741931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8A96A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鉄道の写真（ストック）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70709" y="2769810"/>
            <a:ext cx="37511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5A6570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鉄道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70709" y="2960393"/>
            <a:ext cx="545664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80" kern="0" dirty="0">
                <a:solidFill>
                  <a:srgbClr val="5A6570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鉄・銅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7055" y="4675642"/>
            <a:ext cx="152442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再生可能エネルギー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7055" y="4866225"/>
            <a:ext cx="545664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8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銅・鉄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48882" y="4675642"/>
            <a:ext cx="537365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送電網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48882" y="4866225"/>
            <a:ext cx="88633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8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銅・アルミ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07631" y="3921012"/>
            <a:ext cx="1588194" cy="447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8A96A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スマートフォン・</a:t>
            </a:r>
            <a:endParaRPr lang="en-US" sz="1100" dirty="0"/>
          </a:p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8A96A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データセンターの写真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70709" y="4675642"/>
            <a:ext cx="713814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5A6570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デバイス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70709" y="4866225"/>
            <a:ext cx="189392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80" kern="0" dirty="0">
                <a:solidFill>
                  <a:srgbClr val="5A6570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銅・リチウム・ニッケル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37680" y="2947688"/>
            <a:ext cx="69940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金属素材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37680" y="3138271"/>
            <a:ext cx="255713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8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暮らしを形づくる鉄・銅・アルミ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981333" y="3125565"/>
            <a:ext cx="861436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製錬・精製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37680" y="4853520"/>
            <a:ext cx="69940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海上輸送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053828" y="4853520"/>
            <a:ext cx="537365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銅地金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8222" y="5590442"/>
            <a:ext cx="126608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コアメッセージ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8222" y="5781025"/>
            <a:ext cx="1325487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40" kern="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私たちの存在意義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8222" y="5912527"/>
            <a:ext cx="5219797" cy="1227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30"/>
              </a:lnSpc>
              <a:buNone/>
            </a:pPr>
            <a:r>
              <a:rPr lang="en-US" sz="4600" spc="-92" kern="0" dirty="0">
                <a:solidFill>
                  <a:srgbClr val="121519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Strength to Hold.</a:t>
            </a:r>
            <a:endParaRPr lang="en-US" sz="4600" dirty="0"/>
          </a:p>
          <a:p>
            <a:pPr algn="l" indent="0" marL="0">
              <a:lnSpc>
                <a:spcPts val="4830"/>
              </a:lnSpc>
              <a:buNone/>
            </a:pPr>
            <a:r>
              <a:rPr lang="en-US" sz="4600" spc="-92" kern="0" dirty="0">
                <a:solidFill>
                  <a:srgbClr val="121519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Power to Connect.</a:t>
            </a:r>
            <a:endParaRPr lang="en-US" sz="4600" dirty="0"/>
          </a:p>
        </p:txBody>
      </p:sp>
      <p:sp>
        <p:nvSpPr>
          <p:cNvPr id="24" name="Text 22"/>
          <p:cNvSpPr/>
          <p:nvPr/>
        </p:nvSpPr>
        <p:spPr>
          <a:xfrm>
            <a:off x="508222" y="7359690"/>
            <a:ext cx="2217337" cy="285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持つ力と、つなぐ力。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8222" y="7666529"/>
            <a:ext cx="4243872" cy="1974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資源は、そこに「ある」だけでは、まだ価値ではありま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せん。誰かが見出し、育て、必要とする場所へ届けて、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はじめて力になる。私たちは、世界有数の資産に関わ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り、投資とトレーディングの両輪で川上から川下までを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つなぎます。フェアな立場だからこそ、埋められる隙間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がある。多様なパートナーと使い手の間に立ち、その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時々の最適解を導く。世界に眠る価値を、社会の力へ。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068024" y="5590442"/>
            <a:ext cx="391926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目次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68024" y="5781025"/>
            <a:ext cx="704860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40" kern="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Contents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68024" y="6193955"/>
            <a:ext cx="558548" cy="482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4000" spc="-120" kern="0" dirty="0">
                <a:solidFill>
                  <a:srgbClr val="9C744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01</a:t>
            </a:r>
            <a:endParaRPr lang="en-US" sz="4000" dirty="0"/>
          </a:p>
        </p:txBody>
      </p:sp>
      <p:sp>
        <p:nvSpPr>
          <p:cNvPr id="29" name="Text 27"/>
          <p:cNvSpPr/>
          <p:nvPr/>
        </p:nvSpPr>
        <p:spPr>
          <a:xfrm>
            <a:off x="9135290" y="6244778"/>
            <a:ext cx="1266743" cy="26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我々は何者か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35290" y="6520488"/>
            <a:ext cx="2664354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三菱商事とは／金属資源グループとは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4179393" y="6276541"/>
            <a:ext cx="447613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P.04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068024" y="7108755"/>
            <a:ext cx="663369" cy="482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4000" spc="-120" kern="0" dirty="0">
                <a:solidFill>
                  <a:srgbClr val="9C744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02</a:t>
            </a:r>
            <a:endParaRPr lang="en-US" sz="4000" dirty="0"/>
          </a:p>
        </p:txBody>
      </p:sp>
      <p:sp>
        <p:nvSpPr>
          <p:cNvPr id="33" name="Text 31"/>
          <p:cNvSpPr/>
          <p:nvPr/>
        </p:nvSpPr>
        <p:spPr>
          <a:xfrm>
            <a:off x="9135290" y="7159577"/>
            <a:ext cx="861436" cy="26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独自価値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135290" y="7435288"/>
            <a:ext cx="4816674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投資とトレーディングの両輪／原料炭・銅・トレーディング・新技術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4179393" y="7191341"/>
            <a:ext cx="45045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P.06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068024" y="8023555"/>
            <a:ext cx="653323" cy="482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4000" spc="-120" kern="0" dirty="0">
                <a:solidFill>
                  <a:srgbClr val="9C744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03</a:t>
            </a:r>
            <a:endParaRPr lang="en-US" sz="4000" dirty="0"/>
          </a:p>
        </p:txBody>
      </p:sp>
      <p:sp>
        <p:nvSpPr>
          <p:cNvPr id="37" name="Text 35"/>
          <p:cNvSpPr/>
          <p:nvPr/>
        </p:nvSpPr>
        <p:spPr>
          <a:xfrm>
            <a:off x="9135290" y="8074377"/>
            <a:ext cx="1672050" cy="26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選ばれ続ける理由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135290" y="8350087"/>
            <a:ext cx="1245561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Partner of Choice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4179393" y="8106141"/>
            <a:ext cx="401317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P.10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068024" y="8938354"/>
            <a:ext cx="675598" cy="482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4000" spc="-120" kern="0" dirty="0">
                <a:solidFill>
                  <a:srgbClr val="9C744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04</a:t>
            </a:r>
            <a:endParaRPr lang="en-US" sz="4000" dirty="0"/>
          </a:p>
        </p:txBody>
      </p:sp>
      <p:sp>
        <p:nvSpPr>
          <p:cNvPr id="41" name="Text 39"/>
          <p:cNvSpPr/>
          <p:nvPr/>
        </p:nvSpPr>
        <p:spPr>
          <a:xfrm>
            <a:off x="9135290" y="8989176"/>
            <a:ext cx="1469397" cy="26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何を実現するか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135290" y="9264887"/>
            <a:ext cx="1588194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社会課題への取り組み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4179393" y="9020940"/>
            <a:ext cx="36746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P.11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08222" y="10316906"/>
            <a:ext cx="284704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02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4458915" y="10316906"/>
            <a:ext cx="28230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9887" y="1391258"/>
            <a:ext cx="3277774" cy="2642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00"/>
              </a:lnSpc>
              <a:buNone/>
            </a:pPr>
            <a:r>
              <a:rPr lang="en-US" sz="26000" spc="-1040" kern="0" dirty="0">
                <a:solidFill>
                  <a:srgbClr val="000000">
                    <a:alpha val="0"/>
                  </a:srgbClr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01</a:t>
            </a:r>
            <a:endParaRPr lang="en-US" sz="26000" dirty="0"/>
          </a:p>
        </p:txBody>
      </p:sp>
      <p:sp>
        <p:nvSpPr>
          <p:cNvPr id="3" name="Text 1"/>
          <p:cNvSpPr/>
          <p:nvPr/>
        </p:nvSpPr>
        <p:spPr>
          <a:xfrm>
            <a:off x="11816161" y="1391258"/>
            <a:ext cx="3277774" cy="2642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00"/>
              </a:lnSpc>
              <a:buNone/>
            </a:pPr>
            <a:r>
              <a:rPr lang="en-US" sz="26000" spc="-1040" kern="0" dirty="0">
                <a:solidFill>
                  <a:srgbClr val="000000">
                    <a:alpha val="0"/>
                  </a:srgbClr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01</a:t>
            </a:r>
            <a:endParaRPr lang="en-US" sz="26000" dirty="0"/>
          </a:p>
        </p:txBody>
      </p:sp>
      <p:sp>
        <p:nvSpPr>
          <p:cNvPr id="4" name="Text 2"/>
          <p:cNvSpPr/>
          <p:nvPr/>
        </p:nvSpPr>
        <p:spPr>
          <a:xfrm>
            <a:off x="508222" y="1727955"/>
            <a:ext cx="2872030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第1章　我々は何者か｜三菱商事とは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8222" y="1945220"/>
            <a:ext cx="3119014" cy="518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4000" spc="-100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Who we are.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8222" y="2718988"/>
            <a:ext cx="4509200" cy="254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三綱領を精神の根幹に、「総合力」で価値を生む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8222" y="3041709"/>
            <a:ext cx="4243872" cy="1128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三菱商事は三綱領を企業理念とし、事業を通じて経済価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値・社会価値・環境価値の同時実現を目指しています。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幅広い産業と地域にまたがる事業と人のつながり＝「総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合力」が、三菱商事の強みです。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78931" y="3097295"/>
            <a:ext cx="2397716" cy="817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7つの営業グループのうち、</a:t>
            </a:r>
            <a:endParaRPr lang="en-US" sz="1300" dirty="0"/>
          </a:p>
          <a:p>
            <a:pPr algn="l" indent="0" marL="0">
              <a:lnSpc>
                <a:spcPts val="2145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長年三菱商事を支えてきた</a:t>
            </a:r>
            <a:endParaRPr lang="en-US" sz="1300" dirty="0"/>
          </a:p>
          <a:p>
            <a:pPr algn="l" indent="0" marL="0">
              <a:lnSpc>
                <a:spcPts val="2145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中核グループの一つ。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83746" y="8739433"/>
            <a:ext cx="1099248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b="1" spc="50" kern="0" dirty="0">
                <a:solidFill>
                  <a:srgbClr val="8A9097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○○グループ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23715" y="8970674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7ADB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事業・製品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97054" y="9056079"/>
            <a:ext cx="1099248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b="1" spc="50" kern="0" dirty="0">
                <a:solidFill>
                  <a:srgbClr val="8A9097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○○グループ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37023" y="9287320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7ADB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事業・製品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85120" y="8169271"/>
            <a:ext cx="1099248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b="1" spc="50" kern="0" dirty="0">
                <a:solidFill>
                  <a:srgbClr val="8A9097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○○グループ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25089" y="8400512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7ADB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事業・製品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85120" y="6746845"/>
            <a:ext cx="1099248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b="1" spc="50" kern="0" dirty="0">
                <a:solidFill>
                  <a:srgbClr val="8A9097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○○グループ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25089" y="6978086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7ADB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事業・製品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97054" y="5860038"/>
            <a:ext cx="1099248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b="1" spc="50" kern="0" dirty="0">
                <a:solidFill>
                  <a:srgbClr val="8A9097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○○グループ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37023" y="6091279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7ADB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事業・製品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83746" y="6176684"/>
            <a:ext cx="1099248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b="1" spc="50" kern="0" dirty="0">
                <a:solidFill>
                  <a:srgbClr val="8A9097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○○グループ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23715" y="6407925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7ADB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事業・製品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34852" y="7188165"/>
            <a:ext cx="917559" cy="49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金属資源</a:t>
            </a:r>
            <a:endParaRPr lang="en-US" sz="1500" dirty="0"/>
          </a:p>
          <a:p>
            <a:pPr algn="ctr" indent="0" marL="0">
              <a:lnSpc>
                <a:spcPts val="1950"/>
              </a:lnSpc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グループ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251214" y="7775796"/>
            <a:ext cx="1084836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F3DCC8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中核グループ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08620" y="7968921"/>
            <a:ext cx="1170221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F3DCC8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原料炭・銅 ほか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52786" y="7038874"/>
            <a:ext cx="917559" cy="26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三菱商事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530326" y="7331102"/>
            <a:ext cx="562479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総合力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530326" y="7597919"/>
            <a:ext cx="562479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8A9097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三綱領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8779" y="7788820"/>
            <a:ext cx="665771" cy="607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所期奉公</a:t>
            </a:r>
            <a:endParaRPr lang="en-US" sz="1100" dirty="0"/>
          </a:p>
          <a:p>
            <a:pPr algn="ctr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処事光明</a:t>
            </a:r>
            <a:endParaRPr lang="en-US" sz="1100" dirty="0"/>
          </a:p>
          <a:p>
            <a:pPr algn="ctr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立業貿易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8222" y="10052631"/>
            <a:ext cx="2203142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7ADB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※グループ名称は確認後に記載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68024" y="1727955"/>
            <a:ext cx="356472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第1章　我々は何者か｜金属資源グループとは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068024" y="1946490"/>
            <a:ext cx="5412624" cy="388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3000" spc="-75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The core that has carried us.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8068024" y="2642754"/>
            <a:ext cx="3495932" cy="254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三綱領を体現する中核グループとして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068024" y="2965475"/>
            <a:ext cx="7248516" cy="564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社会に不可欠な金属資源を世界から確保し、安定的に届けてきました。三綱領を事業で体現す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る中核グループとして、市況の波を越え、長年にわたり会社の屋台骨を支えています。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322135" y="3976837"/>
            <a:ext cx="3199595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E9D6AC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GROUP MISSION　グループミッション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322135" y="4219513"/>
            <a:ext cx="6654750" cy="528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社会が必要とする良質な金属資源を、持続可能な形で安定供給することで、よ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り良い社会の実現に寄与する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068024" y="5183864"/>
            <a:ext cx="1469397" cy="254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これまでの変遷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567279" y="5211816"/>
            <a:ext cx="2664354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先見性をもって先手を打ってきた歩み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068024" y="6530652"/>
            <a:ext cx="907077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事業の重心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068024" y="6773328"/>
            <a:ext cx="1323958" cy="503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100" dirty="0">
                <a:solidFill>
                  <a:srgbClr val="9C7442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■</a:t>
            </a:r>
            <a:pPr algn="l" indent="0" marL="0">
              <a:lnSpc>
                <a:spcPts val="198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 資源投資</a:t>
            </a:r>
            <a:endParaRPr lang="en-US" sz="1100" dirty="0"/>
          </a:p>
          <a:p>
            <a:pPr algn="l" indent="0" marL="0">
              <a:lnSpc>
                <a:spcPts val="198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■</a:t>
            </a:r>
            <a:pPr algn="l" indent="0" marL="0">
              <a:lnSpc>
                <a:spcPts val="198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 トレーディング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080730" y="8027684"/>
            <a:ext cx="1192058" cy="156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1300" spc="-39" kern="0" dirty="0">
                <a:solidFill>
                  <a:srgbClr val="121519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1980〜90年代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080730" y="8586410"/>
            <a:ext cx="1273950" cy="442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日本の産業に、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資源を。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080730" y="9068586"/>
            <a:ext cx="1280719" cy="62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トレーディングで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参入し、少数出資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から事業に関わる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389401" y="8027684"/>
            <a:ext cx="800728" cy="156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1300" spc="-39" kern="0" dirty="0">
                <a:solidFill>
                  <a:srgbClr val="121519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1990年代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389401" y="8586410"/>
            <a:ext cx="924547" cy="442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仲介から、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担い手へ。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389401" y="9068586"/>
            <a:ext cx="1302775" cy="62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投資モデルへ転換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し、JV運営の知見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を蓄える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698073" y="8027684"/>
            <a:ext cx="838288" cy="156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1300" spc="-39" kern="0" dirty="0">
                <a:solidFill>
                  <a:srgbClr val="121519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2000年代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0698073" y="8586410"/>
            <a:ext cx="1099248" cy="442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一級資産に、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早くから。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0698073" y="9068586"/>
            <a:ext cx="1280719" cy="62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BHPと原料炭の合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弁を組成し、事業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経営に参画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2006744" y="8027684"/>
            <a:ext cx="798325" cy="156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1300" spc="-39" kern="0" dirty="0">
                <a:solidFill>
                  <a:srgbClr val="121519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2010年代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12006744" y="8586410"/>
            <a:ext cx="1099248" cy="442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次の柱を、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先回りして。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2006744" y="9068586"/>
            <a:ext cx="1280719" cy="62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銅へ領域を広げ、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販売機能をRtMに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集約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3315416" y="8027684"/>
            <a:ext cx="1004473" cy="156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1300" spc="-39" kern="0" dirty="0">
                <a:solidFill>
                  <a:srgbClr val="121519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2020年代〜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13315416" y="8586410"/>
            <a:ext cx="1273950" cy="442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投資と販売を、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一つの力に。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3315416" y="9068586"/>
            <a:ext cx="1280719" cy="62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両輪を一体で動か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す、グローバルな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事業者へ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068024" y="10037384"/>
            <a:ext cx="73303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事業領域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906590" y="9999268"/>
            <a:ext cx="5724029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b="1" spc="30" kern="0" dirty="0">
                <a:solidFill>
                  <a:srgbClr val="A8622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原料炭　銅</a:t>
            </a:r>
            <a:pPr algn="l" indent="0" marL="0">
              <a:lnSpc>
                <a:spcPts val="1700"/>
              </a:lnSpc>
              <a:buNone/>
            </a:pPr>
            <a:r>
              <a:rPr lang="en-US" sz="1200" spc="30" kern="0" dirty="0">
                <a:solidFill>
                  <a:srgbClr val="121519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　鉄鉱石　ニッケル　リチウム　アルミ　肥料資源　二次資源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08222" y="10316906"/>
            <a:ext cx="286887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04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14458915" y="10316906"/>
            <a:ext cx="28404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222" y="294769"/>
            <a:ext cx="1949170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spc="140" kern="0" dirty="0">
                <a:solidFill>
                  <a:srgbClr val="3D424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 VALUE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　｜　独自価値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658232" y="200748"/>
            <a:ext cx="2393348" cy="391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40"/>
              </a:lnSpc>
              <a:buNone/>
            </a:pPr>
            <a:r>
              <a:rPr lang="en-US" sz="1100" spc="12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MITSUBISHI CORPORATION</a:t>
            </a:r>
            <a:endParaRPr lang="en-US" sz="1100" dirty="0"/>
          </a:p>
          <a:p>
            <a:pPr algn="r" indent="0" marL="0">
              <a:lnSpc>
                <a:spcPts val="1540"/>
              </a:lnSpc>
              <a:buNone/>
            </a:pPr>
            <a:r>
              <a:rPr lang="en-US" sz="1100" spc="12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METAL RESOURCES GROUP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68024" y="294769"/>
            <a:ext cx="1949170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spc="140" kern="0" dirty="0">
                <a:solidFill>
                  <a:srgbClr val="3D424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 VALUE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　｜　独自価値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155796" y="294769"/>
            <a:ext cx="2455586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Old Mincho" pitchFamily="34" charset="0"/>
                <a:ea typeface="Zen Old Mincho" pitchFamily="34" charset="-122"/>
                <a:cs typeface="Zen Old Mincho" pitchFamily="34" charset="-120"/>
              </a:rPr>
              <a:t>Strength to Hold. Power to Connect.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8222" y="877636"/>
            <a:ext cx="6968994" cy="1215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85"/>
              </a:lnSpc>
              <a:buNone/>
            </a:pPr>
            <a:r>
              <a:rPr lang="en-US" sz="3300" dirty="0">
                <a:solidFill>
                  <a:srgbClr val="1F2D44"/>
                </a:solidFill>
                <a:latin typeface="Zen Old Mincho Medium" pitchFamily="34" charset="0"/>
                <a:ea typeface="Zen Old Mincho Medium" pitchFamily="34" charset="-122"/>
                <a:cs typeface="Zen Old Mincho Medium" pitchFamily="34" charset="-120"/>
              </a:rPr>
              <a:t>投資とトレーディングの両輪で、</a:t>
            </a:r>
            <a:endParaRPr lang="en-US" sz="3300" dirty="0"/>
          </a:p>
          <a:p>
            <a:pPr algn="l" indent="0" marL="0">
              <a:lnSpc>
                <a:spcPts val="4785"/>
              </a:lnSpc>
              <a:buNone/>
            </a:pPr>
            <a:r>
              <a:rPr lang="en-US" sz="3300" dirty="0">
                <a:solidFill>
                  <a:srgbClr val="1F2D44"/>
                </a:solidFill>
                <a:latin typeface="Zen Old Mincho Medium" pitchFamily="34" charset="0"/>
                <a:ea typeface="Zen Old Mincho Medium" pitchFamily="34" charset="-122"/>
                <a:cs typeface="Zen Old Mincho Medium" pitchFamily="34" charset="-120"/>
              </a:rPr>
              <a:t>資源の流れ全体に関わる。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8068024" y="928776"/>
            <a:ext cx="7248516" cy="86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資源に投資して育てる力と、市場へ届ける力。その二つを、新技術で進化させながら、長い時</a:t>
            </a:r>
            <a:endParaRPr lang="en-US" sz="1200" dirty="0"/>
          </a:p>
          <a:p>
            <a:pPr algn="l" indent="0" marL="0">
              <a:lnSpc>
                <a:spcPts val="228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間をかけて積み重ねてきたこと。それが、金属資源グループならではの強さです。私たちはこ</a:t>
            </a:r>
            <a:endParaRPr lang="en-US" sz="1200" dirty="0"/>
          </a:p>
          <a:p>
            <a:pPr algn="l" indent="0" marL="0">
              <a:lnSpc>
                <a:spcPts val="228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れからも、資源の流れ全体に関わり続けます。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19231" y="4370709"/>
            <a:ext cx="665989" cy="40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200" dirty="0">
                <a:solidFill>
                  <a:srgbClr val="1F2D44"/>
                </a:solidFill>
                <a:latin typeface="Zen Old Mincho SemiBold" pitchFamily="34" charset="0"/>
                <a:ea typeface="Zen Old Mincho SemiBold" pitchFamily="34" charset="-122"/>
                <a:cs typeface="Zen Old Mincho SemiBold" pitchFamily="34" charset="-120"/>
              </a:rPr>
              <a:t>投資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913941" y="4802698"/>
            <a:ext cx="1276570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spc="200" kern="0" dirty="0">
                <a:solidFill>
                  <a:srgbClr val="B8714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INVESTMENT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88139" y="5080949"/>
            <a:ext cx="1728173" cy="24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資源を見出し、育てる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65499" y="4370709"/>
            <a:ext cx="2203361" cy="40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200" dirty="0">
                <a:solidFill>
                  <a:srgbClr val="1F2D44"/>
                </a:solidFill>
                <a:latin typeface="Zen Old Mincho SemiBold" pitchFamily="34" charset="0"/>
                <a:ea typeface="Zen Old Mincho SemiBold" pitchFamily="34" charset="-122"/>
                <a:cs typeface="Zen Old Mincho SemiBold" pitchFamily="34" charset="-120"/>
              </a:rPr>
              <a:t>トレーディング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113631" y="4802698"/>
            <a:ext cx="907295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spc="200" kern="0" dirty="0">
                <a:solidFill>
                  <a:srgbClr val="4F7EA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TRADING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703093" y="5080949"/>
            <a:ext cx="1728173" cy="24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資源をつなぎ、届ける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98756" y="4396120"/>
            <a:ext cx="721894" cy="304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F8A71"/>
                </a:solidFill>
                <a:latin typeface="Zen Old Mincho SemiBold" pitchFamily="34" charset="0"/>
                <a:ea typeface="Zen Old Mincho SemiBold" pitchFamily="34" charset="-122"/>
                <a:cs typeface="Zen Old Mincho SemiBold" pitchFamily="34" charset="-120"/>
              </a:rPr>
              <a:t>新技術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67948" y="4701053"/>
            <a:ext cx="983509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spc="140" kern="0" dirty="0">
                <a:solidFill>
                  <a:srgbClr val="4F8A71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NEW TECH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8222" y="2947688"/>
            <a:ext cx="473599" cy="508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4000" dirty="0">
                <a:solidFill>
                  <a:srgbClr val="A4472F"/>
                </a:solidFill>
                <a:latin typeface="Zen Old Mincho" pitchFamily="34" charset="0"/>
                <a:ea typeface="Zen Old Mincho" pitchFamily="34" charset="-122"/>
                <a:cs typeface="Zen Old Mincho" pitchFamily="34" charset="-120"/>
              </a:rPr>
              <a:t>A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1016444" y="3125565"/>
            <a:ext cx="2063600" cy="304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A4472F"/>
                </a:solidFill>
                <a:latin typeface="Zen Old Mincho SemiBold" pitchFamily="34" charset="0"/>
                <a:ea typeface="Zen Old Mincho SemiBold" pitchFamily="34" charset="-122"/>
                <a:cs typeface="Zen Old Mincho SemiBold" pitchFamily="34" charset="-120"/>
              </a:rPr>
              <a:t>持つ力と、つなぐ力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16444" y="3455909"/>
            <a:ext cx="2399026" cy="1067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資源に投資して育てる力と、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市場へ届ける力。鉱山会社でも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純粋なトレーダーでもない、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当社ならではの立ち位置。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8222" y="5351577"/>
            <a:ext cx="189566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主なアセット・パートナー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8222" y="5607912"/>
            <a:ext cx="2971828" cy="733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5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・Escondida・Quellaveco ほか</a:t>
            </a:r>
            <a:endParaRPr lang="en-US" sz="1100" dirty="0"/>
          </a:p>
          <a:p>
            <a:pPr algn="l" indent="0" marL="0">
              <a:lnSpc>
                <a:spcPts val="1925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・BMA・IOC ほか</a:t>
            </a:r>
            <a:endParaRPr lang="en-US" sz="1100" dirty="0"/>
          </a:p>
          <a:p>
            <a:pPr algn="l" indent="0" marL="0">
              <a:lnSpc>
                <a:spcPts val="1925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・資源メジャーとの強固なパートナリング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11665" y="2058299"/>
            <a:ext cx="442153" cy="508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4000" dirty="0">
                <a:solidFill>
                  <a:srgbClr val="A4472F"/>
                </a:solidFill>
                <a:latin typeface="Zen Old Mincho" pitchFamily="34" charset="0"/>
                <a:ea typeface="Zen Old Mincho" pitchFamily="34" charset="-122"/>
                <a:cs typeface="Zen Old Mincho" pitchFamily="34" charset="-120"/>
              </a:rPr>
              <a:t>B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4319887" y="2236177"/>
            <a:ext cx="2063600" cy="304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A4472F"/>
                </a:solidFill>
                <a:latin typeface="Zen Old Mincho SemiBold" pitchFamily="34" charset="0"/>
                <a:ea typeface="Zen Old Mincho SemiBold" pitchFamily="34" charset="-122"/>
                <a:cs typeface="Zen Old Mincho SemiBold" pitchFamily="34" charset="-120"/>
              </a:rPr>
              <a:t>互いを強め合う循環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319887" y="2566521"/>
            <a:ext cx="2063600" cy="53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市場の情報を投資判断に、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投資で得た資源を市場へ。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879689" y="2947688"/>
            <a:ext cx="453509" cy="508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4000" dirty="0">
                <a:solidFill>
                  <a:srgbClr val="A4472F"/>
                </a:solidFill>
                <a:latin typeface="Zen Old Mincho" pitchFamily="34" charset="0"/>
                <a:ea typeface="Zen Old Mincho" pitchFamily="34" charset="-122"/>
                <a:cs typeface="Zen Old Mincho" pitchFamily="34" charset="-120"/>
              </a:rPr>
              <a:t>D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12387911" y="3125565"/>
            <a:ext cx="1839982" cy="304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A4472F"/>
                </a:solidFill>
                <a:latin typeface="Zen Old Mincho SemiBold" pitchFamily="34" charset="0"/>
                <a:ea typeface="Zen Old Mincho SemiBold" pitchFamily="34" charset="-122"/>
                <a:cs typeface="Zen Old Mincho SemiBold" pitchFamily="34" charset="-120"/>
              </a:rPr>
              <a:t>長い時間をかけて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387911" y="3455909"/>
            <a:ext cx="2399026" cy="800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市況の浮き沈みに左右されず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関わり続けた積み重ねが、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先を見据える力（先見性）に。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879689" y="4868767"/>
            <a:ext cx="1126982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これまでの歩み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879689" y="5125101"/>
            <a:ext cx="2795161" cy="1222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5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・1980〜90年代　トレーディングで参入</a:t>
            </a:r>
            <a:endParaRPr lang="en-US" sz="1100" dirty="0"/>
          </a:p>
          <a:p>
            <a:pPr algn="l" indent="0" marL="0">
              <a:lnSpc>
                <a:spcPts val="1925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・1990年代　投資モデルへ転換</a:t>
            </a:r>
            <a:endParaRPr lang="en-US" sz="1100" dirty="0"/>
          </a:p>
          <a:p>
            <a:pPr algn="l" indent="0" marL="0">
              <a:lnSpc>
                <a:spcPts val="1925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・2000年代　BHPと50:50でBMA</a:t>
            </a:r>
            <a:endParaRPr lang="en-US" sz="1100" dirty="0"/>
          </a:p>
          <a:p>
            <a:pPr algn="l" indent="0" marL="0">
              <a:lnSpc>
                <a:spcPts val="1925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・2010年代　銅の柱を拡大</a:t>
            </a:r>
            <a:endParaRPr lang="en-US" sz="1100" dirty="0"/>
          </a:p>
          <a:p>
            <a:pPr algn="l" indent="0" marL="0">
              <a:lnSpc>
                <a:spcPts val="1925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・2020年代　グローバルな事業者へ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11665" y="6632297"/>
            <a:ext cx="446084" cy="508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4000" dirty="0">
                <a:solidFill>
                  <a:srgbClr val="A4472F"/>
                </a:solidFill>
                <a:latin typeface="Zen Old Mincho" pitchFamily="34" charset="0"/>
                <a:ea typeface="Zen Old Mincho" pitchFamily="34" charset="-122"/>
                <a:cs typeface="Zen Old Mincho" pitchFamily="34" charset="-120"/>
              </a:rPr>
              <a:t>C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4319887" y="6810175"/>
            <a:ext cx="2958070" cy="304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A4472F"/>
                </a:solidFill>
                <a:latin typeface="Zen Old Mincho SemiBold" pitchFamily="34" charset="0"/>
                <a:ea typeface="Zen Old Mincho SemiBold" pitchFamily="34" charset="-122"/>
                <a:cs typeface="Zen Old Mincho SemiBold" pitchFamily="34" charset="-120"/>
              </a:rPr>
              <a:t>新技術が、流れを進化させる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319887" y="7140519"/>
            <a:ext cx="3237592" cy="53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業界の課題に挑む技術に投資し、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その知見を投資とトレーディングへ還元。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830357" y="6632297"/>
            <a:ext cx="433418" cy="508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4000" dirty="0">
                <a:solidFill>
                  <a:srgbClr val="A4472F"/>
                </a:solidFill>
                <a:latin typeface="Zen Old Mincho" pitchFamily="34" charset="0"/>
                <a:ea typeface="Zen Old Mincho" pitchFamily="34" charset="-122"/>
                <a:cs typeface="Zen Old Mincho" pitchFamily="34" charset="-120"/>
              </a:rPr>
              <a:t>E</a:t>
            </a:r>
            <a:endParaRPr lang="en-US" sz="4000" dirty="0"/>
          </a:p>
        </p:txBody>
      </p:sp>
      <p:sp>
        <p:nvSpPr>
          <p:cNvPr id="33" name="Text 31"/>
          <p:cNvSpPr/>
          <p:nvPr/>
        </p:nvSpPr>
        <p:spPr>
          <a:xfrm>
            <a:off x="9338579" y="6810175"/>
            <a:ext cx="3181688" cy="304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A4472F"/>
                </a:solidFill>
                <a:latin typeface="Zen Old Mincho SemiBold" pitchFamily="34" charset="0"/>
                <a:ea typeface="Zen Old Mincho SemiBold" pitchFamily="34" charset="-122"/>
                <a:cs typeface="Zen Old Mincho SemiBold" pitchFamily="34" charset="-120"/>
              </a:rPr>
              <a:t>その結果としての、いまの事業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338579" y="7140519"/>
            <a:ext cx="3573019" cy="800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原料炭・銅・トレーディング、そして新技術。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いまの立ち位置は、この強さの「結果」です。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→ 第3章（P.08）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92677" y="7775796"/>
            <a:ext cx="3824589" cy="26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D44"/>
                </a:solidFill>
                <a:latin typeface="Zen Old Mincho Medium" pitchFamily="34" charset="0"/>
                <a:ea typeface="Zen Old Mincho Medium" pitchFamily="34" charset="-122"/>
                <a:cs typeface="Zen Old Mincho Medium" pitchFamily="34" charset="-120"/>
              </a:rPr>
              <a:t>金属資源のバリューチェーンと事業領域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14800" y="8131552"/>
            <a:ext cx="414419" cy="24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D44"/>
                </a:solidFill>
                <a:latin typeface="Zen Old Mincho SemiBold" pitchFamily="34" charset="0"/>
                <a:ea typeface="Zen Old Mincho SemiBold" pitchFamily="34" charset="-122"/>
                <a:cs typeface="Zen Old Mincho SemiBold" pitchFamily="34" charset="-120"/>
              </a:rPr>
              <a:t>川上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14800" y="8350087"/>
            <a:ext cx="1126982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資源開発・保有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615853" y="8131552"/>
            <a:ext cx="414419" cy="24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D44"/>
                </a:solidFill>
                <a:latin typeface="Zen Old Mincho SemiBold" pitchFamily="34" charset="0"/>
                <a:ea typeface="Zen Old Mincho SemiBold" pitchFamily="34" charset="-122"/>
                <a:cs typeface="Zen Old Mincho SemiBold" pitchFamily="34" charset="-120"/>
              </a:rPr>
              <a:t>川中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615853" y="8350087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製鉄・製錬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316906" y="8131552"/>
            <a:ext cx="414419" cy="24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D44"/>
                </a:solidFill>
                <a:latin typeface="Zen Old Mincho SemiBold" pitchFamily="34" charset="0"/>
                <a:ea typeface="Zen Old Mincho SemiBold" pitchFamily="34" charset="-122"/>
                <a:cs typeface="Zen Old Mincho SemiBold" pitchFamily="34" charset="-120"/>
              </a:rPr>
              <a:t>川下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0316906" y="8350087"/>
            <a:ext cx="665771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最終製品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2667433" y="8131552"/>
            <a:ext cx="414419" cy="24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D44"/>
                </a:solidFill>
                <a:latin typeface="Zen Old Mincho SemiBold" pitchFamily="34" charset="0"/>
                <a:ea typeface="Zen Old Mincho SemiBold" pitchFamily="34" charset="-122"/>
                <a:cs typeface="Zen Old Mincho SemiBold" pitchFamily="34" charset="-120"/>
              </a:rPr>
              <a:t>社会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2667433" y="8350087"/>
            <a:ext cx="1126982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より良い社会へ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11511" y="8804946"/>
            <a:ext cx="777798" cy="24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B8714A"/>
                </a:solidFill>
                <a:latin typeface="Zen Old Mincho SemiBold" pitchFamily="34" charset="0"/>
                <a:ea typeface="Zen Old Mincho SemiBold" pitchFamily="34" charset="-122"/>
                <a:cs typeface="Zen Old Mincho SemiBold" pitchFamily="34" charset="-120"/>
              </a:rPr>
              <a:t>資源投資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35277" y="9468176"/>
            <a:ext cx="2049405" cy="670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非鉄｜銅鉱石・ボーキサイト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鉄鋼｜原料炭・鉄鉱石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Escondida・BMA ほか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189093" y="8804946"/>
            <a:ext cx="1322866" cy="24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F7EA8"/>
                </a:solidFill>
                <a:latin typeface="Zen Old Mincho SemiBold" pitchFamily="34" charset="0"/>
                <a:ea typeface="Zen Old Mincho SemiBold" pitchFamily="34" charset="-122"/>
                <a:cs typeface="Zen Old Mincho SemiBold" pitchFamily="34" charset="-120"/>
              </a:rPr>
              <a:t>トレーディング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3087449" y="9468176"/>
            <a:ext cx="2049405" cy="670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原料炭・鉄鉱石を製鉄会社へ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銅精鉱を製錬会社へ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自社・第三者を問わず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539620" y="8804946"/>
            <a:ext cx="959487" cy="24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4249"/>
                </a:solidFill>
                <a:latin typeface="Zen Old Mincho SemiBold" pitchFamily="34" charset="0"/>
                <a:ea typeface="Zen Old Mincho SemiBold" pitchFamily="34" charset="-122"/>
                <a:cs typeface="Zen Old Mincho SemiBold" pitchFamily="34" charset="-120"/>
              </a:rPr>
              <a:t>製鉄・製錬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437975" y="9468176"/>
            <a:ext cx="1741931" cy="670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鉄鉱石と原料炭から鋼材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銅精鉱から銅地金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ボーキサイトからアルミ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890146" y="8804946"/>
            <a:ext cx="1322866" cy="24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F7EA8"/>
                </a:solidFill>
                <a:latin typeface="Zen Old Mincho SemiBold" pitchFamily="34" charset="0"/>
                <a:ea typeface="Zen Old Mincho SemiBold" pitchFamily="34" charset="-122"/>
                <a:cs typeface="Zen Old Mincho SemiBold" pitchFamily="34" charset="-120"/>
              </a:rPr>
              <a:t>トレーディング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7788502" y="9468176"/>
            <a:ext cx="1895668" cy="670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鋼材はメタルワンが販売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地金はRtM・Triland Metals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が需要家へ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0240673" y="8804946"/>
            <a:ext cx="596109" cy="24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4249"/>
                </a:solidFill>
                <a:latin typeface="Zen Old Mincho SemiBold" pitchFamily="34" charset="0"/>
                <a:ea typeface="Zen Old Mincho SemiBold" pitchFamily="34" charset="-122"/>
                <a:cs typeface="Zen Old Mincho SemiBold" pitchFamily="34" charset="-120"/>
              </a:rPr>
              <a:t>需要家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10139029" y="9468176"/>
            <a:ext cx="1434457" cy="670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建材・自動車用鋼板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電線・再エネ・EV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データセンター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2591200" y="8804946"/>
            <a:ext cx="414419" cy="24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4249"/>
                </a:solidFill>
                <a:latin typeface="Zen Old Mincho SemiBold" pitchFamily="34" charset="0"/>
                <a:ea typeface="Zen Old Mincho SemiBold" pitchFamily="34" charset="-122"/>
                <a:cs typeface="Zen Old Mincho SemiBold" pitchFamily="34" charset="-120"/>
              </a:rPr>
              <a:t>社会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12489555" y="9468176"/>
            <a:ext cx="1588194" cy="670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豊かな暮らし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カーボンニュートラル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循環型社会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08222" y="10316906"/>
            <a:ext cx="289945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06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14458915" y="10316906"/>
            <a:ext cx="27465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222" y="294769"/>
            <a:ext cx="2875742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spc="140" kern="0" dirty="0">
                <a:solidFill>
                  <a:srgbClr val="3D424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 BUSINESS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　｜　主力事業と新技術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658232" y="200748"/>
            <a:ext cx="2393348" cy="391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40"/>
              </a:lnSpc>
              <a:buNone/>
            </a:pPr>
            <a:r>
              <a:rPr lang="en-US" sz="1100" spc="12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MITSUBISHI CORPORATION</a:t>
            </a:r>
            <a:endParaRPr lang="en-US" sz="1100" dirty="0"/>
          </a:p>
          <a:p>
            <a:pPr algn="r" indent="0" marL="0">
              <a:lnSpc>
                <a:spcPts val="1540"/>
              </a:lnSpc>
              <a:buNone/>
            </a:pPr>
            <a:r>
              <a:rPr lang="en-US" sz="1100" spc="12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METAL RESOURCES GROUP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68024" y="294769"/>
            <a:ext cx="2875742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spc="140" kern="0" dirty="0">
                <a:solidFill>
                  <a:srgbClr val="3D424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 BUSINESS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　｜　主力事業と新技術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155796" y="294769"/>
            <a:ext cx="2455586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Old Mincho" pitchFamily="34" charset="0"/>
                <a:ea typeface="Zen Old Mincho" pitchFamily="34" charset="-122"/>
                <a:cs typeface="Zen Old Mincho" pitchFamily="34" charset="-120"/>
              </a:rPr>
              <a:t>Strength to Hold. Power to Connect.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8222" y="838566"/>
            <a:ext cx="6703666" cy="508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2800" dirty="0">
                <a:solidFill>
                  <a:srgbClr val="1F2D44"/>
                </a:solidFill>
                <a:latin typeface="Zen Old Mincho Medium" pitchFamily="34" charset="0"/>
                <a:ea typeface="Zen Old Mincho Medium" pitchFamily="34" charset="-122"/>
                <a:cs typeface="Zen Old Mincho Medium" pitchFamily="34" charset="-120"/>
              </a:rPr>
              <a:t>両輪と新技術が生んだ、いまの事業。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8222" y="1421751"/>
            <a:ext cx="7094997" cy="4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原料炭、銅、トレーディング、新技術。それぞれが、投資・トレーディング・新技術の重なり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から育ってきました。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760843" y="1982066"/>
            <a:ext cx="2978816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40" kern="0" dirty="0">
                <a:solidFill>
                  <a:srgbClr val="7D838A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PILLAR 1｜METALLURGICAL COAL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760843" y="2210766"/>
            <a:ext cx="1588412" cy="40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200" dirty="0">
                <a:solidFill>
                  <a:srgbClr val="1F2D44"/>
                </a:solidFill>
                <a:latin typeface="Zen Old Mincho SemiBold" pitchFamily="34" charset="0"/>
                <a:ea typeface="Zen Old Mincho SemiBold" pitchFamily="34" charset="-122"/>
                <a:cs typeface="Zen Old Mincho SemiBold" pitchFamily="34" charset="-120"/>
              </a:rPr>
              <a:t>原料炭事業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909339" y="2693577"/>
            <a:ext cx="366813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30" kern="0" dirty="0">
                <a:solidFill>
                  <a:srgbClr val="B8714A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投資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60498" y="2693577"/>
            <a:ext cx="1156463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30" kern="0" dirty="0">
                <a:solidFill>
                  <a:srgbClr val="4F7EA8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トレーディング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60843" y="3072837"/>
            <a:ext cx="1453019" cy="410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30"/>
              </a:lnSpc>
              <a:buNone/>
            </a:pPr>
            <a:r>
              <a:rPr lang="en-US" sz="3400" spc="-102" kern="0" dirty="0">
                <a:solidFill>
                  <a:srgbClr val="1F2D44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約50%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760843" y="3598212"/>
            <a:ext cx="3287601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4472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一級強粘結炭の世界供給に占めるBMAのシェア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60843" y="3909498"/>
            <a:ext cx="3603373" cy="82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BHPとの50:50の合弁BMAで、豪州で世界最高品</a:t>
            </a:r>
            <a:endParaRPr lang="en-US" sz="12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位の原料炭を生産。販売から出資、JV経営へと</a:t>
            </a:r>
            <a:endParaRPr lang="en-US" sz="12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関わりを深めてきました。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60843" y="5046644"/>
            <a:ext cx="3759513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4F7EA8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→ トレーディング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　BMAの原料炭を、RtMが製鉄所へ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8222" y="6174897"/>
            <a:ext cx="1724024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40" kern="0" dirty="0">
                <a:solidFill>
                  <a:srgbClr val="7D838A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PILLAR 2｜COPPER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8222" y="6403597"/>
            <a:ext cx="973463" cy="40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200" dirty="0">
                <a:solidFill>
                  <a:srgbClr val="1F2D44"/>
                </a:solidFill>
                <a:latin typeface="Zen Old Mincho SemiBold" pitchFamily="34" charset="0"/>
                <a:ea typeface="Zen Old Mincho SemiBold" pitchFamily="34" charset="-122"/>
                <a:cs typeface="Zen Old Mincho SemiBold" pitchFamily="34" charset="-120"/>
              </a:rPr>
              <a:t>銅事業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56718" y="6886408"/>
            <a:ext cx="366813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30" kern="0" dirty="0">
                <a:solidFill>
                  <a:srgbClr val="B8714A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投資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15620" y="6886408"/>
            <a:ext cx="524699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30" kern="0" dirty="0">
                <a:solidFill>
                  <a:srgbClr val="4F8A71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新技術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8222" y="7265669"/>
            <a:ext cx="1309982" cy="410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30"/>
              </a:lnSpc>
              <a:buNone/>
            </a:pPr>
            <a:r>
              <a:rPr lang="en-US" sz="3400" spc="-102" kern="0" dirty="0">
                <a:solidFill>
                  <a:srgbClr val="1F2D44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Top 15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508222" y="7791043"/>
            <a:ext cx="3120106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4472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主要5鉱山すべてが鉱山別生産量で世界Top15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8222" y="8102329"/>
            <a:ext cx="3573019" cy="82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1988年のエスコンディダから、一級資産に早く</a:t>
            </a:r>
            <a:endParaRPr lang="en-US" sz="12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から参画。日本最大の銅生産者として、世界の</a:t>
            </a:r>
            <a:endParaRPr lang="en-US" sz="12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大手と組んでいます。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8222" y="9239476"/>
            <a:ext cx="3322541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4F8A71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→ 新技術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　低品位鉱の銅回収に、新しい技術を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68024" y="2947688"/>
            <a:ext cx="3035376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40" kern="0" dirty="0">
                <a:solidFill>
                  <a:srgbClr val="7D838A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PILLAR 3｜RESOURCE TO MARKET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68024" y="3176387"/>
            <a:ext cx="4033138" cy="40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200" dirty="0">
                <a:solidFill>
                  <a:srgbClr val="1F2D44"/>
                </a:solidFill>
                <a:latin typeface="Zen Old Mincho SemiBold" pitchFamily="34" charset="0"/>
                <a:ea typeface="Zen Old Mincho SemiBold" pitchFamily="34" charset="-122"/>
                <a:cs typeface="Zen Old Mincho SemiBold" pitchFamily="34" charset="-120"/>
              </a:rPr>
              <a:t>トレーディング事業（RtM）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2018656" y="3252621"/>
            <a:ext cx="1156463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30" kern="0" dirty="0">
                <a:solidFill>
                  <a:srgbClr val="4F7EA8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トレーディング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3387679" y="3252621"/>
            <a:ext cx="366813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30" kern="0" dirty="0">
                <a:solidFill>
                  <a:srgbClr val="B8714A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投資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68024" y="3649669"/>
            <a:ext cx="423591" cy="362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3000" spc="-90" kern="0" dirty="0">
                <a:solidFill>
                  <a:srgbClr val="1F2D44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15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8576246" y="3861217"/>
            <a:ext cx="386467" cy="24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業界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846801" y="3649669"/>
            <a:ext cx="515964" cy="362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3000" spc="-90" kern="0" dirty="0">
                <a:solidFill>
                  <a:srgbClr val="1F2D44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50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10380434" y="3861217"/>
            <a:ext cx="386467" cy="24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カ国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752633" y="3649669"/>
            <a:ext cx="1387724" cy="362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3000" spc="-90" kern="0" dirty="0">
                <a:solidFill>
                  <a:srgbClr val="1F2D44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約1,000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13023188" y="3861217"/>
            <a:ext cx="218754" cy="24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社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363990" y="3728444"/>
            <a:ext cx="164596" cy="217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800" spc="-54" kern="0" dirty="0">
                <a:solidFill>
                  <a:srgbClr val="7D838A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×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1244411" y="3728444"/>
            <a:ext cx="164596" cy="217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800" spc="-54" kern="0" dirty="0">
                <a:solidFill>
                  <a:srgbClr val="7D838A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×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309231" y="4427884"/>
            <a:ext cx="1895886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8714A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自社資産・第三者の資源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202920" y="4427884"/>
            <a:ext cx="351745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F7EA8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RtM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3150045" y="4427884"/>
            <a:ext cx="889607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2D44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世界の顧客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355023" y="4970411"/>
            <a:ext cx="2049405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4F7EA8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市場の声を、次の投資判断へ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068024" y="5478633"/>
            <a:ext cx="3783752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B8714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→ 投資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　原料炭・銅など自社の資源を、世界の需要へ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068024" y="6174897"/>
            <a:ext cx="171266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4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NEW TECHNOLOGY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068024" y="6403597"/>
            <a:ext cx="2203361" cy="40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200" dirty="0">
                <a:solidFill>
                  <a:srgbClr val="1F2D44"/>
                </a:solidFill>
                <a:latin typeface="Zen Old Mincho SemiBold" pitchFamily="34" charset="0"/>
                <a:ea typeface="Zen Old Mincho SemiBold" pitchFamily="34" charset="-122"/>
                <a:cs typeface="Zen Old Mincho SemiBold" pitchFamily="34" charset="-120"/>
              </a:rPr>
              <a:t>新技術への投資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11137010" y="6479830"/>
            <a:ext cx="524699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30" kern="0" dirty="0">
                <a:solidFill>
                  <a:srgbClr val="4F8A71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新技術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1939246" y="6479830"/>
            <a:ext cx="366813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30" kern="0" dirty="0">
                <a:solidFill>
                  <a:srgbClr val="B8714A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投資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2590406" y="6479830"/>
            <a:ext cx="1156463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30" kern="0" dirty="0">
                <a:solidFill>
                  <a:srgbClr val="4F7EA8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トレーディング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068024" y="6882596"/>
            <a:ext cx="5250151" cy="274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業界のボトルネックを解く技術に出資し、現場と市場へつなぎます。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068024" y="7587754"/>
            <a:ext cx="358296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4F8A71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選鉱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068024" y="7794219"/>
            <a:ext cx="724951" cy="217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800" spc="-54" kern="0" dirty="0">
                <a:solidFill>
                  <a:srgbClr val="1F2D44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CiDRA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8068024" y="8146798"/>
            <a:ext cx="2049405" cy="447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粗い粒子のまま銅を回収し、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回収率と処理量を高める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0304201" y="7587754"/>
            <a:ext cx="358296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4F8A71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浸出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0304201" y="7794219"/>
            <a:ext cx="523389" cy="217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800" spc="-54" kern="0" dirty="0">
                <a:solidFill>
                  <a:srgbClr val="1F2D44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Jetti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0304201" y="8146798"/>
            <a:ext cx="1741931" cy="447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触媒技術で、硫化鉱から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銅を回収する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2540377" y="7587754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4F8A71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リサイクル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2540377" y="7794219"/>
            <a:ext cx="1079158" cy="217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800" spc="-54" kern="0" dirty="0">
                <a:solidFill>
                  <a:srgbClr val="1F2D44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DESCycle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12540377" y="8146798"/>
            <a:ext cx="1895668" cy="447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廃棄物から金属を回収し、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資源の循環を広げる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271313" y="8919296"/>
            <a:ext cx="1074135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00" kern="0" dirty="0">
                <a:solidFill>
                  <a:srgbClr val="4F8A71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CASE｜Jetti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271313" y="9164513"/>
            <a:ext cx="6599282" cy="518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Jettiに出資参画し、事業拡大を支援。同社技術で生まれる環境価値の高い銅地金を販売</a:t>
            </a:r>
            <a:endParaRPr lang="en-US" sz="1200" dirty="0"/>
          </a:p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し、低品位鉱に課題を持つ鉱山への導入も共同で検討しています。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08222" y="10316906"/>
            <a:ext cx="286887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08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14458915" y="10316906"/>
            <a:ext cx="289945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2831" y="3633787"/>
            <a:ext cx="4484960" cy="304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0"/>
              </a:lnSpc>
              <a:buNone/>
            </a:pPr>
            <a:r>
              <a:rPr lang="en-US" sz="30000" spc="-1200" kern="0" dirty="0">
                <a:solidFill>
                  <a:srgbClr val="000000">
                    <a:alpha val="0"/>
                  </a:srgbClr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03</a:t>
            </a:r>
            <a:endParaRPr lang="en-US" sz="30000" dirty="0"/>
          </a:p>
        </p:txBody>
      </p:sp>
      <p:sp>
        <p:nvSpPr>
          <p:cNvPr id="3" name="Text 1"/>
          <p:cNvSpPr/>
          <p:nvPr/>
        </p:nvSpPr>
        <p:spPr>
          <a:xfrm>
            <a:off x="11816161" y="2286999"/>
            <a:ext cx="4652673" cy="304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0"/>
              </a:lnSpc>
              <a:buNone/>
            </a:pPr>
            <a:r>
              <a:rPr lang="en-US" sz="30000" spc="-1200" kern="0" dirty="0">
                <a:solidFill>
                  <a:srgbClr val="000000">
                    <a:alpha val="0"/>
                  </a:srgbClr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04</a:t>
            </a:r>
            <a:endParaRPr lang="en-US" sz="30000" dirty="0"/>
          </a:p>
        </p:txBody>
      </p:sp>
      <p:sp>
        <p:nvSpPr>
          <p:cNvPr id="4" name="Text 2"/>
          <p:cNvSpPr/>
          <p:nvPr/>
        </p:nvSpPr>
        <p:spPr>
          <a:xfrm>
            <a:off x="127055" y="2947688"/>
            <a:ext cx="1369599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パートナーシップ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37680" y="1804188"/>
            <a:ext cx="1358680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社会を支える資源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8222" y="3328854"/>
            <a:ext cx="496747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第3章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8222" y="3519437"/>
            <a:ext cx="1325487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40" kern="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選ばれ続ける理由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8222" y="3781934"/>
            <a:ext cx="3845116" cy="440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68"/>
              </a:lnSpc>
              <a:buNone/>
            </a:pPr>
            <a:r>
              <a:rPr lang="en-US" sz="3400" spc="-85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Partner of choice.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08222" y="4503125"/>
            <a:ext cx="4013266" cy="24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資源業界に不可欠な存在として、選ばれ続ける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8222" y="4799799"/>
            <a:ext cx="355458" cy="28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2400" spc="-72" kern="0" dirty="0">
                <a:solidFill>
                  <a:srgbClr val="9C744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65622" y="4811234"/>
            <a:ext cx="1271984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3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Cultural affinity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5622" y="5007217"/>
            <a:ext cx="2653217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資源メジャーとの文化的親和性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37076" y="4799799"/>
            <a:ext cx="418350" cy="28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2400" spc="-72" kern="0" dirty="0">
                <a:solidFill>
                  <a:srgbClr val="9C744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294476" y="4811234"/>
            <a:ext cx="127962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3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JV management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94476" y="5007217"/>
            <a:ext cx="2873559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資源投資に裏打ちされたJV経営力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8222" y="5358843"/>
            <a:ext cx="412454" cy="28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2400" spc="-72" kern="0" dirty="0">
                <a:solidFill>
                  <a:srgbClr val="9C744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65622" y="5370278"/>
            <a:ext cx="144908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3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Financial strength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5622" y="5566262"/>
            <a:ext cx="2653217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健全な財務基盤とリスクシェア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37076" y="5358843"/>
            <a:ext cx="425775" cy="28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2400" spc="-72" kern="0" dirty="0">
                <a:solidFill>
                  <a:srgbClr val="9C744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294476" y="5370278"/>
            <a:ext cx="102390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3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Deep insight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94476" y="5566262"/>
            <a:ext cx="2839273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マクロとバリューチェーンの知見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8222" y="6030967"/>
            <a:ext cx="94551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JVへの貢献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524666" y="6030967"/>
            <a:ext cx="1962928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40" kern="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経営から現場まで伴走する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0689" y="6314896"/>
            <a:ext cx="422718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現場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7983" y="6717067"/>
            <a:ext cx="3069879" cy="800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・長期目線での戦略策定と案件開発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・幅広い産業接点を生かした知見の提供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・人材派遣による操業支援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989543" y="6314896"/>
            <a:ext cx="422718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経営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976837" y="6717067"/>
            <a:ext cx="3069879" cy="800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・中長期の事業計画・資本政策への参画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・販売戦略・人事計画への関与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・他JVのベストプラクティスの導入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0926" y="7992029"/>
            <a:ext cx="2095701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「会社対会社」の関係へ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00862" y="7992029"/>
            <a:ext cx="980452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新たな協業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23327" y="7992029"/>
            <a:ext cx="1537967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強み・信頼の蓄積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01053" y="8663557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9C7442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次の協業へ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8222" y="8996442"/>
            <a:ext cx="6088718" cy="28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新たな協業が生まれ、その積み重ねが、さらなる強み・知見・信頼につながる。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8222" y="9664754"/>
            <a:ext cx="1464156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主なJVパートナー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083710" y="9593603"/>
            <a:ext cx="3798602" cy="193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20"/>
              </a:lnSpc>
              <a:buNone/>
            </a:pPr>
            <a:r>
              <a:rPr lang="en-US" sz="1600" spc="-48" kern="0" dirty="0">
                <a:solidFill>
                  <a:srgbClr val="121519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BHP　　Rio Tinto　　Anglo American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068024" y="2185355"/>
            <a:ext cx="501333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第4章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068024" y="2375938"/>
            <a:ext cx="1166290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40" kern="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何を実現するか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068024" y="2639197"/>
            <a:ext cx="4093410" cy="725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6"/>
              </a:lnSpc>
              <a:buNone/>
            </a:pPr>
            <a:r>
              <a:rPr lang="en-US" sz="2800" spc="-70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Building the future</a:t>
            </a:r>
            <a:endParaRPr lang="en-US" sz="2800" dirty="0"/>
          </a:p>
          <a:p>
            <a:pPr algn="l" indent="0" marL="0">
              <a:lnSpc>
                <a:spcPts val="2856"/>
              </a:lnSpc>
              <a:buNone/>
            </a:pPr>
            <a:r>
              <a:rPr lang="en-US" sz="2800" spc="-70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of resources, together.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8068024" y="3644706"/>
            <a:ext cx="3069879" cy="24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社会の「当たり前」を、支え続ける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068024" y="3978227"/>
            <a:ext cx="1589067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外部環境と社会課題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272623" y="4762477"/>
            <a:ext cx="1166290" cy="445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クリティカル</a:t>
            </a:r>
            <a:endParaRPr lang="en-US" sz="1300" dirty="0"/>
          </a:p>
          <a:p>
            <a:pPr algn="ctr" indent="0" marL="0">
              <a:lnSpc>
                <a:spcPts val="175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ミネラル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923034" y="4275854"/>
            <a:ext cx="1352129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産業構造の転換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923034" y="4514401"/>
            <a:ext cx="3415133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脱炭素化とAI・データセンターで電力需要が拡大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923034" y="4784076"/>
            <a:ext cx="1537967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供給制約の深刻化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923034" y="5022623"/>
            <a:ext cx="3433039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良質な資源の開発に、より時間とコストが必要に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923034" y="5292298"/>
            <a:ext cx="1909862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地政学リスクの常態化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9923034" y="5530845"/>
            <a:ext cx="2818091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輸出規制など、資源の囲い込みが常態化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711898" y="5939289"/>
            <a:ext cx="5255611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クリティカルミネラルの供給網確保が、これまで以上に重要に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068024" y="6468514"/>
            <a:ext cx="125538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当社の取り組み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313168" y="6468514"/>
            <a:ext cx="2918763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40" kern="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資源の安定供給と効率化で社会を支える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9017516" y="6752444"/>
            <a:ext cx="794395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資源投資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207785" y="7154614"/>
            <a:ext cx="2399026" cy="53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・基幹事業で大規模資産を拡大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・成長領域へ早い段階から参画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2588430" y="6752444"/>
            <a:ext cx="1352129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トレーディング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12057567" y="7154614"/>
            <a:ext cx="2566739" cy="53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・引き取りと外部調達で安定供給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・国際取引基盤で業界網を構築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1125406" y="7189554"/>
            <a:ext cx="428395" cy="24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300" b="1" spc="50" kern="0" dirty="0">
                <a:solidFill>
                  <a:srgbClr val="9C7442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連携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8389584" y="7905512"/>
            <a:ext cx="5900040" cy="528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「金属＝経済活動を支える礎」。社会に必要な資源を支えることが、</a:t>
            </a:r>
            <a:endParaRPr lang="en-US" sz="1300" dirty="0"/>
          </a:p>
          <a:p>
            <a:pPr algn="ctr" indent="0" marL="0">
              <a:lnSpc>
                <a:spcPts val="2080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私たちの責務です。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8322135" y="9097173"/>
            <a:ext cx="4531474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E9D6AC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グループミッション｜共に、持続可能で豊かな未来を築く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322135" y="9374154"/>
            <a:ext cx="6446419" cy="56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b="1" spc="3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社会が必要とする良質な金属資源を、持続可能な形で安定供給すること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b="1" spc="3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で、より良い社会の実現に寄与する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508222" y="10316906"/>
            <a:ext cx="259154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10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14458915" y="10316906"/>
            <a:ext cx="225305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2026-10-15T12:06:14Z</dcterms:created>
  <dcterms:modified xsi:type="dcterms:W3CDTF">2026-10-15T12:06:14Z</dcterms:modified>
</cp:coreProperties>
</file>