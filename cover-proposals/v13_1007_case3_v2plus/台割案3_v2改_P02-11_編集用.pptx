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5119604" cy="10692079"/>
  <p:notesSz cx="10692079" cy="15119604"/>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27055" y="2922276"/>
            <a:ext cx="425993"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Inter Medium" pitchFamily="34" charset="0"/>
                <a:ea typeface="Inter Medium" pitchFamily="34" charset="-122"/>
                <a:cs typeface="Inter Medium" pitchFamily="34" charset="-120"/>
              </a:rPr>
              <a:t>Cities</a:t>
            </a:r>
            <a:endParaRPr lang="en-US" sz="580" dirty="0"/>
          </a:p>
        </p:txBody>
      </p:sp>
      <p:sp>
        <p:nvSpPr>
          <p:cNvPr id="3" name="Text 1"/>
          <p:cNvSpPr/>
          <p:nvPr/>
        </p:nvSpPr>
        <p:spPr>
          <a:xfrm>
            <a:off x="127055" y="3036626"/>
            <a:ext cx="1356278"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Inter" pitchFamily="34" charset="0"/>
                <a:ea typeface="Inter" pitchFamily="34" charset="-122"/>
                <a:cs typeface="Inter" pitchFamily="34" charset="-120"/>
              </a:rPr>
              <a:t>Steel · Copper · Aluminium</a:t>
            </a:r>
            <a:endParaRPr lang="en-US" sz="580" dirty="0"/>
          </a:p>
        </p:txBody>
      </p:sp>
      <p:sp>
        <p:nvSpPr>
          <p:cNvPr id="4" name="Text 2"/>
          <p:cNvSpPr/>
          <p:nvPr/>
        </p:nvSpPr>
        <p:spPr>
          <a:xfrm>
            <a:off x="4370709" y="1308672"/>
            <a:ext cx="597201"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Inter Medium" pitchFamily="34" charset="0"/>
                <a:ea typeface="Inter Medium" pitchFamily="34" charset="-122"/>
                <a:cs typeface="Inter Medium" pitchFamily="34" charset="-120"/>
              </a:rPr>
              <a:t>Mobility</a:t>
            </a:r>
            <a:endParaRPr lang="en-US" sz="580" dirty="0"/>
          </a:p>
        </p:txBody>
      </p:sp>
      <p:sp>
        <p:nvSpPr>
          <p:cNvPr id="5" name="Text 3"/>
          <p:cNvSpPr/>
          <p:nvPr/>
        </p:nvSpPr>
        <p:spPr>
          <a:xfrm>
            <a:off x="4370709" y="1423022"/>
            <a:ext cx="1211931"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Inter" pitchFamily="34" charset="0"/>
                <a:ea typeface="Inter" pitchFamily="34" charset="-122"/>
                <a:cs typeface="Inter" pitchFamily="34" charset="-120"/>
              </a:rPr>
              <a:t>Steel · Copper · Lithium</a:t>
            </a:r>
            <a:endParaRPr lang="en-US" sz="580" dirty="0"/>
          </a:p>
        </p:txBody>
      </p:sp>
      <p:sp>
        <p:nvSpPr>
          <p:cNvPr id="6" name="Text 4"/>
          <p:cNvSpPr/>
          <p:nvPr/>
        </p:nvSpPr>
        <p:spPr>
          <a:xfrm>
            <a:off x="5362258" y="2322328"/>
            <a:ext cx="1078939" cy="136203"/>
          </a:xfrm>
          <a:prstGeom prst="rect">
            <a:avLst/>
          </a:prstGeom>
          <a:noFill/>
          <a:ln/>
        </p:spPr>
        <p:txBody>
          <a:bodyPr wrap="none" lIns="0" tIns="0" rIns="0" bIns="0" rtlCol="0" anchor="t"/>
          <a:lstStyle/>
          <a:p>
            <a:pPr algn="ctr" indent="0" marL="0">
              <a:lnSpc>
                <a:spcPts val="1072"/>
              </a:lnSpc>
              <a:buNone/>
            </a:pPr>
            <a:r>
              <a:rPr lang="en-US" sz="670" dirty="0">
                <a:solidFill>
                  <a:srgbClr val="8A96A3"/>
                </a:solidFill>
                <a:latin typeface="Noto Sans JP" pitchFamily="34" charset="0"/>
                <a:ea typeface="Noto Sans JP" pitchFamily="34" charset="-122"/>
                <a:cs typeface="Noto Sans JP" pitchFamily="34" charset="-120"/>
              </a:rPr>
              <a:t>鉄道の写真（ストック）</a:t>
            </a:r>
            <a:endParaRPr lang="en-US" sz="670" dirty="0"/>
          </a:p>
        </p:txBody>
      </p:sp>
      <p:sp>
        <p:nvSpPr>
          <p:cNvPr id="7" name="Text 5"/>
          <p:cNvSpPr/>
          <p:nvPr/>
        </p:nvSpPr>
        <p:spPr>
          <a:xfrm>
            <a:off x="4370709" y="2922276"/>
            <a:ext cx="620567"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5A6570"/>
                </a:solidFill>
                <a:latin typeface="Inter Medium" pitchFamily="34" charset="0"/>
                <a:ea typeface="Inter Medium" pitchFamily="34" charset="-122"/>
                <a:cs typeface="Inter Medium" pitchFamily="34" charset="-120"/>
              </a:rPr>
              <a:t>Railways</a:t>
            </a:r>
            <a:endParaRPr lang="en-US" sz="580" dirty="0"/>
          </a:p>
        </p:txBody>
      </p:sp>
      <p:sp>
        <p:nvSpPr>
          <p:cNvPr id="8" name="Text 6"/>
          <p:cNvSpPr/>
          <p:nvPr/>
        </p:nvSpPr>
        <p:spPr>
          <a:xfrm>
            <a:off x="4370709" y="3036626"/>
            <a:ext cx="752903" cy="88939"/>
          </a:xfrm>
          <a:prstGeom prst="rect">
            <a:avLst/>
          </a:prstGeom>
          <a:noFill/>
          <a:ln/>
        </p:spPr>
        <p:txBody>
          <a:bodyPr wrap="none" lIns="0" tIns="0" rIns="0" bIns="0" rtlCol="0" anchor="t"/>
          <a:lstStyle/>
          <a:p>
            <a:pPr algn="l" indent="0" marL="0">
              <a:lnSpc>
                <a:spcPts val="700"/>
              </a:lnSpc>
              <a:buNone/>
            </a:pPr>
            <a:r>
              <a:rPr lang="en-US" sz="580" spc="80" kern="0" dirty="0">
                <a:solidFill>
                  <a:srgbClr val="5A6570"/>
                </a:solidFill>
                <a:latin typeface="Inter" pitchFamily="34" charset="0"/>
                <a:ea typeface="Inter" pitchFamily="34" charset="-122"/>
                <a:cs typeface="Inter" pitchFamily="34" charset="-120"/>
              </a:rPr>
              <a:t>Steel · Copper</a:t>
            </a:r>
            <a:endParaRPr lang="en-US" sz="580" dirty="0"/>
          </a:p>
        </p:txBody>
      </p:sp>
      <p:sp>
        <p:nvSpPr>
          <p:cNvPr id="9" name="Text 7"/>
          <p:cNvSpPr/>
          <p:nvPr/>
        </p:nvSpPr>
        <p:spPr>
          <a:xfrm>
            <a:off x="127055" y="4828109"/>
            <a:ext cx="791992"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Inter Medium" pitchFamily="34" charset="0"/>
                <a:ea typeface="Inter Medium" pitchFamily="34" charset="-122"/>
                <a:cs typeface="Inter Medium" pitchFamily="34" charset="-120"/>
              </a:rPr>
              <a:t>Renewables</a:t>
            </a:r>
            <a:endParaRPr lang="en-US" sz="580" dirty="0"/>
          </a:p>
        </p:txBody>
      </p:sp>
      <p:sp>
        <p:nvSpPr>
          <p:cNvPr id="10" name="Text 8"/>
          <p:cNvSpPr/>
          <p:nvPr/>
        </p:nvSpPr>
        <p:spPr>
          <a:xfrm>
            <a:off x="127055" y="4942459"/>
            <a:ext cx="752903"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Inter" pitchFamily="34" charset="0"/>
                <a:ea typeface="Inter" pitchFamily="34" charset="-122"/>
                <a:cs typeface="Inter" pitchFamily="34" charset="-120"/>
              </a:rPr>
              <a:t>Copper · Steel</a:t>
            </a:r>
            <a:endParaRPr lang="en-US" sz="580" dirty="0"/>
          </a:p>
        </p:txBody>
      </p:sp>
      <p:sp>
        <p:nvSpPr>
          <p:cNvPr id="11" name="Text 9"/>
          <p:cNvSpPr/>
          <p:nvPr/>
        </p:nvSpPr>
        <p:spPr>
          <a:xfrm>
            <a:off x="2248882" y="4828109"/>
            <a:ext cx="829772"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Inter Medium" pitchFamily="34" charset="0"/>
                <a:ea typeface="Inter Medium" pitchFamily="34" charset="-122"/>
                <a:cs typeface="Inter Medium" pitchFamily="34" charset="-120"/>
              </a:rPr>
              <a:t>Power grids</a:t>
            </a:r>
            <a:endParaRPr lang="en-US" sz="580" dirty="0"/>
          </a:p>
        </p:txBody>
      </p:sp>
      <p:sp>
        <p:nvSpPr>
          <p:cNvPr id="12" name="Text 10"/>
          <p:cNvSpPr/>
          <p:nvPr/>
        </p:nvSpPr>
        <p:spPr>
          <a:xfrm>
            <a:off x="2248882" y="4942459"/>
            <a:ext cx="1006220"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Inter" pitchFamily="34" charset="0"/>
                <a:ea typeface="Inter" pitchFamily="34" charset="-122"/>
                <a:cs typeface="Inter" pitchFamily="34" charset="-120"/>
              </a:rPr>
              <a:t>Copper · Aluminium</a:t>
            </a:r>
            <a:endParaRPr lang="en-US" sz="580" dirty="0"/>
          </a:p>
        </p:txBody>
      </p:sp>
      <p:sp>
        <p:nvSpPr>
          <p:cNvPr id="13" name="Text 11"/>
          <p:cNvSpPr/>
          <p:nvPr/>
        </p:nvSpPr>
        <p:spPr>
          <a:xfrm>
            <a:off x="4756054" y="4082047"/>
            <a:ext cx="2291148" cy="136203"/>
          </a:xfrm>
          <a:prstGeom prst="rect">
            <a:avLst/>
          </a:prstGeom>
          <a:noFill/>
          <a:ln/>
        </p:spPr>
        <p:txBody>
          <a:bodyPr wrap="none" lIns="0" tIns="0" rIns="0" bIns="0" rtlCol="0" anchor="t"/>
          <a:lstStyle/>
          <a:p>
            <a:pPr algn="ctr" indent="0" marL="0">
              <a:lnSpc>
                <a:spcPts val="1072"/>
              </a:lnSpc>
              <a:buNone/>
            </a:pPr>
            <a:r>
              <a:rPr lang="en-US" sz="670" dirty="0">
                <a:solidFill>
                  <a:srgbClr val="8A96A3"/>
                </a:solidFill>
                <a:latin typeface="Noto Sans JP" pitchFamily="34" charset="0"/>
                <a:ea typeface="Noto Sans JP" pitchFamily="34" charset="-122"/>
                <a:cs typeface="Noto Sans JP" pitchFamily="34" charset="-120"/>
              </a:rPr>
              <a:t>スマートフォン・データセンターの写真（ストック）</a:t>
            </a:r>
            <a:endParaRPr lang="en-US" sz="670" dirty="0"/>
          </a:p>
        </p:txBody>
      </p:sp>
      <p:sp>
        <p:nvSpPr>
          <p:cNvPr id="14" name="Text 12"/>
          <p:cNvSpPr/>
          <p:nvPr/>
        </p:nvSpPr>
        <p:spPr>
          <a:xfrm>
            <a:off x="4370709" y="4828109"/>
            <a:ext cx="535400"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5A6570"/>
                </a:solidFill>
                <a:latin typeface="Inter Medium" pitchFamily="34" charset="0"/>
                <a:ea typeface="Inter Medium" pitchFamily="34" charset="-122"/>
                <a:cs typeface="Inter Medium" pitchFamily="34" charset="-120"/>
              </a:rPr>
              <a:t>Devices</a:t>
            </a:r>
            <a:endParaRPr lang="en-US" sz="580" dirty="0"/>
          </a:p>
        </p:txBody>
      </p:sp>
      <p:sp>
        <p:nvSpPr>
          <p:cNvPr id="15" name="Text 13"/>
          <p:cNvSpPr/>
          <p:nvPr/>
        </p:nvSpPr>
        <p:spPr>
          <a:xfrm>
            <a:off x="4370709" y="4942459"/>
            <a:ext cx="1267835" cy="88939"/>
          </a:xfrm>
          <a:prstGeom prst="rect">
            <a:avLst/>
          </a:prstGeom>
          <a:noFill/>
          <a:ln/>
        </p:spPr>
        <p:txBody>
          <a:bodyPr wrap="none" lIns="0" tIns="0" rIns="0" bIns="0" rtlCol="0" anchor="t"/>
          <a:lstStyle/>
          <a:p>
            <a:pPr algn="l" indent="0" marL="0">
              <a:lnSpc>
                <a:spcPts val="700"/>
              </a:lnSpc>
              <a:buNone/>
            </a:pPr>
            <a:r>
              <a:rPr lang="en-US" sz="580" spc="80" kern="0" dirty="0">
                <a:solidFill>
                  <a:srgbClr val="5A6570"/>
                </a:solidFill>
                <a:latin typeface="Inter" pitchFamily="34" charset="0"/>
                <a:ea typeface="Inter" pitchFamily="34" charset="-122"/>
                <a:cs typeface="Inter" pitchFamily="34" charset="-120"/>
              </a:rPr>
              <a:t>Copper · Lithium · Nickel</a:t>
            </a:r>
            <a:endParaRPr lang="en-US" sz="580" dirty="0"/>
          </a:p>
        </p:txBody>
      </p:sp>
      <p:sp>
        <p:nvSpPr>
          <p:cNvPr id="16" name="Text 14"/>
          <p:cNvSpPr/>
          <p:nvPr/>
        </p:nvSpPr>
        <p:spPr>
          <a:xfrm>
            <a:off x="7737680" y="3100154"/>
            <a:ext cx="492598"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Inter Medium" pitchFamily="34" charset="0"/>
                <a:ea typeface="Inter Medium" pitchFamily="34" charset="-122"/>
                <a:cs typeface="Inter Medium" pitchFamily="34" charset="-120"/>
              </a:rPr>
              <a:t>Metals</a:t>
            </a:r>
            <a:endParaRPr lang="en-US" sz="580" dirty="0"/>
          </a:p>
        </p:txBody>
      </p:sp>
      <p:sp>
        <p:nvSpPr>
          <p:cNvPr id="17" name="Text 15"/>
          <p:cNvSpPr/>
          <p:nvPr/>
        </p:nvSpPr>
        <p:spPr>
          <a:xfrm>
            <a:off x="7737680" y="3214504"/>
            <a:ext cx="1667464"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Inter" pitchFamily="34" charset="0"/>
                <a:ea typeface="Inter" pitchFamily="34" charset="-122"/>
                <a:cs typeface="Inter" pitchFamily="34" charset="-120"/>
              </a:rPr>
              <a:t>The materials behind modern life</a:t>
            </a:r>
            <a:endParaRPr lang="en-US" sz="580" dirty="0"/>
          </a:p>
        </p:txBody>
      </p:sp>
      <p:sp>
        <p:nvSpPr>
          <p:cNvPr id="18" name="Text 16"/>
          <p:cNvSpPr/>
          <p:nvPr/>
        </p:nvSpPr>
        <p:spPr>
          <a:xfrm>
            <a:off x="11981333" y="3100154"/>
            <a:ext cx="1305396"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Inter Medium" pitchFamily="34" charset="0"/>
                <a:ea typeface="Inter Medium" pitchFamily="34" charset="-122"/>
                <a:cs typeface="Inter Medium" pitchFamily="34" charset="-120"/>
              </a:rPr>
              <a:t>Smelting &amp; refining</a:t>
            </a:r>
            <a:endParaRPr lang="en-US" sz="580" dirty="0"/>
          </a:p>
        </p:txBody>
      </p:sp>
      <p:sp>
        <p:nvSpPr>
          <p:cNvPr id="19" name="Text 17"/>
          <p:cNvSpPr/>
          <p:nvPr/>
        </p:nvSpPr>
        <p:spPr>
          <a:xfrm>
            <a:off x="7737680" y="4828109"/>
            <a:ext cx="1053171"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Inter Medium" pitchFamily="34" charset="0"/>
                <a:ea typeface="Inter Medium" pitchFamily="34" charset="-122"/>
                <a:cs typeface="Inter Medium" pitchFamily="34" charset="-120"/>
              </a:rPr>
              <a:t>Seaborne trade</a:t>
            </a:r>
            <a:endParaRPr lang="en-US" sz="580" dirty="0"/>
          </a:p>
        </p:txBody>
      </p:sp>
      <p:sp>
        <p:nvSpPr>
          <p:cNvPr id="20" name="Text 18"/>
          <p:cNvSpPr/>
          <p:nvPr/>
        </p:nvSpPr>
        <p:spPr>
          <a:xfrm>
            <a:off x="11053828" y="4828109"/>
            <a:ext cx="1135936"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Inter Medium" pitchFamily="34" charset="0"/>
                <a:ea typeface="Inter Medium" pitchFamily="34" charset="-122"/>
                <a:cs typeface="Inter Medium" pitchFamily="34" charset="-120"/>
              </a:rPr>
              <a:t>Copper cathodes</a:t>
            </a:r>
            <a:endParaRPr lang="en-US" sz="580" dirty="0"/>
          </a:p>
        </p:txBody>
      </p:sp>
      <p:sp>
        <p:nvSpPr>
          <p:cNvPr id="21" name="Text 19"/>
          <p:cNvSpPr/>
          <p:nvPr/>
        </p:nvSpPr>
        <p:spPr>
          <a:xfrm>
            <a:off x="508222" y="5565031"/>
            <a:ext cx="1086364"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INTRODUCTION</a:t>
            </a:r>
            <a:endParaRPr lang="en-US" sz="660" dirty="0"/>
          </a:p>
        </p:txBody>
      </p:sp>
      <p:sp>
        <p:nvSpPr>
          <p:cNvPr id="22" name="Text 20"/>
          <p:cNvSpPr/>
          <p:nvPr/>
        </p:nvSpPr>
        <p:spPr>
          <a:xfrm>
            <a:off x="508222" y="5704792"/>
            <a:ext cx="855322"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導入｜社会と金属</a:t>
            </a:r>
            <a:endParaRPr lang="en-US" sz="660" dirty="0"/>
          </a:p>
        </p:txBody>
      </p:sp>
      <p:sp>
        <p:nvSpPr>
          <p:cNvPr id="23" name="Text 21"/>
          <p:cNvSpPr/>
          <p:nvPr/>
        </p:nvSpPr>
        <p:spPr>
          <a:xfrm>
            <a:off x="508222" y="5965256"/>
            <a:ext cx="4744173" cy="1295966"/>
          </a:xfrm>
          <a:prstGeom prst="rect">
            <a:avLst/>
          </a:prstGeom>
          <a:noFill/>
          <a:ln/>
        </p:spPr>
        <p:txBody>
          <a:bodyPr wrap="none" lIns="0" tIns="0" rIns="0" bIns="0" rtlCol="0" anchor="t"/>
          <a:lstStyle/>
          <a:p>
            <a:pPr algn="l" indent="0" marL="0">
              <a:lnSpc>
                <a:spcPts val="5100"/>
              </a:lnSpc>
              <a:buNone/>
            </a:pPr>
            <a:r>
              <a:rPr lang="en-US" sz="5000" spc="-125" kern="0" dirty="0">
                <a:solidFill>
                  <a:srgbClr val="121519"/>
                </a:solidFill>
                <a:latin typeface="Inter Tight SemiBold" pitchFamily="34" charset="0"/>
                <a:ea typeface="Inter Tight SemiBold" pitchFamily="34" charset="-122"/>
                <a:cs typeface="Inter Tight SemiBold" pitchFamily="34" charset="-120"/>
              </a:rPr>
              <a:t>Metals shape</a:t>
            </a:r>
            <a:endParaRPr lang="en-US" sz="5000" dirty="0"/>
          </a:p>
          <a:p>
            <a:pPr algn="l" indent="0" marL="0">
              <a:lnSpc>
                <a:spcPts val="5100"/>
              </a:lnSpc>
              <a:buNone/>
            </a:pPr>
            <a:r>
              <a:rPr lang="en-US" sz="5000" spc="-125" kern="0" dirty="0">
                <a:solidFill>
                  <a:srgbClr val="121519"/>
                </a:solidFill>
                <a:latin typeface="Inter Tight SemiBold" pitchFamily="34" charset="0"/>
                <a:ea typeface="Inter Tight SemiBold" pitchFamily="34" charset="-122"/>
                <a:cs typeface="Inter Tight SemiBold" pitchFamily="34" charset="-120"/>
              </a:rPr>
              <a:t>the way we live.</a:t>
            </a:r>
            <a:endParaRPr lang="en-US" sz="5000" dirty="0"/>
          </a:p>
        </p:txBody>
      </p:sp>
      <p:sp>
        <p:nvSpPr>
          <p:cNvPr id="24" name="Text 22"/>
          <p:cNvSpPr/>
          <p:nvPr/>
        </p:nvSpPr>
        <p:spPr>
          <a:xfrm>
            <a:off x="508222" y="7512156"/>
            <a:ext cx="3271004" cy="285875"/>
          </a:xfrm>
          <a:prstGeom prst="rect">
            <a:avLst/>
          </a:prstGeom>
          <a:noFill/>
          <a:ln/>
        </p:spPr>
        <p:txBody>
          <a:bodyPr wrap="none" lIns="0" tIns="0" rIns="0" bIns="0" rtlCol="0" anchor="t"/>
          <a:lstStyle/>
          <a:p>
            <a:pPr algn="l" indent="0" marL="0">
              <a:lnSpc>
                <a:spcPts val="2250"/>
              </a:lnSpc>
              <a:buNone/>
            </a:pPr>
            <a:r>
              <a:rPr lang="en-US" sz="1500" spc="50" kern="0" dirty="0">
                <a:solidFill>
                  <a:srgbClr val="121519"/>
                </a:solidFill>
                <a:latin typeface="Noto Sans JP Medium" pitchFamily="34" charset="0"/>
                <a:ea typeface="Noto Sans JP Medium" pitchFamily="34" charset="-122"/>
                <a:cs typeface="Noto Sans JP Medium" pitchFamily="34" charset="-120"/>
              </a:rPr>
              <a:t>暮らしのすべてに、金属がある。</a:t>
            </a:r>
            <a:endParaRPr lang="en-US" sz="1500" dirty="0"/>
          </a:p>
        </p:txBody>
      </p:sp>
      <p:sp>
        <p:nvSpPr>
          <p:cNvPr id="25" name="Text 23"/>
          <p:cNvSpPr/>
          <p:nvPr/>
        </p:nvSpPr>
        <p:spPr>
          <a:xfrm>
            <a:off x="508222" y="7869532"/>
            <a:ext cx="3544848" cy="904953"/>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ビル、鉄道、自動車、スマートフォン、送電網、再生可能エネルギー</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——私たちの豊かな暮らしは、鉄や銅をはじめとする金属に支えられて</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います。人口の増加と新興国の発展、そして社会の電化によって、金</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属の需要はこれからも拡大を続けます。一方で、良質な資源の開発は</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年々難しくなり、地政学的なリスクも常態化しつつあります。</a:t>
            </a:r>
            <a:endParaRPr lang="en-US" sz="770" dirty="0"/>
          </a:p>
        </p:txBody>
      </p:sp>
      <p:sp>
        <p:nvSpPr>
          <p:cNvPr id="26" name="Text 24"/>
          <p:cNvSpPr/>
          <p:nvPr/>
        </p:nvSpPr>
        <p:spPr>
          <a:xfrm>
            <a:off x="4319887" y="7877441"/>
            <a:ext cx="1418297"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3D4249"/>
                </a:solidFill>
                <a:latin typeface="Inter SemiBold" pitchFamily="34" charset="0"/>
                <a:ea typeface="Inter SemiBold" pitchFamily="34" charset="-122"/>
                <a:cs typeface="Inter SemiBold" pitchFamily="34" charset="-120"/>
              </a:rPr>
              <a:t>DEMAND vs SUPPLY</a:t>
            </a:r>
            <a:endParaRPr lang="en-US" sz="660" dirty="0"/>
          </a:p>
        </p:txBody>
      </p:sp>
      <p:sp>
        <p:nvSpPr>
          <p:cNvPr id="27" name="Text 25"/>
          <p:cNvSpPr/>
          <p:nvPr/>
        </p:nvSpPr>
        <p:spPr>
          <a:xfrm>
            <a:off x="6162192" y="8156963"/>
            <a:ext cx="432108"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Inter Medium" pitchFamily="34" charset="0"/>
                <a:ea typeface="Inter Medium" pitchFamily="34" charset="-122"/>
                <a:cs typeface="Inter Medium" pitchFamily="34" charset="-120"/>
              </a:rPr>
              <a:t>Demand</a:t>
            </a:r>
            <a:endParaRPr lang="en-US" sz="640" dirty="0"/>
          </a:p>
        </p:txBody>
      </p:sp>
      <p:sp>
        <p:nvSpPr>
          <p:cNvPr id="28" name="Text 26"/>
          <p:cNvSpPr/>
          <p:nvPr/>
        </p:nvSpPr>
        <p:spPr>
          <a:xfrm>
            <a:off x="6162192" y="8265214"/>
            <a:ext cx="520114" cy="113842"/>
          </a:xfrm>
          <a:prstGeom prst="rect">
            <a:avLst/>
          </a:prstGeom>
          <a:noFill/>
          <a:ln/>
        </p:spPr>
        <p:txBody>
          <a:bodyPr wrap="none" lIns="0" tIns="0" rIns="0" bIns="0" rtlCol="0" anchor="t"/>
          <a:lstStyle/>
          <a:p>
            <a:pPr algn="l" indent="0" marL="0">
              <a:lnSpc>
                <a:spcPts val="896"/>
              </a:lnSpc>
              <a:buNone/>
            </a:pPr>
            <a:r>
              <a:rPr lang="en-US" sz="560" dirty="0">
                <a:solidFill>
                  <a:srgbClr val="7D838A"/>
                </a:solidFill>
                <a:latin typeface="Noto Sans JP" pitchFamily="34" charset="0"/>
                <a:ea typeface="Noto Sans JP" pitchFamily="34" charset="-122"/>
                <a:cs typeface="Noto Sans JP" pitchFamily="34" charset="-120"/>
              </a:rPr>
              <a:t>人口増・電化</a:t>
            </a:r>
            <a:endParaRPr lang="en-US" sz="560" dirty="0"/>
          </a:p>
        </p:txBody>
      </p:sp>
      <p:sp>
        <p:nvSpPr>
          <p:cNvPr id="29" name="Text 27"/>
          <p:cNvSpPr/>
          <p:nvPr/>
        </p:nvSpPr>
        <p:spPr>
          <a:xfrm>
            <a:off x="6263836" y="8817651"/>
            <a:ext cx="37249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7D838A"/>
                </a:solidFill>
                <a:latin typeface="Inter Medium" pitchFamily="34" charset="0"/>
                <a:ea typeface="Inter Medium" pitchFamily="34" charset="-122"/>
                <a:cs typeface="Inter Medium" pitchFamily="34" charset="-120"/>
              </a:rPr>
              <a:t>Supply</a:t>
            </a:r>
            <a:endParaRPr lang="en-US" sz="640" dirty="0"/>
          </a:p>
        </p:txBody>
      </p:sp>
      <p:sp>
        <p:nvSpPr>
          <p:cNvPr id="30" name="Text 28"/>
          <p:cNvSpPr/>
          <p:nvPr/>
        </p:nvSpPr>
        <p:spPr>
          <a:xfrm>
            <a:off x="6263836" y="8925903"/>
            <a:ext cx="676471" cy="113842"/>
          </a:xfrm>
          <a:prstGeom prst="rect">
            <a:avLst/>
          </a:prstGeom>
          <a:noFill/>
          <a:ln/>
        </p:spPr>
        <p:txBody>
          <a:bodyPr wrap="none" lIns="0" tIns="0" rIns="0" bIns="0" rtlCol="0" anchor="t"/>
          <a:lstStyle/>
          <a:p>
            <a:pPr algn="l" indent="0" marL="0">
              <a:lnSpc>
                <a:spcPts val="896"/>
              </a:lnSpc>
              <a:buNone/>
            </a:pPr>
            <a:r>
              <a:rPr lang="en-US" sz="560" dirty="0">
                <a:solidFill>
                  <a:srgbClr val="7D838A"/>
                </a:solidFill>
                <a:latin typeface="Noto Sans JP" pitchFamily="34" charset="0"/>
                <a:ea typeface="Noto Sans JP" pitchFamily="34" charset="-122"/>
                <a:cs typeface="Noto Sans JP" pitchFamily="34" charset="-120"/>
              </a:rPr>
              <a:t>供給制約・地政学</a:t>
            </a:r>
            <a:endParaRPr lang="en-US" sz="560" dirty="0"/>
          </a:p>
        </p:txBody>
      </p:sp>
      <p:sp>
        <p:nvSpPr>
          <p:cNvPr id="31" name="Text 29"/>
          <p:cNvSpPr/>
          <p:nvPr/>
        </p:nvSpPr>
        <p:spPr>
          <a:xfrm>
            <a:off x="5730203" y="8716007"/>
            <a:ext cx="323575"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GAP</a:t>
            </a:r>
            <a:endParaRPr lang="en-US" sz="660" dirty="0"/>
          </a:p>
        </p:txBody>
      </p:sp>
      <p:sp>
        <p:nvSpPr>
          <p:cNvPr id="32" name="Text 30"/>
          <p:cNvSpPr/>
          <p:nvPr/>
        </p:nvSpPr>
        <p:spPr>
          <a:xfrm>
            <a:off x="4396120" y="9372630"/>
            <a:ext cx="264395" cy="109776"/>
          </a:xfrm>
          <a:prstGeom prst="rect">
            <a:avLst/>
          </a:prstGeom>
          <a:noFill/>
          <a:ln/>
        </p:spPr>
        <p:txBody>
          <a:bodyPr wrap="none" lIns="0" tIns="0" rIns="0" bIns="0" rtlCol="0" anchor="t"/>
          <a:lstStyle/>
          <a:p>
            <a:pPr algn="l" indent="0" marL="0">
              <a:lnSpc>
                <a:spcPts val="864"/>
              </a:lnSpc>
              <a:buNone/>
            </a:pPr>
            <a:r>
              <a:rPr lang="en-US" sz="540" dirty="0">
                <a:solidFill>
                  <a:srgbClr val="7D838A"/>
                </a:solidFill>
                <a:latin typeface="Noto Sans JP" pitchFamily="34" charset="0"/>
                <a:ea typeface="Noto Sans JP" pitchFamily="34" charset="-122"/>
                <a:cs typeface="Noto Sans JP" pitchFamily="34" charset="-120"/>
              </a:rPr>
              <a:t>Today</a:t>
            </a:r>
            <a:endParaRPr lang="en-US" sz="540" dirty="0"/>
          </a:p>
        </p:txBody>
      </p:sp>
      <p:sp>
        <p:nvSpPr>
          <p:cNvPr id="33" name="Text 31"/>
          <p:cNvSpPr/>
          <p:nvPr/>
        </p:nvSpPr>
        <p:spPr>
          <a:xfrm>
            <a:off x="6543358" y="9372630"/>
            <a:ext cx="280773" cy="109776"/>
          </a:xfrm>
          <a:prstGeom prst="rect">
            <a:avLst/>
          </a:prstGeom>
          <a:noFill/>
          <a:ln/>
        </p:spPr>
        <p:txBody>
          <a:bodyPr wrap="none" lIns="0" tIns="0" rIns="0" bIns="0" rtlCol="0" anchor="t"/>
          <a:lstStyle/>
          <a:p>
            <a:pPr algn="l" indent="0" marL="0">
              <a:lnSpc>
                <a:spcPts val="864"/>
              </a:lnSpc>
              <a:buNone/>
            </a:pPr>
            <a:r>
              <a:rPr lang="en-US" sz="540" dirty="0">
                <a:solidFill>
                  <a:srgbClr val="7D838A"/>
                </a:solidFill>
                <a:latin typeface="Noto Sans JP" pitchFamily="34" charset="0"/>
                <a:ea typeface="Noto Sans JP" pitchFamily="34" charset="-122"/>
                <a:cs typeface="Noto Sans JP" pitchFamily="34" charset="-120"/>
              </a:rPr>
              <a:t>Future</a:t>
            </a:r>
            <a:endParaRPr lang="en-US" sz="540" dirty="0"/>
          </a:p>
        </p:txBody>
      </p:sp>
      <p:sp>
        <p:nvSpPr>
          <p:cNvPr id="34" name="Text 32"/>
          <p:cNvSpPr/>
          <p:nvPr/>
        </p:nvSpPr>
        <p:spPr>
          <a:xfrm>
            <a:off x="8068024" y="5565031"/>
            <a:ext cx="1095318"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CORE MESSAGE</a:t>
            </a:r>
            <a:endParaRPr lang="en-US" sz="660" dirty="0"/>
          </a:p>
        </p:txBody>
      </p:sp>
      <p:sp>
        <p:nvSpPr>
          <p:cNvPr id="35" name="Text 33"/>
          <p:cNvSpPr/>
          <p:nvPr/>
        </p:nvSpPr>
        <p:spPr>
          <a:xfrm>
            <a:off x="8068024" y="5704792"/>
            <a:ext cx="748317"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コアメッセージ</a:t>
            </a:r>
            <a:endParaRPr lang="en-US" sz="660" dirty="0"/>
          </a:p>
        </p:txBody>
      </p:sp>
      <p:sp>
        <p:nvSpPr>
          <p:cNvPr id="36" name="Text 34"/>
          <p:cNvSpPr/>
          <p:nvPr/>
        </p:nvSpPr>
        <p:spPr>
          <a:xfrm>
            <a:off x="8068024" y="5964620"/>
            <a:ext cx="4628652" cy="1120629"/>
          </a:xfrm>
          <a:prstGeom prst="rect">
            <a:avLst/>
          </a:prstGeom>
          <a:noFill/>
          <a:ln/>
        </p:spPr>
        <p:txBody>
          <a:bodyPr wrap="none" lIns="0" tIns="0" rIns="0" bIns="0" rtlCol="0" anchor="t"/>
          <a:lstStyle/>
          <a:p>
            <a:pPr algn="l" indent="0" marL="0">
              <a:lnSpc>
                <a:spcPts val="4410"/>
              </a:lnSpc>
              <a:buNone/>
            </a:pPr>
            <a:r>
              <a:rPr lang="en-US" sz="4200" spc="-84" kern="0" dirty="0">
                <a:solidFill>
                  <a:srgbClr val="121519"/>
                </a:solidFill>
                <a:latin typeface="Inter Tight Light" pitchFamily="34" charset="0"/>
                <a:ea typeface="Inter Tight Light" pitchFamily="34" charset="-122"/>
                <a:cs typeface="Inter Tight Light" pitchFamily="34" charset="-120"/>
              </a:rPr>
              <a:t>Strength to Hold.</a:t>
            </a:r>
            <a:endParaRPr lang="en-US" sz="4200" dirty="0"/>
          </a:p>
          <a:p>
            <a:pPr algn="l" indent="0" marL="0">
              <a:lnSpc>
                <a:spcPts val="4410"/>
              </a:lnSpc>
              <a:buNone/>
            </a:pPr>
            <a:r>
              <a:rPr lang="en-US" sz="4200" spc="-84" kern="0" dirty="0">
                <a:solidFill>
                  <a:srgbClr val="121519"/>
                </a:solidFill>
                <a:latin typeface="Inter Tight Light" pitchFamily="34" charset="0"/>
                <a:ea typeface="Inter Tight Light" pitchFamily="34" charset="-122"/>
                <a:cs typeface="Inter Tight Light" pitchFamily="34" charset="-120"/>
              </a:rPr>
              <a:t>Power to Connect.</a:t>
            </a:r>
            <a:endParaRPr lang="en-US" sz="4200" dirty="0"/>
          </a:p>
        </p:txBody>
      </p:sp>
      <p:sp>
        <p:nvSpPr>
          <p:cNvPr id="37" name="Text 35"/>
          <p:cNvSpPr/>
          <p:nvPr/>
        </p:nvSpPr>
        <p:spPr>
          <a:xfrm>
            <a:off x="8068024" y="7188165"/>
            <a:ext cx="1930390" cy="247758"/>
          </a:xfrm>
          <a:prstGeom prst="rect">
            <a:avLst/>
          </a:prstGeom>
          <a:noFill/>
          <a:ln/>
        </p:spPr>
        <p:txBody>
          <a:bodyPr wrap="none" lIns="0" tIns="0" rIns="0" bIns="0" rtlCol="0" anchor="t"/>
          <a:lstStyle/>
          <a:p>
            <a:pPr algn="l" indent="0" marL="0">
              <a:lnSpc>
                <a:spcPts val="1950"/>
              </a:lnSpc>
              <a:buNone/>
            </a:pPr>
            <a:r>
              <a:rPr lang="en-US" sz="1300" spc="50" kern="0" dirty="0">
                <a:solidFill>
                  <a:srgbClr val="121519"/>
                </a:solidFill>
                <a:latin typeface="Noto Sans JP Medium" pitchFamily="34" charset="0"/>
                <a:ea typeface="Noto Sans JP Medium" pitchFamily="34" charset="-122"/>
                <a:cs typeface="Noto Sans JP Medium" pitchFamily="34" charset="-120"/>
              </a:rPr>
              <a:t>持つ力と、つなぐ力。</a:t>
            </a:r>
            <a:endParaRPr lang="en-US" sz="1300" dirty="0"/>
          </a:p>
        </p:txBody>
      </p:sp>
      <p:sp>
        <p:nvSpPr>
          <p:cNvPr id="38" name="Text 36"/>
          <p:cNvSpPr/>
          <p:nvPr/>
        </p:nvSpPr>
        <p:spPr>
          <a:xfrm>
            <a:off x="8068024" y="7488365"/>
            <a:ext cx="4243654" cy="904953"/>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資源は、そこに「ある」だけでは、まだ価値ではありません。誰かが見出し、育て、</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必要とする場所へ届けて、はじめて力になる。私たちは、世界有数の資産に関わり、</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投資とトレーディングの両輪で川上から川下までをつなぎます。フェアな立場だから</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こそ、埋められる隙間がある。多様なパートナーと使い手の間に立ち、その時々の最</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適解を導く。世界に眠る価値を、社会の力へ。</a:t>
            </a:r>
            <a:endParaRPr lang="en-US" sz="770" dirty="0"/>
          </a:p>
        </p:txBody>
      </p:sp>
      <p:sp>
        <p:nvSpPr>
          <p:cNvPr id="39" name="Text 37"/>
          <p:cNvSpPr/>
          <p:nvPr/>
        </p:nvSpPr>
        <p:spPr>
          <a:xfrm>
            <a:off x="12260855" y="7496274"/>
            <a:ext cx="779108"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CONTENTS</a:t>
            </a:r>
            <a:endParaRPr lang="en-US" sz="660" dirty="0"/>
          </a:p>
        </p:txBody>
      </p:sp>
      <p:sp>
        <p:nvSpPr>
          <p:cNvPr id="40" name="Text 38"/>
          <p:cNvSpPr/>
          <p:nvPr/>
        </p:nvSpPr>
        <p:spPr>
          <a:xfrm>
            <a:off x="12260855" y="7775796"/>
            <a:ext cx="154114"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01</a:t>
            </a:r>
            <a:endParaRPr lang="en-US" sz="640" dirty="0"/>
          </a:p>
        </p:txBody>
      </p:sp>
      <p:sp>
        <p:nvSpPr>
          <p:cNvPr id="41" name="Text 39"/>
          <p:cNvSpPr/>
          <p:nvPr/>
        </p:nvSpPr>
        <p:spPr>
          <a:xfrm>
            <a:off x="12514966" y="7775796"/>
            <a:ext cx="623842"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Inter Medium" pitchFamily="34" charset="0"/>
                <a:ea typeface="Inter Medium" pitchFamily="34" charset="-122"/>
                <a:cs typeface="Inter Medium" pitchFamily="34" charset="-120"/>
              </a:rPr>
              <a:t>Who We Are</a:t>
            </a:r>
            <a:endParaRPr lang="en-US" sz="640" dirty="0"/>
          </a:p>
        </p:txBody>
      </p:sp>
      <p:sp>
        <p:nvSpPr>
          <p:cNvPr id="42" name="Text 40"/>
          <p:cNvSpPr/>
          <p:nvPr/>
        </p:nvSpPr>
        <p:spPr>
          <a:xfrm>
            <a:off x="14357271" y="7775796"/>
            <a:ext cx="305013" cy="76233"/>
          </a:xfrm>
          <a:prstGeom prst="rect">
            <a:avLst/>
          </a:prstGeom>
          <a:noFill/>
          <a:ln/>
        </p:spPr>
        <p:txBody>
          <a:bodyPr wrap="none" lIns="0" tIns="0" rIns="0" bIns="0" rtlCol="0" anchor="t"/>
          <a:lstStyle/>
          <a:p>
            <a:pPr algn="l" indent="0" marL="0">
              <a:lnSpc>
                <a:spcPts val="600"/>
              </a:lnSpc>
              <a:buNone/>
            </a:pPr>
            <a:r>
              <a:rPr lang="en-US" sz="540" spc="160" kern="0" dirty="0">
                <a:solidFill>
                  <a:srgbClr val="7D838A"/>
                </a:solidFill>
                <a:latin typeface="Inter Medium" pitchFamily="34" charset="0"/>
                <a:ea typeface="Inter Medium" pitchFamily="34" charset="-122"/>
                <a:cs typeface="Inter Medium" pitchFamily="34" charset="-120"/>
              </a:rPr>
              <a:t>P.04</a:t>
            </a:r>
            <a:endParaRPr lang="en-US" sz="540" dirty="0"/>
          </a:p>
        </p:txBody>
      </p:sp>
      <p:sp>
        <p:nvSpPr>
          <p:cNvPr id="43" name="Text 41"/>
          <p:cNvSpPr/>
          <p:nvPr/>
        </p:nvSpPr>
        <p:spPr>
          <a:xfrm>
            <a:off x="12260855" y="8042613"/>
            <a:ext cx="17202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02</a:t>
            </a:r>
            <a:endParaRPr lang="en-US" sz="640" dirty="0"/>
          </a:p>
        </p:txBody>
      </p:sp>
      <p:sp>
        <p:nvSpPr>
          <p:cNvPr id="44" name="Text 42"/>
          <p:cNvSpPr/>
          <p:nvPr/>
        </p:nvSpPr>
        <p:spPr>
          <a:xfrm>
            <a:off x="12514966" y="8042613"/>
            <a:ext cx="70071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Inter Medium" pitchFamily="34" charset="0"/>
                <a:ea typeface="Inter Medium" pitchFamily="34" charset="-122"/>
                <a:cs typeface="Inter Medium" pitchFamily="34" charset="-120"/>
              </a:rPr>
              <a:t>Our Strengths</a:t>
            </a:r>
            <a:endParaRPr lang="en-US" sz="640" dirty="0"/>
          </a:p>
        </p:txBody>
      </p:sp>
      <p:sp>
        <p:nvSpPr>
          <p:cNvPr id="45" name="Text 43"/>
          <p:cNvSpPr/>
          <p:nvPr/>
        </p:nvSpPr>
        <p:spPr>
          <a:xfrm>
            <a:off x="14357271" y="8042613"/>
            <a:ext cx="301082" cy="76233"/>
          </a:xfrm>
          <a:prstGeom prst="rect">
            <a:avLst/>
          </a:prstGeom>
          <a:noFill/>
          <a:ln/>
        </p:spPr>
        <p:txBody>
          <a:bodyPr wrap="none" lIns="0" tIns="0" rIns="0" bIns="0" rtlCol="0" anchor="t"/>
          <a:lstStyle/>
          <a:p>
            <a:pPr algn="l" indent="0" marL="0">
              <a:lnSpc>
                <a:spcPts val="600"/>
              </a:lnSpc>
              <a:buNone/>
            </a:pPr>
            <a:r>
              <a:rPr lang="en-US" sz="540" spc="160" kern="0" dirty="0">
                <a:solidFill>
                  <a:srgbClr val="7D838A"/>
                </a:solidFill>
                <a:latin typeface="Inter Medium" pitchFamily="34" charset="0"/>
                <a:ea typeface="Inter Medium" pitchFamily="34" charset="-122"/>
                <a:cs typeface="Inter Medium" pitchFamily="34" charset="-120"/>
              </a:rPr>
              <a:t>P.05</a:t>
            </a:r>
            <a:endParaRPr lang="en-US" sz="540" dirty="0"/>
          </a:p>
        </p:txBody>
      </p:sp>
      <p:sp>
        <p:nvSpPr>
          <p:cNvPr id="46" name="Text 44"/>
          <p:cNvSpPr/>
          <p:nvPr/>
        </p:nvSpPr>
        <p:spPr>
          <a:xfrm>
            <a:off x="12260855" y="8309429"/>
            <a:ext cx="172895"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03</a:t>
            </a:r>
            <a:endParaRPr lang="en-US" sz="640" dirty="0"/>
          </a:p>
        </p:txBody>
      </p:sp>
      <p:sp>
        <p:nvSpPr>
          <p:cNvPr id="47" name="Text 45"/>
          <p:cNvSpPr/>
          <p:nvPr/>
        </p:nvSpPr>
        <p:spPr>
          <a:xfrm>
            <a:off x="12514966" y="8309429"/>
            <a:ext cx="721894"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Inter Medium" pitchFamily="34" charset="0"/>
                <a:ea typeface="Inter Medium" pitchFamily="34" charset="-122"/>
                <a:cs typeface="Inter Medium" pitchFamily="34" charset="-120"/>
              </a:rPr>
              <a:t>Coal &amp; Copper</a:t>
            </a:r>
            <a:endParaRPr lang="en-US" sz="640" dirty="0"/>
          </a:p>
        </p:txBody>
      </p:sp>
      <p:sp>
        <p:nvSpPr>
          <p:cNvPr id="48" name="Text 46"/>
          <p:cNvSpPr/>
          <p:nvPr/>
        </p:nvSpPr>
        <p:spPr>
          <a:xfrm>
            <a:off x="14357271" y="8309429"/>
            <a:ext cx="303047" cy="76233"/>
          </a:xfrm>
          <a:prstGeom prst="rect">
            <a:avLst/>
          </a:prstGeom>
          <a:noFill/>
          <a:ln/>
        </p:spPr>
        <p:txBody>
          <a:bodyPr wrap="none" lIns="0" tIns="0" rIns="0" bIns="0" rtlCol="0" anchor="t"/>
          <a:lstStyle/>
          <a:p>
            <a:pPr algn="l" indent="0" marL="0">
              <a:lnSpc>
                <a:spcPts val="600"/>
              </a:lnSpc>
              <a:buNone/>
            </a:pPr>
            <a:r>
              <a:rPr lang="en-US" sz="540" spc="160" kern="0" dirty="0">
                <a:solidFill>
                  <a:srgbClr val="7D838A"/>
                </a:solidFill>
                <a:latin typeface="Inter Medium" pitchFamily="34" charset="0"/>
                <a:ea typeface="Inter Medium" pitchFamily="34" charset="-122"/>
                <a:cs typeface="Inter Medium" pitchFamily="34" charset="-120"/>
              </a:rPr>
              <a:t>P.06</a:t>
            </a:r>
            <a:endParaRPr lang="en-US" sz="540" dirty="0"/>
          </a:p>
        </p:txBody>
      </p:sp>
      <p:sp>
        <p:nvSpPr>
          <p:cNvPr id="49" name="Text 47"/>
          <p:cNvSpPr/>
          <p:nvPr/>
        </p:nvSpPr>
        <p:spPr>
          <a:xfrm>
            <a:off x="12260855" y="8576246"/>
            <a:ext cx="175515"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04</a:t>
            </a:r>
            <a:endParaRPr lang="en-US" sz="640" dirty="0"/>
          </a:p>
        </p:txBody>
      </p:sp>
      <p:sp>
        <p:nvSpPr>
          <p:cNvPr id="50" name="Text 48"/>
          <p:cNvSpPr/>
          <p:nvPr/>
        </p:nvSpPr>
        <p:spPr>
          <a:xfrm>
            <a:off x="12514966" y="8576246"/>
            <a:ext cx="945293"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Inter Medium" pitchFamily="34" charset="0"/>
                <a:ea typeface="Inter Medium" pitchFamily="34" charset="-122"/>
                <a:cs typeface="Inter Medium" pitchFamily="34" charset="-120"/>
              </a:rPr>
              <a:t>Resources to Value</a:t>
            </a:r>
            <a:endParaRPr lang="en-US" sz="640" dirty="0"/>
          </a:p>
        </p:txBody>
      </p:sp>
      <p:sp>
        <p:nvSpPr>
          <p:cNvPr id="51" name="Text 49"/>
          <p:cNvSpPr/>
          <p:nvPr/>
        </p:nvSpPr>
        <p:spPr>
          <a:xfrm>
            <a:off x="14357271" y="8576246"/>
            <a:ext cx="303047" cy="76233"/>
          </a:xfrm>
          <a:prstGeom prst="rect">
            <a:avLst/>
          </a:prstGeom>
          <a:noFill/>
          <a:ln/>
        </p:spPr>
        <p:txBody>
          <a:bodyPr wrap="none" lIns="0" tIns="0" rIns="0" bIns="0" rtlCol="0" anchor="t"/>
          <a:lstStyle/>
          <a:p>
            <a:pPr algn="l" indent="0" marL="0">
              <a:lnSpc>
                <a:spcPts val="600"/>
              </a:lnSpc>
              <a:buNone/>
            </a:pPr>
            <a:r>
              <a:rPr lang="en-US" sz="540" spc="160" kern="0" dirty="0">
                <a:solidFill>
                  <a:srgbClr val="7D838A"/>
                </a:solidFill>
                <a:latin typeface="Inter Medium" pitchFamily="34" charset="0"/>
                <a:ea typeface="Inter Medium" pitchFamily="34" charset="-122"/>
                <a:cs typeface="Inter Medium" pitchFamily="34" charset="-120"/>
              </a:rPr>
              <a:t>P.08</a:t>
            </a:r>
            <a:endParaRPr lang="en-US" sz="540" dirty="0"/>
          </a:p>
        </p:txBody>
      </p:sp>
      <p:sp>
        <p:nvSpPr>
          <p:cNvPr id="52" name="Text 50"/>
          <p:cNvSpPr/>
          <p:nvPr/>
        </p:nvSpPr>
        <p:spPr>
          <a:xfrm>
            <a:off x="12260855" y="8843063"/>
            <a:ext cx="170929"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05</a:t>
            </a:r>
            <a:endParaRPr lang="en-US" sz="640" dirty="0"/>
          </a:p>
        </p:txBody>
      </p:sp>
      <p:sp>
        <p:nvSpPr>
          <p:cNvPr id="53" name="Text 51"/>
          <p:cNvSpPr/>
          <p:nvPr/>
        </p:nvSpPr>
        <p:spPr>
          <a:xfrm>
            <a:off x="12514966" y="8843063"/>
            <a:ext cx="643715"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Inter Medium" pitchFamily="34" charset="0"/>
                <a:ea typeface="Inter Medium" pitchFamily="34" charset="-122"/>
                <a:cs typeface="Inter Medium" pitchFamily="34" charset="-120"/>
              </a:rPr>
              <a:t>Partnerships</a:t>
            </a:r>
            <a:endParaRPr lang="en-US" sz="640" dirty="0"/>
          </a:p>
        </p:txBody>
      </p:sp>
      <p:sp>
        <p:nvSpPr>
          <p:cNvPr id="54" name="Text 52"/>
          <p:cNvSpPr/>
          <p:nvPr/>
        </p:nvSpPr>
        <p:spPr>
          <a:xfrm>
            <a:off x="14357271" y="8843063"/>
            <a:ext cx="303047" cy="76233"/>
          </a:xfrm>
          <a:prstGeom prst="rect">
            <a:avLst/>
          </a:prstGeom>
          <a:noFill/>
          <a:ln/>
        </p:spPr>
        <p:txBody>
          <a:bodyPr wrap="none" lIns="0" tIns="0" rIns="0" bIns="0" rtlCol="0" anchor="t"/>
          <a:lstStyle/>
          <a:p>
            <a:pPr algn="l" indent="0" marL="0">
              <a:lnSpc>
                <a:spcPts val="600"/>
              </a:lnSpc>
              <a:buNone/>
            </a:pPr>
            <a:r>
              <a:rPr lang="en-US" sz="540" spc="160" kern="0" dirty="0">
                <a:solidFill>
                  <a:srgbClr val="7D838A"/>
                </a:solidFill>
                <a:latin typeface="Inter Medium" pitchFamily="34" charset="0"/>
                <a:ea typeface="Inter Medium" pitchFamily="34" charset="-122"/>
                <a:cs typeface="Inter Medium" pitchFamily="34" charset="-120"/>
              </a:rPr>
              <a:t>P.09</a:t>
            </a:r>
            <a:endParaRPr lang="en-US" sz="540" dirty="0"/>
          </a:p>
        </p:txBody>
      </p:sp>
      <p:sp>
        <p:nvSpPr>
          <p:cNvPr id="55" name="Text 53"/>
          <p:cNvSpPr/>
          <p:nvPr/>
        </p:nvSpPr>
        <p:spPr>
          <a:xfrm>
            <a:off x="12260855" y="9109879"/>
            <a:ext cx="17333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06</a:t>
            </a:r>
            <a:endParaRPr lang="en-US" sz="640" dirty="0"/>
          </a:p>
        </p:txBody>
      </p:sp>
      <p:sp>
        <p:nvSpPr>
          <p:cNvPr id="56" name="Text 54"/>
          <p:cNvSpPr/>
          <p:nvPr/>
        </p:nvSpPr>
        <p:spPr>
          <a:xfrm>
            <a:off x="12514966" y="9109879"/>
            <a:ext cx="605062"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Inter Medium" pitchFamily="34" charset="0"/>
                <a:ea typeface="Inter Medium" pitchFamily="34" charset="-122"/>
                <a:cs typeface="Inter Medium" pitchFamily="34" charset="-120"/>
              </a:rPr>
              <a:t>Value Chain</a:t>
            </a:r>
            <a:endParaRPr lang="en-US" sz="640" dirty="0"/>
          </a:p>
        </p:txBody>
      </p:sp>
      <p:sp>
        <p:nvSpPr>
          <p:cNvPr id="57" name="Text 55"/>
          <p:cNvSpPr/>
          <p:nvPr/>
        </p:nvSpPr>
        <p:spPr>
          <a:xfrm>
            <a:off x="14357271" y="9109879"/>
            <a:ext cx="282301" cy="76233"/>
          </a:xfrm>
          <a:prstGeom prst="rect">
            <a:avLst/>
          </a:prstGeom>
          <a:noFill/>
          <a:ln/>
        </p:spPr>
        <p:txBody>
          <a:bodyPr wrap="none" lIns="0" tIns="0" rIns="0" bIns="0" rtlCol="0" anchor="t"/>
          <a:lstStyle/>
          <a:p>
            <a:pPr algn="l" indent="0" marL="0">
              <a:lnSpc>
                <a:spcPts val="600"/>
              </a:lnSpc>
              <a:buNone/>
            </a:pPr>
            <a:r>
              <a:rPr lang="en-US" sz="540" spc="160" kern="0" dirty="0">
                <a:solidFill>
                  <a:srgbClr val="7D838A"/>
                </a:solidFill>
                <a:latin typeface="Inter Medium" pitchFamily="34" charset="0"/>
                <a:ea typeface="Inter Medium" pitchFamily="34" charset="-122"/>
                <a:cs typeface="Inter Medium" pitchFamily="34" charset="-120"/>
              </a:rPr>
              <a:t>P.10</a:t>
            </a:r>
            <a:endParaRPr lang="en-US" sz="540" dirty="0"/>
          </a:p>
        </p:txBody>
      </p:sp>
      <p:sp>
        <p:nvSpPr>
          <p:cNvPr id="58" name="Text 56"/>
          <p:cNvSpPr/>
          <p:nvPr/>
        </p:nvSpPr>
        <p:spPr>
          <a:xfrm>
            <a:off x="508222" y="10316906"/>
            <a:ext cx="201502"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02</a:t>
            </a:r>
            <a:endParaRPr lang="en-US" sz="600" dirty="0"/>
          </a:p>
        </p:txBody>
      </p:sp>
      <p:sp>
        <p:nvSpPr>
          <p:cNvPr id="59" name="Text 57"/>
          <p:cNvSpPr/>
          <p:nvPr/>
        </p:nvSpPr>
        <p:spPr>
          <a:xfrm>
            <a:off x="14458915" y="10316906"/>
            <a:ext cx="202376"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03</a:t>
            </a:r>
            <a:endParaRPr lang="en-US" sz="600" dirty="0"/>
          </a:p>
        </p:txBody>
      </p:sp>
      <p:sp>
        <p:nvSpPr>
          <p:cNvPr id="60" name="Text 58"/>
          <p:cNvSpPr/>
          <p:nvPr/>
        </p:nvSpPr>
        <p:spPr>
          <a:xfrm>
            <a:off x="876683" y="10328977"/>
            <a:ext cx="6501450" cy="102915"/>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台割メモ｜動画01 OPENING。地球儀は使わず、暮らしと金属の写真を見開きで1枚のモザイクに（左＝暮らし、右＝それを支える金属）。キャッチコピー＋需要と供給のギャップを概念図で。</a:t>
            </a:r>
            <a:endParaRPr lang="en-US" sz="540" dirty="0"/>
          </a:p>
        </p:txBody>
      </p:sp>
      <p:sp>
        <p:nvSpPr>
          <p:cNvPr id="61" name="Text 59"/>
          <p:cNvSpPr/>
          <p:nvPr/>
        </p:nvSpPr>
        <p:spPr>
          <a:xfrm>
            <a:off x="8169668" y="10328977"/>
            <a:ext cx="5162801" cy="102915"/>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台割メモ｜コアメッセージ（英・和）全文と目次。写真の帯が見開きをつなぎ、下段は左右で「問い」と「答え」の関係に。鉄道・スマホは素材待ち。</a:t>
            </a:r>
            <a:endParaRPr lang="en-US" sz="54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539620" y="76233"/>
            <a:ext cx="1737345" cy="1423022"/>
          </a:xfrm>
          <a:prstGeom prst="rect">
            <a:avLst/>
          </a:prstGeom>
          <a:noFill/>
          <a:ln/>
        </p:spPr>
        <p:txBody>
          <a:bodyPr wrap="none" lIns="0" tIns="0" rIns="0" bIns="0" rtlCol="0" anchor="t"/>
          <a:lstStyle/>
          <a:p>
            <a:pPr algn="l" indent="0" marL="0">
              <a:lnSpc>
                <a:spcPts val="11200"/>
              </a:lnSpc>
              <a:buNone/>
            </a:pPr>
            <a:r>
              <a:rPr lang="en-US" sz="14000" spc="-560" kern="0" dirty="0">
                <a:solidFill>
                  <a:srgbClr val="000000">
                    <a:alpha val="0"/>
                  </a:srgbClr>
                </a:solidFill>
                <a:latin typeface="Inter Tight Light" pitchFamily="34" charset="0"/>
                <a:ea typeface="Inter Tight Light" pitchFamily="34" charset="-122"/>
                <a:cs typeface="Inter Tight Light" pitchFamily="34" charset="-120"/>
              </a:rPr>
              <a:t>01</a:t>
            </a:r>
            <a:endParaRPr lang="en-US" sz="14000" dirty="0"/>
          </a:p>
        </p:txBody>
      </p:sp>
      <p:sp>
        <p:nvSpPr>
          <p:cNvPr id="3" name="Text 1"/>
          <p:cNvSpPr/>
          <p:nvPr/>
        </p:nvSpPr>
        <p:spPr>
          <a:xfrm>
            <a:off x="12705550" y="76233"/>
            <a:ext cx="2168202" cy="1423022"/>
          </a:xfrm>
          <a:prstGeom prst="rect">
            <a:avLst/>
          </a:prstGeom>
          <a:noFill/>
          <a:ln/>
        </p:spPr>
        <p:txBody>
          <a:bodyPr wrap="none" lIns="0" tIns="0" rIns="0" bIns="0" rtlCol="0" anchor="t"/>
          <a:lstStyle/>
          <a:p>
            <a:pPr algn="l" indent="0" marL="0">
              <a:lnSpc>
                <a:spcPts val="11200"/>
              </a:lnSpc>
              <a:buNone/>
            </a:pPr>
            <a:r>
              <a:rPr lang="en-US" sz="14000" spc="-560" kern="0" dirty="0">
                <a:solidFill>
                  <a:srgbClr val="000000">
                    <a:alpha val="0"/>
                  </a:srgbClr>
                </a:solidFill>
                <a:latin typeface="Inter Tight Light" pitchFamily="34" charset="0"/>
                <a:ea typeface="Inter Tight Light" pitchFamily="34" charset="-122"/>
                <a:cs typeface="Inter Tight Light" pitchFamily="34" charset="-120"/>
              </a:rPr>
              <a:t>02</a:t>
            </a:r>
            <a:endParaRPr lang="en-US" sz="14000" dirty="0"/>
          </a:p>
        </p:txBody>
      </p:sp>
      <p:sp>
        <p:nvSpPr>
          <p:cNvPr id="4" name="Text 2"/>
          <p:cNvSpPr/>
          <p:nvPr/>
        </p:nvSpPr>
        <p:spPr>
          <a:xfrm>
            <a:off x="508222" y="508222"/>
            <a:ext cx="1237481"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01 · Who we are</a:t>
            </a:r>
            <a:endParaRPr lang="en-US" sz="660" dirty="0"/>
          </a:p>
        </p:txBody>
      </p:sp>
      <p:sp>
        <p:nvSpPr>
          <p:cNvPr id="5" name="Text 3"/>
          <p:cNvSpPr/>
          <p:nvPr/>
        </p:nvSpPr>
        <p:spPr>
          <a:xfrm>
            <a:off x="508222" y="647983"/>
            <a:ext cx="1015392"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第1章　我々は何者か</a:t>
            </a:r>
            <a:endParaRPr lang="en-US" sz="660" dirty="0"/>
          </a:p>
        </p:txBody>
      </p:sp>
      <p:sp>
        <p:nvSpPr>
          <p:cNvPr id="6" name="Text 4"/>
          <p:cNvSpPr/>
          <p:nvPr/>
        </p:nvSpPr>
        <p:spPr>
          <a:xfrm>
            <a:off x="508222" y="883798"/>
            <a:ext cx="3320794" cy="570225"/>
          </a:xfrm>
          <a:prstGeom prst="rect">
            <a:avLst/>
          </a:prstGeom>
          <a:noFill/>
          <a:ln/>
        </p:spPr>
        <p:txBody>
          <a:bodyPr wrap="none" lIns="0" tIns="0" rIns="0" bIns="0" rtlCol="0" anchor="t"/>
          <a:lstStyle/>
          <a:p>
            <a:pPr algn="l" indent="0" marL="0">
              <a:lnSpc>
                <a:spcPts val="4488"/>
              </a:lnSpc>
              <a:buNone/>
            </a:pPr>
            <a:r>
              <a:rPr lang="en-US" sz="4400" spc="-110" kern="0" dirty="0">
                <a:solidFill>
                  <a:srgbClr val="121519"/>
                </a:solidFill>
                <a:latin typeface="Inter Tight SemiBold" pitchFamily="34" charset="0"/>
                <a:ea typeface="Inter Tight SemiBold" pitchFamily="34" charset="-122"/>
                <a:cs typeface="Inter Tight SemiBold" pitchFamily="34" charset="-120"/>
              </a:rPr>
              <a:t>Who we are.</a:t>
            </a:r>
            <a:endParaRPr lang="en-US" sz="4400" dirty="0"/>
          </a:p>
        </p:txBody>
      </p:sp>
      <p:sp>
        <p:nvSpPr>
          <p:cNvPr id="7" name="Text 5"/>
          <p:cNvSpPr/>
          <p:nvPr/>
        </p:nvSpPr>
        <p:spPr>
          <a:xfrm>
            <a:off x="508222" y="1731131"/>
            <a:ext cx="2432656"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三菱商事 金属資源グループとは</a:t>
            </a:r>
            <a:endParaRPr lang="en-US" sz="1150" dirty="0"/>
          </a:p>
        </p:txBody>
      </p:sp>
      <p:sp>
        <p:nvSpPr>
          <p:cNvPr id="8" name="Text 6"/>
          <p:cNvSpPr/>
          <p:nvPr/>
        </p:nvSpPr>
        <p:spPr>
          <a:xfrm>
            <a:off x="508222" y="1997979"/>
            <a:ext cx="3544848" cy="904953"/>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三菱商事は、三綱領（所期奉公・処事光明・立業貿易）を企業理念</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に、経済価値・環境価値・社会価値の同時実現を目指す総合商社で</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す。そのなかで金属資源グループは、社会に不可欠な金属資源を世界</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から確保し、安定的に届ける役割を担っています。原料炭と銅は、全</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社としてコミットする中核事業です。</a:t>
            </a:r>
            <a:endParaRPr lang="en-US" sz="770" dirty="0"/>
          </a:p>
        </p:txBody>
      </p:sp>
      <p:sp>
        <p:nvSpPr>
          <p:cNvPr id="9" name="Text 7"/>
          <p:cNvSpPr/>
          <p:nvPr/>
        </p:nvSpPr>
        <p:spPr>
          <a:xfrm>
            <a:off x="4116598" y="1777189"/>
            <a:ext cx="1143360"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GROUP MISSION</a:t>
            </a:r>
            <a:endParaRPr lang="en-US" sz="660" dirty="0"/>
          </a:p>
        </p:txBody>
      </p:sp>
      <p:sp>
        <p:nvSpPr>
          <p:cNvPr id="10" name="Text 8"/>
          <p:cNvSpPr/>
          <p:nvPr/>
        </p:nvSpPr>
        <p:spPr>
          <a:xfrm>
            <a:off x="4116598" y="1973871"/>
            <a:ext cx="3021836" cy="573274"/>
          </a:xfrm>
          <a:prstGeom prst="rect">
            <a:avLst/>
          </a:prstGeom>
          <a:noFill/>
          <a:ln/>
        </p:spPr>
        <p:txBody>
          <a:bodyPr wrap="none" lIns="0" tIns="0" rIns="0" bIns="0" rtlCol="0" anchor="t"/>
          <a:lstStyle/>
          <a:p>
            <a:pPr algn="l" indent="0" marL="0">
              <a:lnSpc>
                <a:spcPts val="1504"/>
              </a:lnSpc>
              <a:buNone/>
            </a:pPr>
            <a:r>
              <a:rPr lang="en-US" sz="940" spc="30" kern="0" dirty="0">
                <a:solidFill>
                  <a:srgbClr val="121519"/>
                </a:solidFill>
                <a:latin typeface="Noto Sans JP Medium" pitchFamily="34" charset="0"/>
                <a:ea typeface="Noto Sans JP Medium" pitchFamily="34" charset="-122"/>
                <a:cs typeface="Noto Sans JP Medium" pitchFamily="34" charset="-120"/>
              </a:rPr>
              <a:t>社会が必要とする良質な金属資源を、持続可能な</a:t>
            </a:r>
            <a:endParaRPr lang="en-US" sz="940" dirty="0"/>
          </a:p>
          <a:p>
            <a:pPr algn="l" indent="0" marL="0">
              <a:lnSpc>
                <a:spcPts val="1504"/>
              </a:lnSpc>
              <a:buNone/>
            </a:pPr>
            <a:r>
              <a:rPr lang="en-US" sz="940" spc="30" kern="0" dirty="0">
                <a:solidFill>
                  <a:srgbClr val="121519"/>
                </a:solidFill>
                <a:latin typeface="Noto Sans JP Medium" pitchFamily="34" charset="0"/>
                <a:ea typeface="Noto Sans JP Medium" pitchFamily="34" charset="-122"/>
                <a:cs typeface="Noto Sans JP Medium" pitchFamily="34" charset="-120"/>
              </a:rPr>
              <a:t>形で安定供給することで、より良い社会の実現に</a:t>
            </a:r>
            <a:endParaRPr lang="en-US" sz="940" dirty="0"/>
          </a:p>
          <a:p>
            <a:pPr algn="l" indent="0" marL="0">
              <a:lnSpc>
                <a:spcPts val="1504"/>
              </a:lnSpc>
              <a:buNone/>
            </a:pPr>
            <a:r>
              <a:rPr lang="en-US" sz="940" spc="30" kern="0" dirty="0">
                <a:solidFill>
                  <a:srgbClr val="121519"/>
                </a:solidFill>
                <a:latin typeface="Noto Sans JP Medium" pitchFamily="34" charset="0"/>
                <a:ea typeface="Noto Sans JP Medium" pitchFamily="34" charset="-122"/>
                <a:cs typeface="Noto Sans JP Medium" pitchFamily="34" charset="-120"/>
              </a:rPr>
              <a:t>寄与する</a:t>
            </a:r>
            <a:endParaRPr lang="en-US" sz="940" dirty="0"/>
          </a:p>
        </p:txBody>
      </p:sp>
      <p:sp>
        <p:nvSpPr>
          <p:cNvPr id="11" name="Text 9"/>
          <p:cNvSpPr/>
          <p:nvPr/>
        </p:nvSpPr>
        <p:spPr>
          <a:xfrm>
            <a:off x="4116598" y="2711555"/>
            <a:ext cx="2877271" cy="252078"/>
          </a:xfrm>
          <a:prstGeom prst="rect">
            <a:avLst/>
          </a:prstGeom>
          <a:noFill/>
          <a:ln/>
        </p:spPr>
        <p:txBody>
          <a:bodyPr wrap="none" lIns="0" tIns="0" rIns="0" bIns="0" rtlCol="0" anchor="t"/>
          <a:lstStyle/>
          <a:p>
            <a:pPr algn="l" indent="0" marL="0">
              <a:lnSpc>
                <a:spcPts val="992"/>
              </a:lnSpc>
              <a:buNone/>
            </a:pPr>
            <a:r>
              <a:rPr lang="en-US" sz="620" dirty="0">
                <a:solidFill>
                  <a:srgbClr val="7D838A"/>
                </a:solidFill>
                <a:latin typeface="Inter" pitchFamily="34" charset="0"/>
                <a:ea typeface="Inter" pitchFamily="34" charset="-122"/>
                <a:cs typeface="Inter" pitchFamily="34" charset="-120"/>
              </a:rPr>
              <a:t>To contribute to a better society by providing a stable supply of high-</a:t>
            </a:r>
            <a:endParaRPr lang="en-US" sz="620" dirty="0"/>
          </a:p>
          <a:p>
            <a:pPr algn="l" indent="0" marL="0">
              <a:lnSpc>
                <a:spcPts val="992"/>
              </a:lnSpc>
              <a:buNone/>
            </a:pPr>
            <a:r>
              <a:rPr lang="en-US" sz="620" dirty="0">
                <a:solidFill>
                  <a:srgbClr val="7D838A"/>
                </a:solidFill>
                <a:latin typeface="Inter" pitchFamily="34" charset="0"/>
                <a:ea typeface="Inter" pitchFamily="34" charset="-122"/>
                <a:cs typeface="Inter" pitchFamily="34" charset="-120"/>
              </a:rPr>
              <a:t>quality mineral resources in a sustainable way.</a:t>
            </a:r>
            <a:endParaRPr lang="en-US" sz="620" dirty="0"/>
          </a:p>
        </p:txBody>
      </p:sp>
      <p:sp>
        <p:nvSpPr>
          <p:cNvPr id="12" name="Text 10"/>
          <p:cNvSpPr/>
          <p:nvPr/>
        </p:nvSpPr>
        <p:spPr>
          <a:xfrm>
            <a:off x="508222" y="3352677"/>
            <a:ext cx="1075664"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ORGANIZATION</a:t>
            </a:r>
            <a:endParaRPr lang="en-US" sz="660" dirty="0"/>
          </a:p>
        </p:txBody>
      </p:sp>
      <p:sp>
        <p:nvSpPr>
          <p:cNvPr id="13" name="Text 11"/>
          <p:cNvSpPr/>
          <p:nvPr/>
        </p:nvSpPr>
        <p:spPr>
          <a:xfrm>
            <a:off x="1524666" y="3352677"/>
            <a:ext cx="2271276"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投資を担う2本部と、トレーディングを担う1本部</a:t>
            </a:r>
            <a:endParaRPr lang="en-US" sz="660" dirty="0"/>
          </a:p>
        </p:txBody>
      </p:sp>
      <p:sp>
        <p:nvSpPr>
          <p:cNvPr id="14" name="Text 12"/>
          <p:cNvSpPr/>
          <p:nvPr/>
        </p:nvSpPr>
        <p:spPr>
          <a:xfrm>
            <a:off x="3466789" y="3721138"/>
            <a:ext cx="562697" cy="101644"/>
          </a:xfrm>
          <a:prstGeom prst="rect">
            <a:avLst/>
          </a:prstGeom>
          <a:noFill/>
          <a:ln/>
        </p:spPr>
        <p:txBody>
          <a:bodyPr wrap="none" lIns="0" tIns="0" rIns="0" bIns="0" rtlCol="0" anchor="t"/>
          <a:lstStyle/>
          <a:p>
            <a:pPr algn="ctr" indent="0" marL="0">
              <a:lnSpc>
                <a:spcPts val="800"/>
              </a:lnSpc>
              <a:buNone/>
            </a:pPr>
            <a:r>
              <a:rPr lang="en-US" sz="640" spc="30" kern="0" dirty="0">
                <a:solidFill>
                  <a:srgbClr val="121519"/>
                </a:solidFill>
                <a:latin typeface="Inter Medium" pitchFamily="34" charset="0"/>
                <a:ea typeface="Inter Medium" pitchFamily="34" charset="-122"/>
                <a:cs typeface="Inter Medium" pitchFamily="34" charset="-120"/>
              </a:rPr>
              <a:t>Group CEO</a:t>
            </a:r>
            <a:endParaRPr lang="en-US" sz="640" dirty="0"/>
          </a:p>
        </p:txBody>
      </p:sp>
      <p:sp>
        <p:nvSpPr>
          <p:cNvPr id="15" name="Text 13"/>
          <p:cNvSpPr/>
          <p:nvPr/>
        </p:nvSpPr>
        <p:spPr>
          <a:xfrm>
            <a:off x="622572" y="4280182"/>
            <a:ext cx="726698" cy="76233"/>
          </a:xfrm>
          <a:prstGeom prst="rect">
            <a:avLst/>
          </a:prstGeom>
          <a:noFill/>
          <a:ln/>
        </p:spPr>
        <p:txBody>
          <a:bodyPr wrap="none" lIns="0" tIns="0" rIns="0" bIns="0" rtlCol="0" anchor="t"/>
          <a:lstStyle/>
          <a:p>
            <a:pPr algn="l" indent="0" marL="0">
              <a:lnSpc>
                <a:spcPts val="600"/>
              </a:lnSpc>
              <a:buNone/>
            </a:pPr>
            <a:r>
              <a:rPr lang="en-US" sz="560" spc="120" kern="0" dirty="0">
                <a:solidFill>
                  <a:srgbClr val="FFFFFF"/>
                </a:solidFill>
                <a:latin typeface="Inter" pitchFamily="34" charset="0"/>
                <a:ea typeface="Inter" pitchFamily="34" charset="-122"/>
                <a:cs typeface="Inter" pitchFamily="34" charset="-120"/>
              </a:rPr>
              <a:t>Investment</a:t>
            </a:r>
            <a:endParaRPr lang="en-US" sz="560" dirty="0"/>
          </a:p>
        </p:txBody>
      </p:sp>
      <p:sp>
        <p:nvSpPr>
          <p:cNvPr id="16" name="Text 14"/>
          <p:cNvSpPr/>
          <p:nvPr/>
        </p:nvSpPr>
        <p:spPr>
          <a:xfrm>
            <a:off x="622572" y="4381826"/>
            <a:ext cx="753121" cy="152467"/>
          </a:xfrm>
          <a:prstGeom prst="rect">
            <a:avLst/>
          </a:prstGeom>
          <a:noFill/>
          <a:ln/>
        </p:spPr>
        <p:txBody>
          <a:bodyPr wrap="none" lIns="0" tIns="0" rIns="0" bIns="0" rtlCol="0" anchor="t"/>
          <a:lstStyle/>
          <a:p>
            <a:pPr algn="l" indent="0" marL="0">
              <a:lnSpc>
                <a:spcPts val="1200"/>
              </a:lnSpc>
              <a:buNone/>
            </a:pPr>
            <a:r>
              <a:rPr lang="en-US" sz="840" dirty="0">
                <a:solidFill>
                  <a:srgbClr val="FFFFFF"/>
                </a:solidFill>
                <a:latin typeface="Noto Sans JP Medium" pitchFamily="34" charset="0"/>
                <a:ea typeface="Noto Sans JP Medium" pitchFamily="34" charset="-122"/>
                <a:cs typeface="Noto Sans JP Medium" pitchFamily="34" charset="-120"/>
              </a:rPr>
              <a:t>鉄鋼原料本部</a:t>
            </a:r>
            <a:endParaRPr lang="en-US" sz="840" dirty="0"/>
          </a:p>
        </p:txBody>
      </p:sp>
      <p:sp>
        <p:nvSpPr>
          <p:cNvPr id="17" name="Text 15"/>
          <p:cNvSpPr/>
          <p:nvPr/>
        </p:nvSpPr>
        <p:spPr>
          <a:xfrm>
            <a:off x="622572" y="4534293"/>
            <a:ext cx="1080250" cy="88939"/>
          </a:xfrm>
          <a:prstGeom prst="rect">
            <a:avLst/>
          </a:prstGeom>
          <a:noFill/>
          <a:ln/>
        </p:spPr>
        <p:txBody>
          <a:bodyPr wrap="none" lIns="0" tIns="0" rIns="0" bIns="0" rtlCol="0" anchor="t"/>
          <a:lstStyle/>
          <a:p>
            <a:pPr algn="l" indent="0" marL="0">
              <a:lnSpc>
                <a:spcPts val="700"/>
              </a:lnSpc>
              <a:buNone/>
            </a:pPr>
            <a:r>
              <a:rPr lang="en-US" sz="580" dirty="0">
                <a:solidFill>
                  <a:srgbClr val="FFFFFF"/>
                </a:solidFill>
                <a:latin typeface="Inter" pitchFamily="34" charset="0"/>
                <a:ea typeface="Inter" pitchFamily="34" charset="-122"/>
                <a:cs typeface="Inter" pitchFamily="34" charset="-120"/>
              </a:rPr>
              <a:t>Steelmaking Raw Materials</a:t>
            </a:r>
            <a:endParaRPr lang="en-US" sz="580" dirty="0"/>
          </a:p>
        </p:txBody>
      </p:sp>
      <p:sp>
        <p:nvSpPr>
          <p:cNvPr id="18" name="Text 16"/>
          <p:cNvSpPr/>
          <p:nvPr/>
        </p:nvSpPr>
        <p:spPr>
          <a:xfrm>
            <a:off x="508222" y="4848946"/>
            <a:ext cx="803348" cy="145733"/>
          </a:xfrm>
          <a:prstGeom prst="rect">
            <a:avLst/>
          </a:prstGeom>
          <a:noFill/>
          <a:ln/>
        </p:spPr>
        <p:txBody>
          <a:bodyPr wrap="none" lIns="0" tIns="0" rIns="0" bIns="0" rtlCol="0" anchor="t"/>
          <a:lstStyle/>
          <a:p>
            <a:pPr algn="l" indent="0" marL="0">
              <a:lnSpc>
                <a:spcPts val="1147"/>
              </a:lnSpc>
              <a:buNone/>
            </a:pPr>
            <a:r>
              <a:rPr lang="en-US" sz="740" spc="30" kern="0" dirty="0">
                <a:solidFill>
                  <a:srgbClr val="121519"/>
                </a:solidFill>
                <a:latin typeface="Noto Sans JP Medium" pitchFamily="34" charset="0"/>
                <a:ea typeface="Noto Sans JP Medium" pitchFamily="34" charset="-122"/>
                <a:cs typeface="Noto Sans JP Medium" pitchFamily="34" charset="-120"/>
              </a:rPr>
              <a:t>原料炭・鉄鉱石</a:t>
            </a:r>
            <a:endParaRPr lang="en-US" sz="740" dirty="0"/>
          </a:p>
        </p:txBody>
      </p:sp>
      <p:sp>
        <p:nvSpPr>
          <p:cNvPr id="19" name="Text 17"/>
          <p:cNvSpPr/>
          <p:nvPr/>
        </p:nvSpPr>
        <p:spPr>
          <a:xfrm>
            <a:off x="508222" y="5025235"/>
            <a:ext cx="904456"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主要関係会社：MDP</a:t>
            </a:r>
            <a:endParaRPr lang="en-US" sz="670" dirty="0"/>
          </a:p>
        </p:txBody>
      </p:sp>
      <p:sp>
        <p:nvSpPr>
          <p:cNvPr id="20" name="Text 18"/>
          <p:cNvSpPr/>
          <p:nvPr/>
        </p:nvSpPr>
        <p:spPr>
          <a:xfrm>
            <a:off x="2807926" y="4280182"/>
            <a:ext cx="726698" cy="76233"/>
          </a:xfrm>
          <a:prstGeom prst="rect">
            <a:avLst/>
          </a:prstGeom>
          <a:noFill/>
          <a:ln/>
        </p:spPr>
        <p:txBody>
          <a:bodyPr wrap="none" lIns="0" tIns="0" rIns="0" bIns="0" rtlCol="0" anchor="t"/>
          <a:lstStyle/>
          <a:p>
            <a:pPr algn="l" indent="0" marL="0">
              <a:lnSpc>
                <a:spcPts val="600"/>
              </a:lnSpc>
              <a:buNone/>
            </a:pPr>
            <a:r>
              <a:rPr lang="en-US" sz="560" spc="120" kern="0" dirty="0">
                <a:solidFill>
                  <a:srgbClr val="FFFFFF"/>
                </a:solidFill>
                <a:latin typeface="Inter" pitchFamily="34" charset="0"/>
                <a:ea typeface="Inter" pitchFamily="34" charset="-122"/>
                <a:cs typeface="Inter" pitchFamily="34" charset="-120"/>
              </a:rPr>
              <a:t>Investment</a:t>
            </a:r>
            <a:endParaRPr lang="en-US" sz="560" dirty="0"/>
          </a:p>
        </p:txBody>
      </p:sp>
      <p:sp>
        <p:nvSpPr>
          <p:cNvPr id="21" name="Text 19"/>
          <p:cNvSpPr/>
          <p:nvPr/>
        </p:nvSpPr>
        <p:spPr>
          <a:xfrm>
            <a:off x="2807926" y="4381826"/>
            <a:ext cx="1448433" cy="152467"/>
          </a:xfrm>
          <a:prstGeom prst="rect">
            <a:avLst/>
          </a:prstGeom>
          <a:noFill/>
          <a:ln/>
        </p:spPr>
        <p:txBody>
          <a:bodyPr wrap="none" lIns="0" tIns="0" rIns="0" bIns="0" rtlCol="0" anchor="t"/>
          <a:lstStyle/>
          <a:p>
            <a:pPr algn="l" indent="0" marL="0">
              <a:lnSpc>
                <a:spcPts val="1200"/>
              </a:lnSpc>
              <a:buNone/>
            </a:pPr>
            <a:r>
              <a:rPr lang="en-US" sz="840" dirty="0">
                <a:solidFill>
                  <a:srgbClr val="FFFFFF"/>
                </a:solidFill>
                <a:latin typeface="Noto Sans JP Medium" pitchFamily="34" charset="0"/>
                <a:ea typeface="Noto Sans JP Medium" pitchFamily="34" charset="-122"/>
                <a:cs typeface="Noto Sans JP Medium" pitchFamily="34" charset="-120"/>
              </a:rPr>
              <a:t>クリティカルミネラル本部</a:t>
            </a:r>
            <a:endParaRPr lang="en-US" sz="840" dirty="0"/>
          </a:p>
        </p:txBody>
      </p:sp>
      <p:sp>
        <p:nvSpPr>
          <p:cNvPr id="22" name="Text 20"/>
          <p:cNvSpPr/>
          <p:nvPr/>
        </p:nvSpPr>
        <p:spPr>
          <a:xfrm>
            <a:off x="2807926" y="4534293"/>
            <a:ext cx="668391" cy="88939"/>
          </a:xfrm>
          <a:prstGeom prst="rect">
            <a:avLst/>
          </a:prstGeom>
          <a:noFill/>
          <a:ln/>
        </p:spPr>
        <p:txBody>
          <a:bodyPr wrap="none" lIns="0" tIns="0" rIns="0" bIns="0" rtlCol="0" anchor="t"/>
          <a:lstStyle/>
          <a:p>
            <a:pPr algn="l" indent="0" marL="0">
              <a:lnSpc>
                <a:spcPts val="700"/>
              </a:lnSpc>
              <a:buNone/>
            </a:pPr>
            <a:r>
              <a:rPr lang="en-US" sz="580" dirty="0">
                <a:solidFill>
                  <a:srgbClr val="FFFFFF"/>
                </a:solidFill>
                <a:latin typeface="Inter" pitchFamily="34" charset="0"/>
                <a:ea typeface="Inter" pitchFamily="34" charset="-122"/>
                <a:cs typeface="Inter" pitchFamily="34" charset="-120"/>
              </a:rPr>
              <a:t>Critical Minerals</a:t>
            </a:r>
            <a:endParaRPr lang="en-US" sz="580" dirty="0"/>
          </a:p>
        </p:txBody>
      </p:sp>
      <p:sp>
        <p:nvSpPr>
          <p:cNvPr id="23" name="Text 21"/>
          <p:cNvSpPr/>
          <p:nvPr/>
        </p:nvSpPr>
        <p:spPr>
          <a:xfrm>
            <a:off x="2693577" y="4848946"/>
            <a:ext cx="1904621" cy="145733"/>
          </a:xfrm>
          <a:prstGeom prst="rect">
            <a:avLst/>
          </a:prstGeom>
          <a:noFill/>
          <a:ln/>
        </p:spPr>
        <p:txBody>
          <a:bodyPr wrap="none" lIns="0" tIns="0" rIns="0" bIns="0" rtlCol="0" anchor="t"/>
          <a:lstStyle/>
          <a:p>
            <a:pPr algn="l" indent="0" marL="0">
              <a:lnSpc>
                <a:spcPts val="1147"/>
              </a:lnSpc>
              <a:buNone/>
            </a:pPr>
            <a:r>
              <a:rPr lang="en-US" sz="740" spc="30" kern="0" dirty="0">
                <a:solidFill>
                  <a:srgbClr val="121519"/>
                </a:solidFill>
                <a:latin typeface="Noto Sans JP Medium" pitchFamily="34" charset="0"/>
                <a:ea typeface="Noto Sans JP Medium" pitchFamily="34" charset="-122"/>
                <a:cs typeface="Noto Sans JP Medium" pitchFamily="34" charset="-120"/>
              </a:rPr>
              <a:t>銅・ニッケル・リチウム・アルミ ほか</a:t>
            </a:r>
            <a:endParaRPr lang="en-US" sz="740" dirty="0"/>
          </a:p>
        </p:txBody>
      </p:sp>
      <p:sp>
        <p:nvSpPr>
          <p:cNvPr id="24" name="Text 22"/>
          <p:cNvSpPr/>
          <p:nvPr/>
        </p:nvSpPr>
        <p:spPr>
          <a:xfrm>
            <a:off x="2693577" y="5025235"/>
            <a:ext cx="1184415"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主要関係会社：MCI · MCIP</a:t>
            </a:r>
            <a:endParaRPr lang="en-US" sz="670" dirty="0"/>
          </a:p>
        </p:txBody>
      </p:sp>
      <p:sp>
        <p:nvSpPr>
          <p:cNvPr id="25" name="Text 23"/>
          <p:cNvSpPr/>
          <p:nvPr/>
        </p:nvSpPr>
        <p:spPr>
          <a:xfrm>
            <a:off x="4993281" y="4280182"/>
            <a:ext cx="517711" cy="76233"/>
          </a:xfrm>
          <a:prstGeom prst="rect">
            <a:avLst/>
          </a:prstGeom>
          <a:noFill/>
          <a:ln/>
        </p:spPr>
        <p:txBody>
          <a:bodyPr wrap="none" lIns="0" tIns="0" rIns="0" bIns="0" rtlCol="0" anchor="t"/>
          <a:lstStyle/>
          <a:p>
            <a:pPr algn="l" indent="0" marL="0">
              <a:lnSpc>
                <a:spcPts val="600"/>
              </a:lnSpc>
              <a:buNone/>
            </a:pPr>
            <a:r>
              <a:rPr lang="en-US" sz="560" spc="120" kern="0" dirty="0">
                <a:solidFill>
                  <a:srgbClr val="FFFFFF"/>
                </a:solidFill>
                <a:latin typeface="Inter" pitchFamily="34" charset="0"/>
                <a:ea typeface="Inter" pitchFamily="34" charset="-122"/>
                <a:cs typeface="Inter" pitchFamily="34" charset="-120"/>
              </a:rPr>
              <a:t>Trading</a:t>
            </a:r>
            <a:endParaRPr lang="en-US" sz="560" dirty="0"/>
          </a:p>
        </p:txBody>
      </p:sp>
      <p:sp>
        <p:nvSpPr>
          <p:cNvPr id="26" name="Text 24"/>
          <p:cNvSpPr/>
          <p:nvPr/>
        </p:nvSpPr>
        <p:spPr>
          <a:xfrm>
            <a:off x="4993281" y="4381826"/>
            <a:ext cx="1564391" cy="152467"/>
          </a:xfrm>
          <a:prstGeom prst="rect">
            <a:avLst/>
          </a:prstGeom>
          <a:noFill/>
          <a:ln/>
        </p:spPr>
        <p:txBody>
          <a:bodyPr wrap="none" lIns="0" tIns="0" rIns="0" bIns="0" rtlCol="0" anchor="t"/>
          <a:lstStyle/>
          <a:p>
            <a:pPr algn="l" indent="0" marL="0">
              <a:lnSpc>
                <a:spcPts val="1200"/>
              </a:lnSpc>
              <a:buNone/>
            </a:pPr>
            <a:r>
              <a:rPr lang="en-US" sz="840" dirty="0">
                <a:solidFill>
                  <a:srgbClr val="FFFFFF"/>
                </a:solidFill>
                <a:latin typeface="Noto Sans JP Medium" pitchFamily="34" charset="0"/>
                <a:ea typeface="Noto Sans JP Medium" pitchFamily="34" charset="-122"/>
                <a:cs typeface="Noto Sans JP Medium" pitchFamily="34" charset="-120"/>
              </a:rPr>
              <a:t>金属資源トレーディング本部</a:t>
            </a:r>
            <a:endParaRPr lang="en-US" sz="840" dirty="0"/>
          </a:p>
        </p:txBody>
      </p:sp>
      <p:sp>
        <p:nvSpPr>
          <p:cNvPr id="27" name="Text 25"/>
          <p:cNvSpPr/>
          <p:nvPr/>
        </p:nvSpPr>
        <p:spPr>
          <a:xfrm>
            <a:off x="4993281" y="4534293"/>
            <a:ext cx="1073480" cy="88939"/>
          </a:xfrm>
          <a:prstGeom prst="rect">
            <a:avLst/>
          </a:prstGeom>
          <a:noFill/>
          <a:ln/>
        </p:spPr>
        <p:txBody>
          <a:bodyPr wrap="none" lIns="0" tIns="0" rIns="0" bIns="0" rtlCol="0" anchor="t"/>
          <a:lstStyle/>
          <a:p>
            <a:pPr algn="l" indent="0" marL="0">
              <a:lnSpc>
                <a:spcPts val="700"/>
              </a:lnSpc>
              <a:buNone/>
            </a:pPr>
            <a:r>
              <a:rPr lang="en-US" sz="580" dirty="0">
                <a:solidFill>
                  <a:srgbClr val="FFFFFF"/>
                </a:solidFill>
                <a:latin typeface="Inter" pitchFamily="34" charset="0"/>
                <a:ea typeface="Inter" pitchFamily="34" charset="-122"/>
                <a:cs typeface="Inter" pitchFamily="34" charset="-120"/>
              </a:rPr>
              <a:t>Mineral Resources Trading</a:t>
            </a:r>
            <a:endParaRPr lang="en-US" sz="580" dirty="0"/>
          </a:p>
        </p:txBody>
      </p:sp>
      <p:sp>
        <p:nvSpPr>
          <p:cNvPr id="28" name="Text 26"/>
          <p:cNvSpPr/>
          <p:nvPr/>
        </p:nvSpPr>
        <p:spPr>
          <a:xfrm>
            <a:off x="4878931" y="4848946"/>
            <a:ext cx="1490143" cy="145733"/>
          </a:xfrm>
          <a:prstGeom prst="rect">
            <a:avLst/>
          </a:prstGeom>
          <a:noFill/>
          <a:ln/>
        </p:spPr>
        <p:txBody>
          <a:bodyPr wrap="none" lIns="0" tIns="0" rIns="0" bIns="0" rtlCol="0" anchor="t"/>
          <a:lstStyle/>
          <a:p>
            <a:pPr algn="l" indent="0" marL="0">
              <a:lnSpc>
                <a:spcPts val="1147"/>
              </a:lnSpc>
              <a:buNone/>
            </a:pPr>
            <a:r>
              <a:rPr lang="en-US" sz="740" spc="30" kern="0" dirty="0">
                <a:solidFill>
                  <a:srgbClr val="121519"/>
                </a:solidFill>
                <a:latin typeface="Noto Sans JP Medium" pitchFamily="34" charset="0"/>
                <a:ea typeface="Noto Sans JP Medium" pitchFamily="34" charset="-122"/>
                <a:cs typeface="Noto Sans JP Medium" pitchFamily="34" charset="-120"/>
              </a:rPr>
              <a:t>RtM（Resource to Market）</a:t>
            </a:r>
            <a:endParaRPr lang="en-US" sz="740" dirty="0"/>
          </a:p>
        </p:txBody>
      </p:sp>
      <p:sp>
        <p:nvSpPr>
          <p:cNvPr id="29" name="Text 27"/>
          <p:cNvSpPr/>
          <p:nvPr/>
        </p:nvSpPr>
        <p:spPr>
          <a:xfrm>
            <a:off x="4878931" y="5025235"/>
            <a:ext cx="1579895"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主要関係会社：RtM · Triland Metals</a:t>
            </a:r>
            <a:endParaRPr lang="en-US" sz="670" dirty="0"/>
          </a:p>
        </p:txBody>
      </p:sp>
      <p:sp>
        <p:nvSpPr>
          <p:cNvPr id="30" name="Text 28"/>
          <p:cNvSpPr/>
          <p:nvPr/>
        </p:nvSpPr>
        <p:spPr>
          <a:xfrm>
            <a:off x="508222" y="5461798"/>
            <a:ext cx="2189603"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THREE CORPORATE PRINCIPLES</a:t>
            </a:r>
            <a:endParaRPr lang="en-US" sz="660" dirty="0"/>
          </a:p>
        </p:txBody>
      </p:sp>
      <p:sp>
        <p:nvSpPr>
          <p:cNvPr id="31" name="Text 29"/>
          <p:cNvSpPr/>
          <p:nvPr/>
        </p:nvSpPr>
        <p:spPr>
          <a:xfrm>
            <a:off x="2668165" y="5461798"/>
            <a:ext cx="1358025"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三綱領｜三菱商事の企業理念</a:t>
            </a:r>
            <a:endParaRPr lang="en-US" sz="660" dirty="0"/>
          </a:p>
        </p:txBody>
      </p:sp>
      <p:sp>
        <p:nvSpPr>
          <p:cNvPr id="32" name="Text 30"/>
          <p:cNvSpPr/>
          <p:nvPr/>
        </p:nvSpPr>
        <p:spPr>
          <a:xfrm>
            <a:off x="508222" y="5709556"/>
            <a:ext cx="861436" cy="266817"/>
          </a:xfrm>
          <a:prstGeom prst="rect">
            <a:avLst/>
          </a:prstGeom>
          <a:noFill/>
          <a:ln/>
        </p:spPr>
        <p:txBody>
          <a:bodyPr wrap="none" lIns="0" tIns="0" rIns="0" bIns="0" rtlCol="0" anchor="t"/>
          <a:lstStyle/>
          <a:p>
            <a:pPr algn="l" indent="0" marL="0">
              <a:lnSpc>
                <a:spcPts val="2100"/>
              </a:lnSpc>
              <a:buNone/>
            </a:pPr>
            <a:r>
              <a:rPr lang="en-US" sz="1400" spc="50" kern="0" dirty="0">
                <a:solidFill>
                  <a:srgbClr val="121519"/>
                </a:solidFill>
                <a:latin typeface="Noto Sans JP Medium" pitchFamily="34" charset="0"/>
                <a:ea typeface="Noto Sans JP Medium" pitchFamily="34" charset="-122"/>
                <a:cs typeface="Noto Sans JP Medium" pitchFamily="34" charset="-120"/>
              </a:rPr>
              <a:t>所期奉公</a:t>
            </a:r>
            <a:endParaRPr lang="en-US" sz="1400" dirty="0"/>
          </a:p>
        </p:txBody>
      </p:sp>
      <p:sp>
        <p:nvSpPr>
          <p:cNvPr id="33" name="Text 31"/>
          <p:cNvSpPr/>
          <p:nvPr/>
        </p:nvSpPr>
        <p:spPr>
          <a:xfrm>
            <a:off x="508222" y="5970020"/>
            <a:ext cx="1702623"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Corporate Responsibility to Society</a:t>
            </a:r>
            <a:endParaRPr lang="en-US" sz="640" dirty="0"/>
          </a:p>
        </p:txBody>
      </p:sp>
      <p:sp>
        <p:nvSpPr>
          <p:cNvPr id="34" name="Text 32"/>
          <p:cNvSpPr/>
          <p:nvPr/>
        </p:nvSpPr>
        <p:spPr>
          <a:xfrm>
            <a:off x="508222" y="6117913"/>
            <a:ext cx="2200522"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事業を通じ、物心ともに豊かな社会の実現に努める</a:t>
            </a:r>
            <a:endParaRPr lang="en-US" sz="670" dirty="0"/>
          </a:p>
        </p:txBody>
      </p:sp>
      <p:sp>
        <p:nvSpPr>
          <p:cNvPr id="35" name="Text 33"/>
          <p:cNvSpPr/>
          <p:nvPr/>
        </p:nvSpPr>
        <p:spPr>
          <a:xfrm>
            <a:off x="2693577" y="5709556"/>
            <a:ext cx="861436" cy="266817"/>
          </a:xfrm>
          <a:prstGeom prst="rect">
            <a:avLst/>
          </a:prstGeom>
          <a:noFill/>
          <a:ln/>
        </p:spPr>
        <p:txBody>
          <a:bodyPr wrap="none" lIns="0" tIns="0" rIns="0" bIns="0" rtlCol="0" anchor="t"/>
          <a:lstStyle/>
          <a:p>
            <a:pPr algn="l" indent="0" marL="0">
              <a:lnSpc>
                <a:spcPts val="2100"/>
              </a:lnSpc>
              <a:buNone/>
            </a:pPr>
            <a:r>
              <a:rPr lang="en-US" sz="1400" spc="50" kern="0" dirty="0">
                <a:solidFill>
                  <a:srgbClr val="121519"/>
                </a:solidFill>
                <a:latin typeface="Noto Sans JP Medium" pitchFamily="34" charset="0"/>
                <a:ea typeface="Noto Sans JP Medium" pitchFamily="34" charset="-122"/>
                <a:cs typeface="Noto Sans JP Medium" pitchFamily="34" charset="-120"/>
              </a:rPr>
              <a:t>処事光明</a:t>
            </a:r>
            <a:endParaRPr lang="en-US" sz="1400" dirty="0"/>
          </a:p>
        </p:txBody>
      </p:sp>
      <p:sp>
        <p:nvSpPr>
          <p:cNvPr id="36" name="Text 34"/>
          <p:cNvSpPr/>
          <p:nvPr/>
        </p:nvSpPr>
        <p:spPr>
          <a:xfrm>
            <a:off x="2693577" y="5970020"/>
            <a:ext cx="1069112"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Integrity and Fairness</a:t>
            </a:r>
            <a:endParaRPr lang="en-US" sz="640" dirty="0"/>
          </a:p>
        </p:txBody>
      </p:sp>
      <p:sp>
        <p:nvSpPr>
          <p:cNvPr id="37" name="Text 35"/>
          <p:cNvSpPr/>
          <p:nvPr/>
        </p:nvSpPr>
        <p:spPr>
          <a:xfrm>
            <a:off x="2693577" y="6117913"/>
            <a:ext cx="1637110"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公明正大で品格のある行動を旨とする</a:t>
            </a:r>
            <a:endParaRPr lang="en-US" sz="670" dirty="0"/>
          </a:p>
        </p:txBody>
      </p:sp>
      <p:sp>
        <p:nvSpPr>
          <p:cNvPr id="38" name="Text 36"/>
          <p:cNvSpPr/>
          <p:nvPr/>
        </p:nvSpPr>
        <p:spPr>
          <a:xfrm>
            <a:off x="4878931" y="5709556"/>
            <a:ext cx="861436" cy="266817"/>
          </a:xfrm>
          <a:prstGeom prst="rect">
            <a:avLst/>
          </a:prstGeom>
          <a:noFill/>
          <a:ln/>
        </p:spPr>
        <p:txBody>
          <a:bodyPr wrap="none" lIns="0" tIns="0" rIns="0" bIns="0" rtlCol="0" anchor="t"/>
          <a:lstStyle/>
          <a:p>
            <a:pPr algn="l" indent="0" marL="0">
              <a:lnSpc>
                <a:spcPts val="2100"/>
              </a:lnSpc>
              <a:buNone/>
            </a:pPr>
            <a:r>
              <a:rPr lang="en-US" sz="1400" spc="50" kern="0" dirty="0">
                <a:solidFill>
                  <a:srgbClr val="121519"/>
                </a:solidFill>
                <a:latin typeface="Noto Sans JP Medium" pitchFamily="34" charset="0"/>
                <a:ea typeface="Noto Sans JP Medium" pitchFamily="34" charset="-122"/>
                <a:cs typeface="Noto Sans JP Medium" pitchFamily="34" charset="-120"/>
              </a:rPr>
              <a:t>立業貿易</a:t>
            </a:r>
            <a:endParaRPr lang="en-US" sz="1400" dirty="0"/>
          </a:p>
        </p:txBody>
      </p:sp>
      <p:sp>
        <p:nvSpPr>
          <p:cNvPr id="39" name="Text 37"/>
          <p:cNvSpPr/>
          <p:nvPr/>
        </p:nvSpPr>
        <p:spPr>
          <a:xfrm>
            <a:off x="4878931" y="5970020"/>
            <a:ext cx="1901346"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Global Understanding through Business</a:t>
            </a:r>
            <a:endParaRPr lang="en-US" sz="640" dirty="0"/>
          </a:p>
        </p:txBody>
      </p:sp>
      <p:sp>
        <p:nvSpPr>
          <p:cNvPr id="40" name="Text 38"/>
          <p:cNvSpPr/>
          <p:nvPr/>
        </p:nvSpPr>
        <p:spPr>
          <a:xfrm>
            <a:off x="4878931" y="6117913"/>
            <a:ext cx="2107057"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全世界的、宇宙的視野に立脚した事業展開を図る</a:t>
            </a:r>
            <a:endParaRPr lang="en-US" sz="670" dirty="0"/>
          </a:p>
        </p:txBody>
      </p:sp>
      <p:sp>
        <p:nvSpPr>
          <p:cNvPr id="41" name="Text 39"/>
          <p:cNvSpPr/>
          <p:nvPr/>
        </p:nvSpPr>
        <p:spPr>
          <a:xfrm>
            <a:off x="8068024" y="508222"/>
            <a:ext cx="1506739"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02 · Our strengths</a:t>
            </a:r>
            <a:endParaRPr lang="en-US" sz="660" dirty="0"/>
          </a:p>
        </p:txBody>
      </p:sp>
      <p:sp>
        <p:nvSpPr>
          <p:cNvPr id="42" name="Text 40"/>
          <p:cNvSpPr/>
          <p:nvPr/>
        </p:nvSpPr>
        <p:spPr>
          <a:xfrm>
            <a:off x="8068024" y="647983"/>
            <a:ext cx="1417423"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第2章　独自価値｜資産の強み</a:t>
            </a:r>
            <a:endParaRPr lang="en-US" sz="660" dirty="0"/>
          </a:p>
        </p:txBody>
      </p:sp>
      <p:sp>
        <p:nvSpPr>
          <p:cNvPr id="43" name="Text 41"/>
          <p:cNvSpPr/>
          <p:nvPr/>
        </p:nvSpPr>
        <p:spPr>
          <a:xfrm>
            <a:off x="8068024" y="883798"/>
            <a:ext cx="3620625" cy="1140450"/>
          </a:xfrm>
          <a:prstGeom prst="rect">
            <a:avLst/>
          </a:prstGeom>
          <a:noFill/>
          <a:ln/>
        </p:spPr>
        <p:txBody>
          <a:bodyPr wrap="none" lIns="0" tIns="0" rIns="0" bIns="0" rtlCol="0" anchor="t"/>
          <a:lstStyle/>
          <a:p>
            <a:pPr algn="l" indent="0" marL="0">
              <a:lnSpc>
                <a:spcPts val="4488"/>
              </a:lnSpc>
              <a:buNone/>
            </a:pPr>
            <a:r>
              <a:rPr lang="en-US" sz="4400" spc="-110" kern="0" dirty="0">
                <a:solidFill>
                  <a:srgbClr val="121519"/>
                </a:solidFill>
                <a:latin typeface="Inter Tight SemiBold" pitchFamily="34" charset="0"/>
                <a:ea typeface="Inter Tight SemiBold" pitchFamily="34" charset="-122"/>
                <a:cs typeface="Inter Tight SemiBold" pitchFamily="34" charset="-120"/>
              </a:rPr>
              <a:t>Tier-1 assets</a:t>
            </a:r>
            <a:endParaRPr lang="en-US" sz="4400" dirty="0"/>
          </a:p>
          <a:p>
            <a:pPr algn="l" indent="0" marL="0">
              <a:lnSpc>
                <a:spcPts val="4488"/>
              </a:lnSpc>
              <a:buNone/>
            </a:pPr>
            <a:r>
              <a:rPr lang="en-US" sz="4400" spc="-110" kern="0" dirty="0">
                <a:solidFill>
                  <a:srgbClr val="121519"/>
                </a:solidFill>
                <a:latin typeface="Inter Tight SemiBold" pitchFamily="34" charset="0"/>
                <a:ea typeface="Inter Tight SemiBold" pitchFamily="34" charset="-122"/>
                <a:cs typeface="Inter Tight SemiBold" pitchFamily="34" charset="-120"/>
              </a:rPr>
              <a:t>at the source.</a:t>
            </a:r>
            <a:endParaRPr lang="en-US" sz="4400" dirty="0"/>
          </a:p>
        </p:txBody>
      </p:sp>
      <p:sp>
        <p:nvSpPr>
          <p:cNvPr id="44" name="Text 42"/>
          <p:cNvSpPr/>
          <p:nvPr/>
        </p:nvSpPr>
        <p:spPr>
          <a:xfrm>
            <a:off x="8068024" y="2301293"/>
            <a:ext cx="3726101"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バリューチェーンの起点で、一級資産を保有する</a:t>
            </a:r>
            <a:endParaRPr lang="en-US" sz="1150" dirty="0"/>
          </a:p>
        </p:txBody>
      </p:sp>
      <p:sp>
        <p:nvSpPr>
          <p:cNvPr id="45" name="Text 43"/>
          <p:cNvSpPr/>
          <p:nvPr/>
        </p:nvSpPr>
        <p:spPr>
          <a:xfrm>
            <a:off x="8068024" y="2568141"/>
            <a:ext cx="3544848" cy="723962"/>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資源事業は規模の経済が働くビジネスです。私たちは、規模で世界上</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位に入る優良鉱山に早くから参画し、現在では資金があっても手に入</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らない資産のポートフォリオを築いてきました。その中核が、原料炭</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と銅です。</a:t>
            </a:r>
            <a:endParaRPr lang="en-US" sz="770" dirty="0"/>
          </a:p>
        </p:txBody>
      </p:sp>
      <p:sp>
        <p:nvSpPr>
          <p:cNvPr id="46" name="Text 44"/>
          <p:cNvSpPr/>
          <p:nvPr/>
        </p:nvSpPr>
        <p:spPr>
          <a:xfrm>
            <a:off x="12395455" y="5352411"/>
            <a:ext cx="1040068" cy="254111"/>
          </a:xfrm>
          <a:prstGeom prst="rect">
            <a:avLst/>
          </a:prstGeom>
          <a:noFill/>
          <a:ln/>
        </p:spPr>
        <p:txBody>
          <a:bodyPr wrap="none" lIns="0" tIns="0" rIns="0" bIns="0" rtlCol="0" anchor="t"/>
          <a:lstStyle/>
          <a:p>
            <a:pPr algn="l" indent="0" marL="0">
              <a:lnSpc>
                <a:spcPts val="1000"/>
              </a:lnSpc>
              <a:buNone/>
            </a:pPr>
            <a:r>
              <a:rPr lang="en-US" sz="860" dirty="0">
                <a:solidFill>
                  <a:srgbClr val="121519"/>
                </a:solidFill>
                <a:latin typeface="Inter Tight SemiBold" pitchFamily="34" charset="0"/>
                <a:ea typeface="Inter Tight SemiBold" pitchFamily="34" charset="-122"/>
                <a:cs typeface="Inter Tight SemiBold" pitchFamily="34" charset="-120"/>
              </a:rPr>
              <a:t>Metallurgical Coal</a:t>
            </a:r>
            <a:endParaRPr lang="en-US" sz="860" dirty="0"/>
          </a:p>
          <a:p>
            <a:pPr algn="l" indent="0" marL="0">
              <a:lnSpc>
                <a:spcPts val="1000"/>
              </a:lnSpc>
              <a:buNone/>
            </a:pPr>
            <a:r>
              <a:rPr lang="en-US" sz="670" dirty="0">
                <a:solidFill>
                  <a:srgbClr val="7D838A"/>
                </a:solidFill>
                <a:latin typeface="Noto Sans JP" pitchFamily="34" charset="0"/>
                <a:ea typeface="Noto Sans JP" pitchFamily="34" charset="-122"/>
                <a:cs typeface="Noto Sans JP" pitchFamily="34" charset="-120"/>
              </a:rPr>
              <a:t>Bowen Basin, Australia</a:t>
            </a:r>
            <a:endParaRPr lang="en-US" sz="860" dirty="0"/>
          </a:p>
        </p:txBody>
      </p:sp>
      <p:sp>
        <p:nvSpPr>
          <p:cNvPr id="47" name="Text 45"/>
          <p:cNvSpPr/>
          <p:nvPr/>
        </p:nvSpPr>
        <p:spPr>
          <a:xfrm>
            <a:off x="9938519" y="5409586"/>
            <a:ext cx="566846" cy="254111"/>
          </a:xfrm>
          <a:prstGeom prst="rect">
            <a:avLst/>
          </a:prstGeom>
          <a:noFill/>
          <a:ln/>
        </p:spPr>
        <p:txBody>
          <a:bodyPr wrap="none" lIns="0" tIns="0" rIns="0" bIns="0" rtlCol="0" anchor="t"/>
          <a:lstStyle/>
          <a:p>
            <a:pPr algn="l" indent="0" marL="0">
              <a:lnSpc>
                <a:spcPts val="1000"/>
              </a:lnSpc>
              <a:buNone/>
            </a:pPr>
            <a:r>
              <a:rPr lang="en-US" sz="860" dirty="0">
                <a:solidFill>
                  <a:srgbClr val="121519"/>
                </a:solidFill>
                <a:latin typeface="Inter Tight SemiBold" pitchFamily="34" charset="0"/>
                <a:ea typeface="Inter Tight SemiBold" pitchFamily="34" charset="-122"/>
                <a:cs typeface="Inter Tight SemiBold" pitchFamily="34" charset="-120"/>
              </a:rPr>
              <a:t>Copper</a:t>
            </a:r>
            <a:endParaRPr lang="en-US" sz="860" dirty="0"/>
          </a:p>
          <a:p>
            <a:pPr algn="l" indent="0" marL="0">
              <a:lnSpc>
                <a:spcPts val="1000"/>
              </a:lnSpc>
              <a:buNone/>
            </a:pPr>
            <a:r>
              <a:rPr lang="en-US" sz="670" dirty="0">
                <a:solidFill>
                  <a:srgbClr val="7D838A"/>
                </a:solidFill>
                <a:latin typeface="Noto Sans JP" pitchFamily="34" charset="0"/>
                <a:ea typeface="Noto Sans JP" pitchFamily="34" charset="-122"/>
                <a:cs typeface="Noto Sans JP" pitchFamily="34" charset="-120"/>
              </a:rPr>
              <a:t>Chile · Peru</a:t>
            </a:r>
            <a:endParaRPr lang="en-US" sz="860" dirty="0"/>
          </a:p>
        </p:txBody>
      </p:sp>
      <p:sp>
        <p:nvSpPr>
          <p:cNvPr id="48" name="Text 46"/>
          <p:cNvSpPr/>
          <p:nvPr/>
        </p:nvSpPr>
        <p:spPr>
          <a:xfrm>
            <a:off x="8334841" y="4237499"/>
            <a:ext cx="454601" cy="254111"/>
          </a:xfrm>
          <a:prstGeom prst="rect">
            <a:avLst/>
          </a:prstGeom>
          <a:noFill/>
          <a:ln/>
        </p:spPr>
        <p:txBody>
          <a:bodyPr wrap="none" lIns="0" tIns="0" rIns="0" bIns="0" rtlCol="0" anchor="t"/>
          <a:lstStyle/>
          <a:p>
            <a:pPr algn="l" indent="0" marL="0">
              <a:lnSpc>
                <a:spcPts val="1000"/>
              </a:lnSpc>
              <a:buNone/>
            </a:pPr>
            <a:r>
              <a:rPr lang="en-US" sz="860" dirty="0">
                <a:solidFill>
                  <a:srgbClr val="121519"/>
                </a:solidFill>
                <a:latin typeface="Inter Tight SemiBold" pitchFamily="34" charset="0"/>
                <a:ea typeface="Inter Tight SemiBold" pitchFamily="34" charset="-122"/>
                <a:cs typeface="Inter Tight SemiBold" pitchFamily="34" charset="-120"/>
              </a:rPr>
              <a:t>Copper</a:t>
            </a:r>
            <a:endParaRPr lang="en-US" sz="860" dirty="0"/>
          </a:p>
          <a:p>
            <a:pPr algn="l" indent="0" marL="0">
              <a:lnSpc>
                <a:spcPts val="1000"/>
              </a:lnSpc>
              <a:buNone/>
            </a:pPr>
            <a:r>
              <a:rPr lang="en-US" sz="670" dirty="0">
                <a:solidFill>
                  <a:srgbClr val="7D838A"/>
                </a:solidFill>
                <a:latin typeface="Noto Sans JP" pitchFamily="34" charset="0"/>
                <a:ea typeface="Noto Sans JP" pitchFamily="34" charset="-122"/>
                <a:cs typeface="Noto Sans JP" pitchFamily="34" charset="-120"/>
              </a:rPr>
              <a:t>USA</a:t>
            </a:r>
            <a:endParaRPr lang="en-US" sz="860" dirty="0"/>
          </a:p>
        </p:txBody>
      </p:sp>
      <p:sp>
        <p:nvSpPr>
          <p:cNvPr id="49" name="Text 47"/>
          <p:cNvSpPr/>
          <p:nvPr/>
        </p:nvSpPr>
        <p:spPr>
          <a:xfrm>
            <a:off x="8068024" y="6265504"/>
            <a:ext cx="318989" cy="410389"/>
          </a:xfrm>
          <a:prstGeom prst="rect">
            <a:avLst/>
          </a:prstGeom>
          <a:noFill/>
          <a:ln/>
        </p:spPr>
        <p:txBody>
          <a:bodyPr wrap="none" lIns="0" tIns="0" rIns="0" bIns="0" rtlCol="0" anchor="t"/>
          <a:lstStyle/>
          <a:p>
            <a:pPr algn="l" indent="0" marL="0">
              <a:lnSpc>
                <a:spcPts val="3230"/>
              </a:lnSpc>
              <a:buNone/>
            </a:pPr>
            <a:r>
              <a:rPr lang="en-US" sz="3400" spc="-102" kern="0" dirty="0">
                <a:solidFill>
                  <a:srgbClr val="121519"/>
                </a:solidFill>
                <a:latin typeface="Inter Tight SemiBold" pitchFamily="34" charset="0"/>
                <a:ea typeface="Inter Tight SemiBold" pitchFamily="34" charset="-122"/>
                <a:cs typeface="Inter Tight SemiBold" pitchFamily="34" charset="-120"/>
              </a:rPr>
              <a:t>5</a:t>
            </a:r>
            <a:endParaRPr lang="en-US" sz="3400" dirty="0"/>
          </a:p>
        </p:txBody>
      </p:sp>
      <p:sp>
        <p:nvSpPr>
          <p:cNvPr id="50" name="Text 48"/>
          <p:cNvSpPr/>
          <p:nvPr/>
        </p:nvSpPr>
        <p:spPr>
          <a:xfrm>
            <a:off x="8068024" y="6731162"/>
            <a:ext cx="309599"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7D838A"/>
                </a:solidFill>
                <a:latin typeface="Inter Medium" pitchFamily="34" charset="0"/>
                <a:ea typeface="Inter Medium" pitchFamily="34" charset="-122"/>
                <a:cs typeface="Inter Medium" pitchFamily="34" charset="-120"/>
              </a:rPr>
              <a:t>OF 5</a:t>
            </a:r>
            <a:endParaRPr lang="en-US" sz="580" dirty="0"/>
          </a:p>
        </p:txBody>
      </p:sp>
      <p:sp>
        <p:nvSpPr>
          <p:cNvPr id="51" name="Text 49"/>
          <p:cNvSpPr/>
          <p:nvPr/>
        </p:nvSpPr>
        <p:spPr>
          <a:xfrm>
            <a:off x="8068024" y="6866349"/>
            <a:ext cx="1761585"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銅の主要5鉱山すべてが規模で世界Top15</a:t>
            </a:r>
            <a:endParaRPr lang="en-US" sz="670" dirty="0"/>
          </a:p>
        </p:txBody>
      </p:sp>
      <p:sp>
        <p:nvSpPr>
          <p:cNvPr id="52" name="Text 50"/>
          <p:cNvSpPr/>
          <p:nvPr/>
        </p:nvSpPr>
        <p:spPr>
          <a:xfrm>
            <a:off x="10304201" y="6265504"/>
            <a:ext cx="1260629" cy="410389"/>
          </a:xfrm>
          <a:prstGeom prst="rect">
            <a:avLst/>
          </a:prstGeom>
          <a:noFill/>
          <a:ln/>
        </p:spPr>
        <p:txBody>
          <a:bodyPr wrap="none" lIns="0" tIns="0" rIns="0" bIns="0" rtlCol="0" anchor="t"/>
          <a:lstStyle/>
          <a:p>
            <a:pPr algn="l" indent="0" marL="0">
              <a:lnSpc>
                <a:spcPts val="3230"/>
              </a:lnSpc>
              <a:buNone/>
            </a:pPr>
            <a:r>
              <a:rPr lang="en-US" sz="3400" spc="-102" kern="0" dirty="0">
                <a:solidFill>
                  <a:srgbClr val="121519"/>
                </a:solidFill>
                <a:latin typeface="Inter Tight SemiBold" pitchFamily="34" charset="0"/>
                <a:ea typeface="Inter Tight SemiBold" pitchFamily="34" charset="-122"/>
                <a:cs typeface="Inter Tight SemiBold" pitchFamily="34" charset="-120"/>
              </a:rPr>
              <a:t>~50%</a:t>
            </a:r>
            <a:endParaRPr lang="en-US" sz="3400" dirty="0"/>
          </a:p>
        </p:txBody>
      </p:sp>
      <p:sp>
        <p:nvSpPr>
          <p:cNvPr id="53" name="Text 51"/>
          <p:cNvSpPr/>
          <p:nvPr/>
        </p:nvSpPr>
        <p:spPr>
          <a:xfrm>
            <a:off x="10304201" y="6731162"/>
            <a:ext cx="420315"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7D838A"/>
                </a:solidFill>
                <a:latin typeface="Inter Medium" pitchFamily="34" charset="0"/>
                <a:ea typeface="Inter Medium" pitchFamily="34" charset="-122"/>
                <a:cs typeface="Inter Medium" pitchFamily="34" charset="-120"/>
              </a:rPr>
              <a:t>SHARE</a:t>
            </a:r>
            <a:endParaRPr lang="en-US" sz="580" dirty="0"/>
          </a:p>
        </p:txBody>
      </p:sp>
      <p:sp>
        <p:nvSpPr>
          <p:cNvPr id="54" name="Text 52"/>
          <p:cNvSpPr/>
          <p:nvPr/>
        </p:nvSpPr>
        <p:spPr>
          <a:xfrm>
            <a:off x="10304201" y="6866349"/>
            <a:ext cx="1927333"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一級強粘炭の世界供給に占めるBMAのシェア</a:t>
            </a:r>
            <a:endParaRPr lang="en-US" sz="670" dirty="0"/>
          </a:p>
        </p:txBody>
      </p:sp>
      <p:sp>
        <p:nvSpPr>
          <p:cNvPr id="55" name="Text 53"/>
          <p:cNvSpPr/>
          <p:nvPr/>
        </p:nvSpPr>
        <p:spPr>
          <a:xfrm>
            <a:off x="12540377" y="6265504"/>
            <a:ext cx="898997" cy="410389"/>
          </a:xfrm>
          <a:prstGeom prst="rect">
            <a:avLst/>
          </a:prstGeom>
          <a:noFill/>
          <a:ln/>
        </p:spPr>
        <p:txBody>
          <a:bodyPr wrap="none" lIns="0" tIns="0" rIns="0" bIns="0" rtlCol="0" anchor="t"/>
          <a:lstStyle/>
          <a:p>
            <a:pPr algn="l" indent="0" marL="0">
              <a:lnSpc>
                <a:spcPts val="3230"/>
              </a:lnSpc>
              <a:buNone/>
            </a:pPr>
            <a:r>
              <a:rPr lang="en-US" sz="3400" spc="-102" kern="0" dirty="0">
                <a:solidFill>
                  <a:srgbClr val="121519"/>
                </a:solidFill>
                <a:latin typeface="Inter Tight SemiBold" pitchFamily="34" charset="0"/>
                <a:ea typeface="Inter Tight SemiBold" pitchFamily="34" charset="-122"/>
                <a:cs typeface="Inter Tight SemiBold" pitchFamily="34" charset="-120"/>
              </a:rPr>
              <a:t>60+</a:t>
            </a:r>
            <a:endParaRPr lang="en-US" sz="3400" dirty="0"/>
          </a:p>
        </p:txBody>
      </p:sp>
      <p:sp>
        <p:nvSpPr>
          <p:cNvPr id="56" name="Text 54"/>
          <p:cNvSpPr/>
          <p:nvPr/>
        </p:nvSpPr>
        <p:spPr>
          <a:xfrm>
            <a:off x="12540377" y="6731162"/>
            <a:ext cx="416385"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7D838A"/>
                </a:solidFill>
                <a:latin typeface="Inter Medium" pitchFamily="34" charset="0"/>
                <a:ea typeface="Inter Medium" pitchFamily="34" charset="-122"/>
                <a:cs typeface="Inter Medium" pitchFamily="34" charset="-120"/>
              </a:rPr>
              <a:t>YEARS</a:t>
            </a:r>
            <a:endParaRPr lang="en-US" sz="580" dirty="0"/>
          </a:p>
        </p:txBody>
      </p:sp>
      <p:sp>
        <p:nvSpPr>
          <p:cNvPr id="57" name="Text 55"/>
          <p:cNvSpPr/>
          <p:nvPr/>
        </p:nvSpPr>
        <p:spPr>
          <a:xfrm>
            <a:off x="12540377" y="6866349"/>
            <a:ext cx="798544"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原料炭の炭鉱寿命</a:t>
            </a:r>
            <a:endParaRPr lang="en-US" sz="670" dirty="0"/>
          </a:p>
        </p:txBody>
      </p:sp>
      <p:sp>
        <p:nvSpPr>
          <p:cNvPr id="58" name="Text 56"/>
          <p:cNvSpPr/>
          <p:nvPr/>
        </p:nvSpPr>
        <p:spPr>
          <a:xfrm>
            <a:off x="508222" y="8131552"/>
            <a:ext cx="1889335"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OUR JOURNEY｜FORESIGHT</a:t>
            </a:r>
            <a:endParaRPr lang="en-US" sz="660" dirty="0"/>
          </a:p>
        </p:txBody>
      </p:sp>
      <p:sp>
        <p:nvSpPr>
          <p:cNvPr id="59" name="Text 57"/>
          <p:cNvSpPr/>
          <p:nvPr/>
        </p:nvSpPr>
        <p:spPr>
          <a:xfrm>
            <a:off x="2414054" y="8131552"/>
            <a:ext cx="2360592"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時代を先読みし、事業モデルを変え続けてきた歩み</a:t>
            </a:r>
            <a:endParaRPr lang="en-US" sz="660" dirty="0"/>
          </a:p>
        </p:txBody>
      </p:sp>
      <p:sp>
        <p:nvSpPr>
          <p:cNvPr id="60" name="Text 58"/>
          <p:cNvSpPr/>
          <p:nvPr/>
        </p:nvSpPr>
        <p:spPr>
          <a:xfrm>
            <a:off x="508222" y="8359616"/>
            <a:ext cx="1239665" cy="217265"/>
          </a:xfrm>
          <a:prstGeom prst="rect">
            <a:avLst/>
          </a:prstGeom>
          <a:noFill/>
          <a:ln/>
        </p:spPr>
        <p:txBody>
          <a:bodyPr wrap="none" lIns="0" tIns="0" rIns="0" bIns="0" rtlCol="0" anchor="t"/>
          <a:lstStyle/>
          <a:p>
            <a:pPr algn="l" indent="0" marL="0">
              <a:lnSpc>
                <a:spcPts val="1710"/>
              </a:lnSpc>
              <a:buNone/>
            </a:pPr>
            <a:r>
              <a:rPr lang="en-US" sz="1800" spc="-54" kern="0" dirty="0">
                <a:solidFill>
                  <a:srgbClr val="121519"/>
                </a:solidFill>
                <a:latin typeface="Inter Tight SemiBold" pitchFamily="34" charset="0"/>
                <a:ea typeface="Inter Tight SemiBold" pitchFamily="34" charset="-122"/>
                <a:cs typeface="Inter Tight SemiBold" pitchFamily="34" charset="-120"/>
              </a:rPr>
              <a:t>1980s–90s</a:t>
            </a:r>
            <a:endParaRPr lang="en-US" sz="1800" dirty="0"/>
          </a:p>
        </p:txBody>
      </p:sp>
      <p:sp>
        <p:nvSpPr>
          <p:cNvPr id="61" name="Text 59"/>
          <p:cNvSpPr/>
          <p:nvPr/>
        </p:nvSpPr>
        <p:spPr>
          <a:xfrm>
            <a:off x="508222" y="8863963"/>
            <a:ext cx="1229183" cy="161488"/>
          </a:xfrm>
          <a:prstGeom prst="rect">
            <a:avLst/>
          </a:prstGeom>
          <a:noFill/>
          <a:ln/>
        </p:spPr>
        <p:txBody>
          <a:bodyPr wrap="none" lIns="0" tIns="0" rIns="0" bIns="0" rtlCol="0" anchor="t"/>
          <a:lstStyle/>
          <a:p>
            <a:pPr algn="l" indent="0" marL="0">
              <a:lnSpc>
                <a:spcPts val="1271"/>
              </a:lnSpc>
              <a:buNone/>
            </a:pPr>
            <a:r>
              <a:rPr lang="en-US" sz="820" spc="30" kern="0" dirty="0">
                <a:solidFill>
                  <a:srgbClr val="121519"/>
                </a:solidFill>
                <a:latin typeface="Noto Sans JP Medium" pitchFamily="34" charset="0"/>
                <a:ea typeface="Noto Sans JP Medium" pitchFamily="34" charset="-122"/>
                <a:cs typeface="Noto Sans JP Medium" pitchFamily="34" charset="-120"/>
              </a:rPr>
              <a:t>トレーディングで参入</a:t>
            </a:r>
            <a:endParaRPr lang="en-US" sz="820" dirty="0"/>
          </a:p>
        </p:txBody>
      </p:sp>
      <p:sp>
        <p:nvSpPr>
          <p:cNvPr id="62" name="Text 60"/>
          <p:cNvSpPr/>
          <p:nvPr/>
        </p:nvSpPr>
        <p:spPr>
          <a:xfrm>
            <a:off x="508222" y="9064012"/>
            <a:ext cx="2915924" cy="285113"/>
          </a:xfrm>
          <a:prstGeom prst="rect">
            <a:avLst/>
          </a:prstGeom>
          <a:noFill/>
          <a:ln/>
        </p:spPr>
        <p:txBody>
          <a:bodyPr wrap="none" lIns="0" tIns="0" rIns="0" bIns="0" rtlCol="0" anchor="t"/>
          <a:lstStyle/>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日本が世界最大の消費国だった時代。資源を日本へ運ぶ役割から始</a:t>
            </a:r>
            <a:endParaRPr lang="en-US" sz="660" dirty="0"/>
          </a:p>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まり、少数株主として出資。</a:t>
            </a:r>
            <a:endParaRPr lang="en-US" sz="660" dirty="0"/>
          </a:p>
        </p:txBody>
      </p:sp>
      <p:sp>
        <p:nvSpPr>
          <p:cNvPr id="63" name="Text 61"/>
          <p:cNvSpPr/>
          <p:nvPr/>
        </p:nvSpPr>
        <p:spPr>
          <a:xfrm>
            <a:off x="3379676" y="8359616"/>
            <a:ext cx="703768" cy="217265"/>
          </a:xfrm>
          <a:prstGeom prst="rect">
            <a:avLst/>
          </a:prstGeom>
          <a:noFill/>
          <a:ln/>
        </p:spPr>
        <p:txBody>
          <a:bodyPr wrap="none" lIns="0" tIns="0" rIns="0" bIns="0" rtlCol="0" anchor="t"/>
          <a:lstStyle/>
          <a:p>
            <a:pPr algn="l" indent="0" marL="0">
              <a:lnSpc>
                <a:spcPts val="1710"/>
              </a:lnSpc>
              <a:buNone/>
            </a:pPr>
            <a:r>
              <a:rPr lang="en-US" sz="1800" spc="-54" kern="0" dirty="0">
                <a:solidFill>
                  <a:srgbClr val="121519"/>
                </a:solidFill>
                <a:latin typeface="Inter Tight SemiBold" pitchFamily="34" charset="0"/>
                <a:ea typeface="Inter Tight SemiBold" pitchFamily="34" charset="-122"/>
                <a:cs typeface="Inter Tight SemiBold" pitchFamily="34" charset="-120"/>
              </a:rPr>
              <a:t>1990s</a:t>
            </a:r>
            <a:endParaRPr lang="en-US" sz="1800" dirty="0"/>
          </a:p>
        </p:txBody>
      </p:sp>
      <p:sp>
        <p:nvSpPr>
          <p:cNvPr id="64" name="Text 62"/>
          <p:cNvSpPr/>
          <p:nvPr/>
        </p:nvSpPr>
        <p:spPr>
          <a:xfrm>
            <a:off x="3379676" y="8863963"/>
            <a:ext cx="999887" cy="161488"/>
          </a:xfrm>
          <a:prstGeom prst="rect">
            <a:avLst/>
          </a:prstGeom>
          <a:noFill/>
          <a:ln/>
        </p:spPr>
        <p:txBody>
          <a:bodyPr wrap="none" lIns="0" tIns="0" rIns="0" bIns="0" rtlCol="0" anchor="t"/>
          <a:lstStyle/>
          <a:p>
            <a:pPr algn="l" indent="0" marL="0">
              <a:lnSpc>
                <a:spcPts val="1271"/>
              </a:lnSpc>
              <a:buNone/>
            </a:pPr>
            <a:r>
              <a:rPr lang="en-US" sz="820" spc="30" kern="0" dirty="0">
                <a:solidFill>
                  <a:srgbClr val="121519"/>
                </a:solidFill>
                <a:latin typeface="Noto Sans JP Medium" pitchFamily="34" charset="0"/>
                <a:ea typeface="Noto Sans JP Medium" pitchFamily="34" charset="-122"/>
                <a:cs typeface="Noto Sans JP Medium" pitchFamily="34" charset="-120"/>
              </a:rPr>
              <a:t>投資モデルへ転換</a:t>
            </a:r>
            <a:endParaRPr lang="en-US" sz="820" dirty="0"/>
          </a:p>
        </p:txBody>
      </p:sp>
      <p:sp>
        <p:nvSpPr>
          <p:cNvPr id="65" name="Text 63"/>
          <p:cNvSpPr/>
          <p:nvPr/>
        </p:nvSpPr>
        <p:spPr>
          <a:xfrm>
            <a:off x="3379676" y="9064012"/>
            <a:ext cx="2915924" cy="285113"/>
          </a:xfrm>
          <a:prstGeom prst="rect">
            <a:avLst/>
          </a:prstGeom>
          <a:noFill/>
          <a:ln/>
        </p:spPr>
        <p:txBody>
          <a:bodyPr wrap="none" lIns="0" tIns="0" rIns="0" bIns="0" rtlCol="0" anchor="t"/>
          <a:lstStyle/>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口銭モデルから投資モデルへ。JV運営の知見を蓄積し、事業経営へ</a:t>
            </a:r>
            <a:endParaRPr lang="en-US" sz="660" dirty="0"/>
          </a:p>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と舵を切る。</a:t>
            </a:r>
            <a:endParaRPr lang="en-US" sz="660" dirty="0"/>
          </a:p>
        </p:txBody>
      </p:sp>
      <p:sp>
        <p:nvSpPr>
          <p:cNvPr id="66" name="Text 64"/>
          <p:cNvSpPr/>
          <p:nvPr/>
        </p:nvSpPr>
        <p:spPr>
          <a:xfrm>
            <a:off x="6251130" y="8359616"/>
            <a:ext cx="764259" cy="217265"/>
          </a:xfrm>
          <a:prstGeom prst="rect">
            <a:avLst/>
          </a:prstGeom>
          <a:noFill/>
          <a:ln/>
        </p:spPr>
        <p:txBody>
          <a:bodyPr wrap="none" lIns="0" tIns="0" rIns="0" bIns="0" rtlCol="0" anchor="t"/>
          <a:lstStyle/>
          <a:p>
            <a:pPr algn="l" indent="0" marL="0">
              <a:lnSpc>
                <a:spcPts val="1710"/>
              </a:lnSpc>
              <a:buNone/>
            </a:pPr>
            <a:r>
              <a:rPr lang="en-US" sz="1800" spc="-54" kern="0" dirty="0">
                <a:solidFill>
                  <a:srgbClr val="121519"/>
                </a:solidFill>
                <a:latin typeface="Inter Tight SemiBold" pitchFamily="34" charset="0"/>
                <a:ea typeface="Inter Tight SemiBold" pitchFamily="34" charset="-122"/>
                <a:cs typeface="Inter Tight SemiBold" pitchFamily="34" charset="-120"/>
              </a:rPr>
              <a:t>2000s</a:t>
            </a:r>
            <a:endParaRPr lang="en-US" sz="1800" dirty="0"/>
          </a:p>
        </p:txBody>
      </p:sp>
      <p:sp>
        <p:nvSpPr>
          <p:cNvPr id="67" name="Text 65"/>
          <p:cNvSpPr/>
          <p:nvPr/>
        </p:nvSpPr>
        <p:spPr>
          <a:xfrm>
            <a:off x="6251130" y="8863963"/>
            <a:ext cx="1107110" cy="161488"/>
          </a:xfrm>
          <a:prstGeom prst="rect">
            <a:avLst/>
          </a:prstGeom>
          <a:noFill/>
          <a:ln/>
        </p:spPr>
        <p:txBody>
          <a:bodyPr wrap="none" lIns="0" tIns="0" rIns="0" bIns="0" rtlCol="0" anchor="t"/>
          <a:lstStyle/>
          <a:p>
            <a:pPr algn="l" indent="0" marL="0">
              <a:lnSpc>
                <a:spcPts val="1271"/>
              </a:lnSpc>
              <a:buNone/>
            </a:pPr>
            <a:r>
              <a:rPr lang="en-US" sz="820" spc="30" kern="0" dirty="0">
                <a:solidFill>
                  <a:srgbClr val="121519"/>
                </a:solidFill>
                <a:latin typeface="Noto Sans JP Medium" pitchFamily="34" charset="0"/>
                <a:ea typeface="Noto Sans JP Medium" pitchFamily="34" charset="-122"/>
                <a:cs typeface="Noto Sans JP Medium" pitchFamily="34" charset="-120"/>
              </a:rPr>
              <a:t>BHPと50:50のBMA</a:t>
            </a:r>
            <a:endParaRPr lang="en-US" sz="820" dirty="0"/>
          </a:p>
        </p:txBody>
      </p:sp>
      <p:sp>
        <p:nvSpPr>
          <p:cNvPr id="68" name="Text 66"/>
          <p:cNvSpPr/>
          <p:nvPr/>
        </p:nvSpPr>
        <p:spPr>
          <a:xfrm>
            <a:off x="6251130" y="9064012"/>
            <a:ext cx="2915924" cy="285113"/>
          </a:xfrm>
          <a:prstGeom prst="rect">
            <a:avLst/>
          </a:prstGeom>
          <a:noFill/>
          <a:ln/>
        </p:spPr>
        <p:txBody>
          <a:bodyPr wrap="none" lIns="0" tIns="0" rIns="0" bIns="0" rtlCol="0" anchor="t"/>
          <a:lstStyle/>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2001年、BHPと50:50でBMAを組成。中国の成長を捉え、世界の一</a:t>
            </a:r>
            <a:endParaRPr lang="en-US" sz="660" dirty="0"/>
          </a:p>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級原料炭資産の経営に参画。</a:t>
            </a:r>
            <a:endParaRPr lang="en-US" sz="660" dirty="0"/>
          </a:p>
        </p:txBody>
      </p:sp>
      <p:sp>
        <p:nvSpPr>
          <p:cNvPr id="69" name="Text 67"/>
          <p:cNvSpPr/>
          <p:nvPr/>
        </p:nvSpPr>
        <p:spPr>
          <a:xfrm>
            <a:off x="9122585" y="8359616"/>
            <a:ext cx="702458" cy="217265"/>
          </a:xfrm>
          <a:prstGeom prst="rect">
            <a:avLst/>
          </a:prstGeom>
          <a:noFill/>
          <a:ln/>
        </p:spPr>
        <p:txBody>
          <a:bodyPr wrap="none" lIns="0" tIns="0" rIns="0" bIns="0" rtlCol="0" anchor="t"/>
          <a:lstStyle/>
          <a:p>
            <a:pPr algn="l" indent="0" marL="0">
              <a:lnSpc>
                <a:spcPts val="1710"/>
              </a:lnSpc>
              <a:buNone/>
            </a:pPr>
            <a:r>
              <a:rPr lang="en-US" sz="1800" spc="-54" kern="0" dirty="0">
                <a:solidFill>
                  <a:srgbClr val="121519"/>
                </a:solidFill>
                <a:latin typeface="Inter Tight SemiBold" pitchFamily="34" charset="0"/>
                <a:ea typeface="Inter Tight SemiBold" pitchFamily="34" charset="-122"/>
                <a:cs typeface="Inter Tight SemiBold" pitchFamily="34" charset="-120"/>
              </a:rPr>
              <a:t>2010s</a:t>
            </a:r>
            <a:endParaRPr lang="en-US" sz="1800" dirty="0"/>
          </a:p>
        </p:txBody>
      </p:sp>
      <p:sp>
        <p:nvSpPr>
          <p:cNvPr id="70" name="Text 68"/>
          <p:cNvSpPr/>
          <p:nvPr/>
        </p:nvSpPr>
        <p:spPr>
          <a:xfrm>
            <a:off x="9122585" y="8863963"/>
            <a:ext cx="881309" cy="161488"/>
          </a:xfrm>
          <a:prstGeom prst="rect">
            <a:avLst/>
          </a:prstGeom>
          <a:noFill/>
          <a:ln/>
        </p:spPr>
        <p:txBody>
          <a:bodyPr wrap="none" lIns="0" tIns="0" rIns="0" bIns="0" rtlCol="0" anchor="t"/>
          <a:lstStyle/>
          <a:p>
            <a:pPr algn="l" indent="0" marL="0">
              <a:lnSpc>
                <a:spcPts val="1271"/>
              </a:lnSpc>
              <a:buNone/>
            </a:pPr>
            <a:r>
              <a:rPr lang="en-US" sz="820" spc="30" kern="0" dirty="0">
                <a:solidFill>
                  <a:srgbClr val="121519"/>
                </a:solidFill>
                <a:latin typeface="Noto Sans JP Medium" pitchFamily="34" charset="0"/>
                <a:ea typeface="Noto Sans JP Medium" pitchFamily="34" charset="-122"/>
                <a:cs typeface="Noto Sans JP Medium" pitchFamily="34" charset="-120"/>
              </a:rPr>
              <a:t>銅の権益を拡大</a:t>
            </a:r>
            <a:endParaRPr lang="en-US" sz="820" dirty="0"/>
          </a:p>
        </p:txBody>
      </p:sp>
      <p:sp>
        <p:nvSpPr>
          <p:cNvPr id="71" name="Text 69"/>
          <p:cNvSpPr/>
          <p:nvPr/>
        </p:nvSpPr>
        <p:spPr>
          <a:xfrm>
            <a:off x="9122585" y="9064012"/>
            <a:ext cx="2915924" cy="427669"/>
          </a:xfrm>
          <a:prstGeom prst="rect">
            <a:avLst/>
          </a:prstGeom>
          <a:noFill/>
          <a:ln/>
        </p:spPr>
        <p:txBody>
          <a:bodyPr wrap="none" lIns="0" tIns="0" rIns="0" bIns="0" rtlCol="0" anchor="t"/>
          <a:lstStyle/>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「原料炭だけでよいのか」という問いから銅へ。Anglo American</a:t>
            </a:r>
            <a:endParaRPr lang="en-US" sz="660" dirty="0"/>
          </a:p>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と組みQuellavecoなど大型化。2012年にRtMを設立し、マーケテ</a:t>
            </a:r>
            <a:endParaRPr lang="en-US" sz="660" dirty="0"/>
          </a:p>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ィングを集約。</a:t>
            </a:r>
            <a:endParaRPr lang="en-US" sz="660" dirty="0"/>
          </a:p>
        </p:txBody>
      </p:sp>
      <p:sp>
        <p:nvSpPr>
          <p:cNvPr id="72" name="Text 70"/>
          <p:cNvSpPr/>
          <p:nvPr/>
        </p:nvSpPr>
        <p:spPr>
          <a:xfrm>
            <a:off x="11994039" y="8359616"/>
            <a:ext cx="752903" cy="217265"/>
          </a:xfrm>
          <a:prstGeom prst="rect">
            <a:avLst/>
          </a:prstGeom>
          <a:noFill/>
          <a:ln/>
        </p:spPr>
        <p:txBody>
          <a:bodyPr wrap="none" lIns="0" tIns="0" rIns="0" bIns="0" rtlCol="0" anchor="t"/>
          <a:lstStyle/>
          <a:p>
            <a:pPr algn="l" indent="0" marL="0">
              <a:lnSpc>
                <a:spcPts val="1710"/>
              </a:lnSpc>
              <a:buNone/>
            </a:pPr>
            <a:r>
              <a:rPr lang="en-US" sz="1800" spc="-54" kern="0" dirty="0">
                <a:solidFill>
                  <a:srgbClr val="121519"/>
                </a:solidFill>
                <a:latin typeface="Inter Tight SemiBold" pitchFamily="34" charset="0"/>
                <a:ea typeface="Inter Tight SemiBold" pitchFamily="34" charset="-122"/>
                <a:cs typeface="Inter Tight SemiBold" pitchFamily="34" charset="-120"/>
              </a:rPr>
              <a:t>2020s</a:t>
            </a:r>
            <a:endParaRPr lang="en-US" sz="1800" dirty="0"/>
          </a:p>
        </p:txBody>
      </p:sp>
      <p:sp>
        <p:nvSpPr>
          <p:cNvPr id="73" name="Text 71"/>
          <p:cNvSpPr/>
          <p:nvPr/>
        </p:nvSpPr>
        <p:spPr>
          <a:xfrm>
            <a:off x="11994039" y="8863963"/>
            <a:ext cx="1473328" cy="161488"/>
          </a:xfrm>
          <a:prstGeom prst="rect">
            <a:avLst/>
          </a:prstGeom>
          <a:noFill/>
          <a:ln/>
        </p:spPr>
        <p:txBody>
          <a:bodyPr wrap="none" lIns="0" tIns="0" rIns="0" bIns="0" rtlCol="0" anchor="t"/>
          <a:lstStyle/>
          <a:p>
            <a:pPr algn="l" indent="0" marL="0">
              <a:lnSpc>
                <a:spcPts val="1271"/>
              </a:lnSpc>
              <a:buNone/>
            </a:pPr>
            <a:r>
              <a:rPr lang="en-US" sz="820" spc="30" kern="0" dirty="0">
                <a:solidFill>
                  <a:srgbClr val="121519"/>
                </a:solidFill>
                <a:latin typeface="Noto Sans JP Medium" pitchFamily="34" charset="0"/>
                <a:ea typeface="Noto Sans JP Medium" pitchFamily="34" charset="-122"/>
                <a:cs typeface="Noto Sans JP Medium" pitchFamily="34" charset="-120"/>
              </a:rPr>
              <a:t>グローバルなトレーダーへ</a:t>
            </a:r>
            <a:endParaRPr lang="en-US" sz="820" dirty="0"/>
          </a:p>
        </p:txBody>
      </p:sp>
      <p:sp>
        <p:nvSpPr>
          <p:cNvPr id="74" name="Text 72"/>
          <p:cNvSpPr/>
          <p:nvPr/>
        </p:nvSpPr>
        <p:spPr>
          <a:xfrm>
            <a:off x="11994039" y="9064012"/>
            <a:ext cx="2915924" cy="285113"/>
          </a:xfrm>
          <a:prstGeom prst="rect">
            <a:avLst/>
          </a:prstGeom>
          <a:noFill/>
          <a:ln/>
        </p:spPr>
        <p:txBody>
          <a:bodyPr wrap="none" lIns="0" tIns="0" rIns="0" bIns="0" rtlCol="0" anchor="t"/>
          <a:lstStyle/>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地域に特化したトレーディングから、世界の市場を相手にするグロ</a:t>
            </a:r>
            <a:endParaRPr lang="en-US" sz="660" dirty="0"/>
          </a:p>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ーバルなトレーダーへ。</a:t>
            </a:r>
            <a:endParaRPr lang="en-US" sz="660" dirty="0"/>
          </a:p>
        </p:txBody>
      </p:sp>
      <p:sp>
        <p:nvSpPr>
          <p:cNvPr id="75" name="Text 73"/>
          <p:cNvSpPr/>
          <p:nvPr/>
        </p:nvSpPr>
        <p:spPr>
          <a:xfrm>
            <a:off x="508222" y="10316906"/>
            <a:ext cx="204778"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04</a:t>
            </a:r>
            <a:endParaRPr lang="en-US" sz="600" dirty="0"/>
          </a:p>
        </p:txBody>
      </p:sp>
      <p:sp>
        <p:nvSpPr>
          <p:cNvPr id="76" name="Text 74"/>
          <p:cNvSpPr/>
          <p:nvPr/>
        </p:nvSpPr>
        <p:spPr>
          <a:xfrm>
            <a:off x="14458915" y="10316906"/>
            <a:ext cx="200410"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05</a:t>
            </a:r>
            <a:endParaRPr lang="en-US" sz="600" dirty="0"/>
          </a:p>
        </p:txBody>
      </p:sp>
      <p:sp>
        <p:nvSpPr>
          <p:cNvPr id="77" name="Text 75"/>
          <p:cNvSpPr/>
          <p:nvPr/>
        </p:nvSpPr>
        <p:spPr>
          <a:xfrm>
            <a:off x="876683" y="10328977"/>
            <a:ext cx="5247749" cy="102915"/>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台割メモ｜動画02 Who we are。三菱商事→金属資源G→組織（投資2本部＋トレーディング1本部、関係会社）を1ページに。ミッションはパネルで強調。</a:t>
            </a:r>
            <a:endParaRPr lang="en-US" sz="540" dirty="0"/>
          </a:p>
        </p:txBody>
      </p:sp>
      <p:sp>
        <p:nvSpPr>
          <p:cNvPr id="78" name="Text 76"/>
          <p:cNvSpPr/>
          <p:nvPr/>
        </p:nvSpPr>
        <p:spPr>
          <a:xfrm>
            <a:off x="8169668" y="10328977"/>
            <a:ext cx="5290770" cy="102915"/>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台割メモ｜動画03 Our Strengths。【強調】一級資産の地図と数字3つ。下段の「歩み（先見性）」は見開き全幅の帯で左右をつなぐ（参考資料P34の意向）。</a:t>
            </a:r>
            <a:endParaRPr lang="en-US" sz="5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8222" y="508222"/>
            <a:ext cx="1905277"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E9D6AC"/>
                </a:solidFill>
                <a:latin typeface="Inter SemiBold" pitchFamily="34" charset="0"/>
                <a:ea typeface="Inter SemiBold" pitchFamily="34" charset="-122"/>
                <a:cs typeface="Inter SemiBold" pitchFamily="34" charset="-120"/>
              </a:rPr>
              <a:t>02 · Metallurgical coal</a:t>
            </a:r>
            <a:endParaRPr lang="en-US" sz="660" dirty="0"/>
          </a:p>
        </p:txBody>
      </p:sp>
      <p:sp>
        <p:nvSpPr>
          <p:cNvPr id="3" name="Text 1"/>
          <p:cNvSpPr/>
          <p:nvPr/>
        </p:nvSpPr>
        <p:spPr>
          <a:xfrm>
            <a:off x="8068024" y="508222"/>
            <a:ext cx="910571"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E9D6AC"/>
                </a:solidFill>
                <a:latin typeface="Inter SemiBold" pitchFamily="34" charset="0"/>
                <a:ea typeface="Inter SemiBold" pitchFamily="34" charset="-122"/>
                <a:cs typeface="Inter SemiBold" pitchFamily="34" charset="-120"/>
              </a:rPr>
              <a:t>02 · Copper</a:t>
            </a:r>
            <a:endParaRPr lang="en-US" sz="660" dirty="0"/>
          </a:p>
        </p:txBody>
      </p:sp>
      <p:sp>
        <p:nvSpPr>
          <p:cNvPr id="4" name="Text 2"/>
          <p:cNvSpPr/>
          <p:nvPr/>
        </p:nvSpPr>
        <p:spPr>
          <a:xfrm>
            <a:off x="508222" y="3419063"/>
            <a:ext cx="2327835" cy="772497"/>
          </a:xfrm>
          <a:prstGeom prst="rect">
            <a:avLst/>
          </a:prstGeom>
          <a:noFill/>
          <a:ln/>
        </p:spPr>
        <p:txBody>
          <a:bodyPr wrap="none" lIns="0" tIns="0" rIns="0" bIns="0" rtlCol="0" anchor="t"/>
          <a:lstStyle/>
          <a:p>
            <a:pPr algn="l" indent="0" marL="0">
              <a:lnSpc>
                <a:spcPts val="6080"/>
              </a:lnSpc>
              <a:buNone/>
            </a:pPr>
            <a:r>
              <a:rPr lang="en-US" sz="6400" spc="-192" kern="0" dirty="0">
                <a:solidFill>
                  <a:srgbClr val="FFFFFF"/>
                </a:solidFill>
                <a:latin typeface="Inter Tight SemiBold" pitchFamily="34" charset="0"/>
                <a:ea typeface="Inter Tight SemiBold" pitchFamily="34" charset="-122"/>
                <a:cs typeface="Inter Tight SemiBold" pitchFamily="34" charset="-120"/>
              </a:rPr>
              <a:t>~50%</a:t>
            </a:r>
            <a:endParaRPr lang="en-US" sz="6400" dirty="0"/>
          </a:p>
        </p:txBody>
      </p:sp>
      <p:sp>
        <p:nvSpPr>
          <p:cNvPr id="5" name="Text 3"/>
          <p:cNvSpPr/>
          <p:nvPr/>
        </p:nvSpPr>
        <p:spPr>
          <a:xfrm>
            <a:off x="2668165" y="3574516"/>
            <a:ext cx="1418297" cy="338730"/>
          </a:xfrm>
          <a:prstGeom prst="rect">
            <a:avLst/>
          </a:prstGeom>
          <a:noFill/>
          <a:ln/>
        </p:spPr>
        <p:txBody>
          <a:bodyPr wrap="none" lIns="0" tIns="0" rIns="0" bIns="0" rtlCol="0" anchor="t"/>
          <a:lstStyle/>
          <a:p>
            <a:pPr algn="l" indent="0" marL="0">
              <a:lnSpc>
                <a:spcPts val="1333"/>
              </a:lnSpc>
              <a:buNone/>
            </a:pPr>
            <a:r>
              <a:rPr lang="en-US" sz="860" spc="30" kern="0" dirty="0">
                <a:solidFill>
                  <a:srgbClr val="FFFFFF"/>
                </a:solidFill>
                <a:latin typeface="Noto Sans JP Medium" pitchFamily="34" charset="0"/>
                <a:ea typeface="Noto Sans JP Medium" pitchFamily="34" charset="-122"/>
                <a:cs typeface="Noto Sans JP Medium" pitchFamily="34" charset="-120"/>
              </a:rPr>
              <a:t>一級強粘炭の世界供給に</a:t>
            </a:r>
            <a:endParaRPr lang="en-US" sz="860" dirty="0"/>
          </a:p>
          <a:p>
            <a:pPr algn="l" indent="0" marL="0">
              <a:lnSpc>
                <a:spcPts val="1333"/>
              </a:lnSpc>
              <a:buNone/>
            </a:pPr>
            <a:r>
              <a:rPr lang="en-US" sz="860" spc="30" kern="0" dirty="0">
                <a:solidFill>
                  <a:srgbClr val="FFFFFF"/>
                </a:solidFill>
                <a:latin typeface="Noto Sans JP Medium" pitchFamily="34" charset="0"/>
                <a:ea typeface="Noto Sans JP Medium" pitchFamily="34" charset="-122"/>
                <a:cs typeface="Noto Sans JP Medium" pitchFamily="34" charset="-120"/>
              </a:rPr>
              <a:t>占めるBMAのシェア</a:t>
            </a:r>
            <a:endParaRPr lang="en-US" sz="860" dirty="0"/>
          </a:p>
        </p:txBody>
      </p:sp>
      <p:sp>
        <p:nvSpPr>
          <p:cNvPr id="6" name="Text 4"/>
          <p:cNvSpPr/>
          <p:nvPr/>
        </p:nvSpPr>
        <p:spPr>
          <a:xfrm>
            <a:off x="8068024" y="3419063"/>
            <a:ext cx="1600204" cy="772497"/>
          </a:xfrm>
          <a:prstGeom prst="rect">
            <a:avLst/>
          </a:prstGeom>
          <a:noFill/>
          <a:ln/>
        </p:spPr>
        <p:txBody>
          <a:bodyPr wrap="none" lIns="0" tIns="0" rIns="0" bIns="0" rtlCol="0" anchor="t"/>
          <a:lstStyle/>
          <a:p>
            <a:pPr algn="l" indent="0" marL="0">
              <a:lnSpc>
                <a:spcPts val="6080"/>
              </a:lnSpc>
              <a:buNone/>
            </a:pPr>
            <a:r>
              <a:rPr lang="en-US" sz="6400" spc="-192" kern="0" dirty="0">
                <a:solidFill>
                  <a:srgbClr val="FFFFFF"/>
                </a:solidFill>
                <a:latin typeface="Inter Tight SemiBold" pitchFamily="34" charset="0"/>
                <a:ea typeface="Inter Tight SemiBold" pitchFamily="34" charset="-122"/>
                <a:cs typeface="Inter Tight SemiBold" pitchFamily="34" charset="-120"/>
              </a:rPr>
              <a:t>No.1</a:t>
            </a:r>
            <a:endParaRPr lang="en-US" sz="6400" dirty="0"/>
          </a:p>
        </p:txBody>
      </p:sp>
      <p:sp>
        <p:nvSpPr>
          <p:cNvPr id="7" name="Text 5"/>
          <p:cNvSpPr/>
          <p:nvPr/>
        </p:nvSpPr>
        <p:spPr>
          <a:xfrm>
            <a:off x="9973856" y="3574516"/>
            <a:ext cx="2288309" cy="338730"/>
          </a:xfrm>
          <a:prstGeom prst="rect">
            <a:avLst/>
          </a:prstGeom>
          <a:noFill/>
          <a:ln/>
        </p:spPr>
        <p:txBody>
          <a:bodyPr wrap="none" lIns="0" tIns="0" rIns="0" bIns="0" rtlCol="0" anchor="t"/>
          <a:lstStyle/>
          <a:p>
            <a:pPr algn="l" indent="0" marL="0">
              <a:lnSpc>
                <a:spcPts val="1333"/>
              </a:lnSpc>
              <a:buNone/>
            </a:pPr>
            <a:r>
              <a:rPr lang="en-US" sz="860" spc="30" kern="0" dirty="0">
                <a:solidFill>
                  <a:srgbClr val="FFFFFF"/>
                </a:solidFill>
                <a:latin typeface="Noto Sans JP Medium" pitchFamily="34" charset="0"/>
                <a:ea typeface="Noto Sans JP Medium" pitchFamily="34" charset="-122"/>
                <a:cs typeface="Noto Sans JP Medium" pitchFamily="34" charset="-120"/>
              </a:rPr>
              <a:t>ノンオペレーター（自社操業を伴わない</a:t>
            </a:r>
            <a:endParaRPr lang="en-US" sz="860" dirty="0"/>
          </a:p>
          <a:p>
            <a:pPr algn="l" indent="0" marL="0">
              <a:lnSpc>
                <a:spcPts val="1333"/>
              </a:lnSpc>
              <a:buNone/>
            </a:pPr>
            <a:r>
              <a:rPr lang="en-US" sz="860" spc="30" kern="0" dirty="0">
                <a:solidFill>
                  <a:srgbClr val="FFFFFF"/>
                </a:solidFill>
                <a:latin typeface="Noto Sans JP Medium" pitchFamily="34" charset="0"/>
                <a:ea typeface="Noto Sans JP Medium" pitchFamily="34" charset="-122"/>
                <a:cs typeface="Noto Sans JP Medium" pitchFamily="34" charset="-120"/>
              </a:rPr>
              <a:t>参画者）として世界最大の銅生産者</a:t>
            </a:r>
            <a:endParaRPr lang="en-US" sz="860" dirty="0"/>
          </a:p>
        </p:txBody>
      </p:sp>
      <p:sp>
        <p:nvSpPr>
          <p:cNvPr id="8" name="Text 6"/>
          <p:cNvSpPr/>
          <p:nvPr/>
        </p:nvSpPr>
        <p:spPr>
          <a:xfrm>
            <a:off x="508222" y="4468542"/>
            <a:ext cx="3262051" cy="777580"/>
          </a:xfrm>
          <a:prstGeom prst="rect">
            <a:avLst/>
          </a:prstGeom>
          <a:noFill/>
          <a:ln/>
        </p:spPr>
        <p:txBody>
          <a:bodyPr wrap="none" lIns="0" tIns="0" rIns="0" bIns="0" rtlCol="0" anchor="t"/>
          <a:lstStyle/>
          <a:p>
            <a:pPr algn="l" indent="0" marL="0">
              <a:lnSpc>
                <a:spcPts val="3060"/>
              </a:lnSpc>
              <a:buNone/>
            </a:pPr>
            <a:r>
              <a:rPr lang="en-US" sz="3000" spc="-75" kern="0" dirty="0">
                <a:solidFill>
                  <a:srgbClr val="121519"/>
                </a:solidFill>
                <a:latin typeface="Inter Tight SemiBold" pitchFamily="34" charset="0"/>
                <a:ea typeface="Inter Tight SemiBold" pitchFamily="34" charset="-122"/>
                <a:cs typeface="Inter Tight SemiBold" pitchFamily="34" charset="-120"/>
              </a:rPr>
              <a:t>World-class</a:t>
            </a:r>
            <a:endParaRPr lang="en-US" sz="3000" dirty="0"/>
          </a:p>
          <a:p>
            <a:pPr algn="l" indent="0" marL="0">
              <a:lnSpc>
                <a:spcPts val="3060"/>
              </a:lnSpc>
              <a:buNone/>
            </a:pPr>
            <a:r>
              <a:rPr lang="en-US" sz="3000" spc="-75" kern="0" dirty="0">
                <a:solidFill>
                  <a:srgbClr val="121519"/>
                </a:solidFill>
                <a:latin typeface="Inter Tight SemiBold" pitchFamily="34" charset="0"/>
                <a:ea typeface="Inter Tight SemiBold" pitchFamily="34" charset="-122"/>
                <a:cs typeface="Inter Tight SemiBold" pitchFamily="34" charset="-120"/>
              </a:rPr>
              <a:t>metallurgical coal.</a:t>
            </a:r>
            <a:endParaRPr lang="en-US" sz="3000" dirty="0"/>
          </a:p>
        </p:txBody>
      </p:sp>
      <p:sp>
        <p:nvSpPr>
          <p:cNvPr id="9" name="Text 7"/>
          <p:cNvSpPr/>
          <p:nvPr/>
        </p:nvSpPr>
        <p:spPr>
          <a:xfrm>
            <a:off x="508222" y="5455445"/>
            <a:ext cx="4442158"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原料炭事業｜鉄の主原料“産業のコメ”を、世界最高品位で</a:t>
            </a:r>
            <a:endParaRPr lang="en-US" sz="1150" dirty="0"/>
          </a:p>
        </p:txBody>
      </p:sp>
      <p:sp>
        <p:nvSpPr>
          <p:cNvPr id="10" name="Text 8"/>
          <p:cNvSpPr/>
          <p:nvPr/>
        </p:nvSpPr>
        <p:spPr>
          <a:xfrm>
            <a:off x="508222" y="5734999"/>
            <a:ext cx="3544848" cy="1085943"/>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BHPと50:50の合弁であるBMA（BHP Mitsubishi Alliance）を通じ、</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豪州クイーンズランド州ボーエン・ベースンで世界最高品位の原料炭</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事業に参画しています。炭鉱（露天掘4・坑内掘1）に加え、港湾と鉄</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道までを自社で保有し、山から港まで全体最適で運営。保有鉱山は高</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品位のものに集約し、高品位原料の供給を通じて鉄鋼業の脱炭素にも</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貢献しています。</a:t>
            </a:r>
            <a:endParaRPr lang="en-US" sz="770" dirty="0"/>
          </a:p>
        </p:txBody>
      </p:sp>
      <p:sp>
        <p:nvSpPr>
          <p:cNvPr id="11" name="Text 9"/>
          <p:cNvSpPr/>
          <p:nvPr/>
        </p:nvSpPr>
        <p:spPr>
          <a:xfrm>
            <a:off x="3938720" y="5734967"/>
            <a:ext cx="251074" cy="181054"/>
          </a:xfrm>
          <a:prstGeom prst="rect">
            <a:avLst/>
          </a:prstGeom>
          <a:noFill/>
          <a:ln/>
        </p:spPr>
        <p:txBody>
          <a:bodyPr wrap="none" lIns="0" tIns="0" rIns="0" bIns="0" rtlCol="0" anchor="t"/>
          <a:lstStyle/>
          <a:p>
            <a:pPr algn="l" indent="0" marL="0">
              <a:lnSpc>
                <a:spcPts val="1425"/>
              </a:lnSpc>
              <a:buNone/>
            </a:pPr>
            <a:r>
              <a:rPr lang="en-US" sz="1500" spc="-45" kern="0" dirty="0">
                <a:solidFill>
                  <a:srgbClr val="9C7442"/>
                </a:solidFill>
                <a:latin typeface="Inter Tight SemiBold" pitchFamily="34" charset="0"/>
                <a:ea typeface="Inter Tight SemiBold" pitchFamily="34" charset="-122"/>
                <a:cs typeface="Inter Tight SemiBold" pitchFamily="34" charset="-120"/>
              </a:rPr>
              <a:t>01</a:t>
            </a:r>
            <a:endParaRPr lang="en-US" sz="1500" dirty="0"/>
          </a:p>
        </p:txBody>
      </p:sp>
      <p:sp>
        <p:nvSpPr>
          <p:cNvPr id="12" name="Text 10"/>
          <p:cNvSpPr/>
          <p:nvPr/>
        </p:nvSpPr>
        <p:spPr>
          <a:xfrm>
            <a:off x="4294476" y="5772131"/>
            <a:ext cx="1558931" cy="157549"/>
          </a:xfrm>
          <a:prstGeom prst="rect">
            <a:avLst/>
          </a:prstGeom>
          <a:noFill/>
          <a:ln/>
        </p:spPr>
        <p:txBody>
          <a:bodyPr wrap="none" lIns="0" tIns="0" rIns="0" bIns="0" rtlCol="0" anchor="t"/>
          <a:lstStyle/>
          <a:p>
            <a:pPr algn="l" indent="0" marL="0">
              <a:lnSpc>
                <a:spcPts val="1240"/>
              </a:lnSpc>
              <a:buNone/>
            </a:pPr>
            <a:r>
              <a:rPr lang="en-US" sz="800" spc="30" kern="0" dirty="0">
                <a:solidFill>
                  <a:srgbClr val="121519"/>
                </a:solidFill>
                <a:latin typeface="Noto Sans JP Medium" pitchFamily="34" charset="0"/>
                <a:ea typeface="Noto Sans JP Medium" pitchFamily="34" charset="-122"/>
                <a:cs typeface="Noto Sans JP Medium" pitchFamily="34" charset="-120"/>
              </a:rPr>
              <a:t>世界最高品位の原料炭を保有</a:t>
            </a:r>
            <a:endParaRPr lang="en-US" sz="800" dirty="0"/>
          </a:p>
        </p:txBody>
      </p:sp>
      <p:sp>
        <p:nvSpPr>
          <p:cNvPr id="13" name="Text 11"/>
          <p:cNvSpPr/>
          <p:nvPr/>
        </p:nvSpPr>
        <p:spPr>
          <a:xfrm>
            <a:off x="3938720" y="6116134"/>
            <a:ext cx="293002" cy="181054"/>
          </a:xfrm>
          <a:prstGeom prst="rect">
            <a:avLst/>
          </a:prstGeom>
          <a:noFill/>
          <a:ln/>
        </p:spPr>
        <p:txBody>
          <a:bodyPr wrap="none" lIns="0" tIns="0" rIns="0" bIns="0" rtlCol="0" anchor="t"/>
          <a:lstStyle/>
          <a:p>
            <a:pPr algn="l" indent="0" marL="0">
              <a:lnSpc>
                <a:spcPts val="1425"/>
              </a:lnSpc>
              <a:buNone/>
            </a:pPr>
            <a:r>
              <a:rPr lang="en-US" sz="1500" spc="-45" kern="0" dirty="0">
                <a:solidFill>
                  <a:srgbClr val="9C7442"/>
                </a:solidFill>
                <a:latin typeface="Inter Tight SemiBold" pitchFamily="34" charset="0"/>
                <a:ea typeface="Inter Tight SemiBold" pitchFamily="34" charset="-122"/>
                <a:cs typeface="Inter Tight SemiBold" pitchFamily="34" charset="-120"/>
              </a:rPr>
              <a:t>02</a:t>
            </a:r>
            <a:endParaRPr lang="en-US" sz="1500" dirty="0"/>
          </a:p>
        </p:txBody>
      </p:sp>
      <p:sp>
        <p:nvSpPr>
          <p:cNvPr id="14" name="Text 12"/>
          <p:cNvSpPr/>
          <p:nvPr/>
        </p:nvSpPr>
        <p:spPr>
          <a:xfrm>
            <a:off x="4294476" y="6153298"/>
            <a:ext cx="1915104" cy="157549"/>
          </a:xfrm>
          <a:prstGeom prst="rect">
            <a:avLst/>
          </a:prstGeom>
          <a:noFill/>
          <a:ln/>
        </p:spPr>
        <p:txBody>
          <a:bodyPr wrap="none" lIns="0" tIns="0" rIns="0" bIns="0" rtlCol="0" anchor="t"/>
          <a:lstStyle/>
          <a:p>
            <a:pPr algn="l" indent="0" marL="0">
              <a:lnSpc>
                <a:spcPts val="1240"/>
              </a:lnSpc>
              <a:buNone/>
            </a:pPr>
            <a:r>
              <a:rPr lang="en-US" sz="800" spc="30" kern="0" dirty="0">
                <a:solidFill>
                  <a:srgbClr val="121519"/>
                </a:solidFill>
                <a:latin typeface="Noto Sans JP Medium" pitchFamily="34" charset="0"/>
                <a:ea typeface="Noto Sans JP Medium" pitchFamily="34" charset="-122"/>
                <a:cs typeface="Noto Sans JP Medium" pitchFamily="34" charset="-120"/>
              </a:rPr>
              <a:t>原料炭は鉄の主原料＝“産業のコメ”</a:t>
            </a:r>
            <a:endParaRPr lang="en-US" sz="800" dirty="0"/>
          </a:p>
        </p:txBody>
      </p:sp>
      <p:sp>
        <p:nvSpPr>
          <p:cNvPr id="15" name="Text 13"/>
          <p:cNvSpPr/>
          <p:nvPr/>
        </p:nvSpPr>
        <p:spPr>
          <a:xfrm>
            <a:off x="3938720" y="6497300"/>
            <a:ext cx="299116" cy="181054"/>
          </a:xfrm>
          <a:prstGeom prst="rect">
            <a:avLst/>
          </a:prstGeom>
          <a:noFill/>
          <a:ln/>
        </p:spPr>
        <p:txBody>
          <a:bodyPr wrap="none" lIns="0" tIns="0" rIns="0" bIns="0" rtlCol="0" anchor="t"/>
          <a:lstStyle/>
          <a:p>
            <a:pPr algn="l" indent="0" marL="0">
              <a:lnSpc>
                <a:spcPts val="1425"/>
              </a:lnSpc>
              <a:buNone/>
            </a:pPr>
            <a:r>
              <a:rPr lang="en-US" sz="1500" spc="-45" kern="0" dirty="0">
                <a:solidFill>
                  <a:srgbClr val="9C7442"/>
                </a:solidFill>
                <a:latin typeface="Inter Tight SemiBold" pitchFamily="34" charset="0"/>
                <a:ea typeface="Inter Tight SemiBold" pitchFamily="34" charset="-122"/>
                <a:cs typeface="Inter Tight SemiBold" pitchFamily="34" charset="-120"/>
              </a:rPr>
              <a:t>03</a:t>
            </a:r>
            <a:endParaRPr lang="en-US" sz="1500" dirty="0"/>
          </a:p>
        </p:txBody>
      </p:sp>
      <p:sp>
        <p:nvSpPr>
          <p:cNvPr id="16" name="Text 14"/>
          <p:cNvSpPr/>
          <p:nvPr/>
        </p:nvSpPr>
        <p:spPr>
          <a:xfrm>
            <a:off x="4294476" y="6534464"/>
            <a:ext cx="1674889" cy="157549"/>
          </a:xfrm>
          <a:prstGeom prst="rect">
            <a:avLst/>
          </a:prstGeom>
          <a:noFill/>
          <a:ln/>
        </p:spPr>
        <p:txBody>
          <a:bodyPr wrap="none" lIns="0" tIns="0" rIns="0" bIns="0" rtlCol="0" anchor="t"/>
          <a:lstStyle/>
          <a:p>
            <a:pPr algn="l" indent="0" marL="0">
              <a:lnSpc>
                <a:spcPts val="1240"/>
              </a:lnSpc>
              <a:buNone/>
            </a:pPr>
            <a:r>
              <a:rPr lang="en-US" sz="800" spc="30" kern="0" dirty="0">
                <a:solidFill>
                  <a:srgbClr val="121519"/>
                </a:solidFill>
                <a:latin typeface="Noto Sans JP Medium" pitchFamily="34" charset="0"/>
                <a:ea typeface="Noto Sans JP Medium" pitchFamily="34" charset="-122"/>
                <a:cs typeface="Noto Sans JP Medium" pitchFamily="34" charset="-120"/>
              </a:rPr>
              <a:t>鉄は今後も底堅く必要とされる</a:t>
            </a:r>
            <a:endParaRPr lang="en-US" sz="800" dirty="0"/>
          </a:p>
        </p:txBody>
      </p:sp>
      <p:sp>
        <p:nvSpPr>
          <p:cNvPr id="17" name="Text 15"/>
          <p:cNvSpPr/>
          <p:nvPr/>
        </p:nvSpPr>
        <p:spPr>
          <a:xfrm>
            <a:off x="3938720" y="6878467"/>
            <a:ext cx="302174" cy="181054"/>
          </a:xfrm>
          <a:prstGeom prst="rect">
            <a:avLst/>
          </a:prstGeom>
          <a:noFill/>
          <a:ln/>
        </p:spPr>
        <p:txBody>
          <a:bodyPr wrap="none" lIns="0" tIns="0" rIns="0" bIns="0" rtlCol="0" anchor="t"/>
          <a:lstStyle/>
          <a:p>
            <a:pPr algn="l" indent="0" marL="0">
              <a:lnSpc>
                <a:spcPts val="1425"/>
              </a:lnSpc>
              <a:buNone/>
            </a:pPr>
            <a:r>
              <a:rPr lang="en-US" sz="1500" spc="-45" kern="0" dirty="0">
                <a:solidFill>
                  <a:srgbClr val="9C7442"/>
                </a:solidFill>
                <a:latin typeface="Inter Tight SemiBold" pitchFamily="34" charset="0"/>
                <a:ea typeface="Inter Tight SemiBold" pitchFamily="34" charset="-122"/>
                <a:cs typeface="Inter Tight SemiBold" pitchFamily="34" charset="-120"/>
              </a:rPr>
              <a:t>04</a:t>
            </a:r>
            <a:endParaRPr lang="en-US" sz="1500" dirty="0"/>
          </a:p>
        </p:txBody>
      </p:sp>
      <p:sp>
        <p:nvSpPr>
          <p:cNvPr id="18" name="Text 16"/>
          <p:cNvSpPr/>
          <p:nvPr/>
        </p:nvSpPr>
        <p:spPr>
          <a:xfrm>
            <a:off x="4294476" y="6915631"/>
            <a:ext cx="1207563" cy="157549"/>
          </a:xfrm>
          <a:prstGeom prst="rect">
            <a:avLst/>
          </a:prstGeom>
          <a:noFill/>
          <a:ln/>
        </p:spPr>
        <p:txBody>
          <a:bodyPr wrap="none" lIns="0" tIns="0" rIns="0" bIns="0" rtlCol="0" anchor="t"/>
          <a:lstStyle/>
          <a:p>
            <a:pPr algn="l" indent="0" marL="0">
              <a:lnSpc>
                <a:spcPts val="1240"/>
              </a:lnSpc>
              <a:buNone/>
            </a:pPr>
            <a:r>
              <a:rPr lang="en-US" sz="800" spc="30" kern="0" dirty="0">
                <a:solidFill>
                  <a:srgbClr val="121519"/>
                </a:solidFill>
                <a:latin typeface="Noto Sans JP Medium" pitchFamily="34" charset="0"/>
                <a:ea typeface="Noto Sans JP Medium" pitchFamily="34" charset="-122"/>
                <a:cs typeface="Noto Sans JP Medium" pitchFamily="34" charset="-120"/>
              </a:rPr>
              <a:t>ゆえに、社会に不可欠</a:t>
            </a:r>
            <a:endParaRPr lang="en-US" sz="800" dirty="0"/>
          </a:p>
        </p:txBody>
      </p:sp>
      <p:sp>
        <p:nvSpPr>
          <p:cNvPr id="19" name="Text 17"/>
          <p:cNvSpPr/>
          <p:nvPr/>
        </p:nvSpPr>
        <p:spPr>
          <a:xfrm>
            <a:off x="508222" y="7267574"/>
            <a:ext cx="852701"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OWNERSHIP</a:t>
            </a:r>
            <a:endParaRPr lang="en-US" sz="660" dirty="0"/>
          </a:p>
        </p:txBody>
      </p:sp>
      <p:sp>
        <p:nvSpPr>
          <p:cNvPr id="20" name="Text 18"/>
          <p:cNvSpPr/>
          <p:nvPr/>
        </p:nvSpPr>
        <p:spPr>
          <a:xfrm>
            <a:off x="731760" y="7572508"/>
            <a:ext cx="816669"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Inter Medium" pitchFamily="34" charset="0"/>
                <a:ea typeface="Inter Medium" pitchFamily="34" charset="-122"/>
                <a:cs typeface="Inter Medium" pitchFamily="34" charset="-120"/>
              </a:rPr>
              <a:t>Mitsubishi Corp.</a:t>
            </a:r>
            <a:endParaRPr lang="en-US" sz="640" dirty="0"/>
          </a:p>
        </p:txBody>
      </p:sp>
      <p:sp>
        <p:nvSpPr>
          <p:cNvPr id="21" name="Text 19"/>
          <p:cNvSpPr/>
          <p:nvPr/>
        </p:nvSpPr>
        <p:spPr>
          <a:xfrm>
            <a:off x="2379313" y="7572508"/>
            <a:ext cx="266797"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Inter Medium" pitchFamily="34" charset="0"/>
                <a:ea typeface="Inter Medium" pitchFamily="34" charset="-122"/>
                <a:cs typeface="Inter Medium" pitchFamily="34" charset="-120"/>
              </a:rPr>
              <a:t>MDP</a:t>
            </a:r>
            <a:endParaRPr lang="en-US" sz="640" dirty="0"/>
          </a:p>
        </p:txBody>
      </p:sp>
      <p:sp>
        <p:nvSpPr>
          <p:cNvPr id="22" name="Text 20"/>
          <p:cNvSpPr/>
          <p:nvPr/>
        </p:nvSpPr>
        <p:spPr>
          <a:xfrm>
            <a:off x="2388842" y="7979085"/>
            <a:ext cx="24605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Inter Medium" pitchFamily="34" charset="0"/>
                <a:ea typeface="Inter Medium" pitchFamily="34" charset="-122"/>
                <a:cs typeface="Inter Medium" pitchFamily="34" charset="-120"/>
              </a:rPr>
              <a:t>BHP</a:t>
            </a:r>
            <a:endParaRPr lang="en-US" sz="640" dirty="0"/>
          </a:p>
        </p:txBody>
      </p:sp>
      <p:sp>
        <p:nvSpPr>
          <p:cNvPr id="23" name="Text 21"/>
          <p:cNvSpPr/>
          <p:nvPr/>
        </p:nvSpPr>
        <p:spPr>
          <a:xfrm>
            <a:off x="3789629" y="7775796"/>
            <a:ext cx="267015"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FFFFFF"/>
                </a:solidFill>
                <a:latin typeface="Inter Medium" pitchFamily="34" charset="0"/>
                <a:ea typeface="Inter Medium" pitchFamily="34" charset="-122"/>
                <a:cs typeface="Inter Medium" pitchFamily="34" charset="-120"/>
              </a:rPr>
              <a:t>BMA</a:t>
            </a:r>
            <a:endParaRPr lang="en-US" sz="640" dirty="0"/>
          </a:p>
        </p:txBody>
      </p:sp>
      <p:sp>
        <p:nvSpPr>
          <p:cNvPr id="24" name="Text 22"/>
          <p:cNvSpPr/>
          <p:nvPr/>
        </p:nvSpPr>
        <p:spPr>
          <a:xfrm>
            <a:off x="1727955" y="7504914"/>
            <a:ext cx="245833" cy="109776"/>
          </a:xfrm>
          <a:prstGeom prst="rect">
            <a:avLst/>
          </a:prstGeom>
          <a:noFill/>
          <a:ln/>
        </p:spPr>
        <p:txBody>
          <a:bodyPr wrap="none" lIns="0" tIns="0" rIns="0" bIns="0" rtlCol="0" anchor="t"/>
          <a:lstStyle/>
          <a:p>
            <a:pPr algn="l" indent="0" marL="0">
              <a:lnSpc>
                <a:spcPts val="864"/>
              </a:lnSpc>
              <a:buNone/>
            </a:pPr>
            <a:r>
              <a:rPr lang="en-US" sz="540" dirty="0">
                <a:solidFill>
                  <a:srgbClr val="7D838A"/>
                </a:solidFill>
                <a:latin typeface="Noto Sans JP" pitchFamily="34" charset="0"/>
                <a:ea typeface="Noto Sans JP" pitchFamily="34" charset="-122"/>
                <a:cs typeface="Noto Sans JP" pitchFamily="34" charset="-120"/>
              </a:rPr>
              <a:t>100%</a:t>
            </a:r>
            <a:endParaRPr lang="en-US" sz="540" dirty="0"/>
          </a:p>
        </p:txBody>
      </p:sp>
      <p:sp>
        <p:nvSpPr>
          <p:cNvPr id="25" name="Text 23"/>
          <p:cNvSpPr/>
          <p:nvPr/>
        </p:nvSpPr>
        <p:spPr>
          <a:xfrm>
            <a:off x="2960393" y="7517620"/>
            <a:ext cx="203904" cy="109776"/>
          </a:xfrm>
          <a:prstGeom prst="rect">
            <a:avLst/>
          </a:prstGeom>
          <a:noFill/>
          <a:ln/>
        </p:spPr>
        <p:txBody>
          <a:bodyPr wrap="none" lIns="0" tIns="0" rIns="0" bIns="0" rtlCol="0" anchor="t"/>
          <a:lstStyle/>
          <a:p>
            <a:pPr algn="l" indent="0" marL="0">
              <a:lnSpc>
                <a:spcPts val="864"/>
              </a:lnSpc>
              <a:buNone/>
            </a:pPr>
            <a:r>
              <a:rPr lang="en-US" sz="540" dirty="0">
                <a:solidFill>
                  <a:srgbClr val="7D838A"/>
                </a:solidFill>
                <a:latin typeface="Noto Sans JP" pitchFamily="34" charset="0"/>
                <a:ea typeface="Noto Sans JP" pitchFamily="34" charset="-122"/>
                <a:cs typeface="Noto Sans JP" pitchFamily="34" charset="-120"/>
              </a:rPr>
              <a:t>50%</a:t>
            </a:r>
            <a:endParaRPr lang="en-US" sz="540" dirty="0"/>
          </a:p>
        </p:txBody>
      </p:sp>
      <p:sp>
        <p:nvSpPr>
          <p:cNvPr id="26" name="Text 24"/>
          <p:cNvSpPr/>
          <p:nvPr/>
        </p:nvSpPr>
        <p:spPr>
          <a:xfrm>
            <a:off x="2960393" y="8051253"/>
            <a:ext cx="203904" cy="109776"/>
          </a:xfrm>
          <a:prstGeom prst="rect">
            <a:avLst/>
          </a:prstGeom>
          <a:noFill/>
          <a:ln/>
        </p:spPr>
        <p:txBody>
          <a:bodyPr wrap="none" lIns="0" tIns="0" rIns="0" bIns="0" rtlCol="0" anchor="t"/>
          <a:lstStyle/>
          <a:p>
            <a:pPr algn="l" indent="0" marL="0">
              <a:lnSpc>
                <a:spcPts val="864"/>
              </a:lnSpc>
              <a:buNone/>
            </a:pPr>
            <a:r>
              <a:rPr lang="en-US" sz="540" dirty="0">
                <a:solidFill>
                  <a:srgbClr val="7D838A"/>
                </a:solidFill>
                <a:latin typeface="Noto Sans JP" pitchFamily="34" charset="0"/>
                <a:ea typeface="Noto Sans JP" pitchFamily="34" charset="-122"/>
                <a:cs typeface="Noto Sans JP" pitchFamily="34" charset="-120"/>
              </a:rPr>
              <a:t>50%</a:t>
            </a:r>
            <a:endParaRPr lang="en-US" sz="540" dirty="0"/>
          </a:p>
        </p:txBody>
      </p:sp>
      <p:sp>
        <p:nvSpPr>
          <p:cNvPr id="27" name="Text 25"/>
          <p:cNvSpPr/>
          <p:nvPr/>
        </p:nvSpPr>
        <p:spPr>
          <a:xfrm>
            <a:off x="508222" y="8385663"/>
            <a:ext cx="309817"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7D838A"/>
                </a:solidFill>
                <a:latin typeface="Inter Medium" pitchFamily="34" charset="0"/>
                <a:ea typeface="Inter Medium" pitchFamily="34" charset="-122"/>
                <a:cs typeface="Inter Medium" pitchFamily="34" charset="-120"/>
              </a:rPr>
              <a:t>Since</a:t>
            </a:r>
            <a:endParaRPr lang="en-US" sz="640" dirty="0"/>
          </a:p>
        </p:txBody>
      </p:sp>
      <p:sp>
        <p:nvSpPr>
          <p:cNvPr id="28" name="Text 26"/>
          <p:cNvSpPr/>
          <p:nvPr/>
        </p:nvSpPr>
        <p:spPr>
          <a:xfrm>
            <a:off x="1905832" y="8365588"/>
            <a:ext cx="1785388" cy="141794"/>
          </a:xfrm>
          <a:prstGeom prst="rect">
            <a:avLst/>
          </a:prstGeom>
          <a:noFill/>
          <a:ln/>
        </p:spPr>
        <p:txBody>
          <a:bodyPr wrap="none" lIns="0" tIns="0" rIns="0" bIns="0" rtlCol="0" anchor="t"/>
          <a:lstStyle/>
          <a:p>
            <a:pPr algn="l" indent="0" marL="0">
              <a:lnSpc>
                <a:spcPts val="1116"/>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1968年 MDP設立／2001年 BMA組成</a:t>
            </a:r>
            <a:endParaRPr lang="en-US" sz="720" dirty="0"/>
          </a:p>
        </p:txBody>
      </p:sp>
      <p:sp>
        <p:nvSpPr>
          <p:cNvPr id="29" name="Text 27"/>
          <p:cNvSpPr/>
          <p:nvPr/>
        </p:nvSpPr>
        <p:spPr>
          <a:xfrm>
            <a:off x="508222" y="8576246"/>
            <a:ext cx="452635"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7D838A"/>
                </a:solidFill>
                <a:latin typeface="Inter Medium" pitchFamily="34" charset="0"/>
                <a:ea typeface="Inter Medium" pitchFamily="34" charset="-122"/>
                <a:cs typeface="Inter Medium" pitchFamily="34" charset="-120"/>
              </a:rPr>
              <a:t>Location</a:t>
            </a:r>
            <a:endParaRPr lang="en-US" sz="640" dirty="0"/>
          </a:p>
        </p:txBody>
      </p:sp>
      <p:sp>
        <p:nvSpPr>
          <p:cNvPr id="30" name="Text 28"/>
          <p:cNvSpPr/>
          <p:nvPr/>
        </p:nvSpPr>
        <p:spPr>
          <a:xfrm>
            <a:off x="1905832" y="8556171"/>
            <a:ext cx="1884749" cy="141794"/>
          </a:xfrm>
          <a:prstGeom prst="rect">
            <a:avLst/>
          </a:prstGeom>
          <a:noFill/>
          <a:ln/>
        </p:spPr>
        <p:txBody>
          <a:bodyPr wrap="none" lIns="0" tIns="0" rIns="0" bIns="0" rtlCol="0" anchor="t"/>
          <a:lstStyle/>
          <a:p>
            <a:pPr algn="l" indent="0" marL="0">
              <a:lnSpc>
                <a:spcPts val="1116"/>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豪州クイーンズランド州 Bowen Basin</a:t>
            </a:r>
            <a:endParaRPr lang="en-US" sz="720" dirty="0"/>
          </a:p>
        </p:txBody>
      </p:sp>
      <p:sp>
        <p:nvSpPr>
          <p:cNvPr id="31" name="Text 29"/>
          <p:cNvSpPr/>
          <p:nvPr/>
        </p:nvSpPr>
        <p:spPr>
          <a:xfrm>
            <a:off x="508222" y="8766829"/>
            <a:ext cx="365503"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7D838A"/>
                </a:solidFill>
                <a:latin typeface="Inter Medium" pitchFamily="34" charset="0"/>
                <a:ea typeface="Inter Medium" pitchFamily="34" charset="-122"/>
                <a:cs typeface="Inter Medium" pitchFamily="34" charset="-120"/>
              </a:rPr>
              <a:t>Assets</a:t>
            </a:r>
            <a:endParaRPr lang="en-US" sz="640" dirty="0"/>
          </a:p>
        </p:txBody>
      </p:sp>
      <p:sp>
        <p:nvSpPr>
          <p:cNvPr id="32" name="Text 30"/>
          <p:cNvSpPr/>
          <p:nvPr/>
        </p:nvSpPr>
        <p:spPr>
          <a:xfrm>
            <a:off x="1905832" y="8746754"/>
            <a:ext cx="1964020" cy="141794"/>
          </a:xfrm>
          <a:prstGeom prst="rect">
            <a:avLst/>
          </a:prstGeom>
          <a:noFill/>
          <a:ln/>
        </p:spPr>
        <p:txBody>
          <a:bodyPr wrap="none" lIns="0" tIns="0" rIns="0" bIns="0" rtlCol="0" anchor="t"/>
          <a:lstStyle/>
          <a:p>
            <a:pPr algn="l" indent="0" marL="0">
              <a:lnSpc>
                <a:spcPts val="1116"/>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炭鉱5（露天掘4・坑内掘1）・港湾・鉄道</a:t>
            </a:r>
            <a:endParaRPr lang="en-US" sz="720" dirty="0"/>
          </a:p>
        </p:txBody>
      </p:sp>
      <p:sp>
        <p:nvSpPr>
          <p:cNvPr id="33" name="Text 31"/>
          <p:cNvSpPr/>
          <p:nvPr/>
        </p:nvSpPr>
        <p:spPr>
          <a:xfrm>
            <a:off x="508222" y="8957412"/>
            <a:ext cx="451543"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7D838A"/>
                </a:solidFill>
                <a:latin typeface="Inter Medium" pitchFamily="34" charset="0"/>
                <a:ea typeface="Inter Medium" pitchFamily="34" charset="-122"/>
                <a:cs typeface="Inter Medium" pitchFamily="34" charset="-120"/>
              </a:rPr>
              <a:t>Mine life</a:t>
            </a:r>
            <a:endParaRPr lang="en-US" sz="640" dirty="0"/>
          </a:p>
        </p:txBody>
      </p:sp>
      <p:sp>
        <p:nvSpPr>
          <p:cNvPr id="34" name="Text 32"/>
          <p:cNvSpPr/>
          <p:nvPr/>
        </p:nvSpPr>
        <p:spPr>
          <a:xfrm>
            <a:off x="1905832" y="8937338"/>
            <a:ext cx="487794" cy="141794"/>
          </a:xfrm>
          <a:prstGeom prst="rect">
            <a:avLst/>
          </a:prstGeom>
          <a:noFill/>
          <a:ln/>
        </p:spPr>
        <p:txBody>
          <a:bodyPr wrap="none" lIns="0" tIns="0" rIns="0" bIns="0" rtlCol="0" anchor="t"/>
          <a:lstStyle/>
          <a:p>
            <a:pPr algn="l" indent="0" marL="0">
              <a:lnSpc>
                <a:spcPts val="1116"/>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60年以上</a:t>
            </a:r>
            <a:endParaRPr lang="en-US" sz="720" dirty="0"/>
          </a:p>
        </p:txBody>
      </p:sp>
      <p:sp>
        <p:nvSpPr>
          <p:cNvPr id="35" name="Text 33"/>
          <p:cNvSpPr/>
          <p:nvPr/>
        </p:nvSpPr>
        <p:spPr>
          <a:xfrm>
            <a:off x="508222" y="9147996"/>
            <a:ext cx="78413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7D838A"/>
                </a:solidFill>
                <a:latin typeface="Inter Medium" pitchFamily="34" charset="0"/>
                <a:ea typeface="Inter Medium" pitchFamily="34" charset="-122"/>
                <a:cs typeface="Inter Medium" pitchFamily="34" charset="-120"/>
              </a:rPr>
              <a:t>Seaborne share</a:t>
            </a:r>
            <a:endParaRPr lang="en-US" sz="640" dirty="0"/>
          </a:p>
        </p:txBody>
      </p:sp>
      <p:sp>
        <p:nvSpPr>
          <p:cNvPr id="36" name="Text 34"/>
          <p:cNvSpPr/>
          <p:nvPr/>
        </p:nvSpPr>
        <p:spPr>
          <a:xfrm>
            <a:off x="1905832" y="9127921"/>
            <a:ext cx="1528140" cy="141794"/>
          </a:xfrm>
          <a:prstGeom prst="rect">
            <a:avLst/>
          </a:prstGeom>
          <a:noFill/>
          <a:ln/>
        </p:spPr>
        <p:txBody>
          <a:bodyPr wrap="none" lIns="0" tIns="0" rIns="0" bIns="0" rtlCol="0" anchor="t"/>
          <a:lstStyle/>
          <a:p>
            <a:pPr algn="l" indent="0" marL="0">
              <a:lnSpc>
                <a:spcPts val="1116"/>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原料炭の海上輸出市場で約20%</a:t>
            </a:r>
            <a:endParaRPr lang="en-US" sz="720" dirty="0"/>
          </a:p>
        </p:txBody>
      </p:sp>
      <p:sp>
        <p:nvSpPr>
          <p:cNvPr id="37" name="Text 35"/>
          <p:cNvSpPr/>
          <p:nvPr/>
        </p:nvSpPr>
        <p:spPr>
          <a:xfrm>
            <a:off x="8068024" y="4468542"/>
            <a:ext cx="4184692" cy="777580"/>
          </a:xfrm>
          <a:prstGeom prst="rect">
            <a:avLst/>
          </a:prstGeom>
          <a:noFill/>
          <a:ln/>
        </p:spPr>
        <p:txBody>
          <a:bodyPr wrap="none" lIns="0" tIns="0" rIns="0" bIns="0" rtlCol="0" anchor="t"/>
          <a:lstStyle/>
          <a:p>
            <a:pPr algn="l" indent="0" marL="0">
              <a:lnSpc>
                <a:spcPts val="3060"/>
              </a:lnSpc>
              <a:buNone/>
            </a:pPr>
            <a:r>
              <a:rPr lang="en-US" sz="3000" spc="-75" kern="0" dirty="0">
                <a:solidFill>
                  <a:srgbClr val="121519"/>
                </a:solidFill>
                <a:latin typeface="Inter Tight SemiBold" pitchFamily="34" charset="0"/>
                <a:ea typeface="Inter Tight SemiBold" pitchFamily="34" charset="-122"/>
                <a:cs typeface="Inter Tight SemiBold" pitchFamily="34" charset="-120"/>
              </a:rPr>
              <a:t>The partner the copper</a:t>
            </a:r>
            <a:endParaRPr lang="en-US" sz="3000" dirty="0"/>
          </a:p>
          <a:p>
            <a:pPr algn="l" indent="0" marL="0">
              <a:lnSpc>
                <a:spcPts val="3060"/>
              </a:lnSpc>
              <a:buNone/>
            </a:pPr>
            <a:r>
              <a:rPr lang="en-US" sz="3000" spc="-75" kern="0" dirty="0">
                <a:solidFill>
                  <a:srgbClr val="121519"/>
                </a:solidFill>
                <a:latin typeface="Inter Tight SemiBold" pitchFamily="34" charset="0"/>
                <a:ea typeface="Inter Tight SemiBold" pitchFamily="34" charset="-122"/>
                <a:cs typeface="Inter Tight SemiBold" pitchFamily="34" charset="-120"/>
              </a:rPr>
              <a:t>industry calls first.</a:t>
            </a:r>
            <a:endParaRPr lang="en-US" sz="3000" dirty="0"/>
          </a:p>
        </p:txBody>
      </p:sp>
      <p:sp>
        <p:nvSpPr>
          <p:cNvPr id="38" name="Text 36"/>
          <p:cNvSpPr/>
          <p:nvPr/>
        </p:nvSpPr>
        <p:spPr>
          <a:xfrm>
            <a:off x="8068024" y="5455445"/>
            <a:ext cx="4909702"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銅事業｜自社操業を伴わずに、世界最大級の銅ポジションを築く</a:t>
            </a:r>
            <a:endParaRPr lang="en-US" sz="1150" dirty="0"/>
          </a:p>
        </p:txBody>
      </p:sp>
      <p:sp>
        <p:nvSpPr>
          <p:cNvPr id="39" name="Text 37"/>
          <p:cNvSpPr/>
          <p:nvPr/>
        </p:nvSpPr>
        <p:spPr>
          <a:xfrm>
            <a:off x="8068024" y="5734999"/>
            <a:ext cx="3544848" cy="1085943"/>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銅は原料炭に比べてプレイヤーが多く、寡占化が進んでいない市場で</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す。そのなかで私たちは、規模で世界上位15に入る優良鉱山に複数参</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画し、日本最大・世界第20位の持分生産量を有しています。特定の1社</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に偏らず、主要メジャーのほぼすべてと共同事業・取引を行い、販売</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を通じた幅広い関係から、新しい案件で“声がかかる存在”であり続け</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ています。</a:t>
            </a:r>
            <a:endParaRPr lang="en-US" sz="770" dirty="0"/>
          </a:p>
        </p:txBody>
      </p:sp>
      <p:sp>
        <p:nvSpPr>
          <p:cNvPr id="40" name="Text 38"/>
          <p:cNvSpPr/>
          <p:nvPr/>
        </p:nvSpPr>
        <p:spPr>
          <a:xfrm>
            <a:off x="11498522" y="5742908"/>
            <a:ext cx="995956"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EARLY MOVER</a:t>
            </a:r>
            <a:endParaRPr lang="en-US" sz="660" dirty="0"/>
          </a:p>
        </p:txBody>
      </p:sp>
      <p:sp>
        <p:nvSpPr>
          <p:cNvPr id="41" name="Text 39"/>
          <p:cNvSpPr/>
          <p:nvPr/>
        </p:nvSpPr>
        <p:spPr>
          <a:xfrm>
            <a:off x="12387911" y="5742908"/>
            <a:ext cx="955775"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主要鉱山への参画年</a:t>
            </a:r>
            <a:endParaRPr lang="en-US" sz="660" dirty="0"/>
          </a:p>
        </p:txBody>
      </p:sp>
      <p:sp>
        <p:nvSpPr>
          <p:cNvPr id="42" name="Text 40"/>
          <p:cNvSpPr/>
          <p:nvPr/>
        </p:nvSpPr>
        <p:spPr>
          <a:xfrm>
            <a:off x="11741913" y="5940099"/>
            <a:ext cx="229018" cy="113842"/>
          </a:xfrm>
          <a:prstGeom prst="rect">
            <a:avLst/>
          </a:prstGeom>
          <a:noFill/>
          <a:ln/>
        </p:spPr>
        <p:txBody>
          <a:bodyPr wrap="none" lIns="0" tIns="0" rIns="0" bIns="0" rtlCol="0" anchor="t"/>
          <a:lstStyle/>
          <a:p>
            <a:pPr algn="l" indent="0" marL="0">
              <a:lnSpc>
                <a:spcPts val="896"/>
              </a:lnSpc>
              <a:buNone/>
            </a:pPr>
            <a:r>
              <a:rPr lang="en-US" sz="560" dirty="0">
                <a:solidFill>
                  <a:srgbClr val="7D838A"/>
                </a:solidFill>
                <a:latin typeface="Inter" pitchFamily="34" charset="0"/>
                <a:ea typeface="Inter" pitchFamily="34" charset="-122"/>
                <a:cs typeface="Inter" pitchFamily="34" charset="-120"/>
              </a:rPr>
              <a:t>1990</a:t>
            </a:r>
            <a:endParaRPr lang="en-US" sz="560" dirty="0"/>
          </a:p>
        </p:txBody>
      </p:sp>
      <p:sp>
        <p:nvSpPr>
          <p:cNvPr id="43" name="Text 41"/>
          <p:cNvSpPr/>
          <p:nvPr/>
        </p:nvSpPr>
        <p:spPr>
          <a:xfrm>
            <a:off x="12483202" y="5940099"/>
            <a:ext cx="246488" cy="113842"/>
          </a:xfrm>
          <a:prstGeom prst="rect">
            <a:avLst/>
          </a:prstGeom>
          <a:noFill/>
          <a:ln/>
        </p:spPr>
        <p:txBody>
          <a:bodyPr wrap="none" lIns="0" tIns="0" rIns="0" bIns="0" rtlCol="0" anchor="t"/>
          <a:lstStyle/>
          <a:p>
            <a:pPr algn="l" indent="0" marL="0">
              <a:lnSpc>
                <a:spcPts val="896"/>
              </a:lnSpc>
              <a:buNone/>
            </a:pPr>
            <a:r>
              <a:rPr lang="en-US" sz="560" dirty="0">
                <a:solidFill>
                  <a:srgbClr val="7D838A"/>
                </a:solidFill>
                <a:latin typeface="Inter" pitchFamily="34" charset="0"/>
                <a:ea typeface="Inter" pitchFamily="34" charset="-122"/>
                <a:cs typeface="Inter" pitchFamily="34" charset="-120"/>
              </a:rPr>
              <a:t>2000</a:t>
            </a:r>
            <a:endParaRPr lang="en-US" sz="560" dirty="0"/>
          </a:p>
        </p:txBody>
      </p:sp>
      <p:sp>
        <p:nvSpPr>
          <p:cNvPr id="44" name="Text 42"/>
          <p:cNvSpPr/>
          <p:nvPr/>
        </p:nvSpPr>
        <p:spPr>
          <a:xfrm>
            <a:off x="13224293" y="5940099"/>
            <a:ext cx="229018" cy="113842"/>
          </a:xfrm>
          <a:prstGeom prst="rect">
            <a:avLst/>
          </a:prstGeom>
          <a:noFill/>
          <a:ln/>
        </p:spPr>
        <p:txBody>
          <a:bodyPr wrap="none" lIns="0" tIns="0" rIns="0" bIns="0" rtlCol="0" anchor="t"/>
          <a:lstStyle/>
          <a:p>
            <a:pPr algn="l" indent="0" marL="0">
              <a:lnSpc>
                <a:spcPts val="896"/>
              </a:lnSpc>
              <a:buNone/>
            </a:pPr>
            <a:r>
              <a:rPr lang="en-US" sz="560" dirty="0">
                <a:solidFill>
                  <a:srgbClr val="7D838A"/>
                </a:solidFill>
                <a:latin typeface="Inter" pitchFamily="34" charset="0"/>
                <a:ea typeface="Inter" pitchFamily="34" charset="-122"/>
                <a:cs typeface="Inter" pitchFamily="34" charset="-120"/>
              </a:rPr>
              <a:t>2010</a:t>
            </a:r>
            <a:endParaRPr lang="en-US" sz="560" dirty="0"/>
          </a:p>
        </p:txBody>
      </p:sp>
      <p:sp>
        <p:nvSpPr>
          <p:cNvPr id="45" name="Text 43"/>
          <p:cNvSpPr/>
          <p:nvPr/>
        </p:nvSpPr>
        <p:spPr>
          <a:xfrm>
            <a:off x="13965384" y="5940099"/>
            <a:ext cx="244959" cy="113842"/>
          </a:xfrm>
          <a:prstGeom prst="rect">
            <a:avLst/>
          </a:prstGeom>
          <a:noFill/>
          <a:ln/>
        </p:spPr>
        <p:txBody>
          <a:bodyPr wrap="none" lIns="0" tIns="0" rIns="0" bIns="0" rtlCol="0" anchor="t"/>
          <a:lstStyle/>
          <a:p>
            <a:pPr algn="l" indent="0" marL="0">
              <a:lnSpc>
                <a:spcPts val="896"/>
              </a:lnSpc>
              <a:buNone/>
            </a:pPr>
            <a:r>
              <a:rPr lang="en-US" sz="560" dirty="0">
                <a:solidFill>
                  <a:srgbClr val="7D838A"/>
                </a:solidFill>
                <a:latin typeface="Inter" pitchFamily="34" charset="0"/>
                <a:ea typeface="Inter" pitchFamily="34" charset="-122"/>
                <a:cs typeface="Inter" pitchFamily="34" charset="-120"/>
              </a:rPr>
              <a:t>2020</a:t>
            </a:r>
            <a:endParaRPr lang="en-US" sz="560" dirty="0"/>
          </a:p>
        </p:txBody>
      </p:sp>
      <p:sp>
        <p:nvSpPr>
          <p:cNvPr id="46" name="Text 44"/>
          <p:cNvSpPr/>
          <p:nvPr/>
        </p:nvSpPr>
        <p:spPr>
          <a:xfrm>
            <a:off x="11797103" y="6276541"/>
            <a:ext cx="1130476" cy="127055"/>
          </a:xfrm>
          <a:prstGeom prst="rect">
            <a:avLst/>
          </a:prstGeom>
          <a:noFill/>
          <a:ln/>
        </p:spPr>
        <p:txBody>
          <a:bodyPr wrap="none" lIns="0" tIns="0" rIns="0" bIns="0" rtlCol="0" anchor="t"/>
          <a:lstStyle/>
          <a:p>
            <a:pPr algn="l" indent="0" marL="0">
              <a:lnSpc>
                <a:spcPts val="1000"/>
              </a:lnSpc>
              <a:buNone/>
            </a:pPr>
            <a:r>
              <a:rPr lang="en-US" sz="640" spc="30" kern="0" dirty="0">
                <a:solidFill>
                  <a:srgbClr val="121519"/>
                </a:solidFill>
                <a:latin typeface="Inter SemiBold" pitchFamily="34" charset="0"/>
                <a:ea typeface="Inter SemiBold" pitchFamily="34" charset="-122"/>
                <a:cs typeface="Inter SemiBold" pitchFamily="34" charset="-120"/>
              </a:rPr>
              <a:t>Escondida</a:t>
            </a:r>
            <a:pPr algn="l" indent="0" marL="0">
              <a:lnSpc>
                <a:spcPts val="1000"/>
              </a:lnSpc>
              <a:buNone/>
            </a:pPr>
            <a:r>
              <a:rPr lang="en-US" sz="640" spc="30" kern="0" dirty="0">
                <a:solidFill>
                  <a:srgbClr val="121519"/>
                </a:solidFill>
                <a:latin typeface="Inter Medium" pitchFamily="34" charset="0"/>
                <a:ea typeface="Inter Medium" pitchFamily="34" charset="-122"/>
                <a:cs typeface="Inter Medium" pitchFamily="34" charset="-120"/>
              </a:rPr>
              <a:t> </a:t>
            </a:r>
            <a:pPr algn="l" indent="0" marL="0">
              <a:lnSpc>
                <a:spcPts val="1000"/>
              </a:lnSpc>
              <a:buNone/>
            </a:pPr>
            <a:r>
              <a:rPr lang="en-US" sz="670" spc="30" kern="0" dirty="0">
                <a:solidFill>
                  <a:srgbClr val="7D838A"/>
                </a:solidFill>
                <a:latin typeface="Noto Sans JP" pitchFamily="34" charset="0"/>
                <a:ea typeface="Noto Sans JP" pitchFamily="34" charset="-122"/>
                <a:cs typeface="Noto Sans JP" pitchFamily="34" charset="-120"/>
              </a:rPr>
              <a:t>Chile・1988</a:t>
            </a:r>
            <a:endParaRPr lang="en-US" sz="640" dirty="0"/>
          </a:p>
        </p:txBody>
      </p:sp>
      <p:sp>
        <p:nvSpPr>
          <p:cNvPr id="47" name="Text 45"/>
          <p:cNvSpPr/>
          <p:nvPr/>
        </p:nvSpPr>
        <p:spPr>
          <a:xfrm>
            <a:off x="12464144" y="6441714"/>
            <a:ext cx="1329417" cy="127055"/>
          </a:xfrm>
          <a:prstGeom prst="rect">
            <a:avLst/>
          </a:prstGeom>
          <a:noFill/>
          <a:ln/>
        </p:spPr>
        <p:txBody>
          <a:bodyPr wrap="none" lIns="0" tIns="0" rIns="0" bIns="0" rtlCol="0" anchor="t"/>
          <a:lstStyle/>
          <a:p>
            <a:pPr algn="l" indent="0" marL="0">
              <a:lnSpc>
                <a:spcPts val="1000"/>
              </a:lnSpc>
              <a:buNone/>
            </a:pPr>
            <a:r>
              <a:rPr lang="en-US" sz="640" spc="30" kern="0" dirty="0">
                <a:solidFill>
                  <a:srgbClr val="121519"/>
                </a:solidFill>
                <a:latin typeface="Inter SemiBold" pitchFamily="34" charset="0"/>
                <a:ea typeface="Inter SemiBold" pitchFamily="34" charset="-122"/>
                <a:cs typeface="Inter SemiBold" pitchFamily="34" charset="-120"/>
              </a:rPr>
              <a:t>Los Pelambres</a:t>
            </a:r>
            <a:pPr algn="l" indent="0" marL="0">
              <a:lnSpc>
                <a:spcPts val="1000"/>
              </a:lnSpc>
              <a:buNone/>
            </a:pPr>
            <a:r>
              <a:rPr lang="en-US" sz="640" spc="30" kern="0" dirty="0">
                <a:solidFill>
                  <a:srgbClr val="121519"/>
                </a:solidFill>
                <a:latin typeface="Inter Medium" pitchFamily="34" charset="0"/>
                <a:ea typeface="Inter Medium" pitchFamily="34" charset="-122"/>
                <a:cs typeface="Inter Medium" pitchFamily="34" charset="-120"/>
              </a:rPr>
              <a:t> </a:t>
            </a:r>
            <a:pPr algn="l" indent="0" marL="0">
              <a:lnSpc>
                <a:spcPts val="1000"/>
              </a:lnSpc>
              <a:buNone/>
            </a:pPr>
            <a:r>
              <a:rPr lang="en-US" sz="670" spc="30" kern="0" dirty="0">
                <a:solidFill>
                  <a:srgbClr val="7D838A"/>
                </a:solidFill>
                <a:latin typeface="Noto Sans JP" pitchFamily="34" charset="0"/>
                <a:ea typeface="Noto Sans JP" pitchFamily="34" charset="-122"/>
                <a:cs typeface="Noto Sans JP" pitchFamily="34" charset="-120"/>
              </a:rPr>
              <a:t>Chile・1997</a:t>
            </a:r>
            <a:endParaRPr lang="en-US" sz="640" dirty="0"/>
          </a:p>
        </p:txBody>
      </p:sp>
      <p:sp>
        <p:nvSpPr>
          <p:cNvPr id="48" name="Text 46"/>
          <p:cNvSpPr/>
          <p:nvPr/>
        </p:nvSpPr>
        <p:spPr>
          <a:xfrm>
            <a:off x="12612243" y="6606886"/>
            <a:ext cx="1065182" cy="127055"/>
          </a:xfrm>
          <a:prstGeom prst="rect">
            <a:avLst/>
          </a:prstGeom>
          <a:noFill/>
          <a:ln/>
        </p:spPr>
        <p:txBody>
          <a:bodyPr wrap="none" lIns="0" tIns="0" rIns="0" bIns="0" rtlCol="0" anchor="t"/>
          <a:lstStyle/>
          <a:p>
            <a:pPr algn="l" indent="0" marL="0">
              <a:lnSpc>
                <a:spcPts val="1000"/>
              </a:lnSpc>
              <a:buNone/>
            </a:pPr>
            <a:r>
              <a:rPr lang="en-US" sz="640" spc="30" kern="0" dirty="0">
                <a:solidFill>
                  <a:srgbClr val="121519"/>
                </a:solidFill>
                <a:latin typeface="Inter SemiBold" pitchFamily="34" charset="0"/>
                <a:ea typeface="Inter SemiBold" pitchFamily="34" charset="-122"/>
                <a:cs typeface="Inter SemiBold" pitchFamily="34" charset="-120"/>
              </a:rPr>
              <a:t>Antamina</a:t>
            </a:r>
            <a:pPr algn="l" indent="0" marL="0">
              <a:lnSpc>
                <a:spcPts val="1000"/>
              </a:lnSpc>
              <a:buNone/>
            </a:pPr>
            <a:r>
              <a:rPr lang="en-US" sz="640" spc="30" kern="0" dirty="0">
                <a:solidFill>
                  <a:srgbClr val="121519"/>
                </a:solidFill>
                <a:latin typeface="Inter Medium" pitchFamily="34" charset="0"/>
                <a:ea typeface="Inter Medium" pitchFamily="34" charset="-122"/>
                <a:cs typeface="Inter Medium" pitchFamily="34" charset="-120"/>
              </a:rPr>
              <a:t> </a:t>
            </a:r>
            <a:pPr algn="l" indent="0" marL="0">
              <a:lnSpc>
                <a:spcPts val="1000"/>
              </a:lnSpc>
              <a:buNone/>
            </a:pPr>
            <a:r>
              <a:rPr lang="en-US" sz="670" spc="30" kern="0" dirty="0">
                <a:solidFill>
                  <a:srgbClr val="7D838A"/>
                </a:solidFill>
                <a:latin typeface="Noto Sans JP" pitchFamily="34" charset="0"/>
                <a:ea typeface="Noto Sans JP" pitchFamily="34" charset="-122"/>
                <a:cs typeface="Noto Sans JP" pitchFamily="34" charset="-120"/>
              </a:rPr>
              <a:t>Peru・1999</a:t>
            </a:r>
            <a:endParaRPr lang="en-US" sz="640" dirty="0"/>
          </a:p>
        </p:txBody>
      </p:sp>
      <p:sp>
        <p:nvSpPr>
          <p:cNvPr id="49" name="Text 47"/>
          <p:cNvSpPr/>
          <p:nvPr/>
        </p:nvSpPr>
        <p:spPr>
          <a:xfrm>
            <a:off x="13501632" y="6772058"/>
            <a:ext cx="1580987" cy="127055"/>
          </a:xfrm>
          <a:prstGeom prst="rect">
            <a:avLst/>
          </a:prstGeom>
          <a:noFill/>
          <a:ln/>
        </p:spPr>
        <p:txBody>
          <a:bodyPr wrap="none" lIns="0" tIns="0" rIns="0" bIns="0" rtlCol="0" anchor="t"/>
          <a:lstStyle/>
          <a:p>
            <a:pPr algn="l" indent="0" marL="0">
              <a:lnSpc>
                <a:spcPts val="1000"/>
              </a:lnSpc>
              <a:buNone/>
            </a:pPr>
            <a:r>
              <a:rPr lang="en-US" sz="640" spc="30" kern="0" dirty="0">
                <a:solidFill>
                  <a:srgbClr val="121519"/>
                </a:solidFill>
                <a:latin typeface="Inter SemiBold" pitchFamily="34" charset="0"/>
                <a:ea typeface="Inter SemiBold" pitchFamily="34" charset="-122"/>
                <a:cs typeface="Inter SemiBold" pitchFamily="34" charset="-120"/>
              </a:rPr>
              <a:t>Anglo American Sur</a:t>
            </a:r>
            <a:pPr algn="l" indent="0" marL="0">
              <a:lnSpc>
                <a:spcPts val="1000"/>
              </a:lnSpc>
              <a:buNone/>
            </a:pPr>
            <a:r>
              <a:rPr lang="en-US" sz="640" spc="30" kern="0" dirty="0">
                <a:solidFill>
                  <a:srgbClr val="121519"/>
                </a:solidFill>
                <a:latin typeface="Inter Medium" pitchFamily="34" charset="0"/>
                <a:ea typeface="Inter Medium" pitchFamily="34" charset="-122"/>
                <a:cs typeface="Inter Medium" pitchFamily="34" charset="-120"/>
              </a:rPr>
              <a:t> </a:t>
            </a:r>
            <a:pPr algn="l" indent="0" marL="0">
              <a:lnSpc>
                <a:spcPts val="1000"/>
              </a:lnSpc>
              <a:buNone/>
            </a:pPr>
            <a:r>
              <a:rPr lang="en-US" sz="670" spc="30" kern="0" dirty="0">
                <a:solidFill>
                  <a:srgbClr val="7D838A"/>
                </a:solidFill>
                <a:latin typeface="Noto Sans JP" pitchFamily="34" charset="0"/>
                <a:ea typeface="Noto Sans JP" pitchFamily="34" charset="-122"/>
                <a:cs typeface="Noto Sans JP" pitchFamily="34" charset="-120"/>
              </a:rPr>
              <a:t>Chile・2011</a:t>
            </a:r>
            <a:endParaRPr lang="en-US" sz="640" dirty="0"/>
          </a:p>
        </p:txBody>
      </p:sp>
      <p:sp>
        <p:nvSpPr>
          <p:cNvPr id="50" name="Text 48"/>
          <p:cNvSpPr/>
          <p:nvPr/>
        </p:nvSpPr>
        <p:spPr>
          <a:xfrm>
            <a:off x="13501632" y="6937230"/>
            <a:ext cx="1144016" cy="127055"/>
          </a:xfrm>
          <a:prstGeom prst="rect">
            <a:avLst/>
          </a:prstGeom>
          <a:noFill/>
          <a:ln/>
        </p:spPr>
        <p:txBody>
          <a:bodyPr wrap="none" lIns="0" tIns="0" rIns="0" bIns="0" rtlCol="0" anchor="t"/>
          <a:lstStyle/>
          <a:p>
            <a:pPr algn="l" indent="0" marL="0">
              <a:lnSpc>
                <a:spcPts val="1000"/>
              </a:lnSpc>
              <a:buNone/>
            </a:pPr>
            <a:r>
              <a:rPr lang="en-US" sz="640" spc="30" kern="0" dirty="0">
                <a:solidFill>
                  <a:srgbClr val="121519"/>
                </a:solidFill>
                <a:latin typeface="Inter SemiBold" pitchFamily="34" charset="0"/>
                <a:ea typeface="Inter SemiBold" pitchFamily="34" charset="-122"/>
                <a:cs typeface="Inter SemiBold" pitchFamily="34" charset="-120"/>
              </a:rPr>
              <a:t>Quellaveco</a:t>
            </a:r>
            <a:pPr algn="l" indent="0" marL="0">
              <a:lnSpc>
                <a:spcPts val="1000"/>
              </a:lnSpc>
              <a:buNone/>
            </a:pPr>
            <a:r>
              <a:rPr lang="en-US" sz="640" spc="30" kern="0" dirty="0">
                <a:solidFill>
                  <a:srgbClr val="121519"/>
                </a:solidFill>
                <a:latin typeface="Inter Medium" pitchFamily="34" charset="0"/>
                <a:ea typeface="Inter Medium" pitchFamily="34" charset="-122"/>
                <a:cs typeface="Inter Medium" pitchFamily="34" charset="-120"/>
              </a:rPr>
              <a:t> </a:t>
            </a:r>
            <a:pPr algn="l" indent="0" marL="0">
              <a:lnSpc>
                <a:spcPts val="1000"/>
              </a:lnSpc>
              <a:buNone/>
            </a:pPr>
            <a:r>
              <a:rPr lang="en-US" sz="670" spc="30" kern="0" dirty="0">
                <a:solidFill>
                  <a:srgbClr val="7D838A"/>
                </a:solidFill>
                <a:latin typeface="Noto Sans JP" pitchFamily="34" charset="0"/>
                <a:ea typeface="Noto Sans JP" pitchFamily="34" charset="-122"/>
                <a:cs typeface="Noto Sans JP" pitchFamily="34" charset="-120"/>
              </a:rPr>
              <a:t>Peru・2011</a:t>
            </a:r>
            <a:endParaRPr lang="en-US" sz="640" dirty="0"/>
          </a:p>
        </p:txBody>
      </p:sp>
      <p:sp>
        <p:nvSpPr>
          <p:cNvPr id="51" name="Text 49"/>
          <p:cNvSpPr/>
          <p:nvPr/>
        </p:nvSpPr>
        <p:spPr>
          <a:xfrm>
            <a:off x="12733780" y="7102402"/>
            <a:ext cx="1504774" cy="127055"/>
          </a:xfrm>
          <a:prstGeom prst="rect">
            <a:avLst/>
          </a:prstGeom>
          <a:noFill/>
          <a:ln/>
        </p:spPr>
        <p:txBody>
          <a:bodyPr wrap="none" lIns="0" tIns="0" rIns="0" bIns="0" rtlCol="0" anchor="t"/>
          <a:lstStyle/>
          <a:p>
            <a:pPr algn="r" indent="0" marL="0">
              <a:lnSpc>
                <a:spcPts val="1000"/>
              </a:lnSpc>
              <a:buNone/>
            </a:pPr>
            <a:r>
              <a:rPr lang="en-US" sz="640" spc="30" kern="0" dirty="0">
                <a:solidFill>
                  <a:srgbClr val="121519"/>
                </a:solidFill>
                <a:latin typeface="Inter SemiBold" pitchFamily="34" charset="0"/>
                <a:ea typeface="Inter SemiBold" pitchFamily="34" charset="-122"/>
                <a:cs typeface="Inter SemiBold" pitchFamily="34" charset="-120"/>
              </a:rPr>
              <a:t>Marimaca</a:t>
            </a:r>
            <a:pPr algn="r" indent="0" marL="0">
              <a:lnSpc>
                <a:spcPts val="1000"/>
              </a:lnSpc>
              <a:buNone/>
            </a:pPr>
            <a:r>
              <a:rPr lang="en-US" sz="640" spc="30" kern="0" dirty="0">
                <a:solidFill>
                  <a:srgbClr val="121519"/>
                </a:solidFill>
                <a:latin typeface="Inter Medium" pitchFamily="34" charset="0"/>
                <a:ea typeface="Inter Medium" pitchFamily="34" charset="-122"/>
                <a:cs typeface="Inter Medium" pitchFamily="34" charset="-120"/>
              </a:rPr>
              <a:t> </a:t>
            </a:r>
            <a:pPr algn="r" indent="0" marL="0">
              <a:lnSpc>
                <a:spcPts val="1000"/>
              </a:lnSpc>
              <a:buNone/>
            </a:pPr>
            <a:r>
              <a:rPr lang="en-US" sz="670" spc="30" kern="0" dirty="0">
                <a:solidFill>
                  <a:srgbClr val="7D838A"/>
                </a:solidFill>
                <a:latin typeface="Noto Sans JP" pitchFamily="34" charset="0"/>
                <a:ea typeface="Noto Sans JP" pitchFamily="34" charset="-122"/>
                <a:cs typeface="Noto Sans JP" pitchFamily="34" charset="-120"/>
              </a:rPr>
              <a:t>Chile · 開発中・2023</a:t>
            </a:r>
            <a:endParaRPr lang="en-US" sz="640" dirty="0"/>
          </a:p>
        </p:txBody>
      </p:sp>
      <p:sp>
        <p:nvSpPr>
          <p:cNvPr id="52" name="Text 50"/>
          <p:cNvSpPr/>
          <p:nvPr/>
        </p:nvSpPr>
        <p:spPr>
          <a:xfrm>
            <a:off x="12744937" y="7267574"/>
            <a:ext cx="1641914" cy="127055"/>
          </a:xfrm>
          <a:prstGeom prst="rect">
            <a:avLst/>
          </a:prstGeom>
          <a:noFill/>
          <a:ln/>
        </p:spPr>
        <p:txBody>
          <a:bodyPr wrap="none" lIns="0" tIns="0" rIns="0" bIns="0" rtlCol="0" anchor="t"/>
          <a:lstStyle/>
          <a:p>
            <a:pPr algn="r" indent="0" marL="0">
              <a:lnSpc>
                <a:spcPts val="1000"/>
              </a:lnSpc>
              <a:buNone/>
            </a:pPr>
            <a:r>
              <a:rPr lang="en-US" sz="640" spc="30" kern="0" dirty="0">
                <a:solidFill>
                  <a:srgbClr val="121519"/>
                </a:solidFill>
                <a:latin typeface="Inter SemiBold" pitchFamily="34" charset="0"/>
                <a:ea typeface="Inter SemiBold" pitchFamily="34" charset="-122"/>
                <a:cs typeface="Inter SemiBold" pitchFamily="34" charset="-120"/>
              </a:rPr>
              <a:t>Copper World</a:t>
            </a:r>
            <a:pPr algn="r" indent="0" marL="0">
              <a:lnSpc>
                <a:spcPts val="1000"/>
              </a:lnSpc>
              <a:buNone/>
            </a:pPr>
            <a:r>
              <a:rPr lang="en-US" sz="640" spc="30" kern="0" dirty="0">
                <a:solidFill>
                  <a:srgbClr val="121519"/>
                </a:solidFill>
                <a:latin typeface="Inter Medium" pitchFamily="34" charset="0"/>
                <a:ea typeface="Inter Medium" pitchFamily="34" charset="-122"/>
                <a:cs typeface="Inter Medium" pitchFamily="34" charset="-120"/>
              </a:rPr>
              <a:t> </a:t>
            </a:r>
            <a:pPr algn="r" indent="0" marL="0">
              <a:lnSpc>
                <a:spcPts val="1000"/>
              </a:lnSpc>
              <a:buNone/>
            </a:pPr>
            <a:r>
              <a:rPr lang="en-US" sz="670" spc="30" kern="0" dirty="0">
                <a:solidFill>
                  <a:srgbClr val="7D838A"/>
                </a:solidFill>
                <a:latin typeface="Noto Sans JP" pitchFamily="34" charset="0"/>
                <a:ea typeface="Noto Sans JP" pitchFamily="34" charset="-122"/>
                <a:cs typeface="Noto Sans JP" pitchFamily="34" charset="-120"/>
              </a:rPr>
              <a:t>USA · 開発中・2025</a:t>
            </a:r>
            <a:endParaRPr lang="en-US" sz="640" dirty="0"/>
          </a:p>
        </p:txBody>
      </p:sp>
      <p:sp>
        <p:nvSpPr>
          <p:cNvPr id="53" name="Text 51"/>
          <p:cNvSpPr/>
          <p:nvPr/>
        </p:nvSpPr>
        <p:spPr>
          <a:xfrm>
            <a:off x="8068024" y="7216752"/>
            <a:ext cx="1907024"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COPPER PRODUCTION 2025</a:t>
            </a:r>
            <a:endParaRPr lang="en-US" sz="660" dirty="0"/>
          </a:p>
        </p:txBody>
      </p:sp>
      <p:sp>
        <p:nvSpPr>
          <p:cNvPr id="54" name="Text 52"/>
          <p:cNvSpPr/>
          <p:nvPr/>
        </p:nvSpPr>
        <p:spPr>
          <a:xfrm>
            <a:off x="9973856" y="7216752"/>
            <a:ext cx="1285960"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会社別 世界銅生産量（kt）</a:t>
            </a:r>
            <a:endParaRPr lang="en-US" sz="660" dirty="0"/>
          </a:p>
        </p:txBody>
      </p:sp>
      <p:sp>
        <p:nvSpPr>
          <p:cNvPr id="55" name="Text 53"/>
          <p:cNvSpPr/>
          <p:nvPr/>
        </p:nvSpPr>
        <p:spPr>
          <a:xfrm>
            <a:off x="8777212" y="7439099"/>
            <a:ext cx="358078"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#1 BHP</a:t>
            </a:r>
            <a:endParaRPr lang="en-US" sz="600" dirty="0"/>
          </a:p>
        </p:txBody>
      </p:sp>
      <p:sp>
        <p:nvSpPr>
          <p:cNvPr id="56" name="Text 54"/>
          <p:cNvSpPr/>
          <p:nvPr/>
        </p:nvSpPr>
        <p:spPr>
          <a:xfrm>
            <a:off x="13099422" y="7439099"/>
            <a:ext cx="263958"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1,501</a:t>
            </a:r>
            <a:endParaRPr lang="en-US" sz="580" dirty="0"/>
          </a:p>
        </p:txBody>
      </p:sp>
      <p:sp>
        <p:nvSpPr>
          <p:cNvPr id="57" name="Text 55"/>
          <p:cNvSpPr/>
          <p:nvPr/>
        </p:nvSpPr>
        <p:spPr>
          <a:xfrm>
            <a:off x="8581328" y="7596529"/>
            <a:ext cx="553962"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#2 Codelco</a:t>
            </a:r>
            <a:endParaRPr lang="en-US" sz="600" dirty="0"/>
          </a:p>
        </p:txBody>
      </p:sp>
      <p:sp>
        <p:nvSpPr>
          <p:cNvPr id="58" name="Text 56"/>
          <p:cNvSpPr/>
          <p:nvPr/>
        </p:nvSpPr>
        <p:spPr>
          <a:xfrm>
            <a:off x="12924125" y="7596529"/>
            <a:ext cx="284048"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1,432</a:t>
            </a:r>
            <a:endParaRPr lang="en-US" sz="580" dirty="0"/>
          </a:p>
        </p:txBody>
      </p:sp>
      <p:sp>
        <p:nvSpPr>
          <p:cNvPr id="59" name="Text 57"/>
          <p:cNvSpPr/>
          <p:nvPr/>
        </p:nvSpPr>
        <p:spPr>
          <a:xfrm>
            <a:off x="8568226" y="7754157"/>
            <a:ext cx="567065"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#3 Freeport</a:t>
            </a:r>
            <a:endParaRPr lang="en-US" sz="600" dirty="0"/>
          </a:p>
        </p:txBody>
      </p:sp>
      <p:sp>
        <p:nvSpPr>
          <p:cNvPr id="60" name="Text 58"/>
          <p:cNvSpPr/>
          <p:nvPr/>
        </p:nvSpPr>
        <p:spPr>
          <a:xfrm>
            <a:off x="12078412" y="7754157"/>
            <a:ext cx="282301"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1,099</a:t>
            </a:r>
            <a:endParaRPr lang="en-US" sz="580" dirty="0"/>
          </a:p>
        </p:txBody>
      </p:sp>
      <p:sp>
        <p:nvSpPr>
          <p:cNvPr id="61" name="Text 59"/>
          <p:cNvSpPr/>
          <p:nvPr/>
        </p:nvSpPr>
        <p:spPr>
          <a:xfrm>
            <a:off x="8190652" y="7911587"/>
            <a:ext cx="944638"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#4 Southern Copper</a:t>
            </a:r>
            <a:endParaRPr lang="en-US" sz="600" dirty="0"/>
          </a:p>
        </p:txBody>
      </p:sp>
      <p:sp>
        <p:nvSpPr>
          <p:cNvPr id="62" name="Text 60"/>
          <p:cNvSpPr/>
          <p:nvPr/>
        </p:nvSpPr>
        <p:spPr>
          <a:xfrm>
            <a:off x="11695061" y="7911587"/>
            <a:ext cx="218754"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948</a:t>
            </a:r>
            <a:endParaRPr lang="en-US" sz="580" dirty="0"/>
          </a:p>
        </p:txBody>
      </p:sp>
      <p:sp>
        <p:nvSpPr>
          <p:cNvPr id="63" name="Text 61"/>
          <p:cNvSpPr/>
          <p:nvPr/>
        </p:nvSpPr>
        <p:spPr>
          <a:xfrm>
            <a:off x="8433487" y="8069215"/>
            <a:ext cx="701803"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#5 Zijin Mining</a:t>
            </a:r>
            <a:endParaRPr lang="en-US" sz="600" dirty="0"/>
          </a:p>
        </p:txBody>
      </p:sp>
      <p:sp>
        <p:nvSpPr>
          <p:cNvPr id="64" name="Text 62"/>
          <p:cNvSpPr/>
          <p:nvPr/>
        </p:nvSpPr>
        <p:spPr>
          <a:xfrm>
            <a:off x="11446112" y="8069215"/>
            <a:ext cx="215697"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850</a:t>
            </a:r>
            <a:endParaRPr lang="en-US" sz="580" dirty="0"/>
          </a:p>
        </p:txBody>
      </p:sp>
      <p:sp>
        <p:nvSpPr>
          <p:cNvPr id="65" name="Text 63"/>
          <p:cNvSpPr/>
          <p:nvPr/>
        </p:nvSpPr>
        <p:spPr>
          <a:xfrm>
            <a:off x="8546825" y="8226843"/>
            <a:ext cx="588465"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#6 Glencore</a:t>
            </a:r>
            <a:endParaRPr lang="en-US" sz="600" dirty="0"/>
          </a:p>
        </p:txBody>
      </p:sp>
      <p:sp>
        <p:nvSpPr>
          <p:cNvPr id="66" name="Text 64"/>
          <p:cNvSpPr/>
          <p:nvPr/>
        </p:nvSpPr>
        <p:spPr>
          <a:xfrm>
            <a:off x="11349629" y="8226843"/>
            <a:ext cx="198008"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812</a:t>
            </a:r>
            <a:endParaRPr lang="en-US" sz="580" dirty="0"/>
          </a:p>
        </p:txBody>
      </p:sp>
      <p:sp>
        <p:nvSpPr>
          <p:cNvPr id="67" name="Text 65"/>
          <p:cNvSpPr/>
          <p:nvPr/>
        </p:nvSpPr>
        <p:spPr>
          <a:xfrm>
            <a:off x="8557088" y="8384273"/>
            <a:ext cx="578202"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#7 Rio Tinto</a:t>
            </a:r>
            <a:endParaRPr lang="en-US" sz="600" dirty="0"/>
          </a:p>
        </p:txBody>
      </p:sp>
      <p:sp>
        <p:nvSpPr>
          <p:cNvPr id="68" name="Text 66"/>
          <p:cNvSpPr/>
          <p:nvPr/>
        </p:nvSpPr>
        <p:spPr>
          <a:xfrm>
            <a:off x="11166788" y="8384273"/>
            <a:ext cx="210456"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740</a:t>
            </a:r>
            <a:endParaRPr lang="en-US" sz="580" dirty="0"/>
          </a:p>
        </p:txBody>
      </p:sp>
      <p:sp>
        <p:nvSpPr>
          <p:cNvPr id="69" name="Text 67"/>
          <p:cNvSpPr/>
          <p:nvPr/>
        </p:nvSpPr>
        <p:spPr>
          <a:xfrm>
            <a:off x="8450521" y="8541901"/>
            <a:ext cx="684770"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#8 China Moly</a:t>
            </a:r>
            <a:endParaRPr lang="en-US" sz="600" dirty="0"/>
          </a:p>
        </p:txBody>
      </p:sp>
      <p:sp>
        <p:nvSpPr>
          <p:cNvPr id="70" name="Text 68"/>
          <p:cNvSpPr/>
          <p:nvPr/>
        </p:nvSpPr>
        <p:spPr>
          <a:xfrm>
            <a:off x="10704624" y="8541901"/>
            <a:ext cx="212203"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558</a:t>
            </a:r>
            <a:endParaRPr lang="en-US" sz="580" dirty="0"/>
          </a:p>
        </p:txBody>
      </p:sp>
      <p:sp>
        <p:nvSpPr>
          <p:cNvPr id="71" name="Text 69"/>
          <p:cNvSpPr/>
          <p:nvPr/>
        </p:nvSpPr>
        <p:spPr>
          <a:xfrm>
            <a:off x="8669989" y="8699331"/>
            <a:ext cx="465301"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#9 KGHM</a:t>
            </a:r>
            <a:endParaRPr lang="en-US" sz="600" dirty="0"/>
          </a:p>
        </p:txBody>
      </p:sp>
      <p:sp>
        <p:nvSpPr>
          <p:cNvPr id="72" name="Text 70"/>
          <p:cNvSpPr/>
          <p:nvPr/>
        </p:nvSpPr>
        <p:spPr>
          <a:xfrm>
            <a:off x="10653802" y="8699331"/>
            <a:ext cx="214168"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538</a:t>
            </a:r>
            <a:endParaRPr lang="en-US" sz="580" dirty="0"/>
          </a:p>
        </p:txBody>
      </p:sp>
      <p:sp>
        <p:nvSpPr>
          <p:cNvPr id="73" name="Text 71"/>
          <p:cNvSpPr/>
          <p:nvPr/>
        </p:nvSpPr>
        <p:spPr>
          <a:xfrm>
            <a:off x="8203318" y="8856959"/>
            <a:ext cx="931972"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#10 Anglo American</a:t>
            </a:r>
            <a:endParaRPr lang="en-US" sz="600" dirty="0"/>
          </a:p>
        </p:txBody>
      </p:sp>
      <p:sp>
        <p:nvSpPr>
          <p:cNvPr id="74" name="Text 72"/>
          <p:cNvSpPr/>
          <p:nvPr/>
        </p:nvSpPr>
        <p:spPr>
          <a:xfrm>
            <a:off x="10547194" y="8856959"/>
            <a:ext cx="218754"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496</a:t>
            </a:r>
            <a:endParaRPr lang="en-US" sz="580" dirty="0"/>
          </a:p>
        </p:txBody>
      </p:sp>
      <p:sp>
        <p:nvSpPr>
          <p:cNvPr id="75" name="Text 73"/>
          <p:cNvSpPr/>
          <p:nvPr/>
        </p:nvSpPr>
        <p:spPr>
          <a:xfrm>
            <a:off x="8151563" y="9065410"/>
            <a:ext cx="983727" cy="88939"/>
          </a:xfrm>
          <a:prstGeom prst="rect">
            <a:avLst/>
          </a:prstGeom>
          <a:noFill/>
          <a:ln/>
        </p:spPr>
        <p:txBody>
          <a:bodyPr wrap="none" lIns="0" tIns="0" rIns="0" bIns="0" rtlCol="0" anchor="t"/>
          <a:lstStyle/>
          <a:p>
            <a:pPr algn="r" indent="0" marL="0">
              <a:lnSpc>
                <a:spcPts val="700"/>
              </a:lnSpc>
              <a:buNone/>
            </a:pPr>
            <a:r>
              <a:rPr lang="en-US" sz="600" spc="30" kern="0" dirty="0">
                <a:solidFill>
                  <a:srgbClr val="9C7442"/>
                </a:solidFill>
                <a:latin typeface="Inter SemiBold" pitchFamily="34" charset="0"/>
                <a:ea typeface="Inter SemiBold" pitchFamily="34" charset="-122"/>
                <a:cs typeface="Inter SemiBold" pitchFamily="34" charset="-120"/>
              </a:rPr>
              <a:t>#20 Mitsubishi Corp.</a:t>
            </a:r>
            <a:endParaRPr lang="en-US" sz="600" dirty="0"/>
          </a:p>
        </p:txBody>
      </p:sp>
      <p:sp>
        <p:nvSpPr>
          <p:cNvPr id="76" name="Text 74"/>
          <p:cNvSpPr/>
          <p:nvPr/>
        </p:nvSpPr>
        <p:spPr>
          <a:xfrm>
            <a:off x="10115603" y="9065410"/>
            <a:ext cx="215260" cy="88939"/>
          </a:xfrm>
          <a:prstGeom prst="rect">
            <a:avLst/>
          </a:prstGeom>
          <a:noFill/>
          <a:ln/>
        </p:spPr>
        <p:txBody>
          <a:bodyPr wrap="none" lIns="0" tIns="0" rIns="0" bIns="0" rtlCol="0" anchor="t"/>
          <a:lstStyle/>
          <a:p>
            <a:pPr algn="l" indent="0" marL="0">
              <a:lnSpc>
                <a:spcPts val="700"/>
              </a:lnSpc>
              <a:buNone/>
            </a:pPr>
            <a:r>
              <a:rPr lang="en-US" sz="580" spc="30" kern="0" dirty="0">
                <a:solidFill>
                  <a:srgbClr val="9C7442"/>
                </a:solidFill>
                <a:latin typeface="Inter Medium" pitchFamily="34" charset="0"/>
                <a:ea typeface="Inter Medium" pitchFamily="34" charset="-122"/>
                <a:cs typeface="Inter Medium" pitchFamily="34" charset="-120"/>
              </a:rPr>
              <a:t>326</a:t>
            </a:r>
            <a:endParaRPr lang="en-US" sz="580" dirty="0"/>
          </a:p>
        </p:txBody>
      </p:sp>
      <p:sp>
        <p:nvSpPr>
          <p:cNvPr id="77" name="Text 75"/>
          <p:cNvSpPr/>
          <p:nvPr/>
        </p:nvSpPr>
        <p:spPr>
          <a:xfrm>
            <a:off x="12260855" y="8482733"/>
            <a:ext cx="2574383" cy="408610"/>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上位には協業が難しい国有・政府系なども含まれる。協業可</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能で、オペレーターシップを求めないパートナーとしては最</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大規模。</a:t>
            </a:r>
            <a:endParaRPr lang="en-US" sz="670" dirty="0"/>
          </a:p>
        </p:txBody>
      </p:sp>
      <p:sp>
        <p:nvSpPr>
          <p:cNvPr id="78" name="Text 76"/>
          <p:cNvSpPr/>
          <p:nvPr/>
        </p:nvSpPr>
        <p:spPr>
          <a:xfrm>
            <a:off x="508222" y="9757862"/>
            <a:ext cx="1453237"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MARKET STRUCTURE</a:t>
            </a:r>
            <a:endParaRPr lang="en-US" sz="660" dirty="0"/>
          </a:p>
        </p:txBody>
      </p:sp>
      <p:sp>
        <p:nvSpPr>
          <p:cNvPr id="79" name="Text 77"/>
          <p:cNvSpPr/>
          <p:nvPr/>
        </p:nvSpPr>
        <p:spPr>
          <a:xfrm>
            <a:off x="1905832" y="9757862"/>
            <a:ext cx="814267"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上位5社のシェア</a:t>
            </a:r>
            <a:endParaRPr lang="en-US" sz="660" dirty="0"/>
          </a:p>
        </p:txBody>
      </p:sp>
      <p:sp>
        <p:nvSpPr>
          <p:cNvPr id="80" name="Text 78"/>
          <p:cNvSpPr/>
          <p:nvPr/>
        </p:nvSpPr>
        <p:spPr>
          <a:xfrm>
            <a:off x="508222" y="9961151"/>
            <a:ext cx="952281" cy="114350"/>
          </a:xfrm>
          <a:prstGeom prst="rect">
            <a:avLst/>
          </a:prstGeom>
          <a:noFill/>
          <a:ln/>
        </p:spPr>
        <p:txBody>
          <a:bodyPr wrap="none" lIns="0" tIns="0" rIns="0" bIns="0" rtlCol="0" anchor="t"/>
          <a:lstStyle/>
          <a:p>
            <a:pPr algn="l" indent="0" marL="0">
              <a:lnSpc>
                <a:spcPts val="900"/>
              </a:lnSpc>
              <a:buNone/>
            </a:pPr>
            <a:r>
              <a:rPr lang="en-US" sz="700" spc="30" kern="0" dirty="0">
                <a:solidFill>
                  <a:srgbClr val="121519"/>
                </a:solidFill>
                <a:latin typeface="Inter Medium" pitchFamily="34" charset="0"/>
                <a:ea typeface="Inter Medium" pitchFamily="34" charset="-122"/>
                <a:cs typeface="Inter Medium" pitchFamily="34" charset="-120"/>
              </a:rPr>
              <a:t>Metallurgical coal</a:t>
            </a:r>
            <a:endParaRPr lang="en-US" sz="700" dirty="0"/>
          </a:p>
        </p:txBody>
      </p:sp>
      <p:sp>
        <p:nvSpPr>
          <p:cNvPr id="81" name="Text 79"/>
          <p:cNvSpPr/>
          <p:nvPr/>
        </p:nvSpPr>
        <p:spPr>
          <a:xfrm>
            <a:off x="5920786" y="9938916"/>
            <a:ext cx="324230" cy="120703"/>
          </a:xfrm>
          <a:prstGeom prst="rect">
            <a:avLst/>
          </a:prstGeom>
          <a:noFill/>
          <a:ln/>
        </p:spPr>
        <p:txBody>
          <a:bodyPr wrap="none" lIns="0" tIns="0" rIns="0" bIns="0" rtlCol="0" anchor="t"/>
          <a:lstStyle/>
          <a:p>
            <a:pPr algn="l" indent="0" marL="0">
              <a:lnSpc>
                <a:spcPts val="950"/>
              </a:lnSpc>
              <a:buNone/>
            </a:pPr>
            <a:r>
              <a:rPr lang="en-US" sz="1000" spc="-30" kern="0" dirty="0">
                <a:solidFill>
                  <a:srgbClr val="121519"/>
                </a:solidFill>
                <a:latin typeface="Inter Tight SemiBold" pitchFamily="34" charset="0"/>
                <a:ea typeface="Inter Tight SemiBold" pitchFamily="34" charset="-122"/>
                <a:cs typeface="Inter Tight SemiBold" pitchFamily="34" charset="-120"/>
              </a:rPr>
              <a:t>80%</a:t>
            </a:r>
            <a:endParaRPr lang="en-US" sz="1000" dirty="0"/>
          </a:p>
        </p:txBody>
      </p:sp>
      <p:sp>
        <p:nvSpPr>
          <p:cNvPr id="82" name="Text 80"/>
          <p:cNvSpPr/>
          <p:nvPr/>
        </p:nvSpPr>
        <p:spPr>
          <a:xfrm>
            <a:off x="1778777" y="10134455"/>
            <a:ext cx="1974939"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上位5社で約80%｜寡占度が高く、供給は漸減</a:t>
            </a:r>
            <a:endParaRPr lang="en-US" sz="670" dirty="0"/>
          </a:p>
        </p:txBody>
      </p:sp>
      <p:sp>
        <p:nvSpPr>
          <p:cNvPr id="83" name="Text 81"/>
          <p:cNvSpPr/>
          <p:nvPr/>
        </p:nvSpPr>
        <p:spPr>
          <a:xfrm>
            <a:off x="8068024" y="9961151"/>
            <a:ext cx="423154" cy="114350"/>
          </a:xfrm>
          <a:prstGeom prst="rect">
            <a:avLst/>
          </a:prstGeom>
          <a:noFill/>
          <a:ln/>
        </p:spPr>
        <p:txBody>
          <a:bodyPr wrap="none" lIns="0" tIns="0" rIns="0" bIns="0" rtlCol="0" anchor="t"/>
          <a:lstStyle/>
          <a:p>
            <a:pPr algn="l" indent="0" marL="0">
              <a:lnSpc>
                <a:spcPts val="900"/>
              </a:lnSpc>
              <a:buNone/>
            </a:pPr>
            <a:r>
              <a:rPr lang="en-US" sz="700" spc="30" kern="0" dirty="0">
                <a:solidFill>
                  <a:srgbClr val="121519"/>
                </a:solidFill>
                <a:latin typeface="Inter Medium" pitchFamily="34" charset="0"/>
                <a:ea typeface="Inter Medium" pitchFamily="34" charset="-122"/>
                <a:cs typeface="Inter Medium" pitchFamily="34" charset="-120"/>
              </a:rPr>
              <a:t>Copper</a:t>
            </a:r>
            <a:endParaRPr lang="en-US" sz="700" dirty="0"/>
          </a:p>
        </p:txBody>
      </p:sp>
      <p:sp>
        <p:nvSpPr>
          <p:cNvPr id="84" name="Text 82"/>
          <p:cNvSpPr/>
          <p:nvPr/>
        </p:nvSpPr>
        <p:spPr>
          <a:xfrm>
            <a:off x="10685367" y="9938916"/>
            <a:ext cx="315713" cy="120703"/>
          </a:xfrm>
          <a:prstGeom prst="rect">
            <a:avLst/>
          </a:prstGeom>
          <a:noFill/>
          <a:ln/>
        </p:spPr>
        <p:txBody>
          <a:bodyPr wrap="none" lIns="0" tIns="0" rIns="0" bIns="0" rtlCol="0" anchor="t"/>
          <a:lstStyle/>
          <a:p>
            <a:pPr algn="l" indent="0" marL="0">
              <a:lnSpc>
                <a:spcPts val="950"/>
              </a:lnSpc>
              <a:buNone/>
            </a:pPr>
            <a:r>
              <a:rPr lang="en-US" sz="1000" spc="-30" kern="0" dirty="0">
                <a:solidFill>
                  <a:srgbClr val="121519"/>
                </a:solidFill>
                <a:latin typeface="Inter Tight SemiBold" pitchFamily="34" charset="0"/>
                <a:ea typeface="Inter Tight SemiBold" pitchFamily="34" charset="-122"/>
                <a:cs typeface="Inter Tight SemiBold" pitchFamily="34" charset="-120"/>
              </a:rPr>
              <a:t>25%</a:t>
            </a:r>
            <a:endParaRPr lang="en-US" sz="1000" dirty="0"/>
          </a:p>
        </p:txBody>
      </p:sp>
      <p:sp>
        <p:nvSpPr>
          <p:cNvPr id="85" name="Text 83"/>
          <p:cNvSpPr/>
          <p:nvPr/>
        </p:nvSpPr>
        <p:spPr>
          <a:xfrm>
            <a:off x="9338579" y="10134455"/>
            <a:ext cx="2061853"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上位5社で約25%｜寡占化が進まず、再編の機運</a:t>
            </a:r>
            <a:endParaRPr lang="en-US" sz="670" dirty="0"/>
          </a:p>
        </p:txBody>
      </p:sp>
      <p:sp>
        <p:nvSpPr>
          <p:cNvPr id="86" name="Text 84"/>
          <p:cNvSpPr/>
          <p:nvPr/>
        </p:nvSpPr>
        <p:spPr>
          <a:xfrm>
            <a:off x="508222" y="10316906"/>
            <a:ext cx="202594"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06</a:t>
            </a:r>
            <a:endParaRPr lang="en-US" sz="600" dirty="0"/>
          </a:p>
        </p:txBody>
      </p:sp>
      <p:sp>
        <p:nvSpPr>
          <p:cNvPr id="87" name="Text 85"/>
          <p:cNvSpPr/>
          <p:nvPr/>
        </p:nvSpPr>
        <p:spPr>
          <a:xfrm>
            <a:off x="14458915" y="10316906"/>
            <a:ext cx="196043"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07</a:t>
            </a:r>
            <a:endParaRPr lang="en-US" sz="600" dirty="0"/>
          </a:p>
        </p:txBody>
      </p:sp>
      <p:sp>
        <p:nvSpPr>
          <p:cNvPr id="88" name="Text 86"/>
          <p:cNvSpPr/>
          <p:nvPr/>
        </p:nvSpPr>
        <p:spPr>
          <a:xfrm>
            <a:off x="876683" y="10328977"/>
            <a:ext cx="4559208" cy="102915"/>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台割メモ｜動画04 Coking Coal。【強調】写真の上に大きな数字。品位→鉄→需要→社会の4段ロジック、出資構成図、基本データ表。</a:t>
            </a:r>
            <a:endParaRPr lang="en-US" sz="540" dirty="0"/>
          </a:p>
        </p:txBody>
      </p:sp>
      <p:sp>
        <p:nvSpPr>
          <p:cNvPr id="89" name="Text 87"/>
          <p:cNvSpPr/>
          <p:nvPr/>
        </p:nvSpPr>
        <p:spPr>
          <a:xfrm>
            <a:off x="8169668" y="10328977"/>
            <a:ext cx="6351425" cy="102915"/>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台割メモ｜動画05 Copper。【強調】参画年のタイムライン（先行して一級資産を確保）と生産量ランキング（当社のみ色）。最下段の「市場構造」バーが原料炭と銅を見開きで比較する。</a:t>
            </a:r>
            <a:endParaRPr lang="en-US" sz="5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539620" y="330344"/>
            <a:ext cx="2203579" cy="1423022"/>
          </a:xfrm>
          <a:prstGeom prst="rect">
            <a:avLst/>
          </a:prstGeom>
          <a:noFill/>
          <a:ln/>
        </p:spPr>
        <p:txBody>
          <a:bodyPr wrap="none" lIns="0" tIns="0" rIns="0" bIns="0" rtlCol="0" anchor="t"/>
          <a:lstStyle/>
          <a:p>
            <a:pPr algn="l" indent="0" marL="0">
              <a:lnSpc>
                <a:spcPts val="11200"/>
              </a:lnSpc>
              <a:buNone/>
            </a:pPr>
            <a:r>
              <a:rPr lang="en-US" sz="14000" spc="-560" kern="0" dirty="0">
                <a:solidFill>
                  <a:srgbClr val="000000">
                    <a:alpha val="0"/>
                  </a:srgbClr>
                </a:solidFill>
                <a:latin typeface="Inter Tight Light" pitchFamily="34" charset="0"/>
                <a:ea typeface="Inter Tight Light" pitchFamily="34" charset="-122"/>
                <a:cs typeface="Inter Tight Light" pitchFamily="34" charset="-120"/>
              </a:rPr>
              <a:t>03</a:t>
            </a:r>
            <a:endParaRPr lang="en-US" sz="14000" dirty="0"/>
          </a:p>
        </p:txBody>
      </p:sp>
      <p:sp>
        <p:nvSpPr>
          <p:cNvPr id="3" name="Text 1"/>
          <p:cNvSpPr/>
          <p:nvPr/>
        </p:nvSpPr>
        <p:spPr>
          <a:xfrm>
            <a:off x="12705550" y="330344"/>
            <a:ext cx="2197901" cy="1423022"/>
          </a:xfrm>
          <a:prstGeom prst="rect">
            <a:avLst/>
          </a:prstGeom>
          <a:noFill/>
          <a:ln/>
        </p:spPr>
        <p:txBody>
          <a:bodyPr wrap="none" lIns="0" tIns="0" rIns="0" bIns="0" rtlCol="0" anchor="t"/>
          <a:lstStyle/>
          <a:p>
            <a:pPr algn="l" indent="0" marL="0">
              <a:lnSpc>
                <a:spcPts val="11200"/>
              </a:lnSpc>
              <a:buNone/>
            </a:pPr>
            <a:r>
              <a:rPr lang="en-US" sz="14000" spc="-560" kern="0" dirty="0">
                <a:solidFill>
                  <a:srgbClr val="000000">
                    <a:alpha val="0"/>
                  </a:srgbClr>
                </a:solidFill>
                <a:latin typeface="Inter Tight Light" pitchFamily="34" charset="0"/>
                <a:ea typeface="Inter Tight Light" pitchFamily="34" charset="-122"/>
                <a:cs typeface="Inter Tight Light" pitchFamily="34" charset="-120"/>
              </a:rPr>
              <a:t>04</a:t>
            </a:r>
            <a:endParaRPr lang="en-US" sz="14000" dirty="0"/>
          </a:p>
        </p:txBody>
      </p:sp>
      <p:sp>
        <p:nvSpPr>
          <p:cNvPr id="4" name="Text 2"/>
          <p:cNvSpPr/>
          <p:nvPr/>
        </p:nvSpPr>
        <p:spPr>
          <a:xfrm>
            <a:off x="508222" y="508222"/>
            <a:ext cx="2319319"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03 · From resources to value</a:t>
            </a:r>
            <a:endParaRPr lang="en-US" sz="660" dirty="0"/>
          </a:p>
        </p:txBody>
      </p:sp>
      <p:sp>
        <p:nvSpPr>
          <p:cNvPr id="5" name="Text 3"/>
          <p:cNvSpPr/>
          <p:nvPr/>
        </p:nvSpPr>
        <p:spPr>
          <a:xfrm>
            <a:off x="508222" y="647983"/>
            <a:ext cx="1719001"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第2章　独自価値｜事業領域と新技術</a:t>
            </a:r>
            <a:endParaRPr lang="en-US" sz="660" dirty="0"/>
          </a:p>
        </p:txBody>
      </p:sp>
      <p:sp>
        <p:nvSpPr>
          <p:cNvPr id="6" name="Text 4"/>
          <p:cNvSpPr/>
          <p:nvPr/>
        </p:nvSpPr>
        <p:spPr>
          <a:xfrm>
            <a:off x="508222" y="884814"/>
            <a:ext cx="4693946" cy="933096"/>
          </a:xfrm>
          <a:prstGeom prst="rect">
            <a:avLst/>
          </a:prstGeom>
          <a:noFill/>
          <a:ln/>
        </p:spPr>
        <p:txBody>
          <a:bodyPr wrap="none" lIns="0" tIns="0" rIns="0" bIns="0" rtlCol="0" anchor="t"/>
          <a:lstStyle/>
          <a:p>
            <a:pPr algn="l" indent="0" marL="0">
              <a:lnSpc>
                <a:spcPts val="3672"/>
              </a:lnSpc>
              <a:buNone/>
            </a:pPr>
            <a:r>
              <a:rPr lang="en-US" sz="3600" spc="-90" kern="0" dirty="0">
                <a:solidFill>
                  <a:srgbClr val="121519"/>
                </a:solidFill>
                <a:latin typeface="Inter Tight SemiBold" pitchFamily="34" charset="0"/>
                <a:ea typeface="Inter Tight SemiBold" pitchFamily="34" charset="-122"/>
                <a:cs typeface="Inter Tight SemiBold" pitchFamily="34" charset="-120"/>
              </a:rPr>
              <a:t>Resources become</a:t>
            </a:r>
            <a:endParaRPr lang="en-US" sz="3600" dirty="0"/>
          </a:p>
          <a:p>
            <a:pPr algn="l" indent="0" marL="0">
              <a:lnSpc>
                <a:spcPts val="3672"/>
              </a:lnSpc>
              <a:buNone/>
            </a:pPr>
            <a:r>
              <a:rPr lang="en-US" sz="3600" spc="-90" kern="0" dirty="0">
                <a:solidFill>
                  <a:srgbClr val="121519"/>
                </a:solidFill>
                <a:latin typeface="Inter Tight SemiBold" pitchFamily="34" charset="0"/>
                <a:ea typeface="Inter Tight SemiBold" pitchFamily="34" charset="-122"/>
                <a:cs typeface="Inter Tight SemiBold" pitchFamily="34" charset="-120"/>
              </a:rPr>
              <a:t>value when delivered.</a:t>
            </a:r>
            <a:endParaRPr lang="en-US" sz="3600" dirty="0"/>
          </a:p>
        </p:txBody>
      </p:sp>
      <p:sp>
        <p:nvSpPr>
          <p:cNvPr id="7" name="Text 5"/>
          <p:cNvSpPr/>
          <p:nvPr/>
        </p:nvSpPr>
        <p:spPr>
          <a:xfrm>
            <a:off x="508222" y="2094033"/>
            <a:ext cx="4906427"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鉄鉱石から電池資源・肥料・アルミまで、世界に広がる事業領域</a:t>
            </a:r>
            <a:endParaRPr lang="en-US" sz="1150" dirty="0"/>
          </a:p>
        </p:txBody>
      </p:sp>
      <p:sp>
        <p:nvSpPr>
          <p:cNvPr id="8" name="Text 6"/>
          <p:cNvSpPr/>
          <p:nvPr/>
        </p:nvSpPr>
        <p:spPr>
          <a:xfrm>
            <a:off x="508222" y="2335471"/>
            <a:ext cx="7248516" cy="361981"/>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資源は、ただ存在するだけでは社会の価値になりません。良質な資源を安定的に確保し、高品質な金属へと精錬し、必要とする産業へ届けてはじ</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めて価値になります。原料炭と銅に加え、私たちは鉄鉱石、電池資源、アルミ、肥料、二次資源へと事業領域を広げています。</a:t>
            </a:r>
            <a:endParaRPr lang="en-US" sz="770" dirty="0"/>
          </a:p>
        </p:txBody>
      </p:sp>
      <p:sp>
        <p:nvSpPr>
          <p:cNvPr id="9" name="Text 7"/>
          <p:cNvSpPr/>
          <p:nvPr/>
        </p:nvSpPr>
        <p:spPr>
          <a:xfrm>
            <a:off x="1448433" y="3309002"/>
            <a:ext cx="494127" cy="114350"/>
          </a:xfrm>
          <a:prstGeom prst="rect">
            <a:avLst/>
          </a:prstGeom>
          <a:noFill/>
          <a:ln/>
        </p:spPr>
        <p:txBody>
          <a:bodyPr wrap="none" lIns="0" tIns="0" rIns="0" bIns="0" rtlCol="0" anchor="t"/>
          <a:lstStyle/>
          <a:p>
            <a:pPr algn="l" indent="0" marL="0">
              <a:lnSpc>
                <a:spcPts val="900"/>
              </a:lnSpc>
              <a:buNone/>
            </a:pPr>
            <a:r>
              <a:rPr lang="en-US" sz="760" spc="30" kern="0" dirty="0">
                <a:solidFill>
                  <a:srgbClr val="121519"/>
                </a:solidFill>
                <a:latin typeface="Inter SemiBold" pitchFamily="34" charset="0"/>
                <a:ea typeface="Inter SemiBold" pitchFamily="34" charset="-122"/>
                <a:cs typeface="Inter SemiBold" pitchFamily="34" charset="-120"/>
              </a:rPr>
              <a:t>Iron Ore</a:t>
            </a:r>
            <a:endParaRPr lang="en-US" sz="760" dirty="0"/>
          </a:p>
        </p:txBody>
      </p:sp>
      <p:sp>
        <p:nvSpPr>
          <p:cNvPr id="10" name="Text 8"/>
          <p:cNvSpPr/>
          <p:nvPr/>
        </p:nvSpPr>
        <p:spPr>
          <a:xfrm>
            <a:off x="1448433" y="3454544"/>
            <a:ext cx="390398" cy="153610"/>
          </a:xfrm>
          <a:prstGeom prst="rect">
            <a:avLst/>
          </a:prstGeom>
          <a:noFill/>
          <a:ln/>
        </p:spPr>
        <p:txBody>
          <a:bodyPr wrap="none" lIns="0" tIns="0" rIns="0" bIns="0" rtlCol="0" anchor="t"/>
          <a:lstStyle/>
          <a:p>
            <a:pPr algn="l" indent="0" marL="0">
              <a:lnSpc>
                <a:spcPts val="1209"/>
              </a:lnSpc>
              <a:buNone/>
            </a:pPr>
            <a:r>
              <a:rPr lang="en-US" sz="780" spc="30" kern="0" dirty="0">
                <a:solidFill>
                  <a:srgbClr val="121519"/>
                </a:solidFill>
                <a:latin typeface="Noto Sans JP Medium" pitchFamily="34" charset="0"/>
                <a:ea typeface="Noto Sans JP Medium" pitchFamily="34" charset="-122"/>
                <a:cs typeface="Noto Sans JP Medium" pitchFamily="34" charset="-120"/>
              </a:rPr>
              <a:t>鉄鉱石</a:t>
            </a:r>
            <a:endParaRPr lang="en-US" sz="780" dirty="0"/>
          </a:p>
        </p:txBody>
      </p:sp>
      <p:sp>
        <p:nvSpPr>
          <p:cNvPr id="11" name="Text 9"/>
          <p:cNvSpPr/>
          <p:nvPr/>
        </p:nvSpPr>
        <p:spPr>
          <a:xfrm>
            <a:off x="1448433" y="3660183"/>
            <a:ext cx="1289891"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IOC（カナダ）・CMP（チリ）</a:t>
            </a:r>
            <a:endParaRPr lang="en-US" sz="670" dirty="0"/>
          </a:p>
        </p:txBody>
      </p:sp>
      <p:sp>
        <p:nvSpPr>
          <p:cNvPr id="12" name="Text 10"/>
          <p:cNvSpPr/>
          <p:nvPr/>
        </p:nvSpPr>
        <p:spPr>
          <a:xfrm>
            <a:off x="3659198" y="3309002"/>
            <a:ext cx="394765" cy="114350"/>
          </a:xfrm>
          <a:prstGeom prst="rect">
            <a:avLst/>
          </a:prstGeom>
          <a:noFill/>
          <a:ln/>
        </p:spPr>
        <p:txBody>
          <a:bodyPr wrap="none" lIns="0" tIns="0" rIns="0" bIns="0" rtlCol="0" anchor="t"/>
          <a:lstStyle/>
          <a:p>
            <a:pPr algn="l" indent="0" marL="0">
              <a:lnSpc>
                <a:spcPts val="900"/>
              </a:lnSpc>
              <a:buNone/>
            </a:pPr>
            <a:r>
              <a:rPr lang="en-US" sz="760" spc="30" kern="0" dirty="0">
                <a:solidFill>
                  <a:srgbClr val="121519"/>
                </a:solidFill>
                <a:latin typeface="Inter SemiBold" pitchFamily="34" charset="0"/>
                <a:ea typeface="Inter SemiBold" pitchFamily="34" charset="-122"/>
                <a:cs typeface="Inter SemiBold" pitchFamily="34" charset="-120"/>
              </a:rPr>
              <a:t>Nickel</a:t>
            </a:r>
            <a:endParaRPr lang="en-US" sz="760" dirty="0"/>
          </a:p>
        </p:txBody>
      </p:sp>
      <p:sp>
        <p:nvSpPr>
          <p:cNvPr id="13" name="Text 11"/>
          <p:cNvSpPr/>
          <p:nvPr/>
        </p:nvSpPr>
        <p:spPr>
          <a:xfrm>
            <a:off x="3659198" y="3454544"/>
            <a:ext cx="503517" cy="153610"/>
          </a:xfrm>
          <a:prstGeom prst="rect">
            <a:avLst/>
          </a:prstGeom>
          <a:noFill/>
          <a:ln/>
        </p:spPr>
        <p:txBody>
          <a:bodyPr wrap="none" lIns="0" tIns="0" rIns="0" bIns="0" rtlCol="0" anchor="t"/>
          <a:lstStyle/>
          <a:p>
            <a:pPr algn="l" indent="0" marL="0">
              <a:lnSpc>
                <a:spcPts val="1209"/>
              </a:lnSpc>
              <a:buNone/>
            </a:pPr>
            <a:r>
              <a:rPr lang="en-US" sz="780" spc="30" kern="0" dirty="0">
                <a:solidFill>
                  <a:srgbClr val="121519"/>
                </a:solidFill>
                <a:latin typeface="Noto Sans JP Medium" pitchFamily="34" charset="0"/>
                <a:ea typeface="Noto Sans JP Medium" pitchFamily="34" charset="-122"/>
                <a:cs typeface="Noto Sans JP Medium" pitchFamily="34" charset="-120"/>
              </a:rPr>
              <a:t>ニッケル</a:t>
            </a:r>
            <a:endParaRPr lang="en-US" sz="780" dirty="0"/>
          </a:p>
        </p:txBody>
      </p:sp>
      <p:sp>
        <p:nvSpPr>
          <p:cNvPr id="14" name="Text 12"/>
          <p:cNvSpPr/>
          <p:nvPr/>
        </p:nvSpPr>
        <p:spPr>
          <a:xfrm>
            <a:off x="3659198" y="3660183"/>
            <a:ext cx="1004473"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Turnagain（カナダ）・</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Kalgoorlie（豪州）</a:t>
            </a:r>
            <a:endParaRPr lang="en-US" sz="670" dirty="0"/>
          </a:p>
        </p:txBody>
      </p:sp>
      <p:sp>
        <p:nvSpPr>
          <p:cNvPr id="15" name="Text 13"/>
          <p:cNvSpPr/>
          <p:nvPr/>
        </p:nvSpPr>
        <p:spPr>
          <a:xfrm>
            <a:off x="5869964" y="3309002"/>
            <a:ext cx="458968" cy="114350"/>
          </a:xfrm>
          <a:prstGeom prst="rect">
            <a:avLst/>
          </a:prstGeom>
          <a:noFill/>
          <a:ln/>
        </p:spPr>
        <p:txBody>
          <a:bodyPr wrap="none" lIns="0" tIns="0" rIns="0" bIns="0" rtlCol="0" anchor="t"/>
          <a:lstStyle/>
          <a:p>
            <a:pPr algn="l" indent="0" marL="0">
              <a:lnSpc>
                <a:spcPts val="900"/>
              </a:lnSpc>
              <a:buNone/>
            </a:pPr>
            <a:r>
              <a:rPr lang="en-US" sz="760" spc="30" kern="0" dirty="0">
                <a:solidFill>
                  <a:srgbClr val="121519"/>
                </a:solidFill>
                <a:latin typeface="Inter SemiBold" pitchFamily="34" charset="0"/>
                <a:ea typeface="Inter SemiBold" pitchFamily="34" charset="-122"/>
                <a:cs typeface="Inter SemiBold" pitchFamily="34" charset="-120"/>
              </a:rPr>
              <a:t>Lithium</a:t>
            </a:r>
            <a:endParaRPr lang="en-US" sz="760" dirty="0"/>
          </a:p>
        </p:txBody>
      </p:sp>
      <p:sp>
        <p:nvSpPr>
          <p:cNvPr id="16" name="Text 14"/>
          <p:cNvSpPr/>
          <p:nvPr/>
        </p:nvSpPr>
        <p:spPr>
          <a:xfrm>
            <a:off x="5869964" y="3454544"/>
            <a:ext cx="503517" cy="153610"/>
          </a:xfrm>
          <a:prstGeom prst="rect">
            <a:avLst/>
          </a:prstGeom>
          <a:noFill/>
          <a:ln/>
        </p:spPr>
        <p:txBody>
          <a:bodyPr wrap="none" lIns="0" tIns="0" rIns="0" bIns="0" rtlCol="0" anchor="t"/>
          <a:lstStyle/>
          <a:p>
            <a:pPr algn="l" indent="0" marL="0">
              <a:lnSpc>
                <a:spcPts val="1209"/>
              </a:lnSpc>
              <a:buNone/>
            </a:pPr>
            <a:r>
              <a:rPr lang="en-US" sz="780" spc="30" kern="0" dirty="0">
                <a:solidFill>
                  <a:srgbClr val="121519"/>
                </a:solidFill>
                <a:latin typeface="Noto Sans JP Medium" pitchFamily="34" charset="0"/>
                <a:ea typeface="Noto Sans JP Medium" pitchFamily="34" charset="-122"/>
                <a:cs typeface="Noto Sans JP Medium" pitchFamily="34" charset="-120"/>
              </a:rPr>
              <a:t>リチウム</a:t>
            </a:r>
            <a:endParaRPr lang="en-US" sz="780" dirty="0"/>
          </a:p>
        </p:txBody>
      </p:sp>
      <p:sp>
        <p:nvSpPr>
          <p:cNvPr id="17" name="Text 15"/>
          <p:cNvSpPr/>
          <p:nvPr/>
        </p:nvSpPr>
        <p:spPr>
          <a:xfrm>
            <a:off x="5869964" y="3660183"/>
            <a:ext cx="1047493"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PAK Lithium（カナダ）</a:t>
            </a:r>
            <a:endParaRPr lang="en-US" sz="670" dirty="0"/>
          </a:p>
        </p:txBody>
      </p:sp>
      <p:sp>
        <p:nvSpPr>
          <p:cNvPr id="18" name="Text 16"/>
          <p:cNvSpPr/>
          <p:nvPr/>
        </p:nvSpPr>
        <p:spPr>
          <a:xfrm>
            <a:off x="1448433" y="4630379"/>
            <a:ext cx="1147728" cy="114350"/>
          </a:xfrm>
          <a:prstGeom prst="rect">
            <a:avLst/>
          </a:prstGeom>
          <a:noFill/>
          <a:ln/>
        </p:spPr>
        <p:txBody>
          <a:bodyPr wrap="none" lIns="0" tIns="0" rIns="0" bIns="0" rtlCol="0" anchor="t"/>
          <a:lstStyle/>
          <a:p>
            <a:pPr algn="l" indent="0" marL="0">
              <a:lnSpc>
                <a:spcPts val="900"/>
              </a:lnSpc>
              <a:buNone/>
            </a:pPr>
            <a:r>
              <a:rPr lang="en-US" sz="760" spc="30" kern="0" dirty="0">
                <a:solidFill>
                  <a:srgbClr val="121519"/>
                </a:solidFill>
                <a:latin typeface="Inter SemiBold" pitchFamily="34" charset="0"/>
                <a:ea typeface="Inter SemiBold" pitchFamily="34" charset="-122"/>
                <a:cs typeface="Inter SemiBold" pitchFamily="34" charset="-120"/>
              </a:rPr>
              <a:t>Bauxite · Aluminium</a:t>
            </a:r>
            <a:endParaRPr lang="en-US" sz="760" dirty="0"/>
          </a:p>
        </p:txBody>
      </p:sp>
      <p:sp>
        <p:nvSpPr>
          <p:cNvPr id="19" name="Text 17"/>
          <p:cNvSpPr/>
          <p:nvPr/>
        </p:nvSpPr>
        <p:spPr>
          <a:xfrm>
            <a:off x="1448433" y="4775921"/>
            <a:ext cx="1520934" cy="153610"/>
          </a:xfrm>
          <a:prstGeom prst="rect">
            <a:avLst/>
          </a:prstGeom>
          <a:noFill/>
          <a:ln/>
        </p:spPr>
        <p:txBody>
          <a:bodyPr wrap="none" lIns="0" tIns="0" rIns="0" bIns="0" rtlCol="0" anchor="t"/>
          <a:lstStyle/>
          <a:p>
            <a:pPr algn="l" indent="0" marL="0">
              <a:lnSpc>
                <a:spcPts val="1209"/>
              </a:lnSpc>
              <a:buNone/>
            </a:pPr>
            <a:r>
              <a:rPr lang="en-US" sz="780" spc="30" kern="0" dirty="0">
                <a:solidFill>
                  <a:srgbClr val="121519"/>
                </a:solidFill>
                <a:latin typeface="Noto Sans JP Medium" pitchFamily="34" charset="0"/>
                <a:ea typeface="Noto Sans JP Medium" pitchFamily="34" charset="-122"/>
                <a:cs typeface="Noto Sans JP Medium" pitchFamily="34" charset="-120"/>
              </a:rPr>
              <a:t>ボーキサイト・低炭素アルミ</a:t>
            </a:r>
            <a:endParaRPr lang="en-US" sz="780" dirty="0"/>
          </a:p>
        </p:txBody>
      </p:sp>
      <p:sp>
        <p:nvSpPr>
          <p:cNvPr id="20" name="Text 18"/>
          <p:cNvSpPr/>
          <p:nvPr/>
        </p:nvSpPr>
        <p:spPr>
          <a:xfrm>
            <a:off x="1448433" y="4981560"/>
            <a:ext cx="1306051"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Aurukun（豪州）・Arctial（北</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欧）</a:t>
            </a:r>
            <a:endParaRPr lang="en-US" sz="670" dirty="0"/>
          </a:p>
        </p:txBody>
      </p:sp>
      <p:sp>
        <p:nvSpPr>
          <p:cNvPr id="21" name="Text 19"/>
          <p:cNvSpPr/>
          <p:nvPr/>
        </p:nvSpPr>
        <p:spPr>
          <a:xfrm>
            <a:off x="3659198" y="4630379"/>
            <a:ext cx="542388" cy="114350"/>
          </a:xfrm>
          <a:prstGeom prst="rect">
            <a:avLst/>
          </a:prstGeom>
          <a:noFill/>
          <a:ln/>
        </p:spPr>
        <p:txBody>
          <a:bodyPr wrap="none" lIns="0" tIns="0" rIns="0" bIns="0" rtlCol="0" anchor="t"/>
          <a:lstStyle/>
          <a:p>
            <a:pPr algn="l" indent="0" marL="0">
              <a:lnSpc>
                <a:spcPts val="900"/>
              </a:lnSpc>
              <a:buNone/>
            </a:pPr>
            <a:r>
              <a:rPr lang="en-US" sz="760" spc="30" kern="0" dirty="0">
                <a:solidFill>
                  <a:srgbClr val="121519"/>
                </a:solidFill>
                <a:latin typeface="Inter SemiBold" pitchFamily="34" charset="0"/>
                <a:ea typeface="Inter SemiBold" pitchFamily="34" charset="-122"/>
                <a:cs typeface="Inter SemiBold" pitchFamily="34" charset="-120"/>
              </a:rPr>
              <a:t>Fertilizer</a:t>
            </a:r>
            <a:endParaRPr lang="en-US" sz="760" dirty="0"/>
          </a:p>
        </p:txBody>
      </p:sp>
      <p:sp>
        <p:nvSpPr>
          <p:cNvPr id="22" name="Text 20"/>
          <p:cNvSpPr/>
          <p:nvPr/>
        </p:nvSpPr>
        <p:spPr>
          <a:xfrm>
            <a:off x="3659198" y="4775921"/>
            <a:ext cx="503517" cy="153610"/>
          </a:xfrm>
          <a:prstGeom prst="rect">
            <a:avLst/>
          </a:prstGeom>
          <a:noFill/>
          <a:ln/>
        </p:spPr>
        <p:txBody>
          <a:bodyPr wrap="none" lIns="0" tIns="0" rIns="0" bIns="0" rtlCol="0" anchor="t"/>
          <a:lstStyle/>
          <a:p>
            <a:pPr algn="l" indent="0" marL="0">
              <a:lnSpc>
                <a:spcPts val="1209"/>
              </a:lnSpc>
              <a:buNone/>
            </a:pPr>
            <a:r>
              <a:rPr lang="en-US" sz="780" spc="30" kern="0" dirty="0">
                <a:solidFill>
                  <a:srgbClr val="121519"/>
                </a:solidFill>
                <a:latin typeface="Noto Sans JP Medium" pitchFamily="34" charset="0"/>
                <a:ea typeface="Noto Sans JP Medium" pitchFamily="34" charset="-122"/>
                <a:cs typeface="Noto Sans JP Medium" pitchFamily="34" charset="-120"/>
              </a:rPr>
              <a:t>肥料資源</a:t>
            </a:r>
            <a:endParaRPr lang="en-US" sz="780" dirty="0"/>
          </a:p>
        </p:txBody>
      </p:sp>
      <p:sp>
        <p:nvSpPr>
          <p:cNvPr id="23" name="Text 21"/>
          <p:cNvSpPr/>
          <p:nvPr/>
        </p:nvSpPr>
        <p:spPr>
          <a:xfrm>
            <a:off x="3659198" y="4981560"/>
            <a:ext cx="926076"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Woodsmith（英国）</a:t>
            </a:r>
            <a:endParaRPr lang="en-US" sz="670" dirty="0"/>
          </a:p>
        </p:txBody>
      </p:sp>
      <p:sp>
        <p:nvSpPr>
          <p:cNvPr id="24" name="Text 22"/>
          <p:cNvSpPr/>
          <p:nvPr/>
        </p:nvSpPr>
        <p:spPr>
          <a:xfrm>
            <a:off x="5869964" y="4630379"/>
            <a:ext cx="553962" cy="114350"/>
          </a:xfrm>
          <a:prstGeom prst="rect">
            <a:avLst/>
          </a:prstGeom>
          <a:noFill/>
          <a:ln/>
        </p:spPr>
        <p:txBody>
          <a:bodyPr wrap="none" lIns="0" tIns="0" rIns="0" bIns="0" rtlCol="0" anchor="t"/>
          <a:lstStyle/>
          <a:p>
            <a:pPr algn="l" indent="0" marL="0">
              <a:lnSpc>
                <a:spcPts val="900"/>
              </a:lnSpc>
              <a:buNone/>
            </a:pPr>
            <a:r>
              <a:rPr lang="en-US" sz="760" spc="30" kern="0" dirty="0">
                <a:solidFill>
                  <a:srgbClr val="121519"/>
                </a:solidFill>
                <a:latin typeface="Inter SemiBold" pitchFamily="34" charset="0"/>
                <a:ea typeface="Inter SemiBold" pitchFamily="34" charset="-122"/>
                <a:cs typeface="Inter SemiBold" pitchFamily="34" charset="-120"/>
              </a:rPr>
              <a:t>Recycled</a:t>
            </a:r>
            <a:endParaRPr lang="en-US" sz="760" dirty="0"/>
          </a:p>
        </p:txBody>
      </p:sp>
      <p:sp>
        <p:nvSpPr>
          <p:cNvPr id="25" name="Text 23"/>
          <p:cNvSpPr/>
          <p:nvPr/>
        </p:nvSpPr>
        <p:spPr>
          <a:xfrm>
            <a:off x="5869964" y="4775921"/>
            <a:ext cx="503517" cy="153610"/>
          </a:xfrm>
          <a:prstGeom prst="rect">
            <a:avLst/>
          </a:prstGeom>
          <a:noFill/>
          <a:ln/>
        </p:spPr>
        <p:txBody>
          <a:bodyPr wrap="none" lIns="0" tIns="0" rIns="0" bIns="0" rtlCol="0" anchor="t"/>
          <a:lstStyle/>
          <a:p>
            <a:pPr algn="l" indent="0" marL="0">
              <a:lnSpc>
                <a:spcPts val="1209"/>
              </a:lnSpc>
              <a:buNone/>
            </a:pPr>
            <a:r>
              <a:rPr lang="en-US" sz="780" spc="30" kern="0" dirty="0">
                <a:solidFill>
                  <a:srgbClr val="121519"/>
                </a:solidFill>
                <a:latin typeface="Noto Sans JP Medium" pitchFamily="34" charset="0"/>
                <a:ea typeface="Noto Sans JP Medium" pitchFamily="34" charset="-122"/>
                <a:cs typeface="Noto Sans JP Medium" pitchFamily="34" charset="-120"/>
              </a:rPr>
              <a:t>二次資源</a:t>
            </a:r>
            <a:endParaRPr lang="en-US" sz="780" dirty="0"/>
          </a:p>
        </p:txBody>
      </p:sp>
      <p:sp>
        <p:nvSpPr>
          <p:cNvPr id="26" name="Text 24"/>
          <p:cNvSpPr/>
          <p:nvPr/>
        </p:nvSpPr>
        <p:spPr>
          <a:xfrm>
            <a:off x="5869964" y="4981560"/>
            <a:ext cx="1167819"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リサイクル由来の金属資源</a:t>
            </a:r>
            <a:endParaRPr lang="en-US" sz="670" dirty="0"/>
          </a:p>
        </p:txBody>
      </p:sp>
      <p:sp>
        <p:nvSpPr>
          <p:cNvPr id="27" name="Text 25"/>
          <p:cNvSpPr/>
          <p:nvPr/>
        </p:nvSpPr>
        <p:spPr>
          <a:xfrm>
            <a:off x="508222" y="6002578"/>
            <a:ext cx="3200468"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NEW TECHNOLOGY ALONG THE COPPER CHAIN</a:t>
            </a:r>
            <a:endParaRPr lang="en-US" sz="660" dirty="0"/>
          </a:p>
        </p:txBody>
      </p:sp>
      <p:sp>
        <p:nvSpPr>
          <p:cNvPr id="28" name="Text 26"/>
          <p:cNvSpPr/>
          <p:nvPr/>
        </p:nvSpPr>
        <p:spPr>
          <a:xfrm>
            <a:off x="508222" y="6142339"/>
            <a:ext cx="3368837"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山を持つだけでなく、川上から川下までのボトルネックに技術で網を張る</a:t>
            </a:r>
            <a:endParaRPr lang="en-US" sz="660" dirty="0"/>
          </a:p>
        </p:txBody>
      </p:sp>
      <p:sp>
        <p:nvSpPr>
          <p:cNvPr id="29" name="Text 27"/>
          <p:cNvSpPr/>
          <p:nvPr/>
        </p:nvSpPr>
        <p:spPr>
          <a:xfrm>
            <a:off x="609866" y="6523506"/>
            <a:ext cx="307415" cy="114350"/>
          </a:xfrm>
          <a:prstGeom prst="rect">
            <a:avLst/>
          </a:prstGeom>
          <a:noFill/>
          <a:ln/>
        </p:spPr>
        <p:txBody>
          <a:bodyPr wrap="none" lIns="0" tIns="0" rIns="0" bIns="0" rtlCol="0" anchor="t"/>
          <a:lstStyle/>
          <a:p>
            <a:pPr algn="l" indent="0" marL="0">
              <a:lnSpc>
                <a:spcPts val="900"/>
              </a:lnSpc>
              <a:buNone/>
            </a:pPr>
            <a:r>
              <a:rPr lang="en-US" sz="720" spc="30" kern="0" dirty="0">
                <a:solidFill>
                  <a:srgbClr val="121519"/>
                </a:solidFill>
                <a:latin typeface="Inter SemiBold" pitchFamily="34" charset="0"/>
                <a:ea typeface="Inter SemiBold" pitchFamily="34" charset="-122"/>
                <a:cs typeface="Inter SemiBold" pitchFamily="34" charset="-120"/>
              </a:rPr>
              <a:t>Mine</a:t>
            </a:r>
            <a:endParaRPr lang="en-US" sz="720" dirty="0"/>
          </a:p>
        </p:txBody>
      </p:sp>
      <p:sp>
        <p:nvSpPr>
          <p:cNvPr id="30" name="Text 28"/>
          <p:cNvSpPr/>
          <p:nvPr/>
        </p:nvSpPr>
        <p:spPr>
          <a:xfrm>
            <a:off x="609866" y="6658693"/>
            <a:ext cx="237753"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採掘</a:t>
            </a:r>
            <a:endParaRPr lang="en-US" sz="670" dirty="0"/>
          </a:p>
        </p:txBody>
      </p:sp>
      <p:sp>
        <p:nvSpPr>
          <p:cNvPr id="31" name="Text 29"/>
          <p:cNvSpPr/>
          <p:nvPr/>
        </p:nvSpPr>
        <p:spPr>
          <a:xfrm>
            <a:off x="609866" y="6793181"/>
            <a:ext cx="445210" cy="108632"/>
          </a:xfrm>
          <a:prstGeom prst="rect">
            <a:avLst/>
          </a:prstGeom>
          <a:noFill/>
          <a:ln/>
        </p:spPr>
        <p:txBody>
          <a:bodyPr wrap="none" lIns="0" tIns="0" rIns="0" bIns="0" rtlCol="0" anchor="t"/>
          <a:lstStyle/>
          <a:p>
            <a:pPr algn="l" indent="0" marL="0">
              <a:lnSpc>
                <a:spcPts val="855"/>
              </a:lnSpc>
              <a:buNone/>
            </a:pPr>
            <a:r>
              <a:rPr lang="en-US" sz="900" spc="-27" kern="0" dirty="0">
                <a:solidFill>
                  <a:srgbClr val="9C7442"/>
                </a:solidFill>
                <a:latin typeface="Inter Tight SemiBold" pitchFamily="34" charset="0"/>
                <a:ea typeface="Inter Tight SemiBold" pitchFamily="34" charset="-122"/>
                <a:cs typeface="Inter Tight SemiBold" pitchFamily="34" charset="-120"/>
              </a:rPr>
              <a:t>Cu ~1%</a:t>
            </a:r>
            <a:endParaRPr lang="en-US" sz="900" dirty="0"/>
          </a:p>
        </p:txBody>
      </p:sp>
      <p:sp>
        <p:nvSpPr>
          <p:cNvPr id="32" name="Text 30"/>
          <p:cNvSpPr/>
          <p:nvPr/>
        </p:nvSpPr>
        <p:spPr>
          <a:xfrm>
            <a:off x="1931244" y="6523506"/>
            <a:ext cx="698964" cy="114350"/>
          </a:xfrm>
          <a:prstGeom prst="rect">
            <a:avLst/>
          </a:prstGeom>
          <a:noFill/>
          <a:ln/>
        </p:spPr>
        <p:txBody>
          <a:bodyPr wrap="none" lIns="0" tIns="0" rIns="0" bIns="0" rtlCol="0" anchor="t"/>
          <a:lstStyle/>
          <a:p>
            <a:pPr algn="l" indent="0" marL="0">
              <a:lnSpc>
                <a:spcPts val="900"/>
              </a:lnSpc>
              <a:buNone/>
            </a:pPr>
            <a:r>
              <a:rPr lang="en-US" sz="720" spc="30" kern="0" dirty="0">
                <a:solidFill>
                  <a:srgbClr val="121519"/>
                </a:solidFill>
                <a:latin typeface="Inter SemiBold" pitchFamily="34" charset="0"/>
                <a:ea typeface="Inter SemiBold" pitchFamily="34" charset="-122"/>
                <a:cs typeface="Inter SemiBold" pitchFamily="34" charset="-120"/>
              </a:rPr>
              <a:t>Concentrate</a:t>
            </a:r>
            <a:endParaRPr lang="en-US" sz="720" dirty="0"/>
          </a:p>
        </p:txBody>
      </p:sp>
      <p:sp>
        <p:nvSpPr>
          <p:cNvPr id="33" name="Text 31"/>
          <p:cNvSpPr/>
          <p:nvPr/>
        </p:nvSpPr>
        <p:spPr>
          <a:xfrm>
            <a:off x="1931244" y="6658693"/>
            <a:ext cx="518148"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選鉱・浸出</a:t>
            </a:r>
            <a:endParaRPr lang="en-US" sz="670" dirty="0"/>
          </a:p>
        </p:txBody>
      </p:sp>
      <p:sp>
        <p:nvSpPr>
          <p:cNvPr id="34" name="Text 32"/>
          <p:cNvSpPr/>
          <p:nvPr/>
        </p:nvSpPr>
        <p:spPr>
          <a:xfrm>
            <a:off x="1931244" y="6793181"/>
            <a:ext cx="677782" cy="108632"/>
          </a:xfrm>
          <a:prstGeom prst="rect">
            <a:avLst/>
          </a:prstGeom>
          <a:noFill/>
          <a:ln/>
        </p:spPr>
        <p:txBody>
          <a:bodyPr wrap="none" lIns="0" tIns="0" rIns="0" bIns="0" rtlCol="0" anchor="t"/>
          <a:lstStyle/>
          <a:p>
            <a:pPr algn="l" indent="0" marL="0">
              <a:lnSpc>
                <a:spcPts val="855"/>
              </a:lnSpc>
              <a:buNone/>
            </a:pPr>
            <a:r>
              <a:rPr lang="en-US" sz="900" spc="-27" kern="0" dirty="0">
                <a:solidFill>
                  <a:srgbClr val="9C7442"/>
                </a:solidFill>
                <a:latin typeface="Inter Tight SemiBold" pitchFamily="34" charset="0"/>
                <a:ea typeface="Inter Tight SemiBold" pitchFamily="34" charset="-122"/>
                <a:cs typeface="Inter Tight SemiBold" pitchFamily="34" charset="-120"/>
              </a:rPr>
              <a:t>Cu 20–30%</a:t>
            </a:r>
            <a:endParaRPr lang="en-US" sz="900" dirty="0"/>
          </a:p>
        </p:txBody>
      </p:sp>
      <p:sp>
        <p:nvSpPr>
          <p:cNvPr id="35" name="Text 33"/>
          <p:cNvSpPr/>
          <p:nvPr/>
        </p:nvSpPr>
        <p:spPr>
          <a:xfrm>
            <a:off x="3252621" y="6523506"/>
            <a:ext cx="492380" cy="114350"/>
          </a:xfrm>
          <a:prstGeom prst="rect">
            <a:avLst/>
          </a:prstGeom>
          <a:noFill/>
          <a:ln/>
        </p:spPr>
        <p:txBody>
          <a:bodyPr wrap="none" lIns="0" tIns="0" rIns="0" bIns="0" rtlCol="0" anchor="t"/>
          <a:lstStyle/>
          <a:p>
            <a:pPr algn="l" indent="0" marL="0">
              <a:lnSpc>
                <a:spcPts val="900"/>
              </a:lnSpc>
              <a:buNone/>
            </a:pPr>
            <a:r>
              <a:rPr lang="en-US" sz="720" spc="30" kern="0" dirty="0">
                <a:solidFill>
                  <a:srgbClr val="121519"/>
                </a:solidFill>
                <a:latin typeface="Inter SemiBold" pitchFamily="34" charset="0"/>
                <a:ea typeface="Inter SemiBold" pitchFamily="34" charset="-122"/>
                <a:cs typeface="Inter SemiBold" pitchFamily="34" charset="-120"/>
              </a:rPr>
              <a:t>Cathode</a:t>
            </a:r>
            <a:endParaRPr lang="en-US" sz="720" dirty="0"/>
          </a:p>
        </p:txBody>
      </p:sp>
      <p:sp>
        <p:nvSpPr>
          <p:cNvPr id="36" name="Text 34"/>
          <p:cNvSpPr/>
          <p:nvPr/>
        </p:nvSpPr>
        <p:spPr>
          <a:xfrm>
            <a:off x="3252621" y="6658693"/>
            <a:ext cx="518148"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製錬・精製</a:t>
            </a:r>
            <a:endParaRPr lang="en-US" sz="670" dirty="0"/>
          </a:p>
        </p:txBody>
      </p:sp>
      <p:sp>
        <p:nvSpPr>
          <p:cNvPr id="37" name="Text 35"/>
          <p:cNvSpPr/>
          <p:nvPr/>
        </p:nvSpPr>
        <p:spPr>
          <a:xfrm>
            <a:off x="3252621" y="6793181"/>
            <a:ext cx="642623" cy="108632"/>
          </a:xfrm>
          <a:prstGeom prst="rect">
            <a:avLst/>
          </a:prstGeom>
          <a:noFill/>
          <a:ln/>
        </p:spPr>
        <p:txBody>
          <a:bodyPr wrap="none" lIns="0" tIns="0" rIns="0" bIns="0" rtlCol="0" anchor="t"/>
          <a:lstStyle/>
          <a:p>
            <a:pPr algn="l" indent="0" marL="0">
              <a:lnSpc>
                <a:spcPts val="855"/>
              </a:lnSpc>
              <a:buNone/>
            </a:pPr>
            <a:r>
              <a:rPr lang="en-US" sz="900" spc="-27" kern="0" dirty="0">
                <a:solidFill>
                  <a:srgbClr val="9C7442"/>
                </a:solidFill>
                <a:latin typeface="Inter Tight SemiBold" pitchFamily="34" charset="0"/>
                <a:ea typeface="Inter Tight SemiBold" pitchFamily="34" charset="-122"/>
                <a:cs typeface="Inter Tight SemiBold" pitchFamily="34" charset="-120"/>
              </a:rPr>
              <a:t>Cu 99.99%</a:t>
            </a:r>
            <a:endParaRPr lang="en-US" sz="900" dirty="0"/>
          </a:p>
        </p:txBody>
      </p:sp>
      <p:sp>
        <p:nvSpPr>
          <p:cNvPr id="38" name="Text 36"/>
          <p:cNvSpPr/>
          <p:nvPr/>
        </p:nvSpPr>
        <p:spPr>
          <a:xfrm>
            <a:off x="4573998" y="6523506"/>
            <a:ext cx="466611" cy="114350"/>
          </a:xfrm>
          <a:prstGeom prst="rect">
            <a:avLst/>
          </a:prstGeom>
          <a:noFill/>
          <a:ln/>
        </p:spPr>
        <p:txBody>
          <a:bodyPr wrap="none" lIns="0" tIns="0" rIns="0" bIns="0" rtlCol="0" anchor="t"/>
          <a:lstStyle/>
          <a:p>
            <a:pPr algn="l" indent="0" marL="0">
              <a:lnSpc>
                <a:spcPts val="900"/>
              </a:lnSpc>
              <a:buNone/>
            </a:pPr>
            <a:r>
              <a:rPr lang="en-US" sz="720" spc="30" kern="0" dirty="0">
                <a:solidFill>
                  <a:srgbClr val="121519"/>
                </a:solidFill>
                <a:latin typeface="Inter SemiBold" pitchFamily="34" charset="0"/>
                <a:ea typeface="Inter SemiBold" pitchFamily="34" charset="-122"/>
                <a:cs typeface="Inter SemiBold" pitchFamily="34" charset="-120"/>
              </a:rPr>
              <a:t>End use</a:t>
            </a:r>
            <a:endParaRPr lang="en-US" sz="720" dirty="0"/>
          </a:p>
        </p:txBody>
      </p:sp>
      <p:sp>
        <p:nvSpPr>
          <p:cNvPr id="39" name="Text 37"/>
          <p:cNvSpPr/>
          <p:nvPr/>
        </p:nvSpPr>
        <p:spPr>
          <a:xfrm>
            <a:off x="4573998" y="6658693"/>
            <a:ext cx="424683"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最終製品</a:t>
            </a:r>
            <a:endParaRPr lang="en-US" sz="670" dirty="0"/>
          </a:p>
        </p:txBody>
      </p:sp>
      <p:sp>
        <p:nvSpPr>
          <p:cNvPr id="40" name="Text 38"/>
          <p:cNvSpPr/>
          <p:nvPr/>
        </p:nvSpPr>
        <p:spPr>
          <a:xfrm>
            <a:off x="4573998" y="6793181"/>
            <a:ext cx="916904" cy="108632"/>
          </a:xfrm>
          <a:prstGeom prst="rect">
            <a:avLst/>
          </a:prstGeom>
          <a:noFill/>
          <a:ln/>
        </p:spPr>
        <p:txBody>
          <a:bodyPr wrap="none" lIns="0" tIns="0" rIns="0" bIns="0" rtlCol="0" anchor="t"/>
          <a:lstStyle/>
          <a:p>
            <a:pPr algn="l" indent="0" marL="0">
              <a:lnSpc>
                <a:spcPts val="855"/>
              </a:lnSpc>
              <a:buNone/>
            </a:pPr>
            <a:r>
              <a:rPr lang="en-US" sz="900" spc="-27" kern="0" dirty="0">
                <a:solidFill>
                  <a:srgbClr val="9C7442"/>
                </a:solidFill>
                <a:latin typeface="Inter Tight SemiBold" pitchFamily="34" charset="0"/>
                <a:ea typeface="Inter Tight SemiBold" pitchFamily="34" charset="-122"/>
                <a:cs typeface="Inter Tight SemiBold" pitchFamily="34" charset="-120"/>
              </a:rPr>
              <a:t>電化・インフラ</a:t>
            </a:r>
            <a:endParaRPr lang="en-US" sz="900" dirty="0"/>
          </a:p>
        </p:txBody>
      </p:sp>
      <p:sp>
        <p:nvSpPr>
          <p:cNvPr id="41" name="Text 39"/>
          <p:cNvSpPr/>
          <p:nvPr/>
        </p:nvSpPr>
        <p:spPr>
          <a:xfrm>
            <a:off x="5895375" y="6523506"/>
            <a:ext cx="462025" cy="114350"/>
          </a:xfrm>
          <a:prstGeom prst="rect">
            <a:avLst/>
          </a:prstGeom>
          <a:noFill/>
          <a:ln/>
        </p:spPr>
        <p:txBody>
          <a:bodyPr wrap="none" lIns="0" tIns="0" rIns="0" bIns="0" rtlCol="0" anchor="t"/>
          <a:lstStyle/>
          <a:p>
            <a:pPr algn="l" indent="0" marL="0">
              <a:lnSpc>
                <a:spcPts val="900"/>
              </a:lnSpc>
              <a:buNone/>
            </a:pPr>
            <a:r>
              <a:rPr lang="en-US" sz="720" spc="30" kern="0" dirty="0">
                <a:solidFill>
                  <a:srgbClr val="121519"/>
                </a:solidFill>
                <a:latin typeface="Inter SemiBold" pitchFamily="34" charset="0"/>
                <a:ea typeface="Inter SemiBold" pitchFamily="34" charset="-122"/>
                <a:cs typeface="Inter SemiBold" pitchFamily="34" charset="-120"/>
              </a:rPr>
              <a:t>Recycle</a:t>
            </a:r>
            <a:endParaRPr lang="en-US" sz="720" dirty="0"/>
          </a:p>
        </p:txBody>
      </p:sp>
      <p:sp>
        <p:nvSpPr>
          <p:cNvPr id="42" name="Text 40"/>
          <p:cNvSpPr/>
          <p:nvPr/>
        </p:nvSpPr>
        <p:spPr>
          <a:xfrm>
            <a:off x="5895375" y="6658693"/>
            <a:ext cx="237753"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回収</a:t>
            </a:r>
            <a:endParaRPr lang="en-US" sz="670" dirty="0"/>
          </a:p>
        </p:txBody>
      </p:sp>
      <p:sp>
        <p:nvSpPr>
          <p:cNvPr id="43" name="Text 41"/>
          <p:cNvSpPr/>
          <p:nvPr/>
        </p:nvSpPr>
        <p:spPr>
          <a:xfrm>
            <a:off x="5895375" y="6793181"/>
            <a:ext cx="666863" cy="108632"/>
          </a:xfrm>
          <a:prstGeom prst="rect">
            <a:avLst/>
          </a:prstGeom>
          <a:noFill/>
          <a:ln/>
        </p:spPr>
        <p:txBody>
          <a:bodyPr wrap="none" lIns="0" tIns="0" rIns="0" bIns="0" rtlCol="0" anchor="t"/>
          <a:lstStyle/>
          <a:p>
            <a:pPr algn="l" indent="0" marL="0">
              <a:lnSpc>
                <a:spcPts val="855"/>
              </a:lnSpc>
              <a:buNone/>
            </a:pPr>
            <a:r>
              <a:rPr lang="en-US" sz="900" spc="-27" kern="0" dirty="0">
                <a:solidFill>
                  <a:srgbClr val="9C7442"/>
                </a:solidFill>
                <a:latin typeface="Inter Tight SemiBold" pitchFamily="34" charset="0"/>
                <a:ea typeface="Inter Tight SemiBold" pitchFamily="34" charset="-122"/>
                <a:cs typeface="Inter Tight SemiBold" pitchFamily="34" charset="-120"/>
              </a:rPr>
              <a:t>再び供給へ</a:t>
            </a:r>
            <a:endParaRPr lang="en-US" sz="900" dirty="0"/>
          </a:p>
        </p:txBody>
      </p:sp>
      <p:sp>
        <p:nvSpPr>
          <p:cNvPr id="44" name="Text 42"/>
          <p:cNvSpPr/>
          <p:nvPr/>
        </p:nvSpPr>
        <p:spPr>
          <a:xfrm>
            <a:off x="622572" y="7527244"/>
            <a:ext cx="792429" cy="76233"/>
          </a:xfrm>
          <a:prstGeom prst="rect">
            <a:avLst/>
          </a:prstGeom>
          <a:noFill/>
          <a:ln/>
        </p:spPr>
        <p:txBody>
          <a:bodyPr wrap="none" lIns="0" tIns="0" rIns="0" bIns="0" rtlCol="0" anchor="t"/>
          <a:lstStyle/>
          <a:p>
            <a:pPr algn="l" indent="0" marL="0">
              <a:lnSpc>
                <a:spcPts val="600"/>
              </a:lnSpc>
              <a:buNone/>
            </a:pPr>
            <a:r>
              <a:rPr lang="en-US" sz="540" spc="120" kern="0" dirty="0">
                <a:solidFill>
                  <a:srgbClr val="9C7442"/>
                </a:solidFill>
                <a:latin typeface="Noto Sans JP Medium" pitchFamily="34" charset="0"/>
                <a:ea typeface="Noto Sans JP Medium" pitchFamily="34" charset="-122"/>
                <a:cs typeface="Noto Sans JP Medium" pitchFamily="34" charset="-120"/>
              </a:rPr>
              <a:t>STARTUP｜選鉱</a:t>
            </a:r>
            <a:endParaRPr lang="en-US" sz="540" dirty="0"/>
          </a:p>
        </p:txBody>
      </p:sp>
      <p:sp>
        <p:nvSpPr>
          <p:cNvPr id="45" name="Text 43"/>
          <p:cNvSpPr/>
          <p:nvPr/>
        </p:nvSpPr>
        <p:spPr>
          <a:xfrm>
            <a:off x="622572" y="7641594"/>
            <a:ext cx="444337" cy="127055"/>
          </a:xfrm>
          <a:prstGeom prst="rect">
            <a:avLst/>
          </a:prstGeom>
          <a:noFill/>
          <a:ln/>
        </p:spPr>
        <p:txBody>
          <a:bodyPr wrap="none" lIns="0" tIns="0" rIns="0" bIns="0" rtlCol="0" anchor="t"/>
          <a:lstStyle/>
          <a:p>
            <a:pPr algn="l" indent="0" marL="0">
              <a:lnSpc>
                <a:spcPts val="1000"/>
              </a:lnSpc>
              <a:buNone/>
            </a:pPr>
            <a:r>
              <a:rPr lang="en-US" sz="860" spc="30" kern="0" dirty="0">
                <a:solidFill>
                  <a:srgbClr val="121519"/>
                </a:solidFill>
                <a:latin typeface="Inter SemiBold" pitchFamily="34" charset="0"/>
                <a:ea typeface="Inter SemiBold" pitchFamily="34" charset="-122"/>
                <a:cs typeface="Inter SemiBold" pitchFamily="34" charset="-120"/>
              </a:rPr>
              <a:t>CiDRA</a:t>
            </a:r>
            <a:endParaRPr lang="en-US" sz="860" dirty="0"/>
          </a:p>
        </p:txBody>
      </p:sp>
      <p:sp>
        <p:nvSpPr>
          <p:cNvPr id="46" name="Text 44"/>
          <p:cNvSpPr/>
          <p:nvPr/>
        </p:nvSpPr>
        <p:spPr>
          <a:xfrm>
            <a:off x="622572" y="7789487"/>
            <a:ext cx="1449088"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浮遊選鉱の高度化で、回収率・処</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理能力を向上</a:t>
            </a:r>
            <a:endParaRPr lang="en-US" sz="670" dirty="0"/>
          </a:p>
        </p:txBody>
      </p:sp>
      <p:sp>
        <p:nvSpPr>
          <p:cNvPr id="47" name="Text 45"/>
          <p:cNvSpPr/>
          <p:nvPr/>
        </p:nvSpPr>
        <p:spPr>
          <a:xfrm>
            <a:off x="2274293" y="7527244"/>
            <a:ext cx="792429" cy="76233"/>
          </a:xfrm>
          <a:prstGeom prst="rect">
            <a:avLst/>
          </a:prstGeom>
          <a:noFill/>
          <a:ln/>
        </p:spPr>
        <p:txBody>
          <a:bodyPr wrap="none" lIns="0" tIns="0" rIns="0" bIns="0" rtlCol="0" anchor="t"/>
          <a:lstStyle/>
          <a:p>
            <a:pPr algn="l" indent="0" marL="0">
              <a:lnSpc>
                <a:spcPts val="600"/>
              </a:lnSpc>
              <a:buNone/>
            </a:pPr>
            <a:r>
              <a:rPr lang="en-US" sz="540" spc="120" kern="0" dirty="0">
                <a:solidFill>
                  <a:srgbClr val="9C7442"/>
                </a:solidFill>
                <a:latin typeface="Noto Sans JP Medium" pitchFamily="34" charset="0"/>
                <a:ea typeface="Noto Sans JP Medium" pitchFamily="34" charset="-122"/>
                <a:cs typeface="Noto Sans JP Medium" pitchFamily="34" charset="-120"/>
              </a:rPr>
              <a:t>STARTUP｜浸出</a:t>
            </a:r>
            <a:endParaRPr lang="en-US" sz="540" dirty="0"/>
          </a:p>
        </p:txBody>
      </p:sp>
      <p:sp>
        <p:nvSpPr>
          <p:cNvPr id="48" name="Text 46"/>
          <p:cNvSpPr/>
          <p:nvPr/>
        </p:nvSpPr>
        <p:spPr>
          <a:xfrm>
            <a:off x="2274293" y="7641594"/>
            <a:ext cx="327942" cy="127055"/>
          </a:xfrm>
          <a:prstGeom prst="rect">
            <a:avLst/>
          </a:prstGeom>
          <a:noFill/>
          <a:ln/>
        </p:spPr>
        <p:txBody>
          <a:bodyPr wrap="none" lIns="0" tIns="0" rIns="0" bIns="0" rtlCol="0" anchor="t"/>
          <a:lstStyle/>
          <a:p>
            <a:pPr algn="l" indent="0" marL="0">
              <a:lnSpc>
                <a:spcPts val="1000"/>
              </a:lnSpc>
              <a:buNone/>
            </a:pPr>
            <a:r>
              <a:rPr lang="en-US" sz="860" spc="30" kern="0" dirty="0">
                <a:solidFill>
                  <a:srgbClr val="121519"/>
                </a:solidFill>
                <a:latin typeface="Inter SemiBold" pitchFamily="34" charset="0"/>
                <a:ea typeface="Inter SemiBold" pitchFamily="34" charset="-122"/>
                <a:cs typeface="Inter SemiBold" pitchFamily="34" charset="-120"/>
              </a:rPr>
              <a:t>Jetti</a:t>
            </a:r>
            <a:endParaRPr lang="en-US" sz="860" dirty="0"/>
          </a:p>
        </p:txBody>
      </p:sp>
      <p:sp>
        <p:nvSpPr>
          <p:cNvPr id="49" name="Text 47"/>
          <p:cNvSpPr/>
          <p:nvPr/>
        </p:nvSpPr>
        <p:spPr>
          <a:xfrm>
            <a:off x="2274293" y="7789487"/>
            <a:ext cx="1449088"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新しい触媒で、硫化鉱から銅をリ</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ーチング</a:t>
            </a:r>
            <a:endParaRPr lang="en-US" sz="670" dirty="0"/>
          </a:p>
        </p:txBody>
      </p:sp>
      <p:sp>
        <p:nvSpPr>
          <p:cNvPr id="50" name="Text 48"/>
          <p:cNvSpPr/>
          <p:nvPr/>
        </p:nvSpPr>
        <p:spPr>
          <a:xfrm>
            <a:off x="3926015" y="7527244"/>
            <a:ext cx="1151877" cy="76233"/>
          </a:xfrm>
          <a:prstGeom prst="rect">
            <a:avLst/>
          </a:prstGeom>
          <a:noFill/>
          <a:ln/>
        </p:spPr>
        <p:txBody>
          <a:bodyPr wrap="none" lIns="0" tIns="0" rIns="0" bIns="0" rtlCol="0" anchor="t"/>
          <a:lstStyle/>
          <a:p>
            <a:pPr algn="l" indent="0" marL="0">
              <a:lnSpc>
                <a:spcPts val="600"/>
              </a:lnSpc>
              <a:buNone/>
            </a:pPr>
            <a:r>
              <a:rPr lang="en-US" sz="540" spc="120" kern="0" dirty="0">
                <a:solidFill>
                  <a:srgbClr val="9C7442"/>
                </a:solidFill>
                <a:latin typeface="Noto Sans JP Medium" pitchFamily="34" charset="0"/>
                <a:ea typeface="Noto Sans JP Medium" pitchFamily="34" charset="-122"/>
                <a:cs typeface="Noto Sans JP Medium" pitchFamily="34" charset="-120"/>
              </a:rPr>
              <a:t>TRADING｜100%子会社</a:t>
            </a:r>
            <a:endParaRPr lang="en-US" sz="540" dirty="0"/>
          </a:p>
        </p:txBody>
      </p:sp>
      <p:sp>
        <p:nvSpPr>
          <p:cNvPr id="51" name="Text 49"/>
          <p:cNvSpPr/>
          <p:nvPr/>
        </p:nvSpPr>
        <p:spPr>
          <a:xfrm>
            <a:off x="3926015" y="7641594"/>
            <a:ext cx="932190" cy="127055"/>
          </a:xfrm>
          <a:prstGeom prst="rect">
            <a:avLst/>
          </a:prstGeom>
          <a:noFill/>
          <a:ln/>
        </p:spPr>
        <p:txBody>
          <a:bodyPr wrap="none" lIns="0" tIns="0" rIns="0" bIns="0" rtlCol="0" anchor="t"/>
          <a:lstStyle/>
          <a:p>
            <a:pPr algn="l" indent="0" marL="0">
              <a:lnSpc>
                <a:spcPts val="1000"/>
              </a:lnSpc>
              <a:buNone/>
            </a:pPr>
            <a:r>
              <a:rPr lang="en-US" sz="860" spc="30" kern="0" dirty="0">
                <a:solidFill>
                  <a:srgbClr val="121519"/>
                </a:solidFill>
                <a:latin typeface="Inter SemiBold" pitchFamily="34" charset="0"/>
                <a:ea typeface="Inter SemiBold" pitchFamily="34" charset="-122"/>
                <a:cs typeface="Inter SemiBold" pitchFamily="34" charset="-120"/>
              </a:rPr>
              <a:t>Triland Metals</a:t>
            </a:r>
            <a:endParaRPr lang="en-US" sz="860" dirty="0"/>
          </a:p>
        </p:txBody>
      </p:sp>
      <p:sp>
        <p:nvSpPr>
          <p:cNvPr id="52" name="Text 50"/>
          <p:cNvSpPr/>
          <p:nvPr/>
        </p:nvSpPr>
        <p:spPr>
          <a:xfrm>
            <a:off x="3926015" y="7789487"/>
            <a:ext cx="1451272"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LME・CMEでのブローカー・ヘッ</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ジ機能</a:t>
            </a:r>
            <a:endParaRPr lang="en-US" sz="670" dirty="0"/>
          </a:p>
        </p:txBody>
      </p:sp>
      <p:sp>
        <p:nvSpPr>
          <p:cNvPr id="53" name="Text 51"/>
          <p:cNvSpPr/>
          <p:nvPr/>
        </p:nvSpPr>
        <p:spPr>
          <a:xfrm>
            <a:off x="5577736" y="7527244"/>
            <a:ext cx="910353" cy="76233"/>
          </a:xfrm>
          <a:prstGeom prst="rect">
            <a:avLst/>
          </a:prstGeom>
          <a:noFill/>
          <a:ln/>
        </p:spPr>
        <p:txBody>
          <a:bodyPr wrap="none" lIns="0" tIns="0" rIns="0" bIns="0" rtlCol="0" anchor="t"/>
          <a:lstStyle/>
          <a:p>
            <a:pPr algn="l" indent="0" marL="0">
              <a:lnSpc>
                <a:spcPts val="600"/>
              </a:lnSpc>
              <a:buNone/>
            </a:pPr>
            <a:r>
              <a:rPr lang="en-US" sz="540" spc="120" kern="0" dirty="0">
                <a:solidFill>
                  <a:srgbClr val="9C7442"/>
                </a:solidFill>
                <a:latin typeface="Noto Sans JP Medium" pitchFamily="34" charset="0"/>
                <a:ea typeface="Noto Sans JP Medium" pitchFamily="34" charset="-122"/>
                <a:cs typeface="Noto Sans JP Medium" pitchFamily="34" charset="-120"/>
              </a:rPr>
              <a:t>RECYCLING｜回収</a:t>
            </a:r>
            <a:endParaRPr lang="en-US" sz="540" dirty="0"/>
          </a:p>
        </p:txBody>
      </p:sp>
      <p:sp>
        <p:nvSpPr>
          <p:cNvPr id="54" name="Text 52"/>
          <p:cNvSpPr/>
          <p:nvPr/>
        </p:nvSpPr>
        <p:spPr>
          <a:xfrm>
            <a:off x="5577736" y="7641594"/>
            <a:ext cx="651795" cy="127055"/>
          </a:xfrm>
          <a:prstGeom prst="rect">
            <a:avLst/>
          </a:prstGeom>
          <a:noFill/>
          <a:ln/>
        </p:spPr>
        <p:txBody>
          <a:bodyPr wrap="none" lIns="0" tIns="0" rIns="0" bIns="0" rtlCol="0" anchor="t"/>
          <a:lstStyle/>
          <a:p>
            <a:pPr algn="l" indent="0" marL="0">
              <a:lnSpc>
                <a:spcPts val="1000"/>
              </a:lnSpc>
              <a:buNone/>
            </a:pPr>
            <a:r>
              <a:rPr lang="en-US" sz="860" spc="30" kern="0" dirty="0">
                <a:solidFill>
                  <a:srgbClr val="121519"/>
                </a:solidFill>
                <a:latin typeface="Inter SemiBold" pitchFamily="34" charset="0"/>
                <a:ea typeface="Inter SemiBold" pitchFamily="34" charset="-122"/>
                <a:cs typeface="Inter SemiBold" pitchFamily="34" charset="-120"/>
              </a:rPr>
              <a:t>DESCycle</a:t>
            </a:r>
            <a:endParaRPr lang="en-US" sz="860" dirty="0"/>
          </a:p>
        </p:txBody>
      </p:sp>
      <p:sp>
        <p:nvSpPr>
          <p:cNvPr id="55" name="Text 53"/>
          <p:cNvSpPr/>
          <p:nvPr/>
        </p:nvSpPr>
        <p:spPr>
          <a:xfrm>
            <a:off x="5577736" y="7789487"/>
            <a:ext cx="1452800"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電子スクラップから銅・貴金属を</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回収</a:t>
            </a:r>
            <a:endParaRPr lang="en-US" sz="670" dirty="0"/>
          </a:p>
        </p:txBody>
      </p:sp>
      <p:sp>
        <p:nvSpPr>
          <p:cNvPr id="56" name="Text 54"/>
          <p:cNvSpPr/>
          <p:nvPr/>
        </p:nvSpPr>
        <p:spPr>
          <a:xfrm>
            <a:off x="508222" y="8484957"/>
            <a:ext cx="3544848" cy="723962"/>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新技術の把握は、既存事業の高度化と将来価値の創出に還元されま</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す。業界のボトルネック——鉱石品位の低下、回収率、リサイクル——</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に挑むスタートアップへの投資を通じ、山を持つだけでも、売るだけ</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でもない、川上から川下までのフットプリントを広げています。</a:t>
            </a:r>
            <a:endParaRPr lang="en-US" sz="770" dirty="0"/>
          </a:p>
        </p:txBody>
      </p:sp>
      <p:sp>
        <p:nvSpPr>
          <p:cNvPr id="57" name="Text 55"/>
          <p:cNvSpPr/>
          <p:nvPr/>
        </p:nvSpPr>
        <p:spPr>
          <a:xfrm>
            <a:off x="4065776" y="9661776"/>
            <a:ext cx="820818"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Inter Medium" pitchFamily="34" charset="0"/>
                <a:ea typeface="Inter Medium" pitchFamily="34" charset="-122"/>
                <a:cs typeface="Inter Medium" pitchFamily="34" charset="-120"/>
              </a:rPr>
              <a:t>Copper mine</a:t>
            </a:r>
            <a:endParaRPr lang="en-US" sz="580" dirty="0"/>
          </a:p>
        </p:txBody>
      </p:sp>
      <p:sp>
        <p:nvSpPr>
          <p:cNvPr id="58" name="Text 56"/>
          <p:cNvSpPr/>
          <p:nvPr/>
        </p:nvSpPr>
        <p:spPr>
          <a:xfrm>
            <a:off x="4065776" y="9776126"/>
            <a:ext cx="300427"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Inter" pitchFamily="34" charset="0"/>
                <a:ea typeface="Inter" pitchFamily="34" charset="-122"/>
                <a:cs typeface="Inter" pitchFamily="34" charset="-120"/>
              </a:rPr>
              <a:t>Chile</a:t>
            </a:r>
            <a:endParaRPr lang="en-US" sz="580" dirty="0"/>
          </a:p>
        </p:txBody>
      </p:sp>
      <p:sp>
        <p:nvSpPr>
          <p:cNvPr id="59" name="Text 57"/>
          <p:cNvSpPr/>
          <p:nvPr/>
        </p:nvSpPr>
        <p:spPr>
          <a:xfrm>
            <a:off x="8068024" y="508222"/>
            <a:ext cx="1978214"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04 · Global partnerships</a:t>
            </a:r>
            <a:endParaRPr lang="en-US" sz="660" dirty="0"/>
          </a:p>
        </p:txBody>
      </p:sp>
      <p:sp>
        <p:nvSpPr>
          <p:cNvPr id="60" name="Text 58"/>
          <p:cNvSpPr/>
          <p:nvPr/>
        </p:nvSpPr>
        <p:spPr>
          <a:xfrm>
            <a:off x="8068024" y="647983"/>
            <a:ext cx="1216298"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第3章　選ばれ続ける理由</a:t>
            </a:r>
            <a:endParaRPr lang="en-US" sz="660" dirty="0"/>
          </a:p>
        </p:txBody>
      </p:sp>
      <p:sp>
        <p:nvSpPr>
          <p:cNvPr id="61" name="Text 59"/>
          <p:cNvSpPr/>
          <p:nvPr/>
        </p:nvSpPr>
        <p:spPr>
          <a:xfrm>
            <a:off x="8068024" y="884814"/>
            <a:ext cx="3837255" cy="466548"/>
          </a:xfrm>
          <a:prstGeom prst="rect">
            <a:avLst/>
          </a:prstGeom>
          <a:noFill/>
          <a:ln/>
        </p:spPr>
        <p:txBody>
          <a:bodyPr wrap="none" lIns="0" tIns="0" rIns="0" bIns="0" rtlCol="0" anchor="t"/>
          <a:lstStyle/>
          <a:p>
            <a:pPr algn="l" indent="0" marL="0">
              <a:lnSpc>
                <a:spcPts val="3672"/>
              </a:lnSpc>
              <a:buNone/>
            </a:pPr>
            <a:r>
              <a:rPr lang="en-US" sz="3600" spc="-90" kern="0" dirty="0">
                <a:solidFill>
                  <a:srgbClr val="121519"/>
                </a:solidFill>
                <a:latin typeface="Inter Tight SemiBold" pitchFamily="34" charset="0"/>
                <a:ea typeface="Inter Tight SemiBold" pitchFamily="34" charset="-122"/>
                <a:cs typeface="Inter Tight SemiBold" pitchFamily="34" charset="-120"/>
              </a:rPr>
              <a:t>Partner of choice.</a:t>
            </a:r>
            <a:endParaRPr lang="en-US" sz="3600" dirty="0"/>
          </a:p>
        </p:txBody>
      </p:sp>
      <p:sp>
        <p:nvSpPr>
          <p:cNvPr id="62" name="Text 60"/>
          <p:cNvSpPr/>
          <p:nvPr/>
        </p:nvSpPr>
        <p:spPr>
          <a:xfrm>
            <a:off x="8068024" y="1627501"/>
            <a:ext cx="3721297"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メジャーとのパートナーシップと、世界の販売網</a:t>
            </a:r>
            <a:endParaRPr lang="en-US" sz="1150" dirty="0"/>
          </a:p>
        </p:txBody>
      </p:sp>
      <p:sp>
        <p:nvSpPr>
          <p:cNvPr id="63" name="Text 61"/>
          <p:cNvSpPr/>
          <p:nvPr/>
        </p:nvSpPr>
        <p:spPr>
          <a:xfrm>
            <a:off x="8068024" y="1868939"/>
            <a:ext cx="7248516" cy="542972"/>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資源業界では、良い案件があっても単独では規模が大きすぎることが少なくありません。そのとき「三菱に声をかけよう」と思われる存在である</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こと。BHP、Rio Tinto、Anglo Americanをはじめとする業界最大手とJVを組み、単なる共同出資者に留まらず、人材派遣・ガバナンス参画・総</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合力で事業価値の最大化に貢献してきました。</a:t>
            </a:r>
            <a:endParaRPr lang="en-US" sz="770" dirty="0"/>
          </a:p>
        </p:txBody>
      </p:sp>
      <p:sp>
        <p:nvSpPr>
          <p:cNvPr id="64" name="Text 62"/>
          <p:cNvSpPr/>
          <p:nvPr/>
        </p:nvSpPr>
        <p:spPr>
          <a:xfrm>
            <a:off x="8068024" y="2810706"/>
            <a:ext cx="317678" cy="241405"/>
          </a:xfrm>
          <a:prstGeom prst="rect">
            <a:avLst/>
          </a:prstGeom>
          <a:noFill/>
          <a:ln/>
        </p:spPr>
        <p:txBody>
          <a:bodyPr wrap="none" lIns="0" tIns="0" rIns="0" bIns="0" rtlCol="0" anchor="t"/>
          <a:lstStyle/>
          <a:p>
            <a:pPr algn="l" indent="0" marL="0">
              <a:lnSpc>
                <a:spcPts val="1900"/>
              </a:lnSpc>
              <a:buNone/>
            </a:pPr>
            <a:r>
              <a:rPr lang="en-US" sz="2000" spc="-60" kern="0" dirty="0">
                <a:solidFill>
                  <a:srgbClr val="9C7442"/>
                </a:solidFill>
                <a:latin typeface="Inter Tight SemiBold" pitchFamily="34" charset="0"/>
                <a:ea typeface="Inter Tight SemiBold" pitchFamily="34" charset="-122"/>
                <a:cs typeface="Inter Tight SemiBold" pitchFamily="34" charset="-120"/>
              </a:rPr>
              <a:t>01</a:t>
            </a:r>
            <a:endParaRPr lang="en-US" sz="2000" dirty="0"/>
          </a:p>
        </p:txBody>
      </p:sp>
      <p:sp>
        <p:nvSpPr>
          <p:cNvPr id="65" name="Text 63"/>
          <p:cNvSpPr/>
          <p:nvPr/>
        </p:nvSpPr>
        <p:spPr>
          <a:xfrm>
            <a:off x="8474602" y="2829764"/>
            <a:ext cx="894848" cy="114350"/>
          </a:xfrm>
          <a:prstGeom prst="rect">
            <a:avLst/>
          </a:prstGeom>
          <a:noFill/>
          <a:ln/>
        </p:spPr>
        <p:txBody>
          <a:bodyPr wrap="none" lIns="0" tIns="0" rIns="0" bIns="0" rtlCol="0" anchor="t"/>
          <a:lstStyle/>
          <a:p>
            <a:pPr algn="l" indent="0" marL="0">
              <a:lnSpc>
                <a:spcPts val="900"/>
              </a:lnSpc>
              <a:buNone/>
            </a:pPr>
            <a:r>
              <a:rPr lang="en-US" sz="740" spc="30" kern="0" dirty="0">
                <a:solidFill>
                  <a:srgbClr val="121519"/>
                </a:solidFill>
                <a:latin typeface="Inter SemiBold" pitchFamily="34" charset="0"/>
                <a:ea typeface="Inter SemiBold" pitchFamily="34" charset="-122"/>
                <a:cs typeface="Inter SemiBold" pitchFamily="34" charset="-120"/>
              </a:rPr>
              <a:t>Cultural affinity</a:t>
            </a:r>
            <a:endParaRPr lang="en-US" sz="740" dirty="0"/>
          </a:p>
        </p:txBody>
      </p:sp>
      <p:sp>
        <p:nvSpPr>
          <p:cNvPr id="66" name="Text 64"/>
          <p:cNvSpPr/>
          <p:nvPr/>
        </p:nvSpPr>
        <p:spPr>
          <a:xfrm>
            <a:off x="8474602" y="2964570"/>
            <a:ext cx="1809628" cy="149671"/>
          </a:xfrm>
          <a:prstGeom prst="rect">
            <a:avLst/>
          </a:prstGeom>
          <a:noFill/>
          <a:ln/>
        </p:spPr>
        <p:txBody>
          <a:bodyPr wrap="none" lIns="0" tIns="0" rIns="0" bIns="0" rtlCol="0" anchor="t"/>
          <a:lstStyle/>
          <a:p>
            <a:pPr algn="l" indent="0" marL="0">
              <a:lnSpc>
                <a:spcPts val="1178"/>
              </a:lnSpc>
              <a:buNone/>
            </a:pPr>
            <a:r>
              <a:rPr lang="en-US" sz="760" spc="30" kern="0" dirty="0">
                <a:solidFill>
                  <a:srgbClr val="121519"/>
                </a:solidFill>
                <a:latin typeface="Noto Sans JP Medium" pitchFamily="34" charset="0"/>
                <a:ea typeface="Noto Sans JP Medium" pitchFamily="34" charset="-122"/>
                <a:cs typeface="Noto Sans JP Medium" pitchFamily="34" charset="-120"/>
              </a:rPr>
              <a:t>資源メジャーとの企業文化的親和性</a:t>
            </a:r>
            <a:endParaRPr lang="en-US" sz="760" dirty="0"/>
          </a:p>
        </p:txBody>
      </p:sp>
      <p:sp>
        <p:nvSpPr>
          <p:cNvPr id="67" name="Text 65"/>
          <p:cNvSpPr/>
          <p:nvPr/>
        </p:nvSpPr>
        <p:spPr>
          <a:xfrm>
            <a:off x="8474602" y="3142829"/>
            <a:ext cx="2566958"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短期の成果を求める投資家とは一線を画す、中長期の視座。</a:t>
            </a:r>
            <a:endParaRPr lang="en-US" sz="670" dirty="0"/>
          </a:p>
        </p:txBody>
      </p:sp>
      <p:sp>
        <p:nvSpPr>
          <p:cNvPr id="68" name="Text 66"/>
          <p:cNvSpPr/>
          <p:nvPr/>
        </p:nvSpPr>
        <p:spPr>
          <a:xfrm>
            <a:off x="11396878" y="2810706"/>
            <a:ext cx="373583" cy="241405"/>
          </a:xfrm>
          <a:prstGeom prst="rect">
            <a:avLst/>
          </a:prstGeom>
          <a:noFill/>
          <a:ln/>
        </p:spPr>
        <p:txBody>
          <a:bodyPr wrap="none" lIns="0" tIns="0" rIns="0" bIns="0" rtlCol="0" anchor="t"/>
          <a:lstStyle/>
          <a:p>
            <a:pPr algn="l" indent="0" marL="0">
              <a:lnSpc>
                <a:spcPts val="1900"/>
              </a:lnSpc>
              <a:buNone/>
            </a:pPr>
            <a:r>
              <a:rPr lang="en-US" sz="2000" spc="-60" kern="0" dirty="0">
                <a:solidFill>
                  <a:srgbClr val="9C7442"/>
                </a:solidFill>
                <a:latin typeface="Inter Tight SemiBold" pitchFamily="34" charset="0"/>
                <a:ea typeface="Inter Tight SemiBold" pitchFamily="34" charset="-122"/>
                <a:cs typeface="Inter Tight SemiBold" pitchFamily="34" charset="-120"/>
              </a:rPr>
              <a:t>02</a:t>
            </a:r>
            <a:endParaRPr lang="en-US" sz="2000" dirty="0"/>
          </a:p>
        </p:txBody>
      </p:sp>
      <p:sp>
        <p:nvSpPr>
          <p:cNvPr id="69" name="Text 67"/>
          <p:cNvSpPr/>
          <p:nvPr/>
        </p:nvSpPr>
        <p:spPr>
          <a:xfrm>
            <a:off x="11803456" y="2829764"/>
            <a:ext cx="920835" cy="114350"/>
          </a:xfrm>
          <a:prstGeom prst="rect">
            <a:avLst/>
          </a:prstGeom>
          <a:noFill/>
          <a:ln/>
        </p:spPr>
        <p:txBody>
          <a:bodyPr wrap="none" lIns="0" tIns="0" rIns="0" bIns="0" rtlCol="0" anchor="t"/>
          <a:lstStyle/>
          <a:p>
            <a:pPr algn="l" indent="0" marL="0">
              <a:lnSpc>
                <a:spcPts val="900"/>
              </a:lnSpc>
              <a:buNone/>
            </a:pPr>
            <a:r>
              <a:rPr lang="en-US" sz="740" spc="30" kern="0" dirty="0">
                <a:solidFill>
                  <a:srgbClr val="121519"/>
                </a:solidFill>
                <a:latin typeface="Inter SemiBold" pitchFamily="34" charset="0"/>
                <a:ea typeface="Inter SemiBold" pitchFamily="34" charset="-122"/>
                <a:cs typeface="Inter SemiBold" pitchFamily="34" charset="-120"/>
              </a:rPr>
              <a:t>JV management</a:t>
            </a:r>
            <a:endParaRPr lang="en-US" sz="740" dirty="0"/>
          </a:p>
        </p:txBody>
      </p:sp>
      <p:sp>
        <p:nvSpPr>
          <p:cNvPr id="70" name="Text 68"/>
          <p:cNvSpPr/>
          <p:nvPr/>
        </p:nvSpPr>
        <p:spPr>
          <a:xfrm>
            <a:off x="11803456" y="2964570"/>
            <a:ext cx="1945676" cy="149671"/>
          </a:xfrm>
          <a:prstGeom prst="rect">
            <a:avLst/>
          </a:prstGeom>
          <a:noFill/>
          <a:ln/>
        </p:spPr>
        <p:txBody>
          <a:bodyPr wrap="none" lIns="0" tIns="0" rIns="0" bIns="0" rtlCol="0" anchor="t"/>
          <a:lstStyle/>
          <a:p>
            <a:pPr algn="l" indent="0" marL="0">
              <a:lnSpc>
                <a:spcPts val="1178"/>
              </a:lnSpc>
              <a:buNone/>
            </a:pPr>
            <a:r>
              <a:rPr lang="en-US" sz="760" spc="30" kern="0" dirty="0">
                <a:solidFill>
                  <a:srgbClr val="121519"/>
                </a:solidFill>
                <a:latin typeface="Noto Sans JP Medium" pitchFamily="34" charset="0"/>
                <a:ea typeface="Noto Sans JP Medium" pitchFamily="34" charset="-122"/>
                <a:cs typeface="Noto Sans JP Medium" pitchFamily="34" charset="-120"/>
              </a:rPr>
              <a:t>資源投資経験に裏打ちされたJV経営力</a:t>
            </a:r>
            <a:endParaRPr lang="en-US" sz="760" dirty="0"/>
          </a:p>
        </p:txBody>
      </p:sp>
      <p:sp>
        <p:nvSpPr>
          <p:cNvPr id="71" name="Text 69"/>
          <p:cNvSpPr/>
          <p:nvPr/>
        </p:nvSpPr>
        <p:spPr>
          <a:xfrm>
            <a:off x="11803456" y="3142829"/>
            <a:ext cx="1636018"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実質的な経営貢献と、高い目利き力。</a:t>
            </a:r>
            <a:endParaRPr lang="en-US" sz="670" dirty="0"/>
          </a:p>
        </p:txBody>
      </p:sp>
      <p:sp>
        <p:nvSpPr>
          <p:cNvPr id="72" name="Text 70"/>
          <p:cNvSpPr/>
          <p:nvPr/>
        </p:nvSpPr>
        <p:spPr>
          <a:xfrm>
            <a:off x="8068024" y="3750916"/>
            <a:ext cx="381881" cy="241405"/>
          </a:xfrm>
          <a:prstGeom prst="rect">
            <a:avLst/>
          </a:prstGeom>
          <a:noFill/>
          <a:ln/>
        </p:spPr>
        <p:txBody>
          <a:bodyPr wrap="none" lIns="0" tIns="0" rIns="0" bIns="0" rtlCol="0" anchor="t"/>
          <a:lstStyle/>
          <a:p>
            <a:pPr algn="l" indent="0" marL="0">
              <a:lnSpc>
                <a:spcPts val="1900"/>
              </a:lnSpc>
              <a:buNone/>
            </a:pPr>
            <a:r>
              <a:rPr lang="en-US" sz="2000" spc="-60" kern="0" dirty="0">
                <a:solidFill>
                  <a:srgbClr val="9C7442"/>
                </a:solidFill>
                <a:latin typeface="Inter Tight SemiBold" pitchFamily="34" charset="0"/>
                <a:ea typeface="Inter Tight SemiBold" pitchFamily="34" charset="-122"/>
                <a:cs typeface="Inter Tight SemiBold" pitchFamily="34" charset="-120"/>
              </a:rPr>
              <a:t>03</a:t>
            </a:r>
            <a:endParaRPr lang="en-US" sz="2000" dirty="0"/>
          </a:p>
        </p:txBody>
      </p:sp>
      <p:sp>
        <p:nvSpPr>
          <p:cNvPr id="73" name="Text 71"/>
          <p:cNvSpPr/>
          <p:nvPr/>
        </p:nvSpPr>
        <p:spPr>
          <a:xfrm>
            <a:off x="8474602" y="3769975"/>
            <a:ext cx="1020196" cy="114350"/>
          </a:xfrm>
          <a:prstGeom prst="rect">
            <a:avLst/>
          </a:prstGeom>
          <a:noFill/>
          <a:ln/>
        </p:spPr>
        <p:txBody>
          <a:bodyPr wrap="none" lIns="0" tIns="0" rIns="0" bIns="0" rtlCol="0" anchor="t"/>
          <a:lstStyle/>
          <a:p>
            <a:pPr algn="l" indent="0" marL="0">
              <a:lnSpc>
                <a:spcPts val="900"/>
              </a:lnSpc>
              <a:buNone/>
            </a:pPr>
            <a:r>
              <a:rPr lang="en-US" sz="740" spc="30" kern="0" dirty="0">
                <a:solidFill>
                  <a:srgbClr val="121519"/>
                </a:solidFill>
                <a:latin typeface="Inter SemiBold" pitchFamily="34" charset="0"/>
                <a:ea typeface="Inter SemiBold" pitchFamily="34" charset="-122"/>
                <a:cs typeface="Inter SemiBold" pitchFamily="34" charset="-120"/>
              </a:rPr>
              <a:t>Financial strength</a:t>
            </a:r>
            <a:endParaRPr lang="en-US" sz="740" dirty="0"/>
          </a:p>
        </p:txBody>
      </p:sp>
      <p:sp>
        <p:nvSpPr>
          <p:cNvPr id="74" name="Text 72"/>
          <p:cNvSpPr/>
          <p:nvPr/>
        </p:nvSpPr>
        <p:spPr>
          <a:xfrm>
            <a:off x="8474602" y="3904781"/>
            <a:ext cx="2367798" cy="149671"/>
          </a:xfrm>
          <a:prstGeom prst="rect">
            <a:avLst/>
          </a:prstGeom>
          <a:noFill/>
          <a:ln/>
        </p:spPr>
        <p:txBody>
          <a:bodyPr wrap="none" lIns="0" tIns="0" rIns="0" bIns="0" rtlCol="0" anchor="t"/>
          <a:lstStyle/>
          <a:p>
            <a:pPr algn="l" indent="0" marL="0">
              <a:lnSpc>
                <a:spcPts val="1178"/>
              </a:lnSpc>
              <a:buNone/>
            </a:pPr>
            <a:r>
              <a:rPr lang="en-US" sz="760" spc="30" kern="0" dirty="0">
                <a:solidFill>
                  <a:srgbClr val="121519"/>
                </a:solidFill>
                <a:latin typeface="Noto Sans JP Medium" pitchFamily="34" charset="0"/>
                <a:ea typeface="Noto Sans JP Medium" pitchFamily="34" charset="-122"/>
                <a:cs typeface="Noto Sans JP Medium" pitchFamily="34" charset="-120"/>
              </a:rPr>
              <a:t>事業ポートフォリオを活かした健全な財務基盤</a:t>
            </a:r>
            <a:endParaRPr lang="en-US" sz="760" dirty="0"/>
          </a:p>
        </p:txBody>
      </p:sp>
      <p:sp>
        <p:nvSpPr>
          <p:cNvPr id="75" name="Text 73"/>
          <p:cNvSpPr/>
          <p:nvPr/>
        </p:nvSpPr>
        <p:spPr>
          <a:xfrm>
            <a:off x="8474602" y="4083040"/>
            <a:ext cx="2380027"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リスクシェアリングと制度金融のファシリテーション。</a:t>
            </a:r>
            <a:endParaRPr lang="en-US" sz="670" dirty="0"/>
          </a:p>
        </p:txBody>
      </p:sp>
      <p:sp>
        <p:nvSpPr>
          <p:cNvPr id="76" name="Text 74"/>
          <p:cNvSpPr/>
          <p:nvPr/>
        </p:nvSpPr>
        <p:spPr>
          <a:xfrm>
            <a:off x="11396878" y="3750916"/>
            <a:ext cx="385812" cy="241405"/>
          </a:xfrm>
          <a:prstGeom prst="rect">
            <a:avLst/>
          </a:prstGeom>
          <a:noFill/>
          <a:ln/>
        </p:spPr>
        <p:txBody>
          <a:bodyPr wrap="none" lIns="0" tIns="0" rIns="0" bIns="0" rtlCol="0" anchor="t"/>
          <a:lstStyle/>
          <a:p>
            <a:pPr algn="l" indent="0" marL="0">
              <a:lnSpc>
                <a:spcPts val="1900"/>
              </a:lnSpc>
              <a:buNone/>
            </a:pPr>
            <a:r>
              <a:rPr lang="en-US" sz="2000" spc="-60" kern="0" dirty="0">
                <a:solidFill>
                  <a:srgbClr val="9C7442"/>
                </a:solidFill>
                <a:latin typeface="Inter Tight SemiBold" pitchFamily="34" charset="0"/>
                <a:ea typeface="Inter Tight SemiBold" pitchFamily="34" charset="-122"/>
                <a:cs typeface="Inter Tight SemiBold" pitchFamily="34" charset="-120"/>
              </a:rPr>
              <a:t>04</a:t>
            </a:r>
            <a:endParaRPr lang="en-US" sz="2000" dirty="0"/>
          </a:p>
        </p:txBody>
      </p:sp>
      <p:sp>
        <p:nvSpPr>
          <p:cNvPr id="77" name="Text 75"/>
          <p:cNvSpPr/>
          <p:nvPr/>
        </p:nvSpPr>
        <p:spPr>
          <a:xfrm>
            <a:off x="11803456" y="3769975"/>
            <a:ext cx="726698" cy="114350"/>
          </a:xfrm>
          <a:prstGeom prst="rect">
            <a:avLst/>
          </a:prstGeom>
          <a:noFill/>
          <a:ln/>
        </p:spPr>
        <p:txBody>
          <a:bodyPr wrap="none" lIns="0" tIns="0" rIns="0" bIns="0" rtlCol="0" anchor="t"/>
          <a:lstStyle/>
          <a:p>
            <a:pPr algn="l" indent="0" marL="0">
              <a:lnSpc>
                <a:spcPts val="900"/>
              </a:lnSpc>
              <a:buNone/>
            </a:pPr>
            <a:r>
              <a:rPr lang="en-US" sz="740" spc="30" kern="0" dirty="0">
                <a:solidFill>
                  <a:srgbClr val="121519"/>
                </a:solidFill>
                <a:latin typeface="Inter SemiBold" pitchFamily="34" charset="0"/>
                <a:ea typeface="Inter SemiBold" pitchFamily="34" charset="-122"/>
                <a:cs typeface="Inter SemiBold" pitchFamily="34" charset="-120"/>
              </a:rPr>
              <a:t>Deep insight</a:t>
            </a:r>
            <a:endParaRPr lang="en-US" sz="740" dirty="0"/>
          </a:p>
        </p:txBody>
      </p:sp>
      <p:sp>
        <p:nvSpPr>
          <p:cNvPr id="78" name="Text 76"/>
          <p:cNvSpPr/>
          <p:nvPr/>
        </p:nvSpPr>
        <p:spPr>
          <a:xfrm>
            <a:off x="11803456" y="3904781"/>
            <a:ext cx="2252059" cy="149671"/>
          </a:xfrm>
          <a:prstGeom prst="rect">
            <a:avLst/>
          </a:prstGeom>
          <a:noFill/>
          <a:ln/>
        </p:spPr>
        <p:txBody>
          <a:bodyPr wrap="none" lIns="0" tIns="0" rIns="0" bIns="0" rtlCol="0" anchor="t"/>
          <a:lstStyle/>
          <a:p>
            <a:pPr algn="l" indent="0" marL="0">
              <a:lnSpc>
                <a:spcPts val="1178"/>
              </a:lnSpc>
              <a:buNone/>
            </a:pPr>
            <a:r>
              <a:rPr lang="en-US" sz="760" spc="30" kern="0" dirty="0">
                <a:solidFill>
                  <a:srgbClr val="121519"/>
                </a:solidFill>
                <a:latin typeface="Noto Sans JP Medium" pitchFamily="34" charset="0"/>
                <a:ea typeface="Noto Sans JP Medium" pitchFamily="34" charset="-122"/>
                <a:cs typeface="Noto Sans JP Medium" pitchFamily="34" charset="-120"/>
              </a:rPr>
              <a:t>マクロ環境とバリューチェーンへの深い知見</a:t>
            </a:r>
            <a:endParaRPr lang="en-US" sz="760" dirty="0"/>
          </a:p>
        </p:txBody>
      </p:sp>
      <p:sp>
        <p:nvSpPr>
          <p:cNvPr id="79" name="Text 77"/>
          <p:cNvSpPr/>
          <p:nvPr/>
        </p:nvSpPr>
        <p:spPr>
          <a:xfrm>
            <a:off x="11803456" y="4083040"/>
            <a:ext cx="2013591"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国・地域の拠点と幅広い産業接点からの知見。</a:t>
            </a:r>
            <a:endParaRPr lang="en-US" sz="670" dirty="0"/>
          </a:p>
        </p:txBody>
      </p:sp>
      <p:sp>
        <p:nvSpPr>
          <p:cNvPr id="80" name="Text 78"/>
          <p:cNvSpPr/>
          <p:nvPr/>
        </p:nvSpPr>
        <p:spPr>
          <a:xfrm>
            <a:off x="8068024" y="4900769"/>
            <a:ext cx="1366323"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TRADING NETWORK</a:t>
            </a:r>
            <a:endParaRPr lang="en-US" sz="660" dirty="0"/>
          </a:p>
        </p:txBody>
      </p:sp>
      <p:sp>
        <p:nvSpPr>
          <p:cNvPr id="81" name="Text 79"/>
          <p:cNvSpPr/>
          <p:nvPr/>
        </p:nvSpPr>
        <p:spPr>
          <a:xfrm>
            <a:off x="9440223" y="4900769"/>
            <a:ext cx="2137629"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RtM＝Resource to Market｜10拠点の販売網</a:t>
            </a:r>
            <a:endParaRPr lang="en-US" sz="660" dirty="0"/>
          </a:p>
        </p:txBody>
      </p:sp>
      <p:sp>
        <p:nvSpPr>
          <p:cNvPr id="82" name="Text 80"/>
          <p:cNvSpPr/>
          <p:nvPr/>
        </p:nvSpPr>
        <p:spPr>
          <a:xfrm>
            <a:off x="8068024" y="6951119"/>
            <a:ext cx="4109134"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Singapore（拠点集約）・Japan・India・China・USA・UK・UAE・Indonesia・Thailand・Chile</a:t>
            </a:r>
            <a:endParaRPr lang="en-US" sz="670" dirty="0"/>
          </a:p>
        </p:txBody>
      </p:sp>
      <p:sp>
        <p:nvSpPr>
          <p:cNvPr id="83" name="Text 81"/>
          <p:cNvSpPr/>
          <p:nvPr/>
        </p:nvSpPr>
        <p:spPr>
          <a:xfrm>
            <a:off x="13023188" y="5219678"/>
            <a:ext cx="359170" cy="289687"/>
          </a:xfrm>
          <a:prstGeom prst="rect">
            <a:avLst/>
          </a:prstGeom>
          <a:noFill/>
          <a:ln/>
        </p:spPr>
        <p:txBody>
          <a:bodyPr wrap="none" lIns="0" tIns="0" rIns="0" bIns="0" rtlCol="0" anchor="t"/>
          <a:lstStyle/>
          <a:p>
            <a:pPr algn="l" indent="0" marL="0">
              <a:lnSpc>
                <a:spcPts val="2280"/>
              </a:lnSpc>
              <a:buNone/>
            </a:pPr>
            <a:r>
              <a:rPr lang="en-US" sz="2400" spc="-72" kern="0" dirty="0">
                <a:solidFill>
                  <a:srgbClr val="121519"/>
                </a:solidFill>
                <a:latin typeface="Inter Tight SemiBold" pitchFamily="34" charset="0"/>
                <a:ea typeface="Inter Tight SemiBold" pitchFamily="34" charset="-122"/>
                <a:cs typeface="Inter Tight SemiBold" pitchFamily="34" charset="-120"/>
              </a:rPr>
              <a:t>15</a:t>
            </a:r>
            <a:endParaRPr lang="en-US" sz="2400" dirty="0"/>
          </a:p>
        </p:txBody>
      </p:sp>
      <p:sp>
        <p:nvSpPr>
          <p:cNvPr id="84" name="Text 82"/>
          <p:cNvSpPr/>
          <p:nvPr/>
        </p:nvSpPr>
        <p:spPr>
          <a:xfrm>
            <a:off x="13023188" y="5574163"/>
            <a:ext cx="830864"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Noto Sans JP Medium" pitchFamily="34" charset="0"/>
                <a:ea typeface="Noto Sans JP Medium" pitchFamily="34" charset="-122"/>
                <a:cs typeface="Noto Sans JP Medium" pitchFamily="34" charset="-120"/>
              </a:rPr>
              <a:t>INDUSTRIES　業界</a:t>
            </a:r>
            <a:endParaRPr lang="en-US" sz="580" dirty="0"/>
          </a:p>
        </p:txBody>
      </p:sp>
      <p:sp>
        <p:nvSpPr>
          <p:cNvPr id="85" name="Text 83"/>
          <p:cNvSpPr/>
          <p:nvPr/>
        </p:nvSpPr>
        <p:spPr>
          <a:xfrm>
            <a:off x="13023188" y="5829544"/>
            <a:ext cx="441498" cy="289687"/>
          </a:xfrm>
          <a:prstGeom prst="rect">
            <a:avLst/>
          </a:prstGeom>
          <a:noFill/>
          <a:ln/>
        </p:spPr>
        <p:txBody>
          <a:bodyPr wrap="none" lIns="0" tIns="0" rIns="0" bIns="0" rtlCol="0" anchor="t"/>
          <a:lstStyle/>
          <a:p>
            <a:pPr algn="l" indent="0" marL="0">
              <a:lnSpc>
                <a:spcPts val="2280"/>
              </a:lnSpc>
              <a:buNone/>
            </a:pPr>
            <a:r>
              <a:rPr lang="en-US" sz="2400" spc="-72" kern="0" dirty="0">
                <a:solidFill>
                  <a:srgbClr val="121519"/>
                </a:solidFill>
                <a:latin typeface="Inter Tight SemiBold" pitchFamily="34" charset="0"/>
                <a:ea typeface="Inter Tight SemiBold" pitchFamily="34" charset="-122"/>
                <a:cs typeface="Inter Tight SemiBold" pitchFamily="34" charset="-120"/>
              </a:rPr>
              <a:t>50</a:t>
            </a:r>
            <a:endParaRPr lang="en-US" sz="2400" dirty="0"/>
          </a:p>
        </p:txBody>
      </p:sp>
      <p:sp>
        <p:nvSpPr>
          <p:cNvPr id="86" name="Text 84"/>
          <p:cNvSpPr/>
          <p:nvPr/>
        </p:nvSpPr>
        <p:spPr>
          <a:xfrm>
            <a:off x="13023188" y="6184029"/>
            <a:ext cx="817543"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Noto Sans JP Medium" pitchFamily="34" charset="0"/>
                <a:ea typeface="Noto Sans JP Medium" pitchFamily="34" charset="-122"/>
                <a:cs typeface="Noto Sans JP Medium" pitchFamily="34" charset="-120"/>
              </a:rPr>
              <a:t>COUNTRIES　カ国</a:t>
            </a:r>
            <a:endParaRPr lang="en-US" sz="580" dirty="0"/>
          </a:p>
        </p:txBody>
      </p:sp>
      <p:sp>
        <p:nvSpPr>
          <p:cNvPr id="87" name="Text 85"/>
          <p:cNvSpPr/>
          <p:nvPr/>
        </p:nvSpPr>
        <p:spPr>
          <a:xfrm>
            <a:off x="13023188" y="6439411"/>
            <a:ext cx="1056665" cy="289687"/>
          </a:xfrm>
          <a:prstGeom prst="rect">
            <a:avLst/>
          </a:prstGeom>
          <a:noFill/>
          <a:ln/>
        </p:spPr>
        <p:txBody>
          <a:bodyPr wrap="none" lIns="0" tIns="0" rIns="0" bIns="0" rtlCol="0" anchor="t"/>
          <a:lstStyle/>
          <a:p>
            <a:pPr algn="l" indent="0" marL="0">
              <a:lnSpc>
                <a:spcPts val="2280"/>
              </a:lnSpc>
              <a:buNone/>
            </a:pPr>
            <a:r>
              <a:rPr lang="en-US" sz="2400" spc="-72" kern="0" dirty="0">
                <a:solidFill>
                  <a:srgbClr val="121519"/>
                </a:solidFill>
                <a:latin typeface="Inter Tight SemiBold" pitchFamily="34" charset="0"/>
                <a:ea typeface="Inter Tight SemiBold" pitchFamily="34" charset="-122"/>
                <a:cs typeface="Inter Tight SemiBold" pitchFamily="34" charset="-120"/>
              </a:rPr>
              <a:t>~1,000</a:t>
            </a:r>
            <a:endParaRPr lang="en-US" sz="2400" dirty="0"/>
          </a:p>
        </p:txBody>
      </p:sp>
      <p:sp>
        <p:nvSpPr>
          <p:cNvPr id="88" name="Text 86"/>
          <p:cNvSpPr/>
          <p:nvPr/>
        </p:nvSpPr>
        <p:spPr>
          <a:xfrm>
            <a:off x="13023188" y="6793896"/>
            <a:ext cx="1113225"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Noto Sans JP Medium" pitchFamily="34" charset="0"/>
                <a:ea typeface="Noto Sans JP Medium" pitchFamily="34" charset="-122"/>
                <a:cs typeface="Noto Sans JP Medium" pitchFamily="34" charset="-120"/>
              </a:rPr>
              <a:t>CUSTOMERS　社の販売先</a:t>
            </a:r>
            <a:endParaRPr lang="en-US" sz="580" dirty="0"/>
          </a:p>
        </p:txBody>
      </p:sp>
      <p:sp>
        <p:nvSpPr>
          <p:cNvPr id="89" name="Text 87"/>
          <p:cNvSpPr/>
          <p:nvPr/>
        </p:nvSpPr>
        <p:spPr>
          <a:xfrm>
            <a:off x="8068024" y="7540148"/>
            <a:ext cx="1223723"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JOINT VENTURES</a:t>
            </a:r>
            <a:endParaRPr lang="en-US" sz="660" dirty="0"/>
          </a:p>
        </p:txBody>
      </p:sp>
      <p:sp>
        <p:nvSpPr>
          <p:cNvPr id="90" name="Text 88"/>
          <p:cNvSpPr/>
          <p:nvPr/>
        </p:nvSpPr>
        <p:spPr>
          <a:xfrm>
            <a:off x="9236935" y="7540148"/>
            <a:ext cx="1073917"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業界最大手とのJV実績</a:t>
            </a:r>
            <a:endParaRPr lang="en-US" sz="660" dirty="0"/>
          </a:p>
        </p:txBody>
      </p:sp>
      <p:sp>
        <p:nvSpPr>
          <p:cNvPr id="91" name="Text 89"/>
          <p:cNvSpPr/>
          <p:nvPr/>
        </p:nvSpPr>
        <p:spPr>
          <a:xfrm>
            <a:off x="8068024" y="7742484"/>
            <a:ext cx="488667" cy="205195"/>
          </a:xfrm>
          <a:prstGeom prst="rect">
            <a:avLst/>
          </a:prstGeom>
          <a:noFill/>
          <a:ln/>
        </p:spPr>
        <p:txBody>
          <a:bodyPr wrap="none" lIns="0" tIns="0" rIns="0" bIns="0" rtlCol="0" anchor="t"/>
          <a:lstStyle/>
          <a:p>
            <a:pPr algn="l" indent="0" marL="0">
              <a:lnSpc>
                <a:spcPts val="1615"/>
              </a:lnSpc>
              <a:buNone/>
            </a:pPr>
            <a:r>
              <a:rPr lang="en-US" sz="1700" spc="-51" kern="0" dirty="0">
                <a:solidFill>
                  <a:srgbClr val="121519"/>
                </a:solidFill>
                <a:latin typeface="Inter Tight SemiBold" pitchFamily="34" charset="0"/>
                <a:ea typeface="Inter Tight SemiBold" pitchFamily="34" charset="-122"/>
                <a:cs typeface="Inter Tight SemiBold" pitchFamily="34" charset="-120"/>
              </a:rPr>
              <a:t>BHP</a:t>
            </a:r>
            <a:endParaRPr lang="en-US" sz="1700" dirty="0"/>
          </a:p>
        </p:txBody>
      </p:sp>
      <p:sp>
        <p:nvSpPr>
          <p:cNvPr id="92" name="Text 90"/>
          <p:cNvSpPr/>
          <p:nvPr/>
        </p:nvSpPr>
        <p:spPr>
          <a:xfrm>
            <a:off x="9592690" y="7742484"/>
            <a:ext cx="923892" cy="205195"/>
          </a:xfrm>
          <a:prstGeom prst="rect">
            <a:avLst/>
          </a:prstGeom>
          <a:noFill/>
          <a:ln/>
        </p:spPr>
        <p:txBody>
          <a:bodyPr wrap="none" lIns="0" tIns="0" rIns="0" bIns="0" rtlCol="0" anchor="t"/>
          <a:lstStyle/>
          <a:p>
            <a:pPr algn="l" indent="0" marL="0">
              <a:lnSpc>
                <a:spcPts val="1615"/>
              </a:lnSpc>
              <a:buNone/>
            </a:pPr>
            <a:r>
              <a:rPr lang="en-US" sz="1700" spc="-51" kern="0" dirty="0">
                <a:solidFill>
                  <a:srgbClr val="121519"/>
                </a:solidFill>
                <a:latin typeface="Inter Tight SemiBold" pitchFamily="34" charset="0"/>
                <a:ea typeface="Inter Tight SemiBold" pitchFamily="34" charset="-122"/>
                <a:cs typeface="Inter Tight SemiBold" pitchFamily="34" charset="-120"/>
              </a:rPr>
              <a:t>Rio Tinto</a:t>
            </a:r>
            <a:endParaRPr lang="en-US" sz="1700" dirty="0"/>
          </a:p>
        </p:txBody>
      </p:sp>
      <p:sp>
        <p:nvSpPr>
          <p:cNvPr id="93" name="Text 91"/>
          <p:cNvSpPr/>
          <p:nvPr/>
        </p:nvSpPr>
        <p:spPr>
          <a:xfrm>
            <a:off x="11117356" y="7742484"/>
            <a:ext cx="1659384" cy="205195"/>
          </a:xfrm>
          <a:prstGeom prst="rect">
            <a:avLst/>
          </a:prstGeom>
          <a:noFill/>
          <a:ln/>
        </p:spPr>
        <p:txBody>
          <a:bodyPr wrap="none" lIns="0" tIns="0" rIns="0" bIns="0" rtlCol="0" anchor="t"/>
          <a:lstStyle/>
          <a:p>
            <a:pPr algn="l" indent="0" marL="0">
              <a:lnSpc>
                <a:spcPts val="1615"/>
              </a:lnSpc>
              <a:buNone/>
            </a:pPr>
            <a:r>
              <a:rPr lang="en-US" sz="1700" spc="-51" kern="0" dirty="0">
                <a:solidFill>
                  <a:srgbClr val="121519"/>
                </a:solidFill>
                <a:latin typeface="Inter Tight SemiBold" pitchFamily="34" charset="0"/>
                <a:ea typeface="Inter Tight SemiBold" pitchFamily="34" charset="-122"/>
                <a:cs typeface="Inter Tight SemiBold" pitchFamily="34" charset="-120"/>
              </a:rPr>
              <a:t>Anglo American</a:t>
            </a:r>
            <a:endParaRPr lang="en-US" sz="1700" dirty="0"/>
          </a:p>
        </p:txBody>
      </p:sp>
      <p:sp>
        <p:nvSpPr>
          <p:cNvPr id="94" name="Text 92"/>
          <p:cNvSpPr/>
          <p:nvPr/>
        </p:nvSpPr>
        <p:spPr>
          <a:xfrm>
            <a:off x="8068024" y="8302481"/>
            <a:ext cx="1823167"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WHY PARTNERS VALUE US</a:t>
            </a:r>
            <a:endParaRPr lang="en-US" sz="660" dirty="0"/>
          </a:p>
        </p:txBody>
      </p:sp>
      <p:sp>
        <p:nvSpPr>
          <p:cNvPr id="95" name="Text 93"/>
          <p:cNvSpPr/>
          <p:nvPr/>
        </p:nvSpPr>
        <p:spPr>
          <a:xfrm>
            <a:off x="9846801" y="8302481"/>
            <a:ext cx="1358025"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パートナーに評価される理由</a:t>
            </a:r>
            <a:endParaRPr lang="en-US" sz="660" dirty="0"/>
          </a:p>
        </p:txBody>
      </p:sp>
      <p:sp>
        <p:nvSpPr>
          <p:cNvPr id="96" name="Text 94"/>
          <p:cNvSpPr/>
          <p:nvPr/>
        </p:nvSpPr>
        <p:spPr>
          <a:xfrm>
            <a:off x="8220491" y="8632825"/>
            <a:ext cx="983509" cy="76233"/>
          </a:xfrm>
          <a:prstGeom prst="rect">
            <a:avLst/>
          </a:prstGeom>
          <a:noFill/>
          <a:ln/>
        </p:spPr>
        <p:txBody>
          <a:bodyPr wrap="none" lIns="0" tIns="0" rIns="0" bIns="0" rtlCol="0" anchor="t"/>
          <a:lstStyle/>
          <a:p>
            <a:pPr algn="l" indent="0" marL="0">
              <a:lnSpc>
                <a:spcPts val="600"/>
              </a:lnSpc>
              <a:buNone/>
            </a:pPr>
            <a:r>
              <a:rPr lang="en-US" sz="560" spc="120" kern="0" dirty="0">
                <a:solidFill>
                  <a:srgbClr val="9C7442"/>
                </a:solidFill>
                <a:latin typeface="Inter SemiBold" pitchFamily="34" charset="0"/>
                <a:ea typeface="Inter SemiBold" pitchFamily="34" charset="-122"/>
                <a:cs typeface="Inter SemiBold" pitchFamily="34" charset="-120"/>
              </a:rPr>
              <a:t>LONG-TERM VIEW</a:t>
            </a:r>
            <a:endParaRPr lang="en-US" sz="560" dirty="0"/>
          </a:p>
        </p:txBody>
      </p:sp>
      <p:sp>
        <p:nvSpPr>
          <p:cNvPr id="97" name="Text 95"/>
          <p:cNvSpPr/>
          <p:nvPr/>
        </p:nvSpPr>
        <p:spPr>
          <a:xfrm>
            <a:off x="8220491" y="8726021"/>
            <a:ext cx="921053"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中長期的な視座</a:t>
            </a:r>
            <a:endParaRPr lang="en-US" sz="860" dirty="0"/>
          </a:p>
        </p:txBody>
      </p:sp>
      <p:sp>
        <p:nvSpPr>
          <p:cNvPr id="98" name="Text 96"/>
          <p:cNvSpPr/>
          <p:nvPr/>
        </p:nvSpPr>
        <p:spPr>
          <a:xfrm>
            <a:off x="8220491" y="8937155"/>
            <a:ext cx="1915540"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資源事業は長期にわたる。短期的リターンを</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求める投資家とは一線を画す。</a:t>
            </a:r>
            <a:endParaRPr lang="en-US" sz="670" dirty="0"/>
          </a:p>
        </p:txBody>
      </p:sp>
      <p:sp>
        <p:nvSpPr>
          <p:cNvPr id="99" name="Text 97"/>
          <p:cNvSpPr/>
          <p:nvPr/>
        </p:nvSpPr>
        <p:spPr>
          <a:xfrm>
            <a:off x="10456667" y="8632825"/>
            <a:ext cx="806842" cy="76233"/>
          </a:xfrm>
          <a:prstGeom prst="rect">
            <a:avLst/>
          </a:prstGeom>
          <a:noFill/>
          <a:ln/>
        </p:spPr>
        <p:txBody>
          <a:bodyPr wrap="none" lIns="0" tIns="0" rIns="0" bIns="0" rtlCol="0" anchor="t"/>
          <a:lstStyle/>
          <a:p>
            <a:pPr algn="l" indent="0" marL="0">
              <a:lnSpc>
                <a:spcPts val="600"/>
              </a:lnSpc>
              <a:buNone/>
            </a:pPr>
            <a:r>
              <a:rPr lang="en-US" sz="560" spc="120" kern="0" dirty="0">
                <a:solidFill>
                  <a:srgbClr val="9C7442"/>
                </a:solidFill>
                <a:latin typeface="Inter SemiBold" pitchFamily="34" charset="0"/>
                <a:ea typeface="Inter SemiBold" pitchFamily="34" charset="-122"/>
                <a:cs typeface="Inter SemiBold" pitchFamily="34" charset="-120"/>
              </a:rPr>
              <a:t>RISK SHARING</a:t>
            </a:r>
            <a:endParaRPr lang="en-US" sz="560" dirty="0"/>
          </a:p>
        </p:txBody>
      </p:sp>
      <p:sp>
        <p:nvSpPr>
          <p:cNvPr id="100" name="Text 98"/>
          <p:cNvSpPr/>
          <p:nvPr/>
        </p:nvSpPr>
        <p:spPr>
          <a:xfrm>
            <a:off x="10456667" y="8726021"/>
            <a:ext cx="1169566"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リスクシェアリング</a:t>
            </a:r>
            <a:endParaRPr lang="en-US" sz="860" dirty="0"/>
          </a:p>
        </p:txBody>
      </p:sp>
      <p:sp>
        <p:nvSpPr>
          <p:cNvPr id="101" name="Text 99"/>
          <p:cNvSpPr/>
          <p:nvPr/>
        </p:nvSpPr>
        <p:spPr>
          <a:xfrm>
            <a:off x="10456667" y="8937155"/>
            <a:ext cx="1915540"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リスクの高い案件ほど、資金面の分担を担保</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する。</a:t>
            </a:r>
            <a:endParaRPr lang="en-US" sz="670" dirty="0"/>
          </a:p>
        </p:txBody>
      </p:sp>
      <p:sp>
        <p:nvSpPr>
          <p:cNvPr id="102" name="Text 100"/>
          <p:cNvSpPr/>
          <p:nvPr/>
        </p:nvSpPr>
        <p:spPr>
          <a:xfrm>
            <a:off x="12692844" y="8632825"/>
            <a:ext cx="1309982" cy="76233"/>
          </a:xfrm>
          <a:prstGeom prst="rect">
            <a:avLst/>
          </a:prstGeom>
          <a:noFill/>
          <a:ln/>
        </p:spPr>
        <p:txBody>
          <a:bodyPr wrap="none" lIns="0" tIns="0" rIns="0" bIns="0" rtlCol="0" anchor="t"/>
          <a:lstStyle/>
          <a:p>
            <a:pPr algn="l" indent="0" marL="0">
              <a:lnSpc>
                <a:spcPts val="600"/>
              </a:lnSpc>
              <a:buNone/>
            </a:pPr>
            <a:r>
              <a:rPr lang="en-US" sz="560" spc="120" kern="0" dirty="0">
                <a:solidFill>
                  <a:srgbClr val="9C7442"/>
                </a:solidFill>
                <a:latin typeface="Inter SemiBold" pitchFamily="34" charset="0"/>
                <a:ea typeface="Inter SemiBold" pitchFamily="34" charset="-122"/>
                <a:cs typeface="Inter SemiBold" pitchFamily="34" charset="-120"/>
              </a:rPr>
              <a:t>INTEGRATED STRENGTH</a:t>
            </a:r>
            <a:endParaRPr lang="en-US" sz="560" dirty="0"/>
          </a:p>
        </p:txBody>
      </p:sp>
      <p:sp>
        <p:nvSpPr>
          <p:cNvPr id="103" name="Text 101"/>
          <p:cNvSpPr/>
          <p:nvPr/>
        </p:nvSpPr>
        <p:spPr>
          <a:xfrm>
            <a:off x="12692844" y="8726021"/>
            <a:ext cx="423809"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総合力</a:t>
            </a:r>
            <a:endParaRPr lang="en-US" sz="860" dirty="0"/>
          </a:p>
        </p:txBody>
      </p:sp>
      <p:sp>
        <p:nvSpPr>
          <p:cNvPr id="104" name="Text 102"/>
          <p:cNvSpPr/>
          <p:nvPr/>
        </p:nvSpPr>
        <p:spPr>
          <a:xfrm>
            <a:off x="12692844" y="8937155"/>
            <a:ext cx="1920126"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幅広い産業接点を通じ、多様なバリューチェ</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ーンに知見を提供する。</a:t>
            </a:r>
            <a:endParaRPr lang="en-US" sz="670" dirty="0"/>
          </a:p>
        </p:txBody>
      </p:sp>
      <p:sp>
        <p:nvSpPr>
          <p:cNvPr id="105" name="Text 103"/>
          <p:cNvSpPr/>
          <p:nvPr/>
        </p:nvSpPr>
        <p:spPr>
          <a:xfrm>
            <a:off x="508222" y="10316906"/>
            <a:ext cx="202594"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08</a:t>
            </a:r>
            <a:endParaRPr lang="en-US" sz="600" dirty="0"/>
          </a:p>
        </p:txBody>
      </p:sp>
      <p:sp>
        <p:nvSpPr>
          <p:cNvPr id="106" name="Text 104"/>
          <p:cNvSpPr/>
          <p:nvPr/>
        </p:nvSpPr>
        <p:spPr>
          <a:xfrm>
            <a:off x="14458915" y="10316906"/>
            <a:ext cx="202594"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09</a:t>
            </a:r>
            <a:endParaRPr lang="en-US" sz="600" dirty="0"/>
          </a:p>
        </p:txBody>
      </p:sp>
      <p:sp>
        <p:nvSpPr>
          <p:cNvPr id="107" name="Text 105"/>
          <p:cNvSpPr/>
          <p:nvPr/>
        </p:nvSpPr>
        <p:spPr>
          <a:xfrm>
            <a:off x="876683" y="10328977"/>
            <a:ext cx="6271062" cy="205830"/>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台割メモ｜動画06 From Resources to Value。その他資源を6つのカードで（案件名と地域）。銅の品位の変化（1%→20–30%→99.99%）の上に、技術投資（CiDRA・Jetti・DESCycle・</a:t>
            </a:r>
            <a:endParaRPr lang="en-US" sz="540" dirty="0"/>
          </a:p>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Triland）を配置。</a:t>
            </a:r>
            <a:endParaRPr lang="en-US" sz="540" dirty="0"/>
          </a:p>
        </p:txBody>
      </p:sp>
      <p:sp>
        <p:nvSpPr>
          <p:cNvPr id="108" name="Text 106"/>
          <p:cNvSpPr/>
          <p:nvPr/>
        </p:nvSpPr>
        <p:spPr>
          <a:xfrm>
            <a:off x="8169668" y="10328977"/>
            <a:ext cx="5207131" cy="102915"/>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台割メモ｜動画07 Global Partnerships。Partner of Choiceの理由（本文）、4つの強み、RtMの販売網（シンガポール集約の10拠点）とエビデンス数値。</a:t>
            </a:r>
            <a:endParaRPr lang="en-US" sz="5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2832605" y="76233"/>
            <a:ext cx="2126274" cy="1423022"/>
          </a:xfrm>
          <a:prstGeom prst="rect">
            <a:avLst/>
          </a:prstGeom>
          <a:noFill/>
          <a:ln/>
        </p:spPr>
        <p:txBody>
          <a:bodyPr wrap="none" lIns="0" tIns="0" rIns="0" bIns="0" rtlCol="0" anchor="t"/>
          <a:lstStyle/>
          <a:p>
            <a:pPr algn="l" indent="0" marL="0">
              <a:lnSpc>
                <a:spcPts val="11200"/>
              </a:lnSpc>
              <a:buNone/>
            </a:pPr>
            <a:r>
              <a:rPr lang="en-US" sz="14000" spc="-560" kern="0" dirty="0">
                <a:solidFill>
                  <a:srgbClr val="000000">
                    <a:alpha val="0"/>
                  </a:srgbClr>
                </a:solidFill>
                <a:latin typeface="Inter Tight Light" pitchFamily="34" charset="0"/>
                <a:ea typeface="Inter Tight Light" pitchFamily="34" charset="-122"/>
                <a:cs typeface="Inter Tight Light" pitchFamily="34" charset="-120"/>
              </a:rPr>
              <a:t>05</a:t>
            </a:r>
            <a:endParaRPr lang="en-US" sz="14000" dirty="0"/>
          </a:p>
        </p:txBody>
      </p:sp>
      <p:sp>
        <p:nvSpPr>
          <p:cNvPr id="3" name="Text 1"/>
          <p:cNvSpPr/>
          <p:nvPr/>
        </p:nvSpPr>
        <p:spPr>
          <a:xfrm>
            <a:off x="508222" y="508222"/>
            <a:ext cx="2192879"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05 · Integrated value chain</a:t>
            </a:r>
            <a:endParaRPr lang="en-US" sz="660" dirty="0"/>
          </a:p>
        </p:txBody>
      </p:sp>
      <p:sp>
        <p:nvSpPr>
          <p:cNvPr id="4" name="Text 2"/>
          <p:cNvSpPr/>
          <p:nvPr/>
        </p:nvSpPr>
        <p:spPr>
          <a:xfrm>
            <a:off x="508222" y="647983"/>
            <a:ext cx="2016212"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第2章　独自価値｜バリューチェーン全体像</a:t>
            </a:r>
            <a:endParaRPr lang="en-US" sz="660" dirty="0"/>
          </a:p>
        </p:txBody>
      </p:sp>
      <p:sp>
        <p:nvSpPr>
          <p:cNvPr id="5" name="Text 3"/>
          <p:cNvSpPr/>
          <p:nvPr/>
        </p:nvSpPr>
        <p:spPr>
          <a:xfrm>
            <a:off x="508222" y="877953"/>
            <a:ext cx="10712625" cy="518386"/>
          </a:xfrm>
          <a:prstGeom prst="rect">
            <a:avLst/>
          </a:prstGeom>
          <a:noFill/>
          <a:ln/>
        </p:spPr>
        <p:txBody>
          <a:bodyPr wrap="none" lIns="0" tIns="0" rIns="0" bIns="0" rtlCol="0" anchor="t"/>
          <a:lstStyle/>
          <a:p>
            <a:pPr algn="l" indent="0" marL="0">
              <a:lnSpc>
                <a:spcPts val="4080"/>
              </a:lnSpc>
              <a:buNone/>
            </a:pPr>
            <a:r>
              <a:rPr lang="en-US" sz="4000" spc="-100" kern="0" dirty="0">
                <a:solidFill>
                  <a:srgbClr val="121519"/>
                </a:solidFill>
                <a:latin typeface="Inter Tight SemiBold" pitchFamily="34" charset="0"/>
                <a:ea typeface="Inter Tight SemiBold" pitchFamily="34" charset="-122"/>
                <a:cs typeface="Inter Tight SemiBold" pitchFamily="34" charset="-120"/>
              </a:rPr>
              <a:t>From mine to market — one integrated chain.</a:t>
            </a:r>
            <a:endParaRPr lang="en-US" sz="4000" dirty="0"/>
          </a:p>
        </p:txBody>
      </p:sp>
      <p:sp>
        <p:nvSpPr>
          <p:cNvPr id="6" name="Text 4"/>
          <p:cNvSpPr/>
          <p:nvPr/>
        </p:nvSpPr>
        <p:spPr>
          <a:xfrm>
            <a:off x="508222" y="1745425"/>
            <a:ext cx="9254087"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投資と販売の両輪で、川上から川下までをつなぐ。採掘・製造・販売をつなぐトレーディング力こそが、総合商社の強み。</a:t>
            </a:r>
            <a:endParaRPr lang="en-US" sz="1150" dirty="0"/>
          </a:p>
        </p:txBody>
      </p:sp>
      <p:sp>
        <p:nvSpPr>
          <p:cNvPr id="7" name="Text 5"/>
          <p:cNvSpPr/>
          <p:nvPr/>
        </p:nvSpPr>
        <p:spPr>
          <a:xfrm>
            <a:off x="635277" y="2490288"/>
            <a:ext cx="698746"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FFFFFF"/>
                </a:solidFill>
                <a:latin typeface="Inter SemiBold" pitchFamily="34" charset="0"/>
                <a:ea typeface="Inter SemiBold" pitchFamily="34" charset="-122"/>
                <a:cs typeface="Inter SemiBold" pitchFamily="34" charset="-120"/>
              </a:rPr>
              <a:t>UPSTREAM</a:t>
            </a:r>
            <a:endParaRPr lang="en-US" sz="600" dirty="0"/>
          </a:p>
        </p:txBody>
      </p:sp>
      <p:sp>
        <p:nvSpPr>
          <p:cNvPr id="8" name="Text 6"/>
          <p:cNvSpPr/>
          <p:nvPr/>
        </p:nvSpPr>
        <p:spPr>
          <a:xfrm>
            <a:off x="635277" y="2579227"/>
            <a:ext cx="1308890" cy="165172"/>
          </a:xfrm>
          <a:prstGeom prst="rect">
            <a:avLst/>
          </a:prstGeom>
          <a:noFill/>
          <a:ln/>
        </p:spPr>
        <p:txBody>
          <a:bodyPr wrap="none" lIns="0" tIns="0" rIns="0" bIns="0" rtlCol="0" anchor="t"/>
          <a:lstStyle/>
          <a:p>
            <a:pPr algn="l" indent="0" marL="0">
              <a:lnSpc>
                <a:spcPts val="1300"/>
              </a:lnSpc>
              <a:buNone/>
            </a:pPr>
            <a:r>
              <a:rPr lang="en-US" sz="900" dirty="0">
                <a:solidFill>
                  <a:srgbClr val="FFFFFF"/>
                </a:solidFill>
                <a:latin typeface="Noto Sans JP Medium" pitchFamily="34" charset="0"/>
                <a:ea typeface="Noto Sans JP Medium" pitchFamily="34" charset="-122"/>
                <a:cs typeface="Noto Sans JP Medium" pitchFamily="34" charset="-120"/>
              </a:rPr>
              <a:t>川上｜資源開発・保有</a:t>
            </a:r>
            <a:endParaRPr lang="en-US" sz="900" dirty="0"/>
          </a:p>
        </p:txBody>
      </p:sp>
      <p:sp>
        <p:nvSpPr>
          <p:cNvPr id="9" name="Text 7"/>
          <p:cNvSpPr/>
          <p:nvPr/>
        </p:nvSpPr>
        <p:spPr>
          <a:xfrm>
            <a:off x="3557554" y="2490288"/>
            <a:ext cx="953810"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1F3A56"/>
                </a:solidFill>
                <a:latin typeface="Inter SemiBold" pitchFamily="34" charset="0"/>
                <a:ea typeface="Inter SemiBold" pitchFamily="34" charset="-122"/>
                <a:cs typeface="Inter SemiBold" pitchFamily="34" charset="-120"/>
              </a:rPr>
              <a:t>TRADING · RtM</a:t>
            </a:r>
            <a:endParaRPr lang="en-US" sz="600" dirty="0"/>
          </a:p>
        </p:txBody>
      </p:sp>
      <p:sp>
        <p:nvSpPr>
          <p:cNvPr id="10" name="Text 8"/>
          <p:cNvSpPr/>
          <p:nvPr/>
        </p:nvSpPr>
        <p:spPr>
          <a:xfrm>
            <a:off x="3557554" y="2579227"/>
            <a:ext cx="1551506" cy="165172"/>
          </a:xfrm>
          <a:prstGeom prst="rect">
            <a:avLst/>
          </a:prstGeom>
          <a:noFill/>
          <a:ln/>
        </p:spPr>
        <p:txBody>
          <a:bodyPr wrap="none" lIns="0" tIns="0" rIns="0" bIns="0" rtlCol="0" anchor="t"/>
          <a:lstStyle/>
          <a:p>
            <a:pPr algn="l" indent="0" marL="0">
              <a:lnSpc>
                <a:spcPts val="1300"/>
              </a:lnSpc>
              <a:buNone/>
            </a:pPr>
            <a:r>
              <a:rPr lang="en-US" sz="900" dirty="0">
                <a:solidFill>
                  <a:srgbClr val="1F3A56"/>
                </a:solidFill>
                <a:latin typeface="Noto Sans JP Medium" pitchFamily="34" charset="0"/>
                <a:ea typeface="Noto Sans JP Medium" pitchFamily="34" charset="-122"/>
                <a:cs typeface="Noto Sans JP Medium" pitchFamily="34" charset="-120"/>
              </a:rPr>
              <a:t>中間流通｜トレーディング</a:t>
            </a:r>
            <a:endParaRPr lang="en-US" sz="900" dirty="0"/>
          </a:p>
        </p:txBody>
      </p:sp>
      <p:sp>
        <p:nvSpPr>
          <p:cNvPr id="11" name="Text 9"/>
          <p:cNvSpPr/>
          <p:nvPr/>
        </p:nvSpPr>
        <p:spPr>
          <a:xfrm>
            <a:off x="6225719" y="2490288"/>
            <a:ext cx="766442"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FFFFFF"/>
                </a:solidFill>
                <a:latin typeface="Inter SemiBold" pitchFamily="34" charset="0"/>
                <a:ea typeface="Inter SemiBold" pitchFamily="34" charset="-122"/>
                <a:cs typeface="Inter SemiBold" pitchFamily="34" charset="-120"/>
              </a:rPr>
              <a:t>MIDSTREAM</a:t>
            </a:r>
            <a:endParaRPr lang="en-US" sz="600" dirty="0"/>
          </a:p>
        </p:txBody>
      </p:sp>
      <p:sp>
        <p:nvSpPr>
          <p:cNvPr id="12" name="Text 10"/>
          <p:cNvSpPr/>
          <p:nvPr/>
        </p:nvSpPr>
        <p:spPr>
          <a:xfrm>
            <a:off x="6225719" y="2579227"/>
            <a:ext cx="1057320" cy="165172"/>
          </a:xfrm>
          <a:prstGeom prst="rect">
            <a:avLst/>
          </a:prstGeom>
          <a:noFill/>
          <a:ln/>
        </p:spPr>
        <p:txBody>
          <a:bodyPr wrap="none" lIns="0" tIns="0" rIns="0" bIns="0" rtlCol="0" anchor="t"/>
          <a:lstStyle/>
          <a:p>
            <a:pPr algn="l" indent="0" marL="0">
              <a:lnSpc>
                <a:spcPts val="1300"/>
              </a:lnSpc>
              <a:buNone/>
            </a:pPr>
            <a:r>
              <a:rPr lang="en-US" sz="900" dirty="0">
                <a:solidFill>
                  <a:srgbClr val="FFFFFF"/>
                </a:solidFill>
                <a:latin typeface="Noto Sans JP Medium" pitchFamily="34" charset="0"/>
                <a:ea typeface="Noto Sans JP Medium" pitchFamily="34" charset="-122"/>
                <a:cs typeface="Noto Sans JP Medium" pitchFamily="34" charset="-120"/>
              </a:rPr>
              <a:t>川中｜製鉄・製錬</a:t>
            </a:r>
            <a:endParaRPr lang="en-US" sz="900" dirty="0"/>
          </a:p>
        </p:txBody>
      </p:sp>
      <p:sp>
        <p:nvSpPr>
          <p:cNvPr id="13" name="Text 11"/>
          <p:cNvSpPr/>
          <p:nvPr/>
        </p:nvSpPr>
        <p:spPr>
          <a:xfrm>
            <a:off x="9147996" y="2490288"/>
            <a:ext cx="953810"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1F3A56"/>
                </a:solidFill>
                <a:latin typeface="Inter SemiBold" pitchFamily="34" charset="0"/>
                <a:ea typeface="Inter SemiBold" pitchFamily="34" charset="-122"/>
                <a:cs typeface="Inter SemiBold" pitchFamily="34" charset="-120"/>
              </a:rPr>
              <a:t>TRADING · RtM</a:t>
            </a:r>
            <a:endParaRPr lang="en-US" sz="600" dirty="0"/>
          </a:p>
        </p:txBody>
      </p:sp>
      <p:sp>
        <p:nvSpPr>
          <p:cNvPr id="14" name="Text 12"/>
          <p:cNvSpPr/>
          <p:nvPr/>
        </p:nvSpPr>
        <p:spPr>
          <a:xfrm>
            <a:off x="9147996" y="2579227"/>
            <a:ext cx="1551506" cy="165172"/>
          </a:xfrm>
          <a:prstGeom prst="rect">
            <a:avLst/>
          </a:prstGeom>
          <a:noFill/>
          <a:ln/>
        </p:spPr>
        <p:txBody>
          <a:bodyPr wrap="none" lIns="0" tIns="0" rIns="0" bIns="0" rtlCol="0" anchor="t"/>
          <a:lstStyle/>
          <a:p>
            <a:pPr algn="l" indent="0" marL="0">
              <a:lnSpc>
                <a:spcPts val="1300"/>
              </a:lnSpc>
              <a:buNone/>
            </a:pPr>
            <a:r>
              <a:rPr lang="en-US" sz="900" dirty="0">
                <a:solidFill>
                  <a:srgbClr val="1F3A56"/>
                </a:solidFill>
                <a:latin typeface="Noto Sans JP Medium" pitchFamily="34" charset="0"/>
                <a:ea typeface="Noto Sans JP Medium" pitchFamily="34" charset="-122"/>
                <a:cs typeface="Noto Sans JP Medium" pitchFamily="34" charset="-120"/>
              </a:rPr>
              <a:t>中間流通｜トレーディング</a:t>
            </a:r>
            <a:endParaRPr lang="en-US" sz="900" dirty="0"/>
          </a:p>
        </p:txBody>
      </p:sp>
      <p:sp>
        <p:nvSpPr>
          <p:cNvPr id="15" name="Text 13"/>
          <p:cNvSpPr/>
          <p:nvPr/>
        </p:nvSpPr>
        <p:spPr>
          <a:xfrm>
            <a:off x="11816161" y="2490288"/>
            <a:ext cx="900526"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FFFFFF"/>
                </a:solidFill>
                <a:latin typeface="Inter SemiBold" pitchFamily="34" charset="0"/>
                <a:ea typeface="Inter SemiBold" pitchFamily="34" charset="-122"/>
                <a:cs typeface="Inter SemiBold" pitchFamily="34" charset="-120"/>
              </a:rPr>
              <a:t>DOWNSTREAM</a:t>
            </a:r>
            <a:endParaRPr lang="en-US" sz="600" dirty="0"/>
          </a:p>
        </p:txBody>
      </p:sp>
      <p:sp>
        <p:nvSpPr>
          <p:cNvPr id="16" name="Text 14"/>
          <p:cNvSpPr/>
          <p:nvPr/>
        </p:nvSpPr>
        <p:spPr>
          <a:xfrm>
            <a:off x="11816161" y="2579227"/>
            <a:ext cx="1434675" cy="165172"/>
          </a:xfrm>
          <a:prstGeom prst="rect">
            <a:avLst/>
          </a:prstGeom>
          <a:noFill/>
          <a:ln/>
        </p:spPr>
        <p:txBody>
          <a:bodyPr wrap="none" lIns="0" tIns="0" rIns="0" bIns="0" rtlCol="0" anchor="t"/>
          <a:lstStyle/>
          <a:p>
            <a:pPr algn="l" indent="0" marL="0">
              <a:lnSpc>
                <a:spcPts val="1300"/>
              </a:lnSpc>
              <a:buNone/>
            </a:pPr>
            <a:r>
              <a:rPr lang="en-US" sz="900" dirty="0">
                <a:solidFill>
                  <a:srgbClr val="FFFFFF"/>
                </a:solidFill>
                <a:latin typeface="Noto Sans JP Medium" pitchFamily="34" charset="0"/>
                <a:ea typeface="Noto Sans JP Medium" pitchFamily="34" charset="-122"/>
                <a:cs typeface="Noto Sans JP Medium" pitchFamily="34" charset="-120"/>
              </a:rPr>
              <a:t>川下｜最終製品・需要家</a:t>
            </a:r>
            <a:endParaRPr lang="en-US" sz="900" dirty="0"/>
          </a:p>
        </p:txBody>
      </p:sp>
      <p:sp>
        <p:nvSpPr>
          <p:cNvPr id="17" name="Text 15"/>
          <p:cNvSpPr/>
          <p:nvPr/>
        </p:nvSpPr>
        <p:spPr>
          <a:xfrm>
            <a:off x="482811" y="2871454"/>
            <a:ext cx="823657"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3D4249"/>
                </a:solidFill>
                <a:latin typeface="Noto Sans JP Medium" pitchFamily="34" charset="0"/>
                <a:ea typeface="Noto Sans JP Medium" pitchFamily="34" charset="-122"/>
                <a:cs typeface="Noto Sans JP Medium" pitchFamily="34" charset="-120"/>
              </a:rPr>
              <a:t>STEEL　鉄鋼</a:t>
            </a:r>
            <a:endParaRPr lang="en-US" sz="660" dirty="0"/>
          </a:p>
        </p:txBody>
      </p:sp>
      <p:sp>
        <p:nvSpPr>
          <p:cNvPr id="18" name="Text 16"/>
          <p:cNvSpPr/>
          <p:nvPr/>
        </p:nvSpPr>
        <p:spPr>
          <a:xfrm>
            <a:off x="647983" y="3155233"/>
            <a:ext cx="921053"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原料炭・鉄鉱石</a:t>
            </a:r>
            <a:endParaRPr lang="en-US" sz="860" dirty="0"/>
          </a:p>
        </p:txBody>
      </p:sp>
      <p:sp>
        <p:nvSpPr>
          <p:cNvPr id="19" name="Text 17"/>
          <p:cNvSpPr/>
          <p:nvPr/>
        </p:nvSpPr>
        <p:spPr>
          <a:xfrm>
            <a:off x="647983" y="3366367"/>
            <a:ext cx="1730794"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鉱山会社／当社資産（BMA・IOC ほか）</a:t>
            </a:r>
            <a:endParaRPr lang="en-US" sz="670" dirty="0"/>
          </a:p>
        </p:txBody>
      </p:sp>
      <p:sp>
        <p:nvSpPr>
          <p:cNvPr id="20" name="Text 18"/>
          <p:cNvSpPr/>
          <p:nvPr/>
        </p:nvSpPr>
        <p:spPr>
          <a:xfrm>
            <a:off x="3570259" y="3155233"/>
            <a:ext cx="921053"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F3A56"/>
                </a:solidFill>
                <a:latin typeface="Noto Sans JP Medium" pitchFamily="34" charset="0"/>
                <a:ea typeface="Noto Sans JP Medium" pitchFamily="34" charset="-122"/>
                <a:cs typeface="Noto Sans JP Medium" pitchFamily="34" charset="-120"/>
              </a:rPr>
              <a:t>原料炭・鉄鉱石</a:t>
            </a:r>
            <a:endParaRPr lang="en-US" sz="860" dirty="0"/>
          </a:p>
        </p:txBody>
      </p:sp>
      <p:sp>
        <p:nvSpPr>
          <p:cNvPr id="21" name="Text 19"/>
          <p:cNvSpPr/>
          <p:nvPr/>
        </p:nvSpPr>
        <p:spPr>
          <a:xfrm>
            <a:off x="3570259" y="3366367"/>
            <a:ext cx="221374"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RtM</a:t>
            </a:r>
            <a:endParaRPr lang="en-US" sz="670" dirty="0"/>
          </a:p>
        </p:txBody>
      </p:sp>
      <p:sp>
        <p:nvSpPr>
          <p:cNvPr id="22" name="Text 20"/>
          <p:cNvSpPr/>
          <p:nvPr/>
        </p:nvSpPr>
        <p:spPr>
          <a:xfrm>
            <a:off x="6238425" y="3155233"/>
            <a:ext cx="548066"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製鉄会社</a:t>
            </a:r>
            <a:endParaRPr lang="en-US" sz="860" dirty="0"/>
          </a:p>
        </p:txBody>
      </p:sp>
      <p:sp>
        <p:nvSpPr>
          <p:cNvPr id="23" name="Text 21"/>
          <p:cNvSpPr/>
          <p:nvPr/>
        </p:nvSpPr>
        <p:spPr>
          <a:xfrm>
            <a:off x="6238425" y="3366367"/>
            <a:ext cx="518148"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鋼材を製造</a:t>
            </a:r>
            <a:endParaRPr lang="en-US" sz="670" dirty="0"/>
          </a:p>
        </p:txBody>
      </p:sp>
      <p:sp>
        <p:nvSpPr>
          <p:cNvPr id="24" name="Text 22"/>
          <p:cNvSpPr/>
          <p:nvPr/>
        </p:nvSpPr>
        <p:spPr>
          <a:xfrm>
            <a:off x="9160701" y="3155233"/>
            <a:ext cx="299553"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F3A56"/>
                </a:solidFill>
                <a:latin typeface="Noto Sans JP Medium" pitchFamily="34" charset="0"/>
                <a:ea typeface="Noto Sans JP Medium" pitchFamily="34" charset="-122"/>
                <a:cs typeface="Noto Sans JP Medium" pitchFamily="34" charset="-120"/>
              </a:rPr>
              <a:t>鋼材</a:t>
            </a:r>
            <a:endParaRPr lang="en-US" sz="860" dirty="0"/>
          </a:p>
        </p:txBody>
      </p:sp>
      <p:sp>
        <p:nvSpPr>
          <p:cNvPr id="25" name="Text 23"/>
          <p:cNvSpPr/>
          <p:nvPr/>
        </p:nvSpPr>
        <p:spPr>
          <a:xfrm>
            <a:off x="9160701" y="3366367"/>
            <a:ext cx="1727736"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※鋼材販売はメタルワン（別グループ）</a:t>
            </a:r>
            <a:endParaRPr lang="en-US" sz="670" dirty="0"/>
          </a:p>
        </p:txBody>
      </p:sp>
      <p:sp>
        <p:nvSpPr>
          <p:cNvPr id="26" name="Text 24"/>
          <p:cNvSpPr/>
          <p:nvPr/>
        </p:nvSpPr>
        <p:spPr>
          <a:xfrm>
            <a:off x="11828867" y="3155233"/>
            <a:ext cx="1169566"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建材・自動車用鋼板</a:t>
            </a:r>
            <a:endParaRPr lang="en-US" sz="860" dirty="0"/>
          </a:p>
        </p:txBody>
      </p:sp>
      <p:sp>
        <p:nvSpPr>
          <p:cNvPr id="27" name="Text 25"/>
          <p:cNvSpPr/>
          <p:nvPr/>
        </p:nvSpPr>
        <p:spPr>
          <a:xfrm>
            <a:off x="11828867" y="3366367"/>
            <a:ext cx="977176"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インフラ・モビリティ</a:t>
            </a:r>
            <a:endParaRPr lang="en-US" sz="670" dirty="0"/>
          </a:p>
        </p:txBody>
      </p:sp>
      <p:sp>
        <p:nvSpPr>
          <p:cNvPr id="28" name="Text 26"/>
          <p:cNvSpPr/>
          <p:nvPr/>
        </p:nvSpPr>
        <p:spPr>
          <a:xfrm>
            <a:off x="482811" y="3964131"/>
            <a:ext cx="1381609"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3D4249"/>
                </a:solidFill>
                <a:latin typeface="Noto Sans JP Medium" pitchFamily="34" charset="0"/>
                <a:ea typeface="Noto Sans JP Medium" pitchFamily="34" charset="-122"/>
                <a:cs typeface="Noto Sans JP Medium" pitchFamily="34" charset="-120"/>
              </a:rPr>
              <a:t>NON-FERROUS　非鉄</a:t>
            </a:r>
            <a:endParaRPr lang="en-US" sz="660" dirty="0"/>
          </a:p>
        </p:txBody>
      </p:sp>
      <p:sp>
        <p:nvSpPr>
          <p:cNvPr id="29" name="Text 27"/>
          <p:cNvSpPr/>
          <p:nvPr/>
        </p:nvSpPr>
        <p:spPr>
          <a:xfrm>
            <a:off x="647983" y="4247910"/>
            <a:ext cx="1294040"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銅鉱石・ボーキサイト</a:t>
            </a:r>
            <a:endParaRPr lang="en-US" sz="860" dirty="0"/>
          </a:p>
        </p:txBody>
      </p:sp>
      <p:sp>
        <p:nvSpPr>
          <p:cNvPr id="30" name="Text 28"/>
          <p:cNvSpPr/>
          <p:nvPr/>
        </p:nvSpPr>
        <p:spPr>
          <a:xfrm>
            <a:off x="647983" y="4459044"/>
            <a:ext cx="1289236"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Escondida・Quellaveco ほか</a:t>
            </a:r>
            <a:endParaRPr lang="en-US" sz="670" dirty="0"/>
          </a:p>
        </p:txBody>
      </p:sp>
      <p:sp>
        <p:nvSpPr>
          <p:cNvPr id="31" name="Text 29"/>
          <p:cNvSpPr/>
          <p:nvPr/>
        </p:nvSpPr>
        <p:spPr>
          <a:xfrm>
            <a:off x="3570259" y="4247910"/>
            <a:ext cx="1294040"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F3A56"/>
                </a:solidFill>
                <a:latin typeface="Noto Sans JP Medium" pitchFamily="34" charset="0"/>
                <a:ea typeface="Noto Sans JP Medium" pitchFamily="34" charset="-122"/>
                <a:cs typeface="Noto Sans JP Medium" pitchFamily="34" charset="-120"/>
              </a:rPr>
              <a:t>銅精鉱・ボーキサイト</a:t>
            </a:r>
            <a:endParaRPr lang="en-US" sz="860" dirty="0"/>
          </a:p>
        </p:txBody>
      </p:sp>
      <p:sp>
        <p:nvSpPr>
          <p:cNvPr id="32" name="Text 30"/>
          <p:cNvSpPr/>
          <p:nvPr/>
        </p:nvSpPr>
        <p:spPr>
          <a:xfrm>
            <a:off x="3570259" y="4459044"/>
            <a:ext cx="221374"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RtM</a:t>
            </a:r>
            <a:endParaRPr lang="en-US" sz="670" dirty="0"/>
          </a:p>
        </p:txBody>
      </p:sp>
      <p:sp>
        <p:nvSpPr>
          <p:cNvPr id="33" name="Text 31"/>
          <p:cNvSpPr/>
          <p:nvPr/>
        </p:nvSpPr>
        <p:spPr>
          <a:xfrm>
            <a:off x="6238425" y="4247910"/>
            <a:ext cx="548066"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製錬会社</a:t>
            </a:r>
            <a:endParaRPr lang="en-US" sz="860" dirty="0"/>
          </a:p>
        </p:txBody>
      </p:sp>
      <p:sp>
        <p:nvSpPr>
          <p:cNvPr id="34" name="Text 32"/>
          <p:cNvSpPr/>
          <p:nvPr/>
        </p:nvSpPr>
        <p:spPr>
          <a:xfrm>
            <a:off x="6238425" y="4459044"/>
            <a:ext cx="891135"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銅地金・アルミ地金</a:t>
            </a:r>
            <a:endParaRPr lang="en-US" sz="670" dirty="0"/>
          </a:p>
        </p:txBody>
      </p:sp>
      <p:sp>
        <p:nvSpPr>
          <p:cNvPr id="35" name="Text 33"/>
          <p:cNvSpPr/>
          <p:nvPr/>
        </p:nvSpPr>
        <p:spPr>
          <a:xfrm>
            <a:off x="9160701" y="4247910"/>
            <a:ext cx="1168474"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F3A56"/>
                </a:solidFill>
                <a:latin typeface="Noto Sans JP Medium" pitchFamily="34" charset="0"/>
                <a:ea typeface="Noto Sans JP Medium" pitchFamily="34" charset="-122"/>
                <a:cs typeface="Noto Sans JP Medium" pitchFamily="34" charset="-120"/>
              </a:rPr>
              <a:t>銅地金・アルミ地金</a:t>
            </a:r>
            <a:endParaRPr lang="en-US" sz="860" dirty="0"/>
          </a:p>
        </p:txBody>
      </p:sp>
      <p:sp>
        <p:nvSpPr>
          <p:cNvPr id="36" name="Text 34"/>
          <p:cNvSpPr/>
          <p:nvPr/>
        </p:nvSpPr>
        <p:spPr>
          <a:xfrm>
            <a:off x="9160701" y="4459044"/>
            <a:ext cx="924765"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RtM・Triland Metals</a:t>
            </a:r>
            <a:endParaRPr lang="en-US" sz="670" dirty="0"/>
          </a:p>
        </p:txBody>
      </p:sp>
      <p:sp>
        <p:nvSpPr>
          <p:cNvPr id="37" name="Text 35"/>
          <p:cNvSpPr/>
          <p:nvPr/>
        </p:nvSpPr>
        <p:spPr>
          <a:xfrm>
            <a:off x="11828867" y="4247910"/>
            <a:ext cx="1077629"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電線・再エネ・EV</a:t>
            </a:r>
            <a:endParaRPr lang="en-US" sz="860" dirty="0"/>
          </a:p>
        </p:txBody>
      </p:sp>
      <p:sp>
        <p:nvSpPr>
          <p:cNvPr id="38" name="Text 36"/>
          <p:cNvSpPr/>
          <p:nvPr/>
        </p:nvSpPr>
        <p:spPr>
          <a:xfrm>
            <a:off x="11828867" y="4459044"/>
            <a:ext cx="705079"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配線・モーター</a:t>
            </a:r>
            <a:endParaRPr lang="en-US" sz="670" dirty="0"/>
          </a:p>
        </p:txBody>
      </p:sp>
      <p:sp>
        <p:nvSpPr>
          <p:cNvPr id="39" name="Text 37"/>
          <p:cNvSpPr/>
          <p:nvPr/>
        </p:nvSpPr>
        <p:spPr>
          <a:xfrm>
            <a:off x="635277" y="5387153"/>
            <a:ext cx="5062348" cy="152467"/>
          </a:xfrm>
          <a:prstGeom prst="rect">
            <a:avLst/>
          </a:prstGeom>
          <a:noFill/>
          <a:ln/>
        </p:spPr>
        <p:txBody>
          <a:bodyPr wrap="none" lIns="0" tIns="0" rIns="0" bIns="0" rtlCol="0" anchor="t"/>
          <a:lstStyle/>
          <a:p>
            <a:pPr algn="l" indent="0" marL="0">
              <a:lnSpc>
                <a:spcPts val="1200"/>
              </a:lnSpc>
              <a:buNone/>
            </a:pPr>
            <a:r>
              <a:rPr lang="en-US" sz="640" spc="160" kern="0" dirty="0">
                <a:solidFill>
                  <a:srgbClr val="FFFFFF"/>
                </a:solidFill>
                <a:latin typeface="Inter SemiBold" pitchFamily="34" charset="0"/>
                <a:ea typeface="Inter SemiBold" pitchFamily="34" charset="-122"/>
                <a:cs typeface="Inter SemiBold" pitchFamily="34" charset="-120"/>
              </a:rPr>
              <a:t>INVESTMENT</a:t>
            </a:r>
            <a:pPr algn="l" indent="0" marL="0">
              <a:lnSpc>
                <a:spcPts val="1200"/>
              </a:lnSpc>
              <a:buNone/>
            </a:pPr>
            <a:r>
              <a:rPr lang="en-US" sz="1600" dirty="0">
                <a:solidFill>
                  <a:srgbClr val="121519"/>
                </a:solidFill>
                <a:latin typeface="Noto Sans JP" pitchFamily="34" charset="0"/>
                <a:ea typeface="Noto Sans JP" pitchFamily="34" charset="-122"/>
                <a:cs typeface="Noto Sans JP" pitchFamily="34" charset="-120"/>
              </a:rPr>
              <a:t>　</a:t>
            </a:r>
            <a:pPr algn="l" indent="0" marL="0">
              <a:lnSpc>
                <a:spcPts val="1200"/>
              </a:lnSpc>
              <a:buNone/>
            </a:pPr>
            <a:r>
              <a:rPr lang="en-US" sz="840" dirty="0">
                <a:solidFill>
                  <a:srgbClr val="FFFFFF"/>
                </a:solidFill>
                <a:latin typeface="Noto Sans JP Medium" pitchFamily="34" charset="0"/>
                <a:ea typeface="Noto Sans JP Medium" pitchFamily="34" charset="-122"/>
                <a:cs typeface="Noto Sans JP Medium" pitchFamily="34" charset="-120"/>
              </a:rPr>
              <a:t>資源投資（鉱山・製鉄／製錬）｜鉄鋼原料本部・クリティカルミネラル本部</a:t>
            </a:r>
            <a:endParaRPr lang="en-US" sz="640" dirty="0"/>
          </a:p>
        </p:txBody>
      </p:sp>
      <p:sp>
        <p:nvSpPr>
          <p:cNvPr id="40" name="Text 38"/>
          <p:cNvSpPr/>
          <p:nvPr/>
        </p:nvSpPr>
        <p:spPr>
          <a:xfrm>
            <a:off x="635277" y="5742908"/>
            <a:ext cx="5469620" cy="152467"/>
          </a:xfrm>
          <a:prstGeom prst="rect">
            <a:avLst/>
          </a:prstGeom>
          <a:noFill/>
          <a:ln/>
        </p:spPr>
        <p:txBody>
          <a:bodyPr wrap="none" lIns="0" tIns="0" rIns="0" bIns="0" rtlCol="0" anchor="t"/>
          <a:lstStyle/>
          <a:p>
            <a:pPr algn="l" indent="0" marL="0">
              <a:lnSpc>
                <a:spcPts val="1200"/>
              </a:lnSpc>
              <a:buNone/>
            </a:pPr>
            <a:r>
              <a:rPr lang="en-US" sz="640" spc="160" kern="0" dirty="0">
                <a:solidFill>
                  <a:srgbClr val="FFFFFF"/>
                </a:solidFill>
                <a:latin typeface="Inter SemiBold" pitchFamily="34" charset="0"/>
                <a:ea typeface="Inter SemiBold" pitchFamily="34" charset="-122"/>
                <a:cs typeface="Inter SemiBold" pitchFamily="34" charset="-120"/>
              </a:rPr>
              <a:t>TRADING (RtM)</a:t>
            </a:r>
            <a:pPr algn="l" indent="0" marL="0">
              <a:lnSpc>
                <a:spcPts val="1200"/>
              </a:lnSpc>
              <a:buNone/>
            </a:pPr>
            <a:r>
              <a:rPr lang="en-US" sz="1600" dirty="0">
                <a:solidFill>
                  <a:srgbClr val="121519"/>
                </a:solidFill>
                <a:latin typeface="Noto Sans JP" pitchFamily="34" charset="0"/>
                <a:ea typeface="Noto Sans JP" pitchFamily="34" charset="-122"/>
                <a:cs typeface="Noto Sans JP" pitchFamily="34" charset="-120"/>
              </a:rPr>
              <a:t>　</a:t>
            </a:r>
            <a:pPr algn="l" indent="0" marL="0">
              <a:lnSpc>
                <a:spcPts val="1200"/>
              </a:lnSpc>
              <a:buNone/>
            </a:pPr>
            <a:r>
              <a:rPr lang="en-US" sz="840" dirty="0">
                <a:solidFill>
                  <a:srgbClr val="FFFFFF"/>
                </a:solidFill>
                <a:latin typeface="Noto Sans JP Medium" pitchFamily="34" charset="0"/>
                <a:ea typeface="Noto Sans JP Medium" pitchFamily="34" charset="-122"/>
                <a:cs typeface="Noto Sans JP Medium" pitchFamily="34" charset="-120"/>
              </a:rPr>
              <a:t>トレーディング｜金属資源トレーディング本部 — 15業界 × 50カ国 × 約1,000社</a:t>
            </a:r>
            <a:endParaRPr lang="en-US" sz="640" dirty="0"/>
          </a:p>
        </p:txBody>
      </p:sp>
      <p:sp>
        <p:nvSpPr>
          <p:cNvPr id="41" name="Text 39"/>
          <p:cNvSpPr/>
          <p:nvPr/>
        </p:nvSpPr>
        <p:spPr>
          <a:xfrm>
            <a:off x="508222" y="6225719"/>
            <a:ext cx="1546265"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THE VIRTUOUS CYCLE</a:t>
            </a:r>
            <a:endParaRPr lang="en-US" sz="660" dirty="0"/>
          </a:p>
        </p:txBody>
      </p:sp>
      <p:sp>
        <p:nvSpPr>
          <p:cNvPr id="42" name="Text 40"/>
          <p:cNvSpPr/>
          <p:nvPr/>
        </p:nvSpPr>
        <p:spPr>
          <a:xfrm>
            <a:off x="1905832" y="6225719"/>
            <a:ext cx="1358025"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投資と販売が連携する好循環</a:t>
            </a:r>
            <a:endParaRPr lang="en-US" sz="660" dirty="0"/>
          </a:p>
        </p:txBody>
      </p:sp>
      <p:sp>
        <p:nvSpPr>
          <p:cNvPr id="43" name="Text 41"/>
          <p:cNvSpPr/>
          <p:nvPr/>
        </p:nvSpPr>
        <p:spPr>
          <a:xfrm>
            <a:off x="713972" y="6399023"/>
            <a:ext cx="1621387" cy="136203"/>
          </a:xfrm>
          <a:prstGeom prst="rect">
            <a:avLst/>
          </a:prstGeom>
          <a:noFill/>
          <a:ln/>
        </p:spPr>
        <p:txBody>
          <a:bodyPr wrap="none" lIns="0" tIns="0" rIns="0" bIns="0" rtlCol="0" anchor="t"/>
          <a:lstStyle/>
          <a:p>
            <a:pPr algn="ctr" indent="0" marL="0">
              <a:lnSpc>
                <a:spcPts val="1072"/>
              </a:lnSpc>
              <a:buNone/>
            </a:pPr>
            <a:r>
              <a:rPr lang="en-US" sz="670" dirty="0">
                <a:solidFill>
                  <a:srgbClr val="9C7442"/>
                </a:solidFill>
                <a:latin typeface="Noto Sans JP" pitchFamily="34" charset="0"/>
                <a:ea typeface="Noto Sans JP" pitchFamily="34" charset="-122"/>
                <a:cs typeface="Noto Sans JP" pitchFamily="34" charset="-120"/>
              </a:rPr>
              <a:t>持分見合いのオフテイクをRtMが販売</a:t>
            </a:r>
            <a:endParaRPr lang="en-US" sz="670" dirty="0"/>
          </a:p>
        </p:txBody>
      </p:sp>
      <p:sp>
        <p:nvSpPr>
          <p:cNvPr id="44" name="Text 42"/>
          <p:cNvSpPr/>
          <p:nvPr/>
        </p:nvSpPr>
        <p:spPr>
          <a:xfrm>
            <a:off x="473540" y="8203211"/>
            <a:ext cx="2102252" cy="136203"/>
          </a:xfrm>
          <a:prstGeom prst="rect">
            <a:avLst/>
          </a:prstGeom>
          <a:noFill/>
          <a:ln/>
        </p:spPr>
        <p:txBody>
          <a:bodyPr wrap="none" lIns="0" tIns="0" rIns="0" bIns="0" rtlCol="0" anchor="t"/>
          <a:lstStyle/>
          <a:p>
            <a:pPr algn="ctr" indent="0" marL="0">
              <a:lnSpc>
                <a:spcPts val="1072"/>
              </a:lnSpc>
              <a:buNone/>
            </a:pPr>
            <a:r>
              <a:rPr lang="en-US" sz="670" dirty="0">
                <a:solidFill>
                  <a:srgbClr val="1F3A56"/>
                </a:solidFill>
                <a:latin typeface="Noto Sans JP" pitchFamily="34" charset="0"/>
                <a:ea typeface="Noto Sans JP" pitchFamily="34" charset="-122"/>
                <a:cs typeface="Noto Sans JP" pitchFamily="34" charset="-120"/>
              </a:rPr>
              <a:t>顧客接点から得た“生きた情報”を投資判断へ還元</a:t>
            </a:r>
            <a:endParaRPr lang="en-US" sz="670" dirty="0"/>
          </a:p>
        </p:txBody>
      </p:sp>
      <p:sp>
        <p:nvSpPr>
          <p:cNvPr id="45" name="Text 43"/>
          <p:cNvSpPr/>
          <p:nvPr/>
        </p:nvSpPr>
        <p:spPr>
          <a:xfrm>
            <a:off x="1143499" y="7264716"/>
            <a:ext cx="441280" cy="132773"/>
          </a:xfrm>
          <a:prstGeom prst="rect">
            <a:avLst/>
          </a:prstGeom>
          <a:noFill/>
          <a:ln/>
        </p:spPr>
        <p:txBody>
          <a:bodyPr wrap="none" lIns="0" tIns="0" rIns="0" bIns="0" rtlCol="0" anchor="t"/>
          <a:lstStyle/>
          <a:p>
            <a:pPr algn="l" indent="0" marL="0">
              <a:lnSpc>
                <a:spcPts val="1045"/>
              </a:lnSpc>
              <a:buNone/>
            </a:pPr>
            <a:r>
              <a:rPr lang="en-US" sz="1100" spc="-33" kern="0" dirty="0">
                <a:solidFill>
                  <a:srgbClr val="9C7442"/>
                </a:solidFill>
                <a:latin typeface="Inter Tight SemiBold" pitchFamily="34" charset="0"/>
                <a:ea typeface="Inter Tight SemiBold" pitchFamily="34" charset="-122"/>
                <a:cs typeface="Inter Tight SemiBold" pitchFamily="34" charset="-120"/>
              </a:rPr>
              <a:t>Invest</a:t>
            </a:r>
            <a:endParaRPr lang="en-US" sz="1100" dirty="0"/>
          </a:p>
        </p:txBody>
      </p:sp>
      <p:sp>
        <p:nvSpPr>
          <p:cNvPr id="46" name="Text 44"/>
          <p:cNvSpPr/>
          <p:nvPr/>
        </p:nvSpPr>
        <p:spPr>
          <a:xfrm>
            <a:off x="1143499" y="7417182"/>
            <a:ext cx="578639" cy="132773"/>
          </a:xfrm>
          <a:prstGeom prst="rect">
            <a:avLst/>
          </a:prstGeom>
          <a:noFill/>
          <a:ln/>
        </p:spPr>
        <p:txBody>
          <a:bodyPr wrap="none" lIns="0" tIns="0" rIns="0" bIns="0" rtlCol="0" anchor="t"/>
          <a:lstStyle/>
          <a:p>
            <a:pPr algn="l" indent="0" marL="0">
              <a:lnSpc>
                <a:spcPts val="1045"/>
              </a:lnSpc>
              <a:buNone/>
            </a:pPr>
            <a:r>
              <a:rPr lang="en-US" sz="1100" spc="-33" kern="0" dirty="0">
                <a:solidFill>
                  <a:srgbClr val="1F3A56"/>
                </a:solidFill>
                <a:latin typeface="Inter Tight SemiBold" pitchFamily="34" charset="0"/>
                <a:ea typeface="Inter Tight SemiBold" pitchFamily="34" charset="-122"/>
                <a:cs typeface="Inter Tight SemiBold" pitchFamily="34" charset="-120"/>
              </a:rPr>
              <a:t>⇄ Trade</a:t>
            </a:r>
            <a:endParaRPr lang="en-US" sz="1100" dirty="0"/>
          </a:p>
        </p:txBody>
      </p:sp>
      <p:sp>
        <p:nvSpPr>
          <p:cNvPr id="47" name="Text 45"/>
          <p:cNvSpPr/>
          <p:nvPr/>
        </p:nvSpPr>
        <p:spPr>
          <a:xfrm>
            <a:off x="2668165" y="6497332"/>
            <a:ext cx="4942459" cy="904953"/>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出資案件から得られる持分見合いのオフテイクをRtMが引き受け、ヘッジ・在庫・物流などの機能</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を付加して欧州・シンガポール・米州の顧客に届けます。顧客と接するRtMを通じて得た市場の生</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きた情報は、資源投資の判断へ還元されます。肥料資源では、本格投資に先立ちシンガポールにト</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レーディングデスクを設け、市場理解を深めてから投資へ——この「事業機会の発掘」こそ、投資</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と販売を併せ持つ私たちのアイデンティティです。</a:t>
            </a:r>
            <a:endParaRPr lang="en-US" sz="770" dirty="0"/>
          </a:p>
        </p:txBody>
      </p:sp>
      <p:sp>
        <p:nvSpPr>
          <p:cNvPr id="48" name="Text 46"/>
          <p:cNvSpPr/>
          <p:nvPr/>
        </p:nvSpPr>
        <p:spPr>
          <a:xfrm>
            <a:off x="2668165" y="7724974"/>
            <a:ext cx="1172186"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Inter SemiBold" pitchFamily="34" charset="0"/>
                <a:ea typeface="Inter SemiBold" pitchFamily="34" charset="-122"/>
                <a:cs typeface="Inter SemiBold" pitchFamily="34" charset="-120"/>
              </a:rPr>
              <a:t>RtM FUNCTIONS</a:t>
            </a:r>
            <a:endParaRPr lang="en-US" sz="660" dirty="0"/>
          </a:p>
        </p:txBody>
      </p:sp>
      <p:sp>
        <p:nvSpPr>
          <p:cNvPr id="49" name="Text 47"/>
          <p:cNvSpPr/>
          <p:nvPr/>
        </p:nvSpPr>
        <p:spPr>
          <a:xfrm>
            <a:off x="2744399" y="7953674"/>
            <a:ext cx="603097" cy="177878"/>
          </a:xfrm>
          <a:prstGeom prst="rect">
            <a:avLst/>
          </a:prstGeom>
          <a:noFill/>
          <a:ln/>
        </p:spPr>
        <p:txBody>
          <a:bodyPr wrap="none" lIns="0" tIns="0" rIns="0" bIns="0" rtlCol="0" anchor="t"/>
          <a:lstStyle/>
          <a:p>
            <a:pPr algn="l" indent="0" marL="0">
              <a:lnSpc>
                <a:spcPts val="700"/>
              </a:lnSpc>
              <a:buNone/>
            </a:pPr>
            <a:r>
              <a:rPr lang="en-US" sz="580" spc="30" kern="0" dirty="0">
                <a:solidFill>
                  <a:srgbClr val="121519"/>
                </a:solidFill>
                <a:latin typeface="Inter SemiBold" pitchFamily="34" charset="0"/>
                <a:ea typeface="Inter SemiBold" pitchFamily="34" charset="-122"/>
                <a:cs typeface="Inter SemiBold" pitchFamily="34" charset="-120"/>
              </a:rPr>
              <a:t>Marketing &amp; </a:t>
            </a:r>
            <a:endParaRPr lang="en-US" sz="580" dirty="0"/>
          </a:p>
          <a:p>
            <a:pPr algn="l" indent="0" marL="0">
              <a:lnSpc>
                <a:spcPts val="700"/>
              </a:lnSpc>
              <a:buNone/>
            </a:pPr>
            <a:r>
              <a:rPr lang="en-US" sz="580" spc="30" kern="0" dirty="0">
                <a:solidFill>
                  <a:srgbClr val="121519"/>
                </a:solidFill>
                <a:latin typeface="Inter SemiBold" pitchFamily="34" charset="0"/>
                <a:ea typeface="Inter SemiBold" pitchFamily="34" charset="-122"/>
                <a:cs typeface="Inter SemiBold" pitchFamily="34" charset="-120"/>
              </a:rPr>
              <a:t>Procurement</a:t>
            </a:r>
            <a:endParaRPr lang="en-US" sz="580" dirty="0"/>
          </a:p>
        </p:txBody>
      </p:sp>
      <p:sp>
        <p:nvSpPr>
          <p:cNvPr id="50" name="Text 48"/>
          <p:cNvSpPr/>
          <p:nvPr/>
        </p:nvSpPr>
        <p:spPr>
          <a:xfrm>
            <a:off x="2744399" y="8126978"/>
            <a:ext cx="518148"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販売・調達</a:t>
            </a:r>
            <a:endParaRPr lang="en-US" sz="670" dirty="0"/>
          </a:p>
        </p:txBody>
      </p:sp>
      <p:sp>
        <p:nvSpPr>
          <p:cNvPr id="51" name="Text 49"/>
          <p:cNvSpPr/>
          <p:nvPr/>
        </p:nvSpPr>
        <p:spPr>
          <a:xfrm>
            <a:off x="3633787" y="7953674"/>
            <a:ext cx="441716" cy="88939"/>
          </a:xfrm>
          <a:prstGeom prst="rect">
            <a:avLst/>
          </a:prstGeom>
          <a:noFill/>
          <a:ln/>
        </p:spPr>
        <p:txBody>
          <a:bodyPr wrap="none" lIns="0" tIns="0" rIns="0" bIns="0" rtlCol="0" anchor="t"/>
          <a:lstStyle/>
          <a:p>
            <a:pPr algn="l" indent="0" marL="0">
              <a:lnSpc>
                <a:spcPts val="700"/>
              </a:lnSpc>
              <a:buNone/>
            </a:pPr>
            <a:r>
              <a:rPr lang="en-US" sz="580" spc="30" kern="0" dirty="0">
                <a:solidFill>
                  <a:srgbClr val="121519"/>
                </a:solidFill>
                <a:latin typeface="Inter SemiBold" pitchFamily="34" charset="0"/>
                <a:ea typeface="Inter SemiBold" pitchFamily="34" charset="-122"/>
                <a:cs typeface="Inter SemiBold" pitchFamily="34" charset="-120"/>
              </a:rPr>
              <a:t>Logistics</a:t>
            </a:r>
            <a:endParaRPr lang="en-US" sz="580" dirty="0"/>
          </a:p>
        </p:txBody>
      </p:sp>
      <p:sp>
        <p:nvSpPr>
          <p:cNvPr id="52" name="Text 50"/>
          <p:cNvSpPr/>
          <p:nvPr/>
        </p:nvSpPr>
        <p:spPr>
          <a:xfrm>
            <a:off x="3633787" y="8038039"/>
            <a:ext cx="237753"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物流</a:t>
            </a:r>
            <a:endParaRPr lang="en-US" sz="670" dirty="0"/>
          </a:p>
        </p:txBody>
      </p:sp>
      <p:sp>
        <p:nvSpPr>
          <p:cNvPr id="53" name="Text 51"/>
          <p:cNvSpPr/>
          <p:nvPr/>
        </p:nvSpPr>
        <p:spPr>
          <a:xfrm>
            <a:off x="4523176" y="7953674"/>
            <a:ext cx="471852" cy="88939"/>
          </a:xfrm>
          <a:prstGeom prst="rect">
            <a:avLst/>
          </a:prstGeom>
          <a:noFill/>
          <a:ln/>
        </p:spPr>
        <p:txBody>
          <a:bodyPr wrap="none" lIns="0" tIns="0" rIns="0" bIns="0" rtlCol="0" anchor="t"/>
          <a:lstStyle/>
          <a:p>
            <a:pPr algn="l" indent="0" marL="0">
              <a:lnSpc>
                <a:spcPts val="700"/>
              </a:lnSpc>
              <a:buNone/>
            </a:pPr>
            <a:r>
              <a:rPr lang="en-US" sz="580" spc="30" kern="0" dirty="0">
                <a:solidFill>
                  <a:srgbClr val="121519"/>
                </a:solidFill>
                <a:latin typeface="Inter SemiBold" pitchFamily="34" charset="0"/>
                <a:ea typeface="Inter SemiBold" pitchFamily="34" charset="-122"/>
                <a:cs typeface="Inter SemiBold" pitchFamily="34" charset="-120"/>
              </a:rPr>
              <a:t>Financing</a:t>
            </a:r>
            <a:endParaRPr lang="en-US" sz="580" dirty="0"/>
          </a:p>
        </p:txBody>
      </p:sp>
      <p:sp>
        <p:nvSpPr>
          <p:cNvPr id="54" name="Text 52"/>
          <p:cNvSpPr/>
          <p:nvPr/>
        </p:nvSpPr>
        <p:spPr>
          <a:xfrm>
            <a:off x="4523176" y="8038039"/>
            <a:ext cx="607901"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ファイナンス</a:t>
            </a:r>
            <a:endParaRPr lang="en-US" sz="670" dirty="0"/>
          </a:p>
        </p:txBody>
      </p:sp>
      <p:sp>
        <p:nvSpPr>
          <p:cNvPr id="55" name="Text 53"/>
          <p:cNvSpPr/>
          <p:nvPr/>
        </p:nvSpPr>
        <p:spPr>
          <a:xfrm>
            <a:off x="5412564" y="7953674"/>
            <a:ext cx="607901" cy="177878"/>
          </a:xfrm>
          <a:prstGeom prst="rect">
            <a:avLst/>
          </a:prstGeom>
          <a:noFill/>
          <a:ln/>
        </p:spPr>
        <p:txBody>
          <a:bodyPr wrap="none" lIns="0" tIns="0" rIns="0" bIns="0" rtlCol="0" anchor="t"/>
          <a:lstStyle/>
          <a:p>
            <a:pPr algn="l" indent="0" marL="0">
              <a:lnSpc>
                <a:spcPts val="700"/>
              </a:lnSpc>
              <a:buNone/>
            </a:pPr>
            <a:r>
              <a:rPr lang="en-US" sz="580" spc="30" kern="0" dirty="0">
                <a:solidFill>
                  <a:srgbClr val="121519"/>
                </a:solidFill>
                <a:latin typeface="Inter SemiBold" pitchFamily="34" charset="0"/>
                <a:ea typeface="Inter SemiBold" pitchFamily="34" charset="-122"/>
                <a:cs typeface="Inter SemiBold" pitchFamily="34" charset="-120"/>
              </a:rPr>
              <a:t>Risk </a:t>
            </a:r>
            <a:endParaRPr lang="en-US" sz="580" dirty="0"/>
          </a:p>
          <a:p>
            <a:pPr algn="l" indent="0" marL="0">
              <a:lnSpc>
                <a:spcPts val="700"/>
              </a:lnSpc>
              <a:buNone/>
            </a:pPr>
            <a:r>
              <a:rPr lang="en-US" sz="580" spc="30" kern="0" dirty="0">
                <a:solidFill>
                  <a:srgbClr val="121519"/>
                </a:solidFill>
                <a:latin typeface="Inter SemiBold" pitchFamily="34" charset="0"/>
                <a:ea typeface="Inter SemiBold" pitchFamily="34" charset="-122"/>
                <a:cs typeface="Inter SemiBold" pitchFamily="34" charset="-120"/>
              </a:rPr>
              <a:t>Management</a:t>
            </a:r>
            <a:endParaRPr lang="en-US" sz="580" dirty="0"/>
          </a:p>
        </p:txBody>
      </p:sp>
      <p:sp>
        <p:nvSpPr>
          <p:cNvPr id="56" name="Text 54"/>
          <p:cNvSpPr/>
          <p:nvPr/>
        </p:nvSpPr>
        <p:spPr>
          <a:xfrm>
            <a:off x="5412564" y="8126978"/>
            <a:ext cx="518148"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リスク管理</a:t>
            </a:r>
            <a:endParaRPr lang="en-US" sz="670" dirty="0"/>
          </a:p>
        </p:txBody>
      </p:sp>
      <p:sp>
        <p:nvSpPr>
          <p:cNvPr id="57" name="Text 55"/>
          <p:cNvSpPr/>
          <p:nvPr/>
        </p:nvSpPr>
        <p:spPr>
          <a:xfrm>
            <a:off x="6301953" y="7953674"/>
            <a:ext cx="484518" cy="177878"/>
          </a:xfrm>
          <a:prstGeom prst="rect">
            <a:avLst/>
          </a:prstGeom>
          <a:noFill/>
          <a:ln/>
        </p:spPr>
        <p:txBody>
          <a:bodyPr wrap="none" lIns="0" tIns="0" rIns="0" bIns="0" rtlCol="0" anchor="t"/>
          <a:lstStyle/>
          <a:p>
            <a:pPr algn="l" indent="0" marL="0">
              <a:lnSpc>
                <a:spcPts val="700"/>
              </a:lnSpc>
              <a:buNone/>
            </a:pPr>
            <a:r>
              <a:rPr lang="en-US" sz="580" spc="30" kern="0" dirty="0">
                <a:solidFill>
                  <a:srgbClr val="121519"/>
                </a:solidFill>
                <a:latin typeface="Inter SemiBold" pitchFamily="34" charset="0"/>
                <a:ea typeface="Inter SemiBold" pitchFamily="34" charset="-122"/>
                <a:cs typeface="Inter SemiBold" pitchFamily="34" charset="-120"/>
              </a:rPr>
              <a:t>Carbon </a:t>
            </a:r>
            <a:endParaRPr lang="en-US" sz="580" dirty="0"/>
          </a:p>
          <a:p>
            <a:pPr algn="l" indent="0" marL="0">
              <a:lnSpc>
                <a:spcPts val="700"/>
              </a:lnSpc>
              <a:buNone/>
            </a:pPr>
            <a:r>
              <a:rPr lang="en-US" sz="580" spc="30" kern="0" dirty="0">
                <a:solidFill>
                  <a:srgbClr val="121519"/>
                </a:solidFill>
                <a:latin typeface="Inter SemiBold" pitchFamily="34" charset="0"/>
                <a:ea typeface="Inter SemiBold" pitchFamily="34" charset="-122"/>
                <a:cs typeface="Inter SemiBold" pitchFamily="34" charset="-120"/>
              </a:rPr>
              <a:t>Reduction</a:t>
            </a:r>
            <a:endParaRPr lang="en-US" sz="580" dirty="0"/>
          </a:p>
        </p:txBody>
      </p:sp>
      <p:sp>
        <p:nvSpPr>
          <p:cNvPr id="58" name="Text 56"/>
          <p:cNvSpPr/>
          <p:nvPr/>
        </p:nvSpPr>
        <p:spPr>
          <a:xfrm>
            <a:off x="6301953" y="8126978"/>
            <a:ext cx="331218"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脱炭素</a:t>
            </a:r>
            <a:endParaRPr lang="en-US" sz="670" dirty="0"/>
          </a:p>
        </p:txBody>
      </p:sp>
      <p:sp>
        <p:nvSpPr>
          <p:cNvPr id="59" name="Text 57"/>
          <p:cNvSpPr/>
          <p:nvPr/>
        </p:nvSpPr>
        <p:spPr>
          <a:xfrm>
            <a:off x="8881179" y="6301953"/>
            <a:ext cx="1311292"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E9D6AC"/>
                </a:solidFill>
                <a:latin typeface="Inter SemiBold" pitchFamily="34" charset="0"/>
                <a:ea typeface="Inter SemiBold" pitchFamily="34" charset="-122"/>
                <a:cs typeface="Inter SemiBold" pitchFamily="34" charset="-120"/>
              </a:rPr>
              <a:t>Our commitment</a:t>
            </a:r>
            <a:endParaRPr lang="en-US" sz="660" dirty="0"/>
          </a:p>
        </p:txBody>
      </p:sp>
      <p:sp>
        <p:nvSpPr>
          <p:cNvPr id="60" name="Text 58"/>
          <p:cNvSpPr/>
          <p:nvPr/>
        </p:nvSpPr>
        <p:spPr>
          <a:xfrm>
            <a:off x="8881179" y="6495585"/>
            <a:ext cx="4299776" cy="673902"/>
          </a:xfrm>
          <a:prstGeom prst="rect">
            <a:avLst/>
          </a:prstGeom>
          <a:noFill/>
          <a:ln/>
        </p:spPr>
        <p:txBody>
          <a:bodyPr wrap="none" lIns="0" tIns="0" rIns="0" bIns="0" rtlCol="0" anchor="t"/>
          <a:lstStyle/>
          <a:p>
            <a:pPr algn="l" indent="0" marL="0">
              <a:lnSpc>
                <a:spcPts val="2652"/>
              </a:lnSpc>
              <a:buNone/>
            </a:pPr>
            <a:r>
              <a:rPr lang="en-US" sz="2600" spc="-65" kern="0" dirty="0">
                <a:solidFill>
                  <a:srgbClr val="FFFFFF"/>
                </a:solidFill>
                <a:latin typeface="Inter Tight SemiBold" pitchFamily="34" charset="0"/>
                <a:ea typeface="Inter Tight SemiBold" pitchFamily="34" charset="-122"/>
                <a:cs typeface="Inter Tight SemiBold" pitchFamily="34" charset="-120"/>
              </a:rPr>
              <a:t>Supporting society</a:t>
            </a:r>
            <a:endParaRPr lang="en-US" sz="2600" dirty="0"/>
          </a:p>
          <a:p>
            <a:pPr algn="l" indent="0" marL="0">
              <a:lnSpc>
                <a:spcPts val="2652"/>
              </a:lnSpc>
              <a:buNone/>
            </a:pPr>
            <a:r>
              <a:rPr lang="en-US" sz="2600" spc="-65" kern="0" dirty="0">
                <a:solidFill>
                  <a:srgbClr val="FFFFFF"/>
                </a:solidFill>
                <a:latin typeface="Inter Tight SemiBold" pitchFamily="34" charset="0"/>
                <a:ea typeface="Inter Tight SemiBold" pitchFamily="34" charset="-122"/>
                <a:cs typeface="Inter Tight SemiBold" pitchFamily="34" charset="-120"/>
              </a:rPr>
              <a:t>with the resources it needs.</a:t>
            </a:r>
            <a:endParaRPr lang="en-US" sz="2600" dirty="0"/>
          </a:p>
        </p:txBody>
      </p:sp>
      <p:sp>
        <p:nvSpPr>
          <p:cNvPr id="61" name="Text 59"/>
          <p:cNvSpPr/>
          <p:nvPr/>
        </p:nvSpPr>
        <p:spPr>
          <a:xfrm>
            <a:off x="8881179" y="7312361"/>
            <a:ext cx="5884972" cy="354485"/>
          </a:xfrm>
          <a:prstGeom prst="rect">
            <a:avLst/>
          </a:prstGeom>
          <a:noFill/>
          <a:ln/>
        </p:spPr>
        <p:txBody>
          <a:bodyPr wrap="none" lIns="0" tIns="0" rIns="0" bIns="0" rtlCol="0" anchor="t"/>
          <a:lstStyle/>
          <a:p>
            <a:pPr algn="l" indent="0" marL="0">
              <a:lnSpc>
                <a:spcPts val="1395"/>
              </a:lnSpc>
              <a:buNone/>
            </a:pPr>
            <a:r>
              <a:rPr lang="en-US" sz="900" spc="30" kern="0" dirty="0">
                <a:solidFill>
                  <a:srgbClr val="FFFFFF"/>
                </a:solidFill>
                <a:latin typeface="Noto Sans JP Medium" pitchFamily="34" charset="0"/>
                <a:ea typeface="Noto Sans JP Medium" pitchFamily="34" charset="-122"/>
                <a:cs typeface="Noto Sans JP Medium" pitchFamily="34" charset="-120"/>
              </a:rPr>
              <a:t>社会が必要とする良質な金属資源を、持続可能な形で安定供給することで、より良い社会の実現に寄</a:t>
            </a:r>
            <a:endParaRPr lang="en-US" sz="900" dirty="0"/>
          </a:p>
          <a:p>
            <a:pPr algn="l" indent="0" marL="0">
              <a:lnSpc>
                <a:spcPts val="1395"/>
              </a:lnSpc>
              <a:buNone/>
            </a:pPr>
            <a:r>
              <a:rPr lang="en-US" sz="900" spc="30" kern="0" dirty="0">
                <a:solidFill>
                  <a:srgbClr val="FFFFFF"/>
                </a:solidFill>
                <a:latin typeface="Noto Sans JP Medium" pitchFamily="34" charset="0"/>
                <a:ea typeface="Noto Sans JP Medium" pitchFamily="34" charset="-122"/>
                <a:cs typeface="Noto Sans JP Medium" pitchFamily="34" charset="-120"/>
              </a:rPr>
              <a:t>与する。</a:t>
            </a:r>
            <a:endParaRPr lang="en-US" sz="900" dirty="0"/>
          </a:p>
        </p:txBody>
      </p:sp>
      <p:sp>
        <p:nvSpPr>
          <p:cNvPr id="62" name="Text 60"/>
          <p:cNvSpPr/>
          <p:nvPr/>
        </p:nvSpPr>
        <p:spPr>
          <a:xfrm>
            <a:off x="8881179" y="7670467"/>
            <a:ext cx="5920786" cy="319672"/>
          </a:xfrm>
          <a:prstGeom prst="rect">
            <a:avLst/>
          </a:prstGeom>
          <a:noFill/>
          <a:ln/>
        </p:spPr>
        <p:txBody>
          <a:bodyPr wrap="none" lIns="0" tIns="0" rIns="0" bIns="0" rtlCol="0" anchor="t"/>
          <a:lstStyle/>
          <a:p>
            <a:pPr algn="l" indent="0" marL="0">
              <a:lnSpc>
                <a:spcPts val="1258"/>
              </a:lnSpc>
              <a:buNone/>
            </a:pPr>
            <a:r>
              <a:rPr lang="en-US" sz="680" spc="20" kern="0" dirty="0">
                <a:solidFill>
                  <a:srgbClr val="C9CED3"/>
                </a:solidFill>
                <a:latin typeface="Noto Sans JP" pitchFamily="34" charset="0"/>
                <a:ea typeface="Noto Sans JP" pitchFamily="34" charset="-122"/>
                <a:cs typeface="Noto Sans JP" pitchFamily="34" charset="-120"/>
              </a:rPr>
              <a:t>需要の拡大、供給制約、地政学リスク——変化する外部環境に対し、①安定的な資源確保による安定供給と、②バリューチェーン全体</a:t>
            </a:r>
            <a:endParaRPr lang="en-US" sz="680" dirty="0"/>
          </a:p>
          <a:p>
            <a:pPr algn="l" indent="0" marL="0">
              <a:lnSpc>
                <a:spcPts val="1258"/>
              </a:lnSpc>
              <a:buNone/>
            </a:pPr>
            <a:r>
              <a:rPr lang="en-US" sz="680" spc="20" kern="0" dirty="0">
                <a:solidFill>
                  <a:srgbClr val="C9CED3"/>
                </a:solidFill>
                <a:latin typeface="Noto Sans JP" pitchFamily="34" charset="0"/>
                <a:ea typeface="Noto Sans JP" pitchFamily="34" charset="-122"/>
                <a:cs typeface="Noto Sans JP" pitchFamily="34" charset="-120"/>
              </a:rPr>
              <a:t>の効率化による効率的な供給の両面で応えていきます。共に、持続可能で豊かな未来を。</a:t>
            </a:r>
            <a:endParaRPr lang="en-US" sz="680" dirty="0"/>
          </a:p>
        </p:txBody>
      </p:sp>
      <p:sp>
        <p:nvSpPr>
          <p:cNvPr id="63" name="Text 61"/>
          <p:cNvSpPr/>
          <p:nvPr/>
        </p:nvSpPr>
        <p:spPr>
          <a:xfrm>
            <a:off x="8881179" y="8309429"/>
            <a:ext cx="2381774"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FFFFFF"/>
                </a:solidFill>
                <a:latin typeface="Noto Sans JP Medium" pitchFamily="34" charset="0"/>
                <a:ea typeface="Noto Sans JP Medium" pitchFamily="34" charset="-122"/>
                <a:cs typeface="Noto Sans JP Medium" pitchFamily="34" charset="-120"/>
              </a:rPr>
              <a:t>Mitsubishi Corporation　Mineral Resources Group</a:t>
            </a:r>
            <a:endParaRPr lang="en-US" sz="640" dirty="0"/>
          </a:p>
        </p:txBody>
      </p:sp>
      <p:sp>
        <p:nvSpPr>
          <p:cNvPr id="64" name="Text 62"/>
          <p:cNvSpPr/>
          <p:nvPr/>
        </p:nvSpPr>
        <p:spPr>
          <a:xfrm>
            <a:off x="8881179" y="8444616"/>
            <a:ext cx="3840312" cy="136203"/>
          </a:xfrm>
          <a:prstGeom prst="rect">
            <a:avLst/>
          </a:prstGeom>
          <a:noFill/>
          <a:ln/>
        </p:spPr>
        <p:txBody>
          <a:bodyPr wrap="none" lIns="0" tIns="0" rIns="0" bIns="0" rtlCol="0" anchor="t"/>
          <a:lstStyle/>
          <a:p>
            <a:pPr algn="l" indent="0" marL="0">
              <a:lnSpc>
                <a:spcPts val="1072"/>
              </a:lnSpc>
              <a:buNone/>
            </a:pPr>
            <a:r>
              <a:rPr lang="en-US" sz="670" dirty="0">
                <a:solidFill>
                  <a:srgbClr val="9AA1A8"/>
                </a:solidFill>
                <a:latin typeface="Noto Sans JP" pitchFamily="34" charset="0"/>
                <a:ea typeface="Noto Sans JP" pitchFamily="34" charset="-122"/>
                <a:cs typeface="Noto Sans JP" pitchFamily="34" charset="-120"/>
              </a:rPr>
              <a:t>2-3-1 Marunouchi, Chiyoda-ku, Tokyo 100-8086, Japan　|　www.mitsubishicorp.com</a:t>
            </a:r>
            <a:endParaRPr lang="en-US" sz="670" dirty="0"/>
          </a:p>
        </p:txBody>
      </p:sp>
      <p:sp>
        <p:nvSpPr>
          <p:cNvPr id="65" name="Text 63"/>
          <p:cNvSpPr/>
          <p:nvPr/>
        </p:nvSpPr>
        <p:spPr>
          <a:xfrm>
            <a:off x="127055" y="10011973"/>
            <a:ext cx="759673"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Inter Medium" pitchFamily="34" charset="0"/>
                <a:ea typeface="Inter Medium" pitchFamily="34" charset="-122"/>
                <a:cs typeface="Inter Medium" pitchFamily="34" charset="-120"/>
              </a:rPr>
              <a:t>Port &amp; rail</a:t>
            </a:r>
            <a:endParaRPr lang="en-US" sz="580" dirty="0"/>
          </a:p>
        </p:txBody>
      </p:sp>
      <p:sp>
        <p:nvSpPr>
          <p:cNvPr id="66" name="Text 64"/>
          <p:cNvSpPr/>
          <p:nvPr/>
        </p:nvSpPr>
        <p:spPr>
          <a:xfrm>
            <a:off x="5171159" y="10011973"/>
            <a:ext cx="1288144"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Inter Medium" pitchFamily="34" charset="0"/>
                <a:ea typeface="Inter Medium" pitchFamily="34" charset="-122"/>
                <a:cs typeface="Inter Medium" pitchFamily="34" charset="-120"/>
              </a:rPr>
              <a:t>Seaborne logistics</a:t>
            </a:r>
            <a:endParaRPr lang="en-US" sz="580" dirty="0"/>
          </a:p>
        </p:txBody>
      </p:sp>
      <p:sp>
        <p:nvSpPr>
          <p:cNvPr id="67" name="Text 65"/>
          <p:cNvSpPr/>
          <p:nvPr/>
        </p:nvSpPr>
        <p:spPr>
          <a:xfrm>
            <a:off x="10253379" y="10011973"/>
            <a:ext cx="763167"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Inter Medium" pitchFamily="34" charset="0"/>
                <a:ea typeface="Inter Medium" pitchFamily="34" charset="-122"/>
                <a:cs typeface="Inter Medium" pitchFamily="34" charset="-120"/>
              </a:rPr>
              <a:t>Operations</a:t>
            </a:r>
            <a:endParaRPr lang="en-US" sz="580" dirty="0"/>
          </a:p>
        </p:txBody>
      </p:sp>
      <p:sp>
        <p:nvSpPr>
          <p:cNvPr id="68" name="Text 66"/>
          <p:cNvSpPr/>
          <p:nvPr/>
        </p:nvSpPr>
        <p:spPr>
          <a:xfrm>
            <a:off x="508222" y="10316906"/>
            <a:ext cx="184687"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10</a:t>
            </a:r>
            <a:endParaRPr lang="en-US" sz="600" dirty="0"/>
          </a:p>
        </p:txBody>
      </p:sp>
      <p:sp>
        <p:nvSpPr>
          <p:cNvPr id="69" name="Text 67"/>
          <p:cNvSpPr/>
          <p:nvPr/>
        </p:nvSpPr>
        <p:spPr>
          <a:xfrm>
            <a:off x="14458915" y="10316906"/>
            <a:ext cx="165252"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11</a:t>
            </a:r>
            <a:endParaRPr lang="en-US" sz="600" dirty="0"/>
          </a:p>
        </p:txBody>
      </p:sp>
      <p:sp>
        <p:nvSpPr>
          <p:cNvPr id="70" name="Text 68"/>
          <p:cNvSpPr/>
          <p:nvPr/>
        </p:nvSpPr>
        <p:spPr>
          <a:xfrm>
            <a:off x="876683" y="10328977"/>
            <a:ext cx="6511932" cy="205830"/>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台割メモ｜動画08 Integrated Value Chain。【強調】見開き全幅の表で、鉄鋼・非鉄の2段×川上→川下を整理。投資（ブロンズ）とトレーディング（ネイビー）の帯で両輪を明示。左下は投資</a:t>
            </a:r>
            <a:endParaRPr lang="en-US" sz="540" dirty="0"/>
          </a:p>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⇄販売の好循環。</a:t>
            </a:r>
            <a:endParaRPr lang="en-US" sz="540" dirty="0"/>
          </a:p>
        </p:txBody>
      </p:sp>
      <p:sp>
        <p:nvSpPr>
          <p:cNvPr id="71" name="Text 69"/>
          <p:cNvSpPr/>
          <p:nvPr/>
        </p:nvSpPr>
        <p:spPr>
          <a:xfrm>
            <a:off x="8169668" y="10328977"/>
            <a:ext cx="4667304" cy="102915"/>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台割メモ｜動画09 Closing。右下の濃色パネルで約束（ミッション）と外部環境への答え（安定供給・効率的な供給）、連絡先で締める。</a:t>
            </a:r>
            <a:endParaRPr lang="en-US" sz="5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2026-10-07T12:06:26Z</dcterms:created>
  <dcterms:modified xsi:type="dcterms:W3CDTF">2026-10-07T12:06:26Z</dcterms:modified>
</cp:coreProperties>
</file>