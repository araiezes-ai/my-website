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42599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Cities</a:t>
            </a:r>
            <a:endParaRPr lang="en-US" sz="580" dirty="0"/>
          </a:p>
        </p:txBody>
      </p:sp>
      <p:sp>
        <p:nvSpPr>
          <p:cNvPr id="3" name="Text 1"/>
          <p:cNvSpPr/>
          <p:nvPr/>
        </p:nvSpPr>
        <p:spPr>
          <a:xfrm>
            <a:off x="127055" y="3036626"/>
            <a:ext cx="1356278"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Aluminium</a:t>
            </a:r>
            <a:endParaRPr lang="en-US" sz="580" dirty="0"/>
          </a:p>
        </p:txBody>
      </p:sp>
      <p:sp>
        <p:nvSpPr>
          <p:cNvPr id="4" name="Text 2"/>
          <p:cNvSpPr/>
          <p:nvPr/>
        </p:nvSpPr>
        <p:spPr>
          <a:xfrm>
            <a:off x="4370709" y="1308672"/>
            <a:ext cx="59720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Mobility</a:t>
            </a:r>
            <a:endParaRPr lang="en-US" sz="580" dirty="0"/>
          </a:p>
        </p:txBody>
      </p:sp>
      <p:sp>
        <p:nvSpPr>
          <p:cNvPr id="5" name="Text 3"/>
          <p:cNvSpPr/>
          <p:nvPr/>
        </p:nvSpPr>
        <p:spPr>
          <a:xfrm>
            <a:off x="4370709" y="1423022"/>
            <a:ext cx="121193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Lithium</a:t>
            </a:r>
            <a:endParaRPr lang="en-US" sz="580" dirty="0"/>
          </a:p>
        </p:txBody>
      </p:sp>
      <p:sp>
        <p:nvSpPr>
          <p:cNvPr id="6" name="Text 4"/>
          <p:cNvSpPr/>
          <p:nvPr/>
        </p:nvSpPr>
        <p:spPr>
          <a:xfrm>
            <a:off x="5400692" y="2326021"/>
            <a:ext cx="1002071" cy="126039"/>
          </a:xfrm>
          <a:prstGeom prst="rect">
            <a:avLst/>
          </a:prstGeom>
          <a:noFill/>
          <a:ln/>
        </p:spPr>
        <p:txBody>
          <a:bodyPr wrap="none" lIns="0" tIns="0" rIns="0" bIns="0" rtlCol="0" anchor="t"/>
          <a:lstStyle/>
          <a:p>
            <a:pPr algn="ctr" indent="0" marL="0">
              <a:lnSpc>
                <a:spcPts val="992"/>
              </a:lnSpc>
              <a:buNone/>
            </a:pPr>
            <a:r>
              <a:rPr lang="en-US" sz="620" dirty="0">
                <a:solidFill>
                  <a:srgbClr val="8A96A3"/>
                </a:solidFill>
                <a:latin typeface="Noto Sans JP" pitchFamily="34" charset="0"/>
                <a:ea typeface="Noto Sans JP" pitchFamily="34" charset="-122"/>
                <a:cs typeface="Noto Sans JP" pitchFamily="34" charset="-120"/>
              </a:rPr>
              <a:t>鉄道の写真（ストック）</a:t>
            </a:r>
            <a:endParaRPr lang="en-US" sz="620" dirty="0"/>
          </a:p>
        </p:txBody>
      </p:sp>
      <p:sp>
        <p:nvSpPr>
          <p:cNvPr id="7" name="Text 5"/>
          <p:cNvSpPr/>
          <p:nvPr/>
        </p:nvSpPr>
        <p:spPr>
          <a:xfrm>
            <a:off x="4370709" y="2922276"/>
            <a:ext cx="6205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Railways</a:t>
            </a:r>
            <a:endParaRPr lang="en-US" sz="580" dirty="0"/>
          </a:p>
        </p:txBody>
      </p:sp>
      <p:sp>
        <p:nvSpPr>
          <p:cNvPr id="8" name="Text 6"/>
          <p:cNvSpPr/>
          <p:nvPr/>
        </p:nvSpPr>
        <p:spPr>
          <a:xfrm>
            <a:off x="4370709" y="3036626"/>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Steel · Copper</a:t>
            </a:r>
            <a:endParaRPr lang="en-US" sz="580" dirty="0"/>
          </a:p>
        </p:txBody>
      </p:sp>
      <p:sp>
        <p:nvSpPr>
          <p:cNvPr id="9" name="Text 7"/>
          <p:cNvSpPr/>
          <p:nvPr/>
        </p:nvSpPr>
        <p:spPr>
          <a:xfrm>
            <a:off x="127055" y="4828109"/>
            <a:ext cx="79199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Renewables</a:t>
            </a:r>
            <a:endParaRPr lang="en-US" sz="580" dirty="0"/>
          </a:p>
        </p:txBody>
      </p:sp>
      <p:sp>
        <p:nvSpPr>
          <p:cNvPr id="10" name="Text 8"/>
          <p:cNvSpPr/>
          <p:nvPr/>
        </p:nvSpPr>
        <p:spPr>
          <a:xfrm>
            <a:off x="127055" y="4942459"/>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Steel</a:t>
            </a:r>
            <a:endParaRPr lang="en-US" sz="580" dirty="0"/>
          </a:p>
        </p:txBody>
      </p:sp>
      <p:sp>
        <p:nvSpPr>
          <p:cNvPr id="11" name="Text 9"/>
          <p:cNvSpPr/>
          <p:nvPr/>
        </p:nvSpPr>
        <p:spPr>
          <a:xfrm>
            <a:off x="2248882" y="4828109"/>
            <a:ext cx="82977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Power grids</a:t>
            </a:r>
            <a:endParaRPr lang="en-US" sz="580" dirty="0"/>
          </a:p>
        </p:txBody>
      </p:sp>
      <p:sp>
        <p:nvSpPr>
          <p:cNvPr id="12" name="Text 10"/>
          <p:cNvSpPr/>
          <p:nvPr/>
        </p:nvSpPr>
        <p:spPr>
          <a:xfrm>
            <a:off x="2248882" y="4942459"/>
            <a:ext cx="100622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Aluminium</a:t>
            </a:r>
            <a:endParaRPr lang="en-US" sz="580" dirty="0"/>
          </a:p>
        </p:txBody>
      </p:sp>
      <p:sp>
        <p:nvSpPr>
          <p:cNvPr id="13" name="Text 11"/>
          <p:cNvSpPr/>
          <p:nvPr/>
        </p:nvSpPr>
        <p:spPr>
          <a:xfrm>
            <a:off x="4839693" y="4085739"/>
            <a:ext cx="2123872" cy="126039"/>
          </a:xfrm>
          <a:prstGeom prst="rect">
            <a:avLst/>
          </a:prstGeom>
          <a:noFill/>
          <a:ln/>
        </p:spPr>
        <p:txBody>
          <a:bodyPr wrap="none" lIns="0" tIns="0" rIns="0" bIns="0" rtlCol="0" anchor="t"/>
          <a:lstStyle/>
          <a:p>
            <a:pPr algn="ctr" indent="0" marL="0">
              <a:lnSpc>
                <a:spcPts val="992"/>
              </a:lnSpc>
              <a:buNone/>
            </a:pPr>
            <a:r>
              <a:rPr lang="en-US" sz="62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20" dirty="0"/>
          </a:p>
        </p:txBody>
      </p:sp>
      <p:sp>
        <p:nvSpPr>
          <p:cNvPr id="14" name="Text 12"/>
          <p:cNvSpPr/>
          <p:nvPr/>
        </p:nvSpPr>
        <p:spPr>
          <a:xfrm>
            <a:off x="4370709" y="4828109"/>
            <a:ext cx="53540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Devices</a:t>
            </a:r>
            <a:endParaRPr lang="en-US" sz="580" dirty="0"/>
          </a:p>
        </p:txBody>
      </p:sp>
      <p:sp>
        <p:nvSpPr>
          <p:cNvPr id="15" name="Text 13"/>
          <p:cNvSpPr/>
          <p:nvPr/>
        </p:nvSpPr>
        <p:spPr>
          <a:xfrm>
            <a:off x="4370709" y="4942459"/>
            <a:ext cx="126783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Copper · Lithium · Nickel</a:t>
            </a:r>
            <a:endParaRPr lang="en-US" sz="580" dirty="0"/>
          </a:p>
        </p:txBody>
      </p:sp>
      <p:sp>
        <p:nvSpPr>
          <p:cNvPr id="16" name="Text 14"/>
          <p:cNvSpPr/>
          <p:nvPr/>
        </p:nvSpPr>
        <p:spPr>
          <a:xfrm>
            <a:off x="7737680" y="3100154"/>
            <a:ext cx="49259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Metals</a:t>
            </a:r>
            <a:endParaRPr lang="en-US" sz="580" dirty="0"/>
          </a:p>
        </p:txBody>
      </p:sp>
      <p:sp>
        <p:nvSpPr>
          <p:cNvPr id="17" name="Text 15"/>
          <p:cNvSpPr/>
          <p:nvPr/>
        </p:nvSpPr>
        <p:spPr>
          <a:xfrm>
            <a:off x="7737680" y="3214504"/>
            <a:ext cx="1667464"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The materials behind modern life</a:t>
            </a:r>
            <a:endParaRPr lang="en-US" sz="580" dirty="0"/>
          </a:p>
        </p:txBody>
      </p:sp>
      <p:sp>
        <p:nvSpPr>
          <p:cNvPr id="18" name="Text 16"/>
          <p:cNvSpPr/>
          <p:nvPr/>
        </p:nvSpPr>
        <p:spPr>
          <a:xfrm>
            <a:off x="11981333" y="3100154"/>
            <a:ext cx="13053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Smelting &amp; refining</a:t>
            </a:r>
            <a:endParaRPr lang="en-US" sz="580" dirty="0"/>
          </a:p>
        </p:txBody>
      </p:sp>
      <p:sp>
        <p:nvSpPr>
          <p:cNvPr id="19" name="Text 17"/>
          <p:cNvSpPr/>
          <p:nvPr/>
        </p:nvSpPr>
        <p:spPr>
          <a:xfrm>
            <a:off x="7737680" y="4828109"/>
            <a:ext cx="105317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trade</a:t>
            </a:r>
            <a:endParaRPr lang="en-US" sz="580" dirty="0"/>
          </a:p>
        </p:txBody>
      </p:sp>
      <p:sp>
        <p:nvSpPr>
          <p:cNvPr id="20" name="Text 18"/>
          <p:cNvSpPr/>
          <p:nvPr/>
        </p:nvSpPr>
        <p:spPr>
          <a:xfrm>
            <a:off x="11053828" y="4828109"/>
            <a:ext cx="113593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cathodes</a:t>
            </a:r>
            <a:endParaRPr lang="en-US" sz="580" dirty="0"/>
          </a:p>
        </p:txBody>
      </p:sp>
      <p:sp>
        <p:nvSpPr>
          <p:cNvPr id="21" name="Text 19"/>
          <p:cNvSpPr/>
          <p:nvPr/>
        </p:nvSpPr>
        <p:spPr>
          <a:xfrm>
            <a:off x="508222" y="5565031"/>
            <a:ext cx="10863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INTRODUCTION</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7880"/>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私たちの豊かな暮らしは、鉄や銅をはじめとする金属に支えられていま</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す。人口の増加と新興国の発展、そして社会の電化によって、金属の需要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はこれからも拡大を続けます。一方で、良質な資源の開発は年々難しくな</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り、地政学的なリスクも常態化しつつあります。</a:t>
            </a:r>
            <a:endParaRPr lang="en-US" sz="730" dirty="0"/>
          </a:p>
        </p:txBody>
      </p:sp>
      <p:sp>
        <p:nvSpPr>
          <p:cNvPr id="26" name="Text 24"/>
          <p:cNvSpPr/>
          <p:nvPr/>
        </p:nvSpPr>
        <p:spPr>
          <a:xfrm>
            <a:off x="4319887" y="7877441"/>
            <a:ext cx="141829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Inter SemiBold" pitchFamily="34" charset="0"/>
                <a:ea typeface="Inter SemiBold" pitchFamily="34" charset="-122"/>
                <a:cs typeface="Inter SemiBold" pitchFamily="34" charset="-120"/>
              </a:rPr>
              <a:t>DEMAND vs SUPPLY</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43210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Demand</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37249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Supply</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32357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GAP</a:t>
            </a:r>
            <a:endParaRPr lang="en-US" sz="660" dirty="0"/>
          </a:p>
        </p:txBody>
      </p:sp>
      <p:sp>
        <p:nvSpPr>
          <p:cNvPr id="33" name="Text 31"/>
          <p:cNvSpPr/>
          <p:nvPr/>
        </p:nvSpPr>
        <p:spPr>
          <a:xfrm>
            <a:off x="4396120" y="9372630"/>
            <a:ext cx="264395"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Today</a:t>
            </a:r>
            <a:endParaRPr lang="en-US" sz="540" dirty="0"/>
          </a:p>
        </p:txBody>
      </p:sp>
      <p:sp>
        <p:nvSpPr>
          <p:cNvPr id="34" name="Text 32"/>
          <p:cNvSpPr/>
          <p:nvPr/>
        </p:nvSpPr>
        <p:spPr>
          <a:xfrm>
            <a:off x="6543358" y="9372630"/>
            <a:ext cx="28077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Future</a:t>
            </a:r>
            <a:endParaRPr lang="en-US" sz="540" dirty="0"/>
          </a:p>
        </p:txBody>
      </p:sp>
      <p:sp>
        <p:nvSpPr>
          <p:cNvPr id="35" name="Text 33"/>
          <p:cNvSpPr/>
          <p:nvPr/>
        </p:nvSpPr>
        <p:spPr>
          <a:xfrm>
            <a:off x="8068024" y="5565031"/>
            <a:ext cx="10953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CORE MESSAGE</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6713"/>
            <a:ext cx="4243654"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資源は、そこに「ある」だけでは、まだ価値ではありません。誰かが見出し、育て、必要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とする場所へ届けて、はじめて力になる。私たちは、世界有数の資産に関わり、投資とト</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レーディングの両輪で川上から川下までをつなぎます。フェアな立場だからこそ、埋めら</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れる隙間がある。多様なパートナーと使い手の間に立ち、その時々の最適解を導く。世界</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に眠る価値を、社会の力へ。</a:t>
            </a:r>
            <a:endParaRPr lang="en-US" sz="730" dirty="0"/>
          </a:p>
        </p:txBody>
      </p:sp>
      <p:sp>
        <p:nvSpPr>
          <p:cNvPr id="40" name="Text 38"/>
          <p:cNvSpPr/>
          <p:nvPr/>
        </p:nvSpPr>
        <p:spPr>
          <a:xfrm>
            <a:off x="12260855" y="7496274"/>
            <a:ext cx="7791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CONTENTS</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2384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Who We Are</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70071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Our Strengths</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72189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Coal &amp; Copper</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94529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Resources to Value</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6437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Partnerships</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60506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Value Chain</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11665" y="101644"/>
            <a:ext cx="2821585"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23000" dirty="0"/>
          </a:p>
        </p:txBody>
      </p:sp>
      <p:sp>
        <p:nvSpPr>
          <p:cNvPr id="3" name="Text 1"/>
          <p:cNvSpPr/>
          <p:nvPr/>
        </p:nvSpPr>
        <p:spPr>
          <a:xfrm>
            <a:off x="11434995" y="101644"/>
            <a:ext cx="3529344"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23000" dirty="0"/>
          </a:p>
        </p:txBody>
      </p:sp>
      <p:sp>
        <p:nvSpPr>
          <p:cNvPr id="4" name="Text 2"/>
          <p:cNvSpPr/>
          <p:nvPr/>
        </p:nvSpPr>
        <p:spPr>
          <a:xfrm>
            <a:off x="508222" y="508222"/>
            <a:ext cx="123748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01 · Who we are</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6328"/>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三菱商事は、三綱領（所期奉公・処事光明・立業貿易）を企業理念に、経</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済価値・環境価値・社会価値の同時実現を目指す総合商社です。そのなか</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で金属資源グループは、社会に不可欠な金属資源を世界から確保し、安定</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的に届ける役割を担っています。原料炭と銅は、全社としてコミットする</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中核事業です。</a:t>
            </a:r>
            <a:endParaRPr lang="en-US" sz="730" dirty="0"/>
          </a:p>
        </p:txBody>
      </p:sp>
      <p:sp>
        <p:nvSpPr>
          <p:cNvPr id="9" name="Text 7"/>
          <p:cNvSpPr/>
          <p:nvPr/>
        </p:nvSpPr>
        <p:spPr>
          <a:xfrm>
            <a:off x="4116598" y="1396022"/>
            <a:ext cx="114336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GROUP MISSION</a:t>
            </a:r>
            <a:endParaRPr lang="en-US" sz="660" dirty="0"/>
          </a:p>
        </p:txBody>
      </p:sp>
      <p:sp>
        <p:nvSpPr>
          <p:cNvPr id="10" name="Text 8"/>
          <p:cNvSpPr/>
          <p:nvPr/>
        </p:nvSpPr>
        <p:spPr>
          <a:xfrm>
            <a:off x="4116598" y="1592704"/>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4116598" y="2330388"/>
            <a:ext cx="287727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Inter" pitchFamily="34" charset="0"/>
                <a:ea typeface="Inter" pitchFamily="34" charset="-122"/>
                <a:cs typeface="Inter" pitchFamily="34" charset="-120"/>
              </a:rPr>
              <a:t>To contribute to a better society by providing a stable supply of high-</a:t>
            </a:r>
            <a:endParaRPr lang="en-US" sz="620" dirty="0"/>
          </a:p>
          <a:p>
            <a:pPr algn="l" indent="0" marL="0">
              <a:lnSpc>
                <a:spcPts val="992"/>
              </a:lnSpc>
              <a:buNone/>
            </a:pPr>
            <a:r>
              <a:rPr lang="en-US" sz="620" dirty="0">
                <a:solidFill>
                  <a:srgbClr val="7D838A"/>
                </a:solidFill>
                <a:latin typeface="Inter" pitchFamily="34" charset="0"/>
                <a:ea typeface="Inter" pitchFamily="34" charset="-122"/>
                <a:cs typeface="Inter" pitchFamily="34" charset="-120"/>
              </a:rPr>
              <a:t>quality mineral resources in a sustainable way.</a:t>
            </a:r>
            <a:endParaRPr lang="en-US" sz="620" dirty="0"/>
          </a:p>
        </p:txBody>
      </p:sp>
      <p:sp>
        <p:nvSpPr>
          <p:cNvPr id="12" name="Text 10"/>
          <p:cNvSpPr/>
          <p:nvPr/>
        </p:nvSpPr>
        <p:spPr>
          <a:xfrm>
            <a:off x="508222" y="3352677"/>
            <a:ext cx="10756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ORGANIZATION</a:t>
            </a:r>
            <a:endParaRPr lang="en-US" sz="660" dirty="0"/>
          </a:p>
        </p:txBody>
      </p:sp>
      <p:sp>
        <p:nvSpPr>
          <p:cNvPr id="13" name="Text 11"/>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4" name="Text 12"/>
          <p:cNvSpPr/>
          <p:nvPr/>
        </p:nvSpPr>
        <p:spPr>
          <a:xfrm>
            <a:off x="3466789" y="3721138"/>
            <a:ext cx="562697"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Group CEO</a:t>
            </a:r>
            <a:endParaRPr lang="en-US" sz="640" dirty="0"/>
          </a:p>
        </p:txBody>
      </p:sp>
      <p:sp>
        <p:nvSpPr>
          <p:cNvPr id="15" name="Text 13"/>
          <p:cNvSpPr/>
          <p:nvPr/>
        </p:nvSpPr>
        <p:spPr>
          <a:xfrm>
            <a:off x="622572"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16" name="Text 14"/>
          <p:cNvSpPr/>
          <p:nvPr/>
        </p:nvSpPr>
        <p:spPr>
          <a:xfrm>
            <a:off x="622572" y="4381826"/>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7" name="Text 15"/>
          <p:cNvSpPr/>
          <p:nvPr/>
        </p:nvSpPr>
        <p:spPr>
          <a:xfrm>
            <a:off x="622572" y="4534293"/>
            <a:ext cx="108025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Steelmaking Raw Materials</a:t>
            </a:r>
            <a:endParaRPr lang="en-US" sz="580" dirty="0"/>
          </a:p>
        </p:txBody>
      </p:sp>
      <p:sp>
        <p:nvSpPr>
          <p:cNvPr id="18" name="Text 16"/>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9" name="Text 17"/>
          <p:cNvSpPr/>
          <p:nvPr/>
        </p:nvSpPr>
        <p:spPr>
          <a:xfrm>
            <a:off x="508222" y="5023965"/>
            <a:ext cx="840690"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主要関係会社：MDP</a:t>
            </a:r>
            <a:endParaRPr lang="en-US" sz="620" dirty="0"/>
          </a:p>
        </p:txBody>
      </p:sp>
      <p:sp>
        <p:nvSpPr>
          <p:cNvPr id="20" name="Text 18"/>
          <p:cNvSpPr/>
          <p:nvPr/>
        </p:nvSpPr>
        <p:spPr>
          <a:xfrm>
            <a:off x="2807926"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21" name="Text 19"/>
          <p:cNvSpPr/>
          <p:nvPr/>
        </p:nvSpPr>
        <p:spPr>
          <a:xfrm>
            <a:off x="2807926" y="4381826"/>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2" name="Text 20"/>
          <p:cNvSpPr/>
          <p:nvPr/>
        </p:nvSpPr>
        <p:spPr>
          <a:xfrm>
            <a:off x="2807926" y="4534293"/>
            <a:ext cx="668391"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Critical Minerals</a:t>
            </a:r>
            <a:endParaRPr lang="en-US" sz="580" dirty="0"/>
          </a:p>
        </p:txBody>
      </p:sp>
      <p:sp>
        <p:nvSpPr>
          <p:cNvPr id="23" name="Text 21"/>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4" name="Text 22"/>
          <p:cNvSpPr/>
          <p:nvPr/>
        </p:nvSpPr>
        <p:spPr>
          <a:xfrm>
            <a:off x="2693577" y="5023965"/>
            <a:ext cx="109968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主要関係会社：MCI · MCIP</a:t>
            </a:r>
            <a:endParaRPr lang="en-US" sz="620" dirty="0"/>
          </a:p>
        </p:txBody>
      </p:sp>
      <p:sp>
        <p:nvSpPr>
          <p:cNvPr id="25" name="Text 23"/>
          <p:cNvSpPr/>
          <p:nvPr/>
        </p:nvSpPr>
        <p:spPr>
          <a:xfrm>
            <a:off x="4993281" y="4280182"/>
            <a:ext cx="517711"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Trading</a:t>
            </a:r>
            <a:endParaRPr lang="en-US" sz="560" dirty="0"/>
          </a:p>
        </p:txBody>
      </p:sp>
      <p:sp>
        <p:nvSpPr>
          <p:cNvPr id="26" name="Text 24"/>
          <p:cNvSpPr/>
          <p:nvPr/>
        </p:nvSpPr>
        <p:spPr>
          <a:xfrm>
            <a:off x="4993281" y="4381826"/>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7" name="Text 25"/>
          <p:cNvSpPr/>
          <p:nvPr/>
        </p:nvSpPr>
        <p:spPr>
          <a:xfrm>
            <a:off x="4993281" y="4534293"/>
            <a:ext cx="107348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Mineral Resources Trading</a:t>
            </a:r>
            <a:endParaRPr lang="en-US" sz="580" dirty="0"/>
          </a:p>
        </p:txBody>
      </p:sp>
      <p:sp>
        <p:nvSpPr>
          <p:cNvPr id="28" name="Text 26"/>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9" name="Text 27"/>
          <p:cNvSpPr/>
          <p:nvPr/>
        </p:nvSpPr>
        <p:spPr>
          <a:xfrm>
            <a:off x="4878931" y="5023965"/>
            <a:ext cx="146546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主要関係会社：RtM · Triland Metals</a:t>
            </a:r>
            <a:endParaRPr lang="en-US" sz="620" dirty="0"/>
          </a:p>
        </p:txBody>
      </p:sp>
      <p:sp>
        <p:nvSpPr>
          <p:cNvPr id="30" name="Text 28"/>
          <p:cNvSpPr/>
          <p:nvPr/>
        </p:nvSpPr>
        <p:spPr>
          <a:xfrm>
            <a:off x="508222" y="5461798"/>
            <a:ext cx="218960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THREE CORPORATE PRINCIPLES</a:t>
            </a:r>
            <a:endParaRPr lang="en-US" sz="660" dirty="0"/>
          </a:p>
        </p:txBody>
      </p:sp>
      <p:sp>
        <p:nvSpPr>
          <p:cNvPr id="31" name="Text 29"/>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32" name="Text 30"/>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33" name="Text 31"/>
          <p:cNvSpPr/>
          <p:nvPr/>
        </p:nvSpPr>
        <p:spPr>
          <a:xfrm>
            <a:off x="508222" y="5970020"/>
            <a:ext cx="170262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Corporate Responsibility to Society</a:t>
            </a:r>
            <a:endParaRPr lang="en-US" sz="640" dirty="0"/>
          </a:p>
        </p:txBody>
      </p:sp>
      <p:sp>
        <p:nvSpPr>
          <p:cNvPr id="34" name="Text 32"/>
          <p:cNvSpPr/>
          <p:nvPr/>
        </p:nvSpPr>
        <p:spPr>
          <a:xfrm>
            <a:off x="508222" y="6116642"/>
            <a:ext cx="203979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20" dirty="0"/>
          </a:p>
        </p:txBody>
      </p:sp>
      <p:sp>
        <p:nvSpPr>
          <p:cNvPr id="35" name="Text 33"/>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6" name="Text 34"/>
          <p:cNvSpPr/>
          <p:nvPr/>
        </p:nvSpPr>
        <p:spPr>
          <a:xfrm>
            <a:off x="2693577" y="5970020"/>
            <a:ext cx="106911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Integrity and Fairness</a:t>
            </a:r>
            <a:endParaRPr lang="en-US" sz="640" dirty="0"/>
          </a:p>
        </p:txBody>
      </p:sp>
      <p:sp>
        <p:nvSpPr>
          <p:cNvPr id="37" name="Text 35"/>
          <p:cNvSpPr/>
          <p:nvPr/>
        </p:nvSpPr>
        <p:spPr>
          <a:xfrm>
            <a:off x="2693577" y="6116642"/>
            <a:ext cx="151853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20" dirty="0"/>
          </a:p>
        </p:txBody>
      </p:sp>
      <p:sp>
        <p:nvSpPr>
          <p:cNvPr id="38" name="Text 36"/>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9" name="Text 37"/>
          <p:cNvSpPr/>
          <p:nvPr/>
        </p:nvSpPr>
        <p:spPr>
          <a:xfrm>
            <a:off x="4878931" y="5970020"/>
            <a:ext cx="19013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Global Understanding through Business</a:t>
            </a:r>
            <a:endParaRPr lang="en-US" sz="640" dirty="0"/>
          </a:p>
        </p:txBody>
      </p:sp>
      <p:sp>
        <p:nvSpPr>
          <p:cNvPr id="40" name="Text 38"/>
          <p:cNvSpPr/>
          <p:nvPr/>
        </p:nvSpPr>
        <p:spPr>
          <a:xfrm>
            <a:off x="4878931" y="6116642"/>
            <a:ext cx="195331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20" dirty="0"/>
          </a:p>
        </p:txBody>
      </p:sp>
      <p:sp>
        <p:nvSpPr>
          <p:cNvPr id="41" name="Text 39"/>
          <p:cNvSpPr/>
          <p:nvPr/>
        </p:nvSpPr>
        <p:spPr>
          <a:xfrm>
            <a:off x="8068024" y="508222"/>
            <a:ext cx="15067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02 · Our strengths</a:t>
            </a:r>
            <a:endParaRPr lang="en-US" sz="660" dirty="0"/>
          </a:p>
        </p:txBody>
      </p:sp>
      <p:sp>
        <p:nvSpPr>
          <p:cNvPr id="42" name="Text 40"/>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43" name="Text 41"/>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4" name="Text 42"/>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5" name="Text 43"/>
          <p:cNvSpPr/>
          <p:nvPr/>
        </p:nvSpPr>
        <p:spPr>
          <a:xfrm>
            <a:off x="8068024" y="2566489"/>
            <a:ext cx="3544848" cy="514765"/>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資源事業は規模の経済が働くビジネスです。私たちは、規模で世界上位に</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入る優良鉱山に早くから参画し、現在では資金があっても手に入らない資</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産のポートフォリオを築いてきました。その中核が、原料炭と銅です。</a:t>
            </a:r>
            <a:endParaRPr lang="en-US" sz="730" dirty="0"/>
          </a:p>
        </p:txBody>
      </p:sp>
      <p:sp>
        <p:nvSpPr>
          <p:cNvPr id="46" name="Text 44"/>
          <p:cNvSpPr/>
          <p:nvPr/>
        </p:nvSpPr>
        <p:spPr>
          <a:xfrm>
            <a:off x="12395455" y="5352411"/>
            <a:ext cx="1014955"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Metallurgical Coal</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Bowen Basin, Australia</a:t>
            </a:r>
            <a:endParaRPr lang="en-US" sz="860" dirty="0"/>
          </a:p>
        </p:txBody>
      </p:sp>
      <p:sp>
        <p:nvSpPr>
          <p:cNvPr id="47" name="Text 45"/>
          <p:cNvSpPr/>
          <p:nvPr/>
        </p:nvSpPr>
        <p:spPr>
          <a:xfrm>
            <a:off x="9938519" y="5409586"/>
            <a:ext cx="528194"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Chile · Peru</a:t>
            </a:r>
            <a:endParaRPr lang="en-US" sz="860" dirty="0"/>
          </a:p>
        </p:txBody>
      </p:sp>
      <p:sp>
        <p:nvSpPr>
          <p:cNvPr id="48" name="Text 46"/>
          <p:cNvSpPr/>
          <p:nvPr/>
        </p:nvSpPr>
        <p:spPr>
          <a:xfrm>
            <a:off x="8334841" y="4237499"/>
            <a:ext cx="454601"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USA</a:t>
            </a:r>
            <a:endParaRPr lang="en-US" sz="860" dirty="0"/>
          </a:p>
        </p:txBody>
      </p:sp>
      <p:sp>
        <p:nvSpPr>
          <p:cNvPr id="49" name="Text 47"/>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50" name="Text 48"/>
          <p:cNvSpPr/>
          <p:nvPr/>
        </p:nvSpPr>
        <p:spPr>
          <a:xfrm>
            <a:off x="8068024" y="6731162"/>
            <a:ext cx="30959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OF 5</a:t>
            </a:r>
            <a:endParaRPr lang="en-US" sz="580" dirty="0"/>
          </a:p>
        </p:txBody>
      </p:sp>
      <p:sp>
        <p:nvSpPr>
          <p:cNvPr id="51" name="Text 49"/>
          <p:cNvSpPr/>
          <p:nvPr/>
        </p:nvSpPr>
        <p:spPr>
          <a:xfrm>
            <a:off x="8068024" y="6865078"/>
            <a:ext cx="163383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20" dirty="0"/>
          </a:p>
        </p:txBody>
      </p:sp>
      <p:sp>
        <p:nvSpPr>
          <p:cNvPr id="52" name="Text 50"/>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53" name="Text 51"/>
          <p:cNvSpPr/>
          <p:nvPr/>
        </p:nvSpPr>
        <p:spPr>
          <a:xfrm>
            <a:off x="10304201" y="6731162"/>
            <a:ext cx="42031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SHARE</a:t>
            </a:r>
            <a:endParaRPr lang="en-US" sz="580" dirty="0"/>
          </a:p>
        </p:txBody>
      </p:sp>
      <p:sp>
        <p:nvSpPr>
          <p:cNvPr id="54" name="Text 52"/>
          <p:cNvSpPr/>
          <p:nvPr/>
        </p:nvSpPr>
        <p:spPr>
          <a:xfrm>
            <a:off x="10304201" y="6865078"/>
            <a:ext cx="178713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20" dirty="0"/>
          </a:p>
        </p:txBody>
      </p:sp>
      <p:sp>
        <p:nvSpPr>
          <p:cNvPr id="55" name="Text 53"/>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6" name="Text 54"/>
          <p:cNvSpPr/>
          <p:nvPr/>
        </p:nvSpPr>
        <p:spPr>
          <a:xfrm>
            <a:off x="12540377" y="6731162"/>
            <a:ext cx="41638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YEARS</a:t>
            </a:r>
            <a:endParaRPr lang="en-US" sz="580" dirty="0"/>
          </a:p>
        </p:txBody>
      </p:sp>
      <p:sp>
        <p:nvSpPr>
          <p:cNvPr id="57" name="Text 55"/>
          <p:cNvSpPr/>
          <p:nvPr/>
        </p:nvSpPr>
        <p:spPr>
          <a:xfrm>
            <a:off x="12540377" y="6865078"/>
            <a:ext cx="74263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原料炭の炭鉱寿命</a:t>
            </a:r>
            <a:endParaRPr lang="en-US" sz="620" dirty="0"/>
          </a:p>
        </p:txBody>
      </p:sp>
      <p:sp>
        <p:nvSpPr>
          <p:cNvPr id="58" name="Text 56"/>
          <p:cNvSpPr/>
          <p:nvPr/>
        </p:nvSpPr>
        <p:spPr>
          <a:xfrm>
            <a:off x="508222" y="8131552"/>
            <a:ext cx="188933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OUR JOURNEY｜FORESIGHT</a:t>
            </a:r>
            <a:endParaRPr lang="en-US" sz="660" dirty="0"/>
          </a:p>
        </p:txBody>
      </p:sp>
      <p:sp>
        <p:nvSpPr>
          <p:cNvPr id="59" name="Text 57"/>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60" name="Text 58"/>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61" name="Text 59"/>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62" name="Text 60"/>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63" name="Text 61"/>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4" name="Text 62"/>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5" name="Text 63"/>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6" name="Text 64"/>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7" name="Text 65"/>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8" name="Text 66"/>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9" name="Text 67"/>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70" name="Text 68"/>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71" name="Text 69"/>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72" name="Text 70"/>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73" name="Text 71"/>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4" name="Text 72"/>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5" name="Text 73"/>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6" name="Text 74"/>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7" name="Text 75"/>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8" name="Text 76"/>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190527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Metallurgical coal</a:t>
            </a:r>
            <a:endParaRPr lang="en-US" sz="660" dirty="0"/>
          </a:p>
        </p:txBody>
      </p:sp>
      <p:sp>
        <p:nvSpPr>
          <p:cNvPr id="3" name="Text 1"/>
          <p:cNvSpPr/>
          <p:nvPr/>
        </p:nvSpPr>
        <p:spPr>
          <a:xfrm>
            <a:off x="8068024" y="508222"/>
            <a:ext cx="91057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Copper</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3347"/>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Alliance）を通じ、豪州</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クイーンズランド州ボーエン・ベースンで世界最高品位の原料炭事業に参</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画しています。炭鉱（露天掘4・坑内掘1）に加え、港湾と鉄道までを自社</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で保有し、山から港まで全体最適で運営。保有鉱山は高品位のものに集約</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し、高品位原料の供給を通じて鉄鋼業の脱炭素にも貢献しています。</a:t>
            </a:r>
            <a:endParaRPr lang="en-US" sz="73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85270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OWNERSHIP</a:t>
            </a:r>
            <a:endParaRPr lang="en-US" sz="660" dirty="0"/>
          </a:p>
        </p:txBody>
      </p:sp>
      <p:sp>
        <p:nvSpPr>
          <p:cNvPr id="20" name="Text 18"/>
          <p:cNvSpPr/>
          <p:nvPr/>
        </p:nvSpPr>
        <p:spPr>
          <a:xfrm>
            <a:off x="731760" y="7572508"/>
            <a:ext cx="81666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Mitsubishi Corp.</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30981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Since</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45263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Location</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36550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Assets</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5154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Mine life</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841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Seaborne share</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3347"/>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銅は原料炭に比べてプレイヤーが多く、寡占化が進んでいない市場です。</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そのなかで私たちは、規模で世界上位15に入る優良鉱山に複数参画し、日</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本最大・世界第20位の持分生産量を有しています。特定の1社に偏らず、</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主要メジャーのほぼすべてと共同事業・取引を行い、販売を通じた幅広い</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関係から、新しい案件で“声がかかる存在”であり続けています。</a:t>
            </a:r>
            <a:endParaRPr lang="en-US" sz="730" dirty="0"/>
          </a:p>
        </p:txBody>
      </p:sp>
      <p:sp>
        <p:nvSpPr>
          <p:cNvPr id="40" name="Text 38"/>
          <p:cNvSpPr/>
          <p:nvPr/>
        </p:nvSpPr>
        <p:spPr>
          <a:xfrm>
            <a:off x="11498522" y="5742908"/>
            <a:ext cx="99595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EARLY MOVER</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091387"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Chile・1988</a:t>
            </a:r>
            <a:endParaRPr lang="en-US" sz="640" dirty="0"/>
          </a:p>
        </p:txBody>
      </p:sp>
      <p:sp>
        <p:nvSpPr>
          <p:cNvPr id="47" name="Text 45"/>
          <p:cNvSpPr/>
          <p:nvPr/>
        </p:nvSpPr>
        <p:spPr>
          <a:xfrm>
            <a:off x="12464144" y="6441714"/>
            <a:ext cx="1290328"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Chile・1997</a:t>
            </a:r>
            <a:endParaRPr lang="en-US" sz="640" dirty="0"/>
          </a:p>
        </p:txBody>
      </p:sp>
      <p:sp>
        <p:nvSpPr>
          <p:cNvPr id="48" name="Text 46"/>
          <p:cNvSpPr/>
          <p:nvPr/>
        </p:nvSpPr>
        <p:spPr>
          <a:xfrm>
            <a:off x="12612243" y="6606886"/>
            <a:ext cx="1027839"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Peru・1999</a:t>
            </a:r>
            <a:endParaRPr lang="en-US" sz="640" dirty="0"/>
          </a:p>
        </p:txBody>
      </p:sp>
      <p:sp>
        <p:nvSpPr>
          <p:cNvPr id="49" name="Text 47"/>
          <p:cNvSpPr/>
          <p:nvPr/>
        </p:nvSpPr>
        <p:spPr>
          <a:xfrm>
            <a:off x="13501632" y="6772058"/>
            <a:ext cx="1541898"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Chile・2011</a:t>
            </a:r>
            <a:endParaRPr lang="en-US" sz="640" dirty="0"/>
          </a:p>
        </p:txBody>
      </p:sp>
      <p:sp>
        <p:nvSpPr>
          <p:cNvPr id="50" name="Text 48"/>
          <p:cNvSpPr/>
          <p:nvPr/>
        </p:nvSpPr>
        <p:spPr>
          <a:xfrm>
            <a:off x="13501632" y="6937230"/>
            <a:ext cx="1106673"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Peru・2011</a:t>
            </a:r>
            <a:endParaRPr lang="en-US" sz="640" dirty="0"/>
          </a:p>
        </p:txBody>
      </p:sp>
      <p:sp>
        <p:nvSpPr>
          <p:cNvPr id="51" name="Text 49"/>
          <p:cNvSpPr/>
          <p:nvPr/>
        </p:nvSpPr>
        <p:spPr>
          <a:xfrm>
            <a:off x="12800821" y="7102402"/>
            <a:ext cx="1437732" cy="114350"/>
          </a:xfrm>
          <a:prstGeom prst="rect">
            <a:avLst/>
          </a:prstGeom>
          <a:noFill/>
          <a:ln/>
        </p:spPr>
        <p:txBody>
          <a:bodyPr wrap="none" lIns="0" tIns="0" rIns="0" bIns="0" rtlCol="0" anchor="t"/>
          <a:lstStyle/>
          <a:p>
            <a:pPr algn="r"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 · 開発中・2023</a:t>
            </a:r>
            <a:endParaRPr lang="en-US" sz="640" dirty="0"/>
          </a:p>
        </p:txBody>
      </p:sp>
      <p:sp>
        <p:nvSpPr>
          <p:cNvPr id="52" name="Text 50"/>
          <p:cNvSpPr/>
          <p:nvPr/>
        </p:nvSpPr>
        <p:spPr>
          <a:xfrm>
            <a:off x="12808703" y="7267574"/>
            <a:ext cx="1578148" cy="114350"/>
          </a:xfrm>
          <a:prstGeom prst="rect">
            <a:avLst/>
          </a:prstGeom>
          <a:noFill/>
          <a:ln/>
        </p:spPr>
        <p:txBody>
          <a:bodyPr wrap="none" lIns="0" tIns="0" rIns="0" bIns="0" rtlCol="0" anchor="t"/>
          <a:lstStyle/>
          <a:p>
            <a:pPr algn="r"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USA · 開発中・2025</a:t>
            </a:r>
            <a:endParaRPr lang="en-US" sz="640" dirty="0"/>
          </a:p>
        </p:txBody>
      </p:sp>
      <p:sp>
        <p:nvSpPr>
          <p:cNvPr id="53" name="Text 51"/>
          <p:cNvSpPr/>
          <p:nvPr/>
        </p:nvSpPr>
        <p:spPr>
          <a:xfrm>
            <a:off x="8068024" y="7216752"/>
            <a:ext cx="190702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COPPER PRODUCTION 2025</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151563" y="9065410"/>
            <a:ext cx="983727"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Inter SemiBold" pitchFamily="34" charset="0"/>
                <a:ea typeface="Inter SemiBold" pitchFamily="34" charset="-122"/>
                <a:cs typeface="Inter SemiBold" pitchFamily="34" charset="-120"/>
              </a:rPr>
              <a:t>#20 Mitsubishi Corp.</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1463"/>
            <a:ext cx="2635746"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上位には協業が難しい国有・政府系なども含まれる。協業可能</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で、オペレーターシップを求めないパートナーとしては最大規模。</a:t>
            </a:r>
            <a:endParaRPr lang="en-US" sz="620" dirty="0"/>
          </a:p>
        </p:txBody>
      </p:sp>
      <p:sp>
        <p:nvSpPr>
          <p:cNvPr id="78" name="Text 76"/>
          <p:cNvSpPr/>
          <p:nvPr/>
        </p:nvSpPr>
        <p:spPr>
          <a:xfrm>
            <a:off x="508222" y="9757862"/>
            <a:ext cx="145323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MARKET STRUCTURE</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952281"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Metallurgical coal</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3184"/>
            <a:ext cx="183102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20" dirty="0"/>
          </a:p>
        </p:txBody>
      </p:sp>
      <p:sp>
        <p:nvSpPr>
          <p:cNvPr id="83" name="Text 81"/>
          <p:cNvSpPr/>
          <p:nvPr/>
        </p:nvSpPr>
        <p:spPr>
          <a:xfrm>
            <a:off x="8068024" y="9961151"/>
            <a:ext cx="423154"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Copper</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3184"/>
            <a:ext cx="19116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2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192831" y="101644"/>
            <a:ext cx="3587432"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23000" dirty="0"/>
          </a:p>
        </p:txBody>
      </p:sp>
      <p:sp>
        <p:nvSpPr>
          <p:cNvPr id="3" name="Text 1"/>
          <p:cNvSpPr/>
          <p:nvPr/>
        </p:nvSpPr>
        <p:spPr>
          <a:xfrm>
            <a:off x="11816161" y="101644"/>
            <a:ext cx="3578042"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23000" dirty="0"/>
          </a:p>
        </p:txBody>
      </p:sp>
      <p:sp>
        <p:nvSpPr>
          <p:cNvPr id="4" name="Text 2"/>
          <p:cNvSpPr/>
          <p:nvPr/>
        </p:nvSpPr>
        <p:spPr>
          <a:xfrm>
            <a:off x="508222" y="508222"/>
            <a:ext cx="231931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03 · From resources to value</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3819"/>
            <a:ext cx="7248516" cy="343177"/>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資源は、ただ存在するだけでは社会の価値になりません。良質な資源を安定的に確保し、高品質な金属へと精錬し、必要とする産業へ届けてはじめて価</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値になります。原料炭と銅に加え、私たちは鉄鉱石、電池資源、アルミ、肥料、二次資源へと事業領域を広げています。</a:t>
            </a:r>
            <a:endParaRPr lang="en-US" sz="730" dirty="0"/>
          </a:p>
        </p:txBody>
      </p:sp>
      <p:sp>
        <p:nvSpPr>
          <p:cNvPr id="9" name="Text 7"/>
          <p:cNvSpPr/>
          <p:nvPr/>
        </p:nvSpPr>
        <p:spPr>
          <a:xfrm>
            <a:off x="1168911" y="3258179"/>
            <a:ext cx="48320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Iron Ore</a:t>
            </a:r>
            <a:endParaRPr lang="en-US" sz="740" dirty="0"/>
          </a:p>
        </p:txBody>
      </p:sp>
      <p:sp>
        <p:nvSpPr>
          <p:cNvPr id="10" name="Text 8"/>
          <p:cNvSpPr/>
          <p:nvPr/>
        </p:nvSpPr>
        <p:spPr>
          <a:xfrm>
            <a:off x="1168911" y="3394955"/>
            <a:ext cx="373364"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40" dirty="0"/>
          </a:p>
        </p:txBody>
      </p:sp>
      <p:sp>
        <p:nvSpPr>
          <p:cNvPr id="11" name="Text 9"/>
          <p:cNvSpPr/>
          <p:nvPr/>
        </p:nvSpPr>
        <p:spPr>
          <a:xfrm>
            <a:off x="508222" y="3811379"/>
            <a:ext cx="119708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IOC（カナダ）・CMP（チリ）</a:t>
            </a:r>
            <a:endParaRPr lang="en-US" sz="620" dirty="0"/>
          </a:p>
        </p:txBody>
      </p:sp>
      <p:sp>
        <p:nvSpPr>
          <p:cNvPr id="12" name="Text 10"/>
          <p:cNvSpPr/>
          <p:nvPr/>
        </p:nvSpPr>
        <p:spPr>
          <a:xfrm>
            <a:off x="3379676" y="3258179"/>
            <a:ext cx="386249"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Nickel</a:t>
            </a:r>
            <a:endParaRPr lang="en-US" sz="740" dirty="0"/>
          </a:p>
        </p:txBody>
      </p:sp>
      <p:sp>
        <p:nvSpPr>
          <p:cNvPr id="13" name="Text 11"/>
          <p:cNvSpPr/>
          <p:nvPr/>
        </p:nvSpPr>
        <p:spPr>
          <a:xfrm>
            <a:off x="3379676" y="3394955"/>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40" dirty="0"/>
          </a:p>
        </p:txBody>
      </p:sp>
      <p:sp>
        <p:nvSpPr>
          <p:cNvPr id="14" name="Text 12"/>
          <p:cNvSpPr/>
          <p:nvPr/>
        </p:nvSpPr>
        <p:spPr>
          <a:xfrm>
            <a:off x="2718988" y="3811379"/>
            <a:ext cx="16901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Turnagain（カナダ）・Kalgoorlie（豪州）</a:t>
            </a:r>
            <a:endParaRPr lang="en-US" sz="620" dirty="0"/>
          </a:p>
        </p:txBody>
      </p:sp>
      <p:sp>
        <p:nvSpPr>
          <p:cNvPr id="15" name="Text 13"/>
          <p:cNvSpPr/>
          <p:nvPr/>
        </p:nvSpPr>
        <p:spPr>
          <a:xfrm>
            <a:off x="5590442" y="3258179"/>
            <a:ext cx="448923"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Lithium</a:t>
            </a:r>
            <a:endParaRPr lang="en-US" sz="740" dirty="0"/>
          </a:p>
        </p:txBody>
      </p:sp>
      <p:sp>
        <p:nvSpPr>
          <p:cNvPr id="16" name="Text 14"/>
          <p:cNvSpPr/>
          <p:nvPr/>
        </p:nvSpPr>
        <p:spPr>
          <a:xfrm>
            <a:off x="5590442" y="3394955"/>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40" dirty="0"/>
          </a:p>
        </p:txBody>
      </p:sp>
      <p:sp>
        <p:nvSpPr>
          <p:cNvPr id="17" name="Text 15"/>
          <p:cNvSpPr/>
          <p:nvPr/>
        </p:nvSpPr>
        <p:spPr>
          <a:xfrm>
            <a:off x="4929753" y="3811379"/>
            <a:ext cx="97302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PAK Lithium（カナダ）</a:t>
            </a:r>
            <a:endParaRPr lang="en-US" sz="620" dirty="0"/>
          </a:p>
        </p:txBody>
      </p:sp>
      <p:sp>
        <p:nvSpPr>
          <p:cNvPr id="18" name="Text 16"/>
          <p:cNvSpPr/>
          <p:nvPr/>
        </p:nvSpPr>
        <p:spPr>
          <a:xfrm>
            <a:off x="1168911" y="4579557"/>
            <a:ext cx="1120431"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Bauxite · Aluminium</a:t>
            </a:r>
            <a:endParaRPr lang="en-US" sz="740" dirty="0"/>
          </a:p>
        </p:txBody>
      </p:sp>
      <p:sp>
        <p:nvSpPr>
          <p:cNvPr id="19" name="Text 17"/>
          <p:cNvSpPr/>
          <p:nvPr/>
        </p:nvSpPr>
        <p:spPr>
          <a:xfrm>
            <a:off x="1168911" y="4716332"/>
            <a:ext cx="1447122"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40" dirty="0"/>
          </a:p>
        </p:txBody>
      </p:sp>
      <p:sp>
        <p:nvSpPr>
          <p:cNvPr id="20" name="Text 18"/>
          <p:cNvSpPr/>
          <p:nvPr/>
        </p:nvSpPr>
        <p:spPr>
          <a:xfrm>
            <a:off x="508222" y="5132756"/>
            <a:ext cx="138510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Aurukun（豪州）・Arctial（北欧）</a:t>
            </a:r>
            <a:endParaRPr lang="en-US" sz="620" dirty="0"/>
          </a:p>
        </p:txBody>
      </p:sp>
      <p:sp>
        <p:nvSpPr>
          <p:cNvPr id="21" name="Text 19"/>
          <p:cNvSpPr/>
          <p:nvPr/>
        </p:nvSpPr>
        <p:spPr>
          <a:xfrm>
            <a:off x="3379676" y="4579557"/>
            <a:ext cx="530377"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Fertilizer</a:t>
            </a:r>
            <a:endParaRPr lang="en-US" sz="740" dirty="0"/>
          </a:p>
        </p:txBody>
      </p:sp>
      <p:sp>
        <p:nvSpPr>
          <p:cNvPr id="22" name="Text 20"/>
          <p:cNvSpPr/>
          <p:nvPr/>
        </p:nvSpPr>
        <p:spPr>
          <a:xfrm>
            <a:off x="3379676" y="4716332"/>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40" dirty="0"/>
          </a:p>
        </p:txBody>
      </p:sp>
      <p:sp>
        <p:nvSpPr>
          <p:cNvPr id="23" name="Text 21"/>
          <p:cNvSpPr/>
          <p:nvPr/>
        </p:nvSpPr>
        <p:spPr>
          <a:xfrm>
            <a:off x="2718988" y="5132756"/>
            <a:ext cx="86056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Woodsmith（英国）</a:t>
            </a:r>
            <a:endParaRPr lang="en-US" sz="620" dirty="0"/>
          </a:p>
        </p:txBody>
      </p:sp>
      <p:sp>
        <p:nvSpPr>
          <p:cNvPr id="24" name="Text 22"/>
          <p:cNvSpPr/>
          <p:nvPr/>
        </p:nvSpPr>
        <p:spPr>
          <a:xfrm>
            <a:off x="5590442" y="4579557"/>
            <a:ext cx="541514"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Recycled</a:t>
            </a:r>
            <a:endParaRPr lang="en-US" sz="740" dirty="0"/>
          </a:p>
        </p:txBody>
      </p:sp>
      <p:sp>
        <p:nvSpPr>
          <p:cNvPr id="25" name="Text 23"/>
          <p:cNvSpPr/>
          <p:nvPr/>
        </p:nvSpPr>
        <p:spPr>
          <a:xfrm>
            <a:off x="5590442" y="4716332"/>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40" dirty="0"/>
          </a:p>
        </p:txBody>
      </p:sp>
      <p:sp>
        <p:nvSpPr>
          <p:cNvPr id="26" name="Text 24"/>
          <p:cNvSpPr/>
          <p:nvPr/>
        </p:nvSpPr>
        <p:spPr>
          <a:xfrm>
            <a:off x="4929753" y="5132756"/>
            <a:ext cx="108439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リサイクル由来の金属資源</a:t>
            </a:r>
            <a:endParaRPr lang="en-US" sz="620" dirty="0"/>
          </a:p>
        </p:txBody>
      </p:sp>
      <p:sp>
        <p:nvSpPr>
          <p:cNvPr id="27" name="Text 25"/>
          <p:cNvSpPr/>
          <p:nvPr/>
        </p:nvSpPr>
        <p:spPr>
          <a:xfrm>
            <a:off x="508222" y="6002578"/>
            <a:ext cx="320046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NEW TECHNOLOGY ALONG THE COPPER CHAIN</a:t>
            </a:r>
            <a:endParaRPr lang="en-US" sz="660" dirty="0"/>
          </a:p>
        </p:txBody>
      </p:sp>
      <p:sp>
        <p:nvSpPr>
          <p:cNvPr id="28" name="Text 26"/>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9" name="Text 27"/>
          <p:cNvSpPr/>
          <p:nvPr/>
        </p:nvSpPr>
        <p:spPr>
          <a:xfrm>
            <a:off x="609866" y="6523506"/>
            <a:ext cx="30741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Mine</a:t>
            </a:r>
            <a:endParaRPr lang="en-US" sz="720" dirty="0"/>
          </a:p>
        </p:txBody>
      </p:sp>
      <p:sp>
        <p:nvSpPr>
          <p:cNvPr id="30" name="Text 28"/>
          <p:cNvSpPr/>
          <p:nvPr/>
        </p:nvSpPr>
        <p:spPr>
          <a:xfrm>
            <a:off x="609866" y="6657422"/>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採掘</a:t>
            </a:r>
            <a:endParaRPr lang="en-US" sz="620" dirty="0"/>
          </a:p>
        </p:txBody>
      </p:sp>
      <p:sp>
        <p:nvSpPr>
          <p:cNvPr id="31" name="Text 29"/>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32" name="Text 30"/>
          <p:cNvSpPr/>
          <p:nvPr/>
        </p:nvSpPr>
        <p:spPr>
          <a:xfrm>
            <a:off x="1931244" y="6523506"/>
            <a:ext cx="698964"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Concentrate</a:t>
            </a:r>
            <a:endParaRPr lang="en-US" sz="720" dirty="0"/>
          </a:p>
        </p:txBody>
      </p:sp>
      <p:sp>
        <p:nvSpPr>
          <p:cNvPr id="33" name="Text 31"/>
          <p:cNvSpPr/>
          <p:nvPr/>
        </p:nvSpPr>
        <p:spPr>
          <a:xfrm>
            <a:off x="1931244" y="6657422"/>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選鉱・浸出</a:t>
            </a:r>
            <a:endParaRPr lang="en-US" sz="620" dirty="0"/>
          </a:p>
        </p:txBody>
      </p:sp>
      <p:sp>
        <p:nvSpPr>
          <p:cNvPr id="34" name="Text 32"/>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35" name="Text 33"/>
          <p:cNvSpPr/>
          <p:nvPr/>
        </p:nvSpPr>
        <p:spPr>
          <a:xfrm>
            <a:off x="3252621" y="6523506"/>
            <a:ext cx="49238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Cathode</a:t>
            </a:r>
            <a:endParaRPr lang="en-US" sz="720" dirty="0"/>
          </a:p>
        </p:txBody>
      </p:sp>
      <p:sp>
        <p:nvSpPr>
          <p:cNvPr id="36" name="Text 34"/>
          <p:cNvSpPr/>
          <p:nvPr/>
        </p:nvSpPr>
        <p:spPr>
          <a:xfrm>
            <a:off x="3252621" y="6657422"/>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製錬・精製</a:t>
            </a:r>
            <a:endParaRPr lang="en-US" sz="620" dirty="0"/>
          </a:p>
        </p:txBody>
      </p:sp>
      <p:sp>
        <p:nvSpPr>
          <p:cNvPr id="37" name="Text 35"/>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8" name="Text 36"/>
          <p:cNvSpPr/>
          <p:nvPr/>
        </p:nvSpPr>
        <p:spPr>
          <a:xfrm>
            <a:off x="4573998" y="6523506"/>
            <a:ext cx="466611"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End use</a:t>
            </a:r>
            <a:endParaRPr lang="en-US" sz="720" dirty="0"/>
          </a:p>
        </p:txBody>
      </p:sp>
      <p:sp>
        <p:nvSpPr>
          <p:cNvPr id="39" name="Text 37"/>
          <p:cNvSpPr/>
          <p:nvPr/>
        </p:nvSpPr>
        <p:spPr>
          <a:xfrm>
            <a:off x="4573998" y="6657422"/>
            <a:ext cx="39673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最終製品</a:t>
            </a:r>
            <a:endParaRPr lang="en-US" sz="620" dirty="0"/>
          </a:p>
        </p:txBody>
      </p:sp>
      <p:sp>
        <p:nvSpPr>
          <p:cNvPr id="40" name="Text 38"/>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41" name="Text 39"/>
          <p:cNvSpPr/>
          <p:nvPr/>
        </p:nvSpPr>
        <p:spPr>
          <a:xfrm>
            <a:off x="5895375" y="6523506"/>
            <a:ext cx="46202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Recycle</a:t>
            </a:r>
            <a:endParaRPr lang="en-US" sz="720" dirty="0"/>
          </a:p>
        </p:txBody>
      </p:sp>
      <p:sp>
        <p:nvSpPr>
          <p:cNvPr id="42" name="Text 40"/>
          <p:cNvSpPr/>
          <p:nvPr/>
        </p:nvSpPr>
        <p:spPr>
          <a:xfrm>
            <a:off x="5895375" y="6657422"/>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回収</a:t>
            </a:r>
            <a:endParaRPr lang="en-US" sz="620" dirty="0"/>
          </a:p>
        </p:txBody>
      </p:sp>
      <p:sp>
        <p:nvSpPr>
          <p:cNvPr id="43" name="Text 41"/>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44" name="Text 42"/>
          <p:cNvSpPr/>
          <p:nvPr/>
        </p:nvSpPr>
        <p:spPr>
          <a:xfrm>
            <a:off x="622572"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STARTUP｜選鉱</a:t>
            </a:r>
            <a:endParaRPr lang="en-US" sz="540" dirty="0"/>
          </a:p>
        </p:txBody>
      </p:sp>
      <p:sp>
        <p:nvSpPr>
          <p:cNvPr id="45" name="Text 43"/>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6" name="Text 44"/>
          <p:cNvSpPr/>
          <p:nvPr/>
        </p:nvSpPr>
        <p:spPr>
          <a:xfrm>
            <a:off x="622572" y="7788216"/>
            <a:ext cx="143118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浮遊選鉱の高度化で、回収率・処理</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能力を向上</a:t>
            </a:r>
            <a:endParaRPr lang="en-US" sz="620" dirty="0"/>
          </a:p>
        </p:txBody>
      </p:sp>
      <p:sp>
        <p:nvSpPr>
          <p:cNvPr id="47" name="Text 45"/>
          <p:cNvSpPr/>
          <p:nvPr/>
        </p:nvSpPr>
        <p:spPr>
          <a:xfrm>
            <a:off x="2274293"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STARTUP｜浸出</a:t>
            </a:r>
            <a:endParaRPr lang="en-US" sz="540" dirty="0"/>
          </a:p>
        </p:txBody>
      </p:sp>
      <p:sp>
        <p:nvSpPr>
          <p:cNvPr id="48" name="Text 46"/>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9" name="Text 47"/>
          <p:cNvSpPr/>
          <p:nvPr/>
        </p:nvSpPr>
        <p:spPr>
          <a:xfrm>
            <a:off x="2274293" y="7788216"/>
            <a:ext cx="143118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新しい触媒で、硫化鉱から銅をリー</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チング</a:t>
            </a:r>
            <a:endParaRPr lang="en-US" sz="620" dirty="0"/>
          </a:p>
        </p:txBody>
      </p:sp>
      <p:sp>
        <p:nvSpPr>
          <p:cNvPr id="50" name="Text 48"/>
          <p:cNvSpPr/>
          <p:nvPr/>
        </p:nvSpPr>
        <p:spPr>
          <a:xfrm>
            <a:off x="3926015" y="7527244"/>
            <a:ext cx="115187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TRADING｜100%子会社</a:t>
            </a:r>
            <a:endParaRPr lang="en-US" sz="540" dirty="0"/>
          </a:p>
        </p:txBody>
      </p:sp>
      <p:sp>
        <p:nvSpPr>
          <p:cNvPr id="51" name="Text 49"/>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52" name="Text 50"/>
          <p:cNvSpPr/>
          <p:nvPr/>
        </p:nvSpPr>
        <p:spPr>
          <a:xfrm>
            <a:off x="3926015" y="7788216"/>
            <a:ext cx="1433146"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LME・CMEでのブローカー・ヘッジ</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機能</a:t>
            </a:r>
            <a:endParaRPr lang="en-US" sz="620" dirty="0"/>
          </a:p>
        </p:txBody>
      </p:sp>
      <p:sp>
        <p:nvSpPr>
          <p:cNvPr id="53" name="Text 51"/>
          <p:cNvSpPr/>
          <p:nvPr/>
        </p:nvSpPr>
        <p:spPr>
          <a:xfrm>
            <a:off x="5577736" y="7527244"/>
            <a:ext cx="910353"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RECYCLING｜回収</a:t>
            </a:r>
            <a:endParaRPr lang="en-US" sz="540" dirty="0"/>
          </a:p>
        </p:txBody>
      </p:sp>
      <p:sp>
        <p:nvSpPr>
          <p:cNvPr id="54" name="Text 52"/>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55" name="Text 53"/>
          <p:cNvSpPr/>
          <p:nvPr/>
        </p:nvSpPr>
        <p:spPr>
          <a:xfrm>
            <a:off x="5577736" y="7788216"/>
            <a:ext cx="143445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電子スクラップから銅・貴金属を回</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収</a:t>
            </a:r>
            <a:endParaRPr lang="en-US" sz="620" dirty="0"/>
          </a:p>
        </p:txBody>
      </p:sp>
      <p:sp>
        <p:nvSpPr>
          <p:cNvPr id="56" name="Text 54"/>
          <p:cNvSpPr/>
          <p:nvPr/>
        </p:nvSpPr>
        <p:spPr>
          <a:xfrm>
            <a:off x="508222" y="8483305"/>
            <a:ext cx="3544848" cy="686354"/>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新技術の把握は、既存事業の高度化と将来価値の創出に還元されます。業</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界のボトルネック——鉱石品位の低下、回収率、リサイクル——に挑むスタ</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ートアップへの投資を通じ、山を持つだけでも、売るだけでもない、川上</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から川下までのフットプリントを広げています。</a:t>
            </a:r>
            <a:endParaRPr lang="en-US" sz="730" dirty="0"/>
          </a:p>
        </p:txBody>
      </p:sp>
      <p:sp>
        <p:nvSpPr>
          <p:cNvPr id="57" name="Text 55"/>
          <p:cNvSpPr/>
          <p:nvPr/>
        </p:nvSpPr>
        <p:spPr>
          <a:xfrm>
            <a:off x="4065776" y="9661776"/>
            <a:ext cx="82081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mine</a:t>
            </a:r>
            <a:endParaRPr lang="en-US" sz="580" dirty="0"/>
          </a:p>
        </p:txBody>
      </p:sp>
      <p:sp>
        <p:nvSpPr>
          <p:cNvPr id="58" name="Text 56"/>
          <p:cNvSpPr/>
          <p:nvPr/>
        </p:nvSpPr>
        <p:spPr>
          <a:xfrm>
            <a:off x="4065776" y="9776126"/>
            <a:ext cx="300427"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Chile</a:t>
            </a:r>
            <a:endParaRPr lang="en-US" sz="580" dirty="0"/>
          </a:p>
        </p:txBody>
      </p:sp>
      <p:sp>
        <p:nvSpPr>
          <p:cNvPr id="59" name="Text 57"/>
          <p:cNvSpPr/>
          <p:nvPr/>
        </p:nvSpPr>
        <p:spPr>
          <a:xfrm>
            <a:off x="8068024" y="508222"/>
            <a:ext cx="19782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04 · Global partnerships</a:t>
            </a:r>
            <a:endParaRPr lang="en-US" sz="660" dirty="0"/>
          </a:p>
        </p:txBody>
      </p:sp>
      <p:sp>
        <p:nvSpPr>
          <p:cNvPr id="60" name="Text 58"/>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61" name="Text 59"/>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62" name="Text 60"/>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63" name="Text 61"/>
          <p:cNvSpPr/>
          <p:nvPr/>
        </p:nvSpPr>
        <p:spPr>
          <a:xfrm>
            <a:off x="8068024" y="1867287"/>
            <a:ext cx="7248516" cy="514765"/>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資源業界では、良い案件があっても単独では規模が大きすぎることが少なくありません。そのとき「三菱に声をかけよう」と思われる存在であること。</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BHP、Rio Tinto、Anglo Americanをはじめとする業界最大手とJVを組み、単なる共同出資者に留まらず、人材派遣・ガバナンス参画・総合力で事業価</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値の最大化に貢献してきました。</a:t>
            </a:r>
            <a:endParaRPr lang="en-US" sz="730" dirty="0"/>
          </a:p>
        </p:txBody>
      </p:sp>
      <p:sp>
        <p:nvSpPr>
          <p:cNvPr id="64" name="Text 62"/>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65" name="Text 63"/>
          <p:cNvSpPr/>
          <p:nvPr/>
        </p:nvSpPr>
        <p:spPr>
          <a:xfrm>
            <a:off x="8474602" y="2829764"/>
            <a:ext cx="89484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Cultural affinity</a:t>
            </a:r>
            <a:endParaRPr lang="en-US" sz="740" dirty="0"/>
          </a:p>
        </p:txBody>
      </p:sp>
      <p:sp>
        <p:nvSpPr>
          <p:cNvPr id="66" name="Text 64"/>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7" name="Text 65"/>
          <p:cNvSpPr/>
          <p:nvPr/>
        </p:nvSpPr>
        <p:spPr>
          <a:xfrm>
            <a:off x="8474602" y="3141558"/>
            <a:ext cx="237893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20" dirty="0"/>
          </a:p>
        </p:txBody>
      </p:sp>
      <p:sp>
        <p:nvSpPr>
          <p:cNvPr id="68" name="Text 66"/>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9" name="Text 67"/>
          <p:cNvSpPr/>
          <p:nvPr/>
        </p:nvSpPr>
        <p:spPr>
          <a:xfrm>
            <a:off x="11803456" y="2829764"/>
            <a:ext cx="920835"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JV management</a:t>
            </a:r>
            <a:endParaRPr lang="en-US" sz="740" dirty="0"/>
          </a:p>
        </p:txBody>
      </p:sp>
      <p:sp>
        <p:nvSpPr>
          <p:cNvPr id="70" name="Text 68"/>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71" name="Text 69"/>
          <p:cNvSpPr/>
          <p:nvPr/>
        </p:nvSpPr>
        <p:spPr>
          <a:xfrm>
            <a:off x="11803456" y="3141558"/>
            <a:ext cx="151765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20" dirty="0"/>
          </a:p>
        </p:txBody>
      </p:sp>
      <p:sp>
        <p:nvSpPr>
          <p:cNvPr id="72" name="Text 70"/>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73" name="Text 71"/>
          <p:cNvSpPr/>
          <p:nvPr/>
        </p:nvSpPr>
        <p:spPr>
          <a:xfrm>
            <a:off x="8474602" y="3769975"/>
            <a:ext cx="1020196"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Financial strength</a:t>
            </a:r>
            <a:endParaRPr lang="en-US" sz="740" dirty="0"/>
          </a:p>
        </p:txBody>
      </p:sp>
      <p:sp>
        <p:nvSpPr>
          <p:cNvPr id="74" name="Text 72"/>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75" name="Text 73"/>
          <p:cNvSpPr/>
          <p:nvPr/>
        </p:nvSpPr>
        <p:spPr>
          <a:xfrm>
            <a:off x="8474602" y="4081769"/>
            <a:ext cx="220598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20" dirty="0"/>
          </a:p>
        </p:txBody>
      </p:sp>
      <p:sp>
        <p:nvSpPr>
          <p:cNvPr id="76" name="Text 74"/>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77" name="Text 75"/>
          <p:cNvSpPr/>
          <p:nvPr/>
        </p:nvSpPr>
        <p:spPr>
          <a:xfrm>
            <a:off x="11803456" y="3769975"/>
            <a:ext cx="72669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Deep insight</a:t>
            </a:r>
            <a:endParaRPr lang="en-US" sz="740" dirty="0"/>
          </a:p>
        </p:txBody>
      </p:sp>
      <p:sp>
        <p:nvSpPr>
          <p:cNvPr id="78" name="Text 7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79" name="Text 77"/>
          <p:cNvSpPr/>
          <p:nvPr/>
        </p:nvSpPr>
        <p:spPr>
          <a:xfrm>
            <a:off x="11803456" y="4081769"/>
            <a:ext cx="186684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20" dirty="0"/>
          </a:p>
        </p:txBody>
      </p:sp>
      <p:sp>
        <p:nvSpPr>
          <p:cNvPr id="80" name="Text 78"/>
          <p:cNvSpPr/>
          <p:nvPr/>
        </p:nvSpPr>
        <p:spPr>
          <a:xfrm>
            <a:off x="8068024" y="4900769"/>
            <a:ext cx="13663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TRADING NETWORK</a:t>
            </a:r>
            <a:endParaRPr lang="en-US" sz="660" dirty="0"/>
          </a:p>
        </p:txBody>
      </p:sp>
      <p:sp>
        <p:nvSpPr>
          <p:cNvPr id="81" name="Text 7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82" name="Text 80"/>
          <p:cNvSpPr/>
          <p:nvPr/>
        </p:nvSpPr>
        <p:spPr>
          <a:xfrm>
            <a:off x="8068024" y="6949848"/>
            <a:ext cx="38058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Singapore（拠点集約）・Japan・India・China・USA・UK・UAE・Indonesia・Thailand・Chile</a:t>
            </a:r>
            <a:endParaRPr lang="en-US" sz="620" dirty="0"/>
          </a:p>
        </p:txBody>
      </p:sp>
      <p:sp>
        <p:nvSpPr>
          <p:cNvPr id="83" name="Text 8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84" name="Text 82"/>
          <p:cNvSpPr/>
          <p:nvPr/>
        </p:nvSpPr>
        <p:spPr>
          <a:xfrm>
            <a:off x="13023188" y="5574163"/>
            <a:ext cx="83086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INDUSTRIES　業界</a:t>
            </a:r>
            <a:endParaRPr lang="en-US" sz="580" dirty="0"/>
          </a:p>
        </p:txBody>
      </p:sp>
      <p:sp>
        <p:nvSpPr>
          <p:cNvPr id="85" name="Text 8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86" name="Text 84"/>
          <p:cNvSpPr/>
          <p:nvPr/>
        </p:nvSpPr>
        <p:spPr>
          <a:xfrm>
            <a:off x="13023188" y="6184029"/>
            <a:ext cx="81754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COUNTRIES　カ国</a:t>
            </a:r>
            <a:endParaRPr lang="en-US" sz="580" dirty="0"/>
          </a:p>
        </p:txBody>
      </p:sp>
      <p:sp>
        <p:nvSpPr>
          <p:cNvPr id="87" name="Text 8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88" name="Text 86"/>
          <p:cNvSpPr/>
          <p:nvPr/>
        </p:nvSpPr>
        <p:spPr>
          <a:xfrm>
            <a:off x="13023188" y="6793896"/>
            <a:ext cx="1113225"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CUSTOMERS　社の販売先</a:t>
            </a:r>
            <a:endParaRPr lang="en-US" sz="580" dirty="0"/>
          </a:p>
        </p:txBody>
      </p:sp>
      <p:sp>
        <p:nvSpPr>
          <p:cNvPr id="89" name="Text 87"/>
          <p:cNvSpPr/>
          <p:nvPr/>
        </p:nvSpPr>
        <p:spPr>
          <a:xfrm>
            <a:off x="8068024" y="7540148"/>
            <a:ext cx="12237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JOINT VENTURES</a:t>
            </a:r>
            <a:endParaRPr lang="en-US" sz="660" dirty="0"/>
          </a:p>
        </p:txBody>
      </p:sp>
      <p:sp>
        <p:nvSpPr>
          <p:cNvPr id="90" name="Text 8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91" name="Text 8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92" name="Text 9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93" name="Text 9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94" name="Text 92"/>
          <p:cNvSpPr/>
          <p:nvPr/>
        </p:nvSpPr>
        <p:spPr>
          <a:xfrm>
            <a:off x="12794488" y="7737592"/>
            <a:ext cx="82911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他社ロゴは使用せず</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社名テキストで表記</a:t>
            </a:r>
            <a:endParaRPr lang="en-US" sz="620" dirty="0"/>
          </a:p>
        </p:txBody>
      </p:sp>
      <p:sp>
        <p:nvSpPr>
          <p:cNvPr id="95" name="Text 93"/>
          <p:cNvSpPr/>
          <p:nvPr/>
        </p:nvSpPr>
        <p:spPr>
          <a:xfrm>
            <a:off x="8068024" y="8302481"/>
            <a:ext cx="18231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WHY PARTNERS VALUE US</a:t>
            </a:r>
            <a:endParaRPr lang="en-US" sz="660" dirty="0"/>
          </a:p>
        </p:txBody>
      </p:sp>
      <p:sp>
        <p:nvSpPr>
          <p:cNvPr id="96" name="Text 9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97" name="Text 95"/>
          <p:cNvSpPr/>
          <p:nvPr/>
        </p:nvSpPr>
        <p:spPr>
          <a:xfrm>
            <a:off x="8220491" y="8632825"/>
            <a:ext cx="983509"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LONG-TERM VIEW</a:t>
            </a:r>
            <a:endParaRPr lang="en-US" sz="560" dirty="0"/>
          </a:p>
        </p:txBody>
      </p:sp>
      <p:sp>
        <p:nvSpPr>
          <p:cNvPr id="98" name="Text 96"/>
          <p:cNvSpPr/>
          <p:nvPr/>
        </p:nvSpPr>
        <p:spPr>
          <a:xfrm>
            <a:off x="8220491" y="8726021"/>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99" name="Text 97"/>
          <p:cNvSpPr/>
          <p:nvPr/>
        </p:nvSpPr>
        <p:spPr>
          <a:xfrm>
            <a:off x="8220491" y="8935884"/>
            <a:ext cx="1949170"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資源事業は長期にわたる。短期的リターンを求め</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る投資家とは一線を画す。</a:t>
            </a:r>
            <a:endParaRPr lang="en-US" sz="620" dirty="0"/>
          </a:p>
        </p:txBody>
      </p:sp>
      <p:sp>
        <p:nvSpPr>
          <p:cNvPr id="100" name="Text 98"/>
          <p:cNvSpPr/>
          <p:nvPr/>
        </p:nvSpPr>
        <p:spPr>
          <a:xfrm>
            <a:off x="10456667" y="8632825"/>
            <a:ext cx="80684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RISK SHARING</a:t>
            </a:r>
            <a:endParaRPr lang="en-US" sz="560" dirty="0"/>
          </a:p>
        </p:txBody>
      </p:sp>
      <p:sp>
        <p:nvSpPr>
          <p:cNvPr id="101" name="Text 99"/>
          <p:cNvSpPr/>
          <p:nvPr/>
        </p:nvSpPr>
        <p:spPr>
          <a:xfrm>
            <a:off x="10456667" y="8726021"/>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102" name="Text 100"/>
          <p:cNvSpPr/>
          <p:nvPr/>
        </p:nvSpPr>
        <p:spPr>
          <a:xfrm>
            <a:off x="10456667" y="8935884"/>
            <a:ext cx="1862693"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リスクの高い案件ほど、資金面の分担を担保す</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る。</a:t>
            </a:r>
            <a:endParaRPr lang="en-US" sz="620" dirty="0"/>
          </a:p>
        </p:txBody>
      </p:sp>
      <p:sp>
        <p:nvSpPr>
          <p:cNvPr id="103" name="Text 101"/>
          <p:cNvSpPr/>
          <p:nvPr/>
        </p:nvSpPr>
        <p:spPr>
          <a:xfrm>
            <a:off x="12692844" y="8632825"/>
            <a:ext cx="130998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INTEGRATED STRENGTH</a:t>
            </a:r>
            <a:endParaRPr lang="en-US" sz="560" dirty="0"/>
          </a:p>
        </p:txBody>
      </p:sp>
      <p:sp>
        <p:nvSpPr>
          <p:cNvPr id="104" name="Text 102"/>
          <p:cNvSpPr/>
          <p:nvPr/>
        </p:nvSpPr>
        <p:spPr>
          <a:xfrm>
            <a:off x="12692844" y="8726021"/>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105" name="Text 103"/>
          <p:cNvSpPr/>
          <p:nvPr/>
        </p:nvSpPr>
        <p:spPr>
          <a:xfrm>
            <a:off x="12692844" y="8935884"/>
            <a:ext cx="1949170"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幅広い産業接点を通じ、多様なバリューチェーン</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に知見を提供する。</a:t>
            </a:r>
            <a:endParaRPr lang="en-US" sz="620" dirty="0"/>
          </a:p>
        </p:txBody>
      </p:sp>
      <p:sp>
        <p:nvSpPr>
          <p:cNvPr id="106" name="Text 10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107" name="Text 105"/>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108" name="Text 106"/>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109" name="Text 107"/>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26773" y="101644"/>
            <a:ext cx="3460337"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23000" dirty="0"/>
          </a:p>
        </p:txBody>
      </p:sp>
      <p:sp>
        <p:nvSpPr>
          <p:cNvPr id="3" name="Text 1"/>
          <p:cNvSpPr/>
          <p:nvPr/>
        </p:nvSpPr>
        <p:spPr>
          <a:xfrm>
            <a:off x="508222" y="508222"/>
            <a:ext cx="219287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05 · Integrated value chain</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83544"/>
            <a:ext cx="12312015" cy="596144"/>
          </a:xfrm>
          <a:prstGeom prst="rect">
            <a:avLst/>
          </a:prstGeom>
          <a:noFill/>
          <a:ln/>
        </p:spPr>
        <p:txBody>
          <a:bodyPr wrap="none" lIns="0" tIns="0" rIns="0" bIns="0" rtlCol="0" anchor="t"/>
          <a:lstStyle/>
          <a:p>
            <a:pPr algn="l" indent="0" marL="0">
              <a:lnSpc>
                <a:spcPts val="4692"/>
              </a:lnSpc>
              <a:buNone/>
            </a:pPr>
            <a:r>
              <a:rPr lang="en-US" sz="4600" spc="-115"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6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69874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UPSTREAM</a:t>
            </a:r>
            <a:endParaRPr lang="en-US" sz="600" dirty="0"/>
          </a:p>
        </p:txBody>
      </p:sp>
      <p:sp>
        <p:nvSpPr>
          <p:cNvPr id="8" name="Text 6"/>
          <p:cNvSpPr/>
          <p:nvPr/>
        </p:nvSpPr>
        <p:spPr>
          <a:xfrm>
            <a:off x="635277" y="2579227"/>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0" name="Text 8"/>
          <p:cNvSpPr/>
          <p:nvPr/>
        </p:nvSpPr>
        <p:spPr>
          <a:xfrm>
            <a:off x="3557554"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76644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MIDSTREAM</a:t>
            </a:r>
            <a:endParaRPr lang="en-US" sz="600" dirty="0"/>
          </a:p>
        </p:txBody>
      </p:sp>
      <p:sp>
        <p:nvSpPr>
          <p:cNvPr id="12" name="Text 10"/>
          <p:cNvSpPr/>
          <p:nvPr/>
        </p:nvSpPr>
        <p:spPr>
          <a:xfrm>
            <a:off x="6225719" y="2579227"/>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4" name="Text 12"/>
          <p:cNvSpPr/>
          <p:nvPr/>
        </p:nvSpPr>
        <p:spPr>
          <a:xfrm>
            <a:off x="9147996"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900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DOWNSTREAM</a:t>
            </a:r>
            <a:endParaRPr lang="en-US" sz="600" dirty="0"/>
          </a:p>
        </p:txBody>
      </p:sp>
      <p:sp>
        <p:nvSpPr>
          <p:cNvPr id="16" name="Text 14"/>
          <p:cNvSpPr/>
          <p:nvPr/>
        </p:nvSpPr>
        <p:spPr>
          <a:xfrm>
            <a:off x="11816161" y="2579227"/>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82365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STEEL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5097"/>
            <a:ext cx="160522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鉱山会社／当社資産（BMA・IOC ほか）</a:t>
            </a:r>
            <a:endParaRPr lang="en-US" sz="62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5097"/>
            <a:ext cx="2087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a:t>
            </a:r>
            <a:endParaRPr lang="en-US" sz="62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509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鋼材を製造</a:t>
            </a:r>
            <a:endParaRPr lang="en-US" sz="62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5097"/>
            <a:ext cx="160238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2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5097"/>
            <a:ext cx="907950"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インフラ・モビリティ</a:t>
            </a:r>
            <a:endParaRPr lang="en-US" sz="620" dirty="0"/>
          </a:p>
        </p:txBody>
      </p:sp>
      <p:sp>
        <p:nvSpPr>
          <p:cNvPr id="28" name="Text 26"/>
          <p:cNvSpPr/>
          <p:nvPr/>
        </p:nvSpPr>
        <p:spPr>
          <a:xfrm>
            <a:off x="482811" y="3964131"/>
            <a:ext cx="138160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NON-FERROUS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7774"/>
            <a:ext cx="119664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Escondida・Quellaveco ほか</a:t>
            </a:r>
            <a:endParaRPr lang="en-US" sz="62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7774"/>
            <a:ext cx="2087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a:t>
            </a:r>
            <a:endParaRPr lang="en-US" sz="62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7774"/>
            <a:ext cx="82824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銅地金・アルミ地金</a:t>
            </a:r>
            <a:endParaRPr lang="en-US" sz="62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7774"/>
            <a:ext cx="85947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RtM・Triland Metals</a:t>
            </a:r>
            <a:endParaRPr lang="en-US" sz="62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7774"/>
            <a:ext cx="65616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配線・モーター</a:t>
            </a:r>
            <a:endParaRPr lang="en-US" sz="620" dirty="0"/>
          </a:p>
        </p:txBody>
      </p:sp>
      <p:sp>
        <p:nvSpPr>
          <p:cNvPr id="39" name="Text 37"/>
          <p:cNvSpPr/>
          <p:nvPr/>
        </p:nvSpPr>
        <p:spPr>
          <a:xfrm>
            <a:off x="635277" y="5387153"/>
            <a:ext cx="5062348"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INVESTMENT</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469620"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TRADING (RtM)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154626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THE VIRTUOUS CYCLE</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72507" y="6397752"/>
            <a:ext cx="1504119" cy="126039"/>
          </a:xfrm>
          <a:prstGeom prst="rect">
            <a:avLst/>
          </a:prstGeom>
          <a:noFill/>
          <a:ln/>
        </p:spPr>
        <p:txBody>
          <a:bodyPr wrap="none" lIns="0" tIns="0" rIns="0" bIns="0" rtlCol="0" anchor="t"/>
          <a:lstStyle/>
          <a:p>
            <a:pPr algn="ctr" indent="0" marL="0">
              <a:lnSpc>
                <a:spcPts val="992"/>
              </a:lnSpc>
              <a:buNone/>
            </a:pPr>
            <a:r>
              <a:rPr lang="en-US" sz="62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20" dirty="0"/>
          </a:p>
        </p:txBody>
      </p:sp>
      <p:sp>
        <p:nvSpPr>
          <p:cNvPr id="44" name="Text 42"/>
          <p:cNvSpPr/>
          <p:nvPr/>
        </p:nvSpPr>
        <p:spPr>
          <a:xfrm>
            <a:off x="550190" y="8201940"/>
            <a:ext cx="1948952" cy="126039"/>
          </a:xfrm>
          <a:prstGeom prst="rect">
            <a:avLst/>
          </a:prstGeom>
          <a:noFill/>
          <a:ln/>
        </p:spPr>
        <p:txBody>
          <a:bodyPr wrap="none" lIns="0" tIns="0" rIns="0" bIns="0" rtlCol="0" anchor="t"/>
          <a:lstStyle/>
          <a:p>
            <a:pPr algn="ctr" indent="0" marL="0">
              <a:lnSpc>
                <a:spcPts val="992"/>
              </a:lnSpc>
              <a:buNone/>
            </a:pPr>
            <a:r>
              <a:rPr lang="en-US" sz="62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20" dirty="0"/>
          </a:p>
        </p:txBody>
      </p:sp>
      <p:sp>
        <p:nvSpPr>
          <p:cNvPr id="45" name="Text 43"/>
          <p:cNvSpPr/>
          <p:nvPr/>
        </p:nvSpPr>
        <p:spPr>
          <a:xfrm>
            <a:off x="1143499" y="7264716"/>
            <a:ext cx="441280"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Invest</a:t>
            </a:r>
            <a:endParaRPr lang="en-US" sz="1100" dirty="0"/>
          </a:p>
        </p:txBody>
      </p:sp>
      <p:sp>
        <p:nvSpPr>
          <p:cNvPr id="46" name="Text 44"/>
          <p:cNvSpPr/>
          <p:nvPr/>
        </p:nvSpPr>
        <p:spPr>
          <a:xfrm>
            <a:off x="1143499" y="7417182"/>
            <a:ext cx="578639"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Trade</a:t>
            </a:r>
            <a:endParaRPr lang="en-US" sz="1100" dirty="0"/>
          </a:p>
        </p:txBody>
      </p:sp>
      <p:sp>
        <p:nvSpPr>
          <p:cNvPr id="47" name="Text 45"/>
          <p:cNvSpPr/>
          <p:nvPr/>
        </p:nvSpPr>
        <p:spPr>
          <a:xfrm>
            <a:off x="2668165" y="6495680"/>
            <a:ext cx="4942459"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出資案件から得られる持分見合いのオフテイクをRtMが引き受け、ヘッジ・在庫・物流などの機能を付</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加して欧州・シンガポール・米州の顧客に届けます。顧客と接するRtMを通じて得た市場の生きた情報</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は、資源投資の判断へ還元されます。肥料資源では、本格投資に先立ちシンガポールにトレーディング</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デスクを設け、市場理解を深めてから投資へ——この「事業機会の発掘」こそ、投資と販売を併せ持つ私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たちのアイデンティティです。</a:t>
            </a:r>
            <a:endParaRPr lang="en-US" sz="730" dirty="0"/>
          </a:p>
        </p:txBody>
      </p:sp>
      <p:sp>
        <p:nvSpPr>
          <p:cNvPr id="48" name="Text 46"/>
          <p:cNvSpPr/>
          <p:nvPr/>
        </p:nvSpPr>
        <p:spPr>
          <a:xfrm>
            <a:off x="2668165" y="7724974"/>
            <a:ext cx="117218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RtM FUNCTIONS</a:t>
            </a:r>
            <a:endParaRPr lang="en-US" sz="660" dirty="0"/>
          </a:p>
        </p:txBody>
      </p:sp>
      <p:sp>
        <p:nvSpPr>
          <p:cNvPr id="49" name="Text 47"/>
          <p:cNvSpPr/>
          <p:nvPr/>
        </p:nvSpPr>
        <p:spPr>
          <a:xfrm>
            <a:off x="2744399" y="7953674"/>
            <a:ext cx="603097"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Marketing &amp;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Procurement</a:t>
            </a:r>
            <a:endParaRPr lang="en-US" sz="580" dirty="0"/>
          </a:p>
        </p:txBody>
      </p:sp>
      <p:sp>
        <p:nvSpPr>
          <p:cNvPr id="50" name="Text 48"/>
          <p:cNvSpPr/>
          <p:nvPr/>
        </p:nvSpPr>
        <p:spPr>
          <a:xfrm>
            <a:off x="2744399" y="812570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販売・調達</a:t>
            </a:r>
            <a:endParaRPr lang="en-US" sz="620" dirty="0"/>
          </a:p>
        </p:txBody>
      </p:sp>
      <p:sp>
        <p:nvSpPr>
          <p:cNvPr id="51" name="Text 49"/>
          <p:cNvSpPr/>
          <p:nvPr/>
        </p:nvSpPr>
        <p:spPr>
          <a:xfrm>
            <a:off x="3633787" y="7953674"/>
            <a:ext cx="44171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Logistics</a:t>
            </a:r>
            <a:endParaRPr lang="en-US" sz="580" dirty="0"/>
          </a:p>
        </p:txBody>
      </p:sp>
      <p:sp>
        <p:nvSpPr>
          <p:cNvPr id="52" name="Text 50"/>
          <p:cNvSpPr/>
          <p:nvPr/>
        </p:nvSpPr>
        <p:spPr>
          <a:xfrm>
            <a:off x="3633787" y="8036768"/>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物流</a:t>
            </a:r>
            <a:endParaRPr lang="en-US" sz="620" dirty="0"/>
          </a:p>
        </p:txBody>
      </p:sp>
      <p:sp>
        <p:nvSpPr>
          <p:cNvPr id="53" name="Text 51"/>
          <p:cNvSpPr/>
          <p:nvPr/>
        </p:nvSpPr>
        <p:spPr>
          <a:xfrm>
            <a:off x="4523176" y="7953674"/>
            <a:ext cx="471852"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Financing</a:t>
            </a:r>
            <a:endParaRPr lang="en-US" sz="580" dirty="0"/>
          </a:p>
        </p:txBody>
      </p:sp>
      <p:sp>
        <p:nvSpPr>
          <p:cNvPr id="54" name="Text 52"/>
          <p:cNvSpPr/>
          <p:nvPr/>
        </p:nvSpPr>
        <p:spPr>
          <a:xfrm>
            <a:off x="4523176" y="8036768"/>
            <a:ext cx="5664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ファイナンス</a:t>
            </a:r>
            <a:endParaRPr lang="en-US" sz="620" dirty="0"/>
          </a:p>
        </p:txBody>
      </p:sp>
      <p:sp>
        <p:nvSpPr>
          <p:cNvPr id="55" name="Text 53"/>
          <p:cNvSpPr/>
          <p:nvPr/>
        </p:nvSpPr>
        <p:spPr>
          <a:xfrm>
            <a:off x="5412564" y="7953674"/>
            <a:ext cx="607901"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Risk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Management</a:t>
            </a:r>
            <a:endParaRPr lang="en-US" sz="580" dirty="0"/>
          </a:p>
        </p:txBody>
      </p:sp>
      <p:sp>
        <p:nvSpPr>
          <p:cNvPr id="56" name="Text 54"/>
          <p:cNvSpPr/>
          <p:nvPr/>
        </p:nvSpPr>
        <p:spPr>
          <a:xfrm>
            <a:off x="5412564" y="812570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リスク管理</a:t>
            </a:r>
            <a:endParaRPr lang="en-US" sz="620" dirty="0"/>
          </a:p>
        </p:txBody>
      </p:sp>
      <p:sp>
        <p:nvSpPr>
          <p:cNvPr id="57" name="Text 55"/>
          <p:cNvSpPr/>
          <p:nvPr/>
        </p:nvSpPr>
        <p:spPr>
          <a:xfrm>
            <a:off x="6301953" y="7953674"/>
            <a:ext cx="484518"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Carbon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Reduction</a:t>
            </a:r>
            <a:endParaRPr lang="en-US" sz="580" dirty="0"/>
          </a:p>
        </p:txBody>
      </p:sp>
      <p:sp>
        <p:nvSpPr>
          <p:cNvPr id="58" name="Text 56"/>
          <p:cNvSpPr/>
          <p:nvPr/>
        </p:nvSpPr>
        <p:spPr>
          <a:xfrm>
            <a:off x="6301953" y="8125707"/>
            <a:ext cx="31025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脱炭素</a:t>
            </a:r>
            <a:endParaRPr lang="en-US" sz="620" dirty="0"/>
          </a:p>
        </p:txBody>
      </p:sp>
      <p:sp>
        <p:nvSpPr>
          <p:cNvPr id="59" name="Text 57"/>
          <p:cNvSpPr/>
          <p:nvPr/>
        </p:nvSpPr>
        <p:spPr>
          <a:xfrm>
            <a:off x="8881179" y="6301953"/>
            <a:ext cx="131129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Our commitment</a:t>
            </a:r>
            <a:endParaRPr lang="en-US" sz="660" dirty="0"/>
          </a:p>
        </p:txBody>
      </p:sp>
      <p:sp>
        <p:nvSpPr>
          <p:cNvPr id="60" name="Text 58"/>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61" name="Text 59"/>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62" name="Text 60"/>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63" name="Text 61"/>
          <p:cNvSpPr/>
          <p:nvPr/>
        </p:nvSpPr>
        <p:spPr>
          <a:xfrm>
            <a:off x="8881179" y="8309429"/>
            <a:ext cx="238177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Mitsubishi Corporation　Mineral Resources Group</a:t>
            </a:r>
            <a:endParaRPr lang="en-US" sz="640" dirty="0"/>
          </a:p>
        </p:txBody>
      </p:sp>
      <p:sp>
        <p:nvSpPr>
          <p:cNvPr id="64" name="Text 62"/>
          <p:cNvSpPr/>
          <p:nvPr/>
        </p:nvSpPr>
        <p:spPr>
          <a:xfrm>
            <a:off x="8881179" y="8443346"/>
            <a:ext cx="3556859" cy="126039"/>
          </a:xfrm>
          <a:prstGeom prst="rect">
            <a:avLst/>
          </a:prstGeom>
          <a:noFill/>
          <a:ln/>
        </p:spPr>
        <p:txBody>
          <a:bodyPr wrap="none" lIns="0" tIns="0" rIns="0" bIns="0" rtlCol="0" anchor="t"/>
          <a:lstStyle/>
          <a:p>
            <a:pPr algn="l" indent="0" marL="0">
              <a:lnSpc>
                <a:spcPts val="992"/>
              </a:lnSpc>
              <a:buNone/>
            </a:pPr>
            <a:r>
              <a:rPr lang="en-US" sz="620" dirty="0">
                <a:solidFill>
                  <a:srgbClr val="9AA1A8"/>
                </a:solidFill>
                <a:latin typeface="Noto Sans JP" pitchFamily="34" charset="0"/>
                <a:ea typeface="Noto Sans JP" pitchFamily="34" charset="-122"/>
                <a:cs typeface="Noto Sans JP" pitchFamily="34" charset="-120"/>
              </a:rPr>
              <a:t>2-3-1 Marunouchi, Chiyoda-ku, Tokyo 100-8086, Japan　|　www.mitsubishicorp.com</a:t>
            </a:r>
            <a:endParaRPr lang="en-US" sz="620" dirty="0"/>
          </a:p>
        </p:txBody>
      </p:sp>
      <p:sp>
        <p:nvSpPr>
          <p:cNvPr id="65" name="Text 63"/>
          <p:cNvSpPr/>
          <p:nvPr/>
        </p:nvSpPr>
        <p:spPr>
          <a:xfrm>
            <a:off x="127055" y="10011973"/>
            <a:ext cx="75967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Port &amp; rail</a:t>
            </a:r>
            <a:endParaRPr lang="en-US" sz="580" dirty="0"/>
          </a:p>
        </p:txBody>
      </p:sp>
      <p:sp>
        <p:nvSpPr>
          <p:cNvPr id="66" name="Text 64"/>
          <p:cNvSpPr/>
          <p:nvPr/>
        </p:nvSpPr>
        <p:spPr>
          <a:xfrm>
            <a:off x="5171159" y="10011973"/>
            <a:ext cx="12881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logistics</a:t>
            </a:r>
            <a:endParaRPr lang="en-US" sz="580" dirty="0"/>
          </a:p>
        </p:txBody>
      </p:sp>
      <p:sp>
        <p:nvSpPr>
          <p:cNvPr id="67" name="Text 65"/>
          <p:cNvSpPr/>
          <p:nvPr/>
        </p:nvSpPr>
        <p:spPr>
          <a:xfrm>
            <a:off x="10253379" y="10011973"/>
            <a:ext cx="7631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Operations</a:t>
            </a:r>
            <a:endParaRPr lang="en-US" sz="580" dirty="0"/>
          </a:p>
        </p:txBody>
      </p:sp>
      <p:sp>
        <p:nvSpPr>
          <p:cNvPr id="68" name="Text 66"/>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9" name="Text 67"/>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70" name="Text 68"/>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71" name="Text 69"/>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2026-10-07T09:32:28Z</dcterms:created>
  <dcterms:modified xsi:type="dcterms:W3CDTF">2026-10-07T09:32:28Z</dcterms:modified>
</cp:coreProperties>
</file>