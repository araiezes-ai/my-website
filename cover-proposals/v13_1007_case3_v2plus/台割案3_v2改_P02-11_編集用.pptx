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7055" y="2922276"/>
            <a:ext cx="425993"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Cities</a:t>
            </a:r>
            <a:endParaRPr lang="en-US" sz="580" dirty="0"/>
          </a:p>
        </p:txBody>
      </p:sp>
      <p:sp>
        <p:nvSpPr>
          <p:cNvPr id="3" name="Text 1"/>
          <p:cNvSpPr/>
          <p:nvPr/>
        </p:nvSpPr>
        <p:spPr>
          <a:xfrm>
            <a:off x="127055" y="3036626"/>
            <a:ext cx="1356278"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Steel · Copper · Aluminium</a:t>
            </a:r>
            <a:endParaRPr lang="en-US" sz="580" dirty="0"/>
          </a:p>
        </p:txBody>
      </p:sp>
      <p:sp>
        <p:nvSpPr>
          <p:cNvPr id="4" name="Text 2"/>
          <p:cNvSpPr/>
          <p:nvPr/>
        </p:nvSpPr>
        <p:spPr>
          <a:xfrm>
            <a:off x="4370709" y="1308672"/>
            <a:ext cx="597201"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Mobility</a:t>
            </a:r>
            <a:endParaRPr lang="en-US" sz="580" dirty="0"/>
          </a:p>
        </p:txBody>
      </p:sp>
      <p:sp>
        <p:nvSpPr>
          <p:cNvPr id="5" name="Text 3"/>
          <p:cNvSpPr/>
          <p:nvPr/>
        </p:nvSpPr>
        <p:spPr>
          <a:xfrm>
            <a:off x="4370709" y="1423022"/>
            <a:ext cx="1211931"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Steel · Copper · Lithium</a:t>
            </a:r>
            <a:endParaRPr lang="en-US" sz="580" dirty="0"/>
          </a:p>
        </p:txBody>
      </p:sp>
      <p:sp>
        <p:nvSpPr>
          <p:cNvPr id="6" name="Text 4"/>
          <p:cNvSpPr/>
          <p:nvPr/>
        </p:nvSpPr>
        <p:spPr>
          <a:xfrm>
            <a:off x="5400692" y="2326021"/>
            <a:ext cx="1002071" cy="126039"/>
          </a:xfrm>
          <a:prstGeom prst="rect">
            <a:avLst/>
          </a:prstGeom>
          <a:noFill/>
          <a:ln/>
        </p:spPr>
        <p:txBody>
          <a:bodyPr wrap="none" lIns="0" tIns="0" rIns="0" bIns="0" rtlCol="0" anchor="t"/>
          <a:lstStyle/>
          <a:p>
            <a:pPr algn="ctr" indent="0" marL="0">
              <a:lnSpc>
                <a:spcPts val="992"/>
              </a:lnSpc>
              <a:buNone/>
            </a:pPr>
            <a:r>
              <a:rPr lang="en-US" sz="620" dirty="0">
                <a:solidFill>
                  <a:srgbClr val="8A96A3"/>
                </a:solidFill>
                <a:latin typeface="Noto Sans JP" pitchFamily="34" charset="0"/>
                <a:ea typeface="Noto Sans JP" pitchFamily="34" charset="-122"/>
                <a:cs typeface="Noto Sans JP" pitchFamily="34" charset="-120"/>
              </a:rPr>
              <a:t>鉄道の写真（ストック）</a:t>
            </a:r>
            <a:endParaRPr lang="en-US" sz="620" dirty="0"/>
          </a:p>
        </p:txBody>
      </p:sp>
      <p:sp>
        <p:nvSpPr>
          <p:cNvPr id="7" name="Text 5"/>
          <p:cNvSpPr/>
          <p:nvPr/>
        </p:nvSpPr>
        <p:spPr>
          <a:xfrm>
            <a:off x="4370709" y="2922276"/>
            <a:ext cx="620567"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Inter Medium" pitchFamily="34" charset="0"/>
                <a:ea typeface="Inter Medium" pitchFamily="34" charset="-122"/>
                <a:cs typeface="Inter Medium" pitchFamily="34" charset="-120"/>
              </a:rPr>
              <a:t>Railways</a:t>
            </a:r>
            <a:endParaRPr lang="en-US" sz="580" dirty="0"/>
          </a:p>
        </p:txBody>
      </p:sp>
      <p:sp>
        <p:nvSpPr>
          <p:cNvPr id="8" name="Text 6"/>
          <p:cNvSpPr/>
          <p:nvPr/>
        </p:nvSpPr>
        <p:spPr>
          <a:xfrm>
            <a:off x="4370709" y="3036626"/>
            <a:ext cx="75290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Inter" pitchFamily="34" charset="0"/>
                <a:ea typeface="Inter" pitchFamily="34" charset="-122"/>
                <a:cs typeface="Inter" pitchFamily="34" charset="-120"/>
              </a:rPr>
              <a:t>Steel · Copper</a:t>
            </a:r>
            <a:endParaRPr lang="en-US" sz="580" dirty="0"/>
          </a:p>
        </p:txBody>
      </p:sp>
      <p:sp>
        <p:nvSpPr>
          <p:cNvPr id="9" name="Text 7"/>
          <p:cNvSpPr/>
          <p:nvPr/>
        </p:nvSpPr>
        <p:spPr>
          <a:xfrm>
            <a:off x="127055" y="4828109"/>
            <a:ext cx="79199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Renewables</a:t>
            </a:r>
            <a:endParaRPr lang="en-US" sz="580" dirty="0"/>
          </a:p>
        </p:txBody>
      </p:sp>
      <p:sp>
        <p:nvSpPr>
          <p:cNvPr id="10" name="Text 8"/>
          <p:cNvSpPr/>
          <p:nvPr/>
        </p:nvSpPr>
        <p:spPr>
          <a:xfrm>
            <a:off x="127055" y="4942459"/>
            <a:ext cx="75290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Copper · Steel</a:t>
            </a:r>
            <a:endParaRPr lang="en-US" sz="580" dirty="0"/>
          </a:p>
        </p:txBody>
      </p:sp>
      <p:sp>
        <p:nvSpPr>
          <p:cNvPr id="11" name="Text 9"/>
          <p:cNvSpPr/>
          <p:nvPr/>
        </p:nvSpPr>
        <p:spPr>
          <a:xfrm>
            <a:off x="2248882" y="4828109"/>
            <a:ext cx="82977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Power grids</a:t>
            </a:r>
            <a:endParaRPr lang="en-US" sz="580" dirty="0"/>
          </a:p>
        </p:txBody>
      </p:sp>
      <p:sp>
        <p:nvSpPr>
          <p:cNvPr id="12" name="Text 10"/>
          <p:cNvSpPr/>
          <p:nvPr/>
        </p:nvSpPr>
        <p:spPr>
          <a:xfrm>
            <a:off x="2248882" y="4942459"/>
            <a:ext cx="1006220"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Copper · Aluminium</a:t>
            </a:r>
            <a:endParaRPr lang="en-US" sz="580" dirty="0"/>
          </a:p>
        </p:txBody>
      </p:sp>
      <p:sp>
        <p:nvSpPr>
          <p:cNvPr id="13" name="Text 11"/>
          <p:cNvSpPr/>
          <p:nvPr/>
        </p:nvSpPr>
        <p:spPr>
          <a:xfrm>
            <a:off x="4839693" y="4085739"/>
            <a:ext cx="2123872" cy="126039"/>
          </a:xfrm>
          <a:prstGeom prst="rect">
            <a:avLst/>
          </a:prstGeom>
          <a:noFill/>
          <a:ln/>
        </p:spPr>
        <p:txBody>
          <a:bodyPr wrap="none" lIns="0" tIns="0" rIns="0" bIns="0" rtlCol="0" anchor="t"/>
          <a:lstStyle/>
          <a:p>
            <a:pPr algn="ctr" indent="0" marL="0">
              <a:lnSpc>
                <a:spcPts val="992"/>
              </a:lnSpc>
              <a:buNone/>
            </a:pPr>
            <a:r>
              <a:rPr lang="en-US" sz="620" dirty="0">
                <a:solidFill>
                  <a:srgbClr val="8A96A3"/>
                </a:solidFill>
                <a:latin typeface="Noto Sans JP" pitchFamily="34" charset="0"/>
                <a:ea typeface="Noto Sans JP" pitchFamily="34" charset="-122"/>
                <a:cs typeface="Noto Sans JP" pitchFamily="34" charset="-120"/>
              </a:rPr>
              <a:t>スマートフォン・データセンターの写真（ストック）</a:t>
            </a:r>
            <a:endParaRPr lang="en-US" sz="620" dirty="0"/>
          </a:p>
        </p:txBody>
      </p:sp>
      <p:sp>
        <p:nvSpPr>
          <p:cNvPr id="14" name="Text 12"/>
          <p:cNvSpPr/>
          <p:nvPr/>
        </p:nvSpPr>
        <p:spPr>
          <a:xfrm>
            <a:off x="4370709" y="4828109"/>
            <a:ext cx="535400"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Inter Medium" pitchFamily="34" charset="0"/>
                <a:ea typeface="Inter Medium" pitchFamily="34" charset="-122"/>
                <a:cs typeface="Inter Medium" pitchFamily="34" charset="-120"/>
              </a:rPr>
              <a:t>Devices</a:t>
            </a:r>
            <a:endParaRPr lang="en-US" sz="580" dirty="0"/>
          </a:p>
        </p:txBody>
      </p:sp>
      <p:sp>
        <p:nvSpPr>
          <p:cNvPr id="15" name="Text 13"/>
          <p:cNvSpPr/>
          <p:nvPr/>
        </p:nvSpPr>
        <p:spPr>
          <a:xfrm>
            <a:off x="4370709" y="4942459"/>
            <a:ext cx="1267835"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Inter" pitchFamily="34" charset="0"/>
                <a:ea typeface="Inter" pitchFamily="34" charset="-122"/>
                <a:cs typeface="Inter" pitchFamily="34" charset="-120"/>
              </a:rPr>
              <a:t>Copper · Lithium · Nickel</a:t>
            </a:r>
            <a:endParaRPr lang="en-US" sz="580" dirty="0"/>
          </a:p>
        </p:txBody>
      </p:sp>
      <p:sp>
        <p:nvSpPr>
          <p:cNvPr id="16" name="Text 14"/>
          <p:cNvSpPr/>
          <p:nvPr/>
        </p:nvSpPr>
        <p:spPr>
          <a:xfrm>
            <a:off x="7737680" y="3100154"/>
            <a:ext cx="492598"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Metals</a:t>
            </a:r>
            <a:endParaRPr lang="en-US" sz="580" dirty="0"/>
          </a:p>
        </p:txBody>
      </p:sp>
      <p:sp>
        <p:nvSpPr>
          <p:cNvPr id="17" name="Text 15"/>
          <p:cNvSpPr/>
          <p:nvPr/>
        </p:nvSpPr>
        <p:spPr>
          <a:xfrm>
            <a:off x="7737680" y="3214504"/>
            <a:ext cx="1667464"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The materials behind modern life</a:t>
            </a:r>
            <a:endParaRPr lang="en-US" sz="580" dirty="0"/>
          </a:p>
        </p:txBody>
      </p:sp>
      <p:sp>
        <p:nvSpPr>
          <p:cNvPr id="18" name="Text 16"/>
          <p:cNvSpPr/>
          <p:nvPr/>
        </p:nvSpPr>
        <p:spPr>
          <a:xfrm>
            <a:off x="11981333" y="3100154"/>
            <a:ext cx="130539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Smelting &amp; refining</a:t>
            </a:r>
            <a:endParaRPr lang="en-US" sz="580" dirty="0"/>
          </a:p>
        </p:txBody>
      </p:sp>
      <p:sp>
        <p:nvSpPr>
          <p:cNvPr id="19" name="Text 17"/>
          <p:cNvSpPr/>
          <p:nvPr/>
        </p:nvSpPr>
        <p:spPr>
          <a:xfrm>
            <a:off x="7737680" y="4828109"/>
            <a:ext cx="1053171"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Seaborne trade</a:t>
            </a:r>
            <a:endParaRPr lang="en-US" sz="580" dirty="0"/>
          </a:p>
        </p:txBody>
      </p:sp>
      <p:sp>
        <p:nvSpPr>
          <p:cNvPr id="20" name="Text 18"/>
          <p:cNvSpPr/>
          <p:nvPr/>
        </p:nvSpPr>
        <p:spPr>
          <a:xfrm>
            <a:off x="11053828" y="4828109"/>
            <a:ext cx="113593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Copper cathodes</a:t>
            </a:r>
            <a:endParaRPr lang="en-US" sz="580" dirty="0"/>
          </a:p>
        </p:txBody>
      </p:sp>
      <p:sp>
        <p:nvSpPr>
          <p:cNvPr id="21" name="Text 19"/>
          <p:cNvSpPr/>
          <p:nvPr/>
        </p:nvSpPr>
        <p:spPr>
          <a:xfrm>
            <a:off x="508222" y="5565031"/>
            <a:ext cx="10863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INTRODUCTION</a:t>
            </a:r>
            <a:endParaRPr lang="en-US" sz="660" dirty="0"/>
          </a:p>
        </p:txBody>
      </p:sp>
      <p:sp>
        <p:nvSpPr>
          <p:cNvPr id="22" name="Text 20"/>
          <p:cNvSpPr/>
          <p:nvPr/>
        </p:nvSpPr>
        <p:spPr>
          <a:xfrm>
            <a:off x="508222" y="5704792"/>
            <a:ext cx="85532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導入｜社会と金属</a:t>
            </a:r>
            <a:endParaRPr lang="en-US" sz="660" dirty="0"/>
          </a:p>
        </p:txBody>
      </p:sp>
      <p:sp>
        <p:nvSpPr>
          <p:cNvPr id="23" name="Text 21"/>
          <p:cNvSpPr/>
          <p:nvPr/>
        </p:nvSpPr>
        <p:spPr>
          <a:xfrm>
            <a:off x="508222" y="5965256"/>
            <a:ext cx="4744173" cy="1295966"/>
          </a:xfrm>
          <a:prstGeom prst="rect">
            <a:avLst/>
          </a:prstGeom>
          <a:noFill/>
          <a:ln/>
        </p:spPr>
        <p:txBody>
          <a:bodyPr wrap="none" lIns="0" tIns="0" rIns="0" bIns="0" rtlCol="0" anchor="t"/>
          <a:lstStyle/>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Metals shape</a:t>
            </a:r>
            <a:endParaRPr lang="en-US" sz="5000" dirty="0"/>
          </a:p>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the way we live.</a:t>
            </a:r>
            <a:endParaRPr lang="en-US" sz="5000" dirty="0"/>
          </a:p>
        </p:txBody>
      </p:sp>
      <p:sp>
        <p:nvSpPr>
          <p:cNvPr id="24" name="Text 22"/>
          <p:cNvSpPr/>
          <p:nvPr/>
        </p:nvSpPr>
        <p:spPr>
          <a:xfrm>
            <a:off x="508222" y="7512156"/>
            <a:ext cx="3271004" cy="285875"/>
          </a:xfrm>
          <a:prstGeom prst="rect">
            <a:avLst/>
          </a:prstGeom>
          <a:noFill/>
          <a:ln/>
        </p:spPr>
        <p:txBody>
          <a:bodyPr wrap="none" lIns="0" tIns="0" rIns="0" bIns="0" rtlCol="0" anchor="t"/>
          <a:lstStyle/>
          <a:p>
            <a:pPr algn="l" indent="0" marL="0">
              <a:lnSpc>
                <a:spcPts val="2250"/>
              </a:lnSpc>
              <a:buNone/>
            </a:pPr>
            <a:r>
              <a:rPr lang="en-US" sz="1500" spc="50" kern="0" dirty="0">
                <a:solidFill>
                  <a:srgbClr val="121519"/>
                </a:solidFill>
                <a:latin typeface="Noto Sans JP Medium" pitchFamily="34" charset="0"/>
                <a:ea typeface="Noto Sans JP Medium" pitchFamily="34" charset="-122"/>
                <a:cs typeface="Noto Sans JP Medium" pitchFamily="34" charset="-120"/>
              </a:rPr>
              <a:t>暮らしのすべてに、金属がある。</a:t>
            </a:r>
            <a:endParaRPr lang="en-US" sz="1500" dirty="0"/>
          </a:p>
        </p:txBody>
      </p:sp>
      <p:sp>
        <p:nvSpPr>
          <p:cNvPr id="25" name="Text 23"/>
          <p:cNvSpPr/>
          <p:nvPr/>
        </p:nvSpPr>
        <p:spPr>
          <a:xfrm>
            <a:off x="508222" y="7867880"/>
            <a:ext cx="3544848"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ビル、鉄道、自動車、スマートフォン、送電網、再生可能エネルギー——</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私たちの豊かな暮らしは、鉄や銅をはじめとする金属に支えられていま</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す。人口の増加と新興国の発展、そして社会の電化によって、金属の需要</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はこれからも拡大を続けます。一方で、良質な資源の開発は年々難しくな</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り、地政学的なリスクも常態化しつつあります。</a:t>
            </a:r>
            <a:endParaRPr lang="en-US" sz="730" dirty="0"/>
          </a:p>
        </p:txBody>
      </p:sp>
      <p:sp>
        <p:nvSpPr>
          <p:cNvPr id="26" name="Text 24"/>
          <p:cNvSpPr/>
          <p:nvPr/>
        </p:nvSpPr>
        <p:spPr>
          <a:xfrm>
            <a:off x="4319887" y="7877441"/>
            <a:ext cx="141829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Inter SemiBold" pitchFamily="34" charset="0"/>
                <a:ea typeface="Inter SemiBold" pitchFamily="34" charset="-122"/>
                <a:cs typeface="Inter SemiBold" pitchFamily="34" charset="-120"/>
              </a:rPr>
              <a:t>DEMAND vs SUPPLY</a:t>
            </a:r>
            <a:endParaRPr lang="en-US" sz="660" dirty="0"/>
          </a:p>
        </p:txBody>
      </p:sp>
      <p:sp>
        <p:nvSpPr>
          <p:cNvPr id="27" name="Text 25"/>
          <p:cNvSpPr/>
          <p:nvPr/>
        </p:nvSpPr>
        <p:spPr>
          <a:xfrm>
            <a:off x="4319887" y="8000430"/>
            <a:ext cx="9551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概念図（数値は入れない）</a:t>
            </a:r>
            <a:endParaRPr lang="en-US" sz="540" dirty="0"/>
          </a:p>
        </p:txBody>
      </p:sp>
      <p:sp>
        <p:nvSpPr>
          <p:cNvPr id="28" name="Text 26"/>
          <p:cNvSpPr/>
          <p:nvPr/>
        </p:nvSpPr>
        <p:spPr>
          <a:xfrm>
            <a:off x="6162192" y="8156963"/>
            <a:ext cx="43210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Demand</a:t>
            </a:r>
            <a:endParaRPr lang="en-US" sz="640" dirty="0"/>
          </a:p>
        </p:txBody>
      </p:sp>
      <p:sp>
        <p:nvSpPr>
          <p:cNvPr id="29" name="Text 27"/>
          <p:cNvSpPr/>
          <p:nvPr/>
        </p:nvSpPr>
        <p:spPr>
          <a:xfrm>
            <a:off x="6162192" y="8265214"/>
            <a:ext cx="520114"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人口増・電化</a:t>
            </a:r>
            <a:endParaRPr lang="en-US" sz="560" dirty="0"/>
          </a:p>
        </p:txBody>
      </p:sp>
      <p:sp>
        <p:nvSpPr>
          <p:cNvPr id="30" name="Text 28"/>
          <p:cNvSpPr/>
          <p:nvPr/>
        </p:nvSpPr>
        <p:spPr>
          <a:xfrm>
            <a:off x="6263836" y="8817651"/>
            <a:ext cx="37249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Supply</a:t>
            </a:r>
            <a:endParaRPr lang="en-US" sz="640" dirty="0"/>
          </a:p>
        </p:txBody>
      </p:sp>
      <p:sp>
        <p:nvSpPr>
          <p:cNvPr id="31" name="Text 29"/>
          <p:cNvSpPr/>
          <p:nvPr/>
        </p:nvSpPr>
        <p:spPr>
          <a:xfrm>
            <a:off x="6263836" y="8925903"/>
            <a:ext cx="676471"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供給制約・地政学</a:t>
            </a:r>
            <a:endParaRPr lang="en-US" sz="560" dirty="0"/>
          </a:p>
        </p:txBody>
      </p:sp>
      <p:sp>
        <p:nvSpPr>
          <p:cNvPr id="32" name="Text 30"/>
          <p:cNvSpPr/>
          <p:nvPr/>
        </p:nvSpPr>
        <p:spPr>
          <a:xfrm>
            <a:off x="5730203" y="8716007"/>
            <a:ext cx="32357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GAP</a:t>
            </a:r>
            <a:endParaRPr lang="en-US" sz="660" dirty="0"/>
          </a:p>
        </p:txBody>
      </p:sp>
      <p:sp>
        <p:nvSpPr>
          <p:cNvPr id="33" name="Text 31"/>
          <p:cNvSpPr/>
          <p:nvPr/>
        </p:nvSpPr>
        <p:spPr>
          <a:xfrm>
            <a:off x="4396120" y="9372630"/>
            <a:ext cx="264395"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Today</a:t>
            </a:r>
            <a:endParaRPr lang="en-US" sz="540" dirty="0"/>
          </a:p>
        </p:txBody>
      </p:sp>
      <p:sp>
        <p:nvSpPr>
          <p:cNvPr id="34" name="Text 32"/>
          <p:cNvSpPr/>
          <p:nvPr/>
        </p:nvSpPr>
        <p:spPr>
          <a:xfrm>
            <a:off x="6543358" y="9372630"/>
            <a:ext cx="28077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Future</a:t>
            </a:r>
            <a:endParaRPr lang="en-US" sz="540" dirty="0"/>
          </a:p>
        </p:txBody>
      </p:sp>
      <p:sp>
        <p:nvSpPr>
          <p:cNvPr id="35" name="Text 33"/>
          <p:cNvSpPr/>
          <p:nvPr/>
        </p:nvSpPr>
        <p:spPr>
          <a:xfrm>
            <a:off x="8068024" y="5565031"/>
            <a:ext cx="109531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CORE MESSAGE</a:t>
            </a:r>
            <a:endParaRPr lang="en-US" sz="660" dirty="0"/>
          </a:p>
        </p:txBody>
      </p:sp>
      <p:sp>
        <p:nvSpPr>
          <p:cNvPr id="36" name="Text 34"/>
          <p:cNvSpPr/>
          <p:nvPr/>
        </p:nvSpPr>
        <p:spPr>
          <a:xfrm>
            <a:off x="8068024" y="5704792"/>
            <a:ext cx="7483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コアメッセージ</a:t>
            </a:r>
            <a:endParaRPr lang="en-US" sz="660" dirty="0"/>
          </a:p>
        </p:txBody>
      </p:sp>
      <p:sp>
        <p:nvSpPr>
          <p:cNvPr id="37" name="Text 35"/>
          <p:cNvSpPr/>
          <p:nvPr/>
        </p:nvSpPr>
        <p:spPr>
          <a:xfrm>
            <a:off x="8068024" y="5964620"/>
            <a:ext cx="4628652" cy="1120629"/>
          </a:xfrm>
          <a:prstGeom prst="rect">
            <a:avLst/>
          </a:prstGeom>
          <a:noFill/>
          <a:ln/>
        </p:spPr>
        <p:txBody>
          <a:bodyPr wrap="none" lIns="0" tIns="0" rIns="0" bIns="0" rtlCol="0" anchor="t"/>
          <a:lstStyle/>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Strength to Hold.</a:t>
            </a:r>
            <a:endParaRPr lang="en-US" sz="4200" dirty="0"/>
          </a:p>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Power to Connect.</a:t>
            </a:r>
            <a:endParaRPr lang="en-US" sz="4200" dirty="0"/>
          </a:p>
        </p:txBody>
      </p:sp>
      <p:sp>
        <p:nvSpPr>
          <p:cNvPr id="38" name="Text 36"/>
          <p:cNvSpPr/>
          <p:nvPr/>
        </p:nvSpPr>
        <p:spPr>
          <a:xfrm>
            <a:off x="8068024" y="7188165"/>
            <a:ext cx="1930390" cy="247758"/>
          </a:xfrm>
          <a:prstGeom prst="rect">
            <a:avLst/>
          </a:prstGeom>
          <a:noFill/>
          <a:ln/>
        </p:spPr>
        <p:txBody>
          <a:bodyPr wrap="none" lIns="0" tIns="0" rIns="0" bIns="0" rtlCol="0" anchor="t"/>
          <a:lstStyle/>
          <a:p>
            <a:pPr algn="l" indent="0" marL="0">
              <a:lnSpc>
                <a:spcPts val="1950"/>
              </a:lnSpc>
              <a:buNone/>
            </a:pPr>
            <a:r>
              <a:rPr lang="en-US" sz="1300" spc="50" kern="0" dirty="0">
                <a:solidFill>
                  <a:srgbClr val="121519"/>
                </a:solidFill>
                <a:latin typeface="Noto Sans JP Medium" pitchFamily="34" charset="0"/>
                <a:ea typeface="Noto Sans JP Medium" pitchFamily="34" charset="-122"/>
                <a:cs typeface="Noto Sans JP Medium" pitchFamily="34" charset="-120"/>
              </a:rPr>
              <a:t>持つ力と、つなぐ力。</a:t>
            </a:r>
            <a:endParaRPr lang="en-US" sz="1300" dirty="0"/>
          </a:p>
        </p:txBody>
      </p:sp>
      <p:sp>
        <p:nvSpPr>
          <p:cNvPr id="39" name="Text 37"/>
          <p:cNvSpPr/>
          <p:nvPr/>
        </p:nvSpPr>
        <p:spPr>
          <a:xfrm>
            <a:off x="8068024" y="7486713"/>
            <a:ext cx="4243654"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資源は、そこに「ある」だけでは、まだ価値ではありません。誰かが見出し、育て、必要</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とする場所へ届けて、はじめて力になる。私たちは、世界有数の資産に関わり、投資とト</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レーディングの両輪で川上から川下までをつなぎます。フェアな立場だからこそ、埋めら</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れる隙間がある。多様なパートナーと使い手の間に立ち、その時々の最適解を導く。世界</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に眠る価値を、社会の力へ。</a:t>
            </a:r>
            <a:endParaRPr lang="en-US" sz="730" dirty="0"/>
          </a:p>
        </p:txBody>
      </p:sp>
      <p:sp>
        <p:nvSpPr>
          <p:cNvPr id="40" name="Text 38"/>
          <p:cNvSpPr/>
          <p:nvPr/>
        </p:nvSpPr>
        <p:spPr>
          <a:xfrm>
            <a:off x="12260855" y="7496274"/>
            <a:ext cx="77910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CONTENTS</a:t>
            </a:r>
            <a:endParaRPr lang="en-US" sz="660" dirty="0"/>
          </a:p>
        </p:txBody>
      </p:sp>
      <p:sp>
        <p:nvSpPr>
          <p:cNvPr id="41" name="Text 39"/>
          <p:cNvSpPr/>
          <p:nvPr/>
        </p:nvSpPr>
        <p:spPr>
          <a:xfrm>
            <a:off x="12260855" y="7775796"/>
            <a:ext cx="15411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01</a:t>
            </a:r>
            <a:endParaRPr lang="en-US" sz="640" dirty="0"/>
          </a:p>
        </p:txBody>
      </p:sp>
      <p:sp>
        <p:nvSpPr>
          <p:cNvPr id="42" name="Text 40"/>
          <p:cNvSpPr/>
          <p:nvPr/>
        </p:nvSpPr>
        <p:spPr>
          <a:xfrm>
            <a:off x="12514966" y="7775796"/>
            <a:ext cx="62384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Who We Are</a:t>
            </a:r>
            <a:endParaRPr lang="en-US" sz="640" dirty="0"/>
          </a:p>
        </p:txBody>
      </p:sp>
      <p:sp>
        <p:nvSpPr>
          <p:cNvPr id="43" name="Text 41"/>
          <p:cNvSpPr/>
          <p:nvPr/>
        </p:nvSpPr>
        <p:spPr>
          <a:xfrm>
            <a:off x="14357271" y="7775796"/>
            <a:ext cx="305013"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P.04</a:t>
            </a:r>
            <a:endParaRPr lang="en-US" sz="540" dirty="0"/>
          </a:p>
        </p:txBody>
      </p:sp>
      <p:sp>
        <p:nvSpPr>
          <p:cNvPr id="44" name="Text 42"/>
          <p:cNvSpPr/>
          <p:nvPr/>
        </p:nvSpPr>
        <p:spPr>
          <a:xfrm>
            <a:off x="12260855" y="8042613"/>
            <a:ext cx="17202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02</a:t>
            </a:r>
            <a:endParaRPr lang="en-US" sz="640" dirty="0"/>
          </a:p>
        </p:txBody>
      </p:sp>
      <p:sp>
        <p:nvSpPr>
          <p:cNvPr id="45" name="Text 43"/>
          <p:cNvSpPr/>
          <p:nvPr/>
        </p:nvSpPr>
        <p:spPr>
          <a:xfrm>
            <a:off x="12514966" y="8042613"/>
            <a:ext cx="70071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Our Strengths</a:t>
            </a:r>
            <a:endParaRPr lang="en-US" sz="640" dirty="0"/>
          </a:p>
        </p:txBody>
      </p:sp>
      <p:sp>
        <p:nvSpPr>
          <p:cNvPr id="46" name="Text 44"/>
          <p:cNvSpPr/>
          <p:nvPr/>
        </p:nvSpPr>
        <p:spPr>
          <a:xfrm>
            <a:off x="14357271" y="8042613"/>
            <a:ext cx="301082"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P.05</a:t>
            </a:r>
            <a:endParaRPr lang="en-US" sz="540" dirty="0"/>
          </a:p>
        </p:txBody>
      </p:sp>
      <p:sp>
        <p:nvSpPr>
          <p:cNvPr id="47" name="Text 45"/>
          <p:cNvSpPr/>
          <p:nvPr/>
        </p:nvSpPr>
        <p:spPr>
          <a:xfrm>
            <a:off x="12260855" y="8309429"/>
            <a:ext cx="17289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03</a:t>
            </a:r>
            <a:endParaRPr lang="en-US" sz="640" dirty="0"/>
          </a:p>
        </p:txBody>
      </p:sp>
      <p:sp>
        <p:nvSpPr>
          <p:cNvPr id="48" name="Text 46"/>
          <p:cNvSpPr/>
          <p:nvPr/>
        </p:nvSpPr>
        <p:spPr>
          <a:xfrm>
            <a:off x="12514966" y="8309429"/>
            <a:ext cx="72189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Coal &amp; Copper</a:t>
            </a:r>
            <a:endParaRPr lang="en-US" sz="640" dirty="0"/>
          </a:p>
        </p:txBody>
      </p:sp>
      <p:sp>
        <p:nvSpPr>
          <p:cNvPr id="49" name="Text 47"/>
          <p:cNvSpPr/>
          <p:nvPr/>
        </p:nvSpPr>
        <p:spPr>
          <a:xfrm>
            <a:off x="14357271" y="8309429"/>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P.06</a:t>
            </a:r>
            <a:endParaRPr lang="en-US" sz="540" dirty="0"/>
          </a:p>
        </p:txBody>
      </p:sp>
      <p:sp>
        <p:nvSpPr>
          <p:cNvPr id="50" name="Text 48"/>
          <p:cNvSpPr/>
          <p:nvPr/>
        </p:nvSpPr>
        <p:spPr>
          <a:xfrm>
            <a:off x="12260855" y="8576246"/>
            <a:ext cx="1755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04</a:t>
            </a:r>
            <a:endParaRPr lang="en-US" sz="640" dirty="0"/>
          </a:p>
        </p:txBody>
      </p:sp>
      <p:sp>
        <p:nvSpPr>
          <p:cNvPr id="51" name="Text 49"/>
          <p:cNvSpPr/>
          <p:nvPr/>
        </p:nvSpPr>
        <p:spPr>
          <a:xfrm>
            <a:off x="12514966" y="8576246"/>
            <a:ext cx="94529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Resources to Value</a:t>
            </a:r>
            <a:endParaRPr lang="en-US" sz="640" dirty="0"/>
          </a:p>
        </p:txBody>
      </p:sp>
      <p:sp>
        <p:nvSpPr>
          <p:cNvPr id="52" name="Text 50"/>
          <p:cNvSpPr/>
          <p:nvPr/>
        </p:nvSpPr>
        <p:spPr>
          <a:xfrm>
            <a:off x="14357271" y="8576246"/>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P.08</a:t>
            </a:r>
            <a:endParaRPr lang="en-US" sz="540" dirty="0"/>
          </a:p>
        </p:txBody>
      </p:sp>
      <p:sp>
        <p:nvSpPr>
          <p:cNvPr id="53" name="Text 51"/>
          <p:cNvSpPr/>
          <p:nvPr/>
        </p:nvSpPr>
        <p:spPr>
          <a:xfrm>
            <a:off x="12260855" y="8843063"/>
            <a:ext cx="17092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05</a:t>
            </a:r>
            <a:endParaRPr lang="en-US" sz="640" dirty="0"/>
          </a:p>
        </p:txBody>
      </p:sp>
      <p:sp>
        <p:nvSpPr>
          <p:cNvPr id="54" name="Text 52"/>
          <p:cNvSpPr/>
          <p:nvPr/>
        </p:nvSpPr>
        <p:spPr>
          <a:xfrm>
            <a:off x="12514966" y="8843063"/>
            <a:ext cx="6437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Partnerships</a:t>
            </a:r>
            <a:endParaRPr lang="en-US" sz="640" dirty="0"/>
          </a:p>
        </p:txBody>
      </p:sp>
      <p:sp>
        <p:nvSpPr>
          <p:cNvPr id="55" name="Text 53"/>
          <p:cNvSpPr/>
          <p:nvPr/>
        </p:nvSpPr>
        <p:spPr>
          <a:xfrm>
            <a:off x="14357271" y="8843063"/>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P.09</a:t>
            </a:r>
            <a:endParaRPr lang="en-US" sz="540" dirty="0"/>
          </a:p>
        </p:txBody>
      </p:sp>
      <p:sp>
        <p:nvSpPr>
          <p:cNvPr id="56" name="Text 54"/>
          <p:cNvSpPr/>
          <p:nvPr/>
        </p:nvSpPr>
        <p:spPr>
          <a:xfrm>
            <a:off x="12260855" y="9109879"/>
            <a:ext cx="1733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06</a:t>
            </a:r>
            <a:endParaRPr lang="en-US" sz="640" dirty="0"/>
          </a:p>
        </p:txBody>
      </p:sp>
      <p:sp>
        <p:nvSpPr>
          <p:cNvPr id="57" name="Text 55"/>
          <p:cNvSpPr/>
          <p:nvPr/>
        </p:nvSpPr>
        <p:spPr>
          <a:xfrm>
            <a:off x="12514966" y="9109879"/>
            <a:ext cx="60506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Value Chain</a:t>
            </a:r>
            <a:endParaRPr lang="en-US" sz="640" dirty="0"/>
          </a:p>
        </p:txBody>
      </p:sp>
      <p:sp>
        <p:nvSpPr>
          <p:cNvPr id="58" name="Text 56"/>
          <p:cNvSpPr/>
          <p:nvPr/>
        </p:nvSpPr>
        <p:spPr>
          <a:xfrm>
            <a:off x="14357271" y="9109879"/>
            <a:ext cx="282301"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P.10</a:t>
            </a:r>
            <a:endParaRPr lang="en-US" sz="540" dirty="0"/>
          </a:p>
        </p:txBody>
      </p:sp>
      <p:sp>
        <p:nvSpPr>
          <p:cNvPr id="59" name="Text 57"/>
          <p:cNvSpPr/>
          <p:nvPr/>
        </p:nvSpPr>
        <p:spPr>
          <a:xfrm>
            <a:off x="508222" y="10316906"/>
            <a:ext cx="20150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02</a:t>
            </a:r>
            <a:endParaRPr lang="en-US" sz="600" dirty="0"/>
          </a:p>
        </p:txBody>
      </p:sp>
      <p:sp>
        <p:nvSpPr>
          <p:cNvPr id="60" name="Text 58"/>
          <p:cNvSpPr/>
          <p:nvPr/>
        </p:nvSpPr>
        <p:spPr>
          <a:xfrm>
            <a:off x="14458915" y="10316906"/>
            <a:ext cx="20237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03</a:t>
            </a:r>
            <a:endParaRPr lang="en-US" sz="600" dirty="0"/>
          </a:p>
        </p:txBody>
      </p:sp>
      <p:sp>
        <p:nvSpPr>
          <p:cNvPr id="61" name="Text 59"/>
          <p:cNvSpPr/>
          <p:nvPr/>
        </p:nvSpPr>
        <p:spPr>
          <a:xfrm>
            <a:off x="876683" y="10328977"/>
            <a:ext cx="650145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台割メモ｜動画01 OPENING。地球儀は使わず、暮らしと金属の写真を見開きで1枚のモザイクに（左＝暮らし、右＝それを支える金属）。キャッチコピー＋需要と供給のギャップを概念図で。</a:t>
            </a:r>
            <a:endParaRPr lang="en-US" sz="540" dirty="0"/>
          </a:p>
        </p:txBody>
      </p:sp>
      <p:sp>
        <p:nvSpPr>
          <p:cNvPr id="62" name="Text 60"/>
          <p:cNvSpPr/>
          <p:nvPr/>
        </p:nvSpPr>
        <p:spPr>
          <a:xfrm>
            <a:off x="8169668" y="10328977"/>
            <a:ext cx="516280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台割メモ｜コアメッセージ（英・和）全文と目次。写真の帯が見開きをつなぎ、下段は左右で「問い」と「答え」の関係に。鉄道・スマホは素材待ち。</a:t>
            </a:r>
            <a:endParaRPr lang="en-US" sz="54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11665" y="101644"/>
            <a:ext cx="2821585" cy="2337821"/>
          </a:xfrm>
          <a:prstGeom prst="rect">
            <a:avLst/>
          </a:prstGeom>
          <a:noFill/>
          <a:ln/>
        </p:spPr>
        <p:txBody>
          <a:bodyPr wrap="none" lIns="0" tIns="0" rIns="0" bIns="0" rtlCol="0" anchor="t"/>
          <a:lstStyle/>
          <a:p>
            <a:pPr algn="l" indent="0" marL="0">
              <a:lnSpc>
                <a:spcPts val="18400"/>
              </a:lnSpc>
              <a:buNone/>
            </a:pPr>
            <a:r>
              <a:rPr lang="en-US" sz="23000" spc="-920" kern="0" dirty="0">
                <a:solidFill>
                  <a:srgbClr val="000000">
                    <a:alpha val="0"/>
                  </a:srgbClr>
                </a:solidFill>
                <a:latin typeface="Inter Tight Light" pitchFamily="34" charset="0"/>
                <a:ea typeface="Inter Tight Light" pitchFamily="34" charset="-122"/>
                <a:cs typeface="Inter Tight Light" pitchFamily="34" charset="-120"/>
              </a:rPr>
              <a:t>01</a:t>
            </a:r>
            <a:endParaRPr lang="en-US" sz="23000" dirty="0"/>
          </a:p>
        </p:txBody>
      </p:sp>
      <p:sp>
        <p:nvSpPr>
          <p:cNvPr id="3" name="Text 1"/>
          <p:cNvSpPr/>
          <p:nvPr/>
        </p:nvSpPr>
        <p:spPr>
          <a:xfrm>
            <a:off x="11434995" y="101644"/>
            <a:ext cx="3529344" cy="2337821"/>
          </a:xfrm>
          <a:prstGeom prst="rect">
            <a:avLst/>
          </a:prstGeom>
          <a:noFill/>
          <a:ln/>
        </p:spPr>
        <p:txBody>
          <a:bodyPr wrap="none" lIns="0" tIns="0" rIns="0" bIns="0" rtlCol="0" anchor="t"/>
          <a:lstStyle/>
          <a:p>
            <a:pPr algn="l" indent="0" marL="0">
              <a:lnSpc>
                <a:spcPts val="18400"/>
              </a:lnSpc>
              <a:buNone/>
            </a:pPr>
            <a:r>
              <a:rPr lang="en-US" sz="23000" spc="-920" kern="0" dirty="0">
                <a:solidFill>
                  <a:srgbClr val="000000">
                    <a:alpha val="0"/>
                  </a:srgbClr>
                </a:solidFill>
                <a:latin typeface="Inter Tight Light" pitchFamily="34" charset="0"/>
                <a:ea typeface="Inter Tight Light" pitchFamily="34" charset="-122"/>
                <a:cs typeface="Inter Tight Light" pitchFamily="34" charset="-120"/>
              </a:rPr>
              <a:t>02</a:t>
            </a:r>
            <a:endParaRPr lang="en-US" sz="23000" dirty="0"/>
          </a:p>
        </p:txBody>
      </p:sp>
      <p:sp>
        <p:nvSpPr>
          <p:cNvPr id="4" name="Text 2"/>
          <p:cNvSpPr/>
          <p:nvPr/>
        </p:nvSpPr>
        <p:spPr>
          <a:xfrm>
            <a:off x="508222" y="508222"/>
            <a:ext cx="123748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01 · Who we are</a:t>
            </a:r>
            <a:endParaRPr lang="en-US" sz="660" dirty="0"/>
          </a:p>
        </p:txBody>
      </p:sp>
      <p:sp>
        <p:nvSpPr>
          <p:cNvPr id="5" name="Text 3"/>
          <p:cNvSpPr/>
          <p:nvPr/>
        </p:nvSpPr>
        <p:spPr>
          <a:xfrm>
            <a:off x="508222" y="647983"/>
            <a:ext cx="10153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第1章　我々は何者か</a:t>
            </a:r>
            <a:endParaRPr lang="en-US" sz="660" dirty="0"/>
          </a:p>
        </p:txBody>
      </p:sp>
      <p:sp>
        <p:nvSpPr>
          <p:cNvPr id="6" name="Text 4"/>
          <p:cNvSpPr/>
          <p:nvPr/>
        </p:nvSpPr>
        <p:spPr>
          <a:xfrm>
            <a:off x="508222" y="883798"/>
            <a:ext cx="3320794" cy="570225"/>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Who we are.</a:t>
            </a:r>
            <a:endParaRPr lang="en-US" sz="4400" dirty="0"/>
          </a:p>
        </p:txBody>
      </p:sp>
      <p:sp>
        <p:nvSpPr>
          <p:cNvPr id="7" name="Text 5"/>
          <p:cNvSpPr/>
          <p:nvPr/>
        </p:nvSpPr>
        <p:spPr>
          <a:xfrm>
            <a:off x="508222" y="1731131"/>
            <a:ext cx="2432656"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三菱商事 金属資源グループとは</a:t>
            </a:r>
            <a:endParaRPr lang="en-US" sz="1150" dirty="0"/>
          </a:p>
        </p:txBody>
      </p:sp>
      <p:sp>
        <p:nvSpPr>
          <p:cNvPr id="8" name="Text 6"/>
          <p:cNvSpPr/>
          <p:nvPr/>
        </p:nvSpPr>
        <p:spPr>
          <a:xfrm>
            <a:off x="508222" y="1996328"/>
            <a:ext cx="3544848"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三菱商事は、三綱領（所期奉公・処事光明・立業貿易）を企業理念に、経</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済価値・環境価値・社会価値の同時実現を目指す総合商社です。そのなか</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で金属資源グループは、社会に不可欠な金属資源を世界から確保し、安定</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的に届ける役割を担っています。原料炭と銅は、全社としてコミットする</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中核事業です。</a:t>
            </a:r>
            <a:endParaRPr lang="en-US" sz="730" dirty="0"/>
          </a:p>
        </p:txBody>
      </p:sp>
      <p:sp>
        <p:nvSpPr>
          <p:cNvPr id="9" name="Text 7"/>
          <p:cNvSpPr/>
          <p:nvPr/>
        </p:nvSpPr>
        <p:spPr>
          <a:xfrm>
            <a:off x="4116598" y="1396022"/>
            <a:ext cx="1143360"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GROUP MISSION</a:t>
            </a:r>
            <a:endParaRPr lang="en-US" sz="660" dirty="0"/>
          </a:p>
        </p:txBody>
      </p:sp>
      <p:sp>
        <p:nvSpPr>
          <p:cNvPr id="10" name="Text 8"/>
          <p:cNvSpPr/>
          <p:nvPr/>
        </p:nvSpPr>
        <p:spPr>
          <a:xfrm>
            <a:off x="4116598" y="1592704"/>
            <a:ext cx="3021836" cy="573274"/>
          </a:xfrm>
          <a:prstGeom prst="rect">
            <a:avLst/>
          </a:prstGeom>
          <a:noFill/>
          <a:ln/>
        </p:spPr>
        <p:txBody>
          <a:bodyPr wrap="none" lIns="0" tIns="0" rIns="0" bIns="0" rtlCol="0" anchor="t"/>
          <a:lstStyle/>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社会が必要とする良質な金属資源を、持続可能な</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形で安定供給することで、より良い社会の実現に</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寄与する</a:t>
            </a:r>
            <a:endParaRPr lang="en-US" sz="940" dirty="0"/>
          </a:p>
        </p:txBody>
      </p:sp>
      <p:sp>
        <p:nvSpPr>
          <p:cNvPr id="11" name="Text 9"/>
          <p:cNvSpPr/>
          <p:nvPr/>
        </p:nvSpPr>
        <p:spPr>
          <a:xfrm>
            <a:off x="4116598" y="2330388"/>
            <a:ext cx="2877271"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Inter" pitchFamily="34" charset="0"/>
                <a:ea typeface="Inter" pitchFamily="34" charset="-122"/>
                <a:cs typeface="Inter" pitchFamily="34" charset="-120"/>
              </a:rPr>
              <a:t>To contribute to a better society by providing a stable supply of high-</a:t>
            </a:r>
            <a:endParaRPr lang="en-US" sz="620" dirty="0"/>
          </a:p>
          <a:p>
            <a:pPr algn="l" indent="0" marL="0">
              <a:lnSpc>
                <a:spcPts val="992"/>
              </a:lnSpc>
              <a:buNone/>
            </a:pPr>
            <a:r>
              <a:rPr lang="en-US" sz="620" dirty="0">
                <a:solidFill>
                  <a:srgbClr val="7D838A"/>
                </a:solidFill>
                <a:latin typeface="Inter" pitchFamily="34" charset="0"/>
                <a:ea typeface="Inter" pitchFamily="34" charset="-122"/>
                <a:cs typeface="Inter" pitchFamily="34" charset="-120"/>
              </a:rPr>
              <a:t>quality mineral resources in a sustainable way.</a:t>
            </a:r>
            <a:endParaRPr lang="en-US" sz="620" dirty="0"/>
          </a:p>
        </p:txBody>
      </p:sp>
      <p:sp>
        <p:nvSpPr>
          <p:cNvPr id="12" name="Text 10"/>
          <p:cNvSpPr/>
          <p:nvPr/>
        </p:nvSpPr>
        <p:spPr>
          <a:xfrm>
            <a:off x="508222" y="3352677"/>
            <a:ext cx="10756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ORGANIZATION</a:t>
            </a:r>
            <a:endParaRPr lang="en-US" sz="660" dirty="0"/>
          </a:p>
        </p:txBody>
      </p:sp>
      <p:sp>
        <p:nvSpPr>
          <p:cNvPr id="13" name="Text 11"/>
          <p:cNvSpPr/>
          <p:nvPr/>
        </p:nvSpPr>
        <p:spPr>
          <a:xfrm>
            <a:off x="1524666" y="3352677"/>
            <a:ext cx="2271276"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投資を担う2本部と、トレーディングを担う1本部</a:t>
            </a:r>
            <a:endParaRPr lang="en-US" sz="660" dirty="0"/>
          </a:p>
        </p:txBody>
      </p:sp>
      <p:sp>
        <p:nvSpPr>
          <p:cNvPr id="14" name="Text 12"/>
          <p:cNvSpPr/>
          <p:nvPr/>
        </p:nvSpPr>
        <p:spPr>
          <a:xfrm>
            <a:off x="3466789" y="3721138"/>
            <a:ext cx="562697" cy="101644"/>
          </a:xfrm>
          <a:prstGeom prst="rect">
            <a:avLst/>
          </a:prstGeom>
          <a:noFill/>
          <a:ln/>
        </p:spPr>
        <p:txBody>
          <a:bodyPr wrap="none" lIns="0" tIns="0" rIns="0" bIns="0" rtlCol="0" anchor="t"/>
          <a:lstStyle/>
          <a:p>
            <a:pPr algn="ctr"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Group CEO</a:t>
            </a:r>
            <a:endParaRPr lang="en-US" sz="640" dirty="0"/>
          </a:p>
        </p:txBody>
      </p:sp>
      <p:sp>
        <p:nvSpPr>
          <p:cNvPr id="15" name="Text 13"/>
          <p:cNvSpPr/>
          <p:nvPr/>
        </p:nvSpPr>
        <p:spPr>
          <a:xfrm>
            <a:off x="622572" y="4280182"/>
            <a:ext cx="726698"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Investment</a:t>
            </a:r>
            <a:endParaRPr lang="en-US" sz="560" dirty="0"/>
          </a:p>
        </p:txBody>
      </p:sp>
      <p:sp>
        <p:nvSpPr>
          <p:cNvPr id="16" name="Text 14"/>
          <p:cNvSpPr/>
          <p:nvPr/>
        </p:nvSpPr>
        <p:spPr>
          <a:xfrm>
            <a:off x="622572" y="4381826"/>
            <a:ext cx="75312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鉄鋼原料本部</a:t>
            </a:r>
            <a:endParaRPr lang="en-US" sz="840" dirty="0"/>
          </a:p>
        </p:txBody>
      </p:sp>
      <p:sp>
        <p:nvSpPr>
          <p:cNvPr id="17" name="Text 15"/>
          <p:cNvSpPr/>
          <p:nvPr/>
        </p:nvSpPr>
        <p:spPr>
          <a:xfrm>
            <a:off x="622572" y="4534293"/>
            <a:ext cx="1080250"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Steelmaking Raw Materials</a:t>
            </a:r>
            <a:endParaRPr lang="en-US" sz="580" dirty="0"/>
          </a:p>
        </p:txBody>
      </p:sp>
      <p:sp>
        <p:nvSpPr>
          <p:cNvPr id="18" name="Text 16"/>
          <p:cNvSpPr/>
          <p:nvPr/>
        </p:nvSpPr>
        <p:spPr>
          <a:xfrm>
            <a:off x="508222" y="4848946"/>
            <a:ext cx="803348"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740" dirty="0"/>
          </a:p>
        </p:txBody>
      </p:sp>
      <p:sp>
        <p:nvSpPr>
          <p:cNvPr id="19" name="Text 17"/>
          <p:cNvSpPr/>
          <p:nvPr/>
        </p:nvSpPr>
        <p:spPr>
          <a:xfrm>
            <a:off x="508222" y="5023965"/>
            <a:ext cx="840690"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主要関係会社：MDP</a:t>
            </a:r>
            <a:endParaRPr lang="en-US" sz="620" dirty="0"/>
          </a:p>
        </p:txBody>
      </p:sp>
      <p:sp>
        <p:nvSpPr>
          <p:cNvPr id="20" name="Text 18"/>
          <p:cNvSpPr/>
          <p:nvPr/>
        </p:nvSpPr>
        <p:spPr>
          <a:xfrm>
            <a:off x="2807926" y="4280182"/>
            <a:ext cx="726698"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Investment</a:t>
            </a:r>
            <a:endParaRPr lang="en-US" sz="560" dirty="0"/>
          </a:p>
        </p:txBody>
      </p:sp>
      <p:sp>
        <p:nvSpPr>
          <p:cNvPr id="21" name="Text 19"/>
          <p:cNvSpPr/>
          <p:nvPr/>
        </p:nvSpPr>
        <p:spPr>
          <a:xfrm>
            <a:off x="2807926" y="4381826"/>
            <a:ext cx="1448433"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クリティカルミネラル本部</a:t>
            </a:r>
            <a:endParaRPr lang="en-US" sz="840" dirty="0"/>
          </a:p>
        </p:txBody>
      </p:sp>
      <p:sp>
        <p:nvSpPr>
          <p:cNvPr id="22" name="Text 20"/>
          <p:cNvSpPr/>
          <p:nvPr/>
        </p:nvSpPr>
        <p:spPr>
          <a:xfrm>
            <a:off x="2807926" y="4534293"/>
            <a:ext cx="668391"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Critical Minerals</a:t>
            </a:r>
            <a:endParaRPr lang="en-US" sz="580" dirty="0"/>
          </a:p>
        </p:txBody>
      </p:sp>
      <p:sp>
        <p:nvSpPr>
          <p:cNvPr id="23" name="Text 21"/>
          <p:cNvSpPr/>
          <p:nvPr/>
        </p:nvSpPr>
        <p:spPr>
          <a:xfrm>
            <a:off x="2693577" y="4848946"/>
            <a:ext cx="1904621"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銅・ニッケル・リチウム・アルミ ほか</a:t>
            </a:r>
            <a:endParaRPr lang="en-US" sz="740" dirty="0"/>
          </a:p>
        </p:txBody>
      </p:sp>
      <p:sp>
        <p:nvSpPr>
          <p:cNvPr id="24" name="Text 22"/>
          <p:cNvSpPr/>
          <p:nvPr/>
        </p:nvSpPr>
        <p:spPr>
          <a:xfrm>
            <a:off x="2693577" y="5023965"/>
            <a:ext cx="1099685"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主要関係会社：MCI · MCIP</a:t>
            </a:r>
            <a:endParaRPr lang="en-US" sz="620" dirty="0"/>
          </a:p>
        </p:txBody>
      </p:sp>
      <p:sp>
        <p:nvSpPr>
          <p:cNvPr id="25" name="Text 23"/>
          <p:cNvSpPr/>
          <p:nvPr/>
        </p:nvSpPr>
        <p:spPr>
          <a:xfrm>
            <a:off x="4993281" y="4280182"/>
            <a:ext cx="517711"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Trading</a:t>
            </a:r>
            <a:endParaRPr lang="en-US" sz="560" dirty="0"/>
          </a:p>
        </p:txBody>
      </p:sp>
      <p:sp>
        <p:nvSpPr>
          <p:cNvPr id="26" name="Text 24"/>
          <p:cNvSpPr/>
          <p:nvPr/>
        </p:nvSpPr>
        <p:spPr>
          <a:xfrm>
            <a:off x="4993281" y="4381826"/>
            <a:ext cx="156439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金属資源トレーディング本部</a:t>
            </a:r>
            <a:endParaRPr lang="en-US" sz="840" dirty="0"/>
          </a:p>
        </p:txBody>
      </p:sp>
      <p:sp>
        <p:nvSpPr>
          <p:cNvPr id="27" name="Text 25"/>
          <p:cNvSpPr/>
          <p:nvPr/>
        </p:nvSpPr>
        <p:spPr>
          <a:xfrm>
            <a:off x="4993281" y="4534293"/>
            <a:ext cx="1073480"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Mineral Resources Trading</a:t>
            </a:r>
            <a:endParaRPr lang="en-US" sz="580" dirty="0"/>
          </a:p>
        </p:txBody>
      </p:sp>
      <p:sp>
        <p:nvSpPr>
          <p:cNvPr id="28" name="Text 26"/>
          <p:cNvSpPr/>
          <p:nvPr/>
        </p:nvSpPr>
        <p:spPr>
          <a:xfrm>
            <a:off x="4878931" y="4848946"/>
            <a:ext cx="1490143"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RtM（Resource to Market）</a:t>
            </a:r>
            <a:endParaRPr lang="en-US" sz="740" dirty="0"/>
          </a:p>
        </p:txBody>
      </p:sp>
      <p:sp>
        <p:nvSpPr>
          <p:cNvPr id="29" name="Text 27"/>
          <p:cNvSpPr/>
          <p:nvPr/>
        </p:nvSpPr>
        <p:spPr>
          <a:xfrm>
            <a:off x="4878931" y="5023965"/>
            <a:ext cx="146546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主要関係会社：RtM · Triland Metals</a:t>
            </a:r>
            <a:endParaRPr lang="en-US" sz="620" dirty="0"/>
          </a:p>
        </p:txBody>
      </p:sp>
      <p:sp>
        <p:nvSpPr>
          <p:cNvPr id="30" name="Text 28"/>
          <p:cNvSpPr/>
          <p:nvPr/>
        </p:nvSpPr>
        <p:spPr>
          <a:xfrm>
            <a:off x="508222" y="5461798"/>
            <a:ext cx="218960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THREE CORPORATE PRINCIPLES</a:t>
            </a:r>
            <a:endParaRPr lang="en-US" sz="660" dirty="0"/>
          </a:p>
        </p:txBody>
      </p:sp>
      <p:sp>
        <p:nvSpPr>
          <p:cNvPr id="31" name="Text 29"/>
          <p:cNvSpPr/>
          <p:nvPr/>
        </p:nvSpPr>
        <p:spPr>
          <a:xfrm>
            <a:off x="2668165" y="5461798"/>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三綱領｜三菱商事の企業理念</a:t>
            </a:r>
            <a:endParaRPr lang="en-US" sz="660" dirty="0"/>
          </a:p>
        </p:txBody>
      </p:sp>
      <p:sp>
        <p:nvSpPr>
          <p:cNvPr id="32" name="Text 30"/>
          <p:cNvSpPr/>
          <p:nvPr/>
        </p:nvSpPr>
        <p:spPr>
          <a:xfrm>
            <a:off x="508222"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所期奉公</a:t>
            </a:r>
            <a:endParaRPr lang="en-US" sz="1400" dirty="0"/>
          </a:p>
        </p:txBody>
      </p:sp>
      <p:sp>
        <p:nvSpPr>
          <p:cNvPr id="33" name="Text 31"/>
          <p:cNvSpPr/>
          <p:nvPr/>
        </p:nvSpPr>
        <p:spPr>
          <a:xfrm>
            <a:off x="508222" y="5970020"/>
            <a:ext cx="170262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Corporate Responsibility to Society</a:t>
            </a:r>
            <a:endParaRPr lang="en-US" sz="640" dirty="0"/>
          </a:p>
        </p:txBody>
      </p:sp>
      <p:sp>
        <p:nvSpPr>
          <p:cNvPr id="34" name="Text 32"/>
          <p:cNvSpPr/>
          <p:nvPr/>
        </p:nvSpPr>
        <p:spPr>
          <a:xfrm>
            <a:off x="508222" y="6116642"/>
            <a:ext cx="2039797"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事業を通じ、物心ともに豊かな社会の実現に努める</a:t>
            </a:r>
            <a:endParaRPr lang="en-US" sz="620" dirty="0"/>
          </a:p>
        </p:txBody>
      </p:sp>
      <p:sp>
        <p:nvSpPr>
          <p:cNvPr id="35" name="Text 33"/>
          <p:cNvSpPr/>
          <p:nvPr/>
        </p:nvSpPr>
        <p:spPr>
          <a:xfrm>
            <a:off x="2693577"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処事光明</a:t>
            </a:r>
            <a:endParaRPr lang="en-US" sz="1400" dirty="0"/>
          </a:p>
        </p:txBody>
      </p:sp>
      <p:sp>
        <p:nvSpPr>
          <p:cNvPr id="36" name="Text 34"/>
          <p:cNvSpPr/>
          <p:nvPr/>
        </p:nvSpPr>
        <p:spPr>
          <a:xfrm>
            <a:off x="2693577" y="5970020"/>
            <a:ext cx="106911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Integrity and Fairness</a:t>
            </a:r>
            <a:endParaRPr lang="en-US" sz="640" dirty="0"/>
          </a:p>
        </p:txBody>
      </p:sp>
      <p:sp>
        <p:nvSpPr>
          <p:cNvPr id="37" name="Text 35"/>
          <p:cNvSpPr/>
          <p:nvPr/>
        </p:nvSpPr>
        <p:spPr>
          <a:xfrm>
            <a:off x="2693577" y="6116642"/>
            <a:ext cx="1518532"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公明正大で品格のある行動を旨とする</a:t>
            </a:r>
            <a:endParaRPr lang="en-US" sz="620" dirty="0"/>
          </a:p>
        </p:txBody>
      </p:sp>
      <p:sp>
        <p:nvSpPr>
          <p:cNvPr id="38" name="Text 36"/>
          <p:cNvSpPr/>
          <p:nvPr/>
        </p:nvSpPr>
        <p:spPr>
          <a:xfrm>
            <a:off x="4878931"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立業貿易</a:t>
            </a:r>
            <a:endParaRPr lang="en-US" sz="1400" dirty="0"/>
          </a:p>
        </p:txBody>
      </p:sp>
      <p:sp>
        <p:nvSpPr>
          <p:cNvPr id="39" name="Text 37"/>
          <p:cNvSpPr/>
          <p:nvPr/>
        </p:nvSpPr>
        <p:spPr>
          <a:xfrm>
            <a:off x="4878931" y="5970020"/>
            <a:ext cx="190134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Global Understanding through Business</a:t>
            </a:r>
            <a:endParaRPr lang="en-US" sz="640" dirty="0"/>
          </a:p>
        </p:txBody>
      </p:sp>
      <p:sp>
        <p:nvSpPr>
          <p:cNvPr id="40" name="Text 38"/>
          <p:cNvSpPr/>
          <p:nvPr/>
        </p:nvSpPr>
        <p:spPr>
          <a:xfrm>
            <a:off x="4878931" y="6116642"/>
            <a:ext cx="195331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全世界的、宇宙的視野に立脚した事業展開を図る</a:t>
            </a:r>
            <a:endParaRPr lang="en-US" sz="620" dirty="0"/>
          </a:p>
        </p:txBody>
      </p:sp>
      <p:sp>
        <p:nvSpPr>
          <p:cNvPr id="41" name="Text 39"/>
          <p:cNvSpPr/>
          <p:nvPr/>
        </p:nvSpPr>
        <p:spPr>
          <a:xfrm>
            <a:off x="8068024" y="508222"/>
            <a:ext cx="150673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02 · Our strengths</a:t>
            </a:r>
            <a:endParaRPr lang="en-US" sz="660" dirty="0"/>
          </a:p>
        </p:txBody>
      </p:sp>
      <p:sp>
        <p:nvSpPr>
          <p:cNvPr id="42" name="Text 40"/>
          <p:cNvSpPr/>
          <p:nvPr/>
        </p:nvSpPr>
        <p:spPr>
          <a:xfrm>
            <a:off x="8068024" y="647983"/>
            <a:ext cx="1417423"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独自価値｜資産の強み</a:t>
            </a:r>
            <a:endParaRPr lang="en-US" sz="660" dirty="0"/>
          </a:p>
        </p:txBody>
      </p:sp>
      <p:sp>
        <p:nvSpPr>
          <p:cNvPr id="43" name="Text 41"/>
          <p:cNvSpPr/>
          <p:nvPr/>
        </p:nvSpPr>
        <p:spPr>
          <a:xfrm>
            <a:off x="8068024" y="883798"/>
            <a:ext cx="3620625" cy="1140450"/>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Tier-1 assets</a:t>
            </a:r>
            <a:endParaRPr lang="en-US" sz="4400" dirty="0"/>
          </a:p>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at the source.</a:t>
            </a:r>
            <a:endParaRPr lang="en-US" sz="4400" dirty="0"/>
          </a:p>
        </p:txBody>
      </p:sp>
      <p:sp>
        <p:nvSpPr>
          <p:cNvPr id="44" name="Text 42"/>
          <p:cNvSpPr/>
          <p:nvPr/>
        </p:nvSpPr>
        <p:spPr>
          <a:xfrm>
            <a:off x="8068024" y="2301293"/>
            <a:ext cx="3726101"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バリューチェーンの起点で、一級資産を保有する</a:t>
            </a:r>
            <a:endParaRPr lang="en-US" sz="1150" dirty="0"/>
          </a:p>
        </p:txBody>
      </p:sp>
      <p:sp>
        <p:nvSpPr>
          <p:cNvPr id="45" name="Text 43"/>
          <p:cNvSpPr/>
          <p:nvPr/>
        </p:nvSpPr>
        <p:spPr>
          <a:xfrm>
            <a:off x="8068024" y="2566489"/>
            <a:ext cx="3544848" cy="514765"/>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資源事業は規模の経済が働くビジネスです。私たちは、規模で世界上位に</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入る優良鉱山に早くから参画し、現在では資金があっても手に入らない資</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産のポートフォリオを築いてきました。その中核が、原料炭と銅です。</a:t>
            </a:r>
            <a:endParaRPr lang="en-US" sz="730" dirty="0"/>
          </a:p>
        </p:txBody>
      </p:sp>
      <p:sp>
        <p:nvSpPr>
          <p:cNvPr id="46" name="Text 44"/>
          <p:cNvSpPr/>
          <p:nvPr/>
        </p:nvSpPr>
        <p:spPr>
          <a:xfrm>
            <a:off x="12395455" y="5352411"/>
            <a:ext cx="1014955"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Metallurgical Coal</a:t>
            </a:r>
            <a:endParaRPr lang="en-US" sz="860" dirty="0"/>
          </a:p>
          <a:p>
            <a:pPr algn="l" indent="0" marL="0">
              <a:lnSpc>
                <a:spcPts val="1000"/>
              </a:lnSpc>
              <a:buNone/>
            </a:pPr>
            <a:r>
              <a:rPr lang="en-US" sz="620" dirty="0">
                <a:solidFill>
                  <a:srgbClr val="7D838A"/>
                </a:solidFill>
                <a:latin typeface="Noto Sans JP" pitchFamily="34" charset="0"/>
                <a:ea typeface="Noto Sans JP" pitchFamily="34" charset="-122"/>
                <a:cs typeface="Noto Sans JP" pitchFamily="34" charset="-120"/>
              </a:rPr>
              <a:t>Bowen Basin, Australia</a:t>
            </a:r>
            <a:endParaRPr lang="en-US" sz="860" dirty="0"/>
          </a:p>
        </p:txBody>
      </p:sp>
      <p:sp>
        <p:nvSpPr>
          <p:cNvPr id="47" name="Text 45"/>
          <p:cNvSpPr/>
          <p:nvPr/>
        </p:nvSpPr>
        <p:spPr>
          <a:xfrm>
            <a:off x="9938519" y="5409586"/>
            <a:ext cx="528194"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Copper</a:t>
            </a:r>
            <a:endParaRPr lang="en-US" sz="860" dirty="0"/>
          </a:p>
          <a:p>
            <a:pPr algn="l" indent="0" marL="0">
              <a:lnSpc>
                <a:spcPts val="1000"/>
              </a:lnSpc>
              <a:buNone/>
            </a:pPr>
            <a:r>
              <a:rPr lang="en-US" sz="620" dirty="0">
                <a:solidFill>
                  <a:srgbClr val="7D838A"/>
                </a:solidFill>
                <a:latin typeface="Noto Sans JP" pitchFamily="34" charset="0"/>
                <a:ea typeface="Noto Sans JP" pitchFamily="34" charset="-122"/>
                <a:cs typeface="Noto Sans JP" pitchFamily="34" charset="-120"/>
              </a:rPr>
              <a:t>Chile · Peru</a:t>
            </a:r>
            <a:endParaRPr lang="en-US" sz="860" dirty="0"/>
          </a:p>
        </p:txBody>
      </p:sp>
      <p:sp>
        <p:nvSpPr>
          <p:cNvPr id="48" name="Text 46"/>
          <p:cNvSpPr/>
          <p:nvPr/>
        </p:nvSpPr>
        <p:spPr>
          <a:xfrm>
            <a:off x="8334841" y="4237499"/>
            <a:ext cx="454601"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Copper</a:t>
            </a:r>
            <a:endParaRPr lang="en-US" sz="860" dirty="0"/>
          </a:p>
          <a:p>
            <a:pPr algn="l" indent="0" marL="0">
              <a:lnSpc>
                <a:spcPts val="1000"/>
              </a:lnSpc>
              <a:buNone/>
            </a:pPr>
            <a:r>
              <a:rPr lang="en-US" sz="620" dirty="0">
                <a:solidFill>
                  <a:srgbClr val="7D838A"/>
                </a:solidFill>
                <a:latin typeface="Noto Sans JP" pitchFamily="34" charset="0"/>
                <a:ea typeface="Noto Sans JP" pitchFamily="34" charset="-122"/>
                <a:cs typeface="Noto Sans JP" pitchFamily="34" charset="-120"/>
              </a:rPr>
              <a:t>USA</a:t>
            </a:r>
            <a:endParaRPr lang="en-US" sz="860" dirty="0"/>
          </a:p>
        </p:txBody>
      </p:sp>
      <p:sp>
        <p:nvSpPr>
          <p:cNvPr id="49" name="Text 47"/>
          <p:cNvSpPr/>
          <p:nvPr/>
        </p:nvSpPr>
        <p:spPr>
          <a:xfrm>
            <a:off x="8068024" y="6265504"/>
            <a:ext cx="31898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a:t>
            </a:r>
            <a:endParaRPr lang="en-US" sz="3400" dirty="0"/>
          </a:p>
        </p:txBody>
      </p:sp>
      <p:sp>
        <p:nvSpPr>
          <p:cNvPr id="50" name="Text 48"/>
          <p:cNvSpPr/>
          <p:nvPr/>
        </p:nvSpPr>
        <p:spPr>
          <a:xfrm>
            <a:off x="8068024" y="6731162"/>
            <a:ext cx="30959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OF 5</a:t>
            </a:r>
            <a:endParaRPr lang="en-US" sz="580" dirty="0"/>
          </a:p>
        </p:txBody>
      </p:sp>
      <p:sp>
        <p:nvSpPr>
          <p:cNvPr id="51" name="Text 49"/>
          <p:cNvSpPr/>
          <p:nvPr/>
        </p:nvSpPr>
        <p:spPr>
          <a:xfrm>
            <a:off x="8068024" y="6865078"/>
            <a:ext cx="1633834"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銅の主要5鉱山すべてが規模で世界Top15</a:t>
            </a:r>
            <a:endParaRPr lang="en-US" sz="620" dirty="0"/>
          </a:p>
        </p:txBody>
      </p:sp>
      <p:sp>
        <p:nvSpPr>
          <p:cNvPr id="52" name="Text 50"/>
          <p:cNvSpPr/>
          <p:nvPr/>
        </p:nvSpPr>
        <p:spPr>
          <a:xfrm>
            <a:off x="10304201" y="6265504"/>
            <a:ext cx="126062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~50%</a:t>
            </a:r>
            <a:endParaRPr lang="en-US" sz="3400" dirty="0"/>
          </a:p>
        </p:txBody>
      </p:sp>
      <p:sp>
        <p:nvSpPr>
          <p:cNvPr id="53" name="Text 51"/>
          <p:cNvSpPr/>
          <p:nvPr/>
        </p:nvSpPr>
        <p:spPr>
          <a:xfrm>
            <a:off x="10304201" y="6731162"/>
            <a:ext cx="42031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SHARE</a:t>
            </a:r>
            <a:endParaRPr lang="en-US" sz="580" dirty="0"/>
          </a:p>
        </p:txBody>
      </p:sp>
      <p:sp>
        <p:nvSpPr>
          <p:cNvPr id="54" name="Text 52"/>
          <p:cNvSpPr/>
          <p:nvPr/>
        </p:nvSpPr>
        <p:spPr>
          <a:xfrm>
            <a:off x="10304201" y="6865078"/>
            <a:ext cx="1787135"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一級強粘炭の世界供給に占めるBMAのシェア</a:t>
            </a:r>
            <a:endParaRPr lang="en-US" sz="620" dirty="0"/>
          </a:p>
        </p:txBody>
      </p:sp>
      <p:sp>
        <p:nvSpPr>
          <p:cNvPr id="55" name="Text 53"/>
          <p:cNvSpPr/>
          <p:nvPr/>
        </p:nvSpPr>
        <p:spPr>
          <a:xfrm>
            <a:off x="12540377" y="6265504"/>
            <a:ext cx="898997"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60+</a:t>
            </a:r>
            <a:endParaRPr lang="en-US" sz="3400" dirty="0"/>
          </a:p>
        </p:txBody>
      </p:sp>
      <p:sp>
        <p:nvSpPr>
          <p:cNvPr id="56" name="Text 54"/>
          <p:cNvSpPr/>
          <p:nvPr/>
        </p:nvSpPr>
        <p:spPr>
          <a:xfrm>
            <a:off x="12540377" y="6731162"/>
            <a:ext cx="41638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YEARS</a:t>
            </a:r>
            <a:endParaRPr lang="en-US" sz="580" dirty="0"/>
          </a:p>
        </p:txBody>
      </p:sp>
      <p:sp>
        <p:nvSpPr>
          <p:cNvPr id="57" name="Text 55"/>
          <p:cNvSpPr/>
          <p:nvPr/>
        </p:nvSpPr>
        <p:spPr>
          <a:xfrm>
            <a:off x="12540377" y="6865078"/>
            <a:ext cx="74263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原料炭の炭鉱寿命</a:t>
            </a:r>
            <a:endParaRPr lang="en-US" sz="620" dirty="0"/>
          </a:p>
        </p:txBody>
      </p:sp>
      <p:sp>
        <p:nvSpPr>
          <p:cNvPr id="58" name="Text 56"/>
          <p:cNvSpPr/>
          <p:nvPr/>
        </p:nvSpPr>
        <p:spPr>
          <a:xfrm>
            <a:off x="508222" y="8131552"/>
            <a:ext cx="188933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OUR JOURNEY｜FORESIGHT</a:t>
            </a:r>
            <a:endParaRPr lang="en-US" sz="660" dirty="0"/>
          </a:p>
        </p:txBody>
      </p:sp>
      <p:sp>
        <p:nvSpPr>
          <p:cNvPr id="59" name="Text 57"/>
          <p:cNvSpPr/>
          <p:nvPr/>
        </p:nvSpPr>
        <p:spPr>
          <a:xfrm>
            <a:off x="2414054" y="8131552"/>
            <a:ext cx="23605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時代を先読みし、事業モデルを変え続けてきた歩み</a:t>
            </a:r>
            <a:endParaRPr lang="en-US" sz="660" dirty="0"/>
          </a:p>
        </p:txBody>
      </p:sp>
      <p:sp>
        <p:nvSpPr>
          <p:cNvPr id="60" name="Text 58"/>
          <p:cNvSpPr/>
          <p:nvPr/>
        </p:nvSpPr>
        <p:spPr>
          <a:xfrm>
            <a:off x="508222" y="8359616"/>
            <a:ext cx="1239665"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1980s–90s</a:t>
            </a:r>
            <a:endParaRPr lang="en-US" sz="1800" dirty="0"/>
          </a:p>
        </p:txBody>
      </p:sp>
      <p:sp>
        <p:nvSpPr>
          <p:cNvPr id="61" name="Text 59"/>
          <p:cNvSpPr/>
          <p:nvPr/>
        </p:nvSpPr>
        <p:spPr>
          <a:xfrm>
            <a:off x="508222" y="8863963"/>
            <a:ext cx="1229183"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トレーディングで参入</a:t>
            </a:r>
            <a:endParaRPr lang="en-US" sz="820" dirty="0"/>
          </a:p>
        </p:txBody>
      </p:sp>
      <p:sp>
        <p:nvSpPr>
          <p:cNvPr id="62" name="Text 60"/>
          <p:cNvSpPr/>
          <p:nvPr/>
        </p:nvSpPr>
        <p:spPr>
          <a:xfrm>
            <a:off x="508222"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日本が世界最大の消費国だった時代。資源を日本へ運ぶ役割から始</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まり、少数株主として出資。</a:t>
            </a:r>
            <a:endParaRPr lang="en-US" sz="660" dirty="0"/>
          </a:p>
        </p:txBody>
      </p:sp>
      <p:sp>
        <p:nvSpPr>
          <p:cNvPr id="63" name="Text 61"/>
          <p:cNvSpPr/>
          <p:nvPr/>
        </p:nvSpPr>
        <p:spPr>
          <a:xfrm>
            <a:off x="3379676" y="8359616"/>
            <a:ext cx="70376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1990s</a:t>
            </a:r>
            <a:endParaRPr lang="en-US" sz="1800" dirty="0"/>
          </a:p>
        </p:txBody>
      </p:sp>
      <p:sp>
        <p:nvSpPr>
          <p:cNvPr id="64" name="Text 62"/>
          <p:cNvSpPr/>
          <p:nvPr/>
        </p:nvSpPr>
        <p:spPr>
          <a:xfrm>
            <a:off x="3379676" y="8863963"/>
            <a:ext cx="999887"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投資モデルへ転換</a:t>
            </a:r>
            <a:endParaRPr lang="en-US" sz="820" dirty="0"/>
          </a:p>
        </p:txBody>
      </p:sp>
      <p:sp>
        <p:nvSpPr>
          <p:cNvPr id="65" name="Text 63"/>
          <p:cNvSpPr/>
          <p:nvPr/>
        </p:nvSpPr>
        <p:spPr>
          <a:xfrm>
            <a:off x="3379676"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口銭モデルから投資モデルへ。JV運営の知見を蓄積し、事業経営へ</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と舵を切る。</a:t>
            </a:r>
            <a:endParaRPr lang="en-US" sz="660" dirty="0"/>
          </a:p>
        </p:txBody>
      </p:sp>
      <p:sp>
        <p:nvSpPr>
          <p:cNvPr id="66" name="Text 64"/>
          <p:cNvSpPr/>
          <p:nvPr/>
        </p:nvSpPr>
        <p:spPr>
          <a:xfrm>
            <a:off x="6251130" y="8359616"/>
            <a:ext cx="764259"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2000s</a:t>
            </a:r>
            <a:endParaRPr lang="en-US" sz="1800" dirty="0"/>
          </a:p>
        </p:txBody>
      </p:sp>
      <p:sp>
        <p:nvSpPr>
          <p:cNvPr id="67" name="Text 65"/>
          <p:cNvSpPr/>
          <p:nvPr/>
        </p:nvSpPr>
        <p:spPr>
          <a:xfrm>
            <a:off x="6251130" y="8863963"/>
            <a:ext cx="1107110"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BHPと50:50のBMA</a:t>
            </a:r>
            <a:endParaRPr lang="en-US" sz="820" dirty="0"/>
          </a:p>
        </p:txBody>
      </p:sp>
      <p:sp>
        <p:nvSpPr>
          <p:cNvPr id="68" name="Text 66"/>
          <p:cNvSpPr/>
          <p:nvPr/>
        </p:nvSpPr>
        <p:spPr>
          <a:xfrm>
            <a:off x="6251130"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2001年、BHPと50:50でBMAを組成。中国の成長を捉え、世界の一</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級原料炭資産の経営に参画。</a:t>
            </a:r>
            <a:endParaRPr lang="en-US" sz="660" dirty="0"/>
          </a:p>
        </p:txBody>
      </p:sp>
      <p:sp>
        <p:nvSpPr>
          <p:cNvPr id="69" name="Text 67"/>
          <p:cNvSpPr/>
          <p:nvPr/>
        </p:nvSpPr>
        <p:spPr>
          <a:xfrm>
            <a:off x="9122585" y="8359616"/>
            <a:ext cx="70245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2010s</a:t>
            </a:r>
            <a:endParaRPr lang="en-US" sz="1800" dirty="0"/>
          </a:p>
        </p:txBody>
      </p:sp>
      <p:sp>
        <p:nvSpPr>
          <p:cNvPr id="70" name="Text 68"/>
          <p:cNvSpPr/>
          <p:nvPr/>
        </p:nvSpPr>
        <p:spPr>
          <a:xfrm>
            <a:off x="9122585" y="8863963"/>
            <a:ext cx="881309"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銅の権益を拡大</a:t>
            </a:r>
            <a:endParaRPr lang="en-US" sz="820" dirty="0"/>
          </a:p>
        </p:txBody>
      </p:sp>
      <p:sp>
        <p:nvSpPr>
          <p:cNvPr id="71" name="Text 69"/>
          <p:cNvSpPr/>
          <p:nvPr/>
        </p:nvSpPr>
        <p:spPr>
          <a:xfrm>
            <a:off x="9122585"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「原料炭だけでよいのか」という問いから銅へ。Anglo American</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と組みQuellavecoなど大型化。</a:t>
            </a:r>
            <a:endParaRPr lang="en-US" sz="660" dirty="0"/>
          </a:p>
        </p:txBody>
      </p:sp>
      <p:sp>
        <p:nvSpPr>
          <p:cNvPr id="72" name="Text 70"/>
          <p:cNvSpPr/>
          <p:nvPr/>
        </p:nvSpPr>
        <p:spPr>
          <a:xfrm>
            <a:off x="11994039" y="8359616"/>
            <a:ext cx="752903"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2020s</a:t>
            </a:r>
            <a:endParaRPr lang="en-US" sz="1800" dirty="0"/>
          </a:p>
        </p:txBody>
      </p:sp>
      <p:sp>
        <p:nvSpPr>
          <p:cNvPr id="73" name="Text 71"/>
          <p:cNvSpPr/>
          <p:nvPr/>
        </p:nvSpPr>
        <p:spPr>
          <a:xfrm>
            <a:off x="11994039" y="8863963"/>
            <a:ext cx="1473328"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グローバルなトレーダーへ</a:t>
            </a:r>
            <a:endParaRPr lang="en-US" sz="820" dirty="0"/>
          </a:p>
        </p:txBody>
      </p:sp>
      <p:sp>
        <p:nvSpPr>
          <p:cNvPr id="74" name="Text 72"/>
          <p:cNvSpPr/>
          <p:nvPr/>
        </p:nvSpPr>
        <p:spPr>
          <a:xfrm>
            <a:off x="11994039"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各地のマーケティングをRtMとしてシンガポールに集約。地域特化</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から世界の市場へ。</a:t>
            </a:r>
            <a:endParaRPr lang="en-US" sz="660" dirty="0"/>
          </a:p>
        </p:txBody>
      </p:sp>
      <p:sp>
        <p:nvSpPr>
          <p:cNvPr id="75" name="Text 73"/>
          <p:cNvSpPr/>
          <p:nvPr/>
        </p:nvSpPr>
        <p:spPr>
          <a:xfrm>
            <a:off x="508222" y="10316906"/>
            <a:ext cx="204778"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04</a:t>
            </a:r>
            <a:endParaRPr lang="en-US" sz="600" dirty="0"/>
          </a:p>
        </p:txBody>
      </p:sp>
      <p:sp>
        <p:nvSpPr>
          <p:cNvPr id="76" name="Text 74"/>
          <p:cNvSpPr/>
          <p:nvPr/>
        </p:nvSpPr>
        <p:spPr>
          <a:xfrm>
            <a:off x="14458915" y="10316906"/>
            <a:ext cx="2004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05</a:t>
            </a:r>
            <a:endParaRPr lang="en-US" sz="600" dirty="0"/>
          </a:p>
        </p:txBody>
      </p:sp>
      <p:sp>
        <p:nvSpPr>
          <p:cNvPr id="77" name="Text 75"/>
          <p:cNvSpPr/>
          <p:nvPr/>
        </p:nvSpPr>
        <p:spPr>
          <a:xfrm>
            <a:off x="876683" y="10328977"/>
            <a:ext cx="5247749"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台割メモ｜動画02 Who we are。三菱商事→金属資源G→組織（投資2本部＋トレーディング1本部、関係会社）を1ページに。ミッションはパネルで強調。</a:t>
            </a:r>
            <a:endParaRPr lang="en-US" sz="540" dirty="0"/>
          </a:p>
        </p:txBody>
      </p:sp>
      <p:sp>
        <p:nvSpPr>
          <p:cNvPr id="78" name="Text 76"/>
          <p:cNvSpPr/>
          <p:nvPr/>
        </p:nvSpPr>
        <p:spPr>
          <a:xfrm>
            <a:off x="8169668" y="10328977"/>
            <a:ext cx="529077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台割メモ｜動画03 Our Strengths。【強調】一級資産の地図と数字3つ。下段の「歩み（先見性）」は見開き全幅の帯で左右をつなぐ（参考資料P34の意向）。</a:t>
            </a:r>
            <a:endParaRPr lang="en-US" sz="5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8222" y="508222"/>
            <a:ext cx="190527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02 · Metallurgical coal</a:t>
            </a:r>
            <a:endParaRPr lang="en-US" sz="660" dirty="0"/>
          </a:p>
        </p:txBody>
      </p:sp>
      <p:sp>
        <p:nvSpPr>
          <p:cNvPr id="3" name="Text 1"/>
          <p:cNvSpPr/>
          <p:nvPr/>
        </p:nvSpPr>
        <p:spPr>
          <a:xfrm>
            <a:off x="8068024" y="508222"/>
            <a:ext cx="91057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02 · Copper</a:t>
            </a:r>
            <a:endParaRPr lang="en-US" sz="660" dirty="0"/>
          </a:p>
        </p:txBody>
      </p:sp>
      <p:sp>
        <p:nvSpPr>
          <p:cNvPr id="4" name="Text 2"/>
          <p:cNvSpPr/>
          <p:nvPr/>
        </p:nvSpPr>
        <p:spPr>
          <a:xfrm>
            <a:off x="508222" y="3419063"/>
            <a:ext cx="2327835"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~50%</a:t>
            </a:r>
            <a:endParaRPr lang="en-US" sz="6400" dirty="0"/>
          </a:p>
        </p:txBody>
      </p:sp>
      <p:sp>
        <p:nvSpPr>
          <p:cNvPr id="5" name="Text 3"/>
          <p:cNvSpPr/>
          <p:nvPr/>
        </p:nvSpPr>
        <p:spPr>
          <a:xfrm>
            <a:off x="2668165" y="3574516"/>
            <a:ext cx="1418297"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一級強粘炭の世界供給に</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占めるBMAのシェア</a:t>
            </a:r>
            <a:endParaRPr lang="en-US" sz="860" dirty="0"/>
          </a:p>
        </p:txBody>
      </p:sp>
      <p:sp>
        <p:nvSpPr>
          <p:cNvPr id="6" name="Text 4"/>
          <p:cNvSpPr/>
          <p:nvPr/>
        </p:nvSpPr>
        <p:spPr>
          <a:xfrm>
            <a:off x="8068024" y="3419063"/>
            <a:ext cx="1600204"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No.1</a:t>
            </a:r>
            <a:endParaRPr lang="en-US" sz="6400" dirty="0"/>
          </a:p>
        </p:txBody>
      </p:sp>
      <p:sp>
        <p:nvSpPr>
          <p:cNvPr id="7" name="Text 5"/>
          <p:cNvSpPr/>
          <p:nvPr/>
        </p:nvSpPr>
        <p:spPr>
          <a:xfrm>
            <a:off x="9973856" y="3574516"/>
            <a:ext cx="2288309"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ノンオペレーター（自社操業を伴わない</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参画者）として世界最大の銅生産者</a:t>
            </a:r>
            <a:endParaRPr lang="en-US" sz="860" dirty="0"/>
          </a:p>
        </p:txBody>
      </p:sp>
      <p:sp>
        <p:nvSpPr>
          <p:cNvPr id="8" name="Text 6"/>
          <p:cNvSpPr/>
          <p:nvPr/>
        </p:nvSpPr>
        <p:spPr>
          <a:xfrm>
            <a:off x="508222" y="4468542"/>
            <a:ext cx="3262051"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World-class</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metallurgical coal.</a:t>
            </a:r>
            <a:endParaRPr lang="en-US" sz="3000" dirty="0"/>
          </a:p>
        </p:txBody>
      </p:sp>
      <p:sp>
        <p:nvSpPr>
          <p:cNvPr id="9" name="Text 7"/>
          <p:cNvSpPr/>
          <p:nvPr/>
        </p:nvSpPr>
        <p:spPr>
          <a:xfrm>
            <a:off x="508222" y="5455445"/>
            <a:ext cx="4442158"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原料炭事業｜鉄の主原料“産業のコメ”を、世界最高品位で</a:t>
            </a:r>
            <a:endParaRPr lang="en-US" sz="1150" dirty="0"/>
          </a:p>
        </p:txBody>
      </p:sp>
      <p:sp>
        <p:nvSpPr>
          <p:cNvPr id="10" name="Text 8"/>
          <p:cNvSpPr/>
          <p:nvPr/>
        </p:nvSpPr>
        <p:spPr>
          <a:xfrm>
            <a:off x="508222" y="5733347"/>
            <a:ext cx="3544848"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BHPと50:50の合弁であるBMA（BHP Mitsubishi Alliance）を通じ、豪州</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クイーンズランド州ボーエン・ベースンで世界最高品位の原料炭事業に参</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画しています。炭鉱（露天掘4・坑内掘1）に加え、港湾と鉄道までを自社</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で保有し、山から港まで全体最適で運営。保有鉱山は高品位のものに集約</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し、高品位原料の供給を通じて鉄鋼業の脱炭素にも貢献しています。</a:t>
            </a:r>
            <a:endParaRPr lang="en-US" sz="730" dirty="0"/>
          </a:p>
        </p:txBody>
      </p:sp>
      <p:sp>
        <p:nvSpPr>
          <p:cNvPr id="11" name="Text 9"/>
          <p:cNvSpPr/>
          <p:nvPr/>
        </p:nvSpPr>
        <p:spPr>
          <a:xfrm>
            <a:off x="3938720" y="5734967"/>
            <a:ext cx="2510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01</a:t>
            </a:r>
            <a:endParaRPr lang="en-US" sz="1500" dirty="0"/>
          </a:p>
        </p:txBody>
      </p:sp>
      <p:sp>
        <p:nvSpPr>
          <p:cNvPr id="12" name="Text 10"/>
          <p:cNvSpPr/>
          <p:nvPr/>
        </p:nvSpPr>
        <p:spPr>
          <a:xfrm>
            <a:off x="4294476" y="5772131"/>
            <a:ext cx="1558931"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世界最高品位の原料炭を保有</a:t>
            </a:r>
            <a:endParaRPr lang="en-US" sz="800" dirty="0"/>
          </a:p>
        </p:txBody>
      </p:sp>
      <p:sp>
        <p:nvSpPr>
          <p:cNvPr id="13" name="Text 11"/>
          <p:cNvSpPr/>
          <p:nvPr/>
        </p:nvSpPr>
        <p:spPr>
          <a:xfrm>
            <a:off x="3938720" y="6116134"/>
            <a:ext cx="293002"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02</a:t>
            </a:r>
            <a:endParaRPr lang="en-US" sz="1500" dirty="0"/>
          </a:p>
        </p:txBody>
      </p:sp>
      <p:sp>
        <p:nvSpPr>
          <p:cNvPr id="14" name="Text 12"/>
          <p:cNvSpPr/>
          <p:nvPr/>
        </p:nvSpPr>
        <p:spPr>
          <a:xfrm>
            <a:off x="4294476" y="6153298"/>
            <a:ext cx="1915104"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原料炭は鉄の主原料＝“産業のコメ”</a:t>
            </a:r>
            <a:endParaRPr lang="en-US" sz="800" dirty="0"/>
          </a:p>
        </p:txBody>
      </p:sp>
      <p:sp>
        <p:nvSpPr>
          <p:cNvPr id="15" name="Text 13"/>
          <p:cNvSpPr/>
          <p:nvPr/>
        </p:nvSpPr>
        <p:spPr>
          <a:xfrm>
            <a:off x="3938720" y="6497300"/>
            <a:ext cx="299116"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03</a:t>
            </a:r>
            <a:endParaRPr lang="en-US" sz="1500" dirty="0"/>
          </a:p>
        </p:txBody>
      </p:sp>
      <p:sp>
        <p:nvSpPr>
          <p:cNvPr id="16" name="Text 14"/>
          <p:cNvSpPr/>
          <p:nvPr/>
        </p:nvSpPr>
        <p:spPr>
          <a:xfrm>
            <a:off x="4294476" y="6534464"/>
            <a:ext cx="1674889"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鉄は今後も底堅く必要とされる</a:t>
            </a:r>
            <a:endParaRPr lang="en-US" sz="800" dirty="0"/>
          </a:p>
        </p:txBody>
      </p:sp>
      <p:sp>
        <p:nvSpPr>
          <p:cNvPr id="17" name="Text 15"/>
          <p:cNvSpPr/>
          <p:nvPr/>
        </p:nvSpPr>
        <p:spPr>
          <a:xfrm>
            <a:off x="3938720" y="6878467"/>
            <a:ext cx="3021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04</a:t>
            </a:r>
            <a:endParaRPr lang="en-US" sz="1500" dirty="0"/>
          </a:p>
        </p:txBody>
      </p:sp>
      <p:sp>
        <p:nvSpPr>
          <p:cNvPr id="18" name="Text 16"/>
          <p:cNvSpPr/>
          <p:nvPr/>
        </p:nvSpPr>
        <p:spPr>
          <a:xfrm>
            <a:off x="4294476" y="6915631"/>
            <a:ext cx="1207563"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ゆえに、社会に不可欠</a:t>
            </a:r>
            <a:endParaRPr lang="en-US" sz="800" dirty="0"/>
          </a:p>
        </p:txBody>
      </p:sp>
      <p:sp>
        <p:nvSpPr>
          <p:cNvPr id="19" name="Text 17"/>
          <p:cNvSpPr/>
          <p:nvPr/>
        </p:nvSpPr>
        <p:spPr>
          <a:xfrm>
            <a:off x="508222" y="7267574"/>
            <a:ext cx="85270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OWNERSHIP</a:t>
            </a:r>
            <a:endParaRPr lang="en-US" sz="660" dirty="0"/>
          </a:p>
        </p:txBody>
      </p:sp>
      <p:sp>
        <p:nvSpPr>
          <p:cNvPr id="20" name="Text 18"/>
          <p:cNvSpPr/>
          <p:nvPr/>
        </p:nvSpPr>
        <p:spPr>
          <a:xfrm>
            <a:off x="731760" y="7572508"/>
            <a:ext cx="81666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Mitsubishi Corp.</a:t>
            </a:r>
            <a:endParaRPr lang="en-US" sz="640" dirty="0"/>
          </a:p>
        </p:txBody>
      </p:sp>
      <p:sp>
        <p:nvSpPr>
          <p:cNvPr id="21" name="Text 19"/>
          <p:cNvSpPr/>
          <p:nvPr/>
        </p:nvSpPr>
        <p:spPr>
          <a:xfrm>
            <a:off x="2379313" y="7572508"/>
            <a:ext cx="26679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MDP</a:t>
            </a:r>
            <a:endParaRPr lang="en-US" sz="640" dirty="0"/>
          </a:p>
        </p:txBody>
      </p:sp>
      <p:sp>
        <p:nvSpPr>
          <p:cNvPr id="22" name="Text 20"/>
          <p:cNvSpPr/>
          <p:nvPr/>
        </p:nvSpPr>
        <p:spPr>
          <a:xfrm>
            <a:off x="2388842" y="7979085"/>
            <a:ext cx="24605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BHP</a:t>
            </a:r>
            <a:endParaRPr lang="en-US" sz="640" dirty="0"/>
          </a:p>
        </p:txBody>
      </p:sp>
      <p:sp>
        <p:nvSpPr>
          <p:cNvPr id="23" name="Text 21"/>
          <p:cNvSpPr/>
          <p:nvPr/>
        </p:nvSpPr>
        <p:spPr>
          <a:xfrm>
            <a:off x="3789629" y="7775796"/>
            <a:ext cx="2670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Inter Medium" pitchFamily="34" charset="0"/>
                <a:ea typeface="Inter Medium" pitchFamily="34" charset="-122"/>
                <a:cs typeface="Inter Medium" pitchFamily="34" charset="-120"/>
              </a:rPr>
              <a:t>BMA</a:t>
            </a:r>
            <a:endParaRPr lang="en-US" sz="640" dirty="0"/>
          </a:p>
        </p:txBody>
      </p:sp>
      <p:sp>
        <p:nvSpPr>
          <p:cNvPr id="24" name="Text 22"/>
          <p:cNvSpPr/>
          <p:nvPr/>
        </p:nvSpPr>
        <p:spPr>
          <a:xfrm>
            <a:off x="1727955" y="7504914"/>
            <a:ext cx="24583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100%</a:t>
            </a:r>
            <a:endParaRPr lang="en-US" sz="540" dirty="0"/>
          </a:p>
        </p:txBody>
      </p:sp>
      <p:sp>
        <p:nvSpPr>
          <p:cNvPr id="25" name="Text 23"/>
          <p:cNvSpPr/>
          <p:nvPr/>
        </p:nvSpPr>
        <p:spPr>
          <a:xfrm>
            <a:off x="2960393" y="7517620"/>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6" name="Text 24"/>
          <p:cNvSpPr/>
          <p:nvPr/>
        </p:nvSpPr>
        <p:spPr>
          <a:xfrm>
            <a:off x="2960393" y="8051253"/>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7" name="Text 25"/>
          <p:cNvSpPr/>
          <p:nvPr/>
        </p:nvSpPr>
        <p:spPr>
          <a:xfrm>
            <a:off x="508222" y="8385663"/>
            <a:ext cx="30981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Since</a:t>
            </a:r>
            <a:endParaRPr lang="en-US" sz="640" dirty="0"/>
          </a:p>
        </p:txBody>
      </p:sp>
      <p:sp>
        <p:nvSpPr>
          <p:cNvPr id="28" name="Text 26"/>
          <p:cNvSpPr/>
          <p:nvPr/>
        </p:nvSpPr>
        <p:spPr>
          <a:xfrm>
            <a:off x="1905832" y="8365588"/>
            <a:ext cx="1785388"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1968年 MDP設立／2001年 BMA組成</a:t>
            </a:r>
            <a:endParaRPr lang="en-US" sz="720" dirty="0"/>
          </a:p>
        </p:txBody>
      </p:sp>
      <p:sp>
        <p:nvSpPr>
          <p:cNvPr id="29" name="Text 27"/>
          <p:cNvSpPr/>
          <p:nvPr/>
        </p:nvSpPr>
        <p:spPr>
          <a:xfrm>
            <a:off x="508222" y="8576246"/>
            <a:ext cx="45263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Location</a:t>
            </a:r>
            <a:endParaRPr lang="en-US" sz="640" dirty="0"/>
          </a:p>
        </p:txBody>
      </p:sp>
      <p:sp>
        <p:nvSpPr>
          <p:cNvPr id="30" name="Text 28"/>
          <p:cNvSpPr/>
          <p:nvPr/>
        </p:nvSpPr>
        <p:spPr>
          <a:xfrm>
            <a:off x="1905832" y="8556171"/>
            <a:ext cx="1884749"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豪州クイーンズランド州 Bowen Basin</a:t>
            </a:r>
            <a:endParaRPr lang="en-US" sz="720" dirty="0"/>
          </a:p>
        </p:txBody>
      </p:sp>
      <p:sp>
        <p:nvSpPr>
          <p:cNvPr id="31" name="Text 29"/>
          <p:cNvSpPr/>
          <p:nvPr/>
        </p:nvSpPr>
        <p:spPr>
          <a:xfrm>
            <a:off x="508222" y="8766829"/>
            <a:ext cx="36550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Assets</a:t>
            </a:r>
            <a:endParaRPr lang="en-US" sz="640" dirty="0"/>
          </a:p>
        </p:txBody>
      </p:sp>
      <p:sp>
        <p:nvSpPr>
          <p:cNvPr id="32" name="Text 30"/>
          <p:cNvSpPr/>
          <p:nvPr/>
        </p:nvSpPr>
        <p:spPr>
          <a:xfrm>
            <a:off x="1905832" y="8746754"/>
            <a:ext cx="196402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炭鉱5（露天掘4・坑内掘1）・港湾・鉄道</a:t>
            </a:r>
            <a:endParaRPr lang="en-US" sz="720" dirty="0"/>
          </a:p>
        </p:txBody>
      </p:sp>
      <p:sp>
        <p:nvSpPr>
          <p:cNvPr id="33" name="Text 31"/>
          <p:cNvSpPr/>
          <p:nvPr/>
        </p:nvSpPr>
        <p:spPr>
          <a:xfrm>
            <a:off x="508222" y="8957412"/>
            <a:ext cx="45154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Mine life</a:t>
            </a:r>
            <a:endParaRPr lang="en-US" sz="640" dirty="0"/>
          </a:p>
        </p:txBody>
      </p:sp>
      <p:sp>
        <p:nvSpPr>
          <p:cNvPr id="34" name="Text 32"/>
          <p:cNvSpPr/>
          <p:nvPr/>
        </p:nvSpPr>
        <p:spPr>
          <a:xfrm>
            <a:off x="1905832" y="8937338"/>
            <a:ext cx="487794"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60年以上</a:t>
            </a:r>
            <a:endParaRPr lang="en-US" sz="720" dirty="0"/>
          </a:p>
        </p:txBody>
      </p:sp>
      <p:sp>
        <p:nvSpPr>
          <p:cNvPr id="35" name="Text 33"/>
          <p:cNvSpPr/>
          <p:nvPr/>
        </p:nvSpPr>
        <p:spPr>
          <a:xfrm>
            <a:off x="508222" y="9147996"/>
            <a:ext cx="7841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Seaborne share</a:t>
            </a:r>
            <a:endParaRPr lang="en-US" sz="640" dirty="0"/>
          </a:p>
        </p:txBody>
      </p:sp>
      <p:sp>
        <p:nvSpPr>
          <p:cNvPr id="36" name="Text 34"/>
          <p:cNvSpPr/>
          <p:nvPr/>
        </p:nvSpPr>
        <p:spPr>
          <a:xfrm>
            <a:off x="1905832" y="9127921"/>
            <a:ext cx="152814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原料炭の海上輸出市場で約20%</a:t>
            </a:r>
            <a:endParaRPr lang="en-US" sz="720" dirty="0"/>
          </a:p>
        </p:txBody>
      </p:sp>
      <p:sp>
        <p:nvSpPr>
          <p:cNvPr id="37" name="Text 35"/>
          <p:cNvSpPr/>
          <p:nvPr/>
        </p:nvSpPr>
        <p:spPr>
          <a:xfrm>
            <a:off x="8068024" y="4468542"/>
            <a:ext cx="5779060"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The world's largest</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non-operating copper producer.</a:t>
            </a:r>
            <a:endParaRPr lang="en-US" sz="3000" dirty="0"/>
          </a:p>
        </p:txBody>
      </p:sp>
      <p:sp>
        <p:nvSpPr>
          <p:cNvPr id="38" name="Text 36"/>
          <p:cNvSpPr/>
          <p:nvPr/>
        </p:nvSpPr>
        <p:spPr>
          <a:xfrm>
            <a:off x="8068024" y="5455445"/>
            <a:ext cx="4909702"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銅事業｜自社操業を伴わずに、世界最大級の銅ポジションを築く</a:t>
            </a:r>
            <a:endParaRPr lang="en-US" sz="1150" dirty="0"/>
          </a:p>
        </p:txBody>
      </p:sp>
      <p:sp>
        <p:nvSpPr>
          <p:cNvPr id="39" name="Text 37"/>
          <p:cNvSpPr/>
          <p:nvPr/>
        </p:nvSpPr>
        <p:spPr>
          <a:xfrm>
            <a:off x="8068024" y="5733347"/>
            <a:ext cx="3544848"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銅は原料炭に比べてプレイヤーが多く、寡占化が進んでいない市場です。</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そのなかで私たちは、規模で世界上位15に入る優良鉱山に複数参画し、日</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本最大・世界第20位の持分生産量を有しています。特定の1社に偏らず、</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主要メジャーのほぼすべてと共同事業・取引を行い、販売を通じた幅広い</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関係から、新しい案件で“声がかかる存在”であり続けています。</a:t>
            </a:r>
            <a:endParaRPr lang="en-US" sz="730" dirty="0"/>
          </a:p>
        </p:txBody>
      </p:sp>
      <p:sp>
        <p:nvSpPr>
          <p:cNvPr id="40" name="Text 38"/>
          <p:cNvSpPr/>
          <p:nvPr/>
        </p:nvSpPr>
        <p:spPr>
          <a:xfrm>
            <a:off x="11498522" y="5742908"/>
            <a:ext cx="99595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EARLY MOVER</a:t>
            </a:r>
            <a:endParaRPr lang="en-US" sz="660" dirty="0"/>
          </a:p>
        </p:txBody>
      </p:sp>
      <p:sp>
        <p:nvSpPr>
          <p:cNvPr id="41" name="Text 39"/>
          <p:cNvSpPr/>
          <p:nvPr/>
        </p:nvSpPr>
        <p:spPr>
          <a:xfrm>
            <a:off x="12387911" y="5742908"/>
            <a:ext cx="95577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主要鉱山への参画年</a:t>
            </a:r>
            <a:endParaRPr lang="en-US" sz="660" dirty="0"/>
          </a:p>
        </p:txBody>
      </p:sp>
      <p:sp>
        <p:nvSpPr>
          <p:cNvPr id="42" name="Text 40"/>
          <p:cNvSpPr/>
          <p:nvPr/>
        </p:nvSpPr>
        <p:spPr>
          <a:xfrm>
            <a:off x="1174191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1990</a:t>
            </a:r>
            <a:endParaRPr lang="en-US" sz="560" dirty="0"/>
          </a:p>
        </p:txBody>
      </p:sp>
      <p:sp>
        <p:nvSpPr>
          <p:cNvPr id="43" name="Text 41"/>
          <p:cNvSpPr/>
          <p:nvPr/>
        </p:nvSpPr>
        <p:spPr>
          <a:xfrm>
            <a:off x="12483202" y="5940099"/>
            <a:ext cx="24648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2000</a:t>
            </a:r>
            <a:endParaRPr lang="en-US" sz="560" dirty="0"/>
          </a:p>
        </p:txBody>
      </p:sp>
      <p:sp>
        <p:nvSpPr>
          <p:cNvPr id="44" name="Text 42"/>
          <p:cNvSpPr/>
          <p:nvPr/>
        </p:nvSpPr>
        <p:spPr>
          <a:xfrm>
            <a:off x="1322429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2010</a:t>
            </a:r>
            <a:endParaRPr lang="en-US" sz="560" dirty="0"/>
          </a:p>
        </p:txBody>
      </p:sp>
      <p:sp>
        <p:nvSpPr>
          <p:cNvPr id="45" name="Text 43"/>
          <p:cNvSpPr/>
          <p:nvPr/>
        </p:nvSpPr>
        <p:spPr>
          <a:xfrm>
            <a:off x="13965384" y="5940099"/>
            <a:ext cx="244959"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2020</a:t>
            </a:r>
            <a:endParaRPr lang="en-US" sz="560" dirty="0"/>
          </a:p>
        </p:txBody>
      </p:sp>
      <p:sp>
        <p:nvSpPr>
          <p:cNvPr id="46" name="Text 44"/>
          <p:cNvSpPr/>
          <p:nvPr/>
        </p:nvSpPr>
        <p:spPr>
          <a:xfrm>
            <a:off x="11797103" y="6276541"/>
            <a:ext cx="1091387"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Escondida</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Chile・1988</a:t>
            </a:r>
            <a:endParaRPr lang="en-US" sz="640" dirty="0"/>
          </a:p>
        </p:txBody>
      </p:sp>
      <p:sp>
        <p:nvSpPr>
          <p:cNvPr id="47" name="Text 45"/>
          <p:cNvSpPr/>
          <p:nvPr/>
        </p:nvSpPr>
        <p:spPr>
          <a:xfrm>
            <a:off x="12464144" y="6441714"/>
            <a:ext cx="1290328"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Los Pelambres</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Chile・1997</a:t>
            </a:r>
            <a:endParaRPr lang="en-US" sz="640" dirty="0"/>
          </a:p>
        </p:txBody>
      </p:sp>
      <p:sp>
        <p:nvSpPr>
          <p:cNvPr id="48" name="Text 46"/>
          <p:cNvSpPr/>
          <p:nvPr/>
        </p:nvSpPr>
        <p:spPr>
          <a:xfrm>
            <a:off x="12612243" y="6606886"/>
            <a:ext cx="1027839"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Antamina</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Peru・1999</a:t>
            </a:r>
            <a:endParaRPr lang="en-US" sz="640" dirty="0"/>
          </a:p>
        </p:txBody>
      </p:sp>
      <p:sp>
        <p:nvSpPr>
          <p:cNvPr id="49" name="Text 47"/>
          <p:cNvSpPr/>
          <p:nvPr/>
        </p:nvSpPr>
        <p:spPr>
          <a:xfrm>
            <a:off x="13501632" y="6772058"/>
            <a:ext cx="1541898"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Anglo American Sur</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Chile・2011</a:t>
            </a:r>
            <a:endParaRPr lang="en-US" sz="640" dirty="0"/>
          </a:p>
        </p:txBody>
      </p:sp>
      <p:sp>
        <p:nvSpPr>
          <p:cNvPr id="50" name="Text 48"/>
          <p:cNvSpPr/>
          <p:nvPr/>
        </p:nvSpPr>
        <p:spPr>
          <a:xfrm>
            <a:off x="13501632" y="6937230"/>
            <a:ext cx="1106673"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Quellaveco</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Peru・2011</a:t>
            </a:r>
            <a:endParaRPr lang="en-US" sz="640" dirty="0"/>
          </a:p>
        </p:txBody>
      </p:sp>
      <p:sp>
        <p:nvSpPr>
          <p:cNvPr id="51" name="Text 49"/>
          <p:cNvSpPr/>
          <p:nvPr/>
        </p:nvSpPr>
        <p:spPr>
          <a:xfrm>
            <a:off x="12800821" y="7102402"/>
            <a:ext cx="1437732" cy="114350"/>
          </a:xfrm>
          <a:prstGeom prst="rect">
            <a:avLst/>
          </a:prstGeom>
          <a:noFill/>
          <a:ln/>
        </p:spPr>
        <p:txBody>
          <a:bodyPr wrap="none" lIns="0" tIns="0" rIns="0" bIns="0" rtlCol="0" anchor="t"/>
          <a:lstStyle/>
          <a:p>
            <a:pPr algn="r"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Marimaca</a:t>
            </a:r>
            <a:pPr algn="r"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Chile · 開発中・2023</a:t>
            </a:r>
            <a:endParaRPr lang="en-US" sz="640" dirty="0"/>
          </a:p>
        </p:txBody>
      </p:sp>
      <p:sp>
        <p:nvSpPr>
          <p:cNvPr id="52" name="Text 50"/>
          <p:cNvSpPr/>
          <p:nvPr/>
        </p:nvSpPr>
        <p:spPr>
          <a:xfrm>
            <a:off x="12808703" y="7267574"/>
            <a:ext cx="1578148" cy="114350"/>
          </a:xfrm>
          <a:prstGeom prst="rect">
            <a:avLst/>
          </a:prstGeom>
          <a:noFill/>
          <a:ln/>
        </p:spPr>
        <p:txBody>
          <a:bodyPr wrap="none" lIns="0" tIns="0" rIns="0" bIns="0" rtlCol="0" anchor="t"/>
          <a:lstStyle/>
          <a:p>
            <a:pPr algn="r"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Copper World</a:t>
            </a:r>
            <a:pPr algn="r"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USA · 開発中・2025</a:t>
            </a:r>
            <a:endParaRPr lang="en-US" sz="640" dirty="0"/>
          </a:p>
        </p:txBody>
      </p:sp>
      <p:sp>
        <p:nvSpPr>
          <p:cNvPr id="53" name="Text 51"/>
          <p:cNvSpPr/>
          <p:nvPr/>
        </p:nvSpPr>
        <p:spPr>
          <a:xfrm>
            <a:off x="8068024" y="7216752"/>
            <a:ext cx="190702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COPPER PRODUCTION 2025</a:t>
            </a:r>
            <a:endParaRPr lang="en-US" sz="660" dirty="0"/>
          </a:p>
        </p:txBody>
      </p:sp>
      <p:sp>
        <p:nvSpPr>
          <p:cNvPr id="54" name="Text 52"/>
          <p:cNvSpPr/>
          <p:nvPr/>
        </p:nvSpPr>
        <p:spPr>
          <a:xfrm>
            <a:off x="9973856" y="7216752"/>
            <a:ext cx="1285960"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会社別 世界銅生産量（kt）</a:t>
            </a:r>
            <a:endParaRPr lang="en-US" sz="660" dirty="0"/>
          </a:p>
        </p:txBody>
      </p:sp>
      <p:sp>
        <p:nvSpPr>
          <p:cNvPr id="55" name="Text 53"/>
          <p:cNvSpPr/>
          <p:nvPr/>
        </p:nvSpPr>
        <p:spPr>
          <a:xfrm>
            <a:off x="8777212" y="7439099"/>
            <a:ext cx="35807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 BHP</a:t>
            </a:r>
            <a:endParaRPr lang="en-US" sz="600" dirty="0"/>
          </a:p>
        </p:txBody>
      </p:sp>
      <p:sp>
        <p:nvSpPr>
          <p:cNvPr id="56" name="Text 54"/>
          <p:cNvSpPr/>
          <p:nvPr/>
        </p:nvSpPr>
        <p:spPr>
          <a:xfrm>
            <a:off x="13099422" y="7439099"/>
            <a:ext cx="26395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1,501</a:t>
            </a:r>
            <a:endParaRPr lang="en-US" sz="580" dirty="0"/>
          </a:p>
        </p:txBody>
      </p:sp>
      <p:sp>
        <p:nvSpPr>
          <p:cNvPr id="57" name="Text 55"/>
          <p:cNvSpPr/>
          <p:nvPr/>
        </p:nvSpPr>
        <p:spPr>
          <a:xfrm>
            <a:off x="8581328" y="7596529"/>
            <a:ext cx="55396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#2 Codelco</a:t>
            </a:r>
            <a:endParaRPr lang="en-US" sz="600" dirty="0"/>
          </a:p>
        </p:txBody>
      </p:sp>
      <p:sp>
        <p:nvSpPr>
          <p:cNvPr id="58" name="Text 56"/>
          <p:cNvSpPr/>
          <p:nvPr/>
        </p:nvSpPr>
        <p:spPr>
          <a:xfrm>
            <a:off x="12924125" y="7596529"/>
            <a:ext cx="28404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1,432</a:t>
            </a:r>
            <a:endParaRPr lang="en-US" sz="580" dirty="0"/>
          </a:p>
        </p:txBody>
      </p:sp>
      <p:sp>
        <p:nvSpPr>
          <p:cNvPr id="59" name="Text 57"/>
          <p:cNvSpPr/>
          <p:nvPr/>
        </p:nvSpPr>
        <p:spPr>
          <a:xfrm>
            <a:off x="8568226" y="7754157"/>
            <a:ext cx="5670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#3 Freeport</a:t>
            </a:r>
            <a:endParaRPr lang="en-US" sz="600" dirty="0"/>
          </a:p>
        </p:txBody>
      </p:sp>
      <p:sp>
        <p:nvSpPr>
          <p:cNvPr id="60" name="Text 58"/>
          <p:cNvSpPr/>
          <p:nvPr/>
        </p:nvSpPr>
        <p:spPr>
          <a:xfrm>
            <a:off x="12078412" y="7754157"/>
            <a:ext cx="282301"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1,099</a:t>
            </a:r>
            <a:endParaRPr lang="en-US" sz="580" dirty="0"/>
          </a:p>
        </p:txBody>
      </p:sp>
      <p:sp>
        <p:nvSpPr>
          <p:cNvPr id="61" name="Text 59"/>
          <p:cNvSpPr/>
          <p:nvPr/>
        </p:nvSpPr>
        <p:spPr>
          <a:xfrm>
            <a:off x="8190652" y="7911587"/>
            <a:ext cx="94463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#4 Southern Copper</a:t>
            </a:r>
            <a:endParaRPr lang="en-US" sz="600" dirty="0"/>
          </a:p>
        </p:txBody>
      </p:sp>
      <p:sp>
        <p:nvSpPr>
          <p:cNvPr id="62" name="Text 60"/>
          <p:cNvSpPr/>
          <p:nvPr/>
        </p:nvSpPr>
        <p:spPr>
          <a:xfrm>
            <a:off x="11695061" y="7911587"/>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948</a:t>
            </a:r>
            <a:endParaRPr lang="en-US" sz="580" dirty="0"/>
          </a:p>
        </p:txBody>
      </p:sp>
      <p:sp>
        <p:nvSpPr>
          <p:cNvPr id="63" name="Text 61"/>
          <p:cNvSpPr/>
          <p:nvPr/>
        </p:nvSpPr>
        <p:spPr>
          <a:xfrm>
            <a:off x="8433487" y="8069215"/>
            <a:ext cx="701803"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#5 Zijin Mining</a:t>
            </a:r>
            <a:endParaRPr lang="en-US" sz="600" dirty="0"/>
          </a:p>
        </p:txBody>
      </p:sp>
      <p:sp>
        <p:nvSpPr>
          <p:cNvPr id="64" name="Text 62"/>
          <p:cNvSpPr/>
          <p:nvPr/>
        </p:nvSpPr>
        <p:spPr>
          <a:xfrm>
            <a:off x="11446112" y="8069215"/>
            <a:ext cx="21569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850</a:t>
            </a:r>
            <a:endParaRPr lang="en-US" sz="580" dirty="0"/>
          </a:p>
        </p:txBody>
      </p:sp>
      <p:sp>
        <p:nvSpPr>
          <p:cNvPr id="65" name="Text 63"/>
          <p:cNvSpPr/>
          <p:nvPr/>
        </p:nvSpPr>
        <p:spPr>
          <a:xfrm>
            <a:off x="8546825" y="8226843"/>
            <a:ext cx="5884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#6 Glencore</a:t>
            </a:r>
            <a:endParaRPr lang="en-US" sz="600" dirty="0"/>
          </a:p>
        </p:txBody>
      </p:sp>
      <p:sp>
        <p:nvSpPr>
          <p:cNvPr id="66" name="Text 64"/>
          <p:cNvSpPr/>
          <p:nvPr/>
        </p:nvSpPr>
        <p:spPr>
          <a:xfrm>
            <a:off x="11349629" y="8226843"/>
            <a:ext cx="19800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812</a:t>
            </a:r>
            <a:endParaRPr lang="en-US" sz="580" dirty="0"/>
          </a:p>
        </p:txBody>
      </p:sp>
      <p:sp>
        <p:nvSpPr>
          <p:cNvPr id="67" name="Text 65"/>
          <p:cNvSpPr/>
          <p:nvPr/>
        </p:nvSpPr>
        <p:spPr>
          <a:xfrm>
            <a:off x="8557088" y="8384273"/>
            <a:ext cx="57820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#7 Rio Tinto</a:t>
            </a:r>
            <a:endParaRPr lang="en-US" sz="600" dirty="0"/>
          </a:p>
        </p:txBody>
      </p:sp>
      <p:sp>
        <p:nvSpPr>
          <p:cNvPr id="68" name="Text 66"/>
          <p:cNvSpPr/>
          <p:nvPr/>
        </p:nvSpPr>
        <p:spPr>
          <a:xfrm>
            <a:off x="11166788" y="8384273"/>
            <a:ext cx="21045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740</a:t>
            </a:r>
            <a:endParaRPr lang="en-US" sz="580" dirty="0"/>
          </a:p>
        </p:txBody>
      </p:sp>
      <p:sp>
        <p:nvSpPr>
          <p:cNvPr id="69" name="Text 67"/>
          <p:cNvSpPr/>
          <p:nvPr/>
        </p:nvSpPr>
        <p:spPr>
          <a:xfrm>
            <a:off x="8450521" y="8541901"/>
            <a:ext cx="684770"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#8 China Moly</a:t>
            </a:r>
            <a:endParaRPr lang="en-US" sz="600" dirty="0"/>
          </a:p>
        </p:txBody>
      </p:sp>
      <p:sp>
        <p:nvSpPr>
          <p:cNvPr id="70" name="Text 68"/>
          <p:cNvSpPr/>
          <p:nvPr/>
        </p:nvSpPr>
        <p:spPr>
          <a:xfrm>
            <a:off x="10704624" y="8541901"/>
            <a:ext cx="21220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558</a:t>
            </a:r>
            <a:endParaRPr lang="en-US" sz="580" dirty="0"/>
          </a:p>
        </p:txBody>
      </p:sp>
      <p:sp>
        <p:nvSpPr>
          <p:cNvPr id="71" name="Text 69"/>
          <p:cNvSpPr/>
          <p:nvPr/>
        </p:nvSpPr>
        <p:spPr>
          <a:xfrm>
            <a:off x="8669989" y="8699331"/>
            <a:ext cx="465301"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#9 KGHM</a:t>
            </a:r>
            <a:endParaRPr lang="en-US" sz="600" dirty="0"/>
          </a:p>
        </p:txBody>
      </p:sp>
      <p:sp>
        <p:nvSpPr>
          <p:cNvPr id="72" name="Text 70"/>
          <p:cNvSpPr/>
          <p:nvPr/>
        </p:nvSpPr>
        <p:spPr>
          <a:xfrm>
            <a:off x="10653802" y="8699331"/>
            <a:ext cx="21416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538</a:t>
            </a:r>
            <a:endParaRPr lang="en-US" sz="580" dirty="0"/>
          </a:p>
        </p:txBody>
      </p:sp>
      <p:sp>
        <p:nvSpPr>
          <p:cNvPr id="73" name="Text 71"/>
          <p:cNvSpPr/>
          <p:nvPr/>
        </p:nvSpPr>
        <p:spPr>
          <a:xfrm>
            <a:off x="8203318" y="8856959"/>
            <a:ext cx="93197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#10 Anglo American</a:t>
            </a:r>
            <a:endParaRPr lang="en-US" sz="600" dirty="0"/>
          </a:p>
        </p:txBody>
      </p:sp>
      <p:sp>
        <p:nvSpPr>
          <p:cNvPr id="74" name="Text 72"/>
          <p:cNvSpPr/>
          <p:nvPr/>
        </p:nvSpPr>
        <p:spPr>
          <a:xfrm>
            <a:off x="10547194" y="8856959"/>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496</a:t>
            </a:r>
            <a:endParaRPr lang="en-US" sz="580" dirty="0"/>
          </a:p>
        </p:txBody>
      </p:sp>
      <p:sp>
        <p:nvSpPr>
          <p:cNvPr id="75" name="Text 73"/>
          <p:cNvSpPr/>
          <p:nvPr/>
        </p:nvSpPr>
        <p:spPr>
          <a:xfrm>
            <a:off x="8151563" y="9065410"/>
            <a:ext cx="983727" cy="88939"/>
          </a:xfrm>
          <a:prstGeom prst="rect">
            <a:avLst/>
          </a:prstGeom>
          <a:noFill/>
          <a:ln/>
        </p:spPr>
        <p:txBody>
          <a:bodyPr wrap="none" lIns="0" tIns="0" rIns="0" bIns="0" rtlCol="0" anchor="t"/>
          <a:lstStyle/>
          <a:p>
            <a:pPr algn="r" indent="0" marL="0">
              <a:lnSpc>
                <a:spcPts val="700"/>
              </a:lnSpc>
              <a:buNone/>
            </a:pPr>
            <a:r>
              <a:rPr lang="en-US" sz="600" spc="30" kern="0" dirty="0">
                <a:solidFill>
                  <a:srgbClr val="9C7442"/>
                </a:solidFill>
                <a:latin typeface="Inter SemiBold" pitchFamily="34" charset="0"/>
                <a:ea typeface="Inter SemiBold" pitchFamily="34" charset="-122"/>
                <a:cs typeface="Inter SemiBold" pitchFamily="34" charset="-120"/>
              </a:rPr>
              <a:t>#20 Mitsubishi Corp.</a:t>
            </a:r>
            <a:endParaRPr lang="en-US" sz="600" dirty="0"/>
          </a:p>
        </p:txBody>
      </p:sp>
      <p:sp>
        <p:nvSpPr>
          <p:cNvPr id="76" name="Text 74"/>
          <p:cNvSpPr/>
          <p:nvPr/>
        </p:nvSpPr>
        <p:spPr>
          <a:xfrm>
            <a:off x="10115603" y="9065410"/>
            <a:ext cx="215260" cy="88939"/>
          </a:xfrm>
          <a:prstGeom prst="rect">
            <a:avLst/>
          </a:prstGeom>
          <a:noFill/>
          <a:ln/>
        </p:spPr>
        <p:txBody>
          <a:bodyPr wrap="none" lIns="0" tIns="0" rIns="0" bIns="0" rtlCol="0" anchor="t"/>
          <a:lstStyle/>
          <a:p>
            <a:pPr algn="l" indent="0" marL="0">
              <a:lnSpc>
                <a:spcPts val="700"/>
              </a:lnSpc>
              <a:buNone/>
            </a:pPr>
            <a:r>
              <a:rPr lang="en-US" sz="580" spc="30" kern="0" dirty="0">
                <a:solidFill>
                  <a:srgbClr val="9C7442"/>
                </a:solidFill>
                <a:latin typeface="Inter Medium" pitchFamily="34" charset="0"/>
                <a:ea typeface="Inter Medium" pitchFamily="34" charset="-122"/>
                <a:cs typeface="Inter Medium" pitchFamily="34" charset="-120"/>
              </a:rPr>
              <a:t>326</a:t>
            </a:r>
            <a:endParaRPr lang="en-US" sz="580" dirty="0"/>
          </a:p>
        </p:txBody>
      </p:sp>
      <p:sp>
        <p:nvSpPr>
          <p:cNvPr id="77" name="Text 75"/>
          <p:cNvSpPr/>
          <p:nvPr/>
        </p:nvSpPr>
        <p:spPr>
          <a:xfrm>
            <a:off x="12260855" y="8481463"/>
            <a:ext cx="2635746"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上位には協業が難しい国有・政府系なども含まれる。協業可能</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で、オペレーターシップを求めないパートナーとしては最大規模。</a:t>
            </a:r>
            <a:endParaRPr lang="en-US" sz="620" dirty="0"/>
          </a:p>
        </p:txBody>
      </p:sp>
      <p:sp>
        <p:nvSpPr>
          <p:cNvPr id="78" name="Text 76"/>
          <p:cNvSpPr/>
          <p:nvPr/>
        </p:nvSpPr>
        <p:spPr>
          <a:xfrm>
            <a:off x="508222" y="9757862"/>
            <a:ext cx="145323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MARKET STRUCTURE</a:t>
            </a:r>
            <a:endParaRPr lang="en-US" sz="660" dirty="0"/>
          </a:p>
        </p:txBody>
      </p:sp>
      <p:sp>
        <p:nvSpPr>
          <p:cNvPr id="79" name="Text 77"/>
          <p:cNvSpPr/>
          <p:nvPr/>
        </p:nvSpPr>
        <p:spPr>
          <a:xfrm>
            <a:off x="1905832" y="9757862"/>
            <a:ext cx="81426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上位5社のシェア</a:t>
            </a:r>
            <a:endParaRPr lang="en-US" sz="660" dirty="0"/>
          </a:p>
        </p:txBody>
      </p:sp>
      <p:sp>
        <p:nvSpPr>
          <p:cNvPr id="80" name="Text 78"/>
          <p:cNvSpPr/>
          <p:nvPr/>
        </p:nvSpPr>
        <p:spPr>
          <a:xfrm>
            <a:off x="508222" y="9961151"/>
            <a:ext cx="952281"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Inter Medium" pitchFamily="34" charset="0"/>
                <a:ea typeface="Inter Medium" pitchFamily="34" charset="-122"/>
                <a:cs typeface="Inter Medium" pitchFamily="34" charset="-120"/>
              </a:rPr>
              <a:t>Metallurgical coal</a:t>
            </a:r>
            <a:endParaRPr lang="en-US" sz="700" dirty="0"/>
          </a:p>
        </p:txBody>
      </p:sp>
      <p:sp>
        <p:nvSpPr>
          <p:cNvPr id="81" name="Text 79"/>
          <p:cNvSpPr/>
          <p:nvPr/>
        </p:nvSpPr>
        <p:spPr>
          <a:xfrm>
            <a:off x="5920786" y="9938916"/>
            <a:ext cx="324230"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80%</a:t>
            </a:r>
            <a:endParaRPr lang="en-US" sz="1000" dirty="0"/>
          </a:p>
        </p:txBody>
      </p:sp>
      <p:sp>
        <p:nvSpPr>
          <p:cNvPr id="82" name="Text 80"/>
          <p:cNvSpPr/>
          <p:nvPr/>
        </p:nvSpPr>
        <p:spPr>
          <a:xfrm>
            <a:off x="1778777" y="10133184"/>
            <a:ext cx="183102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上位5社で約80%｜寡占度が高く、供給は漸減</a:t>
            </a:r>
            <a:endParaRPr lang="en-US" sz="620" dirty="0"/>
          </a:p>
        </p:txBody>
      </p:sp>
      <p:sp>
        <p:nvSpPr>
          <p:cNvPr id="83" name="Text 81"/>
          <p:cNvSpPr/>
          <p:nvPr/>
        </p:nvSpPr>
        <p:spPr>
          <a:xfrm>
            <a:off x="8068024" y="9961151"/>
            <a:ext cx="423154"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Inter Medium" pitchFamily="34" charset="0"/>
                <a:ea typeface="Inter Medium" pitchFamily="34" charset="-122"/>
                <a:cs typeface="Inter Medium" pitchFamily="34" charset="-120"/>
              </a:rPr>
              <a:t>Copper</a:t>
            </a:r>
            <a:endParaRPr lang="en-US" sz="700" dirty="0"/>
          </a:p>
        </p:txBody>
      </p:sp>
      <p:sp>
        <p:nvSpPr>
          <p:cNvPr id="84" name="Text 82"/>
          <p:cNvSpPr/>
          <p:nvPr/>
        </p:nvSpPr>
        <p:spPr>
          <a:xfrm>
            <a:off x="10685367" y="9938916"/>
            <a:ext cx="315713"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25%</a:t>
            </a:r>
            <a:endParaRPr lang="en-US" sz="1000" dirty="0"/>
          </a:p>
        </p:txBody>
      </p:sp>
      <p:sp>
        <p:nvSpPr>
          <p:cNvPr id="85" name="Text 83"/>
          <p:cNvSpPr/>
          <p:nvPr/>
        </p:nvSpPr>
        <p:spPr>
          <a:xfrm>
            <a:off x="9338579" y="10133184"/>
            <a:ext cx="191160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上位5社で約25%｜寡占化が進まず、再編の機運</a:t>
            </a:r>
            <a:endParaRPr lang="en-US" sz="620" dirty="0"/>
          </a:p>
        </p:txBody>
      </p:sp>
      <p:sp>
        <p:nvSpPr>
          <p:cNvPr id="86" name="Text 8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06</a:t>
            </a:r>
            <a:endParaRPr lang="en-US" sz="600" dirty="0"/>
          </a:p>
        </p:txBody>
      </p:sp>
      <p:sp>
        <p:nvSpPr>
          <p:cNvPr id="87" name="Text 85"/>
          <p:cNvSpPr/>
          <p:nvPr/>
        </p:nvSpPr>
        <p:spPr>
          <a:xfrm>
            <a:off x="14458915" y="10316906"/>
            <a:ext cx="19604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07</a:t>
            </a:r>
            <a:endParaRPr lang="en-US" sz="600" dirty="0"/>
          </a:p>
        </p:txBody>
      </p:sp>
      <p:sp>
        <p:nvSpPr>
          <p:cNvPr id="88" name="Text 86"/>
          <p:cNvSpPr/>
          <p:nvPr/>
        </p:nvSpPr>
        <p:spPr>
          <a:xfrm>
            <a:off x="876683" y="10328977"/>
            <a:ext cx="4559208"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台割メモ｜動画04 Coking Coal。【強調】写真の上に大きな数字。品位→鉄→需要→社会の4段ロジック、出資構成図、基本データ表。</a:t>
            </a:r>
            <a:endParaRPr lang="en-US" sz="540" dirty="0"/>
          </a:p>
        </p:txBody>
      </p:sp>
      <p:sp>
        <p:nvSpPr>
          <p:cNvPr id="89" name="Text 87"/>
          <p:cNvSpPr/>
          <p:nvPr/>
        </p:nvSpPr>
        <p:spPr>
          <a:xfrm>
            <a:off x="8169668" y="10328977"/>
            <a:ext cx="6351425"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台割メモ｜動画05 Copper。【強調】参画年のタイムライン（先行して一級資産を確保）と生産量ランキング（当社のみ色）。最下段の「市場構造」バーが原料炭と銅を見開きで比較する。</a:t>
            </a:r>
            <a:endParaRPr lang="en-US" sz="5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192831" y="101644"/>
            <a:ext cx="3587432" cy="2337821"/>
          </a:xfrm>
          <a:prstGeom prst="rect">
            <a:avLst/>
          </a:prstGeom>
          <a:noFill/>
          <a:ln/>
        </p:spPr>
        <p:txBody>
          <a:bodyPr wrap="none" lIns="0" tIns="0" rIns="0" bIns="0" rtlCol="0" anchor="t"/>
          <a:lstStyle/>
          <a:p>
            <a:pPr algn="l" indent="0" marL="0">
              <a:lnSpc>
                <a:spcPts val="18400"/>
              </a:lnSpc>
              <a:buNone/>
            </a:pPr>
            <a:r>
              <a:rPr lang="en-US" sz="23000" spc="-920" kern="0" dirty="0">
                <a:solidFill>
                  <a:srgbClr val="000000">
                    <a:alpha val="0"/>
                  </a:srgbClr>
                </a:solidFill>
                <a:latin typeface="Inter Tight Light" pitchFamily="34" charset="0"/>
                <a:ea typeface="Inter Tight Light" pitchFamily="34" charset="-122"/>
                <a:cs typeface="Inter Tight Light" pitchFamily="34" charset="-120"/>
              </a:rPr>
              <a:t>03</a:t>
            </a:r>
            <a:endParaRPr lang="en-US" sz="23000" dirty="0"/>
          </a:p>
        </p:txBody>
      </p:sp>
      <p:sp>
        <p:nvSpPr>
          <p:cNvPr id="3" name="Text 1"/>
          <p:cNvSpPr/>
          <p:nvPr/>
        </p:nvSpPr>
        <p:spPr>
          <a:xfrm>
            <a:off x="11816161" y="101644"/>
            <a:ext cx="3578042" cy="2337821"/>
          </a:xfrm>
          <a:prstGeom prst="rect">
            <a:avLst/>
          </a:prstGeom>
          <a:noFill/>
          <a:ln/>
        </p:spPr>
        <p:txBody>
          <a:bodyPr wrap="none" lIns="0" tIns="0" rIns="0" bIns="0" rtlCol="0" anchor="t"/>
          <a:lstStyle/>
          <a:p>
            <a:pPr algn="l" indent="0" marL="0">
              <a:lnSpc>
                <a:spcPts val="18400"/>
              </a:lnSpc>
              <a:buNone/>
            </a:pPr>
            <a:r>
              <a:rPr lang="en-US" sz="23000" spc="-920" kern="0" dirty="0">
                <a:solidFill>
                  <a:srgbClr val="000000">
                    <a:alpha val="0"/>
                  </a:srgbClr>
                </a:solidFill>
                <a:latin typeface="Inter Tight Light" pitchFamily="34" charset="0"/>
                <a:ea typeface="Inter Tight Light" pitchFamily="34" charset="-122"/>
                <a:cs typeface="Inter Tight Light" pitchFamily="34" charset="-120"/>
              </a:rPr>
              <a:t>04</a:t>
            </a:r>
            <a:endParaRPr lang="en-US" sz="23000" dirty="0"/>
          </a:p>
        </p:txBody>
      </p:sp>
      <p:sp>
        <p:nvSpPr>
          <p:cNvPr id="4" name="Text 2"/>
          <p:cNvSpPr/>
          <p:nvPr/>
        </p:nvSpPr>
        <p:spPr>
          <a:xfrm>
            <a:off x="508222" y="508222"/>
            <a:ext cx="231931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03 · From resources to value</a:t>
            </a:r>
            <a:endParaRPr lang="en-US" sz="660" dirty="0"/>
          </a:p>
        </p:txBody>
      </p:sp>
      <p:sp>
        <p:nvSpPr>
          <p:cNvPr id="5" name="Text 3"/>
          <p:cNvSpPr/>
          <p:nvPr/>
        </p:nvSpPr>
        <p:spPr>
          <a:xfrm>
            <a:off x="508222" y="647983"/>
            <a:ext cx="1719001"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独自価値｜事業領域と新技術</a:t>
            </a:r>
            <a:endParaRPr lang="en-US" sz="660" dirty="0"/>
          </a:p>
        </p:txBody>
      </p:sp>
      <p:sp>
        <p:nvSpPr>
          <p:cNvPr id="6" name="Text 4"/>
          <p:cNvSpPr/>
          <p:nvPr/>
        </p:nvSpPr>
        <p:spPr>
          <a:xfrm>
            <a:off x="508222" y="884814"/>
            <a:ext cx="4693946" cy="933096"/>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Resources become</a:t>
            </a:r>
            <a:endParaRPr lang="en-US" sz="3600" dirty="0"/>
          </a:p>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value when delivered.</a:t>
            </a:r>
            <a:endParaRPr lang="en-US" sz="3600" dirty="0"/>
          </a:p>
        </p:txBody>
      </p:sp>
      <p:sp>
        <p:nvSpPr>
          <p:cNvPr id="7" name="Text 5"/>
          <p:cNvSpPr/>
          <p:nvPr/>
        </p:nvSpPr>
        <p:spPr>
          <a:xfrm>
            <a:off x="508222" y="2094033"/>
            <a:ext cx="490642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鉄鉱石から電池資源・肥料・アルミまで、世界に広がる事業領域</a:t>
            </a:r>
            <a:endParaRPr lang="en-US" sz="1150" dirty="0"/>
          </a:p>
        </p:txBody>
      </p:sp>
      <p:sp>
        <p:nvSpPr>
          <p:cNvPr id="8" name="Text 6"/>
          <p:cNvSpPr/>
          <p:nvPr/>
        </p:nvSpPr>
        <p:spPr>
          <a:xfrm>
            <a:off x="508222" y="2333819"/>
            <a:ext cx="7248516" cy="343177"/>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資源は、ただ存在するだけでは社会の価値になりません。良質な資源を安定的に確保し、高品質な金属へと精錬し、必要とする産業へ届けてはじめて価</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値になります。原料炭と銅に加え、私たちは鉄鉱石、電池資源、アルミ、肥料、二次資源へと事業領域を広げています。</a:t>
            </a:r>
            <a:endParaRPr lang="en-US" sz="730" dirty="0"/>
          </a:p>
        </p:txBody>
      </p:sp>
      <p:sp>
        <p:nvSpPr>
          <p:cNvPr id="9" name="Text 7"/>
          <p:cNvSpPr/>
          <p:nvPr/>
        </p:nvSpPr>
        <p:spPr>
          <a:xfrm>
            <a:off x="1168911" y="3054891"/>
            <a:ext cx="48320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Iron Ore</a:t>
            </a:r>
            <a:endParaRPr lang="en-US" sz="740" dirty="0"/>
          </a:p>
        </p:txBody>
      </p:sp>
      <p:sp>
        <p:nvSpPr>
          <p:cNvPr id="10" name="Text 8"/>
          <p:cNvSpPr/>
          <p:nvPr/>
        </p:nvSpPr>
        <p:spPr>
          <a:xfrm>
            <a:off x="1168911" y="3191666"/>
            <a:ext cx="373364"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鉄鉱石</a:t>
            </a:r>
            <a:endParaRPr lang="en-US" sz="740" dirty="0"/>
          </a:p>
        </p:txBody>
      </p:sp>
      <p:sp>
        <p:nvSpPr>
          <p:cNvPr id="11" name="Text 9"/>
          <p:cNvSpPr/>
          <p:nvPr/>
        </p:nvSpPr>
        <p:spPr>
          <a:xfrm>
            <a:off x="508222" y="3608090"/>
            <a:ext cx="1197081"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IOC（カナダ）・CMP（チリ）</a:t>
            </a:r>
            <a:endParaRPr lang="en-US" sz="620" dirty="0"/>
          </a:p>
        </p:txBody>
      </p:sp>
      <p:sp>
        <p:nvSpPr>
          <p:cNvPr id="12" name="Text 10"/>
          <p:cNvSpPr/>
          <p:nvPr/>
        </p:nvSpPr>
        <p:spPr>
          <a:xfrm>
            <a:off x="3379676" y="3054891"/>
            <a:ext cx="386249"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Nickel</a:t>
            </a:r>
            <a:endParaRPr lang="en-US" sz="740" dirty="0"/>
          </a:p>
        </p:txBody>
      </p:sp>
      <p:sp>
        <p:nvSpPr>
          <p:cNvPr id="13" name="Text 11"/>
          <p:cNvSpPr/>
          <p:nvPr/>
        </p:nvSpPr>
        <p:spPr>
          <a:xfrm>
            <a:off x="3379676" y="3191666"/>
            <a:ext cx="480806"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ニッケル</a:t>
            </a:r>
            <a:endParaRPr lang="en-US" sz="740" dirty="0"/>
          </a:p>
        </p:txBody>
      </p:sp>
      <p:sp>
        <p:nvSpPr>
          <p:cNvPr id="14" name="Text 12"/>
          <p:cNvSpPr/>
          <p:nvPr/>
        </p:nvSpPr>
        <p:spPr>
          <a:xfrm>
            <a:off x="2718988" y="3608090"/>
            <a:ext cx="169017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Turnagain（カナダ）・Kalgoorlie（豪州）</a:t>
            </a:r>
            <a:endParaRPr lang="en-US" sz="620" dirty="0"/>
          </a:p>
        </p:txBody>
      </p:sp>
      <p:sp>
        <p:nvSpPr>
          <p:cNvPr id="15" name="Text 13"/>
          <p:cNvSpPr/>
          <p:nvPr/>
        </p:nvSpPr>
        <p:spPr>
          <a:xfrm>
            <a:off x="5590442" y="3054891"/>
            <a:ext cx="448923"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Lithium</a:t>
            </a:r>
            <a:endParaRPr lang="en-US" sz="740" dirty="0"/>
          </a:p>
        </p:txBody>
      </p:sp>
      <p:sp>
        <p:nvSpPr>
          <p:cNvPr id="16" name="Text 14"/>
          <p:cNvSpPr/>
          <p:nvPr/>
        </p:nvSpPr>
        <p:spPr>
          <a:xfrm>
            <a:off x="5590442" y="3191666"/>
            <a:ext cx="480806"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リチウム</a:t>
            </a:r>
            <a:endParaRPr lang="en-US" sz="740" dirty="0"/>
          </a:p>
        </p:txBody>
      </p:sp>
      <p:sp>
        <p:nvSpPr>
          <p:cNvPr id="17" name="Text 15"/>
          <p:cNvSpPr/>
          <p:nvPr/>
        </p:nvSpPr>
        <p:spPr>
          <a:xfrm>
            <a:off x="4929753" y="3608090"/>
            <a:ext cx="973027"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PAK Lithium（カナダ）</a:t>
            </a:r>
            <a:endParaRPr lang="en-US" sz="620" dirty="0"/>
          </a:p>
        </p:txBody>
      </p:sp>
      <p:sp>
        <p:nvSpPr>
          <p:cNvPr id="18" name="Text 16"/>
          <p:cNvSpPr/>
          <p:nvPr/>
        </p:nvSpPr>
        <p:spPr>
          <a:xfrm>
            <a:off x="1168911" y="4223801"/>
            <a:ext cx="1120431"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Bauxite · Aluminium</a:t>
            </a:r>
            <a:endParaRPr lang="en-US" sz="740" dirty="0"/>
          </a:p>
        </p:txBody>
      </p:sp>
      <p:sp>
        <p:nvSpPr>
          <p:cNvPr id="19" name="Text 17"/>
          <p:cNvSpPr/>
          <p:nvPr/>
        </p:nvSpPr>
        <p:spPr>
          <a:xfrm>
            <a:off x="1168911" y="4360576"/>
            <a:ext cx="1447122"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ボーキサイト・低炭素アルミ</a:t>
            </a:r>
            <a:endParaRPr lang="en-US" sz="740" dirty="0"/>
          </a:p>
        </p:txBody>
      </p:sp>
      <p:sp>
        <p:nvSpPr>
          <p:cNvPr id="20" name="Text 18"/>
          <p:cNvSpPr/>
          <p:nvPr/>
        </p:nvSpPr>
        <p:spPr>
          <a:xfrm>
            <a:off x="508222" y="4777001"/>
            <a:ext cx="1385103"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Aurukun（豪州）・Arctial（北欧）</a:t>
            </a:r>
            <a:endParaRPr lang="en-US" sz="620" dirty="0"/>
          </a:p>
        </p:txBody>
      </p:sp>
      <p:sp>
        <p:nvSpPr>
          <p:cNvPr id="21" name="Text 19"/>
          <p:cNvSpPr/>
          <p:nvPr/>
        </p:nvSpPr>
        <p:spPr>
          <a:xfrm>
            <a:off x="3379676" y="4223801"/>
            <a:ext cx="530377"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Fertilizer</a:t>
            </a:r>
            <a:endParaRPr lang="en-US" sz="740" dirty="0"/>
          </a:p>
        </p:txBody>
      </p:sp>
      <p:sp>
        <p:nvSpPr>
          <p:cNvPr id="22" name="Text 20"/>
          <p:cNvSpPr/>
          <p:nvPr/>
        </p:nvSpPr>
        <p:spPr>
          <a:xfrm>
            <a:off x="3379676" y="4360576"/>
            <a:ext cx="480806"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肥料資源</a:t>
            </a:r>
            <a:endParaRPr lang="en-US" sz="740" dirty="0"/>
          </a:p>
        </p:txBody>
      </p:sp>
      <p:sp>
        <p:nvSpPr>
          <p:cNvPr id="23" name="Text 21"/>
          <p:cNvSpPr/>
          <p:nvPr/>
        </p:nvSpPr>
        <p:spPr>
          <a:xfrm>
            <a:off x="2718988" y="4777001"/>
            <a:ext cx="860563"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Woodsmith（英国）</a:t>
            </a:r>
            <a:endParaRPr lang="en-US" sz="620" dirty="0"/>
          </a:p>
        </p:txBody>
      </p:sp>
      <p:sp>
        <p:nvSpPr>
          <p:cNvPr id="24" name="Text 22"/>
          <p:cNvSpPr/>
          <p:nvPr/>
        </p:nvSpPr>
        <p:spPr>
          <a:xfrm>
            <a:off x="5590442" y="4223801"/>
            <a:ext cx="541514"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Recycled</a:t>
            </a:r>
            <a:endParaRPr lang="en-US" sz="740" dirty="0"/>
          </a:p>
        </p:txBody>
      </p:sp>
      <p:sp>
        <p:nvSpPr>
          <p:cNvPr id="25" name="Text 23"/>
          <p:cNvSpPr/>
          <p:nvPr/>
        </p:nvSpPr>
        <p:spPr>
          <a:xfrm>
            <a:off x="5590442" y="4360576"/>
            <a:ext cx="480806"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二次資源</a:t>
            </a:r>
            <a:endParaRPr lang="en-US" sz="740" dirty="0"/>
          </a:p>
        </p:txBody>
      </p:sp>
      <p:sp>
        <p:nvSpPr>
          <p:cNvPr id="26" name="Text 24"/>
          <p:cNvSpPr/>
          <p:nvPr/>
        </p:nvSpPr>
        <p:spPr>
          <a:xfrm>
            <a:off x="4929753" y="4777001"/>
            <a:ext cx="108439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リサイクル由来の金属資源</a:t>
            </a:r>
            <a:endParaRPr lang="en-US" sz="620" dirty="0"/>
          </a:p>
        </p:txBody>
      </p:sp>
      <p:sp>
        <p:nvSpPr>
          <p:cNvPr id="27" name="Text 25"/>
          <p:cNvSpPr/>
          <p:nvPr/>
        </p:nvSpPr>
        <p:spPr>
          <a:xfrm>
            <a:off x="508222" y="5519767"/>
            <a:ext cx="320046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NEW TECHNOLOGY ALONG THE COPPER CHAIN</a:t>
            </a:r>
            <a:endParaRPr lang="en-US" sz="660" dirty="0"/>
          </a:p>
        </p:txBody>
      </p:sp>
      <p:sp>
        <p:nvSpPr>
          <p:cNvPr id="28" name="Text 26"/>
          <p:cNvSpPr/>
          <p:nvPr/>
        </p:nvSpPr>
        <p:spPr>
          <a:xfrm>
            <a:off x="508222" y="5659528"/>
            <a:ext cx="336883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山を持つだけでなく、川上から川下までのボトルネックに技術で網を張る</a:t>
            </a:r>
            <a:endParaRPr lang="en-US" sz="660" dirty="0"/>
          </a:p>
        </p:txBody>
      </p:sp>
      <p:sp>
        <p:nvSpPr>
          <p:cNvPr id="29" name="Text 27"/>
          <p:cNvSpPr/>
          <p:nvPr/>
        </p:nvSpPr>
        <p:spPr>
          <a:xfrm>
            <a:off x="609866" y="6040695"/>
            <a:ext cx="30741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Mine</a:t>
            </a:r>
            <a:endParaRPr lang="en-US" sz="720" dirty="0"/>
          </a:p>
        </p:txBody>
      </p:sp>
      <p:sp>
        <p:nvSpPr>
          <p:cNvPr id="30" name="Text 28"/>
          <p:cNvSpPr/>
          <p:nvPr/>
        </p:nvSpPr>
        <p:spPr>
          <a:xfrm>
            <a:off x="609866" y="6174611"/>
            <a:ext cx="22377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採掘</a:t>
            </a:r>
            <a:endParaRPr lang="en-US" sz="620" dirty="0"/>
          </a:p>
        </p:txBody>
      </p:sp>
      <p:sp>
        <p:nvSpPr>
          <p:cNvPr id="31" name="Text 29"/>
          <p:cNvSpPr/>
          <p:nvPr/>
        </p:nvSpPr>
        <p:spPr>
          <a:xfrm>
            <a:off x="609866" y="6310370"/>
            <a:ext cx="445210"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~1%</a:t>
            </a:r>
            <a:endParaRPr lang="en-US" sz="900" dirty="0"/>
          </a:p>
        </p:txBody>
      </p:sp>
      <p:sp>
        <p:nvSpPr>
          <p:cNvPr id="32" name="Text 30"/>
          <p:cNvSpPr/>
          <p:nvPr/>
        </p:nvSpPr>
        <p:spPr>
          <a:xfrm>
            <a:off x="1931244" y="6040695"/>
            <a:ext cx="698964"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Concentrate</a:t>
            </a:r>
            <a:endParaRPr lang="en-US" sz="720" dirty="0"/>
          </a:p>
        </p:txBody>
      </p:sp>
      <p:sp>
        <p:nvSpPr>
          <p:cNvPr id="33" name="Text 31"/>
          <p:cNvSpPr/>
          <p:nvPr/>
        </p:nvSpPr>
        <p:spPr>
          <a:xfrm>
            <a:off x="1931244" y="6174611"/>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選鉱・浸出</a:t>
            </a:r>
            <a:endParaRPr lang="en-US" sz="620" dirty="0"/>
          </a:p>
        </p:txBody>
      </p:sp>
      <p:sp>
        <p:nvSpPr>
          <p:cNvPr id="34" name="Text 32"/>
          <p:cNvSpPr/>
          <p:nvPr/>
        </p:nvSpPr>
        <p:spPr>
          <a:xfrm>
            <a:off x="1931244" y="6310370"/>
            <a:ext cx="677782"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20–30%</a:t>
            </a:r>
            <a:endParaRPr lang="en-US" sz="900" dirty="0"/>
          </a:p>
        </p:txBody>
      </p:sp>
      <p:sp>
        <p:nvSpPr>
          <p:cNvPr id="35" name="Text 33"/>
          <p:cNvSpPr/>
          <p:nvPr/>
        </p:nvSpPr>
        <p:spPr>
          <a:xfrm>
            <a:off x="3252621" y="6040695"/>
            <a:ext cx="492380"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Cathode</a:t>
            </a:r>
            <a:endParaRPr lang="en-US" sz="720" dirty="0"/>
          </a:p>
        </p:txBody>
      </p:sp>
      <p:sp>
        <p:nvSpPr>
          <p:cNvPr id="36" name="Text 34"/>
          <p:cNvSpPr/>
          <p:nvPr/>
        </p:nvSpPr>
        <p:spPr>
          <a:xfrm>
            <a:off x="3252621" y="6174611"/>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製錬・精製</a:t>
            </a:r>
            <a:endParaRPr lang="en-US" sz="620" dirty="0"/>
          </a:p>
        </p:txBody>
      </p:sp>
      <p:sp>
        <p:nvSpPr>
          <p:cNvPr id="37" name="Text 35"/>
          <p:cNvSpPr/>
          <p:nvPr/>
        </p:nvSpPr>
        <p:spPr>
          <a:xfrm>
            <a:off x="3252621" y="6310370"/>
            <a:ext cx="64262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99.99%</a:t>
            </a:r>
            <a:endParaRPr lang="en-US" sz="900" dirty="0"/>
          </a:p>
        </p:txBody>
      </p:sp>
      <p:sp>
        <p:nvSpPr>
          <p:cNvPr id="38" name="Text 36"/>
          <p:cNvSpPr/>
          <p:nvPr/>
        </p:nvSpPr>
        <p:spPr>
          <a:xfrm>
            <a:off x="4573998" y="6040695"/>
            <a:ext cx="466611"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End use</a:t>
            </a:r>
            <a:endParaRPr lang="en-US" sz="720" dirty="0"/>
          </a:p>
        </p:txBody>
      </p:sp>
      <p:sp>
        <p:nvSpPr>
          <p:cNvPr id="39" name="Text 37"/>
          <p:cNvSpPr/>
          <p:nvPr/>
        </p:nvSpPr>
        <p:spPr>
          <a:xfrm>
            <a:off x="4573998" y="6174611"/>
            <a:ext cx="396731"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最終製品</a:t>
            </a:r>
            <a:endParaRPr lang="en-US" sz="620" dirty="0"/>
          </a:p>
        </p:txBody>
      </p:sp>
      <p:sp>
        <p:nvSpPr>
          <p:cNvPr id="40" name="Text 38"/>
          <p:cNvSpPr/>
          <p:nvPr/>
        </p:nvSpPr>
        <p:spPr>
          <a:xfrm>
            <a:off x="4573998" y="6310370"/>
            <a:ext cx="916904"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電化・インフラ</a:t>
            </a:r>
            <a:endParaRPr lang="en-US" sz="900" dirty="0"/>
          </a:p>
        </p:txBody>
      </p:sp>
      <p:sp>
        <p:nvSpPr>
          <p:cNvPr id="41" name="Text 39"/>
          <p:cNvSpPr/>
          <p:nvPr/>
        </p:nvSpPr>
        <p:spPr>
          <a:xfrm>
            <a:off x="5895375" y="6040695"/>
            <a:ext cx="46202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Recycle</a:t>
            </a:r>
            <a:endParaRPr lang="en-US" sz="720" dirty="0"/>
          </a:p>
        </p:txBody>
      </p:sp>
      <p:sp>
        <p:nvSpPr>
          <p:cNvPr id="42" name="Text 40"/>
          <p:cNvSpPr/>
          <p:nvPr/>
        </p:nvSpPr>
        <p:spPr>
          <a:xfrm>
            <a:off x="5895375" y="6174611"/>
            <a:ext cx="22377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回収</a:t>
            </a:r>
            <a:endParaRPr lang="en-US" sz="620" dirty="0"/>
          </a:p>
        </p:txBody>
      </p:sp>
      <p:sp>
        <p:nvSpPr>
          <p:cNvPr id="43" name="Text 41"/>
          <p:cNvSpPr/>
          <p:nvPr/>
        </p:nvSpPr>
        <p:spPr>
          <a:xfrm>
            <a:off x="5895375" y="6310370"/>
            <a:ext cx="66686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再び供給へ</a:t>
            </a:r>
            <a:endParaRPr lang="en-US" sz="900" dirty="0"/>
          </a:p>
        </p:txBody>
      </p:sp>
      <p:sp>
        <p:nvSpPr>
          <p:cNvPr id="44" name="Text 42"/>
          <p:cNvSpPr/>
          <p:nvPr/>
        </p:nvSpPr>
        <p:spPr>
          <a:xfrm>
            <a:off x="622572" y="7044433"/>
            <a:ext cx="792429"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STARTUP｜選鉱</a:t>
            </a:r>
            <a:endParaRPr lang="en-US" sz="540" dirty="0"/>
          </a:p>
        </p:txBody>
      </p:sp>
      <p:sp>
        <p:nvSpPr>
          <p:cNvPr id="45" name="Text 43"/>
          <p:cNvSpPr/>
          <p:nvPr/>
        </p:nvSpPr>
        <p:spPr>
          <a:xfrm>
            <a:off x="622572" y="7158783"/>
            <a:ext cx="444337"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CiDRA</a:t>
            </a:r>
            <a:endParaRPr lang="en-US" sz="860" dirty="0"/>
          </a:p>
        </p:txBody>
      </p:sp>
      <p:sp>
        <p:nvSpPr>
          <p:cNvPr id="46" name="Text 44"/>
          <p:cNvSpPr/>
          <p:nvPr/>
        </p:nvSpPr>
        <p:spPr>
          <a:xfrm>
            <a:off x="622572" y="7305405"/>
            <a:ext cx="1431181"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浮遊選鉱の高度化で、回収率・処理</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能力を向上</a:t>
            </a:r>
            <a:endParaRPr lang="en-US" sz="620" dirty="0"/>
          </a:p>
        </p:txBody>
      </p:sp>
      <p:sp>
        <p:nvSpPr>
          <p:cNvPr id="47" name="Text 45"/>
          <p:cNvSpPr/>
          <p:nvPr/>
        </p:nvSpPr>
        <p:spPr>
          <a:xfrm>
            <a:off x="2274293" y="7044433"/>
            <a:ext cx="792429"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STARTUP｜浸出</a:t>
            </a:r>
            <a:endParaRPr lang="en-US" sz="540" dirty="0"/>
          </a:p>
        </p:txBody>
      </p:sp>
      <p:sp>
        <p:nvSpPr>
          <p:cNvPr id="48" name="Text 46"/>
          <p:cNvSpPr/>
          <p:nvPr/>
        </p:nvSpPr>
        <p:spPr>
          <a:xfrm>
            <a:off x="2274293" y="7158783"/>
            <a:ext cx="327942"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Jetti</a:t>
            </a:r>
            <a:endParaRPr lang="en-US" sz="860" dirty="0"/>
          </a:p>
        </p:txBody>
      </p:sp>
      <p:sp>
        <p:nvSpPr>
          <p:cNvPr id="49" name="Text 47"/>
          <p:cNvSpPr/>
          <p:nvPr/>
        </p:nvSpPr>
        <p:spPr>
          <a:xfrm>
            <a:off x="2274293" y="7305405"/>
            <a:ext cx="1431181"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新しい触媒で、硫化鉱から銅をリー</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チング</a:t>
            </a:r>
            <a:endParaRPr lang="en-US" sz="620" dirty="0"/>
          </a:p>
        </p:txBody>
      </p:sp>
      <p:sp>
        <p:nvSpPr>
          <p:cNvPr id="50" name="Text 48"/>
          <p:cNvSpPr/>
          <p:nvPr/>
        </p:nvSpPr>
        <p:spPr>
          <a:xfrm>
            <a:off x="3926015" y="7044433"/>
            <a:ext cx="1151877"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TRADING｜100%子会社</a:t>
            </a:r>
            <a:endParaRPr lang="en-US" sz="540" dirty="0"/>
          </a:p>
        </p:txBody>
      </p:sp>
      <p:sp>
        <p:nvSpPr>
          <p:cNvPr id="51" name="Text 49"/>
          <p:cNvSpPr/>
          <p:nvPr/>
        </p:nvSpPr>
        <p:spPr>
          <a:xfrm>
            <a:off x="3926015" y="7158783"/>
            <a:ext cx="932190"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Triland Metals</a:t>
            </a:r>
            <a:endParaRPr lang="en-US" sz="860" dirty="0"/>
          </a:p>
        </p:txBody>
      </p:sp>
      <p:sp>
        <p:nvSpPr>
          <p:cNvPr id="52" name="Text 50"/>
          <p:cNvSpPr/>
          <p:nvPr/>
        </p:nvSpPr>
        <p:spPr>
          <a:xfrm>
            <a:off x="3926015" y="7305405"/>
            <a:ext cx="1433146"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LME・CMEでのブローカー・ヘッジ</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機能</a:t>
            </a:r>
            <a:endParaRPr lang="en-US" sz="620" dirty="0"/>
          </a:p>
        </p:txBody>
      </p:sp>
      <p:sp>
        <p:nvSpPr>
          <p:cNvPr id="53" name="Text 51"/>
          <p:cNvSpPr/>
          <p:nvPr/>
        </p:nvSpPr>
        <p:spPr>
          <a:xfrm>
            <a:off x="5577736" y="7044433"/>
            <a:ext cx="910353"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RECYCLING｜回収</a:t>
            </a:r>
            <a:endParaRPr lang="en-US" sz="540" dirty="0"/>
          </a:p>
        </p:txBody>
      </p:sp>
      <p:sp>
        <p:nvSpPr>
          <p:cNvPr id="54" name="Text 52"/>
          <p:cNvSpPr/>
          <p:nvPr/>
        </p:nvSpPr>
        <p:spPr>
          <a:xfrm>
            <a:off x="5577736" y="7158783"/>
            <a:ext cx="651795"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DESCycle</a:t>
            </a:r>
            <a:endParaRPr lang="en-US" sz="860" dirty="0"/>
          </a:p>
        </p:txBody>
      </p:sp>
      <p:sp>
        <p:nvSpPr>
          <p:cNvPr id="55" name="Text 53"/>
          <p:cNvSpPr/>
          <p:nvPr/>
        </p:nvSpPr>
        <p:spPr>
          <a:xfrm>
            <a:off x="5577736" y="7305405"/>
            <a:ext cx="1434457"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電子スクラップから銅・貴金属を回</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収</a:t>
            </a:r>
            <a:endParaRPr lang="en-US" sz="620" dirty="0"/>
          </a:p>
        </p:txBody>
      </p:sp>
      <p:sp>
        <p:nvSpPr>
          <p:cNvPr id="56" name="Text 54"/>
          <p:cNvSpPr/>
          <p:nvPr/>
        </p:nvSpPr>
        <p:spPr>
          <a:xfrm>
            <a:off x="508222" y="7924261"/>
            <a:ext cx="3544848" cy="686354"/>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新技術の把握は、既存事業の高度化と将来価値の創出に還元されます。業</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界のボトルネック——鉱石品位の低下、回収率、リサイクル——に挑むスタ</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ートアップへの投資を通じ、山を持つだけでも、売るだけでもない、川上</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から川下までのフットプリントを広げています。</a:t>
            </a:r>
            <a:endParaRPr lang="en-US" sz="730" dirty="0"/>
          </a:p>
        </p:txBody>
      </p:sp>
      <p:sp>
        <p:nvSpPr>
          <p:cNvPr id="57" name="Text 55"/>
          <p:cNvSpPr/>
          <p:nvPr/>
        </p:nvSpPr>
        <p:spPr>
          <a:xfrm>
            <a:off x="4065776" y="8899443"/>
            <a:ext cx="820818"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Copper mine</a:t>
            </a:r>
            <a:endParaRPr lang="en-US" sz="580" dirty="0"/>
          </a:p>
        </p:txBody>
      </p:sp>
      <p:sp>
        <p:nvSpPr>
          <p:cNvPr id="58" name="Text 56"/>
          <p:cNvSpPr/>
          <p:nvPr/>
        </p:nvSpPr>
        <p:spPr>
          <a:xfrm>
            <a:off x="4065776" y="9013793"/>
            <a:ext cx="300427"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Chile</a:t>
            </a:r>
            <a:endParaRPr lang="en-US" sz="580" dirty="0"/>
          </a:p>
        </p:txBody>
      </p:sp>
      <p:sp>
        <p:nvSpPr>
          <p:cNvPr id="59" name="Text 57"/>
          <p:cNvSpPr/>
          <p:nvPr/>
        </p:nvSpPr>
        <p:spPr>
          <a:xfrm>
            <a:off x="8068024" y="508222"/>
            <a:ext cx="197821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04 · Global partnerships</a:t>
            </a:r>
            <a:endParaRPr lang="en-US" sz="660" dirty="0"/>
          </a:p>
        </p:txBody>
      </p:sp>
      <p:sp>
        <p:nvSpPr>
          <p:cNvPr id="60" name="Text 58"/>
          <p:cNvSpPr/>
          <p:nvPr/>
        </p:nvSpPr>
        <p:spPr>
          <a:xfrm>
            <a:off x="8068024" y="647983"/>
            <a:ext cx="1216298"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第3章　選ばれ続ける理由</a:t>
            </a:r>
            <a:endParaRPr lang="en-US" sz="660" dirty="0"/>
          </a:p>
        </p:txBody>
      </p:sp>
      <p:sp>
        <p:nvSpPr>
          <p:cNvPr id="61" name="Text 59"/>
          <p:cNvSpPr/>
          <p:nvPr/>
        </p:nvSpPr>
        <p:spPr>
          <a:xfrm>
            <a:off x="8068024" y="884814"/>
            <a:ext cx="3837255" cy="466548"/>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Partner of choice.</a:t>
            </a:r>
            <a:endParaRPr lang="en-US" sz="3600" dirty="0"/>
          </a:p>
        </p:txBody>
      </p:sp>
      <p:sp>
        <p:nvSpPr>
          <p:cNvPr id="62" name="Text 60"/>
          <p:cNvSpPr/>
          <p:nvPr/>
        </p:nvSpPr>
        <p:spPr>
          <a:xfrm>
            <a:off x="8068024" y="1627501"/>
            <a:ext cx="372129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メジャーとのパートナーシップと、世界の販売網</a:t>
            </a:r>
            <a:endParaRPr lang="en-US" sz="1150" dirty="0"/>
          </a:p>
        </p:txBody>
      </p:sp>
      <p:sp>
        <p:nvSpPr>
          <p:cNvPr id="63" name="Text 61"/>
          <p:cNvSpPr/>
          <p:nvPr/>
        </p:nvSpPr>
        <p:spPr>
          <a:xfrm>
            <a:off x="8068024" y="1867287"/>
            <a:ext cx="7248516" cy="514765"/>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資源業界では、良い案件があっても単独では規模が大きすぎることが少なくありません。そのとき「三菱に声をかけよう」と思われる存在であること。</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BHP、Rio Tinto、Anglo Americanをはじめとする業界最大手とJVを組み、単なる共同出資者に留まらず、人材派遣・ガバナンス参画・総合力で事業価</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値の最大化に貢献してきました。</a:t>
            </a:r>
            <a:endParaRPr lang="en-US" sz="730" dirty="0"/>
          </a:p>
        </p:txBody>
      </p:sp>
      <p:sp>
        <p:nvSpPr>
          <p:cNvPr id="64" name="Text 62"/>
          <p:cNvSpPr/>
          <p:nvPr/>
        </p:nvSpPr>
        <p:spPr>
          <a:xfrm>
            <a:off x="8068024" y="2607417"/>
            <a:ext cx="317678"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01</a:t>
            </a:r>
            <a:endParaRPr lang="en-US" sz="2000" dirty="0"/>
          </a:p>
        </p:txBody>
      </p:sp>
      <p:sp>
        <p:nvSpPr>
          <p:cNvPr id="65" name="Text 63"/>
          <p:cNvSpPr/>
          <p:nvPr/>
        </p:nvSpPr>
        <p:spPr>
          <a:xfrm>
            <a:off x="8474602" y="2626475"/>
            <a:ext cx="89484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Cultural affinity</a:t>
            </a:r>
            <a:endParaRPr lang="en-US" sz="740" dirty="0"/>
          </a:p>
        </p:txBody>
      </p:sp>
      <p:sp>
        <p:nvSpPr>
          <p:cNvPr id="66" name="Text 64"/>
          <p:cNvSpPr/>
          <p:nvPr/>
        </p:nvSpPr>
        <p:spPr>
          <a:xfrm>
            <a:off x="8474602" y="2761281"/>
            <a:ext cx="180962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資源メジャーとの企業文化的親和性</a:t>
            </a:r>
            <a:endParaRPr lang="en-US" sz="760" dirty="0"/>
          </a:p>
        </p:txBody>
      </p:sp>
      <p:sp>
        <p:nvSpPr>
          <p:cNvPr id="67" name="Text 65"/>
          <p:cNvSpPr/>
          <p:nvPr/>
        </p:nvSpPr>
        <p:spPr>
          <a:xfrm>
            <a:off x="8474602" y="2938270"/>
            <a:ext cx="2378935"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短期の成果を求める投資家とは一線を画す、中長期の視座。</a:t>
            </a:r>
            <a:endParaRPr lang="en-US" sz="620" dirty="0"/>
          </a:p>
        </p:txBody>
      </p:sp>
      <p:sp>
        <p:nvSpPr>
          <p:cNvPr id="68" name="Text 66"/>
          <p:cNvSpPr/>
          <p:nvPr/>
        </p:nvSpPr>
        <p:spPr>
          <a:xfrm>
            <a:off x="11396878" y="2607417"/>
            <a:ext cx="373583"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02</a:t>
            </a:r>
            <a:endParaRPr lang="en-US" sz="2000" dirty="0"/>
          </a:p>
        </p:txBody>
      </p:sp>
      <p:sp>
        <p:nvSpPr>
          <p:cNvPr id="69" name="Text 67"/>
          <p:cNvSpPr/>
          <p:nvPr/>
        </p:nvSpPr>
        <p:spPr>
          <a:xfrm>
            <a:off x="11803456" y="2626475"/>
            <a:ext cx="920835"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JV management</a:t>
            </a:r>
            <a:endParaRPr lang="en-US" sz="740" dirty="0"/>
          </a:p>
        </p:txBody>
      </p:sp>
      <p:sp>
        <p:nvSpPr>
          <p:cNvPr id="70" name="Text 68"/>
          <p:cNvSpPr/>
          <p:nvPr/>
        </p:nvSpPr>
        <p:spPr>
          <a:xfrm>
            <a:off x="11803456" y="2761281"/>
            <a:ext cx="1945676"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資源投資経験に裏打ちされたJV経営力</a:t>
            </a:r>
            <a:endParaRPr lang="en-US" sz="760" dirty="0"/>
          </a:p>
        </p:txBody>
      </p:sp>
      <p:sp>
        <p:nvSpPr>
          <p:cNvPr id="71" name="Text 69"/>
          <p:cNvSpPr/>
          <p:nvPr/>
        </p:nvSpPr>
        <p:spPr>
          <a:xfrm>
            <a:off x="11803456" y="2938270"/>
            <a:ext cx="151765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実質的な経営貢献と、高い目利き力。</a:t>
            </a:r>
            <a:endParaRPr lang="en-US" sz="620" dirty="0"/>
          </a:p>
        </p:txBody>
      </p:sp>
      <p:sp>
        <p:nvSpPr>
          <p:cNvPr id="72" name="Text 70"/>
          <p:cNvSpPr/>
          <p:nvPr/>
        </p:nvSpPr>
        <p:spPr>
          <a:xfrm>
            <a:off x="8068024" y="3395161"/>
            <a:ext cx="381881"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03</a:t>
            </a:r>
            <a:endParaRPr lang="en-US" sz="2000" dirty="0"/>
          </a:p>
        </p:txBody>
      </p:sp>
      <p:sp>
        <p:nvSpPr>
          <p:cNvPr id="73" name="Text 71"/>
          <p:cNvSpPr/>
          <p:nvPr/>
        </p:nvSpPr>
        <p:spPr>
          <a:xfrm>
            <a:off x="8474602" y="3414219"/>
            <a:ext cx="1020196"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Financial strength</a:t>
            </a:r>
            <a:endParaRPr lang="en-US" sz="740" dirty="0"/>
          </a:p>
        </p:txBody>
      </p:sp>
      <p:sp>
        <p:nvSpPr>
          <p:cNvPr id="74" name="Text 72"/>
          <p:cNvSpPr/>
          <p:nvPr/>
        </p:nvSpPr>
        <p:spPr>
          <a:xfrm>
            <a:off x="8474602" y="3549025"/>
            <a:ext cx="236779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事業ポートフォリオを活かした健全な財務基盤</a:t>
            </a:r>
            <a:endParaRPr lang="en-US" sz="760" dirty="0"/>
          </a:p>
        </p:txBody>
      </p:sp>
      <p:sp>
        <p:nvSpPr>
          <p:cNvPr id="75" name="Text 73"/>
          <p:cNvSpPr/>
          <p:nvPr/>
        </p:nvSpPr>
        <p:spPr>
          <a:xfrm>
            <a:off x="8474602" y="3726014"/>
            <a:ext cx="2205981"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リスクシェアリングと制度金融のファシリテーション。</a:t>
            </a:r>
            <a:endParaRPr lang="en-US" sz="620" dirty="0"/>
          </a:p>
        </p:txBody>
      </p:sp>
      <p:sp>
        <p:nvSpPr>
          <p:cNvPr id="76" name="Text 74"/>
          <p:cNvSpPr/>
          <p:nvPr/>
        </p:nvSpPr>
        <p:spPr>
          <a:xfrm>
            <a:off x="11396878" y="3395161"/>
            <a:ext cx="385812"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04</a:t>
            </a:r>
            <a:endParaRPr lang="en-US" sz="2000" dirty="0"/>
          </a:p>
        </p:txBody>
      </p:sp>
      <p:sp>
        <p:nvSpPr>
          <p:cNvPr id="77" name="Text 75"/>
          <p:cNvSpPr/>
          <p:nvPr/>
        </p:nvSpPr>
        <p:spPr>
          <a:xfrm>
            <a:off x="11803456" y="3414219"/>
            <a:ext cx="72669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Deep insight</a:t>
            </a:r>
            <a:endParaRPr lang="en-US" sz="740" dirty="0"/>
          </a:p>
        </p:txBody>
      </p:sp>
      <p:sp>
        <p:nvSpPr>
          <p:cNvPr id="78" name="Text 76"/>
          <p:cNvSpPr/>
          <p:nvPr/>
        </p:nvSpPr>
        <p:spPr>
          <a:xfrm>
            <a:off x="11803456" y="3549025"/>
            <a:ext cx="2252059"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マクロ環境とバリューチェーンへの深い知見</a:t>
            </a:r>
            <a:endParaRPr lang="en-US" sz="760" dirty="0"/>
          </a:p>
        </p:txBody>
      </p:sp>
      <p:sp>
        <p:nvSpPr>
          <p:cNvPr id="79" name="Text 77"/>
          <p:cNvSpPr/>
          <p:nvPr/>
        </p:nvSpPr>
        <p:spPr>
          <a:xfrm>
            <a:off x="11803456" y="3726014"/>
            <a:ext cx="1866842"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国・地域の拠点と幅広い産業接点からの知見。</a:t>
            </a:r>
            <a:endParaRPr lang="en-US" sz="620" dirty="0"/>
          </a:p>
        </p:txBody>
      </p:sp>
      <p:sp>
        <p:nvSpPr>
          <p:cNvPr id="80" name="Text 78"/>
          <p:cNvSpPr/>
          <p:nvPr/>
        </p:nvSpPr>
        <p:spPr>
          <a:xfrm>
            <a:off x="8068024" y="4341725"/>
            <a:ext cx="136632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TRADING NETWORK</a:t>
            </a:r>
            <a:endParaRPr lang="en-US" sz="660" dirty="0"/>
          </a:p>
        </p:txBody>
      </p:sp>
      <p:sp>
        <p:nvSpPr>
          <p:cNvPr id="81" name="Text 79"/>
          <p:cNvSpPr/>
          <p:nvPr/>
        </p:nvSpPr>
        <p:spPr>
          <a:xfrm>
            <a:off x="9440223" y="4341725"/>
            <a:ext cx="2137629"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RtM＝Resource to Market｜10拠点の販売網</a:t>
            </a:r>
            <a:endParaRPr lang="en-US" sz="660" dirty="0"/>
          </a:p>
        </p:txBody>
      </p:sp>
      <p:sp>
        <p:nvSpPr>
          <p:cNvPr id="82" name="Text 80"/>
          <p:cNvSpPr/>
          <p:nvPr/>
        </p:nvSpPr>
        <p:spPr>
          <a:xfrm>
            <a:off x="8068024" y="6196052"/>
            <a:ext cx="38058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Singapore（拠点集約）・Japan・India・China・USA・UK・UAE・Indonesia・Thailand・Chile</a:t>
            </a:r>
            <a:endParaRPr lang="en-US" sz="620" dirty="0"/>
          </a:p>
        </p:txBody>
      </p:sp>
      <p:sp>
        <p:nvSpPr>
          <p:cNvPr id="83" name="Text 81"/>
          <p:cNvSpPr/>
          <p:nvPr/>
        </p:nvSpPr>
        <p:spPr>
          <a:xfrm>
            <a:off x="12514966" y="4609812"/>
            <a:ext cx="359170"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15</a:t>
            </a:r>
            <a:endParaRPr lang="en-US" sz="2400" dirty="0"/>
          </a:p>
        </p:txBody>
      </p:sp>
      <p:sp>
        <p:nvSpPr>
          <p:cNvPr id="84" name="Text 82"/>
          <p:cNvSpPr/>
          <p:nvPr/>
        </p:nvSpPr>
        <p:spPr>
          <a:xfrm>
            <a:off x="12946955" y="4748302"/>
            <a:ext cx="83086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INDUSTRIES　業界</a:t>
            </a:r>
            <a:endParaRPr lang="en-US" sz="580" dirty="0"/>
          </a:p>
        </p:txBody>
      </p:sp>
      <p:sp>
        <p:nvSpPr>
          <p:cNvPr id="85" name="Text 83"/>
          <p:cNvSpPr/>
          <p:nvPr/>
        </p:nvSpPr>
        <p:spPr>
          <a:xfrm>
            <a:off x="12514966" y="5118034"/>
            <a:ext cx="441498"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50</a:t>
            </a:r>
            <a:endParaRPr lang="en-US" sz="2400" dirty="0"/>
          </a:p>
        </p:txBody>
      </p:sp>
      <p:sp>
        <p:nvSpPr>
          <p:cNvPr id="86" name="Text 84"/>
          <p:cNvSpPr/>
          <p:nvPr/>
        </p:nvSpPr>
        <p:spPr>
          <a:xfrm>
            <a:off x="12946955" y="5256524"/>
            <a:ext cx="81754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COUNTRIES　カ国</a:t>
            </a:r>
            <a:endParaRPr lang="en-US" sz="580" dirty="0"/>
          </a:p>
        </p:txBody>
      </p:sp>
      <p:sp>
        <p:nvSpPr>
          <p:cNvPr id="87" name="Text 85"/>
          <p:cNvSpPr/>
          <p:nvPr/>
        </p:nvSpPr>
        <p:spPr>
          <a:xfrm>
            <a:off x="12514966" y="5626256"/>
            <a:ext cx="1056665"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~1,000</a:t>
            </a:r>
            <a:endParaRPr lang="en-US" sz="2400" dirty="0"/>
          </a:p>
        </p:txBody>
      </p:sp>
      <p:sp>
        <p:nvSpPr>
          <p:cNvPr id="88" name="Text 86"/>
          <p:cNvSpPr/>
          <p:nvPr/>
        </p:nvSpPr>
        <p:spPr>
          <a:xfrm>
            <a:off x="13556821" y="5764746"/>
            <a:ext cx="1113225"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CUSTOMERS　社の販売先</a:t>
            </a:r>
            <a:endParaRPr lang="en-US" sz="580" dirty="0"/>
          </a:p>
        </p:txBody>
      </p:sp>
      <p:sp>
        <p:nvSpPr>
          <p:cNvPr id="89" name="Text 87"/>
          <p:cNvSpPr/>
          <p:nvPr/>
        </p:nvSpPr>
        <p:spPr>
          <a:xfrm>
            <a:off x="8068024" y="6659296"/>
            <a:ext cx="122372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JOINT VENTURES</a:t>
            </a:r>
            <a:endParaRPr lang="en-US" sz="660" dirty="0"/>
          </a:p>
        </p:txBody>
      </p:sp>
      <p:sp>
        <p:nvSpPr>
          <p:cNvPr id="90" name="Text 88"/>
          <p:cNvSpPr/>
          <p:nvPr/>
        </p:nvSpPr>
        <p:spPr>
          <a:xfrm>
            <a:off x="9236935" y="6659296"/>
            <a:ext cx="10739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業界最大手とのJV実績</a:t>
            </a:r>
            <a:endParaRPr lang="en-US" sz="660" dirty="0"/>
          </a:p>
        </p:txBody>
      </p:sp>
      <p:sp>
        <p:nvSpPr>
          <p:cNvPr id="91" name="Text 89"/>
          <p:cNvSpPr/>
          <p:nvPr/>
        </p:nvSpPr>
        <p:spPr>
          <a:xfrm>
            <a:off x="8068024" y="6861632"/>
            <a:ext cx="488667"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BHP</a:t>
            </a:r>
            <a:endParaRPr lang="en-US" sz="1700" dirty="0"/>
          </a:p>
        </p:txBody>
      </p:sp>
      <p:sp>
        <p:nvSpPr>
          <p:cNvPr id="92" name="Text 90"/>
          <p:cNvSpPr/>
          <p:nvPr/>
        </p:nvSpPr>
        <p:spPr>
          <a:xfrm>
            <a:off x="9592690" y="6861632"/>
            <a:ext cx="923892"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Rio Tinto</a:t>
            </a:r>
            <a:endParaRPr lang="en-US" sz="1700" dirty="0"/>
          </a:p>
        </p:txBody>
      </p:sp>
      <p:sp>
        <p:nvSpPr>
          <p:cNvPr id="93" name="Text 91"/>
          <p:cNvSpPr/>
          <p:nvPr/>
        </p:nvSpPr>
        <p:spPr>
          <a:xfrm>
            <a:off x="11117356" y="6861632"/>
            <a:ext cx="1659384"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Anglo American</a:t>
            </a:r>
            <a:endParaRPr lang="en-US" sz="1700" dirty="0"/>
          </a:p>
        </p:txBody>
      </p:sp>
      <p:sp>
        <p:nvSpPr>
          <p:cNvPr id="94" name="Text 92"/>
          <p:cNvSpPr/>
          <p:nvPr/>
        </p:nvSpPr>
        <p:spPr>
          <a:xfrm>
            <a:off x="12794488" y="6856740"/>
            <a:ext cx="829117"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他社ロゴは使用せず</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社名テキストで表記</a:t>
            </a:r>
            <a:endParaRPr lang="en-US" sz="620" dirty="0"/>
          </a:p>
        </p:txBody>
      </p:sp>
      <p:sp>
        <p:nvSpPr>
          <p:cNvPr id="95" name="Text 93"/>
          <p:cNvSpPr/>
          <p:nvPr/>
        </p:nvSpPr>
        <p:spPr>
          <a:xfrm>
            <a:off x="8068024" y="7294574"/>
            <a:ext cx="182316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WHY PARTNERS VALUE US</a:t>
            </a:r>
            <a:endParaRPr lang="en-US" sz="660" dirty="0"/>
          </a:p>
        </p:txBody>
      </p:sp>
      <p:sp>
        <p:nvSpPr>
          <p:cNvPr id="96" name="Text 94"/>
          <p:cNvSpPr/>
          <p:nvPr/>
        </p:nvSpPr>
        <p:spPr>
          <a:xfrm>
            <a:off x="9846801" y="7294574"/>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パートナーに評価される理由</a:t>
            </a:r>
            <a:endParaRPr lang="en-US" sz="660" dirty="0"/>
          </a:p>
        </p:txBody>
      </p:sp>
      <p:sp>
        <p:nvSpPr>
          <p:cNvPr id="97" name="Text 95"/>
          <p:cNvSpPr/>
          <p:nvPr/>
        </p:nvSpPr>
        <p:spPr>
          <a:xfrm>
            <a:off x="8195079" y="7599507"/>
            <a:ext cx="983509"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LONG-TERM VIEW</a:t>
            </a:r>
            <a:endParaRPr lang="en-US" sz="560" dirty="0"/>
          </a:p>
        </p:txBody>
      </p:sp>
      <p:sp>
        <p:nvSpPr>
          <p:cNvPr id="98" name="Text 96"/>
          <p:cNvSpPr/>
          <p:nvPr/>
        </p:nvSpPr>
        <p:spPr>
          <a:xfrm>
            <a:off x="8195079" y="7692702"/>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中長期的な視座</a:t>
            </a:r>
            <a:endParaRPr lang="en-US" sz="860" dirty="0"/>
          </a:p>
        </p:txBody>
      </p:sp>
      <p:sp>
        <p:nvSpPr>
          <p:cNvPr id="99" name="Text 97"/>
          <p:cNvSpPr/>
          <p:nvPr/>
        </p:nvSpPr>
        <p:spPr>
          <a:xfrm>
            <a:off x="8195079" y="7902566"/>
            <a:ext cx="2035647"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資源事業は長期にわたる。短期的リターンを求める</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投資家とは一線を画す。</a:t>
            </a:r>
            <a:endParaRPr lang="en-US" sz="620" dirty="0"/>
          </a:p>
        </p:txBody>
      </p:sp>
      <p:sp>
        <p:nvSpPr>
          <p:cNvPr id="100" name="Text 98"/>
          <p:cNvSpPr/>
          <p:nvPr/>
        </p:nvSpPr>
        <p:spPr>
          <a:xfrm>
            <a:off x="10431256" y="7599507"/>
            <a:ext cx="806842"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RISK SHARING</a:t>
            </a:r>
            <a:endParaRPr lang="en-US" sz="560" dirty="0"/>
          </a:p>
        </p:txBody>
      </p:sp>
      <p:sp>
        <p:nvSpPr>
          <p:cNvPr id="101" name="Text 99"/>
          <p:cNvSpPr/>
          <p:nvPr/>
        </p:nvSpPr>
        <p:spPr>
          <a:xfrm>
            <a:off x="10431256" y="7692702"/>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リスクシェアリング</a:t>
            </a:r>
            <a:endParaRPr lang="en-US" sz="860" dirty="0"/>
          </a:p>
        </p:txBody>
      </p:sp>
      <p:sp>
        <p:nvSpPr>
          <p:cNvPr id="102" name="Text 100"/>
          <p:cNvSpPr/>
          <p:nvPr/>
        </p:nvSpPr>
        <p:spPr>
          <a:xfrm>
            <a:off x="10431256" y="7902566"/>
            <a:ext cx="2035647"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リスクの高い案件ほど、資金面の分担を担保する。</a:t>
            </a:r>
            <a:endParaRPr lang="en-US" sz="620" dirty="0"/>
          </a:p>
        </p:txBody>
      </p:sp>
      <p:sp>
        <p:nvSpPr>
          <p:cNvPr id="103" name="Text 101"/>
          <p:cNvSpPr/>
          <p:nvPr/>
        </p:nvSpPr>
        <p:spPr>
          <a:xfrm>
            <a:off x="12667433" y="7599507"/>
            <a:ext cx="1309982"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INTEGRATED STRENGTH</a:t>
            </a:r>
            <a:endParaRPr lang="en-US" sz="560" dirty="0"/>
          </a:p>
        </p:txBody>
      </p:sp>
      <p:sp>
        <p:nvSpPr>
          <p:cNvPr id="104" name="Text 102"/>
          <p:cNvSpPr/>
          <p:nvPr/>
        </p:nvSpPr>
        <p:spPr>
          <a:xfrm>
            <a:off x="12667433" y="7692702"/>
            <a:ext cx="42380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総合力</a:t>
            </a:r>
            <a:endParaRPr lang="en-US" sz="860" dirty="0"/>
          </a:p>
        </p:txBody>
      </p:sp>
      <p:sp>
        <p:nvSpPr>
          <p:cNvPr id="105" name="Text 103"/>
          <p:cNvSpPr/>
          <p:nvPr/>
        </p:nvSpPr>
        <p:spPr>
          <a:xfrm>
            <a:off x="12667433" y="7902566"/>
            <a:ext cx="2035647"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幅広い産業接点を通じ、多様なバリューチェーンに</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知見を提供する。</a:t>
            </a:r>
            <a:endParaRPr lang="en-US" sz="620" dirty="0"/>
          </a:p>
        </p:txBody>
      </p:sp>
      <p:sp>
        <p:nvSpPr>
          <p:cNvPr id="106" name="Text 10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08</a:t>
            </a:r>
            <a:endParaRPr lang="en-US" sz="600" dirty="0"/>
          </a:p>
        </p:txBody>
      </p:sp>
      <p:sp>
        <p:nvSpPr>
          <p:cNvPr id="107" name="Text 105"/>
          <p:cNvSpPr/>
          <p:nvPr/>
        </p:nvSpPr>
        <p:spPr>
          <a:xfrm>
            <a:off x="14458915"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09</a:t>
            </a:r>
            <a:endParaRPr lang="en-US" sz="600" dirty="0"/>
          </a:p>
        </p:txBody>
      </p:sp>
      <p:sp>
        <p:nvSpPr>
          <p:cNvPr id="108" name="Text 106"/>
          <p:cNvSpPr/>
          <p:nvPr/>
        </p:nvSpPr>
        <p:spPr>
          <a:xfrm>
            <a:off x="876683" y="10328977"/>
            <a:ext cx="627106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台割メモ｜動画06 From Resources to Value。その他資源を6つのカードで（案件名と地域）。銅の品位の変化（1%→20–30%→99.99%）の上に、技術投資（CiDRA・Jetti・DESCycle・</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Triland）を配置。</a:t>
            </a:r>
            <a:endParaRPr lang="en-US" sz="540" dirty="0"/>
          </a:p>
        </p:txBody>
      </p:sp>
      <p:sp>
        <p:nvSpPr>
          <p:cNvPr id="109" name="Text 107"/>
          <p:cNvSpPr/>
          <p:nvPr/>
        </p:nvSpPr>
        <p:spPr>
          <a:xfrm>
            <a:off x="8169668" y="10328977"/>
            <a:ext cx="520713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台割メモ｜動画07 Global Partnerships。Partner of Choiceの理由（本文）、4つの強み、RtMの販売網（シンガポール集約の10拠点）とエビデンス数値。</a:t>
            </a:r>
            <a:endParaRPr lang="en-US" sz="5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26773" y="101644"/>
            <a:ext cx="3460337" cy="2337821"/>
          </a:xfrm>
          <a:prstGeom prst="rect">
            <a:avLst/>
          </a:prstGeom>
          <a:noFill/>
          <a:ln/>
        </p:spPr>
        <p:txBody>
          <a:bodyPr wrap="none" lIns="0" tIns="0" rIns="0" bIns="0" rtlCol="0" anchor="t"/>
          <a:lstStyle/>
          <a:p>
            <a:pPr algn="l" indent="0" marL="0">
              <a:lnSpc>
                <a:spcPts val="18400"/>
              </a:lnSpc>
              <a:buNone/>
            </a:pPr>
            <a:r>
              <a:rPr lang="en-US" sz="23000" spc="-920" kern="0" dirty="0">
                <a:solidFill>
                  <a:srgbClr val="000000">
                    <a:alpha val="0"/>
                  </a:srgbClr>
                </a:solidFill>
                <a:latin typeface="Inter Tight Light" pitchFamily="34" charset="0"/>
                <a:ea typeface="Inter Tight Light" pitchFamily="34" charset="-122"/>
                <a:cs typeface="Inter Tight Light" pitchFamily="34" charset="-120"/>
              </a:rPr>
              <a:t>05</a:t>
            </a:r>
            <a:endParaRPr lang="en-US" sz="23000" dirty="0"/>
          </a:p>
        </p:txBody>
      </p:sp>
      <p:sp>
        <p:nvSpPr>
          <p:cNvPr id="3" name="Text 1"/>
          <p:cNvSpPr/>
          <p:nvPr/>
        </p:nvSpPr>
        <p:spPr>
          <a:xfrm>
            <a:off x="508222" y="508222"/>
            <a:ext cx="219287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05 · Integrated value chain</a:t>
            </a:r>
            <a:endParaRPr lang="en-US" sz="660" dirty="0"/>
          </a:p>
        </p:txBody>
      </p:sp>
      <p:sp>
        <p:nvSpPr>
          <p:cNvPr id="4" name="Text 2"/>
          <p:cNvSpPr/>
          <p:nvPr/>
        </p:nvSpPr>
        <p:spPr>
          <a:xfrm>
            <a:off x="508222" y="647983"/>
            <a:ext cx="201621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独自価値｜バリューチェーン全体像</a:t>
            </a:r>
            <a:endParaRPr lang="en-US" sz="660" dirty="0"/>
          </a:p>
        </p:txBody>
      </p:sp>
      <p:sp>
        <p:nvSpPr>
          <p:cNvPr id="5" name="Text 3"/>
          <p:cNvSpPr/>
          <p:nvPr/>
        </p:nvSpPr>
        <p:spPr>
          <a:xfrm>
            <a:off x="508222" y="883544"/>
            <a:ext cx="12312015" cy="596144"/>
          </a:xfrm>
          <a:prstGeom prst="rect">
            <a:avLst/>
          </a:prstGeom>
          <a:noFill/>
          <a:ln/>
        </p:spPr>
        <p:txBody>
          <a:bodyPr wrap="none" lIns="0" tIns="0" rIns="0" bIns="0" rtlCol="0" anchor="t"/>
          <a:lstStyle/>
          <a:p>
            <a:pPr algn="l" indent="0" marL="0">
              <a:lnSpc>
                <a:spcPts val="4692"/>
              </a:lnSpc>
              <a:buNone/>
            </a:pPr>
            <a:r>
              <a:rPr lang="en-US" sz="4600" spc="-115" kern="0" dirty="0">
                <a:solidFill>
                  <a:srgbClr val="121519"/>
                </a:solidFill>
                <a:latin typeface="Inter Tight SemiBold" pitchFamily="34" charset="0"/>
                <a:ea typeface="Inter Tight SemiBold" pitchFamily="34" charset="-122"/>
                <a:cs typeface="Inter Tight SemiBold" pitchFamily="34" charset="-120"/>
              </a:rPr>
              <a:t>From mine to market — one integrated chain.</a:t>
            </a:r>
            <a:endParaRPr lang="en-US" sz="4600" dirty="0"/>
          </a:p>
        </p:txBody>
      </p:sp>
      <p:sp>
        <p:nvSpPr>
          <p:cNvPr id="6" name="Text 4"/>
          <p:cNvSpPr/>
          <p:nvPr/>
        </p:nvSpPr>
        <p:spPr>
          <a:xfrm>
            <a:off x="508222" y="1745425"/>
            <a:ext cx="925408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投資と販売の両輪で、川上から川下までをつなぐ。採掘・製造・販売をつなぐトレーディング力こそが、総合商社の強み。</a:t>
            </a:r>
            <a:endParaRPr lang="en-US" sz="1150" dirty="0"/>
          </a:p>
        </p:txBody>
      </p:sp>
      <p:sp>
        <p:nvSpPr>
          <p:cNvPr id="7" name="Text 5"/>
          <p:cNvSpPr/>
          <p:nvPr/>
        </p:nvSpPr>
        <p:spPr>
          <a:xfrm>
            <a:off x="635277" y="2490288"/>
            <a:ext cx="69874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UPSTREAM</a:t>
            </a:r>
            <a:endParaRPr lang="en-US" sz="600" dirty="0"/>
          </a:p>
        </p:txBody>
      </p:sp>
      <p:sp>
        <p:nvSpPr>
          <p:cNvPr id="8" name="Text 6"/>
          <p:cNvSpPr/>
          <p:nvPr/>
        </p:nvSpPr>
        <p:spPr>
          <a:xfrm>
            <a:off x="635277" y="2579227"/>
            <a:ext cx="130889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川上｜資源開発・保有</a:t>
            </a:r>
            <a:endParaRPr lang="en-US" sz="900" dirty="0"/>
          </a:p>
        </p:txBody>
      </p:sp>
      <p:sp>
        <p:nvSpPr>
          <p:cNvPr id="9" name="Text 7"/>
          <p:cNvSpPr/>
          <p:nvPr/>
        </p:nvSpPr>
        <p:spPr>
          <a:xfrm>
            <a:off x="3557554" y="2490288"/>
            <a:ext cx="9538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Inter SemiBold" pitchFamily="34" charset="0"/>
                <a:ea typeface="Inter SemiBold" pitchFamily="34" charset="-122"/>
                <a:cs typeface="Inter SemiBold" pitchFamily="34" charset="-120"/>
              </a:rPr>
              <a:t>TRADING · RtM</a:t>
            </a:r>
            <a:endParaRPr lang="en-US" sz="600" dirty="0"/>
          </a:p>
        </p:txBody>
      </p:sp>
      <p:sp>
        <p:nvSpPr>
          <p:cNvPr id="10" name="Text 8"/>
          <p:cNvSpPr/>
          <p:nvPr/>
        </p:nvSpPr>
        <p:spPr>
          <a:xfrm>
            <a:off x="3557554" y="2579227"/>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1" name="Text 9"/>
          <p:cNvSpPr/>
          <p:nvPr/>
        </p:nvSpPr>
        <p:spPr>
          <a:xfrm>
            <a:off x="6225719" y="2490288"/>
            <a:ext cx="76644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MIDSTREAM</a:t>
            </a:r>
            <a:endParaRPr lang="en-US" sz="600" dirty="0"/>
          </a:p>
        </p:txBody>
      </p:sp>
      <p:sp>
        <p:nvSpPr>
          <p:cNvPr id="12" name="Text 10"/>
          <p:cNvSpPr/>
          <p:nvPr/>
        </p:nvSpPr>
        <p:spPr>
          <a:xfrm>
            <a:off x="6225719" y="2579227"/>
            <a:ext cx="105732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川中｜製鉄・製錬</a:t>
            </a:r>
            <a:endParaRPr lang="en-US" sz="900" dirty="0"/>
          </a:p>
        </p:txBody>
      </p:sp>
      <p:sp>
        <p:nvSpPr>
          <p:cNvPr id="13" name="Text 11"/>
          <p:cNvSpPr/>
          <p:nvPr/>
        </p:nvSpPr>
        <p:spPr>
          <a:xfrm>
            <a:off x="9147996" y="2490288"/>
            <a:ext cx="9538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Inter SemiBold" pitchFamily="34" charset="0"/>
                <a:ea typeface="Inter SemiBold" pitchFamily="34" charset="-122"/>
                <a:cs typeface="Inter SemiBold" pitchFamily="34" charset="-120"/>
              </a:rPr>
              <a:t>TRADING · RtM</a:t>
            </a:r>
            <a:endParaRPr lang="en-US" sz="600" dirty="0"/>
          </a:p>
        </p:txBody>
      </p:sp>
      <p:sp>
        <p:nvSpPr>
          <p:cNvPr id="14" name="Text 12"/>
          <p:cNvSpPr/>
          <p:nvPr/>
        </p:nvSpPr>
        <p:spPr>
          <a:xfrm>
            <a:off x="9147996" y="2579227"/>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5" name="Text 13"/>
          <p:cNvSpPr/>
          <p:nvPr/>
        </p:nvSpPr>
        <p:spPr>
          <a:xfrm>
            <a:off x="11816161" y="2490288"/>
            <a:ext cx="90052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DOWNSTREAM</a:t>
            </a:r>
            <a:endParaRPr lang="en-US" sz="600" dirty="0"/>
          </a:p>
        </p:txBody>
      </p:sp>
      <p:sp>
        <p:nvSpPr>
          <p:cNvPr id="16" name="Text 14"/>
          <p:cNvSpPr/>
          <p:nvPr/>
        </p:nvSpPr>
        <p:spPr>
          <a:xfrm>
            <a:off x="11816161" y="2579227"/>
            <a:ext cx="1434675"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川下｜最終製品・需要家</a:t>
            </a:r>
            <a:endParaRPr lang="en-US" sz="900" dirty="0"/>
          </a:p>
        </p:txBody>
      </p:sp>
      <p:sp>
        <p:nvSpPr>
          <p:cNvPr id="17" name="Text 15"/>
          <p:cNvSpPr/>
          <p:nvPr/>
        </p:nvSpPr>
        <p:spPr>
          <a:xfrm>
            <a:off x="482811" y="2871454"/>
            <a:ext cx="82365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STEEL　鉄鋼</a:t>
            </a:r>
            <a:endParaRPr lang="en-US" sz="660" dirty="0"/>
          </a:p>
        </p:txBody>
      </p:sp>
      <p:sp>
        <p:nvSpPr>
          <p:cNvPr id="18" name="Text 16"/>
          <p:cNvSpPr/>
          <p:nvPr/>
        </p:nvSpPr>
        <p:spPr>
          <a:xfrm>
            <a:off x="647983"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19" name="Text 17"/>
          <p:cNvSpPr/>
          <p:nvPr/>
        </p:nvSpPr>
        <p:spPr>
          <a:xfrm>
            <a:off x="647983" y="3365097"/>
            <a:ext cx="1605227"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鉱山会社／当社資産（BMA・IOC ほか）</a:t>
            </a:r>
            <a:endParaRPr lang="en-US" sz="620" dirty="0"/>
          </a:p>
        </p:txBody>
      </p:sp>
      <p:sp>
        <p:nvSpPr>
          <p:cNvPr id="20" name="Text 18"/>
          <p:cNvSpPr/>
          <p:nvPr/>
        </p:nvSpPr>
        <p:spPr>
          <a:xfrm>
            <a:off x="3570259"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21" name="Text 19"/>
          <p:cNvSpPr/>
          <p:nvPr/>
        </p:nvSpPr>
        <p:spPr>
          <a:xfrm>
            <a:off x="3570259" y="3365097"/>
            <a:ext cx="20870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RtM</a:t>
            </a:r>
            <a:endParaRPr lang="en-US" sz="620" dirty="0"/>
          </a:p>
        </p:txBody>
      </p:sp>
      <p:sp>
        <p:nvSpPr>
          <p:cNvPr id="22" name="Text 20"/>
          <p:cNvSpPr/>
          <p:nvPr/>
        </p:nvSpPr>
        <p:spPr>
          <a:xfrm>
            <a:off x="6238425" y="3155233"/>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製鉄会社</a:t>
            </a:r>
            <a:endParaRPr lang="en-US" sz="860" dirty="0"/>
          </a:p>
        </p:txBody>
      </p:sp>
      <p:sp>
        <p:nvSpPr>
          <p:cNvPr id="23" name="Text 21"/>
          <p:cNvSpPr/>
          <p:nvPr/>
        </p:nvSpPr>
        <p:spPr>
          <a:xfrm>
            <a:off x="6238425" y="3365097"/>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鋼材を製造</a:t>
            </a:r>
            <a:endParaRPr lang="en-US" sz="620" dirty="0"/>
          </a:p>
        </p:txBody>
      </p:sp>
      <p:sp>
        <p:nvSpPr>
          <p:cNvPr id="24" name="Text 22"/>
          <p:cNvSpPr/>
          <p:nvPr/>
        </p:nvSpPr>
        <p:spPr>
          <a:xfrm>
            <a:off x="9160701" y="3155233"/>
            <a:ext cx="2995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鋼材</a:t>
            </a:r>
            <a:endParaRPr lang="en-US" sz="860" dirty="0"/>
          </a:p>
        </p:txBody>
      </p:sp>
      <p:sp>
        <p:nvSpPr>
          <p:cNvPr id="25" name="Text 23"/>
          <p:cNvSpPr/>
          <p:nvPr/>
        </p:nvSpPr>
        <p:spPr>
          <a:xfrm>
            <a:off x="9160701" y="3365097"/>
            <a:ext cx="160238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※鋼材販売はメタルワン（別グループ）</a:t>
            </a:r>
            <a:endParaRPr lang="en-US" sz="620" dirty="0"/>
          </a:p>
        </p:txBody>
      </p:sp>
      <p:sp>
        <p:nvSpPr>
          <p:cNvPr id="26" name="Text 24"/>
          <p:cNvSpPr/>
          <p:nvPr/>
        </p:nvSpPr>
        <p:spPr>
          <a:xfrm>
            <a:off x="11828867" y="3155233"/>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建材・自動車用鋼板</a:t>
            </a:r>
            <a:endParaRPr lang="en-US" sz="860" dirty="0"/>
          </a:p>
        </p:txBody>
      </p:sp>
      <p:sp>
        <p:nvSpPr>
          <p:cNvPr id="27" name="Text 25"/>
          <p:cNvSpPr/>
          <p:nvPr/>
        </p:nvSpPr>
        <p:spPr>
          <a:xfrm>
            <a:off x="11828867" y="3365097"/>
            <a:ext cx="907950"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インフラ・モビリティ</a:t>
            </a:r>
            <a:endParaRPr lang="en-US" sz="620" dirty="0"/>
          </a:p>
        </p:txBody>
      </p:sp>
      <p:sp>
        <p:nvSpPr>
          <p:cNvPr id="28" name="Text 26"/>
          <p:cNvSpPr/>
          <p:nvPr/>
        </p:nvSpPr>
        <p:spPr>
          <a:xfrm>
            <a:off x="482811" y="3964131"/>
            <a:ext cx="138160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NON-FERROUS　非鉄</a:t>
            </a:r>
            <a:endParaRPr lang="en-US" sz="660" dirty="0"/>
          </a:p>
        </p:txBody>
      </p:sp>
      <p:sp>
        <p:nvSpPr>
          <p:cNvPr id="29" name="Text 27"/>
          <p:cNvSpPr/>
          <p:nvPr/>
        </p:nvSpPr>
        <p:spPr>
          <a:xfrm>
            <a:off x="647983"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銅鉱石・ボーキサイト</a:t>
            </a:r>
            <a:endParaRPr lang="en-US" sz="860" dirty="0"/>
          </a:p>
        </p:txBody>
      </p:sp>
      <p:sp>
        <p:nvSpPr>
          <p:cNvPr id="30" name="Text 28"/>
          <p:cNvSpPr/>
          <p:nvPr/>
        </p:nvSpPr>
        <p:spPr>
          <a:xfrm>
            <a:off x="647983" y="4457774"/>
            <a:ext cx="1196644"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Escondida・Quellaveco ほか</a:t>
            </a:r>
            <a:endParaRPr lang="en-US" sz="620" dirty="0"/>
          </a:p>
        </p:txBody>
      </p:sp>
      <p:sp>
        <p:nvSpPr>
          <p:cNvPr id="31" name="Text 29"/>
          <p:cNvSpPr/>
          <p:nvPr/>
        </p:nvSpPr>
        <p:spPr>
          <a:xfrm>
            <a:off x="3570259"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銅精鉱・ボーキサイト</a:t>
            </a:r>
            <a:endParaRPr lang="en-US" sz="860" dirty="0"/>
          </a:p>
        </p:txBody>
      </p:sp>
      <p:sp>
        <p:nvSpPr>
          <p:cNvPr id="32" name="Text 30"/>
          <p:cNvSpPr/>
          <p:nvPr/>
        </p:nvSpPr>
        <p:spPr>
          <a:xfrm>
            <a:off x="3570259" y="4457774"/>
            <a:ext cx="20870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RtM</a:t>
            </a:r>
            <a:endParaRPr lang="en-US" sz="620" dirty="0"/>
          </a:p>
        </p:txBody>
      </p:sp>
      <p:sp>
        <p:nvSpPr>
          <p:cNvPr id="33" name="Text 31"/>
          <p:cNvSpPr/>
          <p:nvPr/>
        </p:nvSpPr>
        <p:spPr>
          <a:xfrm>
            <a:off x="6238425" y="4247910"/>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製錬会社</a:t>
            </a:r>
            <a:endParaRPr lang="en-US" sz="860" dirty="0"/>
          </a:p>
        </p:txBody>
      </p:sp>
      <p:sp>
        <p:nvSpPr>
          <p:cNvPr id="34" name="Text 32"/>
          <p:cNvSpPr/>
          <p:nvPr/>
        </p:nvSpPr>
        <p:spPr>
          <a:xfrm>
            <a:off x="6238425" y="4457774"/>
            <a:ext cx="828243"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銅地金・アルミ地金</a:t>
            </a:r>
            <a:endParaRPr lang="en-US" sz="620" dirty="0"/>
          </a:p>
        </p:txBody>
      </p:sp>
      <p:sp>
        <p:nvSpPr>
          <p:cNvPr id="35" name="Text 33"/>
          <p:cNvSpPr/>
          <p:nvPr/>
        </p:nvSpPr>
        <p:spPr>
          <a:xfrm>
            <a:off x="9160701" y="4247910"/>
            <a:ext cx="1168474"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銅地金・アルミ地金</a:t>
            </a:r>
            <a:endParaRPr lang="en-US" sz="860" dirty="0"/>
          </a:p>
        </p:txBody>
      </p:sp>
      <p:sp>
        <p:nvSpPr>
          <p:cNvPr id="36" name="Text 34"/>
          <p:cNvSpPr/>
          <p:nvPr/>
        </p:nvSpPr>
        <p:spPr>
          <a:xfrm>
            <a:off x="9160701" y="4457774"/>
            <a:ext cx="859471"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RtM・Triland Metals</a:t>
            </a:r>
            <a:endParaRPr lang="en-US" sz="620" dirty="0"/>
          </a:p>
        </p:txBody>
      </p:sp>
      <p:sp>
        <p:nvSpPr>
          <p:cNvPr id="37" name="Text 35"/>
          <p:cNvSpPr/>
          <p:nvPr/>
        </p:nvSpPr>
        <p:spPr>
          <a:xfrm>
            <a:off x="11828867" y="4247910"/>
            <a:ext cx="107762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電線・再エネ・EV</a:t>
            </a:r>
            <a:endParaRPr lang="en-US" sz="860" dirty="0"/>
          </a:p>
        </p:txBody>
      </p:sp>
      <p:sp>
        <p:nvSpPr>
          <p:cNvPr id="38" name="Text 36"/>
          <p:cNvSpPr/>
          <p:nvPr/>
        </p:nvSpPr>
        <p:spPr>
          <a:xfrm>
            <a:off x="11828867" y="4457774"/>
            <a:ext cx="656162"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配線・モーター</a:t>
            </a:r>
            <a:endParaRPr lang="en-US" sz="620" dirty="0"/>
          </a:p>
        </p:txBody>
      </p:sp>
      <p:sp>
        <p:nvSpPr>
          <p:cNvPr id="39" name="Text 37"/>
          <p:cNvSpPr/>
          <p:nvPr/>
        </p:nvSpPr>
        <p:spPr>
          <a:xfrm>
            <a:off x="635277" y="5387153"/>
            <a:ext cx="5062348"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Inter SemiBold" pitchFamily="34" charset="0"/>
                <a:ea typeface="Inter SemiBold" pitchFamily="34" charset="-122"/>
                <a:cs typeface="Inter SemiBold" pitchFamily="34" charset="-120"/>
              </a:rPr>
              <a:t>INVESTMENT</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資源投資（鉱山・製鉄／製錬）｜鉄鋼原料本部・クリティカルミネラル本部</a:t>
            </a:r>
            <a:endParaRPr lang="en-US" sz="640" dirty="0"/>
          </a:p>
        </p:txBody>
      </p:sp>
      <p:sp>
        <p:nvSpPr>
          <p:cNvPr id="40" name="Text 38"/>
          <p:cNvSpPr/>
          <p:nvPr/>
        </p:nvSpPr>
        <p:spPr>
          <a:xfrm>
            <a:off x="635277" y="5742908"/>
            <a:ext cx="5469620"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Inter SemiBold" pitchFamily="34" charset="0"/>
                <a:ea typeface="Inter SemiBold" pitchFamily="34" charset="-122"/>
                <a:cs typeface="Inter SemiBold" pitchFamily="34" charset="-120"/>
              </a:rPr>
              <a:t>TRADING (RtM)</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トレーディング｜金属資源トレーディング本部 — 15業界 × 50カ国 × 約1,000社</a:t>
            </a:r>
            <a:endParaRPr lang="en-US" sz="640" dirty="0"/>
          </a:p>
        </p:txBody>
      </p:sp>
      <p:sp>
        <p:nvSpPr>
          <p:cNvPr id="41" name="Text 39"/>
          <p:cNvSpPr/>
          <p:nvPr/>
        </p:nvSpPr>
        <p:spPr>
          <a:xfrm>
            <a:off x="508222" y="6225719"/>
            <a:ext cx="154626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THE VIRTUOUS CYCLE</a:t>
            </a:r>
            <a:endParaRPr lang="en-US" sz="660" dirty="0"/>
          </a:p>
        </p:txBody>
      </p:sp>
      <p:sp>
        <p:nvSpPr>
          <p:cNvPr id="42" name="Text 40"/>
          <p:cNvSpPr/>
          <p:nvPr/>
        </p:nvSpPr>
        <p:spPr>
          <a:xfrm>
            <a:off x="1905832" y="6225719"/>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投資と販売が連携する好循環</a:t>
            </a:r>
            <a:endParaRPr lang="en-US" sz="660" dirty="0"/>
          </a:p>
        </p:txBody>
      </p:sp>
      <p:sp>
        <p:nvSpPr>
          <p:cNvPr id="43" name="Text 41"/>
          <p:cNvSpPr/>
          <p:nvPr/>
        </p:nvSpPr>
        <p:spPr>
          <a:xfrm>
            <a:off x="772507" y="6397752"/>
            <a:ext cx="1504119" cy="126039"/>
          </a:xfrm>
          <a:prstGeom prst="rect">
            <a:avLst/>
          </a:prstGeom>
          <a:noFill/>
          <a:ln/>
        </p:spPr>
        <p:txBody>
          <a:bodyPr wrap="none" lIns="0" tIns="0" rIns="0" bIns="0" rtlCol="0" anchor="t"/>
          <a:lstStyle/>
          <a:p>
            <a:pPr algn="ctr" indent="0" marL="0">
              <a:lnSpc>
                <a:spcPts val="992"/>
              </a:lnSpc>
              <a:buNone/>
            </a:pPr>
            <a:r>
              <a:rPr lang="en-US" sz="620" dirty="0">
                <a:solidFill>
                  <a:srgbClr val="9C7442"/>
                </a:solidFill>
                <a:latin typeface="Noto Sans JP" pitchFamily="34" charset="0"/>
                <a:ea typeface="Noto Sans JP" pitchFamily="34" charset="-122"/>
                <a:cs typeface="Noto Sans JP" pitchFamily="34" charset="-120"/>
              </a:rPr>
              <a:t>持分見合いのオフテイクをRtMが販売</a:t>
            </a:r>
            <a:endParaRPr lang="en-US" sz="620" dirty="0"/>
          </a:p>
        </p:txBody>
      </p:sp>
      <p:sp>
        <p:nvSpPr>
          <p:cNvPr id="44" name="Text 42"/>
          <p:cNvSpPr/>
          <p:nvPr/>
        </p:nvSpPr>
        <p:spPr>
          <a:xfrm>
            <a:off x="550190" y="8201940"/>
            <a:ext cx="1948952" cy="126039"/>
          </a:xfrm>
          <a:prstGeom prst="rect">
            <a:avLst/>
          </a:prstGeom>
          <a:noFill/>
          <a:ln/>
        </p:spPr>
        <p:txBody>
          <a:bodyPr wrap="none" lIns="0" tIns="0" rIns="0" bIns="0" rtlCol="0" anchor="t"/>
          <a:lstStyle/>
          <a:p>
            <a:pPr algn="ctr" indent="0" marL="0">
              <a:lnSpc>
                <a:spcPts val="992"/>
              </a:lnSpc>
              <a:buNone/>
            </a:pPr>
            <a:r>
              <a:rPr lang="en-US" sz="620" dirty="0">
                <a:solidFill>
                  <a:srgbClr val="1F3A56"/>
                </a:solidFill>
                <a:latin typeface="Noto Sans JP" pitchFamily="34" charset="0"/>
                <a:ea typeface="Noto Sans JP" pitchFamily="34" charset="-122"/>
                <a:cs typeface="Noto Sans JP" pitchFamily="34" charset="-120"/>
              </a:rPr>
              <a:t>顧客接点から得た“生きた情報”を投資判断へ還元</a:t>
            </a:r>
            <a:endParaRPr lang="en-US" sz="620" dirty="0"/>
          </a:p>
        </p:txBody>
      </p:sp>
      <p:sp>
        <p:nvSpPr>
          <p:cNvPr id="45" name="Text 43"/>
          <p:cNvSpPr/>
          <p:nvPr/>
        </p:nvSpPr>
        <p:spPr>
          <a:xfrm>
            <a:off x="1143499" y="7264716"/>
            <a:ext cx="441280"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9C7442"/>
                </a:solidFill>
                <a:latin typeface="Inter Tight SemiBold" pitchFamily="34" charset="0"/>
                <a:ea typeface="Inter Tight SemiBold" pitchFamily="34" charset="-122"/>
                <a:cs typeface="Inter Tight SemiBold" pitchFamily="34" charset="-120"/>
              </a:rPr>
              <a:t>Invest</a:t>
            </a:r>
            <a:endParaRPr lang="en-US" sz="1100" dirty="0"/>
          </a:p>
        </p:txBody>
      </p:sp>
      <p:sp>
        <p:nvSpPr>
          <p:cNvPr id="46" name="Text 44"/>
          <p:cNvSpPr/>
          <p:nvPr/>
        </p:nvSpPr>
        <p:spPr>
          <a:xfrm>
            <a:off x="1143499" y="7417182"/>
            <a:ext cx="578639"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1F3A56"/>
                </a:solidFill>
                <a:latin typeface="Inter Tight SemiBold" pitchFamily="34" charset="0"/>
                <a:ea typeface="Inter Tight SemiBold" pitchFamily="34" charset="-122"/>
                <a:cs typeface="Inter Tight SemiBold" pitchFamily="34" charset="-120"/>
              </a:rPr>
              <a:t>⇄ Trade</a:t>
            </a:r>
            <a:endParaRPr lang="en-US" sz="1100" dirty="0"/>
          </a:p>
        </p:txBody>
      </p:sp>
      <p:sp>
        <p:nvSpPr>
          <p:cNvPr id="47" name="Text 45"/>
          <p:cNvSpPr/>
          <p:nvPr/>
        </p:nvSpPr>
        <p:spPr>
          <a:xfrm>
            <a:off x="2668165" y="6495680"/>
            <a:ext cx="4942459"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出資案件から得られる持分見合いのオフテイクをRtMが引き受け、ヘッジ・在庫・物流などの機能を付</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加して欧州・シンガポール・米州の顧客に届けます。顧客と接するRtMを通じて得た市場の生きた情報</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は、資源投資の判断へ還元されます。肥料資源では、本格投資に先立ちシンガポールにトレーディング</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デスクを設け、市場理解を深めてから投資へ——この「事業機会の発掘」こそ、投資と販売を併せ持つ私</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たちのアイデンティティです。</a:t>
            </a:r>
            <a:endParaRPr lang="en-US" sz="730" dirty="0"/>
          </a:p>
        </p:txBody>
      </p:sp>
      <p:sp>
        <p:nvSpPr>
          <p:cNvPr id="48" name="Text 46"/>
          <p:cNvSpPr/>
          <p:nvPr/>
        </p:nvSpPr>
        <p:spPr>
          <a:xfrm>
            <a:off x="2668165" y="7724974"/>
            <a:ext cx="117218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RtM FUNCTIONS</a:t>
            </a:r>
            <a:endParaRPr lang="en-US" sz="660" dirty="0"/>
          </a:p>
        </p:txBody>
      </p:sp>
      <p:sp>
        <p:nvSpPr>
          <p:cNvPr id="49" name="Text 47"/>
          <p:cNvSpPr/>
          <p:nvPr/>
        </p:nvSpPr>
        <p:spPr>
          <a:xfrm>
            <a:off x="2744399" y="7953674"/>
            <a:ext cx="603097"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Marketing &amp;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Procurement</a:t>
            </a:r>
            <a:endParaRPr lang="en-US" sz="580" dirty="0"/>
          </a:p>
        </p:txBody>
      </p:sp>
      <p:sp>
        <p:nvSpPr>
          <p:cNvPr id="50" name="Text 48"/>
          <p:cNvSpPr/>
          <p:nvPr/>
        </p:nvSpPr>
        <p:spPr>
          <a:xfrm>
            <a:off x="2744399" y="8125707"/>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販売・調達</a:t>
            </a:r>
            <a:endParaRPr lang="en-US" sz="620" dirty="0"/>
          </a:p>
        </p:txBody>
      </p:sp>
      <p:sp>
        <p:nvSpPr>
          <p:cNvPr id="51" name="Text 49"/>
          <p:cNvSpPr/>
          <p:nvPr/>
        </p:nvSpPr>
        <p:spPr>
          <a:xfrm>
            <a:off x="3633787" y="7953674"/>
            <a:ext cx="44171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Logistics</a:t>
            </a:r>
            <a:endParaRPr lang="en-US" sz="580" dirty="0"/>
          </a:p>
        </p:txBody>
      </p:sp>
      <p:sp>
        <p:nvSpPr>
          <p:cNvPr id="52" name="Text 50"/>
          <p:cNvSpPr/>
          <p:nvPr/>
        </p:nvSpPr>
        <p:spPr>
          <a:xfrm>
            <a:off x="3633787" y="8036768"/>
            <a:ext cx="22377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物流</a:t>
            </a:r>
            <a:endParaRPr lang="en-US" sz="620" dirty="0"/>
          </a:p>
        </p:txBody>
      </p:sp>
      <p:sp>
        <p:nvSpPr>
          <p:cNvPr id="53" name="Text 51"/>
          <p:cNvSpPr/>
          <p:nvPr/>
        </p:nvSpPr>
        <p:spPr>
          <a:xfrm>
            <a:off x="4523176" y="7953674"/>
            <a:ext cx="471852" cy="88939"/>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Financing</a:t>
            </a:r>
            <a:endParaRPr lang="en-US" sz="580" dirty="0"/>
          </a:p>
        </p:txBody>
      </p:sp>
      <p:sp>
        <p:nvSpPr>
          <p:cNvPr id="54" name="Text 52"/>
          <p:cNvSpPr/>
          <p:nvPr/>
        </p:nvSpPr>
        <p:spPr>
          <a:xfrm>
            <a:off x="4523176" y="8036768"/>
            <a:ext cx="56640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ファイナンス</a:t>
            </a:r>
            <a:endParaRPr lang="en-US" sz="620" dirty="0"/>
          </a:p>
        </p:txBody>
      </p:sp>
      <p:sp>
        <p:nvSpPr>
          <p:cNvPr id="55" name="Text 53"/>
          <p:cNvSpPr/>
          <p:nvPr/>
        </p:nvSpPr>
        <p:spPr>
          <a:xfrm>
            <a:off x="5412564" y="7953674"/>
            <a:ext cx="607901"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Risk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Management</a:t>
            </a:r>
            <a:endParaRPr lang="en-US" sz="580" dirty="0"/>
          </a:p>
        </p:txBody>
      </p:sp>
      <p:sp>
        <p:nvSpPr>
          <p:cNvPr id="56" name="Text 54"/>
          <p:cNvSpPr/>
          <p:nvPr/>
        </p:nvSpPr>
        <p:spPr>
          <a:xfrm>
            <a:off x="5412564" y="8125707"/>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リスク管理</a:t>
            </a:r>
            <a:endParaRPr lang="en-US" sz="620" dirty="0"/>
          </a:p>
        </p:txBody>
      </p:sp>
      <p:sp>
        <p:nvSpPr>
          <p:cNvPr id="57" name="Text 55"/>
          <p:cNvSpPr/>
          <p:nvPr/>
        </p:nvSpPr>
        <p:spPr>
          <a:xfrm>
            <a:off x="6301953" y="7953674"/>
            <a:ext cx="484518"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Carbon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Reduction</a:t>
            </a:r>
            <a:endParaRPr lang="en-US" sz="580" dirty="0"/>
          </a:p>
        </p:txBody>
      </p:sp>
      <p:sp>
        <p:nvSpPr>
          <p:cNvPr id="58" name="Text 56"/>
          <p:cNvSpPr/>
          <p:nvPr/>
        </p:nvSpPr>
        <p:spPr>
          <a:xfrm>
            <a:off x="6301953" y="8125707"/>
            <a:ext cx="310254"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脱炭素</a:t>
            </a:r>
            <a:endParaRPr lang="en-US" sz="620" dirty="0"/>
          </a:p>
        </p:txBody>
      </p:sp>
      <p:sp>
        <p:nvSpPr>
          <p:cNvPr id="59" name="Text 57"/>
          <p:cNvSpPr/>
          <p:nvPr/>
        </p:nvSpPr>
        <p:spPr>
          <a:xfrm>
            <a:off x="8881179" y="6301953"/>
            <a:ext cx="1311292"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Our commitment</a:t>
            </a:r>
            <a:endParaRPr lang="en-US" sz="660" dirty="0"/>
          </a:p>
        </p:txBody>
      </p:sp>
      <p:sp>
        <p:nvSpPr>
          <p:cNvPr id="60" name="Text 58"/>
          <p:cNvSpPr/>
          <p:nvPr/>
        </p:nvSpPr>
        <p:spPr>
          <a:xfrm>
            <a:off x="8881179" y="6495585"/>
            <a:ext cx="4299776" cy="673902"/>
          </a:xfrm>
          <a:prstGeom prst="rect">
            <a:avLst/>
          </a:prstGeom>
          <a:noFill/>
          <a:ln/>
        </p:spPr>
        <p:txBody>
          <a:bodyPr wrap="none" lIns="0" tIns="0" rIns="0" bIns="0" rtlCol="0" anchor="t"/>
          <a:lstStyle/>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Supporting society</a:t>
            </a:r>
            <a:endParaRPr lang="en-US" sz="2600" dirty="0"/>
          </a:p>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with the resources it needs.</a:t>
            </a:r>
            <a:endParaRPr lang="en-US" sz="2600" dirty="0"/>
          </a:p>
        </p:txBody>
      </p:sp>
      <p:sp>
        <p:nvSpPr>
          <p:cNvPr id="61" name="Text 59"/>
          <p:cNvSpPr/>
          <p:nvPr/>
        </p:nvSpPr>
        <p:spPr>
          <a:xfrm>
            <a:off x="8881179" y="7312361"/>
            <a:ext cx="5884972" cy="354485"/>
          </a:xfrm>
          <a:prstGeom prst="rect">
            <a:avLst/>
          </a:prstGeom>
          <a:noFill/>
          <a:ln/>
        </p:spPr>
        <p:txBody>
          <a:bodyPr wrap="none" lIns="0" tIns="0" rIns="0" bIns="0" rtlCol="0" anchor="t"/>
          <a:lstStyle/>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社会が必要とする良質な金属資源を、持続可能な形で安定供給することで、より良い社会の実現に寄</a:t>
            </a:r>
            <a:endParaRPr lang="en-US" sz="900" dirty="0"/>
          </a:p>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与する。</a:t>
            </a:r>
            <a:endParaRPr lang="en-US" sz="900" dirty="0"/>
          </a:p>
        </p:txBody>
      </p:sp>
      <p:sp>
        <p:nvSpPr>
          <p:cNvPr id="62" name="Text 60"/>
          <p:cNvSpPr/>
          <p:nvPr/>
        </p:nvSpPr>
        <p:spPr>
          <a:xfrm>
            <a:off x="8881179" y="7670467"/>
            <a:ext cx="5920786" cy="319672"/>
          </a:xfrm>
          <a:prstGeom prst="rect">
            <a:avLst/>
          </a:prstGeom>
          <a:noFill/>
          <a:ln/>
        </p:spPr>
        <p:txBody>
          <a:bodyPr wrap="none" lIns="0" tIns="0" rIns="0" bIns="0" rtlCol="0" anchor="t"/>
          <a:lstStyle/>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需要の拡大、供給制約、地政学リスク——変化する外部環境に対し、①安定的な資源確保による安定供給と、②バリューチェーン全体</a:t>
            </a:r>
            <a:endParaRPr lang="en-US" sz="680" dirty="0"/>
          </a:p>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の効率化による効率的な供給の両面で応えていきます。共に、持続可能で豊かな未来を。</a:t>
            </a:r>
            <a:endParaRPr lang="en-US" sz="680" dirty="0"/>
          </a:p>
        </p:txBody>
      </p:sp>
      <p:sp>
        <p:nvSpPr>
          <p:cNvPr id="63" name="Text 61"/>
          <p:cNvSpPr/>
          <p:nvPr/>
        </p:nvSpPr>
        <p:spPr>
          <a:xfrm>
            <a:off x="8881179" y="8309429"/>
            <a:ext cx="238177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Noto Sans JP Medium" pitchFamily="34" charset="0"/>
                <a:ea typeface="Noto Sans JP Medium" pitchFamily="34" charset="-122"/>
                <a:cs typeface="Noto Sans JP Medium" pitchFamily="34" charset="-120"/>
              </a:rPr>
              <a:t>Mitsubishi Corporation　Mineral Resources Group</a:t>
            </a:r>
            <a:endParaRPr lang="en-US" sz="640" dirty="0"/>
          </a:p>
        </p:txBody>
      </p:sp>
      <p:sp>
        <p:nvSpPr>
          <p:cNvPr id="64" name="Text 62"/>
          <p:cNvSpPr/>
          <p:nvPr/>
        </p:nvSpPr>
        <p:spPr>
          <a:xfrm>
            <a:off x="8881179" y="8443346"/>
            <a:ext cx="3556859" cy="126039"/>
          </a:xfrm>
          <a:prstGeom prst="rect">
            <a:avLst/>
          </a:prstGeom>
          <a:noFill/>
          <a:ln/>
        </p:spPr>
        <p:txBody>
          <a:bodyPr wrap="none" lIns="0" tIns="0" rIns="0" bIns="0" rtlCol="0" anchor="t"/>
          <a:lstStyle/>
          <a:p>
            <a:pPr algn="l" indent="0" marL="0">
              <a:lnSpc>
                <a:spcPts val="992"/>
              </a:lnSpc>
              <a:buNone/>
            </a:pPr>
            <a:r>
              <a:rPr lang="en-US" sz="620" dirty="0">
                <a:solidFill>
                  <a:srgbClr val="9AA1A8"/>
                </a:solidFill>
                <a:latin typeface="Noto Sans JP" pitchFamily="34" charset="0"/>
                <a:ea typeface="Noto Sans JP" pitchFamily="34" charset="-122"/>
                <a:cs typeface="Noto Sans JP" pitchFamily="34" charset="-120"/>
              </a:rPr>
              <a:t>2-3-1 Marunouchi, Chiyoda-ku, Tokyo 100-8086, Japan　|　www.mitsubishicorp.com</a:t>
            </a:r>
            <a:endParaRPr lang="en-US" sz="620" dirty="0"/>
          </a:p>
        </p:txBody>
      </p:sp>
      <p:sp>
        <p:nvSpPr>
          <p:cNvPr id="65" name="Text 63"/>
          <p:cNvSpPr/>
          <p:nvPr/>
        </p:nvSpPr>
        <p:spPr>
          <a:xfrm>
            <a:off x="127055" y="10011973"/>
            <a:ext cx="759673"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Port &amp; rail</a:t>
            </a:r>
            <a:endParaRPr lang="en-US" sz="580" dirty="0"/>
          </a:p>
        </p:txBody>
      </p:sp>
      <p:sp>
        <p:nvSpPr>
          <p:cNvPr id="66" name="Text 64"/>
          <p:cNvSpPr/>
          <p:nvPr/>
        </p:nvSpPr>
        <p:spPr>
          <a:xfrm>
            <a:off x="5171159" y="10011973"/>
            <a:ext cx="128814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Seaborne logistics</a:t>
            </a:r>
            <a:endParaRPr lang="en-US" sz="580" dirty="0"/>
          </a:p>
        </p:txBody>
      </p:sp>
      <p:sp>
        <p:nvSpPr>
          <p:cNvPr id="67" name="Text 65"/>
          <p:cNvSpPr/>
          <p:nvPr/>
        </p:nvSpPr>
        <p:spPr>
          <a:xfrm>
            <a:off x="10253379" y="10011973"/>
            <a:ext cx="763167"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Operations</a:t>
            </a:r>
            <a:endParaRPr lang="en-US" sz="580" dirty="0"/>
          </a:p>
        </p:txBody>
      </p:sp>
      <p:sp>
        <p:nvSpPr>
          <p:cNvPr id="68" name="Text 66"/>
          <p:cNvSpPr/>
          <p:nvPr/>
        </p:nvSpPr>
        <p:spPr>
          <a:xfrm>
            <a:off x="508222" y="10316906"/>
            <a:ext cx="184687"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10</a:t>
            </a:r>
            <a:endParaRPr lang="en-US" sz="600" dirty="0"/>
          </a:p>
        </p:txBody>
      </p:sp>
      <p:sp>
        <p:nvSpPr>
          <p:cNvPr id="69" name="Text 67"/>
          <p:cNvSpPr/>
          <p:nvPr/>
        </p:nvSpPr>
        <p:spPr>
          <a:xfrm>
            <a:off x="14458915" y="10316906"/>
            <a:ext cx="16525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11</a:t>
            </a:r>
            <a:endParaRPr lang="en-US" sz="600" dirty="0"/>
          </a:p>
        </p:txBody>
      </p:sp>
      <p:sp>
        <p:nvSpPr>
          <p:cNvPr id="70" name="Text 68"/>
          <p:cNvSpPr/>
          <p:nvPr/>
        </p:nvSpPr>
        <p:spPr>
          <a:xfrm>
            <a:off x="876683" y="10328977"/>
            <a:ext cx="651193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台割メモ｜動画08 Integrated Value Chain。【強調】見開き全幅の表で、鉄鋼・非鉄の2段×川上→川下を整理。投資（ブロンズ）とトレーディング（ネイビー）の帯で両輪を明示。左下は投資</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⇄販売の好循環。</a:t>
            </a:r>
            <a:endParaRPr lang="en-US" sz="540" dirty="0"/>
          </a:p>
        </p:txBody>
      </p:sp>
      <p:sp>
        <p:nvSpPr>
          <p:cNvPr id="71" name="Text 69"/>
          <p:cNvSpPr/>
          <p:nvPr/>
        </p:nvSpPr>
        <p:spPr>
          <a:xfrm>
            <a:off x="8169668" y="10328977"/>
            <a:ext cx="4667304"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台割メモ｜動画09 Closing。右下の濃色パネルで約束（ミッション）と外部環境への答え（安定供給・効率的な供給）、連絡先で締める。</a:t>
            </a:r>
            <a:endParaRPr lang="en-US" sz="5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2026-10-07T09:23:28Z</dcterms:created>
  <dcterms:modified xsi:type="dcterms:W3CDTF">2026-10-07T09:23:28Z</dcterms:modified>
</cp:coreProperties>
</file>