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0346" y="7113520"/>
            <a:ext cx="29343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Cities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799100" y="7240639"/>
            <a:ext cx="456129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都市・ビル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2528752" y="5855472"/>
            <a:ext cx="33143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2547522" y="5982591"/>
            <a:ext cx="29409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電力網</a:t>
            </a:r>
            <a:endParaRPr lang="en-US" sz="580" dirty="0"/>
          </a:p>
        </p:txBody>
      </p:sp>
      <p:sp>
        <p:nvSpPr>
          <p:cNvPr id="6" name="Text 4"/>
          <p:cNvSpPr/>
          <p:nvPr/>
        </p:nvSpPr>
        <p:spPr>
          <a:xfrm>
            <a:off x="5091342" y="5515598"/>
            <a:ext cx="40917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Mobility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5062953" y="5642717"/>
            <a:ext cx="46595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自動車・EV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6590091" y="5548482"/>
            <a:ext cx="603752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6D87A1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画像</a:t>
            </a:r>
            <a:endParaRPr lang="en-US" sz="660" dirty="0"/>
          </a:p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6D87A1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（ストック）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6674821" y="6213411"/>
            <a:ext cx="43429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Railways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6785329" y="6340530"/>
            <a:ext cx="21307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鉄道</a:t>
            </a:r>
            <a:endParaRPr lang="en-US" sz="580" dirty="0"/>
          </a:p>
        </p:txBody>
      </p:sp>
      <p:sp>
        <p:nvSpPr>
          <p:cNvPr id="11" name="Text 9"/>
          <p:cNvSpPr/>
          <p:nvPr/>
        </p:nvSpPr>
        <p:spPr>
          <a:xfrm>
            <a:off x="6614221" y="7454386"/>
            <a:ext cx="36113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Energy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6404788" y="7581505"/>
            <a:ext cx="780200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再生可能エネルギー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3976122" y="8039564"/>
            <a:ext cx="603752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6D87A1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画像</a:t>
            </a:r>
            <a:endParaRPr lang="en-US" sz="660" dirty="0"/>
          </a:p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6D87A1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（ストック）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4083345" y="8704493"/>
            <a:ext cx="38930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Devices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970226" y="8831612"/>
            <a:ext cx="61554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スマートフォン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1680230" y="8559768"/>
            <a:ext cx="301519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602924" y="8686887"/>
            <a:ext cx="456129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物流・港湾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609866" y="660689"/>
            <a:ext cx="111912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INTRODUCTION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609866" y="813155"/>
            <a:ext cx="85532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導入　社会と金属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609866" y="1092169"/>
            <a:ext cx="2853686" cy="96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8"/>
              </a:lnSpc>
              <a:buNone/>
            </a:pPr>
            <a:r>
              <a:rPr lang="en-US" sz="34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Metals power</a:t>
            </a:r>
            <a:endParaRPr lang="en-US" sz="3400" dirty="0"/>
          </a:p>
          <a:p>
            <a:pPr algn="l" indent="0" marL="0">
              <a:lnSpc>
                <a:spcPts val="3808"/>
              </a:lnSpc>
              <a:buNone/>
            </a:pPr>
            <a:r>
              <a:rPr lang="en-US" sz="34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everyday life.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09866" y="2236177"/>
            <a:ext cx="219025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私たちの暮らしを支える金属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866" y="2445056"/>
            <a:ext cx="3960419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ビル、鉄道、車、スマートフォン——豊かな暮らしに、金属は欠かせない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169668" y="711511"/>
            <a:ext cx="2549706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WORLD OF RISING DEMAND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0603972" y="711511"/>
            <a:ext cx="3043456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人口増加と途上国の発展で、世界の需要は拡大している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8551947" y="1600899"/>
            <a:ext cx="76011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Demand shift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43212" y="1766135"/>
            <a:ext cx="777580" cy="228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人口増・電化による</a:t>
            </a:r>
            <a:endParaRPr lang="en-US" sz="580" dirty="0"/>
          </a:p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需要拡大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10837605" y="1600899"/>
            <a:ext cx="1016702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Supply constraints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96365" y="1766135"/>
            <a:ext cx="699182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供給制約の深刻化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13443385" y="1600899"/>
            <a:ext cx="63345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Geopolitics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329402" y="1766135"/>
            <a:ext cx="861218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地政学リスクの常態化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>
            <a:off x="8169668" y="2935681"/>
            <a:ext cx="3328874" cy="151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9"/>
              </a:lnSpc>
              <a:buNone/>
            </a:pPr>
            <a:r>
              <a:rPr lang="en-US" sz="82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社会が必要とする金属を、持続可能な形で届け続けるために——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169668" y="3546119"/>
            <a:ext cx="4328602" cy="106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Strength to Hold.</a:t>
            </a:r>
            <a:endParaRPr lang="en-US" sz="3800" dirty="0"/>
          </a:p>
          <a:p>
            <a:pPr algn="l" indent="0" marL="0">
              <a:lnSpc>
                <a:spcPts val="4180"/>
              </a:lnSpc>
              <a:buNone/>
            </a:pPr>
            <a:r>
              <a:rPr lang="en-US" sz="38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Power to Connect.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8169668" y="4917048"/>
            <a:ext cx="205530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コアメッセージ（英文主体・和文は確認用）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8169668" y="5122560"/>
            <a:ext cx="4580609" cy="86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78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Et enim adipiscing excepteur exercitation ex do consectetur amet ipsum exercitation aute </a:t>
            </a:r>
            <a:endParaRPr lang="en-US" sz="780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78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anim. aliqua proident occaecat sit labore consequat duis quis magna cupidatat tempor </a:t>
            </a:r>
            <a:endParaRPr lang="en-US" sz="780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78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sunt adipiscing. dolore ut est id ipsum culpa esse proident dolore proident magna </a:t>
            </a:r>
            <a:endParaRPr lang="en-US" sz="780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78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incididunt eiusmod. enim aliqua velit officia excepteur laborum qui qui deserunt quis </a:t>
            </a:r>
            <a:endParaRPr lang="en-US" sz="780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78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consectetur qui reprehenderit. minim cillum nostrud commodo et tempor et ex.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8169668" y="7115108"/>
            <a:ext cx="928696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CONTENTS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169668" y="7464510"/>
            <a:ext cx="26002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27068" y="7445452"/>
            <a:ext cx="781074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Who We Are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8627068" y="7610688"/>
            <a:ext cx="1198173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三菱商事 金属資源グループとは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13747405" y="7483569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P.04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8169668" y="7883794"/>
            <a:ext cx="26002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27068" y="7864735"/>
            <a:ext cx="89353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Our Strengths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8627068" y="8029971"/>
            <a:ext cx="861218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強み：世界の優良資産</a:t>
            </a:r>
            <a:endParaRPr lang="en-US" sz="580" dirty="0"/>
          </a:p>
        </p:txBody>
      </p:sp>
      <p:sp>
        <p:nvSpPr>
          <p:cNvPr id="43" name="Text 41"/>
          <p:cNvSpPr/>
          <p:nvPr/>
        </p:nvSpPr>
        <p:spPr>
          <a:xfrm>
            <a:off x="13747405" y="7902852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P.05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8169668" y="8303077"/>
            <a:ext cx="26002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27068" y="8284018"/>
            <a:ext cx="1709611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Metallurgical Coal &amp; Copper</a:t>
            </a:r>
            <a:endParaRPr lang="en-US" sz="940" dirty="0"/>
          </a:p>
        </p:txBody>
      </p:sp>
      <p:sp>
        <p:nvSpPr>
          <p:cNvPr id="46" name="Text 44"/>
          <p:cNvSpPr/>
          <p:nvPr/>
        </p:nvSpPr>
        <p:spPr>
          <a:xfrm>
            <a:off x="8627068" y="8449254"/>
            <a:ext cx="456129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原料炭と銅</a:t>
            </a:r>
            <a:endParaRPr lang="en-US" sz="580" dirty="0"/>
          </a:p>
        </p:txBody>
      </p:sp>
      <p:sp>
        <p:nvSpPr>
          <p:cNvPr id="47" name="Text 45"/>
          <p:cNvSpPr/>
          <p:nvPr/>
        </p:nvSpPr>
        <p:spPr>
          <a:xfrm>
            <a:off x="13747405" y="8322135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P.06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8169668" y="8722360"/>
            <a:ext cx="26002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627068" y="8703301"/>
            <a:ext cx="1522462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From Resources to Value</a:t>
            </a:r>
            <a:endParaRPr lang="en-US" sz="940" dirty="0"/>
          </a:p>
        </p:txBody>
      </p:sp>
      <p:sp>
        <p:nvSpPr>
          <p:cNvPr id="50" name="Text 48"/>
          <p:cNvSpPr/>
          <p:nvPr/>
        </p:nvSpPr>
        <p:spPr>
          <a:xfrm>
            <a:off x="8627068" y="8868537"/>
            <a:ext cx="618165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資源から価値へ</a:t>
            </a:r>
            <a:endParaRPr lang="en-US" sz="580" dirty="0"/>
          </a:p>
        </p:txBody>
      </p:sp>
      <p:sp>
        <p:nvSpPr>
          <p:cNvPr id="51" name="Text 49"/>
          <p:cNvSpPr/>
          <p:nvPr/>
        </p:nvSpPr>
        <p:spPr>
          <a:xfrm>
            <a:off x="13747405" y="8741418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P.08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8169668" y="9141643"/>
            <a:ext cx="26002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27068" y="9122585"/>
            <a:ext cx="1222631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Global Partnerships</a:t>
            </a:r>
            <a:endParaRPr lang="en-US" sz="940" dirty="0"/>
          </a:p>
        </p:txBody>
      </p:sp>
      <p:sp>
        <p:nvSpPr>
          <p:cNvPr id="54" name="Text 52"/>
          <p:cNvSpPr/>
          <p:nvPr/>
        </p:nvSpPr>
        <p:spPr>
          <a:xfrm>
            <a:off x="8627068" y="9287820"/>
            <a:ext cx="102150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パートナーシップと販売網</a:t>
            </a:r>
            <a:endParaRPr lang="en-US" sz="580" dirty="0"/>
          </a:p>
        </p:txBody>
      </p:sp>
      <p:sp>
        <p:nvSpPr>
          <p:cNvPr id="55" name="Text 53"/>
          <p:cNvSpPr/>
          <p:nvPr/>
        </p:nvSpPr>
        <p:spPr>
          <a:xfrm>
            <a:off x="13747405" y="9160701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P.09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8169668" y="9560926"/>
            <a:ext cx="26002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spc="-50" kern="0" dirty="0">
                <a:solidFill>
                  <a:srgbClr val="B38F4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06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627068" y="9541868"/>
            <a:ext cx="1411309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Integrated Value Chain</a:t>
            </a:r>
            <a:endParaRPr lang="en-US" sz="940" dirty="0"/>
          </a:p>
        </p:txBody>
      </p:sp>
      <p:sp>
        <p:nvSpPr>
          <p:cNvPr id="58" name="Text 56"/>
          <p:cNvSpPr/>
          <p:nvPr/>
        </p:nvSpPr>
        <p:spPr>
          <a:xfrm>
            <a:off x="8627068" y="9707103"/>
            <a:ext cx="1023253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川上から川下までをつなぐ</a:t>
            </a:r>
            <a:endParaRPr lang="en-US" sz="580" dirty="0"/>
          </a:p>
        </p:txBody>
      </p:sp>
      <p:sp>
        <p:nvSpPr>
          <p:cNvPr id="59" name="Text 57"/>
          <p:cNvSpPr/>
          <p:nvPr/>
        </p:nvSpPr>
        <p:spPr>
          <a:xfrm>
            <a:off x="13747405" y="9579984"/>
            <a:ext cx="3034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P.10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647983" y="10403304"/>
            <a:ext cx="6624614" cy="213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台割メモ｜動画01 OPENING と同じ入り。地球を中心に、暮らしを支える金属の場面（都市・電力・EV・鉄道・再エネ・スマホ・物流）を金の軌道上に並べる。鉄道・スマホは素材</a:t>
            </a:r>
            <a:endParaRPr lang="en-US" sz="56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待ち。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8207785" y="10403304"/>
            <a:ext cx="5391441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台割メモ｜外部環境（需要拡大・供給制約・地政学）を冒頭に置き、「だから私たちが必要」とコアメッセージにつなぐ。目次は動画と同じ6項目。</a:t>
            </a:r>
            <a:endParaRPr lang="en-US" sz="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7085" y="2030037"/>
            <a:ext cx="3525631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6D87A1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三菱商事 本社ビル・世界各地で働く社員の画像（MC様ご提供／動画02と共通素材）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4688348"/>
            <a:ext cx="122656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　WHO WE ARE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09866" y="4828109"/>
            <a:ext cx="101670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第1章　我々は何者か</a:t>
            </a:r>
            <a:endParaRPr lang="en-US" sz="660" dirty="0"/>
          </a:p>
        </p:txBody>
      </p:sp>
      <p:sp>
        <p:nvSpPr>
          <p:cNvPr id="5" name="Text 3"/>
          <p:cNvSpPr/>
          <p:nvPr/>
        </p:nvSpPr>
        <p:spPr>
          <a:xfrm>
            <a:off x="609866" y="5103819"/>
            <a:ext cx="2315388" cy="42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Who we are.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09866" y="5813980"/>
            <a:ext cx="2396406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三菱商事 金属資源グループとは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866" y="6022859"/>
            <a:ext cx="1611123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世界の金属業界を牽引する力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09866" y="6247697"/>
            <a:ext cx="4565322" cy="64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Magna consectetur est id sunt officia est aute culpa enim lorem anim aliqua. irure pariatur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deserunt enim qui occaecat commodo incididunt ullamco laboris reprehenderit aliqua laboris.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nisi eiusmod labore enim dolore sunt proident dolor consectetur dolor aliquip velit magna.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consequat duis esse ex nulla minim do fugiat incididunt amet ullamco.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609866" y="7083344"/>
            <a:ext cx="71861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866" y="7250231"/>
            <a:ext cx="974337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グループミッション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609866" y="7488460"/>
            <a:ext cx="2075610" cy="38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社会が必要とする良質な金属資源を、持続可能な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形で安定供給することで、より良い社会の実現に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寄与する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2769810" y="7083344"/>
            <a:ext cx="103788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WHEELS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69810" y="7250231"/>
            <a:ext cx="1076537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投資×トレーディング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2769810" y="7488460"/>
            <a:ext cx="2072771" cy="38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資源投資（鉄鋼原料本部・クリティカルミネラル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本部）と、トレーディング（金属資源トレーディ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ング本部）の両輪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4929753" y="7083344"/>
            <a:ext cx="79636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HERITAGE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29753" y="7250231"/>
            <a:ext cx="1083962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時代を先読みした変革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4929753" y="7488460"/>
            <a:ext cx="2068186" cy="25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トレーディングから投資へ、そしてグローバルな</a:t>
            </a:r>
            <a:endParaRPr lang="en-US" sz="660" dirty="0"/>
          </a:p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トレーダーへ。事業モデルを変え続けてきた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609866" y="8353848"/>
            <a:ext cx="2890374" cy="139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640" spc="10" kern="0" dirty="0">
                <a:solidFill>
                  <a:srgbClr val="9AA0A6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Guided by the Three Corporate Principles of Mitsubishi Corporation.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169668" y="673394"/>
            <a:ext cx="147878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OUR STRENGTHS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8169668" y="813155"/>
            <a:ext cx="8157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第2章　独自価値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8169668" y="1088866"/>
            <a:ext cx="2718730" cy="42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Our strengths.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169668" y="1778777"/>
            <a:ext cx="15351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強みは、原料炭と銅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69668" y="1987656"/>
            <a:ext cx="2811321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世界各地の優良資産から、資源を安定的に確保する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3123046" y="4701490"/>
            <a:ext cx="992025" cy="264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Metallurgical Coal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Queensland, Australia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109846" y="4948851"/>
            <a:ext cx="541951" cy="264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Copper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Chile · Peru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30701" y="3529006"/>
            <a:ext cx="436039" cy="264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Copper</a:t>
            </a:r>
            <a:endParaRPr lang="en-US" sz="80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USA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69668" y="6399229"/>
            <a:ext cx="330781" cy="45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2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169668" y="6939215"/>
            <a:ext cx="50679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PILLARS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8169668" y="7064810"/>
            <a:ext cx="929570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原料炭と銅、2つの柱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10329612" y="6399229"/>
            <a:ext cx="1018231" cy="45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5 / 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0329612" y="6939215"/>
            <a:ext cx="80596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TOP15 MINES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0329612" y="7064810"/>
            <a:ext cx="145258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銅の主要5鉱山すべてが世界Top15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12489555" y="6399229"/>
            <a:ext cx="890262" cy="45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60+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2489555" y="6939215"/>
            <a:ext cx="394547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2489555" y="7064810"/>
            <a:ext cx="78806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原料炭の炭鉱寿命</a:t>
            </a:r>
            <a:endParaRPr lang="en-US" sz="660" dirty="0"/>
          </a:p>
        </p:txBody>
      </p:sp>
      <p:sp>
        <p:nvSpPr>
          <p:cNvPr id="36" name="Text 34"/>
          <p:cNvSpPr/>
          <p:nvPr/>
        </p:nvSpPr>
        <p:spPr>
          <a:xfrm>
            <a:off x="8322135" y="7509504"/>
            <a:ext cx="78806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原料炭・銅の資産</a:t>
            </a:r>
            <a:endParaRPr lang="en-US" sz="660" dirty="0"/>
          </a:p>
        </p:txBody>
      </p:sp>
      <p:sp>
        <p:nvSpPr>
          <p:cNvPr id="37" name="Text 35"/>
          <p:cNvSpPr/>
          <p:nvPr/>
        </p:nvSpPr>
        <p:spPr>
          <a:xfrm>
            <a:off x="9846801" y="7509504"/>
            <a:ext cx="2835998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その他の資産・プロジェクト（鉄鉱石・ニッケル・リチウム ほか）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647983" y="10403304"/>
            <a:ext cx="5078726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台割メモ｜動画02 Who we are。第1章は1ページに軽く。ミッション・両輪・変革の3点だけ。写真枠は本社・社員（動画と素材共通化）。</a:t>
            </a:r>
            <a:endParaRPr lang="en-US" sz="560" dirty="0"/>
          </a:p>
        </p:txBody>
      </p:sp>
      <p:sp>
        <p:nvSpPr>
          <p:cNvPr id="41" name="Text 39"/>
          <p:cNvSpPr/>
          <p:nvPr/>
        </p:nvSpPr>
        <p:spPr>
          <a:xfrm>
            <a:off x="8207785" y="10403304"/>
            <a:ext cx="5244910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台割メモ｜動画03 Our Strengths。【強調】資産の大きさ。地図を大きく、原料炭・銅の拠点だけを光らせ、他は控えめに。数字3つで規模感。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673394"/>
            <a:ext cx="313539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E9D6A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OUR STRENGTHS｜METALLURGICAL COAL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1038043"/>
            <a:ext cx="3332805" cy="85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World-class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metallurgical coal.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866" y="2159943"/>
            <a:ext cx="875412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原料炭事業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866" y="2368823"/>
            <a:ext cx="2797563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E3E7EB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鉄の主原料“産業のコメ”を、世界最高品位で届ける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09866" y="5971608"/>
            <a:ext cx="4047551" cy="175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0"/>
              </a:lnSpc>
              <a:buNone/>
            </a:pPr>
            <a:r>
              <a:rPr lang="en-US" sz="15000" spc="-30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~50</a:t>
            </a:r>
            <a:pPr algn="l" indent="0" marL="0">
              <a:lnSpc>
                <a:spcPts val="138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%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609866" y="7775796"/>
            <a:ext cx="3399191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一級強粘炭の世界供給に占める BMA のシェア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866" y="8506365"/>
            <a:ext cx="1075882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~20%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866" y="8994068"/>
            <a:ext cx="1248836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DFE4E9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原料炭の海上輸出市場シェア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2769810" y="8506365"/>
            <a:ext cx="1368944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60+ yrs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69810" y="8994068"/>
            <a:ext cx="1525301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DFE4E9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炭鉱寿命。港湾・鉄道まで自社保有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5069514" y="8485846"/>
            <a:ext cx="56881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E9D6AC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OWNERSHIP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5069514" y="8605453"/>
            <a:ext cx="1751103" cy="4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三菱商事 →100%→ MDP</a:t>
            </a:r>
            <a:endParaRPr lang="en-US" sz="740" dirty="0"/>
          </a:p>
          <a:p>
            <a:pPr algn="l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MDP 50% ＋ BHP 50%</a:t>
            </a:r>
            <a:endParaRPr lang="en-US" sz="740" dirty="0"/>
          </a:p>
          <a:p>
            <a:pPr algn="l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BMA（BHP Mitsubishi Alliance）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8169668" y="673394"/>
            <a:ext cx="213457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E9D6A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OUR STRENGTHS｜COPPER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8169668" y="1038043"/>
            <a:ext cx="5939785" cy="85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The world's largest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non-operating copper producer.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169668" y="2159943"/>
            <a:ext cx="545664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銅事業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69668" y="2368823"/>
            <a:ext cx="3276463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E3E7EB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パートナーが多く、規模が大きく、“声がかかる存在”である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169668" y="5971608"/>
            <a:ext cx="4268985" cy="175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0"/>
              </a:lnSpc>
              <a:buNone/>
            </a:pPr>
            <a:r>
              <a:rPr lang="en-US" sz="15000" spc="-30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No.1</a:t>
            </a:r>
            <a:endParaRPr lang="en-US" sz="15000" dirty="0"/>
          </a:p>
        </p:txBody>
      </p:sp>
      <p:sp>
        <p:nvSpPr>
          <p:cNvPr id="19" name="Text 17"/>
          <p:cNvSpPr/>
          <p:nvPr/>
        </p:nvSpPr>
        <p:spPr>
          <a:xfrm>
            <a:off x="8169668" y="7775796"/>
            <a:ext cx="328869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ノンオペレーターとして世界最大の銅生産者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69668" y="8506365"/>
            <a:ext cx="851173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5 / 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69668" y="8994068"/>
            <a:ext cx="163689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DFE4E9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参画する主要5鉱山すべてが世界Top15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10329612" y="8506365"/>
            <a:ext cx="1602388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FFFFFF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Top 25%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0329612" y="8994068"/>
            <a:ext cx="1245998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DFE4E9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平均コストは世界の上位25%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2629316" y="8485846"/>
            <a:ext cx="690011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E9D6AC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PARTNERSHIPS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12629316" y="8605453"/>
            <a:ext cx="980670" cy="4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特定1社に偏らず、</a:t>
            </a:r>
            <a:endParaRPr lang="en-US" sz="740" dirty="0"/>
          </a:p>
          <a:p>
            <a:pPr algn="l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主要メジャーと協業</a:t>
            </a:r>
            <a:endParaRPr lang="en-US" sz="740" dirty="0"/>
          </a:p>
          <a:p>
            <a:pPr algn="l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チリ・ペルー・米国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647983" y="10403304"/>
            <a:ext cx="4819076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台割メモ｜動画04 Coking Coal。【強調】全面写真＋巨大数字（~50%）。“資産の大きさ”を1つの数字で伝える。出資構成は1行に。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8207785" y="10403304"/>
            <a:ext cx="4035322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台割メモ｜動画05 Copper。【強調】原料炭と同じ型で対に。No.1を最大に。金の軌道が2枚の写真をつなぐ。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673394"/>
            <a:ext cx="229420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FROM RESOURCES TO VALUE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813155"/>
            <a:ext cx="8157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第2章　独自価値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09866" y="1088866"/>
            <a:ext cx="2924659" cy="85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From resources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to value.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866" y="2225853"/>
            <a:ext cx="26866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資源は、届けてはじめて価値になる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866" y="2434733"/>
            <a:ext cx="4247148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確保し、精錬し、必要とする産業へ届ける。鉄鉱石から電池資源・アルミまで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609866" y="2659570"/>
            <a:ext cx="4912541" cy="485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Anim incididunt velit velit nisi magna tempor veniam laboris sint in ad velit. aute incididunt mollit ad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adipiscing culpa sit pariatur labore magna occaecat in voluptate. officia et elit minim id tempor aliqua </a:t>
            </a:r>
            <a:endParaRPr lang="en-US" sz="740" dirty="0"/>
          </a:p>
          <a:p>
            <a:pPr algn="l" indent="0" marL="0">
              <a:lnSpc>
                <a:spcPts val="1273"/>
              </a:lnSpc>
              <a:buNone/>
            </a:pPr>
            <a:r>
              <a:rPr lang="en-US" sz="740" spc="10" kern="0" dirty="0">
                <a:solidFill>
                  <a:srgbClr val="7B8188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aliquip ipsum dolor veniam nulla consectetur. mollit.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868553" y="5401050"/>
            <a:ext cx="448049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Iron Ore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29034" y="5539350"/>
            <a:ext cx="32728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鉄鉱石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2003774" y="5401050"/>
            <a:ext cx="337551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Nickel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962928" y="5539350"/>
            <a:ext cx="41944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ニッケル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3047704" y="5401050"/>
            <a:ext cx="409833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Lithium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3042900" y="5539350"/>
            <a:ext cx="41944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リチウム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4049060" y="5401050"/>
            <a:ext cx="56706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Aluminium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3846843" y="5539350"/>
            <a:ext cx="971498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アルミ・ボーキサイト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5182316" y="5401050"/>
            <a:ext cx="460497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Fertilizer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202843" y="5539350"/>
            <a:ext cx="41944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肥料資源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6261424" y="5401050"/>
            <a:ext cx="462025" cy="1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2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Recycled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282815" y="5539350"/>
            <a:ext cx="41944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二次資源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609866" y="6417494"/>
            <a:ext cx="160217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TECHNOLOGY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103960" y="6417494"/>
            <a:ext cx="4000164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加工技術・回収・リサイクルなど、業界のボトルネックに挑む技術へ投資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00450" y="6849482"/>
            <a:ext cx="96145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spc="1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COPPER｜STARTUP</a:t>
            </a:r>
            <a:endParaRPr lang="en-US" sz="540" dirty="0"/>
          </a:p>
        </p:txBody>
      </p:sp>
      <p:sp>
        <p:nvSpPr>
          <p:cNvPr id="23" name="Text 21"/>
          <p:cNvSpPr/>
          <p:nvPr/>
        </p:nvSpPr>
        <p:spPr>
          <a:xfrm>
            <a:off x="800450" y="6951127"/>
            <a:ext cx="43341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CiDRA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0450" y="7104483"/>
            <a:ext cx="810773" cy="125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浮遊選鉱の高度化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934982" y="6849482"/>
            <a:ext cx="961453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spc="1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COPPER｜STARTUP</a:t>
            </a:r>
            <a:endParaRPr lang="en-US" sz="540" dirty="0"/>
          </a:p>
        </p:txBody>
      </p:sp>
      <p:sp>
        <p:nvSpPr>
          <p:cNvPr id="26" name="Text 24"/>
          <p:cNvSpPr/>
          <p:nvPr/>
        </p:nvSpPr>
        <p:spPr>
          <a:xfrm>
            <a:off x="2934982" y="6951127"/>
            <a:ext cx="29212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Jetti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34982" y="7104483"/>
            <a:ext cx="1000761" cy="125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硫化鉱のリーチング化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069514" y="6849482"/>
            <a:ext cx="604189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40" spc="12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RECYCLING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5069514" y="6951127"/>
            <a:ext cx="619038" cy="16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DESCycle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69514" y="7104483"/>
            <a:ext cx="1095754" cy="125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銅スクラップの回収強化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8169668" y="673394"/>
            <a:ext cx="195506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GLOBAL PARTNERSHIPS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8169668" y="813155"/>
            <a:ext cx="81579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第2章　独自価値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8169668" y="1088866"/>
            <a:ext cx="3761478" cy="42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Global partnerships.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169668" y="1799026"/>
            <a:ext cx="366058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メジャーとのパートナーシップと、世界の販売網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69668" y="2007906"/>
            <a:ext cx="4962549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優良な鉱山、パートナーのメジャー企業、そして営業拠点。資源を流通させるネットワーク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169668" y="5066933"/>
            <a:ext cx="514873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15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169668" y="5505275"/>
            <a:ext cx="727135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INDUSTRIES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169668" y="5630869"/>
            <a:ext cx="23513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業界</a:t>
            </a:r>
            <a:endParaRPr lang="en-US" sz="660" dirty="0"/>
          </a:p>
        </p:txBody>
      </p:sp>
      <p:sp>
        <p:nvSpPr>
          <p:cNvPr id="39" name="Text 37"/>
          <p:cNvSpPr/>
          <p:nvPr/>
        </p:nvSpPr>
        <p:spPr>
          <a:xfrm>
            <a:off x="10266084" y="5066933"/>
            <a:ext cx="514873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50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10266084" y="5505275"/>
            <a:ext cx="688700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COUNTRIES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0266084" y="5630869"/>
            <a:ext cx="235132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カ国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2362500" y="5066933"/>
            <a:ext cx="1287707" cy="381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5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~1,000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12362500" y="5505275"/>
            <a:ext cx="718618" cy="101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spc="14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CUSTOMERS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2362500" y="5630869"/>
            <a:ext cx="511597" cy="129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3"/>
              </a:lnSpc>
              <a:buNone/>
            </a:pPr>
            <a:r>
              <a:rPr lang="en-US" sz="66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社の販売先</a:t>
            </a:r>
            <a:endParaRPr lang="en-US" sz="660" dirty="0"/>
          </a:p>
        </p:txBody>
      </p:sp>
      <p:sp>
        <p:nvSpPr>
          <p:cNvPr id="45" name="Text 43"/>
          <p:cNvSpPr/>
          <p:nvPr/>
        </p:nvSpPr>
        <p:spPr>
          <a:xfrm>
            <a:off x="8169668" y="6089730"/>
            <a:ext cx="1463501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JOINT VENTURES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9694334" y="6089730"/>
            <a:ext cx="1263031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業界最大手とのJV実績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8169668" y="6343841"/>
            <a:ext cx="404374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BHP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821390" y="6343841"/>
            <a:ext cx="772775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Rio Tinto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1473111" y="6343841"/>
            <a:ext cx="135453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3272C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Anglo American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69668" y="6725008"/>
            <a:ext cx="1223723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 HUB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9440223" y="6725008"/>
            <a:ext cx="3435442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RtM International・Japan・Bharat・Europe・Americas ほか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8169668" y="7029941"/>
            <a:ext cx="2360373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PARTNERS CHOOSE US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10393140" y="7029941"/>
            <a:ext cx="3184527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企業文化的親和性・JV経営力・健全な財務基盤・深い知見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620" dirty="0"/>
          </a:p>
        </p:txBody>
      </p:sp>
      <p:sp>
        <p:nvSpPr>
          <p:cNvPr id="55" name="Text 53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647983" y="10403304"/>
            <a:ext cx="5326365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台割メモ｜動画06 From Resources to Value。【軽め】その他資源は丸写真の帯、新技術は3つのチップだけ。主役の前の“間”として余白を多く。</a:t>
            </a:r>
            <a:endParaRPr lang="en-US" sz="560" dirty="0"/>
          </a:p>
        </p:txBody>
      </p:sp>
      <p:sp>
        <p:nvSpPr>
          <p:cNvPr id="57" name="Text 55"/>
          <p:cNvSpPr/>
          <p:nvPr/>
        </p:nvSpPr>
        <p:spPr>
          <a:xfrm>
            <a:off x="8207785" y="10403304"/>
            <a:ext cx="5539282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台割メモ｜動画07 Global Partnerships。地図上で鉱山（金）と販売拠点（青）を線でつなぎ、エビデンス数値（15×50×1,000）とJV実績を添える。</a:t>
            </a:r>
            <a:endParaRPr lang="en-US" sz="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866" y="673394"/>
            <a:ext cx="217868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22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INTEGRATED VALUE CHAIN</a:t>
            </a:r>
            <a:endParaRPr lang="en-US" sz="660" dirty="0"/>
          </a:p>
        </p:txBody>
      </p:sp>
      <p:sp>
        <p:nvSpPr>
          <p:cNvPr id="3" name="Text 1"/>
          <p:cNvSpPr/>
          <p:nvPr/>
        </p:nvSpPr>
        <p:spPr>
          <a:xfrm>
            <a:off x="609866" y="813155"/>
            <a:ext cx="1620077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60" spc="60" kern="0" dirty="0">
                <a:solidFill>
                  <a:srgbClr val="9AA0A6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第3章　川上から川下までをつなぐ</a:t>
            </a:r>
            <a:endParaRPr lang="en-US" sz="660" dirty="0"/>
          </a:p>
        </p:txBody>
      </p:sp>
      <p:sp>
        <p:nvSpPr>
          <p:cNvPr id="4" name="Text 2"/>
          <p:cNvSpPr/>
          <p:nvPr/>
        </p:nvSpPr>
        <p:spPr>
          <a:xfrm>
            <a:off x="609866" y="1081242"/>
            <a:ext cx="5645850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Integrated value chain.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866" y="1931244"/>
            <a:ext cx="5855055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80" kern="0" dirty="0">
                <a:solidFill>
                  <a:srgbClr val="23272C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採掘・製造・販売をつなぐトレーディング力こそが、総合商社 三菱商事の強み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866" y="2152828"/>
            <a:ext cx="6407329" cy="166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このネットワークを活かし、川上の鉱山から、製錬・製鉄、さらに製造業などの川下まで、資源を安定的に流通させる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716212" y="6297784"/>
            <a:ext cx="379042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963" y="6475534"/>
            <a:ext cx="793740" cy="140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鉱山・資源開発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280987" y="3316148"/>
            <a:ext cx="124949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spc="26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UPSTREAM　川上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26266" y="7043838"/>
            <a:ext cx="549376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04816" y="7221588"/>
            <a:ext cx="1192277" cy="140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4F7A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トレーディング（RtM）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7125153" y="7343808"/>
            <a:ext cx="869298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Smelt / Steel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69063" y="7521558"/>
            <a:ext cx="581477" cy="140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製錬・製鉄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6885594" y="3316148"/>
            <a:ext cx="1348416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spc="26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MIDSTREAM　川中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143763" y="7043838"/>
            <a:ext cx="549376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22313" y="7221588"/>
            <a:ext cx="1192277" cy="140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4F7A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トレーディング（RtM）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12928939" y="6297784"/>
            <a:ext cx="569467" cy="17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 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763836" y="6475534"/>
            <a:ext cx="899871" cy="140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最終製品・需要家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12461831" y="3316148"/>
            <a:ext cx="150368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spc="260" kern="0" dirty="0">
                <a:solidFill>
                  <a:srgbClr val="B38F4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DOWNSTREAM　川下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42769" y="4726464"/>
            <a:ext cx="1833867" cy="279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spc="180" kern="0" dirty="0">
                <a:solidFill>
                  <a:srgbClr val="B38F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INVESTMENT</a:t>
            </a:r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ctr" indent="0" marL="0">
              <a:lnSpc>
                <a:spcPts val="2200"/>
              </a:lnSpc>
              <a:buNone/>
            </a:pPr>
            <a:r>
              <a:rPr lang="en-US" sz="940" dirty="0">
                <a:solidFill>
                  <a:srgbClr val="B38F4F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資源投資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8616" y="4955164"/>
            <a:ext cx="2422174" cy="279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spc="180" kern="0" dirty="0">
                <a:solidFill>
                  <a:srgbClr val="4F7AA3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TRADING (RtM)</a:t>
            </a:r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pPr algn="ctr" indent="0" marL="0">
              <a:lnSpc>
                <a:spcPts val="2200"/>
              </a:lnSpc>
              <a:buNone/>
            </a:pPr>
            <a:r>
              <a:rPr lang="en-US" sz="940" dirty="0">
                <a:solidFill>
                  <a:srgbClr val="4F7AA3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トレーディング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771708" y="7103419"/>
            <a:ext cx="883929" cy="4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5D636A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Base Demand</a:t>
            </a:r>
            <a:endParaRPr lang="en-US" sz="740" dirty="0"/>
          </a:p>
          <a:p>
            <a:pPr algn="ctr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5D636A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Energy Transition</a:t>
            </a:r>
            <a:endParaRPr lang="en-US" sz="740" dirty="0"/>
          </a:p>
          <a:p>
            <a:pPr algn="ctr" indent="0" marL="0">
              <a:lnSpc>
                <a:spcPts val="1184"/>
              </a:lnSpc>
              <a:buNone/>
            </a:pPr>
            <a:r>
              <a:rPr lang="en-US" sz="740" dirty="0">
                <a:solidFill>
                  <a:srgbClr val="5D636A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AI &amp; Data Centers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609866" y="8131552"/>
            <a:ext cx="1413274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RtM FUNCTIONS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032888" y="8131552"/>
            <a:ext cx="1675763" cy="152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20" spc="40" kern="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お客様に提供できる5つの機能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13877" y="8525424"/>
            <a:ext cx="1211712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Marketing &amp; Procurement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991668" y="8639837"/>
            <a:ext cx="456129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販売・調達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2322872" y="8525424"/>
            <a:ext cx="436475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Logistics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434473" y="8639837"/>
            <a:ext cx="213076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物流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3621101" y="8525424"/>
            <a:ext cx="482771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Financing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3595551" y="8639837"/>
            <a:ext cx="533871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ファイナンス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>
            <a:off x="4756650" y="8525424"/>
            <a:ext cx="854230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Management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4955800" y="8639837"/>
            <a:ext cx="456129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リスク管理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6078672" y="8525424"/>
            <a:ext cx="853138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0" dirty="0">
                <a:solidFill>
                  <a:srgbClr val="2327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Carbon Reduction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358195" y="8639837"/>
            <a:ext cx="294094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脱炭素</a:t>
            </a:r>
            <a:endParaRPr lang="en-US" sz="580" dirty="0"/>
          </a:p>
        </p:txBody>
      </p:sp>
      <p:sp>
        <p:nvSpPr>
          <p:cNvPr id="35" name="Text 33"/>
          <p:cNvSpPr/>
          <p:nvPr/>
        </p:nvSpPr>
        <p:spPr>
          <a:xfrm>
            <a:off x="8296724" y="8131552"/>
            <a:ext cx="1620950" cy="139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20" spc="260" kern="0" dirty="0">
                <a:solidFill>
                  <a:srgbClr val="B38F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COMMITMENT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8296724" y="8353105"/>
            <a:ext cx="5206695" cy="46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“To contribute to a better society by providing a stable supply of high-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spc="-20" kern="0" dirty="0">
                <a:solidFill>
                  <a:srgbClr val="23272C"/>
                </a:solidFill>
                <a:latin typeface="Noto Sans ExtraLight" pitchFamily="34" charset="0"/>
                <a:ea typeface="Noto Sans ExtraLight" pitchFamily="34" charset="-122"/>
                <a:cs typeface="Noto Sans ExtraLight" pitchFamily="34" charset="-120"/>
              </a:rPr>
              <a:t>quality mineral resources that society needs, in a sustainable way.”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96724" y="9086183"/>
            <a:ext cx="2113608" cy="136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740" dirty="0">
                <a:solidFill>
                  <a:srgbClr val="23272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豊かな社会の実現に貢献することを目指して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8296724" y="9402170"/>
            <a:ext cx="4307420" cy="1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580" dirty="0">
                <a:solidFill>
                  <a:srgbClr val="5D636A"/>
                </a:solidFill>
                <a:latin typeface="Noto Sans JP Light" pitchFamily="34" charset="0"/>
                <a:ea typeface="Noto Sans JP Light" pitchFamily="34" charset="-122"/>
                <a:cs typeface="Noto Sans JP Light" pitchFamily="34" charset="-120"/>
              </a:rPr>
              <a:t>Mitsubishi Corporation　Mineral Resources Group｜2-3-1 Marunouchi, Chiyoda-ku, Tokyo｜www.mitsubishicorp.com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609866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14357271" y="10240673"/>
            <a:ext cx="194514" cy="1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0" spc="160" kern="0" dirty="0">
                <a:solidFill>
                  <a:srgbClr val="9AA0A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647983" y="10403304"/>
            <a:ext cx="6481796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台割メモ｜動画08 Integrated Value Chain。【強調】見開き全体を1枚の図に。投資（金）とトレーディング（青）の2つの輪の上に、川上→川中→川下の5段階を大きく並べる。</a:t>
            </a:r>
            <a:endParaRPr lang="en-US" sz="560" dirty="0"/>
          </a:p>
        </p:txBody>
      </p:sp>
      <p:sp>
        <p:nvSpPr>
          <p:cNvPr id="42" name="Text 40"/>
          <p:cNvSpPr/>
          <p:nvPr/>
        </p:nvSpPr>
        <p:spPr>
          <a:xfrm>
            <a:off x="8207785" y="10403304"/>
            <a:ext cx="4116340" cy="106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20" kern="0" dirty="0">
                <a:solidFill>
                  <a:srgbClr val="A3A8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台割メモ｜動画09 Closing と呼応。約束のステートメントと連絡先、冒頭の地球儀（日本側）で冊子を閉じる。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2026-10-07T08:14:57Z</dcterms:created>
  <dcterms:modified xsi:type="dcterms:W3CDTF">2026-10-07T08:14:57Z</dcterms:modified>
</cp:coreProperties>
</file>