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都市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7055" y="2960393"/>
            <a:ext cx="12160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鉄・銅・アルミ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70709" y="1156205"/>
            <a:ext cx="87956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モビリティ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70709" y="1346788"/>
            <a:ext cx="13846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鉄・銅・リチウム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30762" y="2273063"/>
            <a:ext cx="174193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鉄道の写真（ストック）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70709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鉄道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70709" y="2960393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7055" y="4675642"/>
            <a:ext cx="15244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再生可能エネルギー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7055" y="4866225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8882" y="4675642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送電網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8882" y="4866225"/>
            <a:ext cx="8863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銅・アルミ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07631" y="3921012"/>
            <a:ext cx="1588194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スマートフォン・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データセンターの写真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70709" y="4675642"/>
            <a:ext cx="71381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デバイス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70709" y="4866225"/>
            <a:ext cx="18939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銅・リチウム・ニッケル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37680" y="2947688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金属素材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37680" y="3138271"/>
            <a:ext cx="25571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暮らしを形づくる鉄・銅・アルミ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981333" y="3125565"/>
            <a:ext cx="8614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製錬・精製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37680" y="4853520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海上輸送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53828" y="4853520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銅地金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222" y="5590442"/>
            <a:ext cx="1266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コアメッセージ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222" y="5781025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私たちの存在意義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8222" y="5912527"/>
            <a:ext cx="5219797" cy="122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Strength to Hold.</a:t>
            </a:r>
            <a:endParaRPr lang="en-US" sz="46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Power to Connect.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508222" y="7359690"/>
            <a:ext cx="2217337" cy="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持つ力と、つなぐ力。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8222" y="7666529"/>
            <a:ext cx="4243872" cy="197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資源は、そこに「ある」だけでは、まだ価値ではありま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せん。誰かが見出し、育て、必要とする場所へ届けて、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はじめて力になる。私たちは、世界有数の資産に関わ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り、投資とトレーディングの両輪で川上から川下までを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つなぎます。フェアな立場だからこそ、埋められる隙間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がある。多様なパートナーと使い手の間に立ち、その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時々の最適解を導く。世界に眠る価値を、社会の力へ。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68024" y="5590442"/>
            <a:ext cx="39192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目次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8024" y="5781025"/>
            <a:ext cx="70486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Contents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68024" y="6193955"/>
            <a:ext cx="55854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135290" y="6244778"/>
            <a:ext cx="1266743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我々は何者か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35290" y="6520488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三菱商事とは／金属資源グループとは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9393" y="6276541"/>
            <a:ext cx="4476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68024" y="7108755"/>
            <a:ext cx="663369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135290" y="7159577"/>
            <a:ext cx="861436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独自価値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35290" y="7435288"/>
            <a:ext cx="481667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投資とトレーディングの両輪／原料炭・銅・トレーディング・新技術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179393" y="7191341"/>
            <a:ext cx="45045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8023555"/>
            <a:ext cx="653323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135290" y="8074377"/>
            <a:ext cx="1672050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35290" y="8350087"/>
            <a:ext cx="124556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Partner of Choice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179393" y="8106141"/>
            <a:ext cx="40131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68024" y="8938354"/>
            <a:ext cx="67559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135290" y="8989176"/>
            <a:ext cx="1469397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35290" y="9264887"/>
            <a:ext cx="158819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社会課題への取り組み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179393" y="9020940"/>
            <a:ext cx="36746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8222" y="10316906"/>
            <a:ext cx="28470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4458915" y="10316906"/>
            <a:ext cx="2823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887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11816161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508222" y="1727955"/>
            <a:ext cx="287203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我々は何者か｜三菱商事とは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8222" y="1945220"/>
            <a:ext cx="3119014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10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Who we are.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8222" y="2718988"/>
            <a:ext cx="4509200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三綱領を精神の根幹に、「総合力」で価値を生む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8222" y="3041709"/>
            <a:ext cx="4243872" cy="112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三菱商事は三綱領を企業理念とし、事業を通じて経済価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値・社会価値・環境価値の同時実現を目指しています。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幅広い産業と地域にまたがる事業と人のつながり＝「総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合力」が、三菱商事の強みです。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78931" y="3097295"/>
            <a:ext cx="2397716" cy="81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7つの営業グループのうち、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長年三菱商事を支えてきた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中核グループの一つ。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83746" y="8739433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23715" y="8970674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97054" y="9056079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37023" y="9287320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5120" y="8169271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5089" y="8400512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5120" y="6746845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5089" y="6978086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97054" y="5860038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37023" y="6091279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83746" y="6176684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23715" y="6407925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4852" y="7188165"/>
            <a:ext cx="917559" cy="49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</a:t>
            </a:r>
            <a:endParaRPr lang="en-US" sz="1500" dirty="0"/>
          </a:p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グループ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51214" y="7775796"/>
            <a:ext cx="10848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F3DCC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中核グループ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08620" y="7968921"/>
            <a:ext cx="117022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DCC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 ほか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2786" y="7038874"/>
            <a:ext cx="917559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30326" y="7331102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総合力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30326" y="7597919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8A9097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三綱領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8779" y="7788820"/>
            <a:ext cx="665771" cy="607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所期奉公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処事光明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立業貿易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8222" y="10052631"/>
            <a:ext cx="22031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※グループ名称は確認後に記載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68024" y="1727955"/>
            <a:ext cx="35647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我々は何者か｜金属資源グループとは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68024" y="1946490"/>
            <a:ext cx="5412624" cy="38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core that has carried us.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068024" y="2642754"/>
            <a:ext cx="3495932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三綱領を体現する中核グループとして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68024" y="2965475"/>
            <a:ext cx="7248516" cy="564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社会に不可欠な金属資源を世界から確保し、安定的に届けてきました。三綱領を事業で体現す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る中核グループとして、市況の波を越え、長年にわたり会社の屋台骨を支えています。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2135" y="3976837"/>
            <a:ext cx="319959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GROUP MISSION　グループミッション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2135" y="4219513"/>
            <a:ext cx="665475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社会が必要とする良質な金属資源を、持続可能な形で安定供給することで、よ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り良い社会の実現に寄与する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68024" y="5183864"/>
            <a:ext cx="1469397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これまでの変遷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67279" y="5211816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先見性をもって先手を打ってきた歩み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6530652"/>
            <a:ext cx="90707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事業の重心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68024" y="6773328"/>
            <a:ext cx="1323958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資源投資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トレーディング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80730" y="8027684"/>
            <a:ext cx="119205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1980〜90年代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80730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日本の産業に、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資源を。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80730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トレーディングで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参入し、少数出資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から事業に関わる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89401" y="8027684"/>
            <a:ext cx="80072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1990年代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389401" y="8586410"/>
            <a:ext cx="924547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仲介から、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担い手へ。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389401" y="9068586"/>
            <a:ext cx="1302775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投資モデルへ転換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し、JV運営の知見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を蓄える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698073" y="8027684"/>
            <a:ext cx="83828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2000年代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698073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一級資産に、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早くから。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698073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BHPと原料炭の合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弁を組成し、事業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経営に参画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006744" y="8027684"/>
            <a:ext cx="798325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2010年代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2006744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次の柱を、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先回りして。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006744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銅へ領域を広げ、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販売機能をRtMに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集約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3315416" y="8027684"/>
            <a:ext cx="1004473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2020年代〜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3315416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投資と販売を、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一つの力に。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315416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両輪を一体で動か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す、グローバルな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事業者へ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68024" y="10037384"/>
            <a:ext cx="7330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事業領域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906590" y="9999268"/>
            <a:ext cx="5724029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b="1" spc="30" kern="0" dirty="0">
                <a:solidFill>
                  <a:srgbClr val="A862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　銅</a:t>
            </a:r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　鉄鉱石　ニッケル　リチウム　アルミ　肥料資源　二次資源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4458915" y="10316906"/>
            <a:ext cx="28404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755980"/>
            <a:ext cx="3959109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508222" y="508222"/>
            <a:ext cx="376431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第2章　独自価値｜投資とトレーディングの両輪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8222" y="731331"/>
            <a:ext cx="3456624" cy="114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Two wheels,</a:t>
            </a:r>
            <a:endParaRPr lang="en-US" sz="4400" dirty="0"/>
          </a:p>
          <a:p>
            <a:pPr algn="l" indent="0" marL="0">
              <a:lnSpc>
                <a:spcPts val="4488"/>
              </a:lnSpc>
              <a:buNone/>
            </a:pPr>
            <a:r>
              <a:rPr lang="en-US" sz="4400" spc="-11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one flow.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8222" y="2134532"/>
            <a:ext cx="4509200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資源の流れ全体に関わり、互いを強め合ってきた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8222" y="2482664"/>
            <a:ext cx="4243872" cy="112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投資とトレーディングの両輪で、資源の流れ全体に関わ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る。互いを強め合いながら、長い時間をかけて積み重ね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てきたこと。それが、鉱山会社でも純粋なトレーダーで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もない、金属資源グループならではの強さです。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76246" y="508222"/>
            <a:ext cx="3090625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金属資源グループならではの強み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40369" y="971975"/>
            <a:ext cx="161321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32001" y="940211"/>
            <a:ext cx="1560460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持つ力・つなぐ力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32001" y="1158746"/>
            <a:ext cx="404798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資源に投資して育てる力と、市場へ届ける力の両方を持つ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42752" y="1531019"/>
            <a:ext cx="155861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32001" y="1499255"/>
            <a:ext cx="1371782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互いを強め合う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32001" y="1717790"/>
            <a:ext cx="327930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市場の情報を投資判断に、投資の資源を市場へ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34811" y="2090063"/>
            <a:ext cx="17355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32001" y="2058299"/>
            <a:ext cx="1937815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流れ全体を進化させる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32001" y="2276834"/>
            <a:ext cx="327930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業界の課題に挑む新技術へ投資し、両輪に還元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37788" y="2649107"/>
            <a:ext cx="16678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32001" y="2617343"/>
            <a:ext cx="1560460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長い時間をかけて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32001" y="2835879"/>
            <a:ext cx="312556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市況に左右されず関わり続け、先見性を培う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46325" y="3208151"/>
            <a:ext cx="14821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32001" y="3176387"/>
            <a:ext cx="2126492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その結果としての、いま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32001" y="3394923"/>
            <a:ext cx="268968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原料炭・銅・トレーディング　→ P.08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96721" y="6022431"/>
            <a:ext cx="861436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84913" y="6298776"/>
            <a:ext cx="973245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3E3D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資源に投資し</a:t>
            </a:r>
            <a:endParaRPr lang="en-US" sz="1100" dirty="0"/>
          </a:p>
          <a:p>
            <a:pPr algn="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3E3D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育てる力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6857" y="6021795"/>
            <a:ext cx="861436" cy="409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</a:t>
            </a:r>
            <a:endParaRPr lang="en-US" sz="1400" dirty="0"/>
          </a:p>
          <a:p>
            <a:pPr algn="l" indent="0" marL="0">
              <a:lnSpc>
                <a:spcPts val="1610"/>
              </a:lnSpc>
              <a:buNone/>
            </a:pPr>
            <a:r>
              <a:rPr lang="en-US" sz="14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ディング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6857" y="6502065"/>
            <a:ext cx="665771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FE3E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市場へ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FE3E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届ける力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11968" y="4436778"/>
            <a:ext cx="189566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投資で得た資源を、市場へ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11968" y="8045154"/>
            <a:ext cx="189566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市場の情報を、投資判断へ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09575" y="4097540"/>
            <a:ext cx="161321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23918" y="5088573"/>
            <a:ext cx="155861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5376" y="5488797"/>
            <a:ext cx="2077357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川上｜鉱山・資源開発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89352" y="5758155"/>
            <a:ext cx="204940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世界上位の優良鉱山を育てる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65028" y="8131552"/>
            <a:ext cx="1672050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川中｜製錬・製鉄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99482" y="8400909"/>
            <a:ext cx="22031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精鉱・原料を製錬所・製鉄所へ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565544" y="5488797"/>
            <a:ext cx="2280011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川下｜需要家・最終製品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680847" y="5758155"/>
            <a:ext cx="204940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電化・インフラ・モビリティ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78545" y="8131552"/>
            <a:ext cx="2280011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新技術｜ボトルネックへ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316980" y="8400909"/>
            <a:ext cx="22031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選鉱・浸出・リサイクルに投資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366504" y="7858382"/>
            <a:ext cx="17355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665017" y="5215628"/>
            <a:ext cx="14821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8222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4458915" y="10316906"/>
            <a:ext cx="27465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665" y="6606886"/>
            <a:ext cx="3658404" cy="243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0"/>
              </a:lnSpc>
              <a:buNone/>
            </a:pPr>
            <a:r>
              <a:rPr lang="en-US" sz="24000" spc="-96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11307939" y="6606886"/>
            <a:ext cx="3658404" cy="243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0"/>
              </a:lnSpc>
              <a:buNone/>
            </a:pPr>
            <a:r>
              <a:rPr lang="en-US" sz="24000" spc="-96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127055" y="1499255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原料炭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7055" y="1689838"/>
            <a:ext cx="38078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豪州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96570" y="1499255"/>
            <a:ext cx="21307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96570" y="1689838"/>
            <a:ext cx="38078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南米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66084" y="1677133"/>
            <a:ext cx="12073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8222" y="2109121"/>
            <a:ext cx="18037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1　原料炭事業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8222" y="2309615"/>
            <a:ext cx="2588140" cy="57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200" spc="-5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World-class</a:t>
            </a:r>
            <a:endParaRPr lang="en-US" sz="2200" dirty="0"/>
          </a:p>
          <a:p>
            <a:pPr algn="l" indent="0" marL="0">
              <a:lnSpc>
                <a:spcPts val="2244"/>
              </a:lnSpc>
              <a:buNone/>
            </a:pPr>
            <a:r>
              <a:rPr lang="en-US" sz="2200" spc="-5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metallurgical coal.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8222" y="3099360"/>
            <a:ext cx="4400011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鉄の主原料“産業のコメ”を、世界最高品位で届ける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222" y="3608376"/>
            <a:ext cx="76229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MARKET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48433" y="3562954"/>
            <a:ext cx="1406723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上位5社で約80%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48433" y="3776089"/>
            <a:ext cx="189566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寡占度が高く、供給は漸減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8222" y="4116598"/>
            <a:ext cx="61423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SCALE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48433" y="4071176"/>
            <a:ext cx="1140740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BMAで約50%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48433" y="4284311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一級強粘炭の世界供給に占めるシェア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8222" y="4624820"/>
            <a:ext cx="79854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QUALITY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48433" y="4579398"/>
            <a:ext cx="1166290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高品位に集約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48433" y="4792533"/>
            <a:ext cx="326095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7炭鉱から高品位の5炭鉱へ。港湾・鉄道も保有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222" y="5183864"/>
            <a:ext cx="7330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出資構成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8744" y="5444328"/>
            <a:ext cx="73849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4447" y="5927139"/>
            <a:ext cx="427085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MDP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87320" y="5927139"/>
            <a:ext cx="392582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BHP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10462" y="6384539"/>
            <a:ext cx="42512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30" kern="0" dirty="0">
                <a:solidFill>
                  <a:srgbClr val="1215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BMA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94322" y="5692086"/>
            <a:ext cx="46835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94322" y="6162192"/>
            <a:ext cx="39039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50%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47238" y="6162192"/>
            <a:ext cx="39039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50%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42754" y="5260098"/>
            <a:ext cx="160719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ボーエン・ベースン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42754" y="5453222"/>
            <a:ext cx="2024947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●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操業中　○ 売却　■ 港湾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73125" y="5730759"/>
            <a:ext cx="112698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ヘイポイント港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17366" y="6049787"/>
            <a:ext cx="1434457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グラッドストーン港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50681" y="2109121"/>
            <a:ext cx="148795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2　銅事業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50681" y="2310123"/>
            <a:ext cx="1388816" cy="933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800" spc="-4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partner</a:t>
            </a:r>
            <a:endParaRPr lang="en-US" sz="180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800" spc="-4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copper</a:t>
            </a:r>
            <a:endParaRPr lang="en-US" sz="180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800" spc="-4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industry</a:t>
            </a:r>
            <a:endParaRPr lang="en-US" sz="180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800" spc="-4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calls first.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50681" y="3472983"/>
            <a:ext cx="2126492" cy="49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日本最大の銅生産者とし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て、業界から声がかかる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50681" y="4269065"/>
            <a:ext cx="76229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MARKET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50681" y="4452342"/>
            <a:ext cx="1390344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上位5社で約25%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50681" y="4678183"/>
            <a:ext cx="189566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寡占化が進まず再編の機運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50681" y="5031398"/>
            <a:ext cx="61423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SCALE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50681" y="5214675"/>
            <a:ext cx="190986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持分生産量で日本最大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50681" y="5440516"/>
            <a:ext cx="158819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パートナー型の生産者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50681" y="5793731"/>
            <a:ext cx="79854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QUALITY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50681" y="5977008"/>
            <a:ext cx="191968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5鉱山すべて世界Top15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50681" y="6202849"/>
            <a:ext cx="184631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平均コストは世界上位25%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12269" y="2109121"/>
            <a:ext cx="90707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早期の参画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12269" y="2299704"/>
            <a:ext cx="164409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主要銅鉱山への参画年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12269" y="2642754"/>
            <a:ext cx="444555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3D424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1988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72957" y="2630049"/>
            <a:ext cx="916904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Escondida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372957" y="2823173"/>
            <a:ext cx="1252330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チリ｜1位｜8.25%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12269" y="3100154"/>
            <a:ext cx="433636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3D424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1997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372957" y="3087449"/>
            <a:ext cx="126456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Los Pelambres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372957" y="3280573"/>
            <a:ext cx="113659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チリ｜12位｜5%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712269" y="3557554"/>
            <a:ext cx="451107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3D424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1999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372957" y="3544848"/>
            <a:ext cx="855322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Antamina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372957" y="3737973"/>
            <a:ext cx="130321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ペルー｜4位｜10%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712269" y="4014954"/>
            <a:ext cx="415293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3D424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2011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372957" y="4002248"/>
            <a:ext cx="1690831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Anglo American Sur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372957" y="4195372"/>
            <a:ext cx="1408470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チリ｜10位｜20.44%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712269" y="4472353"/>
            <a:ext cx="415293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3D424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2011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372957" y="4459648"/>
            <a:ext cx="983072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Quellaveco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372957" y="4652772"/>
            <a:ext cx="137527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ペルー｜15位｜40%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712269" y="4929753"/>
            <a:ext cx="46814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3D424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2023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372957" y="4917048"/>
            <a:ext cx="86493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Marimaca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372957" y="5110172"/>
            <a:ext cx="131675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チリ｜開発中｜5%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712269" y="5387153"/>
            <a:ext cx="470105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3D424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2025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8372957" y="5374447"/>
            <a:ext cx="119315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Copper World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372957" y="5567572"/>
            <a:ext cx="1396677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米国｜開発中｜30%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712269" y="5917610"/>
            <a:ext cx="2203142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順位：鉱山別生産量の世界順位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右端：当社出資比率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393140" y="2109121"/>
            <a:ext cx="32452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PILLAR 3　トレーディング事業（RtM）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393140" y="2309615"/>
            <a:ext cx="2846480" cy="28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200" spc="-5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Resource to Market.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10393140" y="2805941"/>
            <a:ext cx="3447234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投資から販売までを、一気通貫でつなぐ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0393140" y="3324407"/>
            <a:ext cx="374020" cy="313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2600" spc="-78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15</a:t>
            </a:r>
            <a:endParaRPr lang="en-US" sz="2600" dirty="0"/>
          </a:p>
        </p:txBody>
      </p:sp>
      <p:sp>
        <p:nvSpPr>
          <p:cNvPr id="73" name="Text 71"/>
          <p:cNvSpPr/>
          <p:nvPr/>
        </p:nvSpPr>
        <p:spPr>
          <a:xfrm>
            <a:off x="10393140" y="3735432"/>
            <a:ext cx="109772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INDUSTRIES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393140" y="3928556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業界に販売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1841572" y="3324407"/>
            <a:ext cx="453945" cy="313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2600" spc="-78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50</a:t>
            </a:r>
            <a:endParaRPr lang="en-US" sz="2600" dirty="0"/>
          </a:p>
        </p:txBody>
      </p:sp>
      <p:sp>
        <p:nvSpPr>
          <p:cNvPr id="76" name="Text 74"/>
          <p:cNvSpPr/>
          <p:nvPr/>
        </p:nvSpPr>
        <p:spPr>
          <a:xfrm>
            <a:off x="11841572" y="3735432"/>
            <a:ext cx="106583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1841572" y="3928556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カ国に販売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3290005" y="3324407"/>
            <a:ext cx="1209529" cy="313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sz="2600" spc="-78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〜1,000</a:t>
            </a:r>
            <a:endParaRPr lang="en-US" sz="2600" dirty="0"/>
          </a:p>
        </p:txBody>
      </p:sp>
      <p:sp>
        <p:nvSpPr>
          <p:cNvPr id="79" name="Text 77"/>
          <p:cNvSpPr/>
          <p:nvPr/>
        </p:nvSpPr>
        <p:spPr>
          <a:xfrm>
            <a:off x="13290005" y="3735432"/>
            <a:ext cx="114379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3290005" y="3928556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社の販売先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10393140" y="4319887"/>
            <a:ext cx="215859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RtM事業のビジネスモデル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10633662" y="4656584"/>
            <a:ext cx="73849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保有資産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0461789" y="5113984"/>
            <a:ext cx="1082433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第三者の資源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12234888" y="4729045"/>
            <a:ext cx="534745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RtM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12092507" y="5023814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販売・物流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13546131" y="4885284"/>
            <a:ext cx="910571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世界の顧客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11155473" y="5656511"/>
            <a:ext cx="189566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市場の情報を、投資判断へ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10393140" y="6073253"/>
            <a:ext cx="124818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多様な取引機能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10723484" y="6368021"/>
            <a:ext cx="35829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物流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11790750" y="6368021"/>
            <a:ext cx="35829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在庫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2858016" y="6368021"/>
            <a:ext cx="51203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ヘッジ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3925282" y="6368021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リスク管理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508222" y="7089697"/>
            <a:ext cx="23492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NEW TECHNOLOGY　新技術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508222" y="7315601"/>
            <a:ext cx="1722714" cy="57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200" spc="-5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Investing in</a:t>
            </a:r>
            <a:endParaRPr lang="en-US" sz="2200" dirty="0"/>
          </a:p>
          <a:p>
            <a:pPr algn="l" indent="0" marL="0">
              <a:lnSpc>
                <a:spcPts val="2244"/>
              </a:lnSpc>
              <a:buNone/>
            </a:pPr>
            <a:r>
              <a:rPr lang="en-US" sz="2200" spc="-5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what's next.</a:t>
            </a:r>
            <a:endParaRPr lang="en-US" sz="2200" dirty="0"/>
          </a:p>
        </p:txBody>
      </p:sp>
      <p:sp>
        <p:nvSpPr>
          <p:cNvPr id="95" name="Text 93"/>
          <p:cNvSpPr/>
          <p:nvPr/>
        </p:nvSpPr>
        <p:spPr>
          <a:xfrm>
            <a:off x="508222" y="8102964"/>
            <a:ext cx="2315170" cy="49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業界のボトルネックに挑む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新技術へ投資する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508222" y="8708384"/>
            <a:ext cx="3209422" cy="112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課題を解く技術を持つスタートアップに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出資。トレーディングや業界とのつなが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りを生かして技術を現場へ届け、知見を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既存事業に還元しています。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3684609" y="7089697"/>
            <a:ext cx="38619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COPPER VALUE CHAIN　銅のバリューチェーン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3811665" y="7686857"/>
            <a:ext cx="98176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0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UPSTREAM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3811665" y="7915557"/>
            <a:ext cx="660748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Mining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3811665" y="8134093"/>
            <a:ext cx="35829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採掘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3811665" y="8419571"/>
            <a:ext cx="635853" cy="377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spc="3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鉱石</a:t>
            </a:r>
            <a:endParaRPr lang="en-US" sz="110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100" spc="3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Cu約1%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5666675" y="7686857"/>
            <a:ext cx="106714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0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MIDSTREAM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5666675" y="7915557"/>
            <a:ext cx="868861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Flotation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5666675" y="8134093"/>
            <a:ext cx="35829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選鉱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666675" y="8419571"/>
            <a:ext cx="959051" cy="377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spc="3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銅精鉱</a:t>
            </a:r>
            <a:endParaRPr lang="en-US" sz="110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100" spc="3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Cu20〜30%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7623330" y="7686857"/>
            <a:ext cx="106714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0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MIDSTREAM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7623330" y="7915557"/>
            <a:ext cx="863838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Smelting</a:t>
            </a:r>
            <a:endParaRPr lang="en-US" sz="1300" dirty="0"/>
          </a:p>
        </p:txBody>
      </p:sp>
      <p:sp>
        <p:nvSpPr>
          <p:cNvPr id="108" name="Text 106"/>
          <p:cNvSpPr/>
          <p:nvPr/>
        </p:nvSpPr>
        <p:spPr>
          <a:xfrm>
            <a:off x="7623330" y="8134093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製錬・精製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7623330" y="8419571"/>
            <a:ext cx="854448" cy="377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spc="3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銅地金</a:t>
            </a:r>
            <a:endParaRPr lang="en-US" sz="1100" dirty="0"/>
          </a:p>
          <a:p>
            <a:pPr algn="l" indent="0" marL="0">
              <a:lnSpc>
                <a:spcPts val="1485"/>
              </a:lnSpc>
              <a:buNone/>
            </a:pPr>
            <a:r>
              <a:rPr lang="en-US" sz="1100" spc="30" kern="0" dirty="0">
                <a:solidFill>
                  <a:srgbClr val="9C7442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Cu99.99%</a:t>
            </a:r>
            <a:endParaRPr lang="en-US" sz="1100" dirty="0"/>
          </a:p>
        </p:txBody>
      </p:sp>
      <p:sp>
        <p:nvSpPr>
          <p:cNvPr id="110" name="Text 108"/>
          <p:cNvSpPr/>
          <p:nvPr/>
        </p:nvSpPr>
        <p:spPr>
          <a:xfrm>
            <a:off x="5666675" y="9478340"/>
            <a:ext cx="875194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Leaching</a:t>
            </a:r>
            <a:endParaRPr lang="en-US" sz="1300" dirty="0"/>
          </a:p>
        </p:txBody>
      </p:sp>
      <p:sp>
        <p:nvSpPr>
          <p:cNvPr id="111" name="Text 109"/>
          <p:cNvSpPr/>
          <p:nvPr/>
        </p:nvSpPr>
        <p:spPr>
          <a:xfrm>
            <a:off x="5666675" y="9696875"/>
            <a:ext cx="255385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浸出（硫化鉱・酸化鉱）→ 電解採取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9681629" y="7686857"/>
            <a:ext cx="127547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0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DOWNSTREAM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9681629" y="7915557"/>
            <a:ext cx="778672" cy="228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spc="3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End Use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9681629" y="8134093"/>
            <a:ext cx="66577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最終用途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9668923" y="8536859"/>
            <a:ext cx="936558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— 基礎需要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9668923" y="8816381"/>
            <a:ext cx="1439698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— エネルギー転換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9668923" y="9095903"/>
            <a:ext cx="1755470" cy="24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— AI・データセンター</a:t>
            </a:r>
            <a:endParaRPr lang="en-US" sz="1200" dirty="0"/>
          </a:p>
        </p:txBody>
      </p:sp>
      <p:sp>
        <p:nvSpPr>
          <p:cNvPr id="118" name="Text 116"/>
          <p:cNvSpPr/>
          <p:nvPr/>
        </p:nvSpPr>
        <p:spPr>
          <a:xfrm>
            <a:off x="4396120" y="9112420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酸化鉱など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7082153" y="8315782"/>
            <a:ext cx="34672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RtM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9140452" y="8315782"/>
            <a:ext cx="34672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RtM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8436485" y="7130354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862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リサイクル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9334013" y="7134166"/>
            <a:ext cx="78762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A8622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DESCycle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6032158" y="9065410"/>
            <a:ext cx="53234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A8622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CiDRA</a:t>
            </a:r>
            <a:endParaRPr lang="en-US" sz="1100" dirty="0"/>
          </a:p>
        </p:txBody>
      </p:sp>
      <p:sp>
        <p:nvSpPr>
          <p:cNvPr id="124" name="Text 122"/>
          <p:cNvSpPr/>
          <p:nvPr/>
        </p:nvSpPr>
        <p:spPr>
          <a:xfrm>
            <a:off x="8260791" y="9497398"/>
            <a:ext cx="40917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A8622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Jetti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3938720" y="10128864"/>
            <a:ext cx="299759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RtMが販売を担う工程　</a:t>
            </a:r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出資先の技術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11866983" y="7191341"/>
            <a:ext cx="108112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取り組み事例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12856021" y="7492502"/>
            <a:ext cx="58824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spc="30" kern="0" dirty="0">
                <a:solidFill>
                  <a:srgbClr val="12151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JETTI</a:t>
            </a:r>
            <a:endParaRPr lang="en-US" sz="1400" dirty="0"/>
          </a:p>
        </p:txBody>
      </p:sp>
      <p:sp>
        <p:nvSpPr>
          <p:cNvPr id="128" name="Text 126"/>
          <p:cNvSpPr/>
          <p:nvPr/>
        </p:nvSpPr>
        <p:spPr>
          <a:xfrm>
            <a:off x="11971804" y="7723743"/>
            <a:ext cx="235687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銅生産の革新技術を持つ新興企業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12717997" y="8055318"/>
            <a:ext cx="864494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× 価値共創</a:t>
            </a:r>
            <a:endParaRPr lang="en-US" sz="1200" dirty="0"/>
          </a:p>
        </p:txBody>
      </p:sp>
      <p:sp>
        <p:nvSpPr>
          <p:cNvPr id="130" name="Text 128"/>
          <p:cNvSpPr/>
          <p:nvPr/>
        </p:nvSpPr>
        <p:spPr>
          <a:xfrm>
            <a:off x="12724995" y="8350127"/>
            <a:ext cx="850299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</a:t>
            </a:r>
            <a:endParaRPr lang="en-US" sz="1400" dirty="0"/>
          </a:p>
        </p:txBody>
      </p:sp>
      <p:sp>
        <p:nvSpPr>
          <p:cNvPr id="131" name="Text 129"/>
          <p:cNvSpPr/>
          <p:nvPr/>
        </p:nvSpPr>
        <p:spPr>
          <a:xfrm>
            <a:off x="12048673" y="8594073"/>
            <a:ext cx="22031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銅の資源開発とトレーディング</a:t>
            </a:r>
            <a:endParaRPr lang="en-US" sz="1100" dirty="0"/>
          </a:p>
        </p:txBody>
      </p:sp>
      <p:sp>
        <p:nvSpPr>
          <p:cNvPr id="132" name="Text 130"/>
          <p:cNvSpPr/>
          <p:nvPr/>
        </p:nvSpPr>
        <p:spPr>
          <a:xfrm>
            <a:off x="11866983" y="8987906"/>
            <a:ext cx="2873995" cy="1410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Jettiに出資参画し、事業拡大を支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援。同社技術による環境価値の高い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銅地金の販売や、低品位鉱に課題を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持つ鉱山への導入を共同で検討して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います。</a:t>
            </a:r>
            <a:endParaRPr lang="en-US" sz="1200" dirty="0"/>
          </a:p>
        </p:txBody>
      </p:sp>
      <p:sp>
        <p:nvSpPr>
          <p:cNvPr id="133" name="Text 131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134" name="Text 132"/>
          <p:cNvSpPr/>
          <p:nvPr/>
        </p:nvSpPr>
        <p:spPr>
          <a:xfrm>
            <a:off x="14458915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3633787"/>
            <a:ext cx="4484960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1816161" y="2286999"/>
            <a:ext cx="4652673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2947688"/>
            <a:ext cx="136959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パートナーシップ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37680" y="1804188"/>
            <a:ext cx="13586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社会を支える資源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3328854"/>
            <a:ext cx="49674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第3章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8222" y="3519437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8222" y="3781934"/>
            <a:ext cx="3845116" cy="44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spc="-8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Partner of choice.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8222" y="4503125"/>
            <a:ext cx="4013266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資源業界に不可欠な存在として、選ばれ続ける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222" y="4799799"/>
            <a:ext cx="355458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5622" y="4811234"/>
            <a:ext cx="127198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Cultural affinity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5622" y="5007217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資源メジャーとの文化的親和性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37076" y="4799799"/>
            <a:ext cx="418350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4476" y="4811234"/>
            <a:ext cx="12796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JV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4476" y="5007217"/>
            <a:ext cx="287355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資源投資に裏打ちされたJV経営力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8222" y="5358843"/>
            <a:ext cx="412454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5622" y="5370278"/>
            <a:ext cx="1449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Financial strength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5622" y="5566262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健全な財務基盤とリスクシェア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7076" y="5358843"/>
            <a:ext cx="425775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94476" y="5370278"/>
            <a:ext cx="102390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Deep insight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4476" y="5566262"/>
            <a:ext cx="2839273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マクロとバリューチェーンの知見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8222" y="6030967"/>
            <a:ext cx="9455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JVへの貢献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24666" y="6030967"/>
            <a:ext cx="196292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経営から現場まで伴走する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0689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現場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983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・長期目線での戦略策定と案件開発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・幅広い産業接点を生かした知見の提供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・人材派遣による操業支援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9543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76837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・中長期の事業計画・資本政策への参画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・販売戦略・人事計画への関与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・他JVのベストプラクティスの導入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0926" y="7992029"/>
            <a:ext cx="209570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「会社対会社」の関係へ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00862" y="7992029"/>
            <a:ext cx="98045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3327" y="7992029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強み・信頼の蓄積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1053" y="8663557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次の協業へ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8222" y="8996442"/>
            <a:ext cx="6088718" cy="28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新たな協業が生まれ、その積み重ねが、さらなる強み・知見・信頼につながる。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8222" y="9664754"/>
            <a:ext cx="146415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主なJVパートナー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3710" y="9593603"/>
            <a:ext cx="3798602" cy="19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600" spc="-48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BHP　　Rio Tinto　　Anglo American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68024" y="2185355"/>
            <a:ext cx="50133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第4章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2375938"/>
            <a:ext cx="116629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2639197"/>
            <a:ext cx="4093410" cy="72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Building the future</a:t>
            </a:r>
            <a:endParaRPr lang="en-US" sz="2800" dirty="0"/>
          </a:p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of resources, together.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068024" y="3644706"/>
            <a:ext cx="3069879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社会の「当たり前」を、支え続ける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68024" y="3978227"/>
            <a:ext cx="15890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外部環境と社会課題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72623" y="4762477"/>
            <a:ext cx="1166290" cy="44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</a:t>
            </a:r>
            <a:endParaRPr lang="en-US" sz="1300" dirty="0"/>
          </a:p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ミネラル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923034" y="427585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産業構造の転換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923034" y="4514401"/>
            <a:ext cx="3415133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脱炭素化とAI・データセンターで電力需要が拡大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923034" y="4784076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供給制約の深刻化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923034" y="5022623"/>
            <a:ext cx="343303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良質な資源の開発に、より時間とコストが必要に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923034" y="5292298"/>
            <a:ext cx="190986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地政学リスクの常態化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923034" y="5530845"/>
            <a:ext cx="281809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輸出規制など、資源の囲い込みが常態化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711898" y="5939289"/>
            <a:ext cx="525561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クリティカルミネラルの供給網確保が、これまで以上に重要に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068024" y="6468514"/>
            <a:ext cx="12553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当社の取り組み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13168" y="6468514"/>
            <a:ext cx="29187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資源の安定供給と効率化で社会を支える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17516" y="6752444"/>
            <a:ext cx="794395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07785" y="7154614"/>
            <a:ext cx="2399026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・基幹事業で大規模資産を拡大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・成長領域へ早い段階から参画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588430" y="675244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2057567" y="7154614"/>
            <a:ext cx="2566739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・引き取りと外部調達で安定供給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・国際取引基盤で業界網を構築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125406" y="7189554"/>
            <a:ext cx="428395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連携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89584" y="7905512"/>
            <a:ext cx="590004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「金属＝経済活動を支える礎」。社会に必要な資源を支えることが、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私たちの責務です。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322135" y="9097173"/>
            <a:ext cx="453147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グループミッション｜共に、持続可能で豊かな未来を築く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22135" y="9374154"/>
            <a:ext cx="6446419" cy="56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で、より良い社会の実現に寄与する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25915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22530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2026-10-14T03:09:58Z</dcterms:created>
  <dcterms:modified xsi:type="dcterms:W3CDTF">2026-10-14T03:09:58Z</dcterms:modified>
</cp:coreProperties>
</file>