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9604" cy="10692079"/>
  <p:notesSz cx="10692079" cy="151196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7055" y="2922276"/>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都市</a:t>
            </a:r>
            <a:endParaRPr lang="en-US" sz="580" dirty="0"/>
          </a:p>
        </p:txBody>
      </p:sp>
      <p:sp>
        <p:nvSpPr>
          <p:cNvPr id="3" name="Text 1"/>
          <p:cNvSpPr/>
          <p:nvPr/>
        </p:nvSpPr>
        <p:spPr>
          <a:xfrm>
            <a:off x="127055" y="3036626"/>
            <a:ext cx="702021"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鉄・銅・アルミ</a:t>
            </a:r>
            <a:endParaRPr lang="en-US" sz="580" dirty="0"/>
          </a:p>
        </p:txBody>
      </p:sp>
      <p:sp>
        <p:nvSpPr>
          <p:cNvPr id="4" name="Text 2"/>
          <p:cNvSpPr/>
          <p:nvPr/>
        </p:nvSpPr>
        <p:spPr>
          <a:xfrm>
            <a:off x="4370709" y="1308672"/>
            <a:ext cx="56335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モビリティ</a:t>
            </a:r>
            <a:endParaRPr lang="en-US" sz="580" dirty="0"/>
          </a:p>
        </p:txBody>
      </p:sp>
      <p:sp>
        <p:nvSpPr>
          <p:cNvPr id="5" name="Text 3"/>
          <p:cNvSpPr/>
          <p:nvPr/>
        </p:nvSpPr>
        <p:spPr>
          <a:xfrm>
            <a:off x="4370709" y="1423022"/>
            <a:ext cx="796142"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鉄・銅・リチウム</a:t>
            </a:r>
            <a:endParaRPr lang="en-US" sz="580" dirty="0"/>
          </a:p>
        </p:txBody>
      </p:sp>
      <p:sp>
        <p:nvSpPr>
          <p:cNvPr id="6" name="Text 4"/>
          <p:cNvSpPr/>
          <p:nvPr/>
        </p:nvSpPr>
        <p:spPr>
          <a:xfrm>
            <a:off x="5362258" y="2322328"/>
            <a:ext cx="1078939" cy="136203"/>
          </a:xfrm>
          <a:prstGeom prst="rect">
            <a:avLst/>
          </a:prstGeom>
          <a:noFill/>
          <a:ln/>
        </p:spPr>
        <p:txBody>
          <a:bodyPr wrap="none" lIns="0" tIns="0" rIns="0" bIns="0" rtlCol="0" anchor="t"/>
          <a:lstStyle/>
          <a:p>
            <a:pPr algn="ctr" indent="0" marL="0">
              <a:lnSpc>
                <a:spcPts val="1072"/>
              </a:lnSpc>
              <a:buNone/>
            </a:pPr>
            <a:r>
              <a:rPr lang="en-US" sz="670" dirty="0">
                <a:solidFill>
                  <a:srgbClr val="8A96A3"/>
                </a:solidFill>
                <a:latin typeface="Noto Sans JP" pitchFamily="34" charset="0"/>
                <a:ea typeface="Noto Sans JP" pitchFamily="34" charset="-122"/>
                <a:cs typeface="Noto Sans JP" pitchFamily="34" charset="-120"/>
              </a:rPr>
              <a:t>鉄道の写真（ストック）</a:t>
            </a:r>
            <a:endParaRPr lang="en-US" sz="670" dirty="0"/>
          </a:p>
        </p:txBody>
      </p:sp>
      <p:sp>
        <p:nvSpPr>
          <p:cNvPr id="7" name="Text 5"/>
          <p:cNvSpPr/>
          <p:nvPr/>
        </p:nvSpPr>
        <p:spPr>
          <a:xfrm>
            <a:off x="4370709" y="2922276"/>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Noto Sans JP Medium" pitchFamily="34" charset="0"/>
                <a:ea typeface="Noto Sans JP Medium" pitchFamily="34" charset="-122"/>
                <a:cs typeface="Noto Sans JP Medium" pitchFamily="34" charset="-120"/>
              </a:rPr>
              <a:t>鉄道</a:t>
            </a:r>
            <a:endParaRPr lang="en-US" sz="580" dirty="0"/>
          </a:p>
        </p:txBody>
      </p:sp>
      <p:sp>
        <p:nvSpPr>
          <p:cNvPr id="8" name="Text 6"/>
          <p:cNvSpPr/>
          <p:nvPr/>
        </p:nvSpPr>
        <p:spPr>
          <a:xfrm>
            <a:off x="4370709" y="3036626"/>
            <a:ext cx="327505"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Noto Sans JP" pitchFamily="34" charset="0"/>
                <a:ea typeface="Noto Sans JP" pitchFamily="34" charset="-122"/>
                <a:cs typeface="Noto Sans JP" pitchFamily="34" charset="-120"/>
              </a:rPr>
              <a:t>鉄・銅</a:t>
            </a:r>
            <a:endParaRPr lang="en-US" sz="580" dirty="0"/>
          </a:p>
        </p:txBody>
      </p:sp>
      <p:sp>
        <p:nvSpPr>
          <p:cNvPr id="9" name="Text 7"/>
          <p:cNvSpPr/>
          <p:nvPr/>
        </p:nvSpPr>
        <p:spPr>
          <a:xfrm>
            <a:off x="127055" y="4828109"/>
            <a:ext cx="96385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再生可能エネルギー</a:t>
            </a:r>
            <a:endParaRPr lang="en-US" sz="580" dirty="0"/>
          </a:p>
        </p:txBody>
      </p:sp>
      <p:sp>
        <p:nvSpPr>
          <p:cNvPr id="10" name="Text 8"/>
          <p:cNvSpPr/>
          <p:nvPr/>
        </p:nvSpPr>
        <p:spPr>
          <a:xfrm>
            <a:off x="127055" y="4942459"/>
            <a:ext cx="327505"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銅・鉄</a:t>
            </a:r>
            <a:endParaRPr lang="en-US" sz="580" dirty="0"/>
          </a:p>
        </p:txBody>
      </p:sp>
      <p:sp>
        <p:nvSpPr>
          <p:cNvPr id="11" name="Text 9"/>
          <p:cNvSpPr/>
          <p:nvPr/>
        </p:nvSpPr>
        <p:spPr>
          <a:xfrm>
            <a:off x="2248882" y="4828109"/>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送電網</a:t>
            </a:r>
            <a:endParaRPr lang="en-US" sz="580" dirty="0"/>
          </a:p>
        </p:txBody>
      </p:sp>
      <p:sp>
        <p:nvSpPr>
          <p:cNvPr id="12" name="Text 10"/>
          <p:cNvSpPr/>
          <p:nvPr/>
        </p:nvSpPr>
        <p:spPr>
          <a:xfrm>
            <a:off x="2248882" y="4942459"/>
            <a:ext cx="517711"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銅・アルミ</a:t>
            </a:r>
            <a:endParaRPr lang="en-US" sz="580" dirty="0"/>
          </a:p>
        </p:txBody>
      </p:sp>
      <p:sp>
        <p:nvSpPr>
          <p:cNvPr id="13" name="Text 11"/>
          <p:cNvSpPr/>
          <p:nvPr/>
        </p:nvSpPr>
        <p:spPr>
          <a:xfrm>
            <a:off x="4756054" y="4082047"/>
            <a:ext cx="2291148" cy="136203"/>
          </a:xfrm>
          <a:prstGeom prst="rect">
            <a:avLst/>
          </a:prstGeom>
          <a:noFill/>
          <a:ln/>
        </p:spPr>
        <p:txBody>
          <a:bodyPr wrap="none" lIns="0" tIns="0" rIns="0" bIns="0" rtlCol="0" anchor="t"/>
          <a:lstStyle/>
          <a:p>
            <a:pPr algn="ctr" indent="0" marL="0">
              <a:lnSpc>
                <a:spcPts val="1072"/>
              </a:lnSpc>
              <a:buNone/>
            </a:pPr>
            <a:r>
              <a:rPr lang="en-US" sz="670" dirty="0">
                <a:solidFill>
                  <a:srgbClr val="8A96A3"/>
                </a:solidFill>
                <a:latin typeface="Noto Sans JP" pitchFamily="34" charset="0"/>
                <a:ea typeface="Noto Sans JP" pitchFamily="34" charset="-122"/>
                <a:cs typeface="Noto Sans JP" pitchFamily="34" charset="-120"/>
              </a:rPr>
              <a:t>スマートフォン・データセンターの写真（ストック）</a:t>
            </a:r>
            <a:endParaRPr lang="en-US" sz="670" dirty="0"/>
          </a:p>
        </p:txBody>
      </p:sp>
      <p:sp>
        <p:nvSpPr>
          <p:cNvPr id="14" name="Text 12"/>
          <p:cNvSpPr/>
          <p:nvPr/>
        </p:nvSpPr>
        <p:spPr>
          <a:xfrm>
            <a:off x="4370709" y="4828109"/>
            <a:ext cx="46093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Noto Sans JP Medium" pitchFamily="34" charset="0"/>
                <a:ea typeface="Noto Sans JP Medium" pitchFamily="34" charset="-122"/>
                <a:cs typeface="Noto Sans JP Medium" pitchFamily="34" charset="-120"/>
              </a:rPr>
              <a:t>デバイス</a:t>
            </a:r>
            <a:endParaRPr lang="en-US" sz="580" dirty="0"/>
          </a:p>
        </p:txBody>
      </p:sp>
      <p:sp>
        <p:nvSpPr>
          <p:cNvPr id="15" name="Text 13"/>
          <p:cNvSpPr/>
          <p:nvPr/>
        </p:nvSpPr>
        <p:spPr>
          <a:xfrm>
            <a:off x="4370709" y="4942459"/>
            <a:ext cx="1080250"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Noto Sans JP" pitchFamily="34" charset="0"/>
                <a:ea typeface="Noto Sans JP" pitchFamily="34" charset="-122"/>
                <a:cs typeface="Noto Sans JP" pitchFamily="34" charset="-120"/>
              </a:rPr>
              <a:t>銅・リチウム・ニッケル</a:t>
            </a:r>
            <a:endParaRPr lang="en-US" sz="580" dirty="0"/>
          </a:p>
        </p:txBody>
      </p:sp>
      <p:sp>
        <p:nvSpPr>
          <p:cNvPr id="16" name="Text 14"/>
          <p:cNvSpPr/>
          <p:nvPr/>
        </p:nvSpPr>
        <p:spPr>
          <a:xfrm>
            <a:off x="7737680" y="3100154"/>
            <a:ext cx="45329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金属素材</a:t>
            </a:r>
            <a:endParaRPr lang="en-US" sz="580" dirty="0"/>
          </a:p>
        </p:txBody>
      </p:sp>
      <p:sp>
        <p:nvSpPr>
          <p:cNvPr id="17" name="Text 15"/>
          <p:cNvSpPr/>
          <p:nvPr/>
        </p:nvSpPr>
        <p:spPr>
          <a:xfrm>
            <a:off x="7737680" y="3214504"/>
            <a:ext cx="1451053"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暮らしを形づくる鉄・銅・アルミ</a:t>
            </a:r>
            <a:endParaRPr lang="en-US" sz="580" dirty="0"/>
          </a:p>
        </p:txBody>
      </p:sp>
      <p:sp>
        <p:nvSpPr>
          <p:cNvPr id="18" name="Text 16"/>
          <p:cNvSpPr/>
          <p:nvPr/>
        </p:nvSpPr>
        <p:spPr>
          <a:xfrm>
            <a:off x="11981333" y="3100154"/>
            <a:ext cx="55374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製錬・精製</a:t>
            </a:r>
            <a:endParaRPr lang="en-US" sz="580" dirty="0"/>
          </a:p>
        </p:txBody>
      </p:sp>
      <p:sp>
        <p:nvSpPr>
          <p:cNvPr id="19" name="Text 17"/>
          <p:cNvSpPr/>
          <p:nvPr/>
        </p:nvSpPr>
        <p:spPr>
          <a:xfrm>
            <a:off x="7737680" y="4828109"/>
            <a:ext cx="45329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海上輸送</a:t>
            </a:r>
            <a:endParaRPr lang="en-US" sz="580" dirty="0"/>
          </a:p>
        </p:txBody>
      </p:sp>
      <p:sp>
        <p:nvSpPr>
          <p:cNvPr id="20" name="Text 18"/>
          <p:cNvSpPr/>
          <p:nvPr/>
        </p:nvSpPr>
        <p:spPr>
          <a:xfrm>
            <a:off x="11053828" y="4828109"/>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銅地金</a:t>
            </a:r>
            <a:endParaRPr lang="en-US" sz="580" dirty="0"/>
          </a:p>
        </p:txBody>
      </p:sp>
      <p:sp>
        <p:nvSpPr>
          <p:cNvPr id="21" name="Text 19"/>
          <p:cNvSpPr/>
          <p:nvPr/>
        </p:nvSpPr>
        <p:spPr>
          <a:xfrm>
            <a:off x="508222" y="5565031"/>
            <a:ext cx="89484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コアメッセージ</a:t>
            </a:r>
            <a:endParaRPr lang="en-US" sz="660" dirty="0"/>
          </a:p>
        </p:txBody>
      </p:sp>
      <p:sp>
        <p:nvSpPr>
          <p:cNvPr id="22" name="Text 20"/>
          <p:cNvSpPr/>
          <p:nvPr/>
        </p:nvSpPr>
        <p:spPr>
          <a:xfrm>
            <a:off x="508222" y="5704792"/>
            <a:ext cx="85532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私たちの存在意義</a:t>
            </a:r>
            <a:endParaRPr lang="en-US" sz="660" dirty="0"/>
          </a:p>
        </p:txBody>
      </p:sp>
      <p:sp>
        <p:nvSpPr>
          <p:cNvPr id="23" name="Text 21"/>
          <p:cNvSpPr/>
          <p:nvPr/>
        </p:nvSpPr>
        <p:spPr>
          <a:xfrm>
            <a:off x="508222" y="5918880"/>
            <a:ext cx="5064750" cy="1227356"/>
          </a:xfrm>
          <a:prstGeom prst="rect">
            <a:avLst/>
          </a:prstGeom>
          <a:noFill/>
          <a:ln/>
        </p:spPr>
        <p:txBody>
          <a:bodyPr wrap="none" lIns="0" tIns="0" rIns="0" bIns="0" rtlCol="0" anchor="t"/>
          <a:lstStyle/>
          <a:p>
            <a:pPr algn="l" indent="0" marL="0">
              <a:lnSpc>
                <a:spcPts val="4830"/>
              </a:lnSpc>
              <a:buNone/>
            </a:pPr>
            <a:r>
              <a:rPr lang="en-US" sz="4600" spc="-92" kern="0" dirty="0">
                <a:solidFill>
                  <a:srgbClr val="121519"/>
                </a:solidFill>
                <a:latin typeface="Inter Tight Light" pitchFamily="34" charset="0"/>
                <a:ea typeface="Inter Tight Light" pitchFamily="34" charset="-122"/>
                <a:cs typeface="Inter Tight Light" pitchFamily="34" charset="-120"/>
              </a:rPr>
              <a:t>Strength to Hold.</a:t>
            </a:r>
            <a:endParaRPr lang="en-US" sz="4600" dirty="0"/>
          </a:p>
          <a:p>
            <a:pPr algn="l" indent="0" marL="0">
              <a:lnSpc>
                <a:spcPts val="4830"/>
              </a:lnSpc>
              <a:buNone/>
            </a:pPr>
            <a:r>
              <a:rPr lang="en-US" sz="4600" spc="-92" kern="0" dirty="0">
                <a:solidFill>
                  <a:srgbClr val="121519"/>
                </a:solidFill>
                <a:latin typeface="Inter Tight Light" pitchFamily="34" charset="0"/>
                <a:ea typeface="Inter Tight Light" pitchFamily="34" charset="-122"/>
                <a:cs typeface="Inter Tight Light" pitchFamily="34" charset="-120"/>
              </a:rPr>
              <a:t>Power to Connect.</a:t>
            </a:r>
            <a:endParaRPr lang="en-US" sz="4600" dirty="0"/>
          </a:p>
        </p:txBody>
      </p:sp>
      <p:sp>
        <p:nvSpPr>
          <p:cNvPr id="24" name="Text 22"/>
          <p:cNvSpPr/>
          <p:nvPr/>
        </p:nvSpPr>
        <p:spPr>
          <a:xfrm>
            <a:off x="508222" y="7359690"/>
            <a:ext cx="2208820" cy="285875"/>
          </a:xfrm>
          <a:prstGeom prst="rect">
            <a:avLst/>
          </a:prstGeom>
          <a:noFill/>
          <a:ln/>
        </p:spPr>
        <p:txBody>
          <a:bodyPr wrap="none" lIns="0" tIns="0" rIns="0" bIns="0" rtlCol="0" anchor="t"/>
          <a:lstStyle/>
          <a:p>
            <a:pPr algn="l" indent="0" marL="0">
              <a:lnSpc>
                <a:spcPts val="2250"/>
              </a:lnSpc>
              <a:buNone/>
            </a:pPr>
            <a:r>
              <a:rPr lang="en-US" sz="1500" spc="50" kern="0" dirty="0">
                <a:solidFill>
                  <a:srgbClr val="121519"/>
                </a:solidFill>
                <a:latin typeface="Noto Sans JP Medium" pitchFamily="34" charset="0"/>
                <a:ea typeface="Noto Sans JP Medium" pitchFamily="34" charset="-122"/>
                <a:cs typeface="Noto Sans JP Medium" pitchFamily="34" charset="-120"/>
              </a:rPr>
              <a:t>持つ力と、つなぐ力。</a:t>
            </a:r>
            <a:endParaRPr lang="en-US" sz="1500" dirty="0"/>
          </a:p>
        </p:txBody>
      </p:sp>
      <p:sp>
        <p:nvSpPr>
          <p:cNvPr id="25" name="Text 23"/>
          <p:cNvSpPr/>
          <p:nvPr/>
        </p:nvSpPr>
        <p:spPr>
          <a:xfrm>
            <a:off x="508222" y="7666243"/>
            <a:ext cx="4243654"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資源は、そこに「ある」だけでは、まだ価値ではありません。誰かが見出し、育て、</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必要とする場所へ届けて、はじめて力になる。私たちは、世界有数の資産に関わり、</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投資とトレーディングの両輪で川上から川下までをつなぎます。フェアな立場だから</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こそ、埋められる隙間がある。多様なパートナーと使い手の間に立ち、その時々の最</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適解を導く。世界に眠る価値を、社会の力へ。</a:t>
            </a:r>
            <a:endParaRPr lang="en-US" sz="770" dirty="0"/>
          </a:p>
        </p:txBody>
      </p:sp>
      <p:sp>
        <p:nvSpPr>
          <p:cNvPr id="26" name="Text 24"/>
          <p:cNvSpPr/>
          <p:nvPr/>
        </p:nvSpPr>
        <p:spPr>
          <a:xfrm>
            <a:off x="8068024" y="5565031"/>
            <a:ext cx="28841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目次</a:t>
            </a:r>
            <a:endParaRPr lang="en-US" sz="660" dirty="0"/>
          </a:p>
        </p:txBody>
      </p:sp>
      <p:sp>
        <p:nvSpPr>
          <p:cNvPr id="27" name="Text 25"/>
          <p:cNvSpPr/>
          <p:nvPr/>
        </p:nvSpPr>
        <p:spPr>
          <a:xfrm>
            <a:off x="8068024" y="5704792"/>
            <a:ext cx="505701"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Contents</a:t>
            </a:r>
            <a:endParaRPr lang="en-US" sz="660" dirty="0"/>
          </a:p>
        </p:txBody>
      </p:sp>
      <p:sp>
        <p:nvSpPr>
          <p:cNvPr id="28" name="Text 26"/>
          <p:cNvSpPr/>
          <p:nvPr/>
        </p:nvSpPr>
        <p:spPr>
          <a:xfrm>
            <a:off x="8068024" y="6041489"/>
            <a:ext cx="543917" cy="482811"/>
          </a:xfrm>
          <a:prstGeom prst="rect">
            <a:avLst/>
          </a:prstGeom>
          <a:noFill/>
          <a:ln/>
        </p:spPr>
        <p:txBody>
          <a:bodyPr wrap="none" lIns="0" tIns="0" rIns="0" bIns="0" rtlCol="0" anchor="t"/>
          <a:lstStyle/>
          <a:p>
            <a:pPr algn="l" indent="0" marL="0">
              <a:lnSpc>
                <a:spcPts val="3800"/>
              </a:lnSpc>
              <a:buNone/>
            </a:pPr>
            <a:r>
              <a:rPr lang="en-US" sz="4000" spc="-120" kern="0" dirty="0">
                <a:solidFill>
                  <a:srgbClr val="9C7442"/>
                </a:solidFill>
                <a:latin typeface="Inter Tight Light" pitchFamily="34" charset="0"/>
                <a:ea typeface="Inter Tight Light" pitchFamily="34" charset="-122"/>
                <a:cs typeface="Inter Tight Light" pitchFamily="34" charset="-120"/>
              </a:rPr>
              <a:t>01</a:t>
            </a:r>
            <a:endParaRPr lang="en-US" sz="4000" dirty="0"/>
          </a:p>
        </p:txBody>
      </p:sp>
      <p:sp>
        <p:nvSpPr>
          <p:cNvPr id="29" name="Text 27"/>
          <p:cNvSpPr/>
          <p:nvPr/>
        </p:nvSpPr>
        <p:spPr>
          <a:xfrm>
            <a:off x="9135290" y="6092311"/>
            <a:ext cx="1266743"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我々は何者か</a:t>
            </a:r>
            <a:endParaRPr lang="en-US" sz="1400" dirty="0"/>
          </a:p>
        </p:txBody>
      </p:sp>
      <p:sp>
        <p:nvSpPr>
          <p:cNvPr id="30" name="Text 28"/>
          <p:cNvSpPr/>
          <p:nvPr/>
        </p:nvSpPr>
        <p:spPr>
          <a:xfrm>
            <a:off x="9135290" y="6368530"/>
            <a:ext cx="1752631" cy="146368"/>
          </a:xfrm>
          <a:prstGeom prst="rect">
            <a:avLst/>
          </a:prstGeom>
          <a:noFill/>
          <a:ln/>
        </p:spPr>
        <p:txBody>
          <a:bodyPr wrap="none" lIns="0" tIns="0" rIns="0" bIns="0" rtlCol="0" anchor="t"/>
          <a:lstStyle/>
          <a:p>
            <a:pPr algn="l" indent="0" marL="0">
              <a:lnSpc>
                <a:spcPts val="1152"/>
              </a:lnSpc>
              <a:buNone/>
            </a:pPr>
            <a:r>
              <a:rPr lang="en-US" sz="720" dirty="0">
                <a:solidFill>
                  <a:srgbClr val="7D838A"/>
                </a:solidFill>
                <a:latin typeface="Noto Sans JP" pitchFamily="34" charset="0"/>
                <a:ea typeface="Noto Sans JP" pitchFamily="34" charset="-122"/>
                <a:cs typeface="Noto Sans JP" pitchFamily="34" charset="-120"/>
              </a:rPr>
              <a:t>三菱商事とは／金属資源グループとは</a:t>
            </a:r>
            <a:endParaRPr lang="en-US" sz="720" dirty="0"/>
          </a:p>
        </p:txBody>
      </p:sp>
      <p:sp>
        <p:nvSpPr>
          <p:cNvPr id="31" name="Text 29"/>
          <p:cNvSpPr/>
          <p:nvPr/>
        </p:nvSpPr>
        <p:spPr>
          <a:xfrm>
            <a:off x="14179393" y="6124075"/>
            <a:ext cx="32379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P.04</a:t>
            </a:r>
            <a:endParaRPr lang="en-US" sz="600" dirty="0"/>
          </a:p>
        </p:txBody>
      </p:sp>
      <p:sp>
        <p:nvSpPr>
          <p:cNvPr id="32" name="Text 30"/>
          <p:cNvSpPr/>
          <p:nvPr/>
        </p:nvSpPr>
        <p:spPr>
          <a:xfrm>
            <a:off x="8068024" y="6956288"/>
            <a:ext cx="667081" cy="482811"/>
          </a:xfrm>
          <a:prstGeom prst="rect">
            <a:avLst/>
          </a:prstGeom>
          <a:noFill/>
          <a:ln/>
        </p:spPr>
        <p:txBody>
          <a:bodyPr wrap="none" lIns="0" tIns="0" rIns="0" bIns="0" rtlCol="0" anchor="t"/>
          <a:lstStyle/>
          <a:p>
            <a:pPr algn="l" indent="0" marL="0">
              <a:lnSpc>
                <a:spcPts val="3800"/>
              </a:lnSpc>
              <a:buNone/>
            </a:pPr>
            <a:r>
              <a:rPr lang="en-US" sz="4000" spc="-120" kern="0" dirty="0">
                <a:solidFill>
                  <a:srgbClr val="9C7442"/>
                </a:solidFill>
                <a:latin typeface="Inter Tight Light" pitchFamily="34" charset="0"/>
                <a:ea typeface="Inter Tight Light" pitchFamily="34" charset="-122"/>
                <a:cs typeface="Inter Tight Light" pitchFamily="34" charset="-120"/>
              </a:rPr>
              <a:t>02</a:t>
            </a:r>
            <a:endParaRPr lang="en-US" sz="4000" dirty="0"/>
          </a:p>
        </p:txBody>
      </p:sp>
      <p:sp>
        <p:nvSpPr>
          <p:cNvPr id="33" name="Text 31"/>
          <p:cNvSpPr/>
          <p:nvPr/>
        </p:nvSpPr>
        <p:spPr>
          <a:xfrm>
            <a:off x="9135290" y="7007111"/>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独自価値</a:t>
            </a:r>
            <a:endParaRPr lang="en-US" sz="1400" dirty="0"/>
          </a:p>
        </p:txBody>
      </p:sp>
      <p:sp>
        <p:nvSpPr>
          <p:cNvPr id="34" name="Text 32"/>
          <p:cNvSpPr/>
          <p:nvPr/>
        </p:nvSpPr>
        <p:spPr>
          <a:xfrm>
            <a:off x="9135290" y="7283329"/>
            <a:ext cx="3150897" cy="146368"/>
          </a:xfrm>
          <a:prstGeom prst="rect">
            <a:avLst/>
          </a:prstGeom>
          <a:noFill/>
          <a:ln/>
        </p:spPr>
        <p:txBody>
          <a:bodyPr wrap="none" lIns="0" tIns="0" rIns="0" bIns="0" rtlCol="0" anchor="t"/>
          <a:lstStyle/>
          <a:p>
            <a:pPr algn="l" indent="0" marL="0">
              <a:lnSpc>
                <a:spcPts val="1152"/>
              </a:lnSpc>
              <a:buNone/>
            </a:pPr>
            <a:r>
              <a:rPr lang="en-US" sz="720" dirty="0">
                <a:solidFill>
                  <a:srgbClr val="7D838A"/>
                </a:solidFill>
                <a:latin typeface="Noto Sans JP" pitchFamily="34" charset="0"/>
                <a:ea typeface="Noto Sans JP" pitchFamily="34" charset="-122"/>
                <a:cs typeface="Noto Sans JP" pitchFamily="34" charset="-120"/>
              </a:rPr>
              <a:t>投資とトレーディングの両輪／原料炭・銅・トレーディング・新技術</a:t>
            </a:r>
            <a:endParaRPr lang="en-US" sz="720" dirty="0"/>
          </a:p>
        </p:txBody>
      </p:sp>
      <p:sp>
        <p:nvSpPr>
          <p:cNvPr id="35" name="Text 33"/>
          <p:cNvSpPr/>
          <p:nvPr/>
        </p:nvSpPr>
        <p:spPr>
          <a:xfrm>
            <a:off x="14179393" y="7038874"/>
            <a:ext cx="321391"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P.06</a:t>
            </a:r>
            <a:endParaRPr lang="en-US" sz="600" dirty="0"/>
          </a:p>
        </p:txBody>
      </p:sp>
      <p:sp>
        <p:nvSpPr>
          <p:cNvPr id="36" name="Text 34"/>
          <p:cNvSpPr/>
          <p:nvPr/>
        </p:nvSpPr>
        <p:spPr>
          <a:xfrm>
            <a:off x="8068024" y="7871088"/>
            <a:ext cx="677126" cy="482811"/>
          </a:xfrm>
          <a:prstGeom prst="rect">
            <a:avLst/>
          </a:prstGeom>
          <a:noFill/>
          <a:ln/>
        </p:spPr>
        <p:txBody>
          <a:bodyPr wrap="none" lIns="0" tIns="0" rIns="0" bIns="0" rtlCol="0" anchor="t"/>
          <a:lstStyle/>
          <a:p>
            <a:pPr algn="l" indent="0" marL="0">
              <a:lnSpc>
                <a:spcPts val="3800"/>
              </a:lnSpc>
              <a:buNone/>
            </a:pPr>
            <a:r>
              <a:rPr lang="en-US" sz="4000" spc="-120" kern="0" dirty="0">
                <a:solidFill>
                  <a:srgbClr val="9C7442"/>
                </a:solidFill>
                <a:latin typeface="Inter Tight Light" pitchFamily="34" charset="0"/>
                <a:ea typeface="Inter Tight Light" pitchFamily="34" charset="-122"/>
                <a:cs typeface="Inter Tight Light" pitchFamily="34" charset="-120"/>
              </a:rPr>
              <a:t>03</a:t>
            </a:r>
            <a:endParaRPr lang="en-US" sz="4000" dirty="0"/>
          </a:p>
        </p:txBody>
      </p:sp>
      <p:sp>
        <p:nvSpPr>
          <p:cNvPr id="37" name="Text 35"/>
          <p:cNvSpPr/>
          <p:nvPr/>
        </p:nvSpPr>
        <p:spPr>
          <a:xfrm>
            <a:off x="9135290" y="7921910"/>
            <a:ext cx="1672050"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選ばれ続ける理由</a:t>
            </a:r>
            <a:endParaRPr lang="en-US" sz="1400" dirty="0"/>
          </a:p>
        </p:txBody>
      </p:sp>
      <p:sp>
        <p:nvSpPr>
          <p:cNvPr id="38" name="Text 36"/>
          <p:cNvSpPr/>
          <p:nvPr/>
        </p:nvSpPr>
        <p:spPr>
          <a:xfrm>
            <a:off x="9135290" y="8198129"/>
            <a:ext cx="854448" cy="146368"/>
          </a:xfrm>
          <a:prstGeom prst="rect">
            <a:avLst/>
          </a:prstGeom>
          <a:noFill/>
          <a:ln/>
        </p:spPr>
        <p:txBody>
          <a:bodyPr wrap="none" lIns="0" tIns="0" rIns="0" bIns="0" rtlCol="0" anchor="t"/>
          <a:lstStyle/>
          <a:p>
            <a:pPr algn="l" indent="0" marL="0">
              <a:lnSpc>
                <a:spcPts val="1152"/>
              </a:lnSpc>
              <a:buNone/>
            </a:pPr>
            <a:r>
              <a:rPr lang="en-US" sz="720" dirty="0">
                <a:solidFill>
                  <a:srgbClr val="7D838A"/>
                </a:solidFill>
                <a:latin typeface="Noto Sans JP" pitchFamily="34" charset="0"/>
                <a:ea typeface="Noto Sans JP" pitchFamily="34" charset="-122"/>
                <a:cs typeface="Noto Sans JP" pitchFamily="34" charset="-120"/>
              </a:rPr>
              <a:t>Partner of Choice</a:t>
            </a:r>
            <a:endParaRPr lang="en-US" sz="720" dirty="0"/>
          </a:p>
        </p:txBody>
      </p:sp>
      <p:sp>
        <p:nvSpPr>
          <p:cNvPr id="39" name="Text 37"/>
          <p:cNvSpPr/>
          <p:nvPr/>
        </p:nvSpPr>
        <p:spPr>
          <a:xfrm>
            <a:off x="14179393" y="7953674"/>
            <a:ext cx="29824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P.10</a:t>
            </a:r>
            <a:endParaRPr lang="en-US" sz="600" dirty="0"/>
          </a:p>
        </p:txBody>
      </p:sp>
      <p:sp>
        <p:nvSpPr>
          <p:cNvPr id="40" name="Text 38"/>
          <p:cNvSpPr/>
          <p:nvPr/>
        </p:nvSpPr>
        <p:spPr>
          <a:xfrm>
            <a:off x="8068024" y="8785888"/>
            <a:ext cx="675598" cy="482811"/>
          </a:xfrm>
          <a:prstGeom prst="rect">
            <a:avLst/>
          </a:prstGeom>
          <a:noFill/>
          <a:ln/>
        </p:spPr>
        <p:txBody>
          <a:bodyPr wrap="none" lIns="0" tIns="0" rIns="0" bIns="0" rtlCol="0" anchor="t"/>
          <a:lstStyle/>
          <a:p>
            <a:pPr algn="l" indent="0" marL="0">
              <a:lnSpc>
                <a:spcPts val="3800"/>
              </a:lnSpc>
              <a:buNone/>
            </a:pPr>
            <a:r>
              <a:rPr lang="en-US" sz="4000" spc="-120" kern="0" dirty="0">
                <a:solidFill>
                  <a:srgbClr val="9C7442"/>
                </a:solidFill>
                <a:latin typeface="Inter Tight Light" pitchFamily="34" charset="0"/>
                <a:ea typeface="Inter Tight Light" pitchFamily="34" charset="-122"/>
                <a:cs typeface="Inter Tight Light" pitchFamily="34" charset="-120"/>
              </a:rPr>
              <a:t>04</a:t>
            </a:r>
            <a:endParaRPr lang="en-US" sz="4000" dirty="0"/>
          </a:p>
        </p:txBody>
      </p:sp>
      <p:sp>
        <p:nvSpPr>
          <p:cNvPr id="41" name="Text 39"/>
          <p:cNvSpPr/>
          <p:nvPr/>
        </p:nvSpPr>
        <p:spPr>
          <a:xfrm>
            <a:off x="9135290" y="8836710"/>
            <a:ext cx="1469397"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何を実現するか</a:t>
            </a:r>
            <a:endParaRPr lang="en-US" sz="1400" dirty="0"/>
          </a:p>
        </p:txBody>
      </p:sp>
      <p:sp>
        <p:nvSpPr>
          <p:cNvPr id="42" name="Text 40"/>
          <p:cNvSpPr/>
          <p:nvPr/>
        </p:nvSpPr>
        <p:spPr>
          <a:xfrm>
            <a:off x="9135290" y="9112928"/>
            <a:ext cx="1055573" cy="146368"/>
          </a:xfrm>
          <a:prstGeom prst="rect">
            <a:avLst/>
          </a:prstGeom>
          <a:noFill/>
          <a:ln/>
        </p:spPr>
        <p:txBody>
          <a:bodyPr wrap="none" lIns="0" tIns="0" rIns="0" bIns="0" rtlCol="0" anchor="t"/>
          <a:lstStyle/>
          <a:p>
            <a:pPr algn="l" indent="0" marL="0">
              <a:lnSpc>
                <a:spcPts val="1152"/>
              </a:lnSpc>
              <a:buNone/>
            </a:pPr>
            <a:r>
              <a:rPr lang="en-US" sz="720" dirty="0">
                <a:solidFill>
                  <a:srgbClr val="7D838A"/>
                </a:solidFill>
                <a:latin typeface="Noto Sans JP" pitchFamily="34" charset="0"/>
                <a:ea typeface="Noto Sans JP" pitchFamily="34" charset="-122"/>
                <a:cs typeface="Noto Sans JP" pitchFamily="34" charset="-120"/>
              </a:rPr>
              <a:t>社会課題への取り組み</a:t>
            </a:r>
            <a:endParaRPr lang="en-US" sz="720" dirty="0"/>
          </a:p>
        </p:txBody>
      </p:sp>
      <p:sp>
        <p:nvSpPr>
          <p:cNvPr id="43" name="Text 41"/>
          <p:cNvSpPr/>
          <p:nvPr/>
        </p:nvSpPr>
        <p:spPr>
          <a:xfrm>
            <a:off x="14179393" y="8868474"/>
            <a:ext cx="27902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P.11</a:t>
            </a:r>
            <a:endParaRPr lang="en-US" sz="600" dirty="0"/>
          </a:p>
        </p:txBody>
      </p:sp>
      <p:sp>
        <p:nvSpPr>
          <p:cNvPr id="44" name="Text 42"/>
          <p:cNvSpPr/>
          <p:nvPr/>
        </p:nvSpPr>
        <p:spPr>
          <a:xfrm>
            <a:off x="508222" y="10316906"/>
            <a:ext cx="20150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02</a:t>
            </a:r>
            <a:endParaRPr lang="en-US" sz="600" dirty="0"/>
          </a:p>
        </p:txBody>
      </p:sp>
      <p:sp>
        <p:nvSpPr>
          <p:cNvPr id="45" name="Text 43"/>
          <p:cNvSpPr/>
          <p:nvPr/>
        </p:nvSpPr>
        <p:spPr>
          <a:xfrm>
            <a:off x="14458915" y="10316906"/>
            <a:ext cx="20237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03</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539620" y="76233"/>
            <a:ext cx="1737345"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01</a:t>
            </a:r>
            <a:endParaRPr lang="en-US" sz="14000" dirty="0"/>
          </a:p>
        </p:txBody>
      </p:sp>
      <p:sp>
        <p:nvSpPr>
          <p:cNvPr id="3" name="Text 1"/>
          <p:cNvSpPr/>
          <p:nvPr/>
        </p:nvSpPr>
        <p:spPr>
          <a:xfrm>
            <a:off x="508222" y="508222"/>
            <a:ext cx="35392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第1章</a:t>
            </a:r>
            <a:endParaRPr lang="en-US" sz="660" dirty="0"/>
          </a:p>
        </p:txBody>
      </p:sp>
      <p:sp>
        <p:nvSpPr>
          <p:cNvPr id="4" name="Text 2"/>
          <p:cNvSpPr/>
          <p:nvPr/>
        </p:nvSpPr>
        <p:spPr>
          <a:xfrm>
            <a:off x="508222" y="647983"/>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我々は何者か｜三菱商事とは</a:t>
            </a:r>
            <a:endParaRPr lang="en-US" sz="660" dirty="0"/>
          </a:p>
        </p:txBody>
      </p:sp>
      <p:sp>
        <p:nvSpPr>
          <p:cNvPr id="5" name="Text 3"/>
          <p:cNvSpPr/>
          <p:nvPr/>
        </p:nvSpPr>
        <p:spPr>
          <a:xfrm>
            <a:off x="508222" y="883798"/>
            <a:ext cx="3320794" cy="570225"/>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Who we are.</a:t>
            </a:r>
            <a:endParaRPr lang="en-US" sz="4400" dirty="0"/>
          </a:p>
        </p:txBody>
      </p:sp>
      <p:sp>
        <p:nvSpPr>
          <p:cNvPr id="6" name="Text 4"/>
          <p:cNvSpPr/>
          <p:nvPr/>
        </p:nvSpPr>
        <p:spPr>
          <a:xfrm>
            <a:off x="508222" y="1731131"/>
            <a:ext cx="365534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三綱領を精神の根幹に、「総合力」で価値を生む</a:t>
            </a:r>
            <a:endParaRPr lang="en-US" sz="1150" dirty="0"/>
          </a:p>
        </p:txBody>
      </p:sp>
      <p:sp>
        <p:nvSpPr>
          <p:cNvPr id="7" name="Text 5"/>
          <p:cNvSpPr/>
          <p:nvPr/>
        </p:nvSpPr>
        <p:spPr>
          <a:xfrm>
            <a:off x="508222" y="1997979"/>
            <a:ext cx="3544848" cy="72396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三菱商事は、三綱領を企業理念とし、事業を通じて経済価値・社会価</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値・環境価値の同時実現を目指しています。エネルギー、金属、機</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械、化学品、食品、生活産業まで、幅広い産業と地域にまたがる事業</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と人のつながり。その「総合力」こそが、三菱商事の強みです。</a:t>
            </a:r>
            <a:endParaRPr lang="en-US" sz="770" dirty="0"/>
          </a:p>
        </p:txBody>
      </p:sp>
      <p:sp>
        <p:nvSpPr>
          <p:cNvPr id="8" name="Text 6"/>
          <p:cNvSpPr/>
          <p:nvPr/>
        </p:nvSpPr>
        <p:spPr>
          <a:xfrm>
            <a:off x="3253891" y="5495150"/>
            <a:ext cx="861436" cy="266817"/>
          </a:xfrm>
          <a:prstGeom prst="rect">
            <a:avLst/>
          </a:prstGeom>
          <a:noFill/>
          <a:ln/>
        </p:spPr>
        <p:txBody>
          <a:bodyPr wrap="none" lIns="0" tIns="0" rIns="0" bIns="0" rtlCol="0" anchor="t"/>
          <a:lstStyle/>
          <a:p>
            <a:pPr algn="ctr"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三菱商事</a:t>
            </a:r>
            <a:endParaRPr lang="en-US" sz="1400" dirty="0"/>
          </a:p>
        </p:txBody>
      </p:sp>
      <p:sp>
        <p:nvSpPr>
          <p:cNvPr id="9" name="Text 7"/>
          <p:cNvSpPr/>
          <p:nvPr/>
        </p:nvSpPr>
        <p:spPr>
          <a:xfrm>
            <a:off x="3481013" y="5781025"/>
            <a:ext cx="406994" cy="101644"/>
          </a:xfrm>
          <a:prstGeom prst="rect">
            <a:avLst/>
          </a:prstGeom>
          <a:noFill/>
          <a:ln/>
        </p:spPr>
        <p:txBody>
          <a:bodyPr wrap="none" lIns="0" tIns="0" rIns="0" bIns="0" rtlCol="0" anchor="t"/>
          <a:lstStyle/>
          <a:p>
            <a:pPr algn="ctr"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総合力</a:t>
            </a:r>
            <a:endParaRPr lang="en-US" sz="660" dirty="0"/>
          </a:p>
        </p:txBody>
      </p:sp>
      <p:sp>
        <p:nvSpPr>
          <p:cNvPr id="10" name="Text 8"/>
          <p:cNvSpPr/>
          <p:nvPr/>
        </p:nvSpPr>
        <p:spPr>
          <a:xfrm>
            <a:off x="3262190" y="5928918"/>
            <a:ext cx="844840" cy="136203"/>
          </a:xfrm>
          <a:prstGeom prst="rect">
            <a:avLst/>
          </a:prstGeom>
          <a:noFill/>
          <a:ln/>
        </p:spPr>
        <p:txBody>
          <a:bodyPr wrap="none" lIns="0" tIns="0" rIns="0" bIns="0" rtlCol="0" anchor="t"/>
          <a:lstStyle/>
          <a:p>
            <a:pPr algn="ctr"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7つの営業グループ</a:t>
            </a:r>
            <a:endParaRPr lang="en-US" sz="670" dirty="0"/>
          </a:p>
        </p:txBody>
      </p:sp>
      <p:sp>
        <p:nvSpPr>
          <p:cNvPr id="11" name="Text 9"/>
          <p:cNvSpPr/>
          <p:nvPr/>
        </p:nvSpPr>
        <p:spPr>
          <a:xfrm>
            <a:off x="5471357" y="5689799"/>
            <a:ext cx="237971" cy="187026"/>
          </a:xfrm>
          <a:prstGeom prst="rect">
            <a:avLst/>
          </a:prstGeom>
          <a:noFill/>
          <a:ln/>
        </p:spPr>
        <p:txBody>
          <a:bodyPr wrap="none" lIns="0" tIns="0" rIns="0" bIns="0" rtlCol="0" anchor="t"/>
          <a:lstStyle/>
          <a:p>
            <a:pPr algn="ctr" indent="0" marL="0">
              <a:lnSpc>
                <a:spcPts val="736"/>
              </a:lnSpc>
              <a:buNone/>
            </a:pPr>
            <a:r>
              <a:rPr lang="en-US" sz="640" spc="30" kern="0" dirty="0">
                <a:solidFill>
                  <a:srgbClr val="FFFFFF"/>
                </a:solidFill>
                <a:latin typeface="Noto Sans JP Medium" pitchFamily="34" charset="0"/>
                <a:ea typeface="Noto Sans JP Medium" pitchFamily="34" charset="-122"/>
                <a:cs typeface="Noto Sans JP Medium" pitchFamily="34" charset="-120"/>
              </a:rPr>
              <a:t>金属</a:t>
            </a:r>
            <a:endParaRPr lang="en-US" sz="640" dirty="0"/>
          </a:p>
          <a:p>
            <a:pPr algn="ctr" indent="0" marL="0">
              <a:lnSpc>
                <a:spcPts val="736"/>
              </a:lnSpc>
              <a:buNone/>
            </a:pPr>
            <a:r>
              <a:rPr lang="en-US" sz="640" spc="30" kern="0" dirty="0">
                <a:solidFill>
                  <a:srgbClr val="FFFFFF"/>
                </a:solidFill>
                <a:latin typeface="Noto Sans JP Medium" pitchFamily="34" charset="0"/>
                <a:ea typeface="Noto Sans JP Medium" pitchFamily="34" charset="-122"/>
                <a:cs typeface="Noto Sans JP Medium" pitchFamily="34" charset="-120"/>
              </a:rPr>
              <a:t>資源</a:t>
            </a:r>
            <a:endParaRPr lang="en-US" sz="640" dirty="0"/>
          </a:p>
        </p:txBody>
      </p:sp>
      <p:sp>
        <p:nvSpPr>
          <p:cNvPr id="12" name="Text 10"/>
          <p:cNvSpPr/>
          <p:nvPr/>
        </p:nvSpPr>
        <p:spPr>
          <a:xfrm>
            <a:off x="1614756" y="8139747"/>
            <a:ext cx="4139706" cy="322975"/>
          </a:xfrm>
          <a:prstGeom prst="rect">
            <a:avLst/>
          </a:prstGeom>
          <a:noFill/>
          <a:ln/>
        </p:spPr>
        <p:txBody>
          <a:bodyPr wrap="none" lIns="0" tIns="0" rIns="0" bIns="0" rtlCol="0" anchor="t"/>
          <a:lstStyle/>
          <a:p>
            <a:pPr algn="ctr"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金属資源グループは、7つの営業グループのうち、長年にわたり三菱商事を支</a:t>
            </a:r>
            <a:endParaRPr lang="en-US" sz="820" dirty="0"/>
          </a:p>
          <a:p>
            <a:pPr algn="ctr"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えてきた中核グループの一つです。</a:t>
            </a:r>
            <a:endParaRPr lang="en-US" sz="820" dirty="0"/>
          </a:p>
        </p:txBody>
      </p:sp>
      <p:sp>
        <p:nvSpPr>
          <p:cNvPr id="13" name="Text 11"/>
          <p:cNvSpPr/>
          <p:nvPr/>
        </p:nvSpPr>
        <p:spPr>
          <a:xfrm>
            <a:off x="508222" y="2998510"/>
            <a:ext cx="64873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総合力とは</a:t>
            </a:r>
            <a:endParaRPr lang="en-US" sz="660" dirty="0"/>
          </a:p>
        </p:txBody>
      </p:sp>
      <p:sp>
        <p:nvSpPr>
          <p:cNvPr id="14" name="Text 12"/>
          <p:cNvSpPr/>
          <p:nvPr/>
        </p:nvSpPr>
        <p:spPr>
          <a:xfrm>
            <a:off x="508222" y="3171813"/>
            <a:ext cx="3037996"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産業・地域・機能をまたぐ事業ポートフォリオと、そこから得られる知</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見・ネットワーク・信用。</a:t>
            </a:r>
            <a:endParaRPr lang="en-US" sz="670" dirty="0"/>
          </a:p>
        </p:txBody>
      </p:sp>
      <p:sp>
        <p:nvSpPr>
          <p:cNvPr id="15" name="Text 13"/>
          <p:cNvSpPr/>
          <p:nvPr/>
        </p:nvSpPr>
        <p:spPr>
          <a:xfrm>
            <a:off x="508222" y="9071762"/>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三綱領</a:t>
            </a:r>
            <a:endParaRPr lang="en-US" sz="660" dirty="0"/>
          </a:p>
        </p:txBody>
      </p:sp>
      <p:sp>
        <p:nvSpPr>
          <p:cNvPr id="16" name="Text 14"/>
          <p:cNvSpPr/>
          <p:nvPr/>
        </p:nvSpPr>
        <p:spPr>
          <a:xfrm>
            <a:off x="1270555" y="9071762"/>
            <a:ext cx="95577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三菱商事の企業理念</a:t>
            </a:r>
            <a:endParaRPr lang="en-US" sz="660" dirty="0"/>
          </a:p>
        </p:txBody>
      </p:sp>
      <p:sp>
        <p:nvSpPr>
          <p:cNvPr id="17" name="Text 15"/>
          <p:cNvSpPr/>
          <p:nvPr/>
        </p:nvSpPr>
        <p:spPr>
          <a:xfrm>
            <a:off x="508222" y="9297286"/>
            <a:ext cx="805750" cy="247758"/>
          </a:xfrm>
          <a:prstGeom prst="rect">
            <a:avLst/>
          </a:prstGeom>
          <a:noFill/>
          <a:ln/>
        </p:spPr>
        <p:txBody>
          <a:bodyPr wrap="none" lIns="0" tIns="0" rIns="0" bIns="0" rtlCol="0" anchor="t"/>
          <a:lstStyle/>
          <a:p>
            <a:pPr algn="l" indent="0" marL="0">
              <a:lnSpc>
                <a:spcPts val="1950"/>
              </a:lnSpc>
              <a:buNone/>
            </a:pPr>
            <a:r>
              <a:rPr lang="en-US" sz="1300" spc="50" kern="0" dirty="0">
                <a:solidFill>
                  <a:srgbClr val="121519"/>
                </a:solidFill>
                <a:latin typeface="Noto Sans JP Medium" pitchFamily="34" charset="0"/>
                <a:ea typeface="Noto Sans JP Medium" pitchFamily="34" charset="-122"/>
                <a:cs typeface="Noto Sans JP Medium" pitchFamily="34" charset="-120"/>
              </a:rPr>
              <a:t>所期奉公</a:t>
            </a:r>
            <a:endParaRPr lang="en-US" sz="1300" dirty="0"/>
          </a:p>
        </p:txBody>
      </p:sp>
      <p:sp>
        <p:nvSpPr>
          <p:cNvPr id="18" name="Text 16"/>
          <p:cNvSpPr/>
          <p:nvPr/>
        </p:nvSpPr>
        <p:spPr>
          <a:xfrm>
            <a:off x="508222" y="9529162"/>
            <a:ext cx="699838" cy="88939"/>
          </a:xfrm>
          <a:prstGeom prst="rect">
            <a:avLst/>
          </a:prstGeom>
          <a:noFill/>
          <a:ln/>
        </p:spPr>
        <p:txBody>
          <a:bodyPr wrap="none" lIns="0" tIns="0" rIns="0" bIns="0" rtlCol="0" anchor="t"/>
          <a:lstStyle/>
          <a:p>
            <a:pPr algn="l" indent="0" marL="0">
              <a:lnSpc>
                <a:spcPts val="700"/>
              </a:lnSpc>
              <a:buNone/>
            </a:pPr>
            <a:r>
              <a:rPr lang="en-US" sz="620" spc="30" kern="0" dirty="0">
                <a:solidFill>
                  <a:srgbClr val="9C7442"/>
                </a:solidFill>
                <a:latin typeface="Noto Sans JP Medium" pitchFamily="34" charset="0"/>
                <a:ea typeface="Noto Sans JP Medium" pitchFamily="34" charset="-122"/>
                <a:cs typeface="Noto Sans JP Medium" pitchFamily="34" charset="-120"/>
              </a:rPr>
              <a:t>しょきほうこう</a:t>
            </a:r>
            <a:endParaRPr lang="en-US" sz="620" dirty="0"/>
          </a:p>
        </p:txBody>
      </p:sp>
      <p:sp>
        <p:nvSpPr>
          <p:cNvPr id="19" name="Text 17"/>
          <p:cNvSpPr/>
          <p:nvPr/>
        </p:nvSpPr>
        <p:spPr>
          <a:xfrm>
            <a:off x="508222" y="9663079"/>
            <a:ext cx="2039797" cy="378117"/>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事業を通じ、物心共に豊かな社会の実現に努力する</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と同時に、かけがえのない地球環境の維持にも貢献</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する</a:t>
            </a:r>
            <a:endParaRPr lang="en-US" sz="620" dirty="0"/>
          </a:p>
        </p:txBody>
      </p:sp>
      <p:sp>
        <p:nvSpPr>
          <p:cNvPr id="20" name="Text 18"/>
          <p:cNvSpPr/>
          <p:nvPr/>
        </p:nvSpPr>
        <p:spPr>
          <a:xfrm>
            <a:off x="2541110" y="9297286"/>
            <a:ext cx="805750" cy="247758"/>
          </a:xfrm>
          <a:prstGeom prst="rect">
            <a:avLst/>
          </a:prstGeom>
          <a:noFill/>
          <a:ln/>
        </p:spPr>
        <p:txBody>
          <a:bodyPr wrap="none" lIns="0" tIns="0" rIns="0" bIns="0" rtlCol="0" anchor="t"/>
          <a:lstStyle/>
          <a:p>
            <a:pPr algn="l" indent="0" marL="0">
              <a:lnSpc>
                <a:spcPts val="1950"/>
              </a:lnSpc>
              <a:buNone/>
            </a:pPr>
            <a:r>
              <a:rPr lang="en-US" sz="1300" spc="50" kern="0" dirty="0">
                <a:solidFill>
                  <a:srgbClr val="121519"/>
                </a:solidFill>
                <a:latin typeface="Noto Sans JP Medium" pitchFamily="34" charset="0"/>
                <a:ea typeface="Noto Sans JP Medium" pitchFamily="34" charset="-122"/>
                <a:cs typeface="Noto Sans JP Medium" pitchFamily="34" charset="-120"/>
              </a:rPr>
              <a:t>処事光明</a:t>
            </a:r>
            <a:endParaRPr lang="en-US" sz="1300" dirty="0"/>
          </a:p>
        </p:txBody>
      </p:sp>
      <p:sp>
        <p:nvSpPr>
          <p:cNvPr id="21" name="Text 19"/>
          <p:cNvSpPr/>
          <p:nvPr/>
        </p:nvSpPr>
        <p:spPr>
          <a:xfrm>
            <a:off x="2541110" y="9529162"/>
            <a:ext cx="699838" cy="88939"/>
          </a:xfrm>
          <a:prstGeom prst="rect">
            <a:avLst/>
          </a:prstGeom>
          <a:noFill/>
          <a:ln/>
        </p:spPr>
        <p:txBody>
          <a:bodyPr wrap="none" lIns="0" tIns="0" rIns="0" bIns="0" rtlCol="0" anchor="t"/>
          <a:lstStyle/>
          <a:p>
            <a:pPr algn="l" indent="0" marL="0">
              <a:lnSpc>
                <a:spcPts val="700"/>
              </a:lnSpc>
              <a:buNone/>
            </a:pPr>
            <a:r>
              <a:rPr lang="en-US" sz="620" spc="30" kern="0" dirty="0">
                <a:solidFill>
                  <a:srgbClr val="9C7442"/>
                </a:solidFill>
                <a:latin typeface="Noto Sans JP Medium" pitchFamily="34" charset="0"/>
                <a:ea typeface="Noto Sans JP Medium" pitchFamily="34" charset="-122"/>
                <a:cs typeface="Noto Sans JP Medium" pitchFamily="34" charset="-120"/>
              </a:rPr>
              <a:t>しょじこうめい</a:t>
            </a:r>
            <a:endParaRPr lang="en-US" sz="620" dirty="0"/>
          </a:p>
        </p:txBody>
      </p:sp>
      <p:sp>
        <p:nvSpPr>
          <p:cNvPr id="22" name="Text 20"/>
          <p:cNvSpPr/>
          <p:nvPr/>
        </p:nvSpPr>
        <p:spPr>
          <a:xfrm>
            <a:off x="2541110" y="9663079"/>
            <a:ext cx="1953319"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公明正大で品格のある行動を旨とし、活動の公開</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性、透明性を堅持する</a:t>
            </a:r>
            <a:endParaRPr lang="en-US" sz="620" dirty="0"/>
          </a:p>
        </p:txBody>
      </p:sp>
      <p:sp>
        <p:nvSpPr>
          <p:cNvPr id="23" name="Text 21"/>
          <p:cNvSpPr/>
          <p:nvPr/>
        </p:nvSpPr>
        <p:spPr>
          <a:xfrm>
            <a:off x="4573998" y="9297286"/>
            <a:ext cx="805750" cy="247758"/>
          </a:xfrm>
          <a:prstGeom prst="rect">
            <a:avLst/>
          </a:prstGeom>
          <a:noFill/>
          <a:ln/>
        </p:spPr>
        <p:txBody>
          <a:bodyPr wrap="none" lIns="0" tIns="0" rIns="0" bIns="0" rtlCol="0" anchor="t"/>
          <a:lstStyle/>
          <a:p>
            <a:pPr algn="l" indent="0" marL="0">
              <a:lnSpc>
                <a:spcPts val="1950"/>
              </a:lnSpc>
              <a:buNone/>
            </a:pPr>
            <a:r>
              <a:rPr lang="en-US" sz="1300" spc="50" kern="0" dirty="0">
                <a:solidFill>
                  <a:srgbClr val="121519"/>
                </a:solidFill>
                <a:latin typeface="Noto Sans JP Medium" pitchFamily="34" charset="0"/>
                <a:ea typeface="Noto Sans JP Medium" pitchFamily="34" charset="-122"/>
                <a:cs typeface="Noto Sans JP Medium" pitchFamily="34" charset="-120"/>
              </a:rPr>
              <a:t>立業貿易</a:t>
            </a:r>
            <a:endParaRPr lang="en-US" sz="1300" dirty="0"/>
          </a:p>
        </p:txBody>
      </p:sp>
      <p:sp>
        <p:nvSpPr>
          <p:cNvPr id="24" name="Text 22"/>
          <p:cNvSpPr/>
          <p:nvPr/>
        </p:nvSpPr>
        <p:spPr>
          <a:xfrm>
            <a:off x="4573998" y="9529162"/>
            <a:ext cx="885239" cy="88939"/>
          </a:xfrm>
          <a:prstGeom prst="rect">
            <a:avLst/>
          </a:prstGeom>
          <a:noFill/>
          <a:ln/>
        </p:spPr>
        <p:txBody>
          <a:bodyPr wrap="none" lIns="0" tIns="0" rIns="0" bIns="0" rtlCol="0" anchor="t"/>
          <a:lstStyle/>
          <a:p>
            <a:pPr algn="l" indent="0" marL="0">
              <a:lnSpc>
                <a:spcPts val="700"/>
              </a:lnSpc>
              <a:buNone/>
            </a:pPr>
            <a:r>
              <a:rPr lang="en-US" sz="620" spc="30" kern="0" dirty="0">
                <a:solidFill>
                  <a:srgbClr val="9C7442"/>
                </a:solidFill>
                <a:latin typeface="Noto Sans JP Medium" pitchFamily="34" charset="0"/>
                <a:ea typeface="Noto Sans JP Medium" pitchFamily="34" charset="-122"/>
                <a:cs typeface="Noto Sans JP Medium" pitchFamily="34" charset="-120"/>
              </a:rPr>
              <a:t>りつぎょうぼうえき</a:t>
            </a:r>
            <a:endParaRPr lang="en-US" sz="620" dirty="0"/>
          </a:p>
        </p:txBody>
      </p:sp>
      <p:sp>
        <p:nvSpPr>
          <p:cNvPr id="25" name="Text 23"/>
          <p:cNvSpPr/>
          <p:nvPr/>
        </p:nvSpPr>
        <p:spPr>
          <a:xfrm>
            <a:off x="4573998" y="9663079"/>
            <a:ext cx="195331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全世界的、宇宙的視野に立脚した事業展開を図る</a:t>
            </a:r>
            <a:endParaRPr lang="en-US" sz="620" dirty="0"/>
          </a:p>
        </p:txBody>
      </p:sp>
      <p:sp>
        <p:nvSpPr>
          <p:cNvPr id="26" name="Text 24"/>
          <p:cNvSpPr/>
          <p:nvPr/>
        </p:nvSpPr>
        <p:spPr>
          <a:xfrm>
            <a:off x="8068024" y="508222"/>
            <a:ext cx="35392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第1章</a:t>
            </a:r>
            <a:endParaRPr lang="en-US" sz="660" dirty="0"/>
          </a:p>
        </p:txBody>
      </p:sp>
      <p:sp>
        <p:nvSpPr>
          <p:cNvPr id="27" name="Text 25"/>
          <p:cNvSpPr/>
          <p:nvPr/>
        </p:nvSpPr>
        <p:spPr>
          <a:xfrm>
            <a:off x="8068024" y="647983"/>
            <a:ext cx="175459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我々は何者か｜金属資源グループとは</a:t>
            </a:r>
            <a:endParaRPr lang="en-US" sz="660" dirty="0"/>
          </a:p>
        </p:txBody>
      </p:sp>
      <p:sp>
        <p:nvSpPr>
          <p:cNvPr id="28" name="Text 26"/>
          <p:cNvSpPr/>
          <p:nvPr/>
        </p:nvSpPr>
        <p:spPr>
          <a:xfrm>
            <a:off x="8068024" y="878716"/>
            <a:ext cx="3569307" cy="881257"/>
          </a:xfrm>
          <a:prstGeom prst="rect">
            <a:avLst/>
          </a:prstGeom>
          <a:noFill/>
          <a:ln/>
        </p:spPr>
        <p:txBody>
          <a:bodyPr wrap="none" lIns="0" tIns="0" rIns="0" bIns="0" rtlCol="0" anchor="t"/>
          <a:lstStyle/>
          <a:p>
            <a:pPr algn="l" indent="0" marL="0">
              <a:lnSpc>
                <a:spcPts val="3468"/>
              </a:lnSpc>
              <a:buNone/>
            </a:pPr>
            <a:r>
              <a:rPr lang="en-US" sz="3400" spc="-85" kern="0" dirty="0">
                <a:solidFill>
                  <a:srgbClr val="121519"/>
                </a:solidFill>
                <a:latin typeface="Inter Tight SemiBold" pitchFamily="34" charset="0"/>
                <a:ea typeface="Inter Tight SemiBold" pitchFamily="34" charset="-122"/>
                <a:cs typeface="Inter Tight SemiBold" pitchFamily="34" charset="-120"/>
              </a:rPr>
              <a:t>The core that has</a:t>
            </a:r>
            <a:endParaRPr lang="en-US" sz="3400" dirty="0"/>
          </a:p>
          <a:p>
            <a:pPr algn="l" indent="0" marL="0">
              <a:lnSpc>
                <a:spcPts val="3468"/>
              </a:lnSpc>
              <a:buNone/>
            </a:pPr>
            <a:r>
              <a:rPr lang="en-US" sz="3400" spc="-85" kern="0" dirty="0">
                <a:solidFill>
                  <a:srgbClr val="121519"/>
                </a:solidFill>
                <a:latin typeface="Inter Tight SemiBold" pitchFamily="34" charset="0"/>
                <a:ea typeface="Inter Tight SemiBold" pitchFamily="34" charset="-122"/>
                <a:cs typeface="Inter Tight SemiBold" pitchFamily="34" charset="-120"/>
              </a:rPr>
              <a:t>carried us.</a:t>
            </a:r>
            <a:endParaRPr lang="en-US" sz="3400" dirty="0"/>
          </a:p>
        </p:txBody>
      </p:sp>
      <p:sp>
        <p:nvSpPr>
          <p:cNvPr id="29" name="Text 27"/>
          <p:cNvSpPr/>
          <p:nvPr/>
        </p:nvSpPr>
        <p:spPr>
          <a:xfrm>
            <a:off x="8068024" y="2042219"/>
            <a:ext cx="2887535"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三綱領を体現する中核グループとして</a:t>
            </a:r>
            <a:endParaRPr lang="en-US" sz="1150" dirty="0"/>
          </a:p>
        </p:txBody>
      </p:sp>
      <p:sp>
        <p:nvSpPr>
          <p:cNvPr id="30" name="Text 28"/>
          <p:cNvSpPr/>
          <p:nvPr/>
        </p:nvSpPr>
        <p:spPr>
          <a:xfrm>
            <a:off x="8068024" y="2309067"/>
            <a:ext cx="7248516" cy="361981"/>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金属資源グループは、社会に不可欠な金属資源を世界から確保し、安定的に届ける役割を担ってきました。三綱領を事業で体現する中核グループ</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として、長年にわたり会社の屋台骨を支えています。</a:t>
            </a:r>
            <a:endParaRPr lang="en-US" sz="770" dirty="0"/>
          </a:p>
        </p:txBody>
      </p:sp>
      <p:sp>
        <p:nvSpPr>
          <p:cNvPr id="31" name="Text 29"/>
          <p:cNvSpPr/>
          <p:nvPr/>
        </p:nvSpPr>
        <p:spPr>
          <a:xfrm>
            <a:off x="8271313" y="3079309"/>
            <a:ext cx="113659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Noto Sans JP Medium" pitchFamily="34" charset="0"/>
                <a:ea typeface="Noto Sans JP Medium" pitchFamily="34" charset="-122"/>
                <a:cs typeface="Noto Sans JP Medium" pitchFamily="34" charset="-120"/>
              </a:rPr>
              <a:t>グループミッション</a:t>
            </a:r>
            <a:endParaRPr lang="en-US" sz="660" dirty="0"/>
          </a:p>
        </p:txBody>
      </p:sp>
      <p:sp>
        <p:nvSpPr>
          <p:cNvPr id="32" name="Text 30"/>
          <p:cNvSpPr/>
          <p:nvPr/>
        </p:nvSpPr>
        <p:spPr>
          <a:xfrm>
            <a:off x="8271313" y="3274498"/>
            <a:ext cx="6674622" cy="413566"/>
          </a:xfrm>
          <a:prstGeom prst="rect">
            <a:avLst/>
          </a:prstGeom>
          <a:noFill/>
          <a:ln/>
        </p:spPr>
        <p:txBody>
          <a:bodyPr wrap="none" lIns="0" tIns="0" rIns="0" bIns="0" rtlCol="0" anchor="t"/>
          <a:lstStyle/>
          <a:p>
            <a:pPr algn="l" indent="0" marL="0">
              <a:lnSpc>
                <a:spcPts val="1627"/>
              </a:lnSpc>
              <a:buNone/>
            </a:pPr>
            <a:r>
              <a:rPr lang="en-US" sz="1050" spc="30" kern="0" dirty="0">
                <a:solidFill>
                  <a:srgbClr val="FFFFFF"/>
                </a:solidFill>
                <a:latin typeface="Noto Sans JP Medium" pitchFamily="34" charset="0"/>
                <a:ea typeface="Noto Sans JP Medium" pitchFamily="34" charset="-122"/>
                <a:cs typeface="Noto Sans JP Medium" pitchFamily="34" charset="-120"/>
              </a:rPr>
              <a:t>社会が必要とする良質な金属資源を、持続可能な形で安定供給することで、より良い社会の実現に</a:t>
            </a:r>
            <a:endParaRPr lang="en-US" sz="1050" dirty="0"/>
          </a:p>
          <a:p>
            <a:pPr algn="l" indent="0" marL="0">
              <a:lnSpc>
                <a:spcPts val="1627"/>
              </a:lnSpc>
              <a:buNone/>
            </a:pPr>
            <a:r>
              <a:rPr lang="en-US" sz="1050" spc="30" kern="0" dirty="0">
                <a:solidFill>
                  <a:srgbClr val="FFFFFF"/>
                </a:solidFill>
                <a:latin typeface="Noto Sans JP Medium" pitchFamily="34" charset="0"/>
                <a:ea typeface="Noto Sans JP Medium" pitchFamily="34" charset="-122"/>
                <a:cs typeface="Noto Sans JP Medium" pitchFamily="34" charset="-120"/>
              </a:rPr>
              <a:t>寄与する</a:t>
            </a:r>
            <a:endParaRPr lang="en-US" sz="1050" dirty="0"/>
          </a:p>
        </p:txBody>
      </p:sp>
      <p:sp>
        <p:nvSpPr>
          <p:cNvPr id="33" name="Text 31"/>
          <p:cNvSpPr/>
          <p:nvPr/>
        </p:nvSpPr>
        <p:spPr>
          <a:xfrm>
            <a:off x="8068024" y="4248220"/>
            <a:ext cx="64655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長年の貢献</a:t>
            </a:r>
            <a:endParaRPr lang="en-US" sz="660" dirty="0"/>
          </a:p>
        </p:txBody>
      </p:sp>
      <p:sp>
        <p:nvSpPr>
          <p:cNvPr id="34" name="Text 32"/>
          <p:cNvSpPr/>
          <p:nvPr/>
        </p:nvSpPr>
        <p:spPr>
          <a:xfrm>
            <a:off x="9084468" y="4248220"/>
            <a:ext cx="95293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会社の屋台骨として</a:t>
            </a:r>
            <a:endParaRPr lang="en-US" sz="660" dirty="0"/>
          </a:p>
        </p:txBody>
      </p:sp>
      <p:sp>
        <p:nvSpPr>
          <p:cNvPr id="35" name="Text 33"/>
          <p:cNvSpPr/>
          <p:nvPr/>
        </p:nvSpPr>
        <p:spPr>
          <a:xfrm>
            <a:off x="8068024" y="4470567"/>
            <a:ext cx="4038816" cy="228700"/>
          </a:xfrm>
          <a:prstGeom prst="rect">
            <a:avLst/>
          </a:prstGeom>
          <a:noFill/>
          <a:ln/>
        </p:spPr>
        <p:txBody>
          <a:bodyPr wrap="none" lIns="0" tIns="0" rIns="0" bIns="0" rtlCol="0" anchor="t"/>
          <a:lstStyle/>
          <a:p>
            <a:pPr algn="l" indent="0" marL="0">
              <a:lnSpc>
                <a:spcPts val="1800"/>
              </a:lnSpc>
              <a:buNone/>
            </a:pPr>
            <a:r>
              <a:rPr lang="en-US" sz="1200" spc="50" kern="0" dirty="0">
                <a:solidFill>
                  <a:srgbClr val="121519"/>
                </a:solidFill>
                <a:latin typeface="Noto Sans JP Medium" pitchFamily="34" charset="0"/>
                <a:ea typeface="Noto Sans JP Medium" pitchFamily="34" charset="-122"/>
                <a:cs typeface="Noto Sans JP Medium" pitchFamily="34" charset="-120"/>
              </a:rPr>
              <a:t>市況の波を越えて、全社の利益を長く支えてきた。</a:t>
            </a:r>
            <a:endParaRPr lang="en-US" sz="1200" dirty="0"/>
          </a:p>
        </p:txBody>
      </p:sp>
      <p:sp>
        <p:nvSpPr>
          <p:cNvPr id="36" name="Text 34"/>
          <p:cNvSpPr/>
          <p:nvPr/>
        </p:nvSpPr>
        <p:spPr>
          <a:xfrm>
            <a:off x="8068024" y="4723121"/>
            <a:ext cx="7248516" cy="361981"/>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資源価格には浮き沈みがあります。それでも事業から離れず、優良な資産に関わり続けてきたことが、三菱商事の利益の柱を長年にわたって支え</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てきました。</a:t>
            </a:r>
            <a:endParaRPr lang="en-US" sz="770" dirty="0"/>
          </a:p>
        </p:txBody>
      </p:sp>
      <p:sp>
        <p:nvSpPr>
          <p:cNvPr id="37" name="Text 35"/>
          <p:cNvSpPr/>
          <p:nvPr/>
        </p:nvSpPr>
        <p:spPr>
          <a:xfrm>
            <a:off x="8068024" y="5544186"/>
            <a:ext cx="290600"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歩み</a:t>
            </a:r>
            <a:endParaRPr lang="en-US" sz="660" dirty="0"/>
          </a:p>
        </p:txBody>
      </p:sp>
      <p:sp>
        <p:nvSpPr>
          <p:cNvPr id="38" name="Text 36"/>
          <p:cNvSpPr/>
          <p:nvPr/>
        </p:nvSpPr>
        <p:spPr>
          <a:xfrm>
            <a:off x="8703301" y="5544186"/>
            <a:ext cx="164300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先見性をもって、先手を打ってきた</a:t>
            </a:r>
            <a:endParaRPr lang="en-US" sz="660" dirty="0"/>
          </a:p>
        </p:txBody>
      </p:sp>
      <p:sp>
        <p:nvSpPr>
          <p:cNvPr id="39" name="Text 37"/>
          <p:cNvSpPr/>
          <p:nvPr/>
        </p:nvSpPr>
        <p:spPr>
          <a:xfrm>
            <a:off x="8068024" y="5795438"/>
            <a:ext cx="1004691"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121519"/>
                </a:solidFill>
                <a:latin typeface="Inter Tight SemiBold" pitchFamily="34" charset="0"/>
                <a:ea typeface="Inter Tight SemiBold" pitchFamily="34" charset="-122"/>
                <a:cs typeface="Inter Tight SemiBold" pitchFamily="34" charset="-120"/>
              </a:rPr>
              <a:t>1980〜90年代</a:t>
            </a:r>
            <a:endParaRPr lang="en-US" sz="1100" dirty="0"/>
          </a:p>
        </p:txBody>
      </p:sp>
      <p:sp>
        <p:nvSpPr>
          <p:cNvPr id="40" name="Text 38"/>
          <p:cNvSpPr/>
          <p:nvPr/>
        </p:nvSpPr>
        <p:spPr>
          <a:xfrm>
            <a:off x="8068024" y="6195980"/>
            <a:ext cx="1323521"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日本の産業に、資源を。</a:t>
            </a:r>
            <a:endParaRPr lang="en-US" sz="800" dirty="0"/>
          </a:p>
        </p:txBody>
      </p:sp>
      <p:sp>
        <p:nvSpPr>
          <p:cNvPr id="41" name="Text 39"/>
          <p:cNvSpPr/>
          <p:nvPr/>
        </p:nvSpPr>
        <p:spPr>
          <a:xfrm>
            <a:off x="8068024" y="6529374"/>
            <a:ext cx="1342083"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トレーディングで参入し、少数出</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資から事業に関わる</a:t>
            </a:r>
            <a:endParaRPr lang="en-US" sz="620" dirty="0"/>
          </a:p>
        </p:txBody>
      </p:sp>
      <p:sp>
        <p:nvSpPr>
          <p:cNvPr id="42" name="Text 40"/>
          <p:cNvSpPr/>
          <p:nvPr/>
        </p:nvSpPr>
        <p:spPr>
          <a:xfrm>
            <a:off x="9389401" y="5795438"/>
            <a:ext cx="674069"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121519"/>
                </a:solidFill>
                <a:latin typeface="Inter Tight SemiBold" pitchFamily="34" charset="0"/>
                <a:ea typeface="Inter Tight SemiBold" pitchFamily="34" charset="-122"/>
                <a:cs typeface="Inter Tight SemiBold" pitchFamily="34" charset="-120"/>
              </a:rPr>
              <a:t>1990年代</a:t>
            </a:r>
            <a:endParaRPr lang="en-US" sz="1100" dirty="0"/>
          </a:p>
        </p:txBody>
      </p:sp>
      <p:sp>
        <p:nvSpPr>
          <p:cNvPr id="43" name="Text 41"/>
          <p:cNvSpPr/>
          <p:nvPr/>
        </p:nvSpPr>
        <p:spPr>
          <a:xfrm>
            <a:off x="9389401" y="6195980"/>
            <a:ext cx="1210839"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仲介から、担い手へ。</a:t>
            </a:r>
            <a:endParaRPr lang="en-US" sz="800" dirty="0"/>
          </a:p>
        </p:txBody>
      </p:sp>
      <p:sp>
        <p:nvSpPr>
          <p:cNvPr id="44" name="Text 42"/>
          <p:cNvSpPr/>
          <p:nvPr/>
        </p:nvSpPr>
        <p:spPr>
          <a:xfrm>
            <a:off x="9389401" y="6529374"/>
            <a:ext cx="1357588"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投資モデルへ転換し、JV運営の知</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見を蓄える</a:t>
            </a:r>
            <a:endParaRPr lang="en-US" sz="620" dirty="0"/>
          </a:p>
        </p:txBody>
      </p:sp>
      <p:sp>
        <p:nvSpPr>
          <p:cNvPr id="45" name="Text 43"/>
          <p:cNvSpPr/>
          <p:nvPr/>
        </p:nvSpPr>
        <p:spPr>
          <a:xfrm>
            <a:off x="10710778" y="5795438"/>
            <a:ext cx="711193"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121519"/>
                </a:solidFill>
                <a:latin typeface="Inter Tight SemiBold" pitchFamily="34" charset="0"/>
                <a:ea typeface="Inter Tight SemiBold" pitchFamily="34" charset="-122"/>
                <a:cs typeface="Inter Tight SemiBold" pitchFamily="34" charset="-120"/>
              </a:rPr>
              <a:t>2000年代</a:t>
            </a:r>
            <a:endParaRPr lang="en-US" sz="1100" dirty="0"/>
          </a:p>
        </p:txBody>
      </p:sp>
      <p:sp>
        <p:nvSpPr>
          <p:cNvPr id="46" name="Text 44"/>
          <p:cNvSpPr/>
          <p:nvPr/>
        </p:nvSpPr>
        <p:spPr>
          <a:xfrm>
            <a:off x="10710778" y="6195980"/>
            <a:ext cx="1323521"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一級資産に、早くから。</a:t>
            </a:r>
            <a:endParaRPr lang="en-US" sz="800" dirty="0"/>
          </a:p>
        </p:txBody>
      </p:sp>
      <p:sp>
        <p:nvSpPr>
          <p:cNvPr id="47" name="Text 45"/>
          <p:cNvSpPr/>
          <p:nvPr/>
        </p:nvSpPr>
        <p:spPr>
          <a:xfrm>
            <a:off x="10710778" y="6529374"/>
            <a:ext cx="1349726"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BHPと原料炭の合弁を組成し、事</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業経営に参画</a:t>
            </a:r>
            <a:endParaRPr lang="en-US" sz="620" dirty="0"/>
          </a:p>
        </p:txBody>
      </p:sp>
      <p:sp>
        <p:nvSpPr>
          <p:cNvPr id="48" name="Text 46"/>
          <p:cNvSpPr/>
          <p:nvPr/>
        </p:nvSpPr>
        <p:spPr>
          <a:xfrm>
            <a:off x="12032155" y="5795438"/>
            <a:ext cx="673414"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121519"/>
                </a:solidFill>
                <a:latin typeface="Inter Tight SemiBold" pitchFamily="34" charset="0"/>
                <a:ea typeface="Inter Tight SemiBold" pitchFamily="34" charset="-122"/>
                <a:cs typeface="Inter Tight SemiBold" pitchFamily="34" charset="-120"/>
              </a:rPr>
              <a:t>2010年代</a:t>
            </a:r>
            <a:endParaRPr lang="en-US" sz="1100" dirty="0"/>
          </a:p>
        </p:txBody>
      </p:sp>
      <p:sp>
        <p:nvSpPr>
          <p:cNvPr id="49" name="Text 47"/>
          <p:cNvSpPr/>
          <p:nvPr/>
        </p:nvSpPr>
        <p:spPr>
          <a:xfrm>
            <a:off x="12032155" y="6195980"/>
            <a:ext cx="1320246"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次の柱を、先回りして。</a:t>
            </a:r>
            <a:endParaRPr lang="en-US" sz="800" dirty="0"/>
          </a:p>
        </p:txBody>
      </p:sp>
      <p:sp>
        <p:nvSpPr>
          <p:cNvPr id="50" name="Text 48"/>
          <p:cNvSpPr/>
          <p:nvPr/>
        </p:nvSpPr>
        <p:spPr>
          <a:xfrm>
            <a:off x="12032155" y="6529374"/>
            <a:ext cx="1326797"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銅へ領域を広げ、販売機能をRtM</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に集約</a:t>
            </a:r>
            <a:endParaRPr lang="en-US" sz="620" dirty="0"/>
          </a:p>
        </p:txBody>
      </p:sp>
      <p:sp>
        <p:nvSpPr>
          <p:cNvPr id="51" name="Text 49"/>
          <p:cNvSpPr/>
          <p:nvPr/>
        </p:nvSpPr>
        <p:spPr>
          <a:xfrm>
            <a:off x="13353533" y="5795438"/>
            <a:ext cx="853138"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121519"/>
                </a:solidFill>
                <a:latin typeface="Inter Tight SemiBold" pitchFamily="34" charset="0"/>
                <a:ea typeface="Inter Tight SemiBold" pitchFamily="34" charset="-122"/>
                <a:cs typeface="Inter Tight SemiBold" pitchFamily="34" charset="-120"/>
              </a:rPr>
              <a:t>2020年代〜</a:t>
            </a:r>
            <a:endParaRPr lang="en-US" sz="1100" dirty="0"/>
          </a:p>
        </p:txBody>
      </p:sp>
      <p:sp>
        <p:nvSpPr>
          <p:cNvPr id="52" name="Text 50"/>
          <p:cNvSpPr/>
          <p:nvPr/>
        </p:nvSpPr>
        <p:spPr>
          <a:xfrm>
            <a:off x="13353533" y="6195980"/>
            <a:ext cx="1327015" cy="315098"/>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投資と販売を、一つの力</a:t>
            </a:r>
            <a:endParaRPr lang="en-US" sz="800" dirty="0"/>
          </a:p>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に。</a:t>
            </a:r>
            <a:endParaRPr lang="en-US" sz="800" dirty="0"/>
          </a:p>
        </p:txBody>
      </p:sp>
      <p:sp>
        <p:nvSpPr>
          <p:cNvPr id="53" name="Text 51"/>
          <p:cNvSpPr/>
          <p:nvPr/>
        </p:nvSpPr>
        <p:spPr>
          <a:xfrm>
            <a:off x="13353533" y="6529374"/>
            <a:ext cx="1340336"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両輪を一体で動かす、グローバル</a:t>
            </a:r>
            <a:endParaRPr lang="en-US" sz="620" dirty="0"/>
          </a:p>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な事業者へ</a:t>
            </a:r>
            <a:endParaRPr lang="en-US" sz="620" dirty="0"/>
          </a:p>
        </p:txBody>
      </p:sp>
      <p:sp>
        <p:nvSpPr>
          <p:cNvPr id="54" name="Text 52"/>
          <p:cNvSpPr/>
          <p:nvPr/>
        </p:nvSpPr>
        <p:spPr>
          <a:xfrm>
            <a:off x="8068024" y="7272140"/>
            <a:ext cx="52579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事業領域</a:t>
            </a:r>
            <a:endParaRPr lang="en-US" sz="660" dirty="0"/>
          </a:p>
        </p:txBody>
      </p:sp>
      <p:sp>
        <p:nvSpPr>
          <p:cNvPr id="55" name="Text 53"/>
          <p:cNvSpPr/>
          <p:nvPr/>
        </p:nvSpPr>
        <p:spPr>
          <a:xfrm>
            <a:off x="8957412" y="7272140"/>
            <a:ext cx="2059014"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原料炭と銅を中核に、世界に広がる取扱資源</a:t>
            </a:r>
            <a:endParaRPr lang="en-US" sz="660" dirty="0"/>
          </a:p>
        </p:txBody>
      </p:sp>
      <p:sp>
        <p:nvSpPr>
          <p:cNvPr id="56" name="Text 54"/>
          <p:cNvSpPr/>
          <p:nvPr/>
        </p:nvSpPr>
        <p:spPr>
          <a:xfrm>
            <a:off x="8342742" y="8453757"/>
            <a:ext cx="339953" cy="101644"/>
          </a:xfrm>
          <a:prstGeom prst="rect">
            <a:avLst/>
          </a:prstGeom>
          <a:noFill/>
          <a:ln/>
        </p:spPr>
        <p:txBody>
          <a:bodyPr wrap="none" lIns="0" tIns="0" rIns="0" bIns="0" rtlCol="0" anchor="t"/>
          <a:lstStyle/>
          <a:p>
            <a:pPr algn="ctr" indent="0" marL="0">
              <a:lnSpc>
                <a:spcPts val="800"/>
              </a:lnSpc>
              <a:buNone/>
            </a:pPr>
            <a:r>
              <a:rPr lang="en-US" sz="660" spc="30" kern="0" dirty="0">
                <a:solidFill>
                  <a:srgbClr val="121519"/>
                </a:solidFill>
                <a:latin typeface="Noto Sans JP Medium" pitchFamily="34" charset="0"/>
                <a:ea typeface="Noto Sans JP Medium" pitchFamily="34" charset="-122"/>
                <a:cs typeface="Noto Sans JP Medium" pitchFamily="34" charset="-120"/>
              </a:rPr>
              <a:t>原料炭</a:t>
            </a:r>
            <a:endParaRPr lang="en-US" sz="660" dirty="0"/>
          </a:p>
        </p:txBody>
      </p:sp>
      <p:sp>
        <p:nvSpPr>
          <p:cNvPr id="57" name="Text 55"/>
          <p:cNvSpPr/>
          <p:nvPr/>
        </p:nvSpPr>
        <p:spPr>
          <a:xfrm>
            <a:off x="9430079" y="8453757"/>
            <a:ext cx="147345" cy="101644"/>
          </a:xfrm>
          <a:prstGeom prst="rect">
            <a:avLst/>
          </a:prstGeom>
          <a:noFill/>
          <a:ln/>
        </p:spPr>
        <p:txBody>
          <a:bodyPr wrap="none" lIns="0" tIns="0" rIns="0" bIns="0" rtlCol="0" anchor="t"/>
          <a:lstStyle/>
          <a:p>
            <a:pPr algn="ctr" indent="0" marL="0">
              <a:lnSpc>
                <a:spcPts val="800"/>
              </a:lnSpc>
              <a:buNone/>
            </a:pPr>
            <a:r>
              <a:rPr lang="en-US" sz="660" spc="30" kern="0" dirty="0">
                <a:solidFill>
                  <a:srgbClr val="121519"/>
                </a:solidFill>
                <a:latin typeface="Noto Sans JP Medium" pitchFamily="34" charset="0"/>
                <a:ea typeface="Noto Sans JP Medium" pitchFamily="34" charset="-122"/>
                <a:cs typeface="Noto Sans JP Medium" pitchFamily="34" charset="-120"/>
              </a:rPr>
              <a:t>銅</a:t>
            </a:r>
            <a:endParaRPr lang="en-US" sz="660" dirty="0"/>
          </a:p>
        </p:txBody>
      </p:sp>
      <p:sp>
        <p:nvSpPr>
          <p:cNvPr id="58" name="Text 56"/>
          <p:cNvSpPr/>
          <p:nvPr/>
        </p:nvSpPr>
        <p:spPr>
          <a:xfrm>
            <a:off x="10223163" y="8352112"/>
            <a:ext cx="339953" cy="101644"/>
          </a:xfrm>
          <a:prstGeom prst="rect">
            <a:avLst/>
          </a:prstGeom>
          <a:noFill/>
          <a:ln/>
        </p:spPr>
        <p:txBody>
          <a:bodyPr wrap="none" lIns="0" tIns="0" rIns="0" bIns="0" rtlCol="0" anchor="t"/>
          <a:lstStyle/>
          <a:p>
            <a:pPr algn="ctr" indent="0" marL="0">
              <a:lnSpc>
                <a:spcPts val="800"/>
              </a:lnSpc>
              <a:buNone/>
            </a:pPr>
            <a:r>
              <a:rPr lang="en-US" sz="660" spc="30" kern="0" dirty="0">
                <a:solidFill>
                  <a:srgbClr val="121519"/>
                </a:solidFill>
                <a:latin typeface="Noto Sans JP" pitchFamily="34" charset="0"/>
                <a:ea typeface="Noto Sans JP" pitchFamily="34" charset="-122"/>
                <a:cs typeface="Noto Sans JP" pitchFamily="34" charset="-120"/>
              </a:rPr>
              <a:t>鉄鉱石</a:t>
            </a:r>
            <a:endParaRPr lang="en-US" sz="660" dirty="0"/>
          </a:p>
        </p:txBody>
      </p:sp>
      <p:sp>
        <p:nvSpPr>
          <p:cNvPr id="59" name="Text 57"/>
          <p:cNvSpPr/>
          <p:nvPr/>
        </p:nvSpPr>
        <p:spPr>
          <a:xfrm>
            <a:off x="10932877" y="8352112"/>
            <a:ext cx="444992" cy="101644"/>
          </a:xfrm>
          <a:prstGeom prst="rect">
            <a:avLst/>
          </a:prstGeom>
          <a:noFill/>
          <a:ln/>
        </p:spPr>
        <p:txBody>
          <a:bodyPr wrap="none" lIns="0" tIns="0" rIns="0" bIns="0" rtlCol="0" anchor="t"/>
          <a:lstStyle/>
          <a:p>
            <a:pPr algn="ctr" indent="0" marL="0">
              <a:lnSpc>
                <a:spcPts val="800"/>
              </a:lnSpc>
              <a:buNone/>
            </a:pPr>
            <a:r>
              <a:rPr lang="en-US" sz="660" spc="30" kern="0" dirty="0">
                <a:solidFill>
                  <a:srgbClr val="121519"/>
                </a:solidFill>
                <a:latin typeface="Noto Sans JP" pitchFamily="34" charset="0"/>
                <a:ea typeface="Noto Sans JP" pitchFamily="34" charset="-122"/>
                <a:cs typeface="Noto Sans JP" pitchFamily="34" charset="-120"/>
              </a:rPr>
              <a:t>ニッケル</a:t>
            </a:r>
            <a:endParaRPr lang="en-US" sz="660" dirty="0"/>
          </a:p>
        </p:txBody>
      </p:sp>
      <p:sp>
        <p:nvSpPr>
          <p:cNvPr id="60" name="Text 58"/>
          <p:cNvSpPr/>
          <p:nvPr/>
        </p:nvSpPr>
        <p:spPr>
          <a:xfrm>
            <a:off x="11695210" y="8352112"/>
            <a:ext cx="444992" cy="101644"/>
          </a:xfrm>
          <a:prstGeom prst="rect">
            <a:avLst/>
          </a:prstGeom>
          <a:noFill/>
          <a:ln/>
        </p:spPr>
        <p:txBody>
          <a:bodyPr wrap="none" lIns="0" tIns="0" rIns="0" bIns="0" rtlCol="0" anchor="t"/>
          <a:lstStyle/>
          <a:p>
            <a:pPr algn="ctr" indent="0" marL="0">
              <a:lnSpc>
                <a:spcPts val="800"/>
              </a:lnSpc>
              <a:buNone/>
            </a:pPr>
            <a:r>
              <a:rPr lang="en-US" sz="660" spc="30" kern="0" dirty="0">
                <a:solidFill>
                  <a:srgbClr val="121519"/>
                </a:solidFill>
                <a:latin typeface="Noto Sans JP" pitchFamily="34" charset="0"/>
                <a:ea typeface="Noto Sans JP" pitchFamily="34" charset="-122"/>
                <a:cs typeface="Noto Sans JP" pitchFamily="34" charset="-120"/>
              </a:rPr>
              <a:t>リチウム</a:t>
            </a:r>
            <a:endParaRPr lang="en-US" sz="660" dirty="0"/>
          </a:p>
        </p:txBody>
      </p:sp>
      <p:sp>
        <p:nvSpPr>
          <p:cNvPr id="61" name="Text 59"/>
          <p:cNvSpPr/>
          <p:nvPr/>
        </p:nvSpPr>
        <p:spPr>
          <a:xfrm>
            <a:off x="12506886" y="8352112"/>
            <a:ext cx="346504" cy="101644"/>
          </a:xfrm>
          <a:prstGeom prst="rect">
            <a:avLst/>
          </a:prstGeom>
          <a:noFill/>
          <a:ln/>
        </p:spPr>
        <p:txBody>
          <a:bodyPr wrap="none" lIns="0" tIns="0" rIns="0" bIns="0" rtlCol="0" anchor="t"/>
          <a:lstStyle/>
          <a:p>
            <a:pPr algn="ctr" indent="0" marL="0">
              <a:lnSpc>
                <a:spcPts val="800"/>
              </a:lnSpc>
              <a:buNone/>
            </a:pPr>
            <a:r>
              <a:rPr lang="en-US" sz="660" spc="30" kern="0" dirty="0">
                <a:solidFill>
                  <a:srgbClr val="121519"/>
                </a:solidFill>
                <a:latin typeface="Noto Sans JP" pitchFamily="34" charset="0"/>
                <a:ea typeface="Noto Sans JP" pitchFamily="34" charset="-122"/>
                <a:cs typeface="Noto Sans JP" pitchFamily="34" charset="-120"/>
              </a:rPr>
              <a:t>アルミ</a:t>
            </a:r>
            <a:endParaRPr lang="en-US" sz="660" dirty="0"/>
          </a:p>
        </p:txBody>
      </p:sp>
      <p:sp>
        <p:nvSpPr>
          <p:cNvPr id="62" name="Text 60"/>
          <p:cNvSpPr/>
          <p:nvPr/>
        </p:nvSpPr>
        <p:spPr>
          <a:xfrm>
            <a:off x="13224244" y="8352112"/>
            <a:ext cx="436257" cy="101644"/>
          </a:xfrm>
          <a:prstGeom prst="rect">
            <a:avLst/>
          </a:prstGeom>
          <a:noFill/>
          <a:ln/>
        </p:spPr>
        <p:txBody>
          <a:bodyPr wrap="none" lIns="0" tIns="0" rIns="0" bIns="0" rtlCol="0" anchor="t"/>
          <a:lstStyle/>
          <a:p>
            <a:pPr algn="ctr" indent="0" marL="0">
              <a:lnSpc>
                <a:spcPts val="800"/>
              </a:lnSpc>
              <a:buNone/>
            </a:pPr>
            <a:r>
              <a:rPr lang="en-US" sz="660" spc="30" kern="0" dirty="0">
                <a:solidFill>
                  <a:srgbClr val="121519"/>
                </a:solidFill>
                <a:latin typeface="Noto Sans JP" pitchFamily="34" charset="0"/>
                <a:ea typeface="Noto Sans JP" pitchFamily="34" charset="-122"/>
                <a:cs typeface="Noto Sans JP" pitchFamily="34" charset="-120"/>
              </a:rPr>
              <a:t>肥料資源</a:t>
            </a:r>
            <a:endParaRPr lang="en-US" sz="660" dirty="0"/>
          </a:p>
        </p:txBody>
      </p:sp>
      <p:sp>
        <p:nvSpPr>
          <p:cNvPr id="63" name="Text 61"/>
          <p:cNvSpPr/>
          <p:nvPr/>
        </p:nvSpPr>
        <p:spPr>
          <a:xfrm>
            <a:off x="13986577" y="8352112"/>
            <a:ext cx="436257" cy="101644"/>
          </a:xfrm>
          <a:prstGeom prst="rect">
            <a:avLst/>
          </a:prstGeom>
          <a:noFill/>
          <a:ln/>
        </p:spPr>
        <p:txBody>
          <a:bodyPr wrap="none" lIns="0" tIns="0" rIns="0" bIns="0" rtlCol="0" anchor="t"/>
          <a:lstStyle/>
          <a:p>
            <a:pPr algn="ctr" indent="0" marL="0">
              <a:lnSpc>
                <a:spcPts val="800"/>
              </a:lnSpc>
              <a:buNone/>
            </a:pPr>
            <a:r>
              <a:rPr lang="en-US" sz="660" spc="30" kern="0" dirty="0">
                <a:solidFill>
                  <a:srgbClr val="121519"/>
                </a:solidFill>
                <a:latin typeface="Noto Sans JP" pitchFamily="34" charset="0"/>
                <a:ea typeface="Noto Sans JP" pitchFamily="34" charset="-122"/>
                <a:cs typeface="Noto Sans JP" pitchFamily="34" charset="-120"/>
              </a:rPr>
              <a:t>二次資源</a:t>
            </a:r>
            <a:endParaRPr lang="en-US" sz="660" dirty="0"/>
          </a:p>
        </p:txBody>
      </p:sp>
      <p:sp>
        <p:nvSpPr>
          <p:cNvPr id="64" name="Text 62"/>
          <p:cNvSpPr/>
          <p:nvPr/>
        </p:nvSpPr>
        <p:spPr>
          <a:xfrm>
            <a:off x="508222" y="10316906"/>
            <a:ext cx="204778"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04</a:t>
            </a:r>
            <a:endParaRPr lang="en-US" sz="600" dirty="0"/>
          </a:p>
        </p:txBody>
      </p:sp>
      <p:sp>
        <p:nvSpPr>
          <p:cNvPr id="65" name="Text 63"/>
          <p:cNvSpPr/>
          <p:nvPr/>
        </p:nvSpPr>
        <p:spPr>
          <a:xfrm>
            <a:off x="14458915" y="10316906"/>
            <a:ext cx="200410"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05</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63386" y="76233"/>
            <a:ext cx="2168202"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02</a:t>
            </a:r>
            <a:endParaRPr lang="en-US" sz="14000" dirty="0"/>
          </a:p>
        </p:txBody>
      </p:sp>
      <p:sp>
        <p:nvSpPr>
          <p:cNvPr id="3" name="Text 1"/>
          <p:cNvSpPr/>
          <p:nvPr/>
        </p:nvSpPr>
        <p:spPr>
          <a:xfrm>
            <a:off x="508222" y="508222"/>
            <a:ext cx="37227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第2章</a:t>
            </a:r>
            <a:endParaRPr lang="en-US" sz="660" dirty="0"/>
          </a:p>
        </p:txBody>
      </p:sp>
      <p:sp>
        <p:nvSpPr>
          <p:cNvPr id="4" name="Text 2"/>
          <p:cNvSpPr/>
          <p:nvPr/>
        </p:nvSpPr>
        <p:spPr>
          <a:xfrm>
            <a:off x="508222" y="647983"/>
            <a:ext cx="185417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独自価値｜投資とトレーディングの両輪</a:t>
            </a:r>
            <a:endParaRPr lang="en-US" sz="660" dirty="0"/>
          </a:p>
        </p:txBody>
      </p:sp>
      <p:sp>
        <p:nvSpPr>
          <p:cNvPr id="5" name="Text 3"/>
          <p:cNvSpPr/>
          <p:nvPr/>
        </p:nvSpPr>
        <p:spPr>
          <a:xfrm>
            <a:off x="508222" y="883798"/>
            <a:ext cx="3350493" cy="1140450"/>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Two wheels,</a:t>
            </a:r>
            <a:endParaRPr lang="en-US" sz="4400" dirty="0"/>
          </a:p>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one flow.</a:t>
            </a:r>
            <a:endParaRPr lang="en-US" sz="4400" dirty="0"/>
          </a:p>
        </p:txBody>
      </p:sp>
      <p:sp>
        <p:nvSpPr>
          <p:cNvPr id="6" name="Text 4"/>
          <p:cNvSpPr/>
          <p:nvPr/>
        </p:nvSpPr>
        <p:spPr>
          <a:xfrm>
            <a:off x="508222" y="2301293"/>
            <a:ext cx="372129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資源の流れ全体に関わり、互いを強め合ってきた</a:t>
            </a:r>
            <a:endParaRPr lang="en-US" sz="1150" dirty="0"/>
          </a:p>
        </p:txBody>
      </p:sp>
      <p:sp>
        <p:nvSpPr>
          <p:cNvPr id="7" name="Text 5"/>
          <p:cNvSpPr/>
          <p:nvPr/>
        </p:nvSpPr>
        <p:spPr>
          <a:xfrm>
            <a:off x="8068024" y="1389701"/>
            <a:ext cx="4662937" cy="54297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投資とトレーディングの両輪で、資源の流れ全体に関わる。互いを強め合いながら、長い時</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間をかけて積み重ねてきたこと。それが、鉱山会社でも純粋なトレーダーでもない、金属資</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源グループならではの強さです。</a:t>
            </a:r>
            <a:endParaRPr lang="en-US" sz="770" dirty="0"/>
          </a:p>
        </p:txBody>
      </p:sp>
      <p:sp>
        <p:nvSpPr>
          <p:cNvPr id="8" name="Text 6"/>
          <p:cNvSpPr/>
          <p:nvPr/>
        </p:nvSpPr>
        <p:spPr>
          <a:xfrm>
            <a:off x="1134655" y="5463386"/>
            <a:ext cx="271601" cy="114350"/>
          </a:xfrm>
          <a:prstGeom prst="rect">
            <a:avLst/>
          </a:prstGeom>
          <a:noFill/>
          <a:ln/>
        </p:spPr>
        <p:txBody>
          <a:bodyPr wrap="none" lIns="0" tIns="0" rIns="0" bIns="0" rtlCol="0" anchor="t"/>
          <a:lstStyle/>
          <a:p>
            <a:pPr algn="ctr" indent="0" marL="0">
              <a:lnSpc>
                <a:spcPts val="900"/>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川上</a:t>
            </a:r>
            <a:endParaRPr lang="en-US" sz="760" dirty="0"/>
          </a:p>
        </p:txBody>
      </p:sp>
      <p:sp>
        <p:nvSpPr>
          <p:cNvPr id="9" name="Text 7"/>
          <p:cNvSpPr/>
          <p:nvPr/>
        </p:nvSpPr>
        <p:spPr>
          <a:xfrm>
            <a:off x="918016" y="5611279"/>
            <a:ext cx="705079" cy="136203"/>
          </a:xfrm>
          <a:prstGeom prst="rect">
            <a:avLst/>
          </a:prstGeom>
          <a:noFill/>
          <a:ln/>
        </p:spPr>
        <p:txBody>
          <a:bodyPr wrap="none" lIns="0" tIns="0" rIns="0" bIns="0" rtlCol="0" anchor="t"/>
          <a:lstStyle/>
          <a:p>
            <a:pPr algn="ctr"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鉱山・資源開発</a:t>
            </a:r>
            <a:endParaRPr lang="en-US" sz="670" dirty="0"/>
          </a:p>
        </p:txBody>
      </p:sp>
      <p:sp>
        <p:nvSpPr>
          <p:cNvPr id="10" name="Text 8"/>
          <p:cNvSpPr/>
          <p:nvPr/>
        </p:nvSpPr>
        <p:spPr>
          <a:xfrm>
            <a:off x="4073707" y="5463386"/>
            <a:ext cx="492161" cy="114350"/>
          </a:xfrm>
          <a:prstGeom prst="rect">
            <a:avLst/>
          </a:prstGeom>
          <a:noFill/>
          <a:ln/>
        </p:spPr>
        <p:txBody>
          <a:bodyPr wrap="none" lIns="0" tIns="0" rIns="0" bIns="0" rtlCol="0" anchor="t"/>
          <a:lstStyle/>
          <a:p>
            <a:pPr algn="ctr" indent="0" marL="0">
              <a:lnSpc>
                <a:spcPts val="900"/>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中間流通</a:t>
            </a:r>
            <a:endParaRPr lang="en-US" sz="760" dirty="0"/>
          </a:p>
        </p:txBody>
      </p:sp>
      <p:sp>
        <p:nvSpPr>
          <p:cNvPr id="11" name="Text 9"/>
          <p:cNvSpPr/>
          <p:nvPr/>
        </p:nvSpPr>
        <p:spPr>
          <a:xfrm>
            <a:off x="3970623" y="5611279"/>
            <a:ext cx="698527" cy="136203"/>
          </a:xfrm>
          <a:prstGeom prst="rect">
            <a:avLst/>
          </a:prstGeom>
          <a:noFill/>
          <a:ln/>
        </p:spPr>
        <p:txBody>
          <a:bodyPr wrap="none" lIns="0" tIns="0" rIns="0" bIns="0" rtlCol="0" anchor="t"/>
          <a:lstStyle/>
          <a:p>
            <a:pPr algn="ctr"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トレーディング</a:t>
            </a:r>
            <a:endParaRPr lang="en-US" sz="670" dirty="0"/>
          </a:p>
        </p:txBody>
      </p:sp>
      <p:sp>
        <p:nvSpPr>
          <p:cNvPr id="12" name="Text 10"/>
          <p:cNvSpPr/>
          <p:nvPr/>
        </p:nvSpPr>
        <p:spPr>
          <a:xfrm>
            <a:off x="7423902" y="5463386"/>
            <a:ext cx="271601" cy="114350"/>
          </a:xfrm>
          <a:prstGeom prst="rect">
            <a:avLst/>
          </a:prstGeom>
          <a:noFill/>
          <a:ln/>
        </p:spPr>
        <p:txBody>
          <a:bodyPr wrap="none" lIns="0" tIns="0" rIns="0" bIns="0" rtlCol="0" anchor="t"/>
          <a:lstStyle/>
          <a:p>
            <a:pPr algn="ctr" indent="0" marL="0">
              <a:lnSpc>
                <a:spcPts val="900"/>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川中</a:t>
            </a:r>
            <a:endParaRPr lang="en-US" sz="760" dirty="0"/>
          </a:p>
        </p:txBody>
      </p:sp>
      <p:sp>
        <p:nvSpPr>
          <p:cNvPr id="13" name="Text 11"/>
          <p:cNvSpPr/>
          <p:nvPr/>
        </p:nvSpPr>
        <p:spPr>
          <a:xfrm>
            <a:off x="7300728" y="5611279"/>
            <a:ext cx="518148" cy="136203"/>
          </a:xfrm>
          <a:prstGeom prst="rect">
            <a:avLst/>
          </a:prstGeom>
          <a:noFill/>
          <a:ln/>
        </p:spPr>
        <p:txBody>
          <a:bodyPr wrap="none" lIns="0" tIns="0" rIns="0" bIns="0" rtlCol="0" anchor="t"/>
          <a:lstStyle/>
          <a:p>
            <a:pPr algn="ctr"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製錬・製鉄</a:t>
            </a:r>
            <a:endParaRPr lang="en-US" sz="670" dirty="0"/>
          </a:p>
        </p:txBody>
      </p:sp>
      <p:sp>
        <p:nvSpPr>
          <p:cNvPr id="14" name="Text 12"/>
          <p:cNvSpPr/>
          <p:nvPr/>
        </p:nvSpPr>
        <p:spPr>
          <a:xfrm>
            <a:off x="10553537" y="5463386"/>
            <a:ext cx="492161" cy="114350"/>
          </a:xfrm>
          <a:prstGeom prst="rect">
            <a:avLst/>
          </a:prstGeom>
          <a:noFill/>
          <a:ln/>
        </p:spPr>
        <p:txBody>
          <a:bodyPr wrap="none" lIns="0" tIns="0" rIns="0" bIns="0" rtlCol="0" anchor="t"/>
          <a:lstStyle/>
          <a:p>
            <a:pPr algn="ctr" indent="0" marL="0">
              <a:lnSpc>
                <a:spcPts val="900"/>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中間流通</a:t>
            </a:r>
            <a:endParaRPr lang="en-US" sz="760" dirty="0"/>
          </a:p>
        </p:txBody>
      </p:sp>
      <p:sp>
        <p:nvSpPr>
          <p:cNvPr id="15" name="Text 13"/>
          <p:cNvSpPr/>
          <p:nvPr/>
        </p:nvSpPr>
        <p:spPr>
          <a:xfrm>
            <a:off x="10450453" y="5611279"/>
            <a:ext cx="698527" cy="136203"/>
          </a:xfrm>
          <a:prstGeom prst="rect">
            <a:avLst/>
          </a:prstGeom>
          <a:noFill/>
          <a:ln/>
        </p:spPr>
        <p:txBody>
          <a:bodyPr wrap="none" lIns="0" tIns="0" rIns="0" bIns="0" rtlCol="0" anchor="t"/>
          <a:lstStyle/>
          <a:p>
            <a:pPr algn="ctr"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トレーディング</a:t>
            </a:r>
            <a:endParaRPr lang="en-US" sz="670" dirty="0"/>
          </a:p>
        </p:txBody>
      </p:sp>
      <p:sp>
        <p:nvSpPr>
          <p:cNvPr id="16" name="Text 14"/>
          <p:cNvSpPr/>
          <p:nvPr/>
        </p:nvSpPr>
        <p:spPr>
          <a:xfrm>
            <a:off x="13713149" y="5463386"/>
            <a:ext cx="271601" cy="114350"/>
          </a:xfrm>
          <a:prstGeom prst="rect">
            <a:avLst/>
          </a:prstGeom>
          <a:noFill/>
          <a:ln/>
        </p:spPr>
        <p:txBody>
          <a:bodyPr wrap="none" lIns="0" tIns="0" rIns="0" bIns="0" rtlCol="0" anchor="t"/>
          <a:lstStyle/>
          <a:p>
            <a:pPr algn="ctr" indent="0" marL="0">
              <a:lnSpc>
                <a:spcPts val="900"/>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川下</a:t>
            </a:r>
            <a:endParaRPr lang="en-US" sz="760" dirty="0"/>
          </a:p>
        </p:txBody>
      </p:sp>
      <p:sp>
        <p:nvSpPr>
          <p:cNvPr id="17" name="Text 15"/>
          <p:cNvSpPr/>
          <p:nvPr/>
        </p:nvSpPr>
        <p:spPr>
          <a:xfrm>
            <a:off x="13449777" y="5611279"/>
            <a:ext cx="798544" cy="136203"/>
          </a:xfrm>
          <a:prstGeom prst="rect">
            <a:avLst/>
          </a:prstGeom>
          <a:noFill/>
          <a:ln/>
        </p:spPr>
        <p:txBody>
          <a:bodyPr wrap="none" lIns="0" tIns="0" rIns="0" bIns="0" rtlCol="0" anchor="t"/>
          <a:lstStyle/>
          <a:p>
            <a:pPr algn="ctr"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需要家・最終製品</a:t>
            </a:r>
            <a:endParaRPr lang="en-US" sz="670" dirty="0"/>
          </a:p>
        </p:txBody>
      </p:sp>
      <p:sp>
        <p:nvSpPr>
          <p:cNvPr id="18" name="Text 16"/>
          <p:cNvSpPr/>
          <p:nvPr/>
        </p:nvSpPr>
        <p:spPr>
          <a:xfrm>
            <a:off x="2032888" y="3322374"/>
            <a:ext cx="3719550" cy="165426"/>
          </a:xfrm>
          <a:prstGeom prst="rect">
            <a:avLst/>
          </a:prstGeom>
          <a:noFill/>
          <a:ln/>
        </p:spPr>
        <p:txBody>
          <a:bodyPr wrap="none" lIns="0" tIns="0" rIns="0" bIns="0" rtlCol="0" anchor="t"/>
          <a:lstStyle/>
          <a:p>
            <a:pPr algn="l" indent="0" marL="0">
              <a:lnSpc>
                <a:spcPts val="1302"/>
              </a:lnSpc>
              <a:buNone/>
            </a:pPr>
            <a:r>
              <a:rPr lang="en-US" sz="840" spc="30" kern="0" dirty="0">
                <a:solidFill>
                  <a:srgbClr val="9C7442"/>
                </a:solidFill>
                <a:latin typeface="Noto Sans JP Medium" pitchFamily="34" charset="0"/>
                <a:ea typeface="Noto Sans JP Medium" pitchFamily="34" charset="-122"/>
                <a:cs typeface="Noto Sans JP Medium" pitchFamily="34" charset="-120"/>
              </a:rPr>
              <a:t>資源投資</a:t>
            </a:r>
            <a:pPr algn="l" indent="0" marL="0">
              <a:lnSpc>
                <a:spcPts val="1302"/>
              </a:lnSpc>
              <a:buNone/>
            </a:pPr>
            <a:r>
              <a:rPr lang="en-US" sz="840" spc="30" kern="0" dirty="0">
                <a:solidFill>
                  <a:srgbClr val="121519"/>
                </a:solidFill>
                <a:latin typeface="Noto Sans JP Medium" pitchFamily="34" charset="0"/>
                <a:ea typeface="Noto Sans JP Medium" pitchFamily="34" charset="-122"/>
                <a:cs typeface="Noto Sans JP Medium" pitchFamily="34" charset="-120"/>
              </a:rPr>
              <a:t>　鉱山・製錬への出資　</a:t>
            </a:r>
            <a:pPr algn="l" indent="0" marL="0">
              <a:lnSpc>
                <a:spcPts val="1302"/>
              </a:lnSpc>
              <a:buNone/>
            </a:pPr>
            <a:r>
              <a:rPr lang="en-US" sz="670" spc="30" kern="0" dirty="0">
                <a:solidFill>
                  <a:srgbClr val="7D838A"/>
                </a:solidFill>
                <a:latin typeface="Noto Sans JP" pitchFamily="34" charset="0"/>
                <a:ea typeface="Noto Sans JP" pitchFamily="34" charset="-122"/>
                <a:cs typeface="Noto Sans JP" pitchFamily="34" charset="-120"/>
              </a:rPr>
              <a:t>鉄鋼原料本部・クリティカルミネラル本部</a:t>
            </a:r>
            <a:endParaRPr lang="en-US" sz="840" dirty="0"/>
          </a:p>
        </p:txBody>
      </p:sp>
      <p:sp>
        <p:nvSpPr>
          <p:cNvPr id="19" name="Text 17"/>
          <p:cNvSpPr/>
          <p:nvPr/>
        </p:nvSpPr>
        <p:spPr>
          <a:xfrm>
            <a:off x="5082220" y="6422528"/>
            <a:ext cx="4636295" cy="165426"/>
          </a:xfrm>
          <a:prstGeom prst="rect">
            <a:avLst/>
          </a:prstGeom>
          <a:noFill/>
          <a:ln/>
        </p:spPr>
        <p:txBody>
          <a:bodyPr wrap="none" lIns="0" tIns="0" rIns="0" bIns="0" rtlCol="0" anchor="t"/>
          <a:lstStyle/>
          <a:p>
            <a:pPr algn="l" indent="0" marL="0">
              <a:lnSpc>
                <a:spcPts val="1302"/>
              </a:lnSpc>
              <a:buNone/>
            </a:pPr>
            <a:r>
              <a:rPr lang="en-US" sz="840" spc="30" kern="0" dirty="0">
                <a:solidFill>
                  <a:srgbClr val="1F3A56"/>
                </a:solidFill>
                <a:latin typeface="Noto Sans JP Medium" pitchFamily="34" charset="0"/>
                <a:ea typeface="Noto Sans JP Medium" pitchFamily="34" charset="-122"/>
                <a:cs typeface="Noto Sans JP Medium" pitchFamily="34" charset="-120"/>
              </a:rPr>
              <a:t>トレーディング（RtM）</a:t>
            </a:r>
            <a:pPr algn="l" indent="0" marL="0">
              <a:lnSpc>
                <a:spcPts val="1302"/>
              </a:lnSpc>
              <a:buNone/>
            </a:pPr>
            <a:r>
              <a:rPr lang="en-US" sz="840" spc="30" kern="0" dirty="0">
                <a:solidFill>
                  <a:srgbClr val="121519"/>
                </a:solidFill>
                <a:latin typeface="Noto Sans JP Medium" pitchFamily="34" charset="0"/>
                <a:ea typeface="Noto Sans JP Medium" pitchFamily="34" charset="-122"/>
                <a:cs typeface="Noto Sans JP Medium" pitchFamily="34" charset="-120"/>
              </a:rPr>
              <a:t>　川上から川下まで、流れをつなぐ　</a:t>
            </a:r>
            <a:pPr algn="l" indent="0" marL="0">
              <a:lnSpc>
                <a:spcPts val="1302"/>
              </a:lnSpc>
              <a:buNone/>
            </a:pPr>
            <a:r>
              <a:rPr lang="en-US" sz="670" spc="30" kern="0" dirty="0">
                <a:solidFill>
                  <a:srgbClr val="7D838A"/>
                </a:solidFill>
                <a:latin typeface="Noto Sans JP" pitchFamily="34" charset="0"/>
                <a:ea typeface="Noto Sans JP" pitchFamily="34" charset="-122"/>
                <a:cs typeface="Noto Sans JP" pitchFamily="34" charset="-120"/>
              </a:rPr>
              <a:t>金属資源トレーディング本部</a:t>
            </a:r>
            <a:endParaRPr lang="en-US" sz="840" dirty="0"/>
          </a:p>
        </p:txBody>
      </p:sp>
      <p:sp>
        <p:nvSpPr>
          <p:cNvPr id="20" name="Text 18"/>
          <p:cNvSpPr/>
          <p:nvPr/>
        </p:nvSpPr>
        <p:spPr>
          <a:xfrm>
            <a:off x="7134166" y="2736521"/>
            <a:ext cx="854667" cy="260210"/>
          </a:xfrm>
          <a:prstGeom prst="rect">
            <a:avLst/>
          </a:prstGeom>
          <a:noFill/>
          <a:ln/>
        </p:spPr>
        <p:txBody>
          <a:bodyPr wrap="none" lIns="0" tIns="0" rIns="0" bIns="0" rtlCol="0" anchor="t"/>
          <a:lstStyle/>
          <a:p>
            <a:pPr algn="l" indent="0" marL="0">
              <a:lnSpc>
                <a:spcPts val="1024"/>
              </a:lnSpc>
              <a:buNone/>
            </a:pPr>
            <a:r>
              <a:rPr lang="en-US" sz="640" dirty="0">
                <a:solidFill>
                  <a:srgbClr val="7D838A"/>
                </a:solidFill>
                <a:latin typeface="Noto Sans JP" pitchFamily="34" charset="0"/>
                <a:ea typeface="Noto Sans JP" pitchFamily="34" charset="-122"/>
                <a:cs typeface="Noto Sans JP" pitchFamily="34" charset="-120"/>
              </a:rPr>
              <a:t>市場の情報を投資へ</a:t>
            </a:r>
            <a:endParaRPr lang="en-US" sz="640" dirty="0"/>
          </a:p>
          <a:p>
            <a:pPr algn="l" indent="0" marL="0">
              <a:lnSpc>
                <a:spcPts val="1024"/>
              </a:lnSpc>
              <a:buNone/>
            </a:pPr>
            <a:r>
              <a:rPr lang="en-US" sz="640" dirty="0">
                <a:solidFill>
                  <a:srgbClr val="7D838A"/>
                </a:solidFill>
                <a:latin typeface="Noto Sans JP" pitchFamily="34" charset="0"/>
                <a:ea typeface="Noto Sans JP" pitchFamily="34" charset="-122"/>
                <a:cs typeface="Noto Sans JP" pitchFamily="34" charset="-120"/>
              </a:rPr>
              <a:t>投資の資源を市場へ</a:t>
            </a:r>
            <a:endParaRPr lang="en-US" sz="640" dirty="0"/>
          </a:p>
        </p:txBody>
      </p:sp>
      <p:sp>
        <p:nvSpPr>
          <p:cNvPr id="21" name="Text 19"/>
          <p:cNvSpPr/>
          <p:nvPr/>
        </p:nvSpPr>
        <p:spPr>
          <a:xfrm>
            <a:off x="1092677" y="6957051"/>
            <a:ext cx="3278866" cy="138236"/>
          </a:xfrm>
          <a:prstGeom prst="rect">
            <a:avLst/>
          </a:prstGeom>
          <a:noFill/>
          <a:ln/>
        </p:spPr>
        <p:txBody>
          <a:bodyPr wrap="none" lIns="0" tIns="0" rIns="0" bIns="0" rtlCol="0" anchor="t"/>
          <a:lstStyle/>
          <a:p>
            <a:pPr algn="l" indent="0" marL="0">
              <a:lnSpc>
                <a:spcPts val="1088"/>
              </a:lnSpc>
              <a:buNone/>
            </a:pPr>
            <a:r>
              <a:rPr lang="en-US" sz="680" dirty="0">
                <a:solidFill>
                  <a:srgbClr val="A8622F"/>
                </a:solidFill>
                <a:latin typeface="Noto Sans JP" pitchFamily="34" charset="0"/>
                <a:ea typeface="Noto Sans JP" pitchFamily="34" charset="-122"/>
                <a:cs typeface="Noto Sans JP" pitchFamily="34" charset="-120"/>
              </a:rPr>
              <a:t>新技術への投資　業界のボトルネックに挑む技術が、流れ全体を進化させる</a:t>
            </a:r>
            <a:endParaRPr lang="en-US" sz="680" dirty="0"/>
          </a:p>
        </p:txBody>
      </p:sp>
      <p:sp>
        <p:nvSpPr>
          <p:cNvPr id="22" name="Text 20"/>
          <p:cNvSpPr/>
          <p:nvPr/>
        </p:nvSpPr>
        <p:spPr>
          <a:xfrm>
            <a:off x="825464" y="3208151"/>
            <a:ext cx="135334" cy="139761"/>
          </a:xfrm>
          <a:prstGeom prst="rect">
            <a:avLst/>
          </a:prstGeom>
          <a:noFill/>
          <a:ln/>
        </p:spPr>
        <p:txBody>
          <a:bodyPr wrap="none" lIns="0" tIns="0" rIns="0" bIns="0" rtlCol="0" anchor="t"/>
          <a:lstStyle/>
          <a:p>
            <a:pPr algn="l" indent="0" marL="0">
              <a:lnSpc>
                <a:spcPts val="1100"/>
              </a:lnSpc>
              <a:buNone/>
            </a:pPr>
            <a:r>
              <a:rPr lang="en-US" sz="880" dirty="0">
                <a:solidFill>
                  <a:srgbClr val="FFFFFF"/>
                </a:solidFill>
                <a:latin typeface="Inter Tight SemiBold" pitchFamily="34" charset="0"/>
                <a:ea typeface="Inter Tight SemiBold" pitchFamily="34" charset="-122"/>
                <a:cs typeface="Inter Tight SemiBold" pitchFamily="34" charset="-120"/>
              </a:rPr>
              <a:t>A</a:t>
            </a:r>
            <a:endParaRPr lang="en-US" sz="880" dirty="0"/>
          </a:p>
        </p:txBody>
      </p:sp>
      <p:sp>
        <p:nvSpPr>
          <p:cNvPr id="23" name="Text 21"/>
          <p:cNvSpPr/>
          <p:nvPr/>
        </p:nvSpPr>
        <p:spPr>
          <a:xfrm>
            <a:off x="6159214" y="2572874"/>
            <a:ext cx="127254" cy="139761"/>
          </a:xfrm>
          <a:prstGeom prst="rect">
            <a:avLst/>
          </a:prstGeom>
          <a:noFill/>
          <a:ln/>
        </p:spPr>
        <p:txBody>
          <a:bodyPr wrap="none" lIns="0" tIns="0" rIns="0" bIns="0" rtlCol="0" anchor="t"/>
          <a:lstStyle/>
          <a:p>
            <a:pPr algn="l" indent="0" marL="0">
              <a:lnSpc>
                <a:spcPts val="1100"/>
              </a:lnSpc>
              <a:buNone/>
            </a:pPr>
            <a:r>
              <a:rPr lang="en-US" sz="880" dirty="0">
                <a:solidFill>
                  <a:srgbClr val="FFFFFF"/>
                </a:solidFill>
                <a:latin typeface="Inter Tight SemiBold" pitchFamily="34" charset="0"/>
                <a:ea typeface="Inter Tight SemiBold" pitchFamily="34" charset="-122"/>
                <a:cs typeface="Inter Tight SemiBold" pitchFamily="34" charset="-120"/>
              </a:rPr>
              <a:t>B</a:t>
            </a:r>
            <a:endParaRPr lang="en-US" sz="880" dirty="0"/>
          </a:p>
        </p:txBody>
      </p:sp>
      <p:sp>
        <p:nvSpPr>
          <p:cNvPr id="24" name="Text 22"/>
          <p:cNvSpPr/>
          <p:nvPr/>
        </p:nvSpPr>
        <p:spPr>
          <a:xfrm>
            <a:off x="14216120" y="6791116"/>
            <a:ext cx="137736" cy="139761"/>
          </a:xfrm>
          <a:prstGeom prst="rect">
            <a:avLst/>
          </a:prstGeom>
          <a:noFill/>
          <a:ln/>
        </p:spPr>
        <p:txBody>
          <a:bodyPr wrap="none" lIns="0" tIns="0" rIns="0" bIns="0" rtlCol="0" anchor="t"/>
          <a:lstStyle/>
          <a:p>
            <a:pPr algn="l" indent="0" marL="0">
              <a:lnSpc>
                <a:spcPts val="1100"/>
              </a:lnSpc>
              <a:buNone/>
            </a:pPr>
            <a:r>
              <a:rPr lang="en-US" sz="880" dirty="0">
                <a:solidFill>
                  <a:srgbClr val="FFFFFF"/>
                </a:solidFill>
                <a:latin typeface="Inter Tight SemiBold" pitchFamily="34" charset="0"/>
                <a:ea typeface="Inter Tight SemiBold" pitchFamily="34" charset="-122"/>
                <a:cs typeface="Inter Tight SemiBold" pitchFamily="34" charset="-120"/>
              </a:rPr>
              <a:t>C</a:t>
            </a:r>
            <a:endParaRPr lang="en-US" sz="880" dirty="0"/>
          </a:p>
        </p:txBody>
      </p:sp>
      <p:sp>
        <p:nvSpPr>
          <p:cNvPr id="25" name="Text 23"/>
          <p:cNvSpPr/>
          <p:nvPr/>
        </p:nvSpPr>
        <p:spPr>
          <a:xfrm>
            <a:off x="14426953" y="4097540"/>
            <a:ext cx="120921" cy="139761"/>
          </a:xfrm>
          <a:prstGeom prst="rect">
            <a:avLst/>
          </a:prstGeom>
          <a:noFill/>
          <a:ln/>
        </p:spPr>
        <p:txBody>
          <a:bodyPr wrap="none" lIns="0" tIns="0" rIns="0" bIns="0" rtlCol="0" anchor="t"/>
          <a:lstStyle/>
          <a:p>
            <a:pPr algn="l" indent="0" marL="0">
              <a:lnSpc>
                <a:spcPts val="1100"/>
              </a:lnSpc>
              <a:buNone/>
            </a:pPr>
            <a:r>
              <a:rPr lang="en-US" sz="880" dirty="0">
                <a:solidFill>
                  <a:srgbClr val="FFFFFF"/>
                </a:solidFill>
                <a:latin typeface="Inter Tight SemiBold" pitchFamily="34" charset="0"/>
                <a:ea typeface="Inter Tight SemiBold" pitchFamily="34" charset="-122"/>
                <a:cs typeface="Inter Tight SemiBold" pitchFamily="34" charset="-120"/>
              </a:rPr>
              <a:t>E</a:t>
            </a:r>
            <a:endParaRPr lang="en-US" sz="880" dirty="0"/>
          </a:p>
        </p:txBody>
      </p:sp>
      <p:sp>
        <p:nvSpPr>
          <p:cNvPr id="26" name="Text 24"/>
          <p:cNvSpPr/>
          <p:nvPr/>
        </p:nvSpPr>
        <p:spPr>
          <a:xfrm>
            <a:off x="825464" y="7299338"/>
            <a:ext cx="135334" cy="139761"/>
          </a:xfrm>
          <a:prstGeom prst="rect">
            <a:avLst/>
          </a:prstGeom>
          <a:noFill/>
          <a:ln/>
        </p:spPr>
        <p:txBody>
          <a:bodyPr wrap="none" lIns="0" tIns="0" rIns="0" bIns="0" rtlCol="0" anchor="t"/>
          <a:lstStyle/>
          <a:p>
            <a:pPr algn="l" indent="0" marL="0">
              <a:lnSpc>
                <a:spcPts val="1100"/>
              </a:lnSpc>
              <a:buNone/>
            </a:pPr>
            <a:r>
              <a:rPr lang="en-US" sz="880" dirty="0">
                <a:solidFill>
                  <a:srgbClr val="FFFFFF"/>
                </a:solidFill>
                <a:latin typeface="Inter Tight SemiBold" pitchFamily="34" charset="0"/>
                <a:ea typeface="Inter Tight SemiBold" pitchFamily="34" charset="-122"/>
                <a:cs typeface="Inter Tight SemiBold" pitchFamily="34" charset="-120"/>
              </a:rPr>
              <a:t>D</a:t>
            </a:r>
            <a:endParaRPr lang="en-US" sz="880" dirty="0"/>
          </a:p>
        </p:txBody>
      </p:sp>
      <p:sp>
        <p:nvSpPr>
          <p:cNvPr id="27" name="Text 25"/>
          <p:cNvSpPr/>
          <p:nvPr/>
        </p:nvSpPr>
        <p:spPr>
          <a:xfrm>
            <a:off x="1270555" y="7439862"/>
            <a:ext cx="1756125" cy="138236"/>
          </a:xfrm>
          <a:prstGeom prst="rect">
            <a:avLst/>
          </a:prstGeom>
          <a:noFill/>
          <a:ln/>
        </p:spPr>
        <p:txBody>
          <a:bodyPr wrap="none" lIns="0" tIns="0" rIns="0" bIns="0" rtlCol="0" anchor="t"/>
          <a:lstStyle/>
          <a:p>
            <a:pPr algn="l" indent="0" marL="0">
              <a:lnSpc>
                <a:spcPts val="1088"/>
              </a:lnSpc>
              <a:buNone/>
            </a:pPr>
            <a:r>
              <a:rPr lang="en-US" sz="680" dirty="0">
                <a:solidFill>
                  <a:srgbClr val="121519"/>
                </a:solidFill>
                <a:latin typeface="Noto Sans JP" pitchFamily="34" charset="0"/>
                <a:ea typeface="Noto Sans JP" pitchFamily="34" charset="-122"/>
                <a:cs typeface="Noto Sans JP" pitchFamily="34" charset="-120"/>
              </a:rPr>
              <a:t>長い時間をかけて、流れに関わり続ける</a:t>
            </a:r>
            <a:endParaRPr lang="en-US" sz="680" dirty="0"/>
          </a:p>
        </p:txBody>
      </p:sp>
      <p:sp>
        <p:nvSpPr>
          <p:cNvPr id="28" name="Text 26"/>
          <p:cNvSpPr/>
          <p:nvPr/>
        </p:nvSpPr>
        <p:spPr>
          <a:xfrm>
            <a:off x="12481336" y="3935163"/>
            <a:ext cx="1621824" cy="134171"/>
          </a:xfrm>
          <a:prstGeom prst="rect">
            <a:avLst/>
          </a:prstGeom>
          <a:noFill/>
          <a:ln/>
        </p:spPr>
        <p:txBody>
          <a:bodyPr wrap="none" lIns="0" tIns="0" rIns="0" bIns="0" rtlCol="0" anchor="t"/>
          <a:lstStyle/>
          <a:p>
            <a:pPr algn="r" indent="0" marL="0">
              <a:lnSpc>
                <a:spcPts val="1056"/>
              </a:lnSpc>
              <a:buNone/>
            </a:pPr>
            <a:r>
              <a:rPr lang="en-US" sz="660" dirty="0">
                <a:solidFill>
                  <a:srgbClr val="C8102E"/>
                </a:solidFill>
                <a:latin typeface="Noto Sans JP" pitchFamily="34" charset="0"/>
                <a:ea typeface="Noto Sans JP" pitchFamily="34" charset="-122"/>
                <a:cs typeface="Noto Sans JP" pitchFamily="34" charset="-120"/>
              </a:rPr>
              <a:t>原料炭・銅・トレーディング　→ P.08</a:t>
            </a:r>
            <a:endParaRPr lang="en-US" sz="660" dirty="0"/>
          </a:p>
        </p:txBody>
      </p:sp>
      <p:sp>
        <p:nvSpPr>
          <p:cNvPr id="29" name="Text 27"/>
          <p:cNvSpPr/>
          <p:nvPr/>
        </p:nvSpPr>
        <p:spPr>
          <a:xfrm>
            <a:off x="579492" y="8423779"/>
            <a:ext cx="145598" cy="152467"/>
          </a:xfrm>
          <a:prstGeom prst="rect">
            <a:avLst/>
          </a:prstGeom>
          <a:noFill/>
          <a:ln/>
        </p:spPr>
        <p:txBody>
          <a:bodyPr wrap="none" lIns="0" tIns="0" rIns="0" bIns="0" rtlCol="0" anchor="t"/>
          <a:lstStyle/>
          <a:p>
            <a:pPr algn="l" indent="0" marL="0">
              <a:lnSpc>
                <a:spcPts val="1200"/>
              </a:lnSpc>
              <a:buNone/>
            </a:pPr>
            <a:r>
              <a:rPr lang="en-US" sz="990" dirty="0">
                <a:solidFill>
                  <a:srgbClr val="FFFFFF"/>
                </a:solidFill>
                <a:latin typeface="Inter Tight SemiBold" pitchFamily="34" charset="0"/>
                <a:ea typeface="Inter Tight SemiBold" pitchFamily="34" charset="-122"/>
                <a:cs typeface="Inter Tight SemiBold" pitchFamily="34" charset="-120"/>
              </a:rPr>
              <a:t>A</a:t>
            </a:r>
            <a:endParaRPr lang="en-US" sz="990" dirty="0"/>
          </a:p>
        </p:txBody>
      </p:sp>
      <p:sp>
        <p:nvSpPr>
          <p:cNvPr id="30" name="Text 28"/>
          <p:cNvSpPr/>
          <p:nvPr/>
        </p:nvSpPr>
        <p:spPr>
          <a:xfrm>
            <a:off x="838566" y="8379628"/>
            <a:ext cx="1090732"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持つ力・つなぐ力</a:t>
            </a:r>
            <a:endParaRPr lang="en-US" sz="900" dirty="0"/>
          </a:p>
        </p:txBody>
      </p:sp>
      <p:sp>
        <p:nvSpPr>
          <p:cNvPr id="31" name="Text 29"/>
          <p:cNvSpPr/>
          <p:nvPr/>
        </p:nvSpPr>
        <p:spPr>
          <a:xfrm>
            <a:off x="838566" y="8555663"/>
            <a:ext cx="1205816" cy="130105"/>
          </a:xfrm>
          <a:prstGeom prst="rect">
            <a:avLst/>
          </a:prstGeom>
          <a:noFill/>
          <a:ln/>
        </p:spPr>
        <p:txBody>
          <a:bodyPr wrap="none" lIns="0" tIns="0" rIns="0" bIns="0" rtlCol="0" anchor="t"/>
          <a:lstStyle/>
          <a:p>
            <a:pPr algn="l" indent="0" marL="0">
              <a:lnSpc>
                <a:spcPts val="1024"/>
              </a:lnSpc>
              <a:buNone/>
            </a:pPr>
            <a:r>
              <a:rPr lang="en-US" sz="640" dirty="0">
                <a:solidFill>
                  <a:srgbClr val="9C7442"/>
                </a:solidFill>
                <a:latin typeface="Noto Sans JP" pitchFamily="34" charset="0"/>
                <a:ea typeface="Noto Sans JP" pitchFamily="34" charset="-122"/>
                <a:cs typeface="Noto Sans JP" pitchFamily="34" charset="-120"/>
              </a:rPr>
              <a:t>投資とトレーディングの両輪</a:t>
            </a:r>
            <a:endParaRPr lang="en-US" sz="640" dirty="0"/>
          </a:p>
        </p:txBody>
      </p:sp>
      <p:sp>
        <p:nvSpPr>
          <p:cNvPr id="32" name="Text 30"/>
          <p:cNvSpPr/>
          <p:nvPr/>
        </p:nvSpPr>
        <p:spPr>
          <a:xfrm>
            <a:off x="508222" y="8816063"/>
            <a:ext cx="2915924" cy="311286"/>
          </a:xfrm>
          <a:prstGeom prst="rect">
            <a:avLst/>
          </a:prstGeom>
          <a:noFill/>
          <a:ln/>
        </p:spPr>
        <p:txBody>
          <a:bodyPr wrap="none" lIns="0" tIns="0" rIns="0" bIns="0" rtlCol="0" anchor="t"/>
          <a:lstStyle/>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資源に投資して育てる力と、市場へ届ける力の両方を持つ。鉱</a:t>
            </a:r>
            <a:endParaRPr lang="en-US" sz="700" dirty="0"/>
          </a:p>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山会社でも、純粋なトレーダーでもない立ち位置。</a:t>
            </a:r>
            <a:endParaRPr lang="en-US" sz="700" dirty="0"/>
          </a:p>
        </p:txBody>
      </p:sp>
      <p:sp>
        <p:nvSpPr>
          <p:cNvPr id="33" name="Text 31"/>
          <p:cNvSpPr/>
          <p:nvPr/>
        </p:nvSpPr>
        <p:spPr>
          <a:xfrm>
            <a:off x="3455115" y="8423779"/>
            <a:ext cx="136426" cy="152467"/>
          </a:xfrm>
          <a:prstGeom prst="rect">
            <a:avLst/>
          </a:prstGeom>
          <a:noFill/>
          <a:ln/>
        </p:spPr>
        <p:txBody>
          <a:bodyPr wrap="none" lIns="0" tIns="0" rIns="0" bIns="0" rtlCol="0" anchor="t"/>
          <a:lstStyle/>
          <a:p>
            <a:pPr algn="l" indent="0" marL="0">
              <a:lnSpc>
                <a:spcPts val="1200"/>
              </a:lnSpc>
              <a:buNone/>
            </a:pPr>
            <a:r>
              <a:rPr lang="en-US" sz="990" dirty="0">
                <a:solidFill>
                  <a:srgbClr val="FFFFFF"/>
                </a:solidFill>
                <a:latin typeface="Inter Tight SemiBold" pitchFamily="34" charset="0"/>
                <a:ea typeface="Inter Tight SemiBold" pitchFamily="34" charset="-122"/>
                <a:cs typeface="Inter Tight SemiBold" pitchFamily="34" charset="-120"/>
              </a:rPr>
              <a:t>B</a:t>
            </a:r>
            <a:endParaRPr lang="en-US" sz="990" dirty="0"/>
          </a:p>
        </p:txBody>
      </p:sp>
      <p:sp>
        <p:nvSpPr>
          <p:cNvPr id="34" name="Text 32"/>
          <p:cNvSpPr/>
          <p:nvPr/>
        </p:nvSpPr>
        <p:spPr>
          <a:xfrm>
            <a:off x="3710020" y="8379628"/>
            <a:ext cx="960798"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互いを強め合う</a:t>
            </a:r>
            <a:endParaRPr lang="en-US" sz="900" dirty="0"/>
          </a:p>
        </p:txBody>
      </p:sp>
      <p:sp>
        <p:nvSpPr>
          <p:cNvPr id="35" name="Text 33"/>
          <p:cNvSpPr/>
          <p:nvPr/>
        </p:nvSpPr>
        <p:spPr>
          <a:xfrm>
            <a:off x="3710020" y="8555663"/>
            <a:ext cx="943983" cy="130105"/>
          </a:xfrm>
          <a:prstGeom prst="rect">
            <a:avLst/>
          </a:prstGeom>
          <a:noFill/>
          <a:ln/>
        </p:spPr>
        <p:txBody>
          <a:bodyPr wrap="none" lIns="0" tIns="0" rIns="0" bIns="0" rtlCol="0" anchor="t"/>
          <a:lstStyle/>
          <a:p>
            <a:pPr algn="l" indent="0" marL="0">
              <a:lnSpc>
                <a:spcPts val="1024"/>
              </a:lnSpc>
              <a:buNone/>
            </a:pPr>
            <a:r>
              <a:rPr lang="en-US" sz="640" dirty="0">
                <a:solidFill>
                  <a:srgbClr val="3D4249"/>
                </a:solidFill>
                <a:latin typeface="Noto Sans JP" pitchFamily="34" charset="0"/>
                <a:ea typeface="Noto Sans JP" pitchFamily="34" charset="-122"/>
                <a:cs typeface="Noto Sans JP" pitchFamily="34" charset="-120"/>
              </a:rPr>
              <a:t>一方通行ではない循環</a:t>
            </a:r>
            <a:endParaRPr lang="en-US" sz="640" dirty="0"/>
          </a:p>
        </p:txBody>
      </p:sp>
      <p:sp>
        <p:nvSpPr>
          <p:cNvPr id="36" name="Text 34"/>
          <p:cNvSpPr/>
          <p:nvPr/>
        </p:nvSpPr>
        <p:spPr>
          <a:xfrm>
            <a:off x="3379676" y="8816063"/>
            <a:ext cx="2915924" cy="311286"/>
          </a:xfrm>
          <a:prstGeom prst="rect">
            <a:avLst/>
          </a:prstGeom>
          <a:noFill/>
          <a:ln/>
        </p:spPr>
        <p:txBody>
          <a:bodyPr wrap="none" lIns="0" tIns="0" rIns="0" bIns="0" rtlCol="0" anchor="t"/>
          <a:lstStyle/>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トレーディングで得た市場の情報を投資判断に生かし、投資で</a:t>
            </a:r>
            <a:endParaRPr lang="en-US" sz="700" dirty="0"/>
          </a:p>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得た資源をトレーディングで市場へ届ける。</a:t>
            </a:r>
            <a:endParaRPr lang="en-US" sz="700" dirty="0"/>
          </a:p>
        </p:txBody>
      </p:sp>
      <p:sp>
        <p:nvSpPr>
          <p:cNvPr id="37" name="Text 35"/>
          <p:cNvSpPr/>
          <p:nvPr/>
        </p:nvSpPr>
        <p:spPr>
          <a:xfrm>
            <a:off x="6321011" y="8423779"/>
            <a:ext cx="148437" cy="152467"/>
          </a:xfrm>
          <a:prstGeom prst="rect">
            <a:avLst/>
          </a:prstGeom>
          <a:noFill/>
          <a:ln/>
        </p:spPr>
        <p:txBody>
          <a:bodyPr wrap="none" lIns="0" tIns="0" rIns="0" bIns="0" rtlCol="0" anchor="t"/>
          <a:lstStyle/>
          <a:p>
            <a:pPr algn="l" indent="0" marL="0">
              <a:lnSpc>
                <a:spcPts val="1200"/>
              </a:lnSpc>
              <a:buNone/>
            </a:pPr>
            <a:r>
              <a:rPr lang="en-US" sz="990" dirty="0">
                <a:solidFill>
                  <a:srgbClr val="FFFFFF"/>
                </a:solidFill>
                <a:latin typeface="Inter Tight SemiBold" pitchFamily="34" charset="0"/>
                <a:ea typeface="Inter Tight SemiBold" pitchFamily="34" charset="-122"/>
                <a:cs typeface="Inter Tight SemiBold" pitchFamily="34" charset="-120"/>
              </a:rPr>
              <a:t>C</a:t>
            </a:r>
            <a:endParaRPr lang="en-US" sz="990" dirty="0"/>
          </a:p>
        </p:txBody>
      </p:sp>
      <p:sp>
        <p:nvSpPr>
          <p:cNvPr id="38" name="Text 36"/>
          <p:cNvSpPr/>
          <p:nvPr/>
        </p:nvSpPr>
        <p:spPr>
          <a:xfrm>
            <a:off x="6581475" y="8379628"/>
            <a:ext cx="1350818"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流れ全体を進化させる</a:t>
            </a:r>
            <a:endParaRPr lang="en-US" sz="900" dirty="0"/>
          </a:p>
        </p:txBody>
      </p:sp>
      <p:sp>
        <p:nvSpPr>
          <p:cNvPr id="39" name="Text 37"/>
          <p:cNvSpPr/>
          <p:nvPr/>
        </p:nvSpPr>
        <p:spPr>
          <a:xfrm>
            <a:off x="6581475" y="8555663"/>
            <a:ext cx="676034" cy="130105"/>
          </a:xfrm>
          <a:prstGeom prst="rect">
            <a:avLst/>
          </a:prstGeom>
          <a:noFill/>
          <a:ln/>
        </p:spPr>
        <p:txBody>
          <a:bodyPr wrap="none" lIns="0" tIns="0" rIns="0" bIns="0" rtlCol="0" anchor="t"/>
          <a:lstStyle/>
          <a:p>
            <a:pPr algn="l" indent="0" marL="0">
              <a:lnSpc>
                <a:spcPts val="1024"/>
              </a:lnSpc>
              <a:buNone/>
            </a:pPr>
            <a:r>
              <a:rPr lang="en-US" sz="640" dirty="0">
                <a:solidFill>
                  <a:srgbClr val="A8622F"/>
                </a:solidFill>
                <a:latin typeface="Noto Sans JP" pitchFamily="34" charset="0"/>
                <a:ea typeface="Noto Sans JP" pitchFamily="34" charset="-122"/>
                <a:cs typeface="Noto Sans JP" pitchFamily="34" charset="-120"/>
              </a:rPr>
              <a:t>新技術への投資</a:t>
            </a:r>
            <a:endParaRPr lang="en-US" sz="640" dirty="0"/>
          </a:p>
        </p:txBody>
      </p:sp>
      <p:sp>
        <p:nvSpPr>
          <p:cNvPr id="40" name="Text 38"/>
          <p:cNvSpPr/>
          <p:nvPr/>
        </p:nvSpPr>
        <p:spPr>
          <a:xfrm>
            <a:off x="6251130" y="8816063"/>
            <a:ext cx="2915924" cy="311286"/>
          </a:xfrm>
          <a:prstGeom prst="rect">
            <a:avLst/>
          </a:prstGeom>
          <a:noFill/>
          <a:ln/>
        </p:spPr>
        <p:txBody>
          <a:bodyPr wrap="none" lIns="0" tIns="0" rIns="0" bIns="0" rtlCol="0" anchor="t"/>
          <a:lstStyle/>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業界の課題に挑む新技術に投資し、その知見を投資とトレーデ</a:t>
            </a:r>
            <a:endParaRPr lang="en-US" sz="700" dirty="0"/>
          </a:p>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ィングの両方に還元する。</a:t>
            </a:r>
            <a:endParaRPr lang="en-US" sz="700" dirty="0"/>
          </a:p>
        </p:txBody>
      </p:sp>
      <p:sp>
        <p:nvSpPr>
          <p:cNvPr id="41" name="Text 39"/>
          <p:cNvSpPr/>
          <p:nvPr/>
        </p:nvSpPr>
        <p:spPr>
          <a:xfrm>
            <a:off x="9193855" y="8423779"/>
            <a:ext cx="145598" cy="152467"/>
          </a:xfrm>
          <a:prstGeom prst="rect">
            <a:avLst/>
          </a:prstGeom>
          <a:noFill/>
          <a:ln/>
        </p:spPr>
        <p:txBody>
          <a:bodyPr wrap="none" lIns="0" tIns="0" rIns="0" bIns="0" rtlCol="0" anchor="t"/>
          <a:lstStyle/>
          <a:p>
            <a:pPr algn="l" indent="0" marL="0">
              <a:lnSpc>
                <a:spcPts val="1200"/>
              </a:lnSpc>
              <a:buNone/>
            </a:pPr>
            <a:r>
              <a:rPr lang="en-US" sz="990" dirty="0">
                <a:solidFill>
                  <a:srgbClr val="FFFFFF"/>
                </a:solidFill>
                <a:latin typeface="Inter Tight SemiBold" pitchFamily="34" charset="0"/>
                <a:ea typeface="Inter Tight SemiBold" pitchFamily="34" charset="-122"/>
                <a:cs typeface="Inter Tight SemiBold" pitchFamily="34" charset="-120"/>
              </a:rPr>
              <a:t>D</a:t>
            </a:r>
            <a:endParaRPr lang="en-US" sz="990" dirty="0"/>
          </a:p>
        </p:txBody>
      </p:sp>
      <p:sp>
        <p:nvSpPr>
          <p:cNvPr id="42" name="Text 40"/>
          <p:cNvSpPr/>
          <p:nvPr/>
        </p:nvSpPr>
        <p:spPr>
          <a:xfrm>
            <a:off x="9452929" y="8379628"/>
            <a:ext cx="1090732"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長い時間をかけて</a:t>
            </a:r>
            <a:endParaRPr lang="en-US" sz="900" dirty="0"/>
          </a:p>
        </p:txBody>
      </p:sp>
      <p:sp>
        <p:nvSpPr>
          <p:cNvPr id="43" name="Text 41"/>
          <p:cNvSpPr/>
          <p:nvPr/>
        </p:nvSpPr>
        <p:spPr>
          <a:xfrm>
            <a:off x="9452929" y="8555663"/>
            <a:ext cx="854667" cy="130105"/>
          </a:xfrm>
          <a:prstGeom prst="rect">
            <a:avLst/>
          </a:prstGeom>
          <a:noFill/>
          <a:ln/>
        </p:spPr>
        <p:txBody>
          <a:bodyPr wrap="none" lIns="0" tIns="0" rIns="0" bIns="0" rtlCol="0" anchor="t"/>
          <a:lstStyle/>
          <a:p>
            <a:pPr algn="l" indent="0" marL="0">
              <a:lnSpc>
                <a:spcPts val="1024"/>
              </a:lnSpc>
              <a:buNone/>
            </a:pPr>
            <a:r>
              <a:rPr lang="en-US" sz="640" dirty="0">
                <a:solidFill>
                  <a:srgbClr val="121519"/>
                </a:solidFill>
                <a:latin typeface="Noto Sans JP" pitchFamily="34" charset="0"/>
                <a:ea typeface="Noto Sans JP" pitchFamily="34" charset="-122"/>
                <a:cs typeface="Noto Sans JP" pitchFamily="34" charset="-120"/>
              </a:rPr>
              <a:t>積み重ねが先見性に</a:t>
            </a:r>
            <a:endParaRPr lang="en-US" sz="640" dirty="0"/>
          </a:p>
        </p:txBody>
      </p:sp>
      <p:sp>
        <p:nvSpPr>
          <p:cNvPr id="44" name="Text 42"/>
          <p:cNvSpPr/>
          <p:nvPr/>
        </p:nvSpPr>
        <p:spPr>
          <a:xfrm>
            <a:off x="9122585" y="8816063"/>
            <a:ext cx="2915924" cy="311286"/>
          </a:xfrm>
          <a:prstGeom prst="rect">
            <a:avLst/>
          </a:prstGeom>
          <a:noFill/>
          <a:ln/>
        </p:spPr>
        <p:txBody>
          <a:bodyPr wrap="none" lIns="0" tIns="0" rIns="0" bIns="0" rtlCol="0" anchor="t"/>
          <a:lstStyle/>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市況の浮き沈みに左右されず、流れに関わり続けてきた。その</a:t>
            </a:r>
            <a:endParaRPr lang="en-US" sz="700" dirty="0"/>
          </a:p>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積み重ねが、先を見据えて手を打つ力になる。</a:t>
            </a:r>
            <a:endParaRPr lang="en-US" sz="700" dirty="0"/>
          </a:p>
        </p:txBody>
      </p:sp>
      <p:sp>
        <p:nvSpPr>
          <p:cNvPr id="45" name="Text 43"/>
          <p:cNvSpPr/>
          <p:nvPr/>
        </p:nvSpPr>
        <p:spPr>
          <a:xfrm>
            <a:off x="12072456" y="8423779"/>
            <a:ext cx="129656" cy="152467"/>
          </a:xfrm>
          <a:prstGeom prst="rect">
            <a:avLst/>
          </a:prstGeom>
          <a:noFill/>
          <a:ln/>
        </p:spPr>
        <p:txBody>
          <a:bodyPr wrap="none" lIns="0" tIns="0" rIns="0" bIns="0" rtlCol="0" anchor="t"/>
          <a:lstStyle/>
          <a:p>
            <a:pPr algn="l" indent="0" marL="0">
              <a:lnSpc>
                <a:spcPts val="1200"/>
              </a:lnSpc>
              <a:buNone/>
            </a:pPr>
            <a:r>
              <a:rPr lang="en-US" sz="990" dirty="0">
                <a:solidFill>
                  <a:srgbClr val="FFFFFF"/>
                </a:solidFill>
                <a:latin typeface="Inter Tight SemiBold" pitchFamily="34" charset="0"/>
                <a:ea typeface="Inter Tight SemiBold" pitchFamily="34" charset="-122"/>
                <a:cs typeface="Inter Tight SemiBold" pitchFamily="34" charset="-120"/>
              </a:rPr>
              <a:t>E</a:t>
            </a:r>
            <a:endParaRPr lang="en-US" sz="990" dirty="0"/>
          </a:p>
        </p:txBody>
      </p:sp>
      <p:sp>
        <p:nvSpPr>
          <p:cNvPr id="46" name="Text 44"/>
          <p:cNvSpPr/>
          <p:nvPr/>
        </p:nvSpPr>
        <p:spPr>
          <a:xfrm>
            <a:off x="12324383" y="8379628"/>
            <a:ext cx="1476822"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その結果としての、いま</a:t>
            </a:r>
            <a:endParaRPr lang="en-US" sz="900" dirty="0"/>
          </a:p>
        </p:txBody>
      </p:sp>
      <p:sp>
        <p:nvSpPr>
          <p:cNvPr id="47" name="Text 45"/>
          <p:cNvSpPr/>
          <p:nvPr/>
        </p:nvSpPr>
        <p:spPr>
          <a:xfrm>
            <a:off x="12324383" y="8555663"/>
            <a:ext cx="1205816" cy="130105"/>
          </a:xfrm>
          <a:prstGeom prst="rect">
            <a:avLst/>
          </a:prstGeom>
          <a:noFill/>
          <a:ln/>
        </p:spPr>
        <p:txBody>
          <a:bodyPr wrap="none" lIns="0" tIns="0" rIns="0" bIns="0" rtlCol="0" anchor="t"/>
          <a:lstStyle/>
          <a:p>
            <a:pPr algn="l" indent="0" marL="0">
              <a:lnSpc>
                <a:spcPts val="1024"/>
              </a:lnSpc>
              <a:buNone/>
            </a:pPr>
            <a:r>
              <a:rPr lang="en-US" sz="640" dirty="0">
                <a:solidFill>
                  <a:srgbClr val="C8102E"/>
                </a:solidFill>
                <a:latin typeface="Noto Sans JP" pitchFamily="34" charset="0"/>
                <a:ea typeface="Noto Sans JP" pitchFamily="34" charset="-122"/>
                <a:cs typeface="Noto Sans JP" pitchFamily="34" charset="-120"/>
              </a:rPr>
              <a:t>原料炭・銅・トレーディング</a:t>
            </a:r>
            <a:endParaRPr lang="en-US" sz="640" dirty="0"/>
          </a:p>
        </p:txBody>
      </p:sp>
      <p:sp>
        <p:nvSpPr>
          <p:cNvPr id="48" name="Text 46"/>
          <p:cNvSpPr/>
          <p:nvPr/>
        </p:nvSpPr>
        <p:spPr>
          <a:xfrm>
            <a:off x="11994039" y="8816063"/>
            <a:ext cx="2915924" cy="311286"/>
          </a:xfrm>
          <a:prstGeom prst="rect">
            <a:avLst/>
          </a:prstGeom>
          <a:noFill/>
          <a:ln/>
        </p:spPr>
        <p:txBody>
          <a:bodyPr wrap="none" lIns="0" tIns="0" rIns="0" bIns="0" rtlCol="0" anchor="t"/>
          <a:lstStyle/>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強みがあることの「結果」として、いまの主力事業がある。→ </a:t>
            </a:r>
            <a:endParaRPr lang="en-US" sz="700" dirty="0"/>
          </a:p>
          <a:p>
            <a:pPr algn="l" indent="0" marL="0">
              <a:lnSpc>
                <a:spcPts val="1225"/>
              </a:lnSpc>
              <a:buNone/>
            </a:pPr>
            <a:r>
              <a:rPr lang="en-US" sz="700" spc="20" kern="0" dirty="0">
                <a:solidFill>
                  <a:srgbClr val="3D4249"/>
                </a:solidFill>
                <a:latin typeface="Noto Sans JP" pitchFamily="34" charset="0"/>
                <a:ea typeface="Noto Sans JP" pitchFamily="34" charset="-122"/>
                <a:cs typeface="Noto Sans JP" pitchFamily="34" charset="-120"/>
              </a:rPr>
              <a:t>次ページへ</a:t>
            </a:r>
            <a:endParaRPr lang="en-US" sz="700" dirty="0"/>
          </a:p>
        </p:txBody>
      </p:sp>
      <p:sp>
        <p:nvSpPr>
          <p:cNvPr id="49" name="Text 47"/>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06</a:t>
            </a:r>
            <a:endParaRPr lang="en-US" sz="600" dirty="0"/>
          </a:p>
        </p:txBody>
      </p:sp>
      <p:sp>
        <p:nvSpPr>
          <p:cNvPr id="50" name="Text 48"/>
          <p:cNvSpPr/>
          <p:nvPr/>
        </p:nvSpPr>
        <p:spPr>
          <a:xfrm>
            <a:off x="14458915" y="10316906"/>
            <a:ext cx="19604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07</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8222" y="1855010"/>
            <a:ext cx="13540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PILLAR 1　原料炭事業</a:t>
            </a:r>
            <a:endParaRPr lang="en-US" sz="660" dirty="0"/>
          </a:p>
        </p:txBody>
      </p:sp>
      <p:sp>
        <p:nvSpPr>
          <p:cNvPr id="3" name="Text 1"/>
          <p:cNvSpPr/>
          <p:nvPr/>
        </p:nvSpPr>
        <p:spPr>
          <a:xfrm>
            <a:off x="508222" y="1994771"/>
            <a:ext cx="1160394"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鉄の主原料“産業のコメ”</a:t>
            </a:r>
            <a:endParaRPr lang="en-US" sz="660" dirty="0"/>
          </a:p>
        </p:txBody>
      </p:sp>
      <p:sp>
        <p:nvSpPr>
          <p:cNvPr id="4" name="Text 2"/>
          <p:cNvSpPr/>
          <p:nvPr/>
        </p:nvSpPr>
        <p:spPr>
          <a:xfrm>
            <a:off x="508222" y="2182813"/>
            <a:ext cx="2191787" cy="518386"/>
          </a:xfrm>
          <a:prstGeom prst="rect">
            <a:avLst/>
          </a:prstGeom>
          <a:noFill/>
          <a:ln/>
        </p:spPr>
        <p:txBody>
          <a:bodyPr wrap="none" lIns="0" tIns="0" rIns="0" bIns="0" rtlCol="0" anchor="t"/>
          <a:lstStyle/>
          <a:p>
            <a:pPr algn="l" indent="0" marL="0">
              <a:lnSpc>
                <a:spcPts val="2040"/>
              </a:lnSpc>
              <a:buNone/>
            </a:pPr>
            <a:r>
              <a:rPr lang="en-US" sz="2000" spc="-50" kern="0" dirty="0">
                <a:solidFill>
                  <a:srgbClr val="121519"/>
                </a:solidFill>
                <a:latin typeface="Inter Tight SemiBold" pitchFamily="34" charset="0"/>
                <a:ea typeface="Inter Tight SemiBold" pitchFamily="34" charset="-122"/>
                <a:cs typeface="Inter Tight SemiBold" pitchFamily="34" charset="-120"/>
              </a:rPr>
              <a:t>World-class</a:t>
            </a:r>
            <a:endParaRPr lang="en-US" sz="2000" dirty="0"/>
          </a:p>
          <a:p>
            <a:pPr algn="l" indent="0" marL="0">
              <a:lnSpc>
                <a:spcPts val="2040"/>
              </a:lnSpc>
              <a:buNone/>
            </a:pPr>
            <a:r>
              <a:rPr lang="en-US" sz="2000" spc="-50" kern="0" dirty="0">
                <a:solidFill>
                  <a:srgbClr val="121519"/>
                </a:solidFill>
                <a:latin typeface="Inter Tight SemiBold" pitchFamily="34" charset="0"/>
                <a:ea typeface="Inter Tight SemiBold" pitchFamily="34" charset="-122"/>
                <a:cs typeface="Inter Tight SemiBold" pitchFamily="34" charset="-120"/>
              </a:rPr>
              <a:t>metallurgical coal.</a:t>
            </a:r>
            <a:endParaRPr lang="en-US" sz="2000" dirty="0"/>
          </a:p>
        </p:txBody>
      </p:sp>
      <p:sp>
        <p:nvSpPr>
          <p:cNvPr id="5" name="Text 3"/>
          <p:cNvSpPr/>
          <p:nvPr/>
        </p:nvSpPr>
        <p:spPr>
          <a:xfrm>
            <a:off x="508222" y="2921641"/>
            <a:ext cx="2673307" cy="179148"/>
          </a:xfrm>
          <a:prstGeom prst="rect">
            <a:avLst/>
          </a:prstGeom>
          <a:noFill/>
          <a:ln/>
        </p:spPr>
        <p:txBody>
          <a:bodyPr wrap="none" lIns="0" tIns="0" rIns="0" bIns="0" rtlCol="0" anchor="t"/>
          <a:lstStyle/>
          <a:p>
            <a:pPr algn="l" indent="0" marL="0">
              <a:lnSpc>
                <a:spcPts val="1410"/>
              </a:lnSpc>
              <a:buNone/>
            </a:pPr>
            <a:r>
              <a:rPr lang="en-US" sz="940" spc="50" kern="0" dirty="0">
                <a:solidFill>
                  <a:srgbClr val="121519"/>
                </a:solidFill>
                <a:latin typeface="Noto Sans JP Medium" pitchFamily="34" charset="0"/>
                <a:ea typeface="Noto Sans JP Medium" pitchFamily="34" charset="-122"/>
                <a:cs typeface="Noto Sans JP Medium" pitchFamily="34" charset="-120"/>
              </a:rPr>
              <a:t>社会に欠かせない資源を、世界最高品位で</a:t>
            </a:r>
            <a:endParaRPr lang="en-US" sz="940" dirty="0"/>
          </a:p>
        </p:txBody>
      </p:sp>
      <p:sp>
        <p:nvSpPr>
          <p:cNvPr id="6" name="Text 4"/>
          <p:cNvSpPr/>
          <p:nvPr/>
        </p:nvSpPr>
        <p:spPr>
          <a:xfrm>
            <a:off x="508222" y="3171528"/>
            <a:ext cx="3614729" cy="486559"/>
          </a:xfrm>
          <a:prstGeom prst="rect">
            <a:avLst/>
          </a:prstGeom>
          <a:noFill/>
          <a:ln/>
        </p:spPr>
        <p:txBody>
          <a:bodyPr wrap="none" lIns="0" tIns="0" rIns="0" bIns="0" rtlCol="0" anchor="t"/>
          <a:lstStyle/>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原料炭は鉄の主原料。鉄はこれからも底堅く必要とされます。BHPと50:50の合</a:t>
            </a:r>
            <a:endParaRPr lang="en-US" sz="690" dirty="0"/>
          </a:p>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弁BMAを通じ、豪州ボーエン・ベースンの世界最高品位の炭鉱に参画。長期に</a:t>
            </a:r>
            <a:endParaRPr lang="en-US" sz="690" dirty="0"/>
          </a:p>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わたるコミットメントで、一級資産を育ててきました。</a:t>
            </a:r>
            <a:endParaRPr lang="en-US" sz="690" dirty="0"/>
          </a:p>
        </p:txBody>
      </p:sp>
      <p:sp>
        <p:nvSpPr>
          <p:cNvPr id="7" name="Text 5"/>
          <p:cNvSpPr/>
          <p:nvPr/>
        </p:nvSpPr>
        <p:spPr>
          <a:xfrm>
            <a:off x="508222" y="4129304"/>
            <a:ext cx="50963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MARKET</a:t>
            </a:r>
            <a:endParaRPr lang="en-US" sz="580" dirty="0"/>
          </a:p>
        </p:txBody>
      </p:sp>
      <p:sp>
        <p:nvSpPr>
          <p:cNvPr id="8" name="Text 6"/>
          <p:cNvSpPr/>
          <p:nvPr/>
        </p:nvSpPr>
        <p:spPr>
          <a:xfrm>
            <a:off x="1245144" y="4097857"/>
            <a:ext cx="1061469"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上位5社で約80%</a:t>
            </a:r>
            <a:endParaRPr lang="en-US" sz="900" dirty="0"/>
          </a:p>
        </p:txBody>
      </p:sp>
      <p:sp>
        <p:nvSpPr>
          <p:cNvPr id="9" name="Text 7"/>
          <p:cNvSpPr/>
          <p:nvPr/>
        </p:nvSpPr>
        <p:spPr>
          <a:xfrm>
            <a:off x="1245144" y="4275926"/>
            <a:ext cx="1088548"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寡占度が高く、供給は漸減</a:t>
            </a:r>
            <a:endParaRPr lang="en-US" sz="620" dirty="0"/>
          </a:p>
        </p:txBody>
      </p:sp>
      <p:sp>
        <p:nvSpPr>
          <p:cNvPr id="10" name="Text 8"/>
          <p:cNvSpPr/>
          <p:nvPr/>
        </p:nvSpPr>
        <p:spPr>
          <a:xfrm>
            <a:off x="508222" y="4561292"/>
            <a:ext cx="41092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SCALE</a:t>
            </a:r>
            <a:endParaRPr lang="en-US" sz="580" dirty="0"/>
          </a:p>
        </p:txBody>
      </p:sp>
      <p:sp>
        <p:nvSpPr>
          <p:cNvPr id="11" name="Text 9"/>
          <p:cNvSpPr/>
          <p:nvPr/>
        </p:nvSpPr>
        <p:spPr>
          <a:xfrm>
            <a:off x="1245144" y="4529846"/>
            <a:ext cx="1242940"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一級強粘炭の約50%</a:t>
            </a:r>
            <a:endParaRPr lang="en-US" sz="900" dirty="0"/>
          </a:p>
        </p:txBody>
      </p:sp>
      <p:sp>
        <p:nvSpPr>
          <p:cNvPr id="12" name="Text 10"/>
          <p:cNvSpPr/>
          <p:nvPr/>
        </p:nvSpPr>
        <p:spPr>
          <a:xfrm>
            <a:off x="1245144" y="4707914"/>
            <a:ext cx="1268272"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BMAが世界供給に占めるシェア</a:t>
            </a:r>
            <a:endParaRPr lang="en-US" sz="620" dirty="0"/>
          </a:p>
        </p:txBody>
      </p:sp>
      <p:sp>
        <p:nvSpPr>
          <p:cNvPr id="13" name="Text 11"/>
          <p:cNvSpPr/>
          <p:nvPr/>
        </p:nvSpPr>
        <p:spPr>
          <a:xfrm>
            <a:off x="508222" y="4993281"/>
            <a:ext cx="54457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QUALITY</a:t>
            </a:r>
            <a:endParaRPr lang="en-US" sz="580" dirty="0"/>
          </a:p>
        </p:txBody>
      </p:sp>
      <p:sp>
        <p:nvSpPr>
          <p:cNvPr id="14" name="Text 12"/>
          <p:cNvSpPr/>
          <p:nvPr/>
        </p:nvSpPr>
        <p:spPr>
          <a:xfrm>
            <a:off x="1245144" y="4961835"/>
            <a:ext cx="1220666"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高品位の炭鉱に厳選</a:t>
            </a:r>
            <a:endParaRPr lang="en-US" sz="900" dirty="0"/>
          </a:p>
        </p:txBody>
      </p:sp>
      <p:sp>
        <p:nvSpPr>
          <p:cNvPr id="15" name="Text 13"/>
          <p:cNvSpPr/>
          <p:nvPr/>
        </p:nvSpPr>
        <p:spPr>
          <a:xfrm>
            <a:off x="1245144" y="5139903"/>
            <a:ext cx="195331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港湾・鉄道まで保有し、山から港までを一体運営</a:t>
            </a:r>
            <a:endParaRPr lang="en-US" sz="620" dirty="0"/>
          </a:p>
        </p:txBody>
      </p:sp>
      <p:sp>
        <p:nvSpPr>
          <p:cNvPr id="16" name="Text 14"/>
          <p:cNvSpPr/>
          <p:nvPr/>
        </p:nvSpPr>
        <p:spPr>
          <a:xfrm>
            <a:off x="508222" y="5437975"/>
            <a:ext cx="88611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高品位への集約</a:t>
            </a:r>
            <a:endParaRPr lang="en-US" sz="660" dirty="0"/>
          </a:p>
        </p:txBody>
      </p:sp>
      <p:sp>
        <p:nvSpPr>
          <p:cNvPr id="17" name="Text 15"/>
          <p:cNvSpPr/>
          <p:nvPr/>
        </p:nvSpPr>
        <p:spPr>
          <a:xfrm>
            <a:off x="1524666" y="5437975"/>
            <a:ext cx="87366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7炭鉱から5炭鉱へ</a:t>
            </a:r>
            <a:endParaRPr lang="en-US" sz="660" dirty="0"/>
          </a:p>
        </p:txBody>
      </p:sp>
      <p:sp>
        <p:nvSpPr>
          <p:cNvPr id="18" name="Text 16"/>
          <p:cNvSpPr/>
          <p:nvPr/>
        </p:nvSpPr>
        <p:spPr>
          <a:xfrm>
            <a:off x="508222" y="5992445"/>
            <a:ext cx="2117320"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中品位の2炭鉱を売却し、高品位の5炭鉱に集約。</a:t>
            </a:r>
            <a:endParaRPr lang="en-US" sz="670" dirty="0"/>
          </a:p>
        </p:txBody>
      </p:sp>
      <p:sp>
        <p:nvSpPr>
          <p:cNvPr id="19" name="Text 17"/>
          <p:cNvSpPr/>
          <p:nvPr/>
        </p:nvSpPr>
        <p:spPr>
          <a:xfrm>
            <a:off x="508222" y="6222162"/>
            <a:ext cx="2521099" cy="134171"/>
          </a:xfrm>
          <a:prstGeom prst="rect">
            <a:avLst/>
          </a:prstGeom>
          <a:noFill/>
          <a:ln/>
        </p:spPr>
        <p:txBody>
          <a:bodyPr wrap="none" lIns="0" tIns="0" rIns="0" bIns="0" rtlCol="0" anchor="t"/>
          <a:lstStyle/>
          <a:p>
            <a:pPr algn="l" indent="0" marL="0">
              <a:lnSpc>
                <a:spcPts val="1056"/>
              </a:lnSpc>
              <a:buNone/>
            </a:pPr>
            <a:r>
              <a:rPr lang="en-US" sz="660" dirty="0">
                <a:solidFill>
                  <a:srgbClr val="121519"/>
                </a:solidFill>
                <a:latin typeface="Inter SemiBold" pitchFamily="34" charset="0"/>
                <a:ea typeface="Inter SemiBold" pitchFamily="34" charset="-122"/>
                <a:cs typeface="Inter SemiBold" pitchFamily="34" charset="-120"/>
              </a:rPr>
              <a:t>MDP</a:t>
            </a:r>
            <a:pPr algn="l" indent="0" marL="0">
              <a:lnSpc>
                <a:spcPts val="1056"/>
              </a:lnSpc>
              <a:buNone/>
            </a:pPr>
            <a:r>
              <a:rPr lang="en-US" sz="660" dirty="0">
                <a:solidFill>
                  <a:srgbClr val="7D838A"/>
                </a:solidFill>
                <a:latin typeface="Noto Sans JP" pitchFamily="34" charset="0"/>
                <a:ea typeface="Noto Sans JP" pitchFamily="34" charset="-122"/>
                <a:cs typeface="Noto Sans JP" pitchFamily="34" charset="-120"/>
              </a:rPr>
              <a:t>（三菱商事100%）　50%　＋　</a:t>
            </a:r>
            <a:pPr algn="l" indent="0" marL="0">
              <a:lnSpc>
                <a:spcPts val="1056"/>
              </a:lnSpc>
              <a:buNone/>
            </a:pPr>
            <a:r>
              <a:rPr lang="en-US" sz="660" dirty="0">
                <a:solidFill>
                  <a:srgbClr val="121519"/>
                </a:solidFill>
                <a:latin typeface="Inter SemiBold" pitchFamily="34" charset="0"/>
                <a:ea typeface="Inter SemiBold" pitchFamily="34" charset="-122"/>
                <a:cs typeface="Inter SemiBold" pitchFamily="34" charset="-120"/>
              </a:rPr>
              <a:t>BHP</a:t>
            </a:r>
            <a:pPr algn="l" indent="0" marL="0">
              <a:lnSpc>
                <a:spcPts val="1056"/>
              </a:lnSpc>
              <a:buNone/>
            </a:pPr>
            <a:r>
              <a:rPr lang="en-US" sz="660" dirty="0">
                <a:solidFill>
                  <a:srgbClr val="7D838A"/>
                </a:solidFill>
                <a:latin typeface="Noto Sans JP" pitchFamily="34" charset="0"/>
                <a:ea typeface="Noto Sans JP" pitchFamily="34" charset="-122"/>
                <a:cs typeface="Noto Sans JP" pitchFamily="34" charset="-120"/>
              </a:rPr>
              <a:t>　50%　→　</a:t>
            </a:r>
            <a:pPr algn="l" indent="0" marL="0">
              <a:lnSpc>
                <a:spcPts val="1056"/>
              </a:lnSpc>
              <a:buNone/>
            </a:pPr>
            <a:r>
              <a:rPr lang="en-US" sz="660" dirty="0">
                <a:solidFill>
                  <a:srgbClr val="9C7442"/>
                </a:solidFill>
                <a:latin typeface="Inter SemiBold" pitchFamily="34" charset="0"/>
                <a:ea typeface="Inter SemiBold" pitchFamily="34" charset="-122"/>
                <a:cs typeface="Inter SemiBold" pitchFamily="34" charset="-120"/>
              </a:rPr>
              <a:t>BMA</a:t>
            </a:r>
            <a:endParaRPr lang="en-US" sz="660" dirty="0"/>
          </a:p>
        </p:txBody>
      </p:sp>
      <p:sp>
        <p:nvSpPr>
          <p:cNvPr id="20" name="Text 18"/>
          <p:cNvSpPr/>
          <p:nvPr/>
        </p:nvSpPr>
        <p:spPr>
          <a:xfrm>
            <a:off x="4065776" y="1855010"/>
            <a:ext cx="113528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PILLAR 2　銅事業</a:t>
            </a:r>
            <a:endParaRPr lang="en-US" sz="660" dirty="0"/>
          </a:p>
        </p:txBody>
      </p:sp>
      <p:sp>
        <p:nvSpPr>
          <p:cNvPr id="21" name="Text 19"/>
          <p:cNvSpPr/>
          <p:nvPr/>
        </p:nvSpPr>
        <p:spPr>
          <a:xfrm>
            <a:off x="4065776" y="1994771"/>
            <a:ext cx="1952883"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電化と成長を支えるクリティカルミネラル</a:t>
            </a:r>
            <a:endParaRPr lang="en-US" sz="660" dirty="0"/>
          </a:p>
        </p:txBody>
      </p:sp>
      <p:sp>
        <p:nvSpPr>
          <p:cNvPr id="22" name="Text 20"/>
          <p:cNvSpPr/>
          <p:nvPr/>
        </p:nvSpPr>
        <p:spPr>
          <a:xfrm>
            <a:off x="4065776" y="2182813"/>
            <a:ext cx="2806735" cy="518386"/>
          </a:xfrm>
          <a:prstGeom prst="rect">
            <a:avLst/>
          </a:prstGeom>
          <a:noFill/>
          <a:ln/>
        </p:spPr>
        <p:txBody>
          <a:bodyPr wrap="none" lIns="0" tIns="0" rIns="0" bIns="0" rtlCol="0" anchor="t"/>
          <a:lstStyle/>
          <a:p>
            <a:pPr algn="l" indent="0" marL="0">
              <a:lnSpc>
                <a:spcPts val="2040"/>
              </a:lnSpc>
              <a:buNone/>
            </a:pPr>
            <a:r>
              <a:rPr lang="en-US" sz="2000" spc="-50" kern="0" dirty="0">
                <a:solidFill>
                  <a:srgbClr val="121519"/>
                </a:solidFill>
                <a:latin typeface="Inter Tight SemiBold" pitchFamily="34" charset="0"/>
                <a:ea typeface="Inter Tight SemiBold" pitchFamily="34" charset="-122"/>
                <a:cs typeface="Inter Tight SemiBold" pitchFamily="34" charset="-120"/>
              </a:rPr>
              <a:t>The partner the copper</a:t>
            </a:r>
            <a:endParaRPr lang="en-US" sz="2000" dirty="0"/>
          </a:p>
          <a:p>
            <a:pPr algn="l" indent="0" marL="0">
              <a:lnSpc>
                <a:spcPts val="2040"/>
              </a:lnSpc>
              <a:buNone/>
            </a:pPr>
            <a:r>
              <a:rPr lang="en-US" sz="2000" spc="-50" kern="0" dirty="0">
                <a:solidFill>
                  <a:srgbClr val="121519"/>
                </a:solidFill>
                <a:latin typeface="Inter Tight SemiBold" pitchFamily="34" charset="0"/>
                <a:ea typeface="Inter Tight SemiBold" pitchFamily="34" charset="-122"/>
                <a:cs typeface="Inter Tight SemiBold" pitchFamily="34" charset="-120"/>
              </a:rPr>
              <a:t>industry calls first.</a:t>
            </a:r>
            <a:endParaRPr lang="en-US" sz="2000" dirty="0"/>
          </a:p>
        </p:txBody>
      </p:sp>
      <p:sp>
        <p:nvSpPr>
          <p:cNvPr id="23" name="Text 21"/>
          <p:cNvSpPr/>
          <p:nvPr/>
        </p:nvSpPr>
        <p:spPr>
          <a:xfrm>
            <a:off x="4065776" y="2921641"/>
            <a:ext cx="3076867" cy="179148"/>
          </a:xfrm>
          <a:prstGeom prst="rect">
            <a:avLst/>
          </a:prstGeom>
          <a:noFill/>
          <a:ln/>
        </p:spPr>
        <p:txBody>
          <a:bodyPr wrap="none" lIns="0" tIns="0" rIns="0" bIns="0" rtlCol="0" anchor="t"/>
          <a:lstStyle/>
          <a:p>
            <a:pPr algn="l" indent="0" marL="0">
              <a:lnSpc>
                <a:spcPts val="1410"/>
              </a:lnSpc>
              <a:buNone/>
            </a:pPr>
            <a:r>
              <a:rPr lang="en-US" sz="940" spc="50" kern="0" dirty="0">
                <a:solidFill>
                  <a:srgbClr val="121519"/>
                </a:solidFill>
                <a:latin typeface="Noto Sans JP Medium" pitchFamily="34" charset="0"/>
                <a:ea typeface="Noto Sans JP Medium" pitchFamily="34" charset="-122"/>
                <a:cs typeface="Noto Sans JP Medium" pitchFamily="34" charset="-120"/>
              </a:rPr>
              <a:t>日本最大の銅生産者として、業界から声がかかる</a:t>
            </a:r>
            <a:endParaRPr lang="en-US" sz="940" dirty="0"/>
          </a:p>
        </p:txBody>
      </p:sp>
      <p:sp>
        <p:nvSpPr>
          <p:cNvPr id="24" name="Text 22"/>
          <p:cNvSpPr/>
          <p:nvPr/>
        </p:nvSpPr>
        <p:spPr>
          <a:xfrm>
            <a:off x="4065776" y="3171528"/>
            <a:ext cx="3614729" cy="486559"/>
          </a:xfrm>
          <a:prstGeom prst="rect">
            <a:avLst/>
          </a:prstGeom>
          <a:noFill/>
          <a:ln/>
        </p:spPr>
        <p:txBody>
          <a:bodyPr wrap="none" lIns="0" tIns="0" rIns="0" bIns="0" rtlCol="0" anchor="t"/>
          <a:lstStyle/>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銅は電化と経済成長を支える資源です。特定の1社と深く組むのではなく、主要</a:t>
            </a:r>
            <a:endParaRPr lang="en-US" sz="690" dirty="0"/>
          </a:p>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メジャーのほとんどと共同で事業を行い、ジュニア鉱山からも立場を保ったまま</a:t>
            </a:r>
            <a:endParaRPr lang="en-US" sz="690" dirty="0"/>
          </a:p>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組める相手として選ばれています。</a:t>
            </a:r>
            <a:endParaRPr lang="en-US" sz="690" dirty="0"/>
          </a:p>
        </p:txBody>
      </p:sp>
      <p:sp>
        <p:nvSpPr>
          <p:cNvPr id="25" name="Text 23"/>
          <p:cNvSpPr/>
          <p:nvPr/>
        </p:nvSpPr>
        <p:spPr>
          <a:xfrm>
            <a:off x="4065776" y="4129304"/>
            <a:ext cx="50963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MARKET</a:t>
            </a:r>
            <a:endParaRPr lang="en-US" sz="580" dirty="0"/>
          </a:p>
        </p:txBody>
      </p:sp>
      <p:sp>
        <p:nvSpPr>
          <p:cNvPr id="26" name="Text 24"/>
          <p:cNvSpPr/>
          <p:nvPr/>
        </p:nvSpPr>
        <p:spPr>
          <a:xfrm>
            <a:off x="4802698" y="4097857"/>
            <a:ext cx="1061469"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上位5社で約25%</a:t>
            </a:r>
            <a:endParaRPr lang="en-US" sz="900" dirty="0"/>
          </a:p>
        </p:txBody>
      </p:sp>
      <p:sp>
        <p:nvSpPr>
          <p:cNvPr id="27" name="Text 25"/>
          <p:cNvSpPr/>
          <p:nvPr/>
        </p:nvSpPr>
        <p:spPr>
          <a:xfrm>
            <a:off x="4802698" y="4275926"/>
            <a:ext cx="116912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寡占化が進まず、再編の機運</a:t>
            </a:r>
            <a:endParaRPr lang="en-US" sz="620" dirty="0"/>
          </a:p>
        </p:txBody>
      </p:sp>
      <p:sp>
        <p:nvSpPr>
          <p:cNvPr id="28" name="Text 26"/>
          <p:cNvSpPr/>
          <p:nvPr/>
        </p:nvSpPr>
        <p:spPr>
          <a:xfrm>
            <a:off x="4065776" y="4561292"/>
            <a:ext cx="41092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SCALE</a:t>
            </a:r>
            <a:endParaRPr lang="en-US" sz="580" dirty="0"/>
          </a:p>
        </p:txBody>
      </p:sp>
      <p:sp>
        <p:nvSpPr>
          <p:cNvPr id="29" name="Text 27"/>
          <p:cNvSpPr/>
          <p:nvPr/>
        </p:nvSpPr>
        <p:spPr>
          <a:xfrm>
            <a:off x="4802698" y="4529846"/>
            <a:ext cx="1350818"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持分生産量で日本最大</a:t>
            </a:r>
            <a:endParaRPr lang="en-US" sz="900" dirty="0"/>
          </a:p>
        </p:txBody>
      </p:sp>
      <p:sp>
        <p:nvSpPr>
          <p:cNvPr id="30" name="Text 28"/>
          <p:cNvSpPr/>
          <p:nvPr/>
        </p:nvSpPr>
        <p:spPr>
          <a:xfrm>
            <a:off x="4802698" y="4707914"/>
            <a:ext cx="1605009"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パートナー型の生産者として世界最大級</a:t>
            </a:r>
            <a:endParaRPr lang="en-US" sz="620" dirty="0"/>
          </a:p>
        </p:txBody>
      </p:sp>
      <p:sp>
        <p:nvSpPr>
          <p:cNvPr id="31" name="Text 29"/>
          <p:cNvSpPr/>
          <p:nvPr/>
        </p:nvSpPr>
        <p:spPr>
          <a:xfrm>
            <a:off x="4065776" y="4993281"/>
            <a:ext cx="54457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QUALITY</a:t>
            </a:r>
            <a:endParaRPr lang="en-US" sz="580" dirty="0"/>
          </a:p>
        </p:txBody>
      </p:sp>
      <p:sp>
        <p:nvSpPr>
          <p:cNvPr id="32" name="Text 30"/>
          <p:cNvSpPr/>
          <p:nvPr/>
        </p:nvSpPr>
        <p:spPr>
          <a:xfrm>
            <a:off x="4802698" y="4961835"/>
            <a:ext cx="1551943"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121519"/>
                </a:solidFill>
                <a:latin typeface="Noto Sans JP Medium" pitchFamily="34" charset="0"/>
                <a:ea typeface="Noto Sans JP Medium" pitchFamily="34" charset="-122"/>
                <a:cs typeface="Noto Sans JP Medium" pitchFamily="34" charset="-120"/>
              </a:rPr>
              <a:t>5鉱山すべてが世界Top15</a:t>
            </a:r>
            <a:endParaRPr lang="en-US" sz="900" dirty="0"/>
          </a:p>
        </p:txBody>
      </p:sp>
      <p:sp>
        <p:nvSpPr>
          <p:cNvPr id="33" name="Text 31"/>
          <p:cNvSpPr/>
          <p:nvPr/>
        </p:nvSpPr>
        <p:spPr>
          <a:xfrm>
            <a:off x="4802698" y="5139903"/>
            <a:ext cx="1177864"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生産コストは世界の上位25%</a:t>
            </a:r>
            <a:endParaRPr lang="en-US" sz="620" dirty="0"/>
          </a:p>
        </p:txBody>
      </p:sp>
      <p:sp>
        <p:nvSpPr>
          <p:cNvPr id="34" name="Text 32"/>
          <p:cNvSpPr/>
          <p:nvPr/>
        </p:nvSpPr>
        <p:spPr>
          <a:xfrm>
            <a:off x="4065776" y="5437975"/>
            <a:ext cx="52579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参画鉱山</a:t>
            </a:r>
            <a:endParaRPr lang="en-US" sz="660" dirty="0"/>
          </a:p>
        </p:txBody>
      </p:sp>
      <p:sp>
        <p:nvSpPr>
          <p:cNvPr id="35" name="Text 33"/>
          <p:cNvSpPr/>
          <p:nvPr/>
        </p:nvSpPr>
        <p:spPr>
          <a:xfrm>
            <a:off x="4828109" y="5437975"/>
            <a:ext cx="1455639"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世界の鉱山別生産量ランキング</a:t>
            </a:r>
            <a:endParaRPr lang="en-US" sz="660" dirty="0"/>
          </a:p>
        </p:txBody>
      </p:sp>
      <p:sp>
        <p:nvSpPr>
          <p:cNvPr id="36" name="Text 34"/>
          <p:cNvSpPr/>
          <p:nvPr/>
        </p:nvSpPr>
        <p:spPr>
          <a:xfrm>
            <a:off x="4040365" y="5967543"/>
            <a:ext cx="156953"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1位</a:t>
            </a:r>
            <a:endParaRPr lang="en-US" sz="540" dirty="0"/>
          </a:p>
        </p:txBody>
      </p:sp>
      <p:sp>
        <p:nvSpPr>
          <p:cNvPr id="37" name="Text 35"/>
          <p:cNvSpPr/>
          <p:nvPr/>
        </p:nvSpPr>
        <p:spPr>
          <a:xfrm>
            <a:off x="4922408" y="5967543"/>
            <a:ext cx="170929"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5位</a:t>
            </a:r>
            <a:endParaRPr lang="en-US" sz="540" dirty="0"/>
          </a:p>
        </p:txBody>
      </p:sp>
      <p:sp>
        <p:nvSpPr>
          <p:cNvPr id="38" name="Text 36"/>
          <p:cNvSpPr/>
          <p:nvPr/>
        </p:nvSpPr>
        <p:spPr>
          <a:xfrm>
            <a:off x="6025011" y="5967543"/>
            <a:ext cx="204341"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10位</a:t>
            </a:r>
            <a:endParaRPr lang="en-US" sz="540" dirty="0"/>
          </a:p>
        </p:txBody>
      </p:sp>
      <p:sp>
        <p:nvSpPr>
          <p:cNvPr id="39" name="Text 37"/>
          <p:cNvSpPr/>
          <p:nvPr/>
        </p:nvSpPr>
        <p:spPr>
          <a:xfrm>
            <a:off x="7127813" y="5967543"/>
            <a:ext cx="201720"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15位</a:t>
            </a:r>
            <a:endParaRPr lang="en-US" sz="540" dirty="0"/>
          </a:p>
        </p:txBody>
      </p:sp>
      <p:sp>
        <p:nvSpPr>
          <p:cNvPr id="40" name="Text 38"/>
          <p:cNvSpPr/>
          <p:nvPr/>
        </p:nvSpPr>
        <p:spPr>
          <a:xfrm>
            <a:off x="3832282" y="5609754"/>
            <a:ext cx="619257" cy="113842"/>
          </a:xfrm>
          <a:prstGeom prst="rect">
            <a:avLst/>
          </a:prstGeom>
          <a:noFill/>
          <a:ln/>
        </p:spPr>
        <p:txBody>
          <a:bodyPr wrap="none" lIns="0" tIns="0" rIns="0" bIns="0" rtlCol="0" anchor="t"/>
          <a:lstStyle/>
          <a:p>
            <a:pPr algn="ctr" indent="0" marL="0">
              <a:lnSpc>
                <a:spcPts val="896"/>
              </a:lnSpc>
              <a:buNone/>
            </a:pPr>
            <a:r>
              <a:rPr lang="en-US" sz="560" dirty="0">
                <a:solidFill>
                  <a:srgbClr val="121519"/>
                </a:solidFill>
                <a:latin typeface="Inter SemiBold" pitchFamily="34" charset="0"/>
                <a:ea typeface="Inter SemiBold" pitchFamily="34" charset="-122"/>
                <a:cs typeface="Inter SemiBold" pitchFamily="34" charset="-120"/>
              </a:rPr>
              <a:t>Escondida</a:t>
            </a:r>
            <a:pPr algn="ctr"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 チリ</a:t>
            </a:r>
            <a:endParaRPr lang="en-US" sz="560" dirty="0"/>
          </a:p>
        </p:txBody>
      </p:sp>
      <p:sp>
        <p:nvSpPr>
          <p:cNvPr id="41" name="Text 39"/>
          <p:cNvSpPr/>
          <p:nvPr/>
        </p:nvSpPr>
        <p:spPr>
          <a:xfrm>
            <a:off x="4471271" y="6067154"/>
            <a:ext cx="664242" cy="113842"/>
          </a:xfrm>
          <a:prstGeom prst="rect">
            <a:avLst/>
          </a:prstGeom>
          <a:noFill/>
          <a:ln/>
        </p:spPr>
        <p:txBody>
          <a:bodyPr wrap="none" lIns="0" tIns="0" rIns="0" bIns="0" rtlCol="0" anchor="t"/>
          <a:lstStyle/>
          <a:p>
            <a:pPr algn="ctr" indent="0" marL="0">
              <a:lnSpc>
                <a:spcPts val="896"/>
              </a:lnSpc>
              <a:buNone/>
            </a:pPr>
            <a:r>
              <a:rPr lang="en-US" sz="560" dirty="0">
                <a:solidFill>
                  <a:srgbClr val="121519"/>
                </a:solidFill>
                <a:latin typeface="Inter SemiBold" pitchFamily="34" charset="0"/>
                <a:ea typeface="Inter SemiBold" pitchFamily="34" charset="-122"/>
                <a:cs typeface="Inter SemiBold" pitchFamily="34" charset="-120"/>
              </a:rPr>
              <a:t>Antamina</a:t>
            </a:r>
            <a:pPr algn="ctr"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 ペルー</a:t>
            </a:r>
            <a:endParaRPr lang="en-US" sz="560" dirty="0"/>
          </a:p>
        </p:txBody>
      </p:sp>
      <p:sp>
        <p:nvSpPr>
          <p:cNvPr id="42" name="Text 40"/>
          <p:cNvSpPr/>
          <p:nvPr/>
        </p:nvSpPr>
        <p:spPr>
          <a:xfrm>
            <a:off x="5636539" y="5609754"/>
            <a:ext cx="980233" cy="113842"/>
          </a:xfrm>
          <a:prstGeom prst="rect">
            <a:avLst/>
          </a:prstGeom>
          <a:noFill/>
          <a:ln/>
        </p:spPr>
        <p:txBody>
          <a:bodyPr wrap="none" lIns="0" tIns="0" rIns="0" bIns="0" rtlCol="0" anchor="t"/>
          <a:lstStyle/>
          <a:p>
            <a:pPr algn="ctr" indent="0" marL="0">
              <a:lnSpc>
                <a:spcPts val="896"/>
              </a:lnSpc>
              <a:buNone/>
            </a:pPr>
            <a:r>
              <a:rPr lang="en-US" sz="560" dirty="0">
                <a:solidFill>
                  <a:srgbClr val="121519"/>
                </a:solidFill>
                <a:latin typeface="Inter SemiBold" pitchFamily="34" charset="0"/>
                <a:ea typeface="Inter SemiBold" pitchFamily="34" charset="-122"/>
                <a:cs typeface="Inter SemiBold" pitchFamily="34" charset="-120"/>
              </a:rPr>
              <a:t>Anglo American Sur</a:t>
            </a:r>
            <a:pPr algn="ctr"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 チリ</a:t>
            </a:r>
            <a:endParaRPr lang="en-US" sz="560" dirty="0"/>
          </a:p>
        </p:txBody>
      </p:sp>
      <p:sp>
        <p:nvSpPr>
          <p:cNvPr id="43" name="Text 41"/>
          <p:cNvSpPr/>
          <p:nvPr/>
        </p:nvSpPr>
        <p:spPr>
          <a:xfrm>
            <a:off x="6178550" y="6067154"/>
            <a:ext cx="778453" cy="113842"/>
          </a:xfrm>
          <a:prstGeom prst="rect">
            <a:avLst/>
          </a:prstGeom>
          <a:noFill/>
          <a:ln/>
        </p:spPr>
        <p:txBody>
          <a:bodyPr wrap="none" lIns="0" tIns="0" rIns="0" bIns="0" rtlCol="0" anchor="t"/>
          <a:lstStyle/>
          <a:p>
            <a:pPr algn="ctr" indent="0" marL="0">
              <a:lnSpc>
                <a:spcPts val="896"/>
              </a:lnSpc>
              <a:buNone/>
            </a:pPr>
            <a:r>
              <a:rPr lang="en-US" sz="560" dirty="0">
                <a:solidFill>
                  <a:srgbClr val="121519"/>
                </a:solidFill>
                <a:latin typeface="Inter SemiBold" pitchFamily="34" charset="0"/>
                <a:ea typeface="Inter SemiBold" pitchFamily="34" charset="-122"/>
                <a:cs typeface="Inter SemiBold" pitchFamily="34" charset="-120"/>
              </a:rPr>
              <a:t>Los Pelambres</a:t>
            </a:r>
            <a:pPr algn="ctr"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 チリ</a:t>
            </a:r>
            <a:endParaRPr lang="en-US" sz="560" dirty="0"/>
          </a:p>
        </p:txBody>
      </p:sp>
      <p:sp>
        <p:nvSpPr>
          <p:cNvPr id="44" name="Text 42"/>
          <p:cNvSpPr/>
          <p:nvPr/>
        </p:nvSpPr>
        <p:spPr>
          <a:xfrm>
            <a:off x="6866436" y="5609754"/>
            <a:ext cx="726043" cy="113842"/>
          </a:xfrm>
          <a:prstGeom prst="rect">
            <a:avLst/>
          </a:prstGeom>
          <a:noFill/>
          <a:ln/>
        </p:spPr>
        <p:txBody>
          <a:bodyPr wrap="none" lIns="0" tIns="0" rIns="0" bIns="0" rtlCol="0" anchor="t"/>
          <a:lstStyle/>
          <a:p>
            <a:pPr algn="ctr" indent="0" marL="0">
              <a:lnSpc>
                <a:spcPts val="896"/>
              </a:lnSpc>
              <a:buNone/>
            </a:pPr>
            <a:r>
              <a:rPr lang="en-US" sz="560" dirty="0">
                <a:solidFill>
                  <a:srgbClr val="121519"/>
                </a:solidFill>
                <a:latin typeface="Inter SemiBold" pitchFamily="34" charset="0"/>
                <a:ea typeface="Inter SemiBold" pitchFamily="34" charset="-122"/>
                <a:cs typeface="Inter SemiBold" pitchFamily="34" charset="-120"/>
              </a:rPr>
              <a:t>Quellaveco</a:t>
            </a:r>
            <a:pPr algn="ctr"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 ペルー</a:t>
            </a:r>
            <a:endParaRPr lang="en-US" sz="560" dirty="0"/>
          </a:p>
        </p:txBody>
      </p:sp>
      <p:sp>
        <p:nvSpPr>
          <p:cNvPr id="45" name="Text 43"/>
          <p:cNvSpPr/>
          <p:nvPr/>
        </p:nvSpPr>
        <p:spPr>
          <a:xfrm>
            <a:off x="4065776" y="6270697"/>
            <a:ext cx="2084127"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開発中：Marimaca（チリ）・Copper World（米国）</a:t>
            </a:r>
            <a:endParaRPr lang="en-US" sz="620" dirty="0"/>
          </a:p>
        </p:txBody>
      </p:sp>
      <p:sp>
        <p:nvSpPr>
          <p:cNvPr id="46" name="Text 44"/>
          <p:cNvSpPr/>
          <p:nvPr/>
        </p:nvSpPr>
        <p:spPr>
          <a:xfrm>
            <a:off x="8068024" y="1855010"/>
            <a:ext cx="238461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PILLAR 3　トレーディング事業（RtM）</a:t>
            </a:r>
            <a:endParaRPr lang="en-US" sz="660" dirty="0"/>
          </a:p>
        </p:txBody>
      </p:sp>
      <p:sp>
        <p:nvSpPr>
          <p:cNvPr id="47" name="Text 45"/>
          <p:cNvSpPr/>
          <p:nvPr/>
        </p:nvSpPr>
        <p:spPr>
          <a:xfrm>
            <a:off x="8068024" y="1994771"/>
            <a:ext cx="1021070"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Resource to Market</a:t>
            </a:r>
            <a:endParaRPr lang="en-US" sz="660" dirty="0"/>
          </a:p>
        </p:txBody>
      </p:sp>
      <p:sp>
        <p:nvSpPr>
          <p:cNvPr id="48" name="Text 46"/>
          <p:cNvSpPr/>
          <p:nvPr/>
        </p:nvSpPr>
        <p:spPr>
          <a:xfrm>
            <a:off x="8068024" y="2182813"/>
            <a:ext cx="2442046" cy="259193"/>
          </a:xfrm>
          <a:prstGeom prst="rect">
            <a:avLst/>
          </a:prstGeom>
          <a:noFill/>
          <a:ln/>
        </p:spPr>
        <p:txBody>
          <a:bodyPr wrap="none" lIns="0" tIns="0" rIns="0" bIns="0" rtlCol="0" anchor="t"/>
          <a:lstStyle/>
          <a:p>
            <a:pPr algn="l" indent="0" marL="0">
              <a:lnSpc>
                <a:spcPts val="2040"/>
              </a:lnSpc>
              <a:buNone/>
            </a:pPr>
            <a:r>
              <a:rPr lang="en-US" sz="2000" spc="-50" kern="0" dirty="0">
                <a:solidFill>
                  <a:srgbClr val="121519"/>
                </a:solidFill>
                <a:latin typeface="Inter Tight SemiBold" pitchFamily="34" charset="0"/>
                <a:ea typeface="Inter Tight SemiBold" pitchFamily="34" charset="-122"/>
                <a:cs typeface="Inter Tight SemiBold" pitchFamily="34" charset="-120"/>
              </a:rPr>
              <a:t>Resource to Market.</a:t>
            </a:r>
            <a:endParaRPr lang="en-US" sz="2000" dirty="0"/>
          </a:p>
        </p:txBody>
      </p:sp>
      <p:sp>
        <p:nvSpPr>
          <p:cNvPr id="49" name="Text 47"/>
          <p:cNvSpPr/>
          <p:nvPr/>
        </p:nvSpPr>
        <p:spPr>
          <a:xfrm>
            <a:off x="8068024" y="2667530"/>
            <a:ext cx="3080798" cy="179148"/>
          </a:xfrm>
          <a:prstGeom prst="rect">
            <a:avLst/>
          </a:prstGeom>
          <a:noFill/>
          <a:ln/>
        </p:spPr>
        <p:txBody>
          <a:bodyPr wrap="none" lIns="0" tIns="0" rIns="0" bIns="0" rtlCol="0" anchor="t"/>
          <a:lstStyle/>
          <a:p>
            <a:pPr algn="l" indent="0" marL="0">
              <a:lnSpc>
                <a:spcPts val="1410"/>
              </a:lnSpc>
              <a:buNone/>
            </a:pPr>
            <a:r>
              <a:rPr lang="en-US" sz="940" spc="50" kern="0" dirty="0">
                <a:solidFill>
                  <a:srgbClr val="121519"/>
                </a:solidFill>
                <a:latin typeface="Noto Sans JP Medium" pitchFamily="34" charset="0"/>
                <a:ea typeface="Noto Sans JP Medium" pitchFamily="34" charset="-122"/>
                <a:cs typeface="Noto Sans JP Medium" pitchFamily="34" charset="-120"/>
              </a:rPr>
              <a:t>資源と市場をつなぎ、必要な場所へ確かに届ける</a:t>
            </a:r>
            <a:endParaRPr lang="en-US" sz="940" dirty="0"/>
          </a:p>
        </p:txBody>
      </p:sp>
      <p:sp>
        <p:nvSpPr>
          <p:cNvPr id="50" name="Text 48"/>
          <p:cNvSpPr/>
          <p:nvPr/>
        </p:nvSpPr>
        <p:spPr>
          <a:xfrm>
            <a:off x="8068024" y="2919100"/>
            <a:ext cx="436257" cy="362108"/>
          </a:xfrm>
          <a:prstGeom prst="rect">
            <a:avLst/>
          </a:prstGeom>
          <a:noFill/>
          <a:ln/>
        </p:spPr>
        <p:txBody>
          <a:bodyPr wrap="none" lIns="0" tIns="0" rIns="0" bIns="0" rtlCol="0" anchor="t"/>
          <a:lstStyle/>
          <a:p>
            <a:pPr algn="l" indent="0" marL="0">
              <a:lnSpc>
                <a:spcPts val="2850"/>
              </a:lnSpc>
              <a:buNone/>
            </a:pPr>
            <a:r>
              <a:rPr lang="en-US" sz="3000" spc="-90" kern="0" dirty="0">
                <a:solidFill>
                  <a:srgbClr val="121519"/>
                </a:solidFill>
                <a:latin typeface="Inter Tight SemiBold" pitchFamily="34" charset="0"/>
                <a:ea typeface="Inter Tight SemiBold" pitchFamily="34" charset="-122"/>
                <a:cs typeface="Inter Tight SemiBold" pitchFamily="34" charset="-120"/>
              </a:rPr>
              <a:t>15</a:t>
            </a:r>
            <a:endParaRPr lang="en-US" sz="3000" dirty="0"/>
          </a:p>
        </p:txBody>
      </p:sp>
      <p:sp>
        <p:nvSpPr>
          <p:cNvPr id="51" name="Text 49"/>
          <p:cNvSpPr/>
          <p:nvPr/>
        </p:nvSpPr>
        <p:spPr>
          <a:xfrm>
            <a:off x="8068024" y="3349691"/>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業界</a:t>
            </a:r>
            <a:endParaRPr lang="en-US" sz="670" dirty="0"/>
          </a:p>
        </p:txBody>
      </p:sp>
      <p:sp>
        <p:nvSpPr>
          <p:cNvPr id="52" name="Text 50"/>
          <p:cNvSpPr/>
          <p:nvPr/>
        </p:nvSpPr>
        <p:spPr>
          <a:xfrm>
            <a:off x="9236935" y="3023921"/>
            <a:ext cx="180320" cy="215994"/>
          </a:xfrm>
          <a:prstGeom prst="rect">
            <a:avLst/>
          </a:prstGeom>
          <a:noFill/>
          <a:ln/>
        </p:spPr>
        <p:txBody>
          <a:bodyPr wrap="none" lIns="0" tIns="0" rIns="0" bIns="0" rtlCol="0" anchor="t"/>
          <a:lstStyle/>
          <a:p>
            <a:pPr algn="l" indent="0" marL="0">
              <a:lnSpc>
                <a:spcPts val="1700"/>
              </a:lnSpc>
              <a:buNone/>
            </a:pPr>
            <a:r>
              <a:rPr lang="en-US" sz="1400" dirty="0">
                <a:solidFill>
                  <a:srgbClr val="9C7442"/>
                </a:solidFill>
                <a:latin typeface="Inter" pitchFamily="34" charset="0"/>
                <a:ea typeface="Inter" pitchFamily="34" charset="-122"/>
                <a:cs typeface="Inter" pitchFamily="34" charset="-120"/>
              </a:rPr>
              <a:t>×</a:t>
            </a:r>
            <a:endParaRPr lang="en-US" sz="1400" dirty="0"/>
          </a:p>
        </p:txBody>
      </p:sp>
      <p:sp>
        <p:nvSpPr>
          <p:cNvPr id="53" name="Text 51"/>
          <p:cNvSpPr/>
          <p:nvPr/>
        </p:nvSpPr>
        <p:spPr>
          <a:xfrm>
            <a:off x="9592690" y="2919100"/>
            <a:ext cx="539112" cy="362108"/>
          </a:xfrm>
          <a:prstGeom prst="rect">
            <a:avLst/>
          </a:prstGeom>
          <a:noFill/>
          <a:ln/>
        </p:spPr>
        <p:txBody>
          <a:bodyPr wrap="none" lIns="0" tIns="0" rIns="0" bIns="0" rtlCol="0" anchor="t"/>
          <a:lstStyle/>
          <a:p>
            <a:pPr algn="l" indent="0" marL="0">
              <a:lnSpc>
                <a:spcPts val="2850"/>
              </a:lnSpc>
              <a:buNone/>
            </a:pPr>
            <a:r>
              <a:rPr lang="en-US" sz="3000" spc="-90" kern="0" dirty="0">
                <a:solidFill>
                  <a:srgbClr val="121519"/>
                </a:solidFill>
                <a:latin typeface="Inter Tight SemiBold" pitchFamily="34" charset="0"/>
                <a:ea typeface="Inter Tight SemiBold" pitchFamily="34" charset="-122"/>
                <a:cs typeface="Inter Tight SemiBold" pitchFamily="34" charset="-120"/>
              </a:rPr>
              <a:t>50</a:t>
            </a:r>
            <a:endParaRPr lang="en-US" sz="3000" dirty="0"/>
          </a:p>
        </p:txBody>
      </p:sp>
      <p:sp>
        <p:nvSpPr>
          <p:cNvPr id="54" name="Text 52"/>
          <p:cNvSpPr/>
          <p:nvPr/>
        </p:nvSpPr>
        <p:spPr>
          <a:xfrm>
            <a:off x="9592690" y="3349691"/>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カ国</a:t>
            </a:r>
            <a:endParaRPr lang="en-US" sz="670" dirty="0"/>
          </a:p>
        </p:txBody>
      </p:sp>
      <p:sp>
        <p:nvSpPr>
          <p:cNvPr id="55" name="Text 53"/>
          <p:cNvSpPr/>
          <p:nvPr/>
        </p:nvSpPr>
        <p:spPr>
          <a:xfrm>
            <a:off x="10761600" y="3023921"/>
            <a:ext cx="180320" cy="215994"/>
          </a:xfrm>
          <a:prstGeom prst="rect">
            <a:avLst/>
          </a:prstGeom>
          <a:noFill/>
          <a:ln/>
        </p:spPr>
        <p:txBody>
          <a:bodyPr wrap="none" lIns="0" tIns="0" rIns="0" bIns="0" rtlCol="0" anchor="t"/>
          <a:lstStyle/>
          <a:p>
            <a:pPr algn="l" indent="0" marL="0">
              <a:lnSpc>
                <a:spcPts val="1700"/>
              </a:lnSpc>
              <a:buNone/>
            </a:pPr>
            <a:r>
              <a:rPr lang="en-US" sz="1400" dirty="0">
                <a:solidFill>
                  <a:srgbClr val="9C7442"/>
                </a:solidFill>
                <a:latin typeface="Inter" pitchFamily="34" charset="0"/>
                <a:ea typeface="Inter" pitchFamily="34" charset="-122"/>
                <a:cs typeface="Inter" pitchFamily="34" charset="-120"/>
              </a:rPr>
              <a:t>×</a:t>
            </a:r>
            <a:endParaRPr lang="en-US" sz="1400" dirty="0"/>
          </a:p>
        </p:txBody>
      </p:sp>
      <p:sp>
        <p:nvSpPr>
          <p:cNvPr id="56" name="Text 54"/>
          <p:cNvSpPr/>
          <p:nvPr/>
        </p:nvSpPr>
        <p:spPr>
          <a:xfrm>
            <a:off x="11117356" y="2919100"/>
            <a:ext cx="1460880" cy="362108"/>
          </a:xfrm>
          <a:prstGeom prst="rect">
            <a:avLst/>
          </a:prstGeom>
          <a:noFill/>
          <a:ln/>
        </p:spPr>
        <p:txBody>
          <a:bodyPr wrap="none" lIns="0" tIns="0" rIns="0" bIns="0" rtlCol="0" anchor="t"/>
          <a:lstStyle/>
          <a:p>
            <a:pPr algn="l" indent="0" marL="0">
              <a:lnSpc>
                <a:spcPts val="2850"/>
              </a:lnSpc>
              <a:buNone/>
            </a:pPr>
            <a:r>
              <a:rPr lang="en-US" sz="3000" spc="-90" kern="0" dirty="0">
                <a:solidFill>
                  <a:srgbClr val="121519"/>
                </a:solidFill>
                <a:latin typeface="Inter Tight SemiBold" pitchFamily="34" charset="0"/>
                <a:ea typeface="Inter Tight SemiBold" pitchFamily="34" charset="-122"/>
                <a:cs typeface="Inter Tight SemiBold" pitchFamily="34" charset="-120"/>
              </a:rPr>
              <a:t>約1,000</a:t>
            </a:r>
            <a:endParaRPr lang="en-US" sz="3000" dirty="0"/>
          </a:p>
        </p:txBody>
      </p:sp>
      <p:sp>
        <p:nvSpPr>
          <p:cNvPr id="57" name="Text 55"/>
          <p:cNvSpPr/>
          <p:nvPr/>
        </p:nvSpPr>
        <p:spPr>
          <a:xfrm>
            <a:off x="11117356" y="3349691"/>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社の販売先</a:t>
            </a:r>
            <a:endParaRPr lang="en-US" sz="670" dirty="0"/>
          </a:p>
        </p:txBody>
      </p:sp>
      <p:sp>
        <p:nvSpPr>
          <p:cNvPr id="58" name="Text 56"/>
          <p:cNvSpPr/>
          <p:nvPr/>
        </p:nvSpPr>
        <p:spPr>
          <a:xfrm>
            <a:off x="8068024" y="3758302"/>
            <a:ext cx="211111" cy="144843"/>
          </a:xfrm>
          <a:prstGeom prst="rect">
            <a:avLst/>
          </a:prstGeom>
          <a:noFill/>
          <a:ln/>
        </p:spPr>
        <p:txBody>
          <a:bodyPr wrap="none" lIns="0" tIns="0" rIns="0" bIns="0" rtlCol="0" anchor="t"/>
          <a:lstStyle/>
          <a:p>
            <a:pPr algn="l" indent="0" marL="0">
              <a:lnSpc>
                <a:spcPts val="1140"/>
              </a:lnSpc>
              <a:buNone/>
            </a:pPr>
            <a:r>
              <a:rPr lang="en-US" sz="1200" spc="-36" kern="0" dirty="0">
                <a:solidFill>
                  <a:srgbClr val="1F3A56"/>
                </a:solidFill>
                <a:latin typeface="Inter Tight SemiBold" pitchFamily="34" charset="0"/>
                <a:ea typeface="Inter Tight SemiBold" pitchFamily="34" charset="-122"/>
                <a:cs typeface="Inter Tight SemiBold" pitchFamily="34" charset="-120"/>
              </a:rPr>
              <a:t>01</a:t>
            </a:r>
            <a:endParaRPr lang="en-US" sz="1200" dirty="0"/>
          </a:p>
        </p:txBody>
      </p:sp>
      <p:sp>
        <p:nvSpPr>
          <p:cNvPr id="59" name="Text 57"/>
          <p:cNvSpPr/>
          <p:nvPr/>
        </p:nvSpPr>
        <p:spPr>
          <a:xfrm>
            <a:off x="8347546" y="3764654"/>
            <a:ext cx="2358626"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自社アセットに限らず、第三者の資源も扱う</a:t>
            </a:r>
            <a:endParaRPr lang="en-US" sz="800" dirty="0"/>
          </a:p>
        </p:txBody>
      </p:sp>
      <p:sp>
        <p:nvSpPr>
          <p:cNvPr id="60" name="Text 58"/>
          <p:cNvSpPr/>
          <p:nvPr/>
        </p:nvSpPr>
        <p:spPr>
          <a:xfrm>
            <a:off x="8347546" y="3945581"/>
            <a:ext cx="2462792"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顧客との接点から得た市場の生きた情報を、投資の側に返す。</a:t>
            </a:r>
            <a:endParaRPr lang="en-US" sz="620" dirty="0"/>
          </a:p>
        </p:txBody>
      </p:sp>
      <p:sp>
        <p:nvSpPr>
          <p:cNvPr id="61" name="Text 59"/>
          <p:cNvSpPr/>
          <p:nvPr/>
        </p:nvSpPr>
        <p:spPr>
          <a:xfrm>
            <a:off x="8068024" y="4291935"/>
            <a:ext cx="244522" cy="144843"/>
          </a:xfrm>
          <a:prstGeom prst="rect">
            <a:avLst/>
          </a:prstGeom>
          <a:noFill/>
          <a:ln/>
        </p:spPr>
        <p:txBody>
          <a:bodyPr wrap="none" lIns="0" tIns="0" rIns="0" bIns="0" rtlCol="0" anchor="t"/>
          <a:lstStyle/>
          <a:p>
            <a:pPr algn="l" indent="0" marL="0">
              <a:lnSpc>
                <a:spcPts val="1140"/>
              </a:lnSpc>
              <a:buNone/>
            </a:pPr>
            <a:r>
              <a:rPr lang="en-US" sz="1200" spc="-36" kern="0" dirty="0">
                <a:solidFill>
                  <a:srgbClr val="1F3A56"/>
                </a:solidFill>
                <a:latin typeface="Inter Tight SemiBold" pitchFamily="34" charset="0"/>
                <a:ea typeface="Inter Tight SemiBold" pitchFamily="34" charset="-122"/>
                <a:cs typeface="Inter Tight SemiBold" pitchFamily="34" charset="-120"/>
              </a:rPr>
              <a:t>02</a:t>
            </a:r>
            <a:endParaRPr lang="en-US" sz="1200" dirty="0"/>
          </a:p>
        </p:txBody>
      </p:sp>
      <p:sp>
        <p:nvSpPr>
          <p:cNvPr id="62" name="Text 60"/>
          <p:cNvSpPr/>
          <p:nvPr/>
        </p:nvSpPr>
        <p:spPr>
          <a:xfrm>
            <a:off x="8347546" y="4298287"/>
            <a:ext cx="2138940"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ロジ・在庫・ヘッジなど幅広いサービス</a:t>
            </a:r>
            <a:endParaRPr lang="en-US" sz="800" dirty="0"/>
          </a:p>
        </p:txBody>
      </p:sp>
      <p:sp>
        <p:nvSpPr>
          <p:cNvPr id="63" name="Text 61"/>
          <p:cNvSpPr/>
          <p:nvPr/>
        </p:nvSpPr>
        <p:spPr>
          <a:xfrm>
            <a:off x="8347546" y="4479214"/>
            <a:ext cx="2206855"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資源を引き受けたうえで、機能を付けて顧客に届ける。</a:t>
            </a:r>
            <a:endParaRPr lang="en-US" sz="620" dirty="0"/>
          </a:p>
        </p:txBody>
      </p:sp>
      <p:sp>
        <p:nvSpPr>
          <p:cNvPr id="64" name="Text 62"/>
          <p:cNvSpPr/>
          <p:nvPr/>
        </p:nvSpPr>
        <p:spPr>
          <a:xfrm>
            <a:off x="8068024" y="4825568"/>
            <a:ext cx="249545" cy="144843"/>
          </a:xfrm>
          <a:prstGeom prst="rect">
            <a:avLst/>
          </a:prstGeom>
          <a:noFill/>
          <a:ln/>
        </p:spPr>
        <p:txBody>
          <a:bodyPr wrap="none" lIns="0" tIns="0" rIns="0" bIns="0" rtlCol="0" anchor="t"/>
          <a:lstStyle/>
          <a:p>
            <a:pPr algn="l" indent="0" marL="0">
              <a:lnSpc>
                <a:spcPts val="1140"/>
              </a:lnSpc>
              <a:buNone/>
            </a:pPr>
            <a:r>
              <a:rPr lang="en-US" sz="1200" spc="-36" kern="0" dirty="0">
                <a:solidFill>
                  <a:srgbClr val="1F3A56"/>
                </a:solidFill>
                <a:latin typeface="Inter Tight SemiBold" pitchFamily="34" charset="0"/>
                <a:ea typeface="Inter Tight SemiBold" pitchFamily="34" charset="-122"/>
                <a:cs typeface="Inter Tight SemiBold" pitchFamily="34" charset="-120"/>
              </a:rPr>
              <a:t>03</a:t>
            </a:r>
            <a:endParaRPr lang="en-US" sz="1200" dirty="0"/>
          </a:p>
        </p:txBody>
      </p:sp>
      <p:sp>
        <p:nvSpPr>
          <p:cNvPr id="65" name="Text 63"/>
          <p:cNvSpPr/>
          <p:nvPr/>
        </p:nvSpPr>
        <p:spPr>
          <a:xfrm>
            <a:off x="8347546" y="4831921"/>
            <a:ext cx="2133262"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アジアに限らない、グローバルな販売網</a:t>
            </a:r>
            <a:endParaRPr lang="en-US" sz="800" dirty="0"/>
          </a:p>
        </p:txBody>
      </p:sp>
      <p:sp>
        <p:nvSpPr>
          <p:cNvPr id="66" name="Text 64"/>
          <p:cNvSpPr/>
          <p:nvPr/>
        </p:nvSpPr>
        <p:spPr>
          <a:xfrm>
            <a:off x="8347546" y="5012848"/>
            <a:ext cx="2381556" cy="126039"/>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Noto Sans JP" pitchFamily="34" charset="0"/>
                <a:ea typeface="Noto Sans JP" pitchFamily="34" charset="-122"/>
                <a:cs typeface="Noto Sans JP" pitchFamily="34" charset="-120"/>
              </a:rPr>
              <a:t>欧州・シンガポール・米州など、幅広い産業と国の顧客へ。</a:t>
            </a:r>
            <a:endParaRPr lang="en-US" sz="620" dirty="0"/>
          </a:p>
        </p:txBody>
      </p:sp>
      <p:sp>
        <p:nvSpPr>
          <p:cNvPr id="67" name="Text 65"/>
          <p:cNvSpPr/>
          <p:nvPr/>
        </p:nvSpPr>
        <p:spPr>
          <a:xfrm>
            <a:off x="11625578" y="3684609"/>
            <a:ext cx="897032"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1F3A56"/>
                </a:solidFill>
                <a:latin typeface="Noto Sans JP Medium" pitchFamily="34" charset="0"/>
                <a:ea typeface="Noto Sans JP Medium" pitchFamily="34" charset="-122"/>
                <a:cs typeface="Noto Sans JP Medium" pitchFamily="34" charset="-120"/>
              </a:rPr>
              <a:t>ビジネスモデル</a:t>
            </a:r>
            <a:endParaRPr lang="en-US" sz="660" dirty="0"/>
          </a:p>
        </p:txBody>
      </p:sp>
      <p:sp>
        <p:nvSpPr>
          <p:cNvPr id="68" name="Text 66"/>
          <p:cNvSpPr/>
          <p:nvPr/>
        </p:nvSpPr>
        <p:spPr>
          <a:xfrm>
            <a:off x="12068287" y="3983190"/>
            <a:ext cx="614016"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第三者の資源</a:t>
            </a:r>
            <a:endParaRPr lang="en-US" sz="640" dirty="0"/>
          </a:p>
        </p:txBody>
      </p:sp>
      <p:sp>
        <p:nvSpPr>
          <p:cNvPr id="69" name="Text 67"/>
          <p:cNvSpPr/>
          <p:nvPr/>
        </p:nvSpPr>
        <p:spPr>
          <a:xfrm>
            <a:off x="13529028" y="3983190"/>
            <a:ext cx="894630"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三菱商事の保有資産</a:t>
            </a:r>
            <a:endParaRPr lang="en-US" sz="640" dirty="0"/>
          </a:p>
        </p:txBody>
      </p:sp>
      <p:sp>
        <p:nvSpPr>
          <p:cNvPr id="70" name="Text 68"/>
          <p:cNvSpPr/>
          <p:nvPr/>
        </p:nvSpPr>
        <p:spPr>
          <a:xfrm>
            <a:off x="12966609" y="4535881"/>
            <a:ext cx="384938" cy="203289"/>
          </a:xfrm>
          <a:prstGeom prst="rect">
            <a:avLst/>
          </a:prstGeom>
          <a:noFill/>
          <a:ln/>
        </p:spPr>
        <p:txBody>
          <a:bodyPr wrap="none" lIns="0" tIns="0" rIns="0" bIns="0" rtlCol="0" anchor="t"/>
          <a:lstStyle/>
          <a:p>
            <a:pPr algn="l" indent="0" marL="0">
              <a:lnSpc>
                <a:spcPts val="1600"/>
              </a:lnSpc>
              <a:buNone/>
            </a:pPr>
            <a:r>
              <a:rPr lang="en-US" sz="1300" dirty="0">
                <a:solidFill>
                  <a:srgbClr val="FFFFFF"/>
                </a:solidFill>
                <a:latin typeface="Inter Tight SemiBold" pitchFamily="34" charset="0"/>
                <a:ea typeface="Inter Tight SemiBold" pitchFamily="34" charset="-122"/>
                <a:cs typeface="Inter Tight SemiBold" pitchFamily="34" charset="-120"/>
              </a:rPr>
              <a:t>RtM</a:t>
            </a:r>
            <a:endParaRPr lang="en-US" sz="1300" dirty="0"/>
          </a:p>
        </p:txBody>
      </p:sp>
      <p:sp>
        <p:nvSpPr>
          <p:cNvPr id="71" name="Text 69"/>
          <p:cNvSpPr/>
          <p:nvPr/>
        </p:nvSpPr>
        <p:spPr>
          <a:xfrm>
            <a:off x="12506827" y="5177511"/>
            <a:ext cx="139645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世界の顧客（15業界・50カ国）</a:t>
            </a:r>
            <a:endParaRPr lang="en-US" sz="640" dirty="0"/>
          </a:p>
        </p:txBody>
      </p:sp>
      <p:sp>
        <p:nvSpPr>
          <p:cNvPr id="72" name="Text 70"/>
          <p:cNvSpPr/>
          <p:nvPr/>
        </p:nvSpPr>
        <p:spPr>
          <a:xfrm>
            <a:off x="12642022" y="4872832"/>
            <a:ext cx="363756"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安定供給</a:t>
            </a:r>
            <a:endParaRPr lang="en-US" sz="560" dirty="0"/>
          </a:p>
        </p:txBody>
      </p:sp>
      <p:sp>
        <p:nvSpPr>
          <p:cNvPr id="73" name="Text 71"/>
          <p:cNvSpPr/>
          <p:nvPr/>
        </p:nvSpPr>
        <p:spPr>
          <a:xfrm>
            <a:off x="13810932" y="4872832"/>
            <a:ext cx="441935" cy="113842"/>
          </a:xfrm>
          <a:prstGeom prst="rect">
            <a:avLst/>
          </a:prstGeom>
          <a:noFill/>
          <a:ln/>
        </p:spPr>
        <p:txBody>
          <a:bodyPr wrap="none" lIns="0" tIns="0" rIns="0" bIns="0" rtlCol="0" anchor="t"/>
          <a:lstStyle/>
          <a:p>
            <a:pPr algn="l" indent="0" marL="0">
              <a:lnSpc>
                <a:spcPts val="896"/>
              </a:lnSpc>
              <a:buNone/>
            </a:pPr>
            <a:r>
              <a:rPr lang="en-US" sz="560" dirty="0">
                <a:solidFill>
                  <a:srgbClr val="9C7442"/>
                </a:solidFill>
                <a:latin typeface="Noto Sans JP" pitchFamily="34" charset="0"/>
                <a:ea typeface="Noto Sans JP" pitchFamily="34" charset="-122"/>
                <a:cs typeface="Noto Sans JP" pitchFamily="34" charset="-120"/>
              </a:rPr>
              <a:t>市場の情報</a:t>
            </a:r>
            <a:endParaRPr lang="en-US" sz="560" dirty="0"/>
          </a:p>
        </p:txBody>
      </p:sp>
      <p:sp>
        <p:nvSpPr>
          <p:cNvPr id="74" name="Text 72"/>
          <p:cNvSpPr/>
          <p:nvPr/>
        </p:nvSpPr>
        <p:spPr>
          <a:xfrm>
            <a:off x="11625578" y="5539620"/>
            <a:ext cx="88414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1F3A56"/>
                </a:solidFill>
                <a:latin typeface="Noto Sans JP Medium" pitchFamily="34" charset="0"/>
                <a:ea typeface="Noto Sans JP Medium" pitchFamily="34" charset="-122"/>
                <a:cs typeface="Noto Sans JP Medium" pitchFamily="34" charset="-120"/>
              </a:rPr>
              <a:t>多様な取引機能</a:t>
            </a:r>
            <a:endParaRPr lang="en-US" sz="660" dirty="0"/>
          </a:p>
        </p:txBody>
      </p:sp>
      <p:sp>
        <p:nvSpPr>
          <p:cNvPr id="75" name="Text 73"/>
          <p:cNvSpPr/>
          <p:nvPr/>
        </p:nvSpPr>
        <p:spPr>
          <a:xfrm>
            <a:off x="11653252" y="5845458"/>
            <a:ext cx="656162" cy="126039"/>
          </a:xfrm>
          <a:prstGeom prst="rect">
            <a:avLst/>
          </a:prstGeom>
          <a:noFill/>
          <a:ln/>
        </p:spPr>
        <p:txBody>
          <a:bodyPr wrap="none" lIns="0" tIns="0" rIns="0" bIns="0" rtlCol="0" anchor="t"/>
          <a:lstStyle/>
          <a:p>
            <a:pPr algn="ctr" indent="0" marL="0">
              <a:lnSpc>
                <a:spcPts val="992"/>
              </a:lnSpc>
              <a:buNone/>
            </a:pPr>
            <a:r>
              <a:rPr lang="en-US" sz="620" dirty="0">
                <a:solidFill>
                  <a:srgbClr val="121519"/>
                </a:solidFill>
                <a:latin typeface="Noto Sans JP" pitchFamily="34" charset="0"/>
                <a:ea typeface="Noto Sans JP" pitchFamily="34" charset="-122"/>
                <a:cs typeface="Noto Sans JP" pitchFamily="34" charset="-120"/>
              </a:rPr>
              <a:t>取扱商品の広さ</a:t>
            </a:r>
            <a:endParaRPr lang="en-US" sz="620" dirty="0"/>
          </a:p>
        </p:txBody>
      </p:sp>
      <p:sp>
        <p:nvSpPr>
          <p:cNvPr id="76" name="Text 74"/>
          <p:cNvSpPr/>
          <p:nvPr/>
        </p:nvSpPr>
        <p:spPr>
          <a:xfrm>
            <a:off x="12631778" y="5845458"/>
            <a:ext cx="223776" cy="126039"/>
          </a:xfrm>
          <a:prstGeom prst="rect">
            <a:avLst/>
          </a:prstGeom>
          <a:noFill/>
          <a:ln/>
        </p:spPr>
        <p:txBody>
          <a:bodyPr wrap="none" lIns="0" tIns="0" rIns="0" bIns="0" rtlCol="0" anchor="t"/>
          <a:lstStyle/>
          <a:p>
            <a:pPr algn="ctr" indent="0" marL="0">
              <a:lnSpc>
                <a:spcPts val="992"/>
              </a:lnSpc>
              <a:buNone/>
            </a:pPr>
            <a:r>
              <a:rPr lang="en-US" sz="620" dirty="0">
                <a:solidFill>
                  <a:srgbClr val="121519"/>
                </a:solidFill>
                <a:latin typeface="Noto Sans JP" pitchFamily="34" charset="0"/>
                <a:ea typeface="Noto Sans JP" pitchFamily="34" charset="-122"/>
                <a:cs typeface="Noto Sans JP" pitchFamily="34" charset="-120"/>
              </a:rPr>
              <a:t>在庫</a:t>
            </a:r>
            <a:endParaRPr lang="en-US" sz="620" dirty="0"/>
          </a:p>
        </p:txBody>
      </p:sp>
      <p:sp>
        <p:nvSpPr>
          <p:cNvPr id="77" name="Text 75"/>
          <p:cNvSpPr/>
          <p:nvPr/>
        </p:nvSpPr>
        <p:spPr>
          <a:xfrm>
            <a:off x="13307634" y="5845458"/>
            <a:ext cx="396731" cy="126039"/>
          </a:xfrm>
          <a:prstGeom prst="rect">
            <a:avLst/>
          </a:prstGeom>
          <a:noFill/>
          <a:ln/>
        </p:spPr>
        <p:txBody>
          <a:bodyPr wrap="none" lIns="0" tIns="0" rIns="0" bIns="0" rtlCol="0" anchor="t"/>
          <a:lstStyle/>
          <a:p>
            <a:pPr algn="ctr" indent="0" marL="0">
              <a:lnSpc>
                <a:spcPts val="992"/>
              </a:lnSpc>
              <a:buNone/>
            </a:pPr>
            <a:r>
              <a:rPr lang="en-US" sz="620" dirty="0">
                <a:solidFill>
                  <a:srgbClr val="121519"/>
                </a:solidFill>
                <a:latin typeface="Noto Sans JP" pitchFamily="34" charset="0"/>
                <a:ea typeface="Noto Sans JP" pitchFamily="34" charset="-122"/>
                <a:cs typeface="Noto Sans JP" pitchFamily="34" charset="-120"/>
              </a:rPr>
              <a:t>輸送手配</a:t>
            </a:r>
            <a:endParaRPr lang="en-US" sz="620" dirty="0"/>
          </a:p>
        </p:txBody>
      </p:sp>
      <p:sp>
        <p:nvSpPr>
          <p:cNvPr id="78" name="Text 76"/>
          <p:cNvSpPr/>
          <p:nvPr/>
        </p:nvSpPr>
        <p:spPr>
          <a:xfrm>
            <a:off x="14113205" y="5845458"/>
            <a:ext cx="310254" cy="126039"/>
          </a:xfrm>
          <a:prstGeom prst="rect">
            <a:avLst/>
          </a:prstGeom>
          <a:noFill/>
          <a:ln/>
        </p:spPr>
        <p:txBody>
          <a:bodyPr wrap="none" lIns="0" tIns="0" rIns="0" bIns="0" rtlCol="0" anchor="t"/>
          <a:lstStyle/>
          <a:p>
            <a:pPr algn="ctr" indent="0" marL="0">
              <a:lnSpc>
                <a:spcPts val="992"/>
              </a:lnSpc>
              <a:buNone/>
            </a:pPr>
            <a:r>
              <a:rPr lang="en-US" sz="620" dirty="0">
                <a:solidFill>
                  <a:srgbClr val="121519"/>
                </a:solidFill>
                <a:latin typeface="Noto Sans JP" pitchFamily="34" charset="0"/>
                <a:ea typeface="Noto Sans JP" pitchFamily="34" charset="-122"/>
                <a:cs typeface="Noto Sans JP" pitchFamily="34" charset="-120"/>
              </a:rPr>
              <a:t>ヘッジ</a:t>
            </a:r>
            <a:endParaRPr lang="en-US" sz="620" dirty="0"/>
          </a:p>
        </p:txBody>
      </p:sp>
      <p:sp>
        <p:nvSpPr>
          <p:cNvPr id="79" name="Text 77"/>
          <p:cNvSpPr/>
          <p:nvPr/>
        </p:nvSpPr>
        <p:spPr>
          <a:xfrm>
            <a:off x="508222" y="6606886"/>
            <a:ext cx="178713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NEW TECHNOLOGY　新技術</a:t>
            </a:r>
            <a:endParaRPr lang="en-US" sz="660" dirty="0"/>
          </a:p>
        </p:txBody>
      </p:sp>
      <p:sp>
        <p:nvSpPr>
          <p:cNvPr id="80" name="Text 78"/>
          <p:cNvSpPr/>
          <p:nvPr/>
        </p:nvSpPr>
        <p:spPr>
          <a:xfrm>
            <a:off x="508222" y="6746647"/>
            <a:ext cx="1458478"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資源業界のボトルネックに挑む</a:t>
            </a:r>
            <a:endParaRPr lang="en-US" sz="660" dirty="0"/>
          </a:p>
        </p:txBody>
      </p:sp>
      <p:sp>
        <p:nvSpPr>
          <p:cNvPr id="81" name="Text 79"/>
          <p:cNvSpPr/>
          <p:nvPr/>
        </p:nvSpPr>
        <p:spPr>
          <a:xfrm>
            <a:off x="508222" y="6927828"/>
            <a:ext cx="3480427" cy="311032"/>
          </a:xfrm>
          <a:prstGeom prst="rect">
            <a:avLst/>
          </a:prstGeom>
          <a:noFill/>
          <a:ln/>
        </p:spPr>
        <p:txBody>
          <a:bodyPr wrap="none" lIns="0" tIns="0" rIns="0" bIns="0" rtlCol="0" anchor="t"/>
          <a:lstStyle/>
          <a:p>
            <a:pPr algn="l" indent="0" marL="0">
              <a:lnSpc>
                <a:spcPts val="2448"/>
              </a:lnSpc>
              <a:buNone/>
            </a:pPr>
            <a:r>
              <a:rPr lang="en-US" sz="2400" spc="-60" kern="0" dirty="0">
                <a:solidFill>
                  <a:srgbClr val="121519"/>
                </a:solidFill>
                <a:latin typeface="Inter Tight SemiBold" pitchFamily="34" charset="0"/>
                <a:ea typeface="Inter Tight SemiBold" pitchFamily="34" charset="-122"/>
                <a:cs typeface="Inter Tight SemiBold" pitchFamily="34" charset="-120"/>
              </a:rPr>
              <a:t>Investing in what's next.</a:t>
            </a:r>
            <a:endParaRPr lang="en-US" sz="2400" dirty="0"/>
          </a:p>
        </p:txBody>
      </p:sp>
      <p:sp>
        <p:nvSpPr>
          <p:cNvPr id="82" name="Text 80"/>
          <p:cNvSpPr/>
          <p:nvPr/>
        </p:nvSpPr>
        <p:spPr>
          <a:xfrm>
            <a:off x="508222" y="7470228"/>
            <a:ext cx="2811321" cy="179148"/>
          </a:xfrm>
          <a:prstGeom prst="rect">
            <a:avLst/>
          </a:prstGeom>
          <a:noFill/>
          <a:ln/>
        </p:spPr>
        <p:txBody>
          <a:bodyPr wrap="none" lIns="0" tIns="0" rIns="0" bIns="0" rtlCol="0" anchor="t"/>
          <a:lstStyle/>
          <a:p>
            <a:pPr algn="l" indent="0" marL="0">
              <a:lnSpc>
                <a:spcPts val="1410"/>
              </a:lnSpc>
              <a:buNone/>
            </a:pPr>
            <a:r>
              <a:rPr lang="en-US" sz="940" spc="50" kern="0" dirty="0">
                <a:solidFill>
                  <a:srgbClr val="121519"/>
                </a:solidFill>
                <a:latin typeface="Noto Sans JP Medium" pitchFamily="34" charset="0"/>
                <a:ea typeface="Noto Sans JP Medium" pitchFamily="34" charset="-122"/>
                <a:cs typeface="Noto Sans JP Medium" pitchFamily="34" charset="-120"/>
              </a:rPr>
              <a:t>課題を解く技術に投資し、現場に取り入れる</a:t>
            </a:r>
            <a:endParaRPr lang="en-US" sz="940" dirty="0"/>
          </a:p>
        </p:txBody>
      </p:sp>
      <p:sp>
        <p:nvSpPr>
          <p:cNvPr id="83" name="Text 81"/>
          <p:cNvSpPr/>
          <p:nvPr/>
        </p:nvSpPr>
        <p:spPr>
          <a:xfrm>
            <a:off x="508222" y="7694703"/>
            <a:ext cx="3544848" cy="648745"/>
          </a:xfrm>
          <a:prstGeom prst="rect">
            <a:avLst/>
          </a:prstGeom>
          <a:noFill/>
          <a:ln/>
        </p:spPr>
        <p:txBody>
          <a:bodyPr wrap="none" lIns="0" tIns="0" rIns="0" bIns="0" rtlCol="0" anchor="t"/>
          <a:lstStyle/>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資源の流れの中で業界の課題になっている部分を見極め、課題を解く技術を持</a:t>
            </a:r>
            <a:endParaRPr lang="en-US" sz="690" dirty="0"/>
          </a:p>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つスタートアップに出資しています。トレーディングや業界とのつながりを生</a:t>
            </a:r>
            <a:endParaRPr lang="en-US" sz="690" dirty="0"/>
          </a:p>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かして技術を現場に取り入れ、得られた知見を既存事業の高度化に還元してい</a:t>
            </a:r>
            <a:endParaRPr lang="en-US" sz="690" dirty="0"/>
          </a:p>
          <a:p>
            <a:pPr algn="l" indent="0" marL="0">
              <a:lnSpc>
                <a:spcPts val="1277"/>
              </a:lnSpc>
              <a:buNone/>
            </a:pPr>
            <a:r>
              <a:rPr lang="en-US" sz="690" spc="20" kern="0" dirty="0">
                <a:solidFill>
                  <a:srgbClr val="3D4249"/>
                </a:solidFill>
                <a:latin typeface="Noto Sans JP" pitchFamily="34" charset="0"/>
                <a:ea typeface="Noto Sans JP" pitchFamily="34" charset="-122"/>
                <a:cs typeface="Noto Sans JP" pitchFamily="34" charset="-120"/>
              </a:rPr>
              <a:t>ます。</a:t>
            </a:r>
            <a:endParaRPr lang="en-US" sz="690" dirty="0"/>
          </a:p>
        </p:txBody>
      </p:sp>
      <p:sp>
        <p:nvSpPr>
          <p:cNvPr id="84" name="Text 82"/>
          <p:cNvSpPr/>
          <p:nvPr/>
        </p:nvSpPr>
        <p:spPr>
          <a:xfrm>
            <a:off x="4103893" y="7775796"/>
            <a:ext cx="265923"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鉱石</a:t>
            </a:r>
            <a:endParaRPr lang="en-US" sz="740" dirty="0"/>
          </a:p>
        </p:txBody>
      </p:sp>
      <p:sp>
        <p:nvSpPr>
          <p:cNvPr id="85" name="Text 83"/>
          <p:cNvSpPr/>
          <p:nvPr/>
        </p:nvSpPr>
        <p:spPr>
          <a:xfrm>
            <a:off x="4103893" y="7923689"/>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採掘</a:t>
            </a:r>
            <a:endParaRPr lang="en-US" sz="670" dirty="0"/>
          </a:p>
        </p:txBody>
      </p:sp>
      <p:sp>
        <p:nvSpPr>
          <p:cNvPr id="86" name="Text 84"/>
          <p:cNvSpPr/>
          <p:nvPr/>
        </p:nvSpPr>
        <p:spPr>
          <a:xfrm>
            <a:off x="4103893" y="8070883"/>
            <a:ext cx="491069"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A8622F"/>
                </a:solidFill>
                <a:latin typeface="Inter Tight SemiBold" pitchFamily="34" charset="0"/>
                <a:ea typeface="Inter Tight SemiBold" pitchFamily="34" charset="-122"/>
                <a:cs typeface="Inter Tight SemiBold" pitchFamily="34" charset="-120"/>
              </a:rPr>
              <a:t>Cu 約1%</a:t>
            </a:r>
            <a:endParaRPr lang="en-US" sz="900" dirty="0"/>
          </a:p>
        </p:txBody>
      </p:sp>
      <p:sp>
        <p:nvSpPr>
          <p:cNvPr id="87" name="Text 85"/>
          <p:cNvSpPr/>
          <p:nvPr/>
        </p:nvSpPr>
        <p:spPr>
          <a:xfrm>
            <a:off x="5374447" y="7775796"/>
            <a:ext cx="373364"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銅精鉱</a:t>
            </a:r>
            <a:endParaRPr lang="en-US" sz="740" dirty="0"/>
          </a:p>
        </p:txBody>
      </p:sp>
      <p:sp>
        <p:nvSpPr>
          <p:cNvPr id="88" name="Text 86"/>
          <p:cNvSpPr/>
          <p:nvPr/>
        </p:nvSpPr>
        <p:spPr>
          <a:xfrm>
            <a:off x="5374447" y="7923689"/>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選鉱・浸出</a:t>
            </a:r>
            <a:endParaRPr lang="en-US" sz="670" dirty="0"/>
          </a:p>
        </p:txBody>
      </p:sp>
      <p:sp>
        <p:nvSpPr>
          <p:cNvPr id="89" name="Text 87"/>
          <p:cNvSpPr/>
          <p:nvPr/>
        </p:nvSpPr>
        <p:spPr>
          <a:xfrm>
            <a:off x="5374447" y="8070883"/>
            <a:ext cx="740674"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A8622F"/>
                </a:solidFill>
                <a:latin typeface="Inter Tight SemiBold" pitchFamily="34" charset="0"/>
                <a:ea typeface="Inter Tight SemiBold" pitchFamily="34" charset="-122"/>
                <a:cs typeface="Inter Tight SemiBold" pitchFamily="34" charset="-120"/>
              </a:rPr>
              <a:t>Cu 20〜30%</a:t>
            </a:r>
            <a:endParaRPr lang="en-US" sz="900" dirty="0"/>
          </a:p>
        </p:txBody>
      </p:sp>
      <p:sp>
        <p:nvSpPr>
          <p:cNvPr id="90" name="Text 88"/>
          <p:cNvSpPr/>
          <p:nvPr/>
        </p:nvSpPr>
        <p:spPr>
          <a:xfrm>
            <a:off x="6645002" y="7775796"/>
            <a:ext cx="373364"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銅地金</a:t>
            </a:r>
            <a:endParaRPr lang="en-US" sz="740" dirty="0"/>
          </a:p>
        </p:txBody>
      </p:sp>
      <p:sp>
        <p:nvSpPr>
          <p:cNvPr id="91" name="Text 89"/>
          <p:cNvSpPr/>
          <p:nvPr/>
        </p:nvSpPr>
        <p:spPr>
          <a:xfrm>
            <a:off x="6645002" y="7923689"/>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製錬・精製</a:t>
            </a:r>
            <a:endParaRPr lang="en-US" sz="670" dirty="0"/>
          </a:p>
        </p:txBody>
      </p:sp>
      <p:sp>
        <p:nvSpPr>
          <p:cNvPr id="92" name="Text 90"/>
          <p:cNvSpPr/>
          <p:nvPr/>
        </p:nvSpPr>
        <p:spPr>
          <a:xfrm>
            <a:off x="6645002" y="8070883"/>
            <a:ext cx="64262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A8622F"/>
                </a:solidFill>
                <a:latin typeface="Inter Tight SemiBold" pitchFamily="34" charset="0"/>
                <a:ea typeface="Inter Tight SemiBold" pitchFamily="34" charset="-122"/>
                <a:cs typeface="Inter Tight SemiBold" pitchFamily="34" charset="-120"/>
              </a:rPr>
              <a:t>Cu 99.99%</a:t>
            </a:r>
            <a:endParaRPr lang="en-US" sz="900" dirty="0"/>
          </a:p>
        </p:txBody>
      </p:sp>
      <p:sp>
        <p:nvSpPr>
          <p:cNvPr id="93" name="Text 91"/>
          <p:cNvSpPr/>
          <p:nvPr/>
        </p:nvSpPr>
        <p:spPr>
          <a:xfrm>
            <a:off x="7915557" y="7775796"/>
            <a:ext cx="480806"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最終用途</a:t>
            </a:r>
            <a:endParaRPr lang="en-US" sz="740" dirty="0"/>
          </a:p>
        </p:txBody>
      </p:sp>
      <p:sp>
        <p:nvSpPr>
          <p:cNvPr id="94" name="Text 92"/>
          <p:cNvSpPr/>
          <p:nvPr/>
        </p:nvSpPr>
        <p:spPr>
          <a:xfrm>
            <a:off x="7915557" y="7923689"/>
            <a:ext cx="70245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電化・インフラ</a:t>
            </a:r>
            <a:endParaRPr lang="en-US" sz="670" dirty="0"/>
          </a:p>
        </p:txBody>
      </p:sp>
      <p:sp>
        <p:nvSpPr>
          <p:cNvPr id="95" name="Text 93"/>
          <p:cNvSpPr/>
          <p:nvPr/>
        </p:nvSpPr>
        <p:spPr>
          <a:xfrm>
            <a:off x="7915557" y="8070883"/>
            <a:ext cx="541951"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A8622F"/>
                </a:solidFill>
                <a:latin typeface="Inter Tight SemiBold" pitchFamily="34" charset="0"/>
                <a:ea typeface="Inter Tight SemiBold" pitchFamily="34" charset="-122"/>
                <a:cs typeface="Inter Tight SemiBold" pitchFamily="34" charset="-120"/>
              </a:rPr>
              <a:t>需要家へ</a:t>
            </a:r>
            <a:endParaRPr lang="en-US" sz="900" dirty="0"/>
          </a:p>
        </p:txBody>
      </p:sp>
      <p:sp>
        <p:nvSpPr>
          <p:cNvPr id="96" name="Text 94"/>
          <p:cNvSpPr/>
          <p:nvPr/>
        </p:nvSpPr>
        <p:spPr>
          <a:xfrm>
            <a:off x="9186112" y="7775796"/>
            <a:ext cx="600476"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リサイクル</a:t>
            </a:r>
            <a:endParaRPr lang="en-US" sz="740" dirty="0"/>
          </a:p>
        </p:txBody>
      </p:sp>
      <p:sp>
        <p:nvSpPr>
          <p:cNvPr id="97" name="Text 95"/>
          <p:cNvSpPr/>
          <p:nvPr/>
        </p:nvSpPr>
        <p:spPr>
          <a:xfrm>
            <a:off x="9186112" y="7923689"/>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回収</a:t>
            </a:r>
            <a:endParaRPr lang="en-US" sz="670" dirty="0"/>
          </a:p>
        </p:txBody>
      </p:sp>
      <p:sp>
        <p:nvSpPr>
          <p:cNvPr id="98" name="Text 96"/>
          <p:cNvSpPr/>
          <p:nvPr/>
        </p:nvSpPr>
        <p:spPr>
          <a:xfrm>
            <a:off x="9186112" y="8070883"/>
            <a:ext cx="66686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A8622F"/>
                </a:solidFill>
                <a:latin typeface="Inter Tight SemiBold" pitchFamily="34" charset="0"/>
                <a:ea typeface="Inter Tight SemiBold" pitchFamily="34" charset="-122"/>
                <a:cs typeface="Inter Tight SemiBold" pitchFamily="34" charset="-120"/>
              </a:rPr>
              <a:t>再び供給へ</a:t>
            </a:r>
            <a:endParaRPr lang="en-US" sz="900" dirty="0"/>
          </a:p>
        </p:txBody>
      </p:sp>
      <p:sp>
        <p:nvSpPr>
          <p:cNvPr id="99" name="Text 97"/>
          <p:cNvSpPr/>
          <p:nvPr/>
        </p:nvSpPr>
        <p:spPr>
          <a:xfrm>
            <a:off x="4129304" y="8944707"/>
            <a:ext cx="1009714"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A8622F"/>
                </a:solidFill>
                <a:latin typeface="Noto Sans JP Medium" pitchFamily="34" charset="0"/>
                <a:ea typeface="Noto Sans JP Medium" pitchFamily="34" charset="-122"/>
                <a:cs typeface="Noto Sans JP Medium" pitchFamily="34" charset="-120"/>
              </a:rPr>
              <a:t>選鉱｜スタートアップ</a:t>
            </a:r>
            <a:endParaRPr lang="en-US" sz="560" dirty="0"/>
          </a:p>
        </p:txBody>
      </p:sp>
      <p:sp>
        <p:nvSpPr>
          <p:cNvPr id="100" name="Text 98"/>
          <p:cNvSpPr/>
          <p:nvPr/>
        </p:nvSpPr>
        <p:spPr>
          <a:xfrm>
            <a:off x="4129304" y="9071762"/>
            <a:ext cx="483645" cy="139761"/>
          </a:xfrm>
          <a:prstGeom prst="rect">
            <a:avLst/>
          </a:prstGeom>
          <a:noFill/>
          <a:ln/>
        </p:spPr>
        <p:txBody>
          <a:bodyPr wrap="none" lIns="0" tIns="0" rIns="0" bIns="0" rtlCol="0" anchor="t"/>
          <a:lstStyle/>
          <a:p>
            <a:pPr algn="l" indent="0" marL="0">
              <a:lnSpc>
                <a:spcPts val="1100"/>
              </a:lnSpc>
              <a:buNone/>
            </a:pPr>
            <a:r>
              <a:rPr lang="en-US" sz="950" spc="30" kern="0" dirty="0">
                <a:solidFill>
                  <a:srgbClr val="121519"/>
                </a:solidFill>
                <a:latin typeface="Inter SemiBold" pitchFamily="34" charset="0"/>
                <a:ea typeface="Inter SemiBold" pitchFamily="34" charset="-122"/>
                <a:cs typeface="Inter SemiBold" pitchFamily="34" charset="-120"/>
              </a:rPr>
              <a:t>CiDRA</a:t>
            </a:r>
            <a:endParaRPr lang="en-US" sz="950" dirty="0"/>
          </a:p>
        </p:txBody>
      </p:sp>
      <p:sp>
        <p:nvSpPr>
          <p:cNvPr id="101" name="Text 99"/>
          <p:cNvSpPr/>
          <p:nvPr/>
        </p:nvSpPr>
        <p:spPr>
          <a:xfrm>
            <a:off x="4129304" y="9232361"/>
            <a:ext cx="1916414"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浮遊選鉱の高度化で、回収率と処理能力を高</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める</a:t>
            </a:r>
            <a:endParaRPr lang="en-US" sz="670" dirty="0"/>
          </a:p>
        </p:txBody>
      </p:sp>
      <p:sp>
        <p:nvSpPr>
          <p:cNvPr id="102" name="Text 100"/>
          <p:cNvSpPr/>
          <p:nvPr/>
        </p:nvSpPr>
        <p:spPr>
          <a:xfrm>
            <a:off x="6289247" y="8944707"/>
            <a:ext cx="1009714"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A8622F"/>
                </a:solidFill>
                <a:latin typeface="Noto Sans JP Medium" pitchFamily="34" charset="0"/>
                <a:ea typeface="Noto Sans JP Medium" pitchFamily="34" charset="-122"/>
                <a:cs typeface="Noto Sans JP Medium" pitchFamily="34" charset="-120"/>
              </a:rPr>
              <a:t>浸出｜スタートアップ</a:t>
            </a:r>
            <a:endParaRPr lang="en-US" sz="560" dirty="0"/>
          </a:p>
        </p:txBody>
      </p:sp>
      <p:sp>
        <p:nvSpPr>
          <p:cNvPr id="103" name="Text 101"/>
          <p:cNvSpPr/>
          <p:nvPr/>
        </p:nvSpPr>
        <p:spPr>
          <a:xfrm>
            <a:off x="6289247" y="9071762"/>
            <a:ext cx="355021" cy="139761"/>
          </a:xfrm>
          <a:prstGeom prst="rect">
            <a:avLst/>
          </a:prstGeom>
          <a:noFill/>
          <a:ln/>
        </p:spPr>
        <p:txBody>
          <a:bodyPr wrap="none" lIns="0" tIns="0" rIns="0" bIns="0" rtlCol="0" anchor="t"/>
          <a:lstStyle/>
          <a:p>
            <a:pPr algn="l" indent="0" marL="0">
              <a:lnSpc>
                <a:spcPts val="1100"/>
              </a:lnSpc>
              <a:buNone/>
            </a:pPr>
            <a:r>
              <a:rPr lang="en-US" sz="950" spc="30" kern="0" dirty="0">
                <a:solidFill>
                  <a:srgbClr val="121519"/>
                </a:solidFill>
                <a:latin typeface="Inter SemiBold" pitchFamily="34" charset="0"/>
                <a:ea typeface="Inter SemiBold" pitchFamily="34" charset="-122"/>
                <a:cs typeface="Inter SemiBold" pitchFamily="34" charset="-120"/>
              </a:rPr>
              <a:t>Jetti</a:t>
            </a:r>
            <a:endParaRPr lang="en-US" sz="950" dirty="0"/>
          </a:p>
        </p:txBody>
      </p:sp>
      <p:sp>
        <p:nvSpPr>
          <p:cNvPr id="104" name="Text 102"/>
          <p:cNvSpPr/>
          <p:nvPr/>
        </p:nvSpPr>
        <p:spPr>
          <a:xfrm>
            <a:off x="6289247" y="9232361"/>
            <a:ext cx="172948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新たな触媒で、硫化鉱から銅を回収する</a:t>
            </a:r>
            <a:endParaRPr lang="en-US" sz="670" dirty="0"/>
          </a:p>
        </p:txBody>
      </p:sp>
      <p:sp>
        <p:nvSpPr>
          <p:cNvPr id="105" name="Text 103"/>
          <p:cNvSpPr/>
          <p:nvPr/>
        </p:nvSpPr>
        <p:spPr>
          <a:xfrm>
            <a:off x="8449190" y="8944707"/>
            <a:ext cx="1303867"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A8622F"/>
                </a:solidFill>
                <a:latin typeface="Noto Sans JP Medium" pitchFamily="34" charset="0"/>
                <a:ea typeface="Noto Sans JP Medium" pitchFamily="34" charset="-122"/>
                <a:cs typeface="Noto Sans JP Medium" pitchFamily="34" charset="-120"/>
              </a:rPr>
              <a:t>リサイクル｜スタートアップ</a:t>
            </a:r>
            <a:endParaRPr lang="en-US" sz="560" dirty="0"/>
          </a:p>
        </p:txBody>
      </p:sp>
      <p:sp>
        <p:nvSpPr>
          <p:cNvPr id="106" name="Text 104"/>
          <p:cNvSpPr/>
          <p:nvPr/>
        </p:nvSpPr>
        <p:spPr>
          <a:xfrm>
            <a:off x="8449190" y="9071762"/>
            <a:ext cx="711630" cy="139761"/>
          </a:xfrm>
          <a:prstGeom prst="rect">
            <a:avLst/>
          </a:prstGeom>
          <a:noFill/>
          <a:ln/>
        </p:spPr>
        <p:txBody>
          <a:bodyPr wrap="none" lIns="0" tIns="0" rIns="0" bIns="0" rtlCol="0" anchor="t"/>
          <a:lstStyle/>
          <a:p>
            <a:pPr algn="l" indent="0" marL="0">
              <a:lnSpc>
                <a:spcPts val="1100"/>
              </a:lnSpc>
              <a:buNone/>
            </a:pPr>
            <a:r>
              <a:rPr lang="en-US" sz="950" spc="30" kern="0" dirty="0">
                <a:solidFill>
                  <a:srgbClr val="121519"/>
                </a:solidFill>
                <a:latin typeface="Inter SemiBold" pitchFamily="34" charset="0"/>
                <a:ea typeface="Inter SemiBold" pitchFamily="34" charset="-122"/>
                <a:cs typeface="Inter SemiBold" pitchFamily="34" charset="-120"/>
              </a:rPr>
              <a:t>DESCycle</a:t>
            </a:r>
            <a:endParaRPr lang="en-US" sz="950" dirty="0"/>
          </a:p>
        </p:txBody>
      </p:sp>
      <p:sp>
        <p:nvSpPr>
          <p:cNvPr id="107" name="Text 105"/>
          <p:cNvSpPr/>
          <p:nvPr/>
        </p:nvSpPr>
        <p:spPr>
          <a:xfrm>
            <a:off x="8449190" y="9232361"/>
            <a:ext cx="182666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電子スクラップから銅・貴金属を回収する</a:t>
            </a:r>
            <a:endParaRPr lang="en-US" sz="670" dirty="0"/>
          </a:p>
        </p:txBody>
      </p:sp>
      <p:sp>
        <p:nvSpPr>
          <p:cNvPr id="108" name="Text 106"/>
          <p:cNvSpPr/>
          <p:nvPr/>
        </p:nvSpPr>
        <p:spPr>
          <a:xfrm>
            <a:off x="10787012" y="6759352"/>
            <a:ext cx="76753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A8622F"/>
                </a:solidFill>
                <a:latin typeface="Noto Sans JP Medium" pitchFamily="34" charset="0"/>
                <a:ea typeface="Noto Sans JP Medium" pitchFamily="34" charset="-122"/>
                <a:cs typeface="Noto Sans JP Medium" pitchFamily="34" charset="-120"/>
              </a:rPr>
              <a:t>取り組み事例</a:t>
            </a:r>
            <a:endParaRPr lang="en-US" sz="660" dirty="0"/>
          </a:p>
        </p:txBody>
      </p:sp>
      <p:sp>
        <p:nvSpPr>
          <p:cNvPr id="109" name="Text 107"/>
          <p:cNvSpPr/>
          <p:nvPr/>
        </p:nvSpPr>
        <p:spPr>
          <a:xfrm>
            <a:off x="10787012" y="6956288"/>
            <a:ext cx="1426813" cy="228700"/>
          </a:xfrm>
          <a:prstGeom prst="rect">
            <a:avLst/>
          </a:prstGeom>
          <a:noFill/>
          <a:ln/>
        </p:spPr>
        <p:txBody>
          <a:bodyPr wrap="none" lIns="0" tIns="0" rIns="0" bIns="0" rtlCol="0" anchor="t"/>
          <a:lstStyle/>
          <a:p>
            <a:pPr algn="l" indent="0" marL="0">
              <a:lnSpc>
                <a:spcPts val="1800"/>
              </a:lnSpc>
              <a:buNone/>
            </a:pPr>
            <a:r>
              <a:rPr lang="en-US" sz="1200" spc="50" kern="0" dirty="0">
                <a:solidFill>
                  <a:srgbClr val="121519"/>
                </a:solidFill>
                <a:latin typeface="Noto Sans JP Medium" pitchFamily="34" charset="0"/>
                <a:ea typeface="Noto Sans JP Medium" pitchFamily="34" charset="-122"/>
                <a:cs typeface="Noto Sans JP Medium" pitchFamily="34" charset="-120"/>
              </a:rPr>
              <a:t>Jetti × 三菱商事</a:t>
            </a:r>
            <a:endParaRPr lang="en-US" sz="1200" dirty="0"/>
          </a:p>
        </p:txBody>
      </p:sp>
      <p:sp>
        <p:nvSpPr>
          <p:cNvPr id="110" name="Text 108"/>
          <p:cNvSpPr/>
          <p:nvPr/>
        </p:nvSpPr>
        <p:spPr>
          <a:xfrm>
            <a:off x="10787012" y="7237208"/>
            <a:ext cx="4010864" cy="299343"/>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銅生産の革新技術を持つスタートアップと、銅資源開発・トレーディングのリー</a:t>
            </a:r>
            <a:endParaRPr lang="en-US" sz="760" dirty="0"/>
          </a:p>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ディングプレイヤーによる価値共創。</a:t>
            </a:r>
            <a:endParaRPr lang="en-US" sz="760" dirty="0"/>
          </a:p>
        </p:txBody>
      </p:sp>
      <p:sp>
        <p:nvSpPr>
          <p:cNvPr id="111" name="Text 109"/>
          <p:cNvSpPr/>
          <p:nvPr/>
        </p:nvSpPr>
        <p:spPr>
          <a:xfrm>
            <a:off x="10787012" y="7772112"/>
            <a:ext cx="4061964" cy="639343"/>
          </a:xfrm>
          <a:prstGeom prst="rect">
            <a:avLst/>
          </a:prstGeom>
          <a:noFill/>
          <a:ln/>
        </p:spPr>
        <p:txBody>
          <a:bodyPr wrap="none" lIns="0" tIns="0" rIns="0" bIns="0" rtlCol="0" anchor="t"/>
          <a:lstStyle/>
          <a:p>
            <a:pPr algn="l" indent="0" marL="0">
              <a:lnSpc>
                <a:spcPts val="1258"/>
              </a:lnSpc>
              <a:buNone/>
            </a:pPr>
            <a:r>
              <a:rPr lang="en-US" sz="680" spc="20" kern="0" dirty="0">
                <a:solidFill>
                  <a:srgbClr val="3D4249"/>
                </a:solidFill>
                <a:latin typeface="Noto Sans JP" pitchFamily="34" charset="0"/>
                <a:ea typeface="Noto Sans JP" pitchFamily="34" charset="-122"/>
                <a:cs typeface="Noto Sans JP" pitchFamily="34" charset="-120"/>
              </a:rPr>
              <a:t>銅鉱石からの銅分回収に関する革新技術を持つ米Jettiに出資参画し、事業拡大を支援して</a:t>
            </a:r>
            <a:endParaRPr lang="en-US" sz="680" dirty="0"/>
          </a:p>
          <a:p>
            <a:pPr algn="l" indent="0" marL="0">
              <a:lnSpc>
                <a:spcPts val="1258"/>
              </a:lnSpc>
              <a:buNone/>
            </a:pPr>
            <a:r>
              <a:rPr lang="en-US" sz="680" spc="20" kern="0" dirty="0">
                <a:solidFill>
                  <a:srgbClr val="3D4249"/>
                </a:solidFill>
                <a:latin typeface="Noto Sans JP" pitchFamily="34" charset="0"/>
                <a:ea typeface="Noto Sans JP" pitchFamily="34" charset="-122"/>
                <a:cs typeface="Noto Sans JP" pitchFamily="34" charset="-120"/>
              </a:rPr>
              <a:t>います。同社技術で生産される環境価値の高い銅地金を販売するほか、当社の銅事業のネッ</a:t>
            </a:r>
            <a:endParaRPr lang="en-US" sz="680" dirty="0"/>
          </a:p>
          <a:p>
            <a:pPr algn="l" indent="0" marL="0">
              <a:lnSpc>
                <a:spcPts val="1258"/>
              </a:lnSpc>
              <a:buNone/>
            </a:pPr>
            <a:r>
              <a:rPr lang="en-US" sz="680" spc="20" kern="0" dirty="0">
                <a:solidFill>
                  <a:srgbClr val="3D4249"/>
                </a:solidFill>
                <a:latin typeface="Noto Sans JP" pitchFamily="34" charset="0"/>
                <a:ea typeface="Noto Sans JP" pitchFamily="34" charset="-122"/>
                <a:cs typeface="Noto Sans JP" pitchFamily="34" charset="-120"/>
              </a:rPr>
              <a:t>トワークを生かし、低品位の鉱石からの銅分回収に課題を抱える鉱山に同社技術が導入され</a:t>
            </a:r>
            <a:endParaRPr lang="en-US" sz="680" dirty="0"/>
          </a:p>
          <a:p>
            <a:pPr algn="l" indent="0" marL="0">
              <a:lnSpc>
                <a:spcPts val="1258"/>
              </a:lnSpc>
              <a:buNone/>
            </a:pPr>
            <a:r>
              <a:rPr lang="en-US" sz="680" spc="20" kern="0" dirty="0">
                <a:solidFill>
                  <a:srgbClr val="3D4249"/>
                </a:solidFill>
                <a:latin typeface="Noto Sans JP" pitchFamily="34" charset="0"/>
                <a:ea typeface="Noto Sans JP" pitchFamily="34" charset="-122"/>
                <a:cs typeface="Noto Sans JP" pitchFamily="34" charset="-120"/>
              </a:rPr>
              <a:t>るよう、共同で検討しています。</a:t>
            </a:r>
            <a:endParaRPr lang="en-US" sz="680" dirty="0"/>
          </a:p>
        </p:txBody>
      </p:sp>
      <p:sp>
        <p:nvSpPr>
          <p:cNvPr id="112" name="Text 110"/>
          <p:cNvSpPr/>
          <p:nvPr/>
        </p:nvSpPr>
        <p:spPr>
          <a:xfrm>
            <a:off x="12020343" y="9215089"/>
            <a:ext cx="1179829" cy="136203"/>
          </a:xfrm>
          <a:prstGeom prst="rect">
            <a:avLst/>
          </a:prstGeom>
          <a:noFill/>
          <a:ln/>
        </p:spPr>
        <p:txBody>
          <a:bodyPr wrap="none" lIns="0" tIns="0" rIns="0" bIns="0" rtlCol="0" anchor="t"/>
          <a:lstStyle/>
          <a:p>
            <a:pPr algn="ctr" indent="0" marL="0">
              <a:lnSpc>
                <a:spcPts val="1072"/>
              </a:lnSpc>
              <a:buNone/>
            </a:pPr>
            <a:r>
              <a:rPr lang="en-US" sz="670" dirty="0">
                <a:solidFill>
                  <a:srgbClr val="8A96A3"/>
                </a:solidFill>
                <a:latin typeface="Noto Sans JP" pitchFamily="34" charset="0"/>
                <a:ea typeface="Noto Sans JP" pitchFamily="34" charset="-122"/>
                <a:cs typeface="Noto Sans JP" pitchFamily="34" charset="-120"/>
              </a:rPr>
              <a:t>Jetti提供写真（素材待ち）</a:t>
            </a:r>
            <a:endParaRPr lang="en-US" sz="670" dirty="0"/>
          </a:p>
        </p:txBody>
      </p:sp>
      <p:sp>
        <p:nvSpPr>
          <p:cNvPr id="113" name="Text 111"/>
          <p:cNvSpPr/>
          <p:nvPr/>
        </p:nvSpPr>
        <p:spPr>
          <a:xfrm>
            <a:off x="10914067" y="9732451"/>
            <a:ext cx="37205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Inter Medium" pitchFamily="34" charset="0"/>
                <a:ea typeface="Inter Medium" pitchFamily="34" charset="-122"/>
                <a:cs typeface="Inter Medium" pitchFamily="34" charset="-120"/>
              </a:rPr>
              <a:t>JETTI</a:t>
            </a:r>
            <a:endParaRPr lang="en-US" sz="580" dirty="0"/>
          </a:p>
        </p:txBody>
      </p:sp>
      <p:sp>
        <p:nvSpPr>
          <p:cNvPr id="114" name="Text 112"/>
          <p:cNvSpPr/>
          <p:nvPr/>
        </p:nvSpPr>
        <p:spPr>
          <a:xfrm>
            <a:off x="10914067" y="9846801"/>
            <a:ext cx="696344"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Noto Sans JP" pitchFamily="34" charset="0"/>
                <a:ea typeface="Noto Sans JP" pitchFamily="34" charset="-122"/>
                <a:cs typeface="Noto Sans JP" pitchFamily="34" charset="-120"/>
              </a:rPr>
              <a:t>技術・現場写真</a:t>
            </a:r>
            <a:endParaRPr lang="en-US" sz="580" dirty="0"/>
          </a:p>
        </p:txBody>
      </p:sp>
      <p:sp>
        <p:nvSpPr>
          <p:cNvPr id="115" name="Text 113"/>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08</a:t>
            </a:r>
            <a:endParaRPr lang="en-US" sz="600" dirty="0"/>
          </a:p>
        </p:txBody>
      </p:sp>
      <p:sp>
        <p:nvSpPr>
          <p:cNvPr id="116" name="Text 114"/>
          <p:cNvSpPr/>
          <p:nvPr/>
        </p:nvSpPr>
        <p:spPr>
          <a:xfrm>
            <a:off x="14458915"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09</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539620" y="76233"/>
            <a:ext cx="2203579"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03</a:t>
            </a:r>
            <a:endParaRPr lang="en-US" sz="14000" dirty="0"/>
          </a:p>
        </p:txBody>
      </p:sp>
      <p:sp>
        <p:nvSpPr>
          <p:cNvPr id="3" name="Text 1"/>
          <p:cNvSpPr/>
          <p:nvPr/>
        </p:nvSpPr>
        <p:spPr>
          <a:xfrm>
            <a:off x="12705550" y="76233"/>
            <a:ext cx="2197901"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04</a:t>
            </a:r>
            <a:endParaRPr lang="en-US" sz="14000" dirty="0"/>
          </a:p>
        </p:txBody>
      </p:sp>
      <p:sp>
        <p:nvSpPr>
          <p:cNvPr id="4" name="Text 2"/>
          <p:cNvSpPr/>
          <p:nvPr/>
        </p:nvSpPr>
        <p:spPr>
          <a:xfrm>
            <a:off x="508222" y="508222"/>
            <a:ext cx="37358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第3章</a:t>
            </a:r>
            <a:endParaRPr lang="en-US" sz="660" dirty="0"/>
          </a:p>
        </p:txBody>
      </p:sp>
      <p:sp>
        <p:nvSpPr>
          <p:cNvPr id="5" name="Text 3"/>
          <p:cNvSpPr/>
          <p:nvPr/>
        </p:nvSpPr>
        <p:spPr>
          <a:xfrm>
            <a:off x="508222" y="647983"/>
            <a:ext cx="85532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選ばれ続ける理由</a:t>
            </a:r>
            <a:endParaRPr lang="en-US" sz="660" dirty="0"/>
          </a:p>
        </p:txBody>
      </p:sp>
      <p:sp>
        <p:nvSpPr>
          <p:cNvPr id="6" name="Text 4"/>
          <p:cNvSpPr/>
          <p:nvPr/>
        </p:nvSpPr>
        <p:spPr>
          <a:xfrm>
            <a:off x="508222" y="877953"/>
            <a:ext cx="4258066" cy="518386"/>
          </a:xfrm>
          <a:prstGeom prst="rect">
            <a:avLst/>
          </a:prstGeom>
          <a:noFill/>
          <a:ln/>
        </p:spPr>
        <p:txBody>
          <a:bodyPr wrap="none" lIns="0" tIns="0" rIns="0" bIns="0" rtlCol="0" anchor="t"/>
          <a:lstStyle/>
          <a:p>
            <a:pPr algn="l" indent="0" marL="0">
              <a:lnSpc>
                <a:spcPts val="4080"/>
              </a:lnSpc>
              <a:buNone/>
            </a:pPr>
            <a:r>
              <a:rPr lang="en-US" sz="4000" spc="-100" kern="0" dirty="0">
                <a:solidFill>
                  <a:srgbClr val="121519"/>
                </a:solidFill>
                <a:latin typeface="Inter Tight SemiBold" pitchFamily="34" charset="0"/>
                <a:ea typeface="Inter Tight SemiBold" pitchFamily="34" charset="-122"/>
                <a:cs typeface="Inter Tight SemiBold" pitchFamily="34" charset="-120"/>
              </a:rPr>
              <a:t>Partner of choice.</a:t>
            </a:r>
            <a:endParaRPr lang="en-US" sz="4000" dirty="0"/>
          </a:p>
        </p:txBody>
      </p:sp>
      <p:sp>
        <p:nvSpPr>
          <p:cNvPr id="7" name="Text 5"/>
          <p:cNvSpPr/>
          <p:nvPr/>
        </p:nvSpPr>
        <p:spPr>
          <a:xfrm>
            <a:off x="508222" y="1679316"/>
            <a:ext cx="3559916"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資源業界に不可欠な存在として、選ばれ続ける</a:t>
            </a:r>
            <a:endParaRPr lang="en-US" sz="1150" dirty="0"/>
          </a:p>
        </p:txBody>
      </p:sp>
      <p:sp>
        <p:nvSpPr>
          <p:cNvPr id="8" name="Text 6"/>
          <p:cNvSpPr/>
          <p:nvPr/>
        </p:nvSpPr>
        <p:spPr>
          <a:xfrm>
            <a:off x="508222" y="1946165"/>
            <a:ext cx="4662937" cy="54297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資源メジャーをはじめとするパートナーと長期にわたって事業を共に育て、単なる共同出資者</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に留まらない貢献を重ねてきました。その積み重ねが、資源業界に不可欠な存在として選ば</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れ続ける理由です。</a:t>
            </a:r>
            <a:endParaRPr lang="en-US" sz="770" dirty="0"/>
          </a:p>
        </p:txBody>
      </p:sp>
      <p:sp>
        <p:nvSpPr>
          <p:cNvPr id="9" name="Text 7"/>
          <p:cNvSpPr/>
          <p:nvPr/>
        </p:nvSpPr>
        <p:spPr>
          <a:xfrm>
            <a:off x="508222" y="2792005"/>
            <a:ext cx="291036"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9C7442"/>
                </a:solidFill>
                <a:latin typeface="Inter Tight SemiBold" pitchFamily="34" charset="0"/>
                <a:ea typeface="Inter Tight SemiBold" pitchFamily="34" charset="-122"/>
                <a:cs typeface="Inter Tight SemiBold" pitchFamily="34" charset="-120"/>
              </a:rPr>
              <a:t>01</a:t>
            </a:r>
            <a:endParaRPr lang="en-US" sz="1800" dirty="0"/>
          </a:p>
        </p:txBody>
      </p:sp>
      <p:sp>
        <p:nvSpPr>
          <p:cNvPr id="10" name="Text 8"/>
          <p:cNvSpPr/>
          <p:nvPr/>
        </p:nvSpPr>
        <p:spPr>
          <a:xfrm>
            <a:off x="889388" y="2813541"/>
            <a:ext cx="1941964"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資源メジャーとの企業文化的親和性</a:t>
            </a:r>
            <a:endParaRPr lang="en-US" sz="820" dirty="0"/>
          </a:p>
        </p:txBody>
      </p:sp>
      <p:sp>
        <p:nvSpPr>
          <p:cNvPr id="11" name="Text 9"/>
          <p:cNvSpPr/>
          <p:nvPr/>
        </p:nvSpPr>
        <p:spPr>
          <a:xfrm>
            <a:off x="889388" y="2988051"/>
            <a:ext cx="2366051" cy="130105"/>
          </a:xfrm>
          <a:prstGeom prst="rect">
            <a:avLst/>
          </a:prstGeom>
          <a:noFill/>
          <a:ln/>
        </p:spPr>
        <p:txBody>
          <a:bodyPr wrap="none" lIns="0" tIns="0" rIns="0" bIns="0" rtlCol="0" anchor="t"/>
          <a:lstStyle/>
          <a:p>
            <a:pPr algn="l" indent="0" marL="0">
              <a:lnSpc>
                <a:spcPts val="1024"/>
              </a:lnSpc>
              <a:buNone/>
            </a:pPr>
            <a:r>
              <a:rPr lang="en-US" sz="640" dirty="0">
                <a:solidFill>
                  <a:srgbClr val="7D838A"/>
                </a:solidFill>
                <a:latin typeface="Noto Sans JP" pitchFamily="34" charset="0"/>
                <a:ea typeface="Noto Sans JP" pitchFamily="34" charset="-122"/>
                <a:cs typeface="Noto Sans JP" pitchFamily="34" charset="-120"/>
              </a:rPr>
              <a:t>短期の成果を求める投資家とは一線を画す、中長期の視座</a:t>
            </a:r>
            <a:endParaRPr lang="en-US" sz="640" dirty="0"/>
          </a:p>
        </p:txBody>
      </p:sp>
      <p:sp>
        <p:nvSpPr>
          <p:cNvPr id="12" name="Text 10"/>
          <p:cNvSpPr/>
          <p:nvPr/>
        </p:nvSpPr>
        <p:spPr>
          <a:xfrm>
            <a:off x="3837076" y="2792005"/>
            <a:ext cx="341263"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9C7442"/>
                </a:solidFill>
                <a:latin typeface="Inter Tight SemiBold" pitchFamily="34" charset="0"/>
                <a:ea typeface="Inter Tight SemiBold" pitchFamily="34" charset="-122"/>
                <a:cs typeface="Inter Tight SemiBold" pitchFamily="34" charset="-120"/>
              </a:rPr>
              <a:t>02</a:t>
            </a:r>
            <a:endParaRPr lang="en-US" sz="1800" dirty="0"/>
          </a:p>
        </p:txBody>
      </p:sp>
      <p:sp>
        <p:nvSpPr>
          <p:cNvPr id="13" name="Text 11"/>
          <p:cNvSpPr/>
          <p:nvPr/>
        </p:nvSpPr>
        <p:spPr>
          <a:xfrm>
            <a:off x="4218242" y="2813541"/>
            <a:ext cx="2093080"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資源投資経験に裏打ちされたJV経営力</a:t>
            </a:r>
            <a:endParaRPr lang="en-US" sz="820" dirty="0"/>
          </a:p>
        </p:txBody>
      </p:sp>
      <p:sp>
        <p:nvSpPr>
          <p:cNvPr id="14" name="Text 12"/>
          <p:cNvSpPr/>
          <p:nvPr/>
        </p:nvSpPr>
        <p:spPr>
          <a:xfrm>
            <a:off x="4218242" y="2988051"/>
            <a:ext cx="1476385" cy="130105"/>
          </a:xfrm>
          <a:prstGeom prst="rect">
            <a:avLst/>
          </a:prstGeom>
          <a:noFill/>
          <a:ln/>
        </p:spPr>
        <p:txBody>
          <a:bodyPr wrap="none" lIns="0" tIns="0" rIns="0" bIns="0" rtlCol="0" anchor="t"/>
          <a:lstStyle/>
          <a:p>
            <a:pPr algn="l" indent="0" marL="0">
              <a:lnSpc>
                <a:spcPts val="1024"/>
              </a:lnSpc>
              <a:buNone/>
            </a:pPr>
            <a:r>
              <a:rPr lang="en-US" sz="640" dirty="0">
                <a:solidFill>
                  <a:srgbClr val="7D838A"/>
                </a:solidFill>
                <a:latin typeface="Noto Sans JP" pitchFamily="34" charset="0"/>
                <a:ea typeface="Noto Sans JP" pitchFamily="34" charset="-122"/>
                <a:cs typeface="Noto Sans JP" pitchFamily="34" charset="-120"/>
              </a:rPr>
              <a:t>実質的な経営貢献と、高い目利き力</a:t>
            </a:r>
            <a:endParaRPr lang="en-US" sz="640" dirty="0"/>
          </a:p>
        </p:txBody>
      </p:sp>
      <p:sp>
        <p:nvSpPr>
          <p:cNvPr id="15" name="Text 13"/>
          <p:cNvSpPr/>
          <p:nvPr/>
        </p:nvSpPr>
        <p:spPr>
          <a:xfrm>
            <a:off x="508222" y="3503516"/>
            <a:ext cx="348906"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9C7442"/>
                </a:solidFill>
                <a:latin typeface="Inter Tight SemiBold" pitchFamily="34" charset="0"/>
                <a:ea typeface="Inter Tight SemiBold" pitchFamily="34" charset="-122"/>
                <a:cs typeface="Inter Tight SemiBold" pitchFamily="34" charset="-120"/>
              </a:rPr>
              <a:t>03</a:t>
            </a:r>
            <a:endParaRPr lang="en-US" sz="1800" dirty="0"/>
          </a:p>
        </p:txBody>
      </p:sp>
      <p:sp>
        <p:nvSpPr>
          <p:cNvPr id="16" name="Text 14"/>
          <p:cNvSpPr/>
          <p:nvPr/>
        </p:nvSpPr>
        <p:spPr>
          <a:xfrm>
            <a:off x="889388" y="3525051"/>
            <a:ext cx="2542063"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事業ポートフォリオを生かした健全な財務基盤</a:t>
            </a:r>
            <a:endParaRPr lang="en-US" sz="820" dirty="0"/>
          </a:p>
        </p:txBody>
      </p:sp>
      <p:sp>
        <p:nvSpPr>
          <p:cNvPr id="17" name="Text 15"/>
          <p:cNvSpPr/>
          <p:nvPr/>
        </p:nvSpPr>
        <p:spPr>
          <a:xfrm>
            <a:off x="889388" y="3699562"/>
            <a:ext cx="1926459" cy="130105"/>
          </a:xfrm>
          <a:prstGeom prst="rect">
            <a:avLst/>
          </a:prstGeom>
          <a:noFill/>
          <a:ln/>
        </p:spPr>
        <p:txBody>
          <a:bodyPr wrap="none" lIns="0" tIns="0" rIns="0" bIns="0" rtlCol="0" anchor="t"/>
          <a:lstStyle/>
          <a:p>
            <a:pPr algn="l" indent="0" marL="0">
              <a:lnSpc>
                <a:spcPts val="1024"/>
              </a:lnSpc>
              <a:buNone/>
            </a:pPr>
            <a:r>
              <a:rPr lang="en-US" sz="640" dirty="0">
                <a:solidFill>
                  <a:srgbClr val="7D838A"/>
                </a:solidFill>
                <a:latin typeface="Noto Sans JP" pitchFamily="34" charset="0"/>
                <a:ea typeface="Noto Sans JP" pitchFamily="34" charset="-122"/>
                <a:cs typeface="Noto Sans JP" pitchFamily="34" charset="-120"/>
              </a:rPr>
              <a:t>リスクを分かち合い、制度金融の活用も後押し</a:t>
            </a:r>
            <a:endParaRPr lang="en-US" sz="640" dirty="0"/>
          </a:p>
        </p:txBody>
      </p:sp>
      <p:sp>
        <p:nvSpPr>
          <p:cNvPr id="18" name="Text 16"/>
          <p:cNvSpPr/>
          <p:nvPr/>
        </p:nvSpPr>
        <p:spPr>
          <a:xfrm>
            <a:off x="3837076" y="3503516"/>
            <a:ext cx="352400"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9C7442"/>
                </a:solidFill>
                <a:latin typeface="Inter Tight SemiBold" pitchFamily="34" charset="0"/>
                <a:ea typeface="Inter Tight SemiBold" pitchFamily="34" charset="-122"/>
                <a:cs typeface="Inter Tight SemiBold" pitchFamily="34" charset="-120"/>
              </a:rPr>
              <a:t>04</a:t>
            </a:r>
            <a:endParaRPr lang="en-US" sz="1800" dirty="0"/>
          </a:p>
        </p:txBody>
      </p:sp>
      <p:sp>
        <p:nvSpPr>
          <p:cNvPr id="19" name="Text 17"/>
          <p:cNvSpPr/>
          <p:nvPr/>
        </p:nvSpPr>
        <p:spPr>
          <a:xfrm>
            <a:off x="4218242" y="3525051"/>
            <a:ext cx="2417588"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マクロ環境とバリューチェーンへの深い知見</a:t>
            </a:r>
            <a:endParaRPr lang="en-US" sz="820" dirty="0"/>
          </a:p>
        </p:txBody>
      </p:sp>
      <p:sp>
        <p:nvSpPr>
          <p:cNvPr id="20" name="Text 18"/>
          <p:cNvSpPr/>
          <p:nvPr/>
        </p:nvSpPr>
        <p:spPr>
          <a:xfrm>
            <a:off x="4218242" y="3699562"/>
            <a:ext cx="2190040" cy="130105"/>
          </a:xfrm>
          <a:prstGeom prst="rect">
            <a:avLst/>
          </a:prstGeom>
          <a:noFill/>
          <a:ln/>
        </p:spPr>
        <p:txBody>
          <a:bodyPr wrap="none" lIns="0" tIns="0" rIns="0" bIns="0" rtlCol="0" anchor="t"/>
          <a:lstStyle/>
          <a:p>
            <a:pPr algn="l" indent="0" marL="0">
              <a:lnSpc>
                <a:spcPts val="1024"/>
              </a:lnSpc>
              <a:buNone/>
            </a:pPr>
            <a:r>
              <a:rPr lang="en-US" sz="640" dirty="0">
                <a:solidFill>
                  <a:srgbClr val="7D838A"/>
                </a:solidFill>
                <a:latin typeface="Noto Sans JP" pitchFamily="34" charset="0"/>
                <a:ea typeface="Noto Sans JP" pitchFamily="34" charset="-122"/>
                <a:cs typeface="Noto Sans JP" pitchFamily="34" charset="-120"/>
              </a:rPr>
              <a:t>国・地域の拠点と、幅広い産業との接点から得る知見</a:t>
            </a:r>
            <a:endParaRPr lang="en-US" sz="640" dirty="0"/>
          </a:p>
        </p:txBody>
      </p:sp>
      <p:sp>
        <p:nvSpPr>
          <p:cNvPr id="21" name="Text 19"/>
          <p:cNvSpPr/>
          <p:nvPr/>
        </p:nvSpPr>
        <p:spPr>
          <a:xfrm>
            <a:off x="508222" y="4647650"/>
            <a:ext cx="703550"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JVへの貢献</a:t>
            </a:r>
            <a:endParaRPr lang="en-US" sz="660" dirty="0"/>
          </a:p>
        </p:txBody>
      </p:sp>
      <p:sp>
        <p:nvSpPr>
          <p:cNvPr id="22" name="Text 20"/>
          <p:cNvSpPr/>
          <p:nvPr/>
        </p:nvSpPr>
        <p:spPr>
          <a:xfrm>
            <a:off x="1524666" y="4647650"/>
            <a:ext cx="1257353"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経営から現場まで伴走する</a:t>
            </a:r>
            <a:endParaRPr lang="en-US" sz="660" dirty="0"/>
          </a:p>
        </p:txBody>
      </p:sp>
      <p:sp>
        <p:nvSpPr>
          <p:cNvPr id="23" name="Text 21"/>
          <p:cNvSpPr/>
          <p:nvPr/>
        </p:nvSpPr>
        <p:spPr>
          <a:xfrm>
            <a:off x="635277" y="4959254"/>
            <a:ext cx="310909"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経営</a:t>
            </a:r>
            <a:endParaRPr lang="en-US" sz="900" dirty="0"/>
          </a:p>
        </p:txBody>
      </p:sp>
      <p:sp>
        <p:nvSpPr>
          <p:cNvPr id="24" name="Text 22"/>
          <p:cNvSpPr/>
          <p:nvPr/>
        </p:nvSpPr>
        <p:spPr>
          <a:xfrm>
            <a:off x="635277" y="5308339"/>
            <a:ext cx="2801713" cy="711511"/>
          </a:xfrm>
          <a:prstGeom prst="rect">
            <a:avLst/>
          </a:prstGeom>
          <a:noFill/>
          <a:ln/>
        </p:spPr>
        <p:txBody>
          <a:bodyPr wrap="none" lIns="0" tIns="0" rIns="0" bIns="0" rtlCol="0" anchor="t"/>
          <a:lstStyle/>
          <a:p>
            <a:pPr algn="l" indent="0" marL="0">
              <a:lnSpc>
                <a:spcPts val="1400"/>
              </a:lnSpc>
              <a:buNone/>
            </a:pPr>
            <a:r>
              <a:rPr lang="en-US" sz="700" dirty="0">
                <a:solidFill>
                  <a:srgbClr val="7D838A"/>
                </a:solidFill>
                <a:latin typeface="Noto Sans JP" pitchFamily="34" charset="0"/>
                <a:ea typeface="Noto Sans JP" pitchFamily="34" charset="-122"/>
                <a:cs typeface="Noto Sans JP" pitchFamily="34" charset="-120"/>
              </a:rPr>
              <a:t>— 中長期の操業計画・資本政策・販売戦略・人事計画への参画</a:t>
            </a:r>
            <a:endParaRPr lang="en-US" sz="700" dirty="0"/>
          </a:p>
          <a:p>
            <a:pPr algn="l" indent="0" marL="0">
              <a:lnSpc>
                <a:spcPts val="1400"/>
              </a:lnSpc>
              <a:buNone/>
            </a:pPr>
            <a:r>
              <a:rPr lang="en-US" sz="700" dirty="0">
                <a:solidFill>
                  <a:srgbClr val="7D838A"/>
                </a:solidFill>
                <a:latin typeface="Noto Sans JP" pitchFamily="34" charset="0"/>
                <a:ea typeface="Noto Sans JP" pitchFamily="34" charset="-122"/>
                <a:cs typeface="Noto Sans JP" pitchFamily="34" charset="-120"/>
              </a:rPr>
              <a:t>— 各レイヤーへの人材配置を通じた実務貢献</a:t>
            </a:r>
            <a:endParaRPr lang="en-US" sz="700" dirty="0"/>
          </a:p>
          <a:p>
            <a:pPr algn="l" indent="0" marL="0">
              <a:lnSpc>
                <a:spcPts val="1400"/>
              </a:lnSpc>
              <a:buNone/>
            </a:pPr>
            <a:r>
              <a:rPr lang="en-US" sz="700" dirty="0">
                <a:solidFill>
                  <a:srgbClr val="7D838A"/>
                </a:solidFill>
                <a:latin typeface="Noto Sans JP" pitchFamily="34" charset="0"/>
                <a:ea typeface="Noto Sans JP" pitchFamily="34" charset="-122"/>
                <a:cs typeface="Noto Sans JP" pitchFamily="34" charset="-120"/>
              </a:rPr>
              <a:t>— 他のJVで得たベストプラクティスの導入</a:t>
            </a:r>
            <a:endParaRPr lang="en-US" sz="700" dirty="0"/>
          </a:p>
          <a:p>
            <a:pPr algn="l" indent="0" marL="0">
              <a:lnSpc>
                <a:spcPts val="1400"/>
              </a:lnSpc>
              <a:buNone/>
            </a:pPr>
            <a:r>
              <a:rPr lang="en-US" sz="700" dirty="0">
                <a:solidFill>
                  <a:srgbClr val="7D838A"/>
                </a:solidFill>
                <a:latin typeface="Noto Sans JP" pitchFamily="34" charset="0"/>
                <a:ea typeface="Noto Sans JP" pitchFamily="34" charset="-122"/>
                <a:cs typeface="Noto Sans JP" pitchFamily="34" charset="-120"/>
              </a:rPr>
              <a:t>— 生産物の引き取り・販売を通じた支援</a:t>
            </a:r>
            <a:endParaRPr lang="en-US" sz="700" dirty="0"/>
          </a:p>
        </p:txBody>
      </p:sp>
      <p:sp>
        <p:nvSpPr>
          <p:cNvPr id="25" name="Text 23"/>
          <p:cNvSpPr/>
          <p:nvPr/>
        </p:nvSpPr>
        <p:spPr>
          <a:xfrm>
            <a:off x="3964131" y="4959254"/>
            <a:ext cx="310909"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現場</a:t>
            </a:r>
            <a:endParaRPr lang="en-US" sz="900" dirty="0"/>
          </a:p>
        </p:txBody>
      </p:sp>
      <p:sp>
        <p:nvSpPr>
          <p:cNvPr id="26" name="Text 24"/>
          <p:cNvSpPr/>
          <p:nvPr/>
        </p:nvSpPr>
        <p:spPr>
          <a:xfrm>
            <a:off x="3964131" y="5308339"/>
            <a:ext cx="1823385" cy="711511"/>
          </a:xfrm>
          <a:prstGeom prst="rect">
            <a:avLst/>
          </a:prstGeom>
          <a:noFill/>
          <a:ln/>
        </p:spPr>
        <p:txBody>
          <a:bodyPr wrap="none" lIns="0" tIns="0" rIns="0" bIns="0" rtlCol="0" anchor="t"/>
          <a:lstStyle/>
          <a:p>
            <a:pPr algn="l" indent="0" marL="0">
              <a:lnSpc>
                <a:spcPts val="1400"/>
              </a:lnSpc>
              <a:buNone/>
            </a:pPr>
            <a:r>
              <a:rPr lang="en-US" sz="700" dirty="0">
                <a:solidFill>
                  <a:srgbClr val="7D838A"/>
                </a:solidFill>
                <a:latin typeface="Noto Sans JP" pitchFamily="34" charset="0"/>
                <a:ea typeface="Noto Sans JP" pitchFamily="34" charset="-122"/>
                <a:cs typeface="Noto Sans JP" pitchFamily="34" charset="-120"/>
              </a:rPr>
              <a:t>— 長期目線での戦略策定と案件開発</a:t>
            </a:r>
            <a:endParaRPr lang="en-US" sz="700" dirty="0"/>
          </a:p>
          <a:p>
            <a:pPr algn="l" indent="0" marL="0">
              <a:lnSpc>
                <a:spcPts val="1400"/>
              </a:lnSpc>
              <a:buNone/>
            </a:pPr>
            <a:r>
              <a:rPr lang="en-US" sz="700" dirty="0">
                <a:solidFill>
                  <a:srgbClr val="7D838A"/>
                </a:solidFill>
                <a:latin typeface="Noto Sans JP" pitchFamily="34" charset="0"/>
                <a:ea typeface="Noto Sans JP" pitchFamily="34" charset="-122"/>
                <a:cs typeface="Noto Sans JP" pitchFamily="34" charset="-120"/>
              </a:rPr>
              <a:t>— 幅広い産業接点を生かした知見の提供</a:t>
            </a:r>
            <a:endParaRPr lang="en-US" sz="700" dirty="0"/>
          </a:p>
          <a:p>
            <a:pPr algn="l" indent="0" marL="0">
              <a:lnSpc>
                <a:spcPts val="1400"/>
              </a:lnSpc>
              <a:buNone/>
            </a:pPr>
            <a:r>
              <a:rPr lang="en-US" sz="700" dirty="0">
                <a:solidFill>
                  <a:srgbClr val="7D838A"/>
                </a:solidFill>
                <a:latin typeface="Noto Sans JP" pitchFamily="34" charset="0"/>
                <a:ea typeface="Noto Sans JP" pitchFamily="34" charset="-122"/>
                <a:cs typeface="Noto Sans JP" pitchFamily="34" charset="-120"/>
              </a:rPr>
              <a:t>— 優良鉱山で培った操業ノウハウの展開</a:t>
            </a:r>
            <a:endParaRPr lang="en-US" sz="700" dirty="0"/>
          </a:p>
          <a:p>
            <a:pPr algn="l" indent="0" marL="0">
              <a:lnSpc>
                <a:spcPts val="1400"/>
              </a:lnSpc>
              <a:buNone/>
            </a:pPr>
            <a:r>
              <a:rPr lang="en-US" sz="700" dirty="0">
                <a:solidFill>
                  <a:srgbClr val="7D838A"/>
                </a:solidFill>
                <a:latin typeface="Noto Sans JP" pitchFamily="34" charset="0"/>
                <a:ea typeface="Noto Sans JP" pitchFamily="34" charset="-122"/>
                <a:cs typeface="Noto Sans JP" pitchFamily="34" charset="-120"/>
              </a:rPr>
              <a:t>— 専門人材の派遣による操業支援</a:t>
            </a:r>
            <a:endParaRPr lang="en-US" sz="700" dirty="0"/>
          </a:p>
        </p:txBody>
      </p:sp>
      <p:sp>
        <p:nvSpPr>
          <p:cNvPr id="27" name="Text 25"/>
          <p:cNvSpPr/>
          <p:nvPr/>
        </p:nvSpPr>
        <p:spPr>
          <a:xfrm>
            <a:off x="660689" y="6753150"/>
            <a:ext cx="2748866" cy="185120"/>
          </a:xfrm>
          <a:prstGeom prst="rect">
            <a:avLst/>
          </a:prstGeom>
          <a:noFill/>
          <a:ln/>
        </p:spPr>
        <p:txBody>
          <a:bodyPr wrap="none" lIns="0" tIns="0" rIns="0" bIns="0" rtlCol="0" anchor="t"/>
          <a:lstStyle/>
          <a:p>
            <a:pPr algn="l" indent="0" marL="0">
              <a:lnSpc>
                <a:spcPts val="1457"/>
              </a:lnSpc>
              <a:buNone/>
            </a:pPr>
            <a:r>
              <a:rPr lang="en-US" sz="940" spc="30" kern="0" dirty="0">
                <a:solidFill>
                  <a:srgbClr val="FFFFFF"/>
                </a:solidFill>
                <a:latin typeface="Noto Sans JP Medium" pitchFamily="34" charset="0"/>
                <a:ea typeface="Noto Sans JP Medium" pitchFamily="34" charset="-122"/>
                <a:cs typeface="Noto Sans JP Medium" pitchFamily="34" charset="-120"/>
              </a:rPr>
              <a:t>資源メジャー各社と「会社対会社」の関係へ</a:t>
            </a:r>
            <a:endParaRPr lang="en-US" sz="940" dirty="0"/>
          </a:p>
        </p:txBody>
      </p:sp>
      <p:sp>
        <p:nvSpPr>
          <p:cNvPr id="28" name="Text 26"/>
          <p:cNvSpPr/>
          <p:nvPr/>
        </p:nvSpPr>
        <p:spPr>
          <a:xfrm>
            <a:off x="660689" y="7360158"/>
            <a:ext cx="1263249" cy="165426"/>
          </a:xfrm>
          <a:prstGeom prst="rect">
            <a:avLst/>
          </a:prstGeom>
          <a:noFill/>
          <a:ln/>
        </p:spPr>
        <p:txBody>
          <a:bodyPr wrap="none" lIns="0" tIns="0" rIns="0" bIns="0" rtlCol="0" anchor="t"/>
          <a:lstStyle/>
          <a:p>
            <a:pPr algn="l" indent="0" marL="0">
              <a:lnSpc>
                <a:spcPts val="1302"/>
              </a:lnSpc>
              <a:buNone/>
            </a:pPr>
            <a:r>
              <a:rPr lang="en-US" sz="840" spc="30" kern="0" dirty="0">
                <a:solidFill>
                  <a:srgbClr val="121519"/>
                </a:solidFill>
                <a:latin typeface="Noto Sans JP Medium" pitchFamily="34" charset="0"/>
                <a:ea typeface="Noto Sans JP Medium" pitchFamily="34" charset="-122"/>
                <a:cs typeface="Noto Sans JP Medium" pitchFamily="34" charset="-120"/>
              </a:rPr>
              <a:t>新たな協業が生まれる</a:t>
            </a:r>
            <a:endParaRPr lang="en-US" sz="840" dirty="0"/>
          </a:p>
        </p:txBody>
      </p:sp>
      <p:sp>
        <p:nvSpPr>
          <p:cNvPr id="29" name="Text 27"/>
          <p:cNvSpPr/>
          <p:nvPr/>
        </p:nvSpPr>
        <p:spPr>
          <a:xfrm>
            <a:off x="660689" y="7970024"/>
            <a:ext cx="2715891" cy="165426"/>
          </a:xfrm>
          <a:prstGeom prst="rect">
            <a:avLst/>
          </a:prstGeom>
          <a:noFill/>
          <a:ln/>
        </p:spPr>
        <p:txBody>
          <a:bodyPr wrap="none" lIns="0" tIns="0" rIns="0" bIns="0" rtlCol="0" anchor="t"/>
          <a:lstStyle/>
          <a:p>
            <a:pPr algn="l" indent="0" marL="0">
              <a:lnSpc>
                <a:spcPts val="1302"/>
              </a:lnSpc>
              <a:buNone/>
            </a:pPr>
            <a:r>
              <a:rPr lang="en-US" sz="840" spc="30" kern="0" dirty="0">
                <a:solidFill>
                  <a:srgbClr val="121519"/>
                </a:solidFill>
                <a:latin typeface="Noto Sans JP Medium" pitchFamily="34" charset="0"/>
                <a:ea typeface="Noto Sans JP Medium" pitchFamily="34" charset="-122"/>
                <a:cs typeface="Noto Sans JP Medium" pitchFamily="34" charset="-120"/>
              </a:rPr>
              <a:t>協業の積み重ねが、さらなる強み・知見・信頼に</a:t>
            </a:r>
            <a:endParaRPr lang="en-US" sz="840" dirty="0"/>
          </a:p>
        </p:txBody>
      </p:sp>
      <p:sp>
        <p:nvSpPr>
          <p:cNvPr id="30" name="Text 28"/>
          <p:cNvSpPr/>
          <p:nvPr/>
        </p:nvSpPr>
        <p:spPr>
          <a:xfrm>
            <a:off x="508222" y="8582813"/>
            <a:ext cx="2608449" cy="134171"/>
          </a:xfrm>
          <a:prstGeom prst="rect">
            <a:avLst/>
          </a:prstGeom>
          <a:noFill/>
          <a:ln/>
        </p:spPr>
        <p:txBody>
          <a:bodyPr wrap="none" lIns="0" tIns="0" rIns="0" bIns="0" rtlCol="0" anchor="t"/>
          <a:lstStyle/>
          <a:p>
            <a:pPr algn="l" indent="0" marL="0">
              <a:lnSpc>
                <a:spcPts val="1056"/>
              </a:lnSpc>
              <a:buNone/>
            </a:pPr>
            <a:r>
              <a:rPr lang="en-US" sz="660" dirty="0">
                <a:solidFill>
                  <a:srgbClr val="7D838A"/>
                </a:solidFill>
                <a:latin typeface="Noto Sans JP" pitchFamily="34" charset="0"/>
                <a:ea typeface="Noto Sans JP" pitchFamily="34" charset="-122"/>
                <a:cs typeface="Noto Sans JP" pitchFamily="34" charset="-120"/>
              </a:rPr>
              <a:t>主なJVパートナー　BHP ／ Rio Tinto ／ Anglo American ほか</a:t>
            </a:r>
            <a:endParaRPr lang="en-US" sz="660" dirty="0"/>
          </a:p>
        </p:txBody>
      </p:sp>
      <p:sp>
        <p:nvSpPr>
          <p:cNvPr id="31" name="Text 29"/>
          <p:cNvSpPr/>
          <p:nvPr/>
        </p:nvSpPr>
        <p:spPr>
          <a:xfrm>
            <a:off x="635277" y="9884918"/>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銅鉱山</a:t>
            </a:r>
            <a:endParaRPr lang="en-US" sz="580" dirty="0"/>
          </a:p>
        </p:txBody>
      </p:sp>
      <p:sp>
        <p:nvSpPr>
          <p:cNvPr id="32" name="Text 30"/>
          <p:cNvSpPr/>
          <p:nvPr/>
        </p:nvSpPr>
        <p:spPr>
          <a:xfrm>
            <a:off x="635277" y="9999268"/>
            <a:ext cx="239063"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チリ</a:t>
            </a:r>
            <a:endParaRPr lang="en-US" sz="580" dirty="0"/>
          </a:p>
        </p:txBody>
      </p:sp>
      <p:sp>
        <p:nvSpPr>
          <p:cNvPr id="33" name="Text 31"/>
          <p:cNvSpPr/>
          <p:nvPr/>
        </p:nvSpPr>
        <p:spPr>
          <a:xfrm>
            <a:off x="3964131" y="9884918"/>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操業</a:t>
            </a:r>
            <a:endParaRPr lang="en-US" sz="580" dirty="0"/>
          </a:p>
        </p:txBody>
      </p:sp>
      <p:sp>
        <p:nvSpPr>
          <p:cNvPr id="34" name="Text 32"/>
          <p:cNvSpPr/>
          <p:nvPr/>
        </p:nvSpPr>
        <p:spPr>
          <a:xfrm>
            <a:off x="8068024" y="508222"/>
            <a:ext cx="37620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第4章</a:t>
            </a:r>
            <a:endParaRPr lang="en-US" sz="660" dirty="0"/>
          </a:p>
        </p:txBody>
      </p:sp>
      <p:sp>
        <p:nvSpPr>
          <p:cNvPr id="35" name="Text 33"/>
          <p:cNvSpPr/>
          <p:nvPr/>
        </p:nvSpPr>
        <p:spPr>
          <a:xfrm>
            <a:off x="8068024" y="647983"/>
            <a:ext cx="754650"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何を実現するか</a:t>
            </a:r>
            <a:endParaRPr lang="en-US" sz="660" dirty="0"/>
          </a:p>
        </p:txBody>
      </p:sp>
      <p:sp>
        <p:nvSpPr>
          <p:cNvPr id="36" name="Text 34"/>
          <p:cNvSpPr/>
          <p:nvPr/>
        </p:nvSpPr>
        <p:spPr>
          <a:xfrm>
            <a:off x="8068024" y="878970"/>
            <a:ext cx="4357428" cy="829418"/>
          </a:xfrm>
          <a:prstGeom prst="rect">
            <a:avLst/>
          </a:prstGeom>
          <a:noFill/>
          <a:ln/>
        </p:spPr>
        <p:txBody>
          <a:bodyPr wrap="none" lIns="0" tIns="0" rIns="0" bIns="0" rtlCol="0" anchor="t"/>
          <a:lstStyle/>
          <a:p>
            <a:pPr algn="l" indent="0" marL="0">
              <a:lnSpc>
                <a:spcPts val="3264"/>
              </a:lnSpc>
              <a:buNone/>
            </a:pPr>
            <a:r>
              <a:rPr lang="en-US" sz="3200" spc="-80" kern="0" dirty="0">
                <a:solidFill>
                  <a:srgbClr val="121519"/>
                </a:solidFill>
                <a:latin typeface="Inter Tight SemiBold" pitchFamily="34" charset="0"/>
                <a:ea typeface="Inter Tight SemiBold" pitchFamily="34" charset="-122"/>
                <a:cs typeface="Inter Tight SemiBold" pitchFamily="34" charset="-120"/>
              </a:rPr>
              <a:t>Building the future</a:t>
            </a:r>
            <a:endParaRPr lang="en-US" sz="3200" dirty="0"/>
          </a:p>
          <a:p>
            <a:pPr algn="l" indent="0" marL="0">
              <a:lnSpc>
                <a:spcPts val="3264"/>
              </a:lnSpc>
              <a:buNone/>
            </a:pPr>
            <a:r>
              <a:rPr lang="en-US" sz="3200" spc="-80" kern="0" dirty="0">
                <a:solidFill>
                  <a:srgbClr val="121519"/>
                </a:solidFill>
                <a:latin typeface="Inter Tight SemiBold" pitchFamily="34" charset="0"/>
                <a:ea typeface="Inter Tight SemiBold" pitchFamily="34" charset="-122"/>
                <a:cs typeface="Inter Tight SemiBold" pitchFamily="34" charset="-120"/>
              </a:rPr>
              <a:t>of resources, together.</a:t>
            </a:r>
            <a:endParaRPr lang="en-US" sz="3200" dirty="0"/>
          </a:p>
        </p:txBody>
      </p:sp>
      <p:sp>
        <p:nvSpPr>
          <p:cNvPr id="37" name="Text 35"/>
          <p:cNvSpPr/>
          <p:nvPr/>
        </p:nvSpPr>
        <p:spPr>
          <a:xfrm>
            <a:off x="8068024" y="1990205"/>
            <a:ext cx="2734234"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社会の「当たり前」を、支え続ける</a:t>
            </a:r>
            <a:endParaRPr lang="en-US" sz="1150" dirty="0"/>
          </a:p>
        </p:txBody>
      </p:sp>
      <p:sp>
        <p:nvSpPr>
          <p:cNvPr id="38" name="Text 36"/>
          <p:cNvSpPr/>
          <p:nvPr/>
        </p:nvSpPr>
        <p:spPr>
          <a:xfrm>
            <a:off x="8068024" y="2392018"/>
            <a:ext cx="112152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外部環境と社会課題</a:t>
            </a:r>
            <a:endParaRPr lang="en-US" sz="660" dirty="0"/>
          </a:p>
        </p:txBody>
      </p:sp>
      <p:sp>
        <p:nvSpPr>
          <p:cNvPr id="39" name="Text 37"/>
          <p:cNvSpPr/>
          <p:nvPr/>
        </p:nvSpPr>
        <p:spPr>
          <a:xfrm>
            <a:off x="8195079" y="2713913"/>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産業構造の転換</a:t>
            </a:r>
            <a:endParaRPr lang="en-US" sz="860" dirty="0"/>
          </a:p>
        </p:txBody>
      </p:sp>
      <p:sp>
        <p:nvSpPr>
          <p:cNvPr id="40" name="Text 38"/>
          <p:cNvSpPr/>
          <p:nvPr/>
        </p:nvSpPr>
        <p:spPr>
          <a:xfrm>
            <a:off x="8195079" y="2935466"/>
            <a:ext cx="2074082" cy="384216"/>
          </a:xfrm>
          <a:prstGeom prst="rect">
            <a:avLst/>
          </a:prstGeom>
          <a:noFill/>
          <a:ln/>
        </p:spPr>
        <p:txBody>
          <a:bodyPr wrap="none" lIns="0" tIns="0" rIns="0" bIns="0" rtlCol="0" anchor="t"/>
          <a:lstStyle/>
          <a:p>
            <a:pPr algn="l" indent="0" marL="0">
              <a:lnSpc>
                <a:spcPts val="1008"/>
              </a:lnSpc>
              <a:buNone/>
            </a:pPr>
            <a:r>
              <a:rPr lang="en-US" sz="630" dirty="0">
                <a:solidFill>
                  <a:srgbClr val="7D838A"/>
                </a:solidFill>
                <a:latin typeface="Noto Sans JP" pitchFamily="34" charset="0"/>
                <a:ea typeface="Noto Sans JP" pitchFamily="34" charset="-122"/>
                <a:cs typeface="Noto Sans JP" pitchFamily="34" charset="-120"/>
              </a:rPr>
              <a:t>脱炭素化に加え、生成AI・データセンターの普及で</a:t>
            </a:r>
            <a:endParaRPr lang="en-US" sz="630" dirty="0"/>
          </a:p>
          <a:p>
            <a:pPr algn="l" indent="0" marL="0">
              <a:lnSpc>
                <a:spcPts val="1008"/>
              </a:lnSpc>
              <a:buNone/>
            </a:pPr>
            <a:r>
              <a:rPr lang="en-US" sz="630" dirty="0">
                <a:solidFill>
                  <a:srgbClr val="7D838A"/>
                </a:solidFill>
                <a:latin typeface="Noto Sans JP" pitchFamily="34" charset="0"/>
                <a:ea typeface="Noto Sans JP" pitchFamily="34" charset="-122"/>
                <a:cs typeface="Noto Sans JP" pitchFamily="34" charset="-120"/>
              </a:rPr>
              <a:t>電力需要が拡大。銅・アルミ・電池資源など基幹素</a:t>
            </a:r>
            <a:endParaRPr lang="en-US" sz="630" dirty="0"/>
          </a:p>
          <a:p>
            <a:pPr algn="l" indent="0" marL="0">
              <a:lnSpc>
                <a:spcPts val="1008"/>
              </a:lnSpc>
              <a:buNone/>
            </a:pPr>
            <a:r>
              <a:rPr lang="en-US" sz="630" dirty="0">
                <a:solidFill>
                  <a:srgbClr val="7D838A"/>
                </a:solidFill>
                <a:latin typeface="Noto Sans JP" pitchFamily="34" charset="0"/>
                <a:ea typeface="Noto Sans JP" pitchFamily="34" charset="-122"/>
                <a:cs typeface="Noto Sans JP" pitchFamily="34" charset="-120"/>
              </a:rPr>
              <a:t>材の重要性が増す。</a:t>
            </a:r>
            <a:endParaRPr lang="en-US" sz="630" dirty="0"/>
          </a:p>
        </p:txBody>
      </p:sp>
      <p:sp>
        <p:nvSpPr>
          <p:cNvPr id="41" name="Text 39"/>
          <p:cNvSpPr/>
          <p:nvPr/>
        </p:nvSpPr>
        <p:spPr>
          <a:xfrm>
            <a:off x="10431256" y="2713913"/>
            <a:ext cx="1045309"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供給制約の深刻化</a:t>
            </a:r>
            <a:endParaRPr lang="en-US" sz="860" dirty="0"/>
          </a:p>
        </p:txBody>
      </p:sp>
      <p:sp>
        <p:nvSpPr>
          <p:cNvPr id="42" name="Text 40"/>
          <p:cNvSpPr/>
          <p:nvPr/>
        </p:nvSpPr>
        <p:spPr>
          <a:xfrm>
            <a:off x="10431256" y="2935466"/>
            <a:ext cx="2073208" cy="256144"/>
          </a:xfrm>
          <a:prstGeom prst="rect">
            <a:avLst/>
          </a:prstGeom>
          <a:noFill/>
          <a:ln/>
        </p:spPr>
        <p:txBody>
          <a:bodyPr wrap="none" lIns="0" tIns="0" rIns="0" bIns="0" rtlCol="0" anchor="t"/>
          <a:lstStyle/>
          <a:p>
            <a:pPr algn="l" indent="0" marL="0">
              <a:lnSpc>
                <a:spcPts val="1008"/>
              </a:lnSpc>
              <a:buNone/>
            </a:pPr>
            <a:r>
              <a:rPr lang="en-US" sz="630" dirty="0">
                <a:solidFill>
                  <a:srgbClr val="7D838A"/>
                </a:solidFill>
                <a:latin typeface="Noto Sans JP" pitchFamily="34" charset="0"/>
                <a:ea typeface="Noto Sans JP" pitchFamily="34" charset="-122"/>
                <a:cs typeface="Noto Sans JP" pitchFamily="34" charset="-120"/>
              </a:rPr>
              <a:t>良質な資源の開発はより難しく、時間とコストがか</a:t>
            </a:r>
            <a:endParaRPr lang="en-US" sz="630" dirty="0"/>
          </a:p>
          <a:p>
            <a:pPr algn="l" indent="0" marL="0">
              <a:lnSpc>
                <a:spcPts val="1008"/>
              </a:lnSpc>
              <a:buNone/>
            </a:pPr>
            <a:r>
              <a:rPr lang="en-US" sz="630" dirty="0">
                <a:solidFill>
                  <a:srgbClr val="7D838A"/>
                </a:solidFill>
                <a:latin typeface="Noto Sans JP" pitchFamily="34" charset="0"/>
                <a:ea typeface="Noto Sans JP" pitchFamily="34" charset="-122"/>
                <a:cs typeface="Noto Sans JP" pitchFamily="34" charset="-120"/>
              </a:rPr>
              <a:t>かるように。</a:t>
            </a:r>
            <a:endParaRPr lang="en-US" sz="630" dirty="0"/>
          </a:p>
        </p:txBody>
      </p:sp>
      <p:sp>
        <p:nvSpPr>
          <p:cNvPr id="43" name="Text 41"/>
          <p:cNvSpPr/>
          <p:nvPr/>
        </p:nvSpPr>
        <p:spPr>
          <a:xfrm>
            <a:off x="12667433" y="2713913"/>
            <a:ext cx="1294040"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地政学リスクの常態化</a:t>
            </a:r>
            <a:endParaRPr lang="en-US" sz="860" dirty="0"/>
          </a:p>
        </p:txBody>
      </p:sp>
      <p:sp>
        <p:nvSpPr>
          <p:cNvPr id="44" name="Text 42"/>
          <p:cNvSpPr/>
          <p:nvPr/>
        </p:nvSpPr>
        <p:spPr>
          <a:xfrm>
            <a:off x="12667433" y="2935466"/>
            <a:ext cx="2073208" cy="256144"/>
          </a:xfrm>
          <a:prstGeom prst="rect">
            <a:avLst/>
          </a:prstGeom>
          <a:noFill/>
          <a:ln/>
        </p:spPr>
        <p:txBody>
          <a:bodyPr wrap="none" lIns="0" tIns="0" rIns="0" bIns="0" rtlCol="0" anchor="t"/>
          <a:lstStyle/>
          <a:p>
            <a:pPr algn="l" indent="0" marL="0">
              <a:lnSpc>
                <a:spcPts val="1008"/>
              </a:lnSpc>
              <a:buNone/>
            </a:pPr>
            <a:r>
              <a:rPr lang="en-US" sz="630" dirty="0">
                <a:solidFill>
                  <a:srgbClr val="7D838A"/>
                </a:solidFill>
                <a:latin typeface="Noto Sans JP" pitchFamily="34" charset="0"/>
                <a:ea typeface="Noto Sans JP" pitchFamily="34" charset="-122"/>
                <a:cs typeface="Noto Sans JP" pitchFamily="34" charset="-120"/>
              </a:rPr>
              <a:t>資源の囲い込みや国家間の対立が、サプライチェー</a:t>
            </a:r>
            <a:endParaRPr lang="en-US" sz="630" dirty="0"/>
          </a:p>
          <a:p>
            <a:pPr algn="l" indent="0" marL="0">
              <a:lnSpc>
                <a:spcPts val="1008"/>
              </a:lnSpc>
              <a:buNone/>
            </a:pPr>
            <a:r>
              <a:rPr lang="en-US" sz="630" dirty="0">
                <a:solidFill>
                  <a:srgbClr val="7D838A"/>
                </a:solidFill>
                <a:latin typeface="Noto Sans JP" pitchFamily="34" charset="0"/>
                <a:ea typeface="Noto Sans JP" pitchFamily="34" charset="-122"/>
                <a:cs typeface="Noto Sans JP" pitchFamily="34" charset="-120"/>
              </a:rPr>
              <a:t>ンに構造的に影響する。</a:t>
            </a:r>
            <a:endParaRPr lang="en-US" sz="630" dirty="0"/>
          </a:p>
        </p:txBody>
      </p:sp>
      <p:sp>
        <p:nvSpPr>
          <p:cNvPr id="45" name="Text 43"/>
          <p:cNvSpPr/>
          <p:nvPr/>
        </p:nvSpPr>
        <p:spPr>
          <a:xfrm>
            <a:off x="8837246" y="4187757"/>
            <a:ext cx="5004915" cy="169365"/>
          </a:xfrm>
          <a:prstGeom prst="rect">
            <a:avLst/>
          </a:prstGeom>
          <a:noFill/>
          <a:ln/>
        </p:spPr>
        <p:txBody>
          <a:bodyPr wrap="none" lIns="0" tIns="0" rIns="0" bIns="0" rtlCol="0" anchor="t"/>
          <a:lstStyle/>
          <a:p>
            <a:pPr algn="ctr"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クリティカルミネラルのサプライチェーン確保の重要性と、川上資源への参入障壁が増大</a:t>
            </a:r>
            <a:endParaRPr lang="en-US" sz="860" dirty="0"/>
          </a:p>
        </p:txBody>
      </p:sp>
      <p:sp>
        <p:nvSpPr>
          <p:cNvPr id="46" name="Text 44"/>
          <p:cNvSpPr/>
          <p:nvPr/>
        </p:nvSpPr>
        <p:spPr>
          <a:xfrm>
            <a:off x="8068024" y="4831484"/>
            <a:ext cx="101146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私たちの取り組み</a:t>
            </a:r>
            <a:endParaRPr lang="en-US" sz="660" dirty="0"/>
          </a:p>
        </p:txBody>
      </p:sp>
      <p:sp>
        <p:nvSpPr>
          <p:cNvPr id="47" name="Text 45"/>
          <p:cNvSpPr/>
          <p:nvPr/>
        </p:nvSpPr>
        <p:spPr>
          <a:xfrm>
            <a:off x="9338579" y="4831484"/>
            <a:ext cx="225642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資源の安定供給と、効率的な供給で社会を支える</a:t>
            </a:r>
            <a:endParaRPr lang="en-US" sz="660" dirty="0"/>
          </a:p>
        </p:txBody>
      </p:sp>
      <p:sp>
        <p:nvSpPr>
          <p:cNvPr id="48" name="Text 46"/>
          <p:cNvSpPr/>
          <p:nvPr/>
        </p:nvSpPr>
        <p:spPr>
          <a:xfrm>
            <a:off x="8195079" y="5117676"/>
            <a:ext cx="570777"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資源投資</a:t>
            </a:r>
            <a:endParaRPr lang="en-US" sz="900" dirty="0"/>
          </a:p>
        </p:txBody>
      </p:sp>
      <p:sp>
        <p:nvSpPr>
          <p:cNvPr id="49" name="Text 47"/>
          <p:cNvSpPr/>
          <p:nvPr/>
        </p:nvSpPr>
        <p:spPr>
          <a:xfrm>
            <a:off x="8068024" y="5437920"/>
            <a:ext cx="2268000" cy="477983"/>
          </a:xfrm>
          <a:prstGeom prst="rect">
            <a:avLst/>
          </a:prstGeom>
          <a:noFill/>
          <a:ln/>
        </p:spPr>
        <p:txBody>
          <a:bodyPr wrap="none" lIns="0" tIns="0" rIns="0" bIns="0" rtlCol="0" anchor="t"/>
          <a:lstStyle/>
          <a:p>
            <a:pPr algn="l" indent="0" marL="0">
              <a:lnSpc>
                <a:spcPts val="1254"/>
              </a:lnSpc>
              <a:buNone/>
            </a:pPr>
            <a:r>
              <a:rPr lang="en-US" sz="660" dirty="0">
                <a:solidFill>
                  <a:srgbClr val="7D838A"/>
                </a:solidFill>
                <a:latin typeface="Noto Sans JP" pitchFamily="34" charset="0"/>
                <a:ea typeface="Noto Sans JP" pitchFamily="34" charset="-122"/>
                <a:cs typeface="Noto Sans JP" pitchFamily="34" charset="-120"/>
              </a:rPr>
              <a:t>— 銅などの基幹事業で、大規模資産の持分を確保</a:t>
            </a:r>
            <a:endParaRPr lang="en-US" sz="660" dirty="0"/>
          </a:p>
          <a:p>
            <a:pPr algn="l" indent="0" marL="0">
              <a:lnSpc>
                <a:spcPts val="1254"/>
              </a:lnSpc>
              <a:buNone/>
            </a:pPr>
            <a:r>
              <a:rPr lang="en-US" sz="660" dirty="0">
                <a:solidFill>
                  <a:srgbClr val="7D838A"/>
                </a:solidFill>
                <a:latin typeface="Noto Sans JP" pitchFamily="34" charset="0"/>
                <a:ea typeface="Noto Sans JP" pitchFamily="34" charset="-122"/>
                <a:cs typeface="Noto Sans JP" pitchFamily="34" charset="-120"/>
              </a:rPr>
              <a:t>— 成長が期待される領域に、早い段階から参画</a:t>
            </a:r>
            <a:endParaRPr lang="en-US" sz="660" dirty="0"/>
          </a:p>
          <a:p>
            <a:pPr algn="l" indent="0" marL="0">
              <a:lnSpc>
                <a:spcPts val="1254"/>
              </a:lnSpc>
              <a:buNone/>
            </a:pPr>
            <a:r>
              <a:rPr lang="en-US" sz="660" dirty="0">
                <a:solidFill>
                  <a:srgbClr val="7D838A"/>
                </a:solidFill>
                <a:latin typeface="Noto Sans JP" pitchFamily="34" charset="0"/>
                <a:ea typeface="Noto Sans JP" pitchFamily="34" charset="-122"/>
                <a:cs typeface="Noto Sans JP" pitchFamily="34" charset="-120"/>
              </a:rPr>
              <a:t>— 信頼できるパートナーと、投資先の価値向上を推進</a:t>
            </a:r>
            <a:endParaRPr lang="en-US" sz="660" dirty="0"/>
          </a:p>
        </p:txBody>
      </p:sp>
      <p:sp>
        <p:nvSpPr>
          <p:cNvPr id="50" name="Text 48"/>
          <p:cNvSpPr/>
          <p:nvPr/>
        </p:nvSpPr>
        <p:spPr>
          <a:xfrm>
            <a:off x="12006744" y="5117676"/>
            <a:ext cx="952063" cy="177242"/>
          </a:xfrm>
          <a:prstGeom prst="rect">
            <a:avLst/>
          </a:prstGeom>
          <a:noFill/>
          <a:ln/>
        </p:spPr>
        <p:txBody>
          <a:bodyPr wrap="none" lIns="0" tIns="0" rIns="0" bIns="0" rtlCol="0" anchor="t"/>
          <a:lstStyle/>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トレーディング</a:t>
            </a:r>
            <a:endParaRPr lang="en-US" sz="900" dirty="0"/>
          </a:p>
        </p:txBody>
      </p:sp>
      <p:sp>
        <p:nvSpPr>
          <p:cNvPr id="51" name="Text 49"/>
          <p:cNvSpPr/>
          <p:nvPr/>
        </p:nvSpPr>
        <p:spPr>
          <a:xfrm>
            <a:off x="11879689" y="5437920"/>
            <a:ext cx="2457769" cy="477983"/>
          </a:xfrm>
          <a:prstGeom prst="rect">
            <a:avLst/>
          </a:prstGeom>
          <a:noFill/>
          <a:ln/>
        </p:spPr>
        <p:txBody>
          <a:bodyPr wrap="none" lIns="0" tIns="0" rIns="0" bIns="0" rtlCol="0" anchor="t"/>
          <a:lstStyle/>
          <a:p>
            <a:pPr algn="l" indent="0" marL="0">
              <a:lnSpc>
                <a:spcPts val="1254"/>
              </a:lnSpc>
              <a:buNone/>
            </a:pPr>
            <a:r>
              <a:rPr lang="en-US" sz="660" dirty="0">
                <a:solidFill>
                  <a:srgbClr val="7D838A"/>
                </a:solidFill>
                <a:latin typeface="Noto Sans JP" pitchFamily="34" charset="0"/>
                <a:ea typeface="Noto Sans JP" pitchFamily="34" charset="-122"/>
                <a:cs typeface="Noto Sans JP" pitchFamily="34" charset="-120"/>
              </a:rPr>
              <a:t>— 権益の引き取りと外部調達で、安定供給の体制を確立</a:t>
            </a:r>
            <a:endParaRPr lang="en-US" sz="660" dirty="0"/>
          </a:p>
          <a:p>
            <a:pPr algn="l" indent="0" marL="0">
              <a:lnSpc>
                <a:spcPts val="1254"/>
              </a:lnSpc>
              <a:buNone/>
            </a:pPr>
            <a:r>
              <a:rPr lang="en-US" sz="660" dirty="0">
                <a:solidFill>
                  <a:srgbClr val="7D838A"/>
                </a:solidFill>
                <a:latin typeface="Noto Sans JP" pitchFamily="34" charset="0"/>
                <a:ea typeface="Noto Sans JP" pitchFamily="34" charset="-122"/>
                <a:cs typeface="Noto Sans JP" pitchFamily="34" charset="-120"/>
              </a:rPr>
              <a:t>— 需給の変化をつかみ、試験的な取引から先行して動く</a:t>
            </a:r>
            <a:endParaRPr lang="en-US" sz="660" dirty="0"/>
          </a:p>
          <a:p>
            <a:pPr algn="l" indent="0" marL="0">
              <a:lnSpc>
                <a:spcPts val="1254"/>
              </a:lnSpc>
              <a:buNone/>
            </a:pPr>
            <a:r>
              <a:rPr lang="en-US" sz="660" dirty="0">
                <a:solidFill>
                  <a:srgbClr val="7D838A"/>
                </a:solidFill>
                <a:latin typeface="Noto Sans JP" pitchFamily="34" charset="0"/>
                <a:ea typeface="Noto Sans JP" pitchFamily="34" charset="-122"/>
                <a:cs typeface="Noto Sans JP" pitchFamily="34" charset="-120"/>
              </a:rPr>
              <a:t>— 国際的な取引基盤を生かし、業界のネットワークを築く</a:t>
            </a:r>
            <a:endParaRPr lang="en-US" sz="660" dirty="0"/>
          </a:p>
        </p:txBody>
      </p:sp>
      <p:sp>
        <p:nvSpPr>
          <p:cNvPr id="52" name="Text 50"/>
          <p:cNvSpPr/>
          <p:nvPr/>
        </p:nvSpPr>
        <p:spPr>
          <a:xfrm>
            <a:off x="11224132" y="5568406"/>
            <a:ext cx="243649" cy="101644"/>
          </a:xfrm>
          <a:prstGeom prst="rect">
            <a:avLst/>
          </a:prstGeom>
          <a:noFill/>
          <a:ln/>
        </p:spPr>
        <p:txBody>
          <a:bodyPr wrap="none" lIns="0" tIns="0" rIns="0" bIns="0" rtlCol="0" anchor="t"/>
          <a:lstStyle/>
          <a:p>
            <a:pPr algn="ctr" indent="0" marL="0">
              <a:lnSpc>
                <a:spcPts val="800"/>
              </a:lnSpc>
              <a:buNone/>
            </a:pPr>
            <a:r>
              <a:rPr lang="en-US" sz="660" spc="30" kern="0" dirty="0">
                <a:solidFill>
                  <a:srgbClr val="121519"/>
                </a:solidFill>
                <a:latin typeface="Noto Sans JP Medium" pitchFamily="34" charset="0"/>
                <a:ea typeface="Noto Sans JP Medium" pitchFamily="34" charset="-122"/>
                <a:cs typeface="Noto Sans JP Medium" pitchFamily="34" charset="-120"/>
              </a:rPr>
              <a:t>連携</a:t>
            </a:r>
            <a:endParaRPr lang="en-US" sz="660" dirty="0"/>
          </a:p>
        </p:txBody>
      </p:sp>
      <p:sp>
        <p:nvSpPr>
          <p:cNvPr id="53" name="Text 51"/>
          <p:cNvSpPr/>
          <p:nvPr/>
        </p:nvSpPr>
        <p:spPr>
          <a:xfrm>
            <a:off x="8068024" y="6676330"/>
            <a:ext cx="7174268" cy="223618"/>
          </a:xfrm>
          <a:prstGeom prst="rect">
            <a:avLst/>
          </a:prstGeom>
          <a:noFill/>
          <a:ln/>
        </p:spPr>
        <p:txBody>
          <a:bodyPr wrap="none" lIns="0" tIns="0" rIns="0" bIns="0" rtlCol="0" anchor="t"/>
          <a:lstStyle/>
          <a:p>
            <a:pPr algn="l" indent="0" marL="0">
              <a:lnSpc>
                <a:spcPts val="1760"/>
              </a:lnSpc>
              <a:buNone/>
            </a:pPr>
            <a:r>
              <a:rPr lang="en-US" sz="1100" spc="50" kern="0" dirty="0">
                <a:solidFill>
                  <a:srgbClr val="121519"/>
                </a:solidFill>
                <a:latin typeface="Noto Sans JP Medium" pitchFamily="34" charset="0"/>
                <a:ea typeface="Noto Sans JP Medium" pitchFamily="34" charset="-122"/>
                <a:cs typeface="Noto Sans JP Medium" pitchFamily="34" charset="-120"/>
              </a:rPr>
              <a:t>「金属＝経済活動を支える礎」。社会に必要な資源を支えることを、私たちの責務と考えています。</a:t>
            </a:r>
            <a:endParaRPr lang="en-US" sz="1100" dirty="0"/>
          </a:p>
        </p:txBody>
      </p:sp>
      <p:sp>
        <p:nvSpPr>
          <p:cNvPr id="54" name="Text 52"/>
          <p:cNvSpPr/>
          <p:nvPr/>
        </p:nvSpPr>
        <p:spPr>
          <a:xfrm>
            <a:off x="8322135" y="7550471"/>
            <a:ext cx="1365450"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Noto Sans JP Medium" pitchFamily="34" charset="0"/>
                <a:ea typeface="Noto Sans JP Medium" pitchFamily="34" charset="-122"/>
                <a:cs typeface="Noto Sans JP Medium" pitchFamily="34" charset="-120"/>
              </a:rPr>
              <a:t>共に、資源の未来を築く</a:t>
            </a:r>
            <a:endParaRPr lang="en-US" sz="660" dirty="0"/>
          </a:p>
        </p:txBody>
      </p:sp>
      <p:sp>
        <p:nvSpPr>
          <p:cNvPr id="55" name="Text 53"/>
          <p:cNvSpPr/>
          <p:nvPr/>
        </p:nvSpPr>
        <p:spPr>
          <a:xfrm>
            <a:off x="8322135" y="7798865"/>
            <a:ext cx="6339414" cy="429448"/>
          </a:xfrm>
          <a:prstGeom prst="rect">
            <a:avLst/>
          </a:prstGeom>
          <a:noFill/>
          <a:ln/>
        </p:spPr>
        <p:txBody>
          <a:bodyPr wrap="none" lIns="0" tIns="0" rIns="0" bIns="0" rtlCol="0" anchor="t"/>
          <a:lstStyle/>
          <a:p>
            <a:pPr algn="l" indent="0" marL="0">
              <a:lnSpc>
                <a:spcPts val="1690"/>
              </a:lnSpc>
              <a:buNone/>
            </a:pPr>
            <a:r>
              <a:rPr lang="en-US" sz="1300" spc="-26" kern="0" dirty="0">
                <a:solidFill>
                  <a:srgbClr val="FFFFFF"/>
                </a:solidFill>
                <a:latin typeface="Inter Tight Light" pitchFamily="34" charset="0"/>
                <a:ea typeface="Inter Tight Light" pitchFamily="34" charset="-122"/>
                <a:cs typeface="Inter Tight Light" pitchFamily="34" charset="-120"/>
              </a:rPr>
              <a:t>To contribute to a better society by providing a stable supply of high-quality mineral </a:t>
            </a:r>
            <a:endParaRPr lang="en-US" sz="1300" dirty="0"/>
          </a:p>
          <a:p>
            <a:pPr algn="l" indent="0" marL="0">
              <a:lnSpc>
                <a:spcPts val="1690"/>
              </a:lnSpc>
              <a:buNone/>
            </a:pPr>
            <a:r>
              <a:rPr lang="en-US" sz="1300" spc="-26" kern="0" dirty="0">
                <a:solidFill>
                  <a:srgbClr val="FFFFFF"/>
                </a:solidFill>
                <a:latin typeface="Inter Tight Light" pitchFamily="34" charset="0"/>
                <a:ea typeface="Inter Tight Light" pitchFamily="34" charset="-122"/>
                <a:cs typeface="Inter Tight Light" pitchFamily="34" charset="-120"/>
              </a:rPr>
              <a:t>resources that society needs, in a sustainable way.</a:t>
            </a:r>
            <a:endParaRPr lang="en-US" sz="1300" dirty="0"/>
          </a:p>
        </p:txBody>
      </p:sp>
      <p:sp>
        <p:nvSpPr>
          <p:cNvPr id="56" name="Text 54"/>
          <p:cNvSpPr/>
          <p:nvPr/>
        </p:nvSpPr>
        <p:spPr>
          <a:xfrm>
            <a:off x="8322135" y="8456822"/>
            <a:ext cx="6127152"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社会が必要とする良質な金属資源を、持続可能な形で安定供給することで、より良い社会の実現に寄与する。</a:t>
            </a:r>
            <a:endParaRPr lang="en-US" sz="860" dirty="0"/>
          </a:p>
        </p:txBody>
      </p:sp>
      <p:sp>
        <p:nvSpPr>
          <p:cNvPr id="57" name="Text 55"/>
          <p:cNvSpPr/>
          <p:nvPr/>
        </p:nvSpPr>
        <p:spPr>
          <a:xfrm>
            <a:off x="8322135" y="9045152"/>
            <a:ext cx="2381993" cy="136203"/>
          </a:xfrm>
          <a:prstGeom prst="rect">
            <a:avLst/>
          </a:prstGeom>
          <a:noFill/>
          <a:ln/>
        </p:spPr>
        <p:txBody>
          <a:bodyPr wrap="none" lIns="0" tIns="0" rIns="0" bIns="0" rtlCol="0" anchor="t"/>
          <a:lstStyle/>
          <a:p>
            <a:pPr algn="l" indent="0" marL="0">
              <a:lnSpc>
                <a:spcPts val="1072"/>
              </a:lnSpc>
              <a:buNone/>
            </a:pPr>
            <a:r>
              <a:rPr lang="en-US" sz="670" dirty="0">
                <a:solidFill>
                  <a:srgbClr val="C9CED3"/>
                </a:solidFill>
                <a:latin typeface="Noto Sans JP" pitchFamily="34" charset="0"/>
                <a:ea typeface="Noto Sans JP" pitchFamily="34" charset="-122"/>
                <a:cs typeface="Noto Sans JP" pitchFamily="34" charset="-120"/>
              </a:rPr>
              <a:t>持続可能で豊かな未来を、共に築くパートナーとして。</a:t>
            </a:r>
            <a:endParaRPr lang="en-US" sz="670" dirty="0"/>
          </a:p>
        </p:txBody>
      </p:sp>
      <p:sp>
        <p:nvSpPr>
          <p:cNvPr id="58" name="Text 56"/>
          <p:cNvSpPr/>
          <p:nvPr/>
        </p:nvSpPr>
        <p:spPr>
          <a:xfrm>
            <a:off x="508222" y="10316906"/>
            <a:ext cx="184687"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10</a:t>
            </a:r>
            <a:endParaRPr lang="en-US" sz="600" dirty="0"/>
          </a:p>
        </p:txBody>
      </p:sp>
      <p:sp>
        <p:nvSpPr>
          <p:cNvPr id="59" name="Text 57"/>
          <p:cNvSpPr/>
          <p:nvPr/>
        </p:nvSpPr>
        <p:spPr>
          <a:xfrm>
            <a:off x="14458915" y="10316906"/>
            <a:ext cx="16525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11</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2026-10-13T12:55:17Z</dcterms:created>
  <dcterms:modified xsi:type="dcterms:W3CDTF">2026-10-13T12:55:17Z</dcterms:modified>
</cp:coreProperties>
</file>