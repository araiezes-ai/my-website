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都市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7055" y="2960393"/>
            <a:ext cx="12160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鉄・銅・アルミ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70709" y="1156205"/>
            <a:ext cx="87956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モビリティ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70709" y="1346788"/>
            <a:ext cx="13846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鉄・銅・リチウム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30762" y="2273063"/>
            <a:ext cx="174193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鉄道の写真（ストック）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70709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鉄道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70709" y="2960393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7055" y="4675642"/>
            <a:ext cx="15244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再生可能エネルギー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7055" y="4866225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8882" y="4675642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送電網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8882" y="4866225"/>
            <a:ext cx="8863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銅・アルミ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07631" y="3921012"/>
            <a:ext cx="1588194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スマートフォン・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データセンターの写真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0709" y="4675642"/>
            <a:ext cx="71381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デバイス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0709" y="4866225"/>
            <a:ext cx="18939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銅・リチウム・ニッケル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37680" y="2947688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金属素材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37680" y="3138271"/>
            <a:ext cx="25571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暮らしを形づくる鉄・銅・アルミ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981333" y="3125565"/>
            <a:ext cx="8614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製錬・精製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37680" y="4853520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海上輸送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53828" y="4853520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銅地金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1266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コアメッセージ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5781025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私たちの存在意義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8222" y="5912527"/>
            <a:ext cx="5219797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17337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529"/>
            <a:ext cx="4243872" cy="197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資源は、そこに「ある」だけでは、まだ価値ではありま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せん。誰かが見出し、育て、必要とする場所へ届けて、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はじめて力になる。私たちは、世界有数の資産に関わ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り、投資とトレーディングの両輪で川上から川下までを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つなぎます。フェアな立場だからこそ、埋められる隙間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がある。多様なパートナーと使い手の間に立ち、その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時々の最適解を導く。世界に眠る価値を、社会の力へ。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39192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目次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8024" y="5781025"/>
            <a:ext cx="70486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Contents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6193955"/>
            <a:ext cx="55854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244778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520488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三菱商事とは／金属資源グループとは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9393" y="6276541"/>
            <a:ext cx="4476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68024" y="7108755"/>
            <a:ext cx="663369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159577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435288"/>
            <a:ext cx="481667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投資とトレーディングの両輪／原料炭・銅・トレーディング・新技術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179393" y="7191341"/>
            <a:ext cx="45045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8023555"/>
            <a:ext cx="653323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8074377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350087"/>
            <a:ext cx="124556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Partner of Choice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179393" y="8106141"/>
            <a:ext cx="40131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8938354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989176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264887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社会課題への取り組み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9393" y="9020940"/>
            <a:ext cx="3674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8470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823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887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1816161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508222" y="1727955"/>
            <a:ext cx="287203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我々は何者か｜三菱商事とは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8222" y="1945220"/>
            <a:ext cx="3119014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8222" y="2718988"/>
            <a:ext cx="450920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三綱領を精神の根幹に、「総合力」で価値を生む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8222" y="3041709"/>
            <a:ext cx="424387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三菱商事は三綱領を企業理念とし、事業を通じて経済価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値・社会価値・環境価値の同時実現を目指しています。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幅広い産業と地域にまたがる事業と人のつながり＝「総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合力」が、三菱商事の強みです。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78931" y="3097295"/>
            <a:ext cx="2397716" cy="81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7つの営業グループのうち、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長年三菱商事を支えてきた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中核グループの一つ。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3746" y="8739433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3715" y="897067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7054" y="9056079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7023" y="9287320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5120" y="8169271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5089" y="8400512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5120" y="6746845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5089" y="697808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97054" y="5860038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37023" y="6091279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83746" y="6176684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3715" y="6407925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4852" y="7188165"/>
            <a:ext cx="917559" cy="49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</a:t>
            </a:r>
            <a:endParaRPr lang="en-US" sz="15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グループ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1214" y="7775796"/>
            <a:ext cx="10848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F3DCC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中核グループ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8620" y="7968921"/>
            <a:ext cx="117022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DC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 ほか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2786" y="7038874"/>
            <a:ext cx="91755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30326" y="7331102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総合力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0326" y="7597919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8A9097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三綱領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8779" y="7788820"/>
            <a:ext cx="665771" cy="607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所期奉公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処事光明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立業貿易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8222" y="10052631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※グループ名称は確認後に記載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68024" y="1727955"/>
            <a:ext cx="35647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我々は何者か｜金属資源グループとは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68024" y="1946490"/>
            <a:ext cx="5412624" cy="38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core that has carried us.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068024" y="2642754"/>
            <a:ext cx="3495932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三綱領を体現する中核グループとして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68024" y="2965475"/>
            <a:ext cx="724851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社会に不可欠な金属資源を世界から確保し、安定的に届けてきました。三綱領を事業で体現す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る中核グループとして、市況の波を越え、長年にわたり会社の屋台骨を支えています。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2135" y="3976837"/>
            <a:ext cx="319959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GROUP MISSION　グループミッション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2135" y="4219513"/>
            <a:ext cx="665475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社会が必要とする良質な金属資源を、持続可能な形で安定供給することで、よ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り良い社会の実現に寄与する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68024" y="5183864"/>
            <a:ext cx="1469397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これまでの変遷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67279" y="5211816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先見性をもって先手を打ってきた歩み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6530652"/>
            <a:ext cx="90707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事業の重心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68024" y="6773328"/>
            <a:ext cx="1323958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資源投資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トレーディング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80730" y="8027684"/>
            <a:ext cx="119205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1980〜90年代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80730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日本の産業に、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80730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トレーディングで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参入し、少数出資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から事業に関わる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89401" y="8027684"/>
            <a:ext cx="80072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1990年代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89401" y="8586410"/>
            <a:ext cx="924547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仲介から、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担い手へ。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89401" y="9068586"/>
            <a:ext cx="1302775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投資モデルへ転換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し、JV運営の知見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を蓄える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98073" y="8027684"/>
            <a:ext cx="83828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2000年代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698073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一級資産に、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早くから。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698073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BHPと原料炭の合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弁を組成し、事業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経営に参画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006744" y="8027684"/>
            <a:ext cx="798325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2010年代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006744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次の柱を、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先回りして。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006744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銅へ領域を広げ、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販売機能をRtMに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集約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315416" y="8027684"/>
            <a:ext cx="100447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2020年代〜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315416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投資と販売を、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一つの力に。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315416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両輪を一体で動か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す、グローバルな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事業者へ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68024" y="10037384"/>
            <a:ext cx="7330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事業領域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06590" y="9999268"/>
            <a:ext cx="5724029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spc="30" kern="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　銅</a:t>
            </a:r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　鉄鉱石　ニッケル　リチウム　アルミ　肥料資源　二次資源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458915" y="10316906"/>
            <a:ext cx="28404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294769"/>
            <a:ext cx="300567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VALUE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What Makes Us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658232" y="200748"/>
            <a:ext cx="2393348" cy="391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MITSUBISHI CORPORATION</a:t>
            </a:r>
            <a:endParaRPr lang="en-US" sz="1100" dirty="0"/>
          </a:p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METAL RESOURCES GROUP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68024" y="294769"/>
            <a:ext cx="300567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VALUE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What Makes Us Different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55796" y="294769"/>
            <a:ext cx="245558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Strength to Hold. Power to Connect.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834119"/>
            <a:ext cx="5142055" cy="555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Two wheels, one flow.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8222" y="1499255"/>
            <a:ext cx="6088718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投資とトレーディングの両輪で、資源の流れ全体に関わる。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68024" y="877953"/>
            <a:ext cx="7248516" cy="86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資源に投資して育てる力と、市場へ届ける力。その二つが互いを強め合い、新技術が流れを進</a:t>
            </a:r>
            <a:endParaRPr lang="en-US" sz="12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化させる。この循環を長い時間をかけて回し続けてきたことが、金属資源グループならではの</a:t>
            </a:r>
            <a:endParaRPr lang="en-US" sz="12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強さであり、いまの事業につながっています。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70428" y="4091187"/>
            <a:ext cx="1477695" cy="368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Investment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01966" y="4471083"/>
            <a:ext cx="414419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spc="100" kern="0" dirty="0">
                <a:solidFill>
                  <a:srgbClr val="B8714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83664" y="4091187"/>
            <a:ext cx="1074353" cy="368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Trading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59408" y="4471083"/>
            <a:ext cx="1322866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spc="100" kern="0" dirty="0">
                <a:solidFill>
                  <a:srgbClr val="4F7EA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6252" y="4064188"/>
            <a:ext cx="517711" cy="43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dirty="0">
                <a:solidFill>
                  <a:srgbClr val="4F8A71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New</a:t>
            </a:r>
            <a:endParaRPr lang="en-US" sz="1500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sz="1500" dirty="0">
                <a:solidFill>
                  <a:srgbClr val="4F8A71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Tech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9091" y="4538422"/>
            <a:ext cx="51203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1943" y="2553815"/>
            <a:ext cx="22290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5622" y="2515699"/>
            <a:ext cx="557456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Hold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5622" y="2846043"/>
            <a:ext cx="2063600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世界屈指の資産に投資し、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資源を見出し、育てる。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59901" y="2172649"/>
            <a:ext cx="24823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76246" y="2134532"/>
            <a:ext cx="940489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Connect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76246" y="2464877"/>
            <a:ext cx="1560460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投資で得た資源を、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市場へ届ける。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3868" y="6035136"/>
            <a:ext cx="24605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9121" y="5997019"/>
            <a:ext cx="1110167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Reinforce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109121" y="6327364"/>
            <a:ext cx="2399026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市場の声を、次の投資判断へ。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両輪が互いを強め合う。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1889" y="6035136"/>
            <a:ext cx="25063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4F8A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9535" y="5997019"/>
            <a:ext cx="773212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Evolve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779535" y="6327364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業界の課題を解く技術に投資し、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流れ全体を進化させる。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20195" y="4004789"/>
            <a:ext cx="1521370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B38F4F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repeated over decades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920962" y="1969360"/>
            <a:ext cx="24779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B38F4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37089" y="1931244"/>
            <a:ext cx="1130695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Over time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337089" y="2261588"/>
            <a:ext cx="2399026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市況に左右されず関わり続けた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積み重ねが、先を見る力に。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37089" y="2812691"/>
            <a:ext cx="2104218" cy="122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1980s　トレーディングで参入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1990s　投資モデルへ転換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2000s　BHPと50:50でBMA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2010s　銅の柱を拡大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2020s　グローバルな事業者へ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082978" y="4751876"/>
            <a:ext cx="1328107" cy="3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The result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2082978" y="5149559"/>
            <a:ext cx="2399026" cy="77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6E9E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原料炭・銅・トレーディング、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6E9E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そして新技術。いまの事業は、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6E9E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この循環の「結果」です。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082978" y="6047842"/>
            <a:ext cx="56881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D8C39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→ P.08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8222" y="3837076"/>
            <a:ext cx="1896105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Key assets &amp; partners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8222" y="4112151"/>
            <a:ext cx="2837526" cy="475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Escondida・Quellaveco・BMA・IOC ほか</a:t>
            </a:r>
            <a:endParaRPr lang="en-US" sz="1100" dirty="0"/>
          </a:p>
          <a:p>
            <a:pPr algn="l"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資源メジャーとの強固なパートナリング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2677" y="7445452"/>
            <a:ext cx="2328927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From mine to market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303443" y="7473404"/>
            <a:ext cx="281809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金属資源のバリューチェーンと事業領域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800" y="7801207"/>
            <a:ext cx="864712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Upstream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4800" y="8019743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資源開発・保有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15853" y="7801207"/>
            <a:ext cx="945293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Midstream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15853" y="8019743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製鉄・製錬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16906" y="7801207"/>
            <a:ext cx="1087674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Downstream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316906" y="8019743"/>
            <a:ext cx="66577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最終製品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667433" y="7801207"/>
            <a:ext cx="66489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Society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667433" y="8019743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より良い社会へ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1511" y="8474602"/>
            <a:ext cx="978268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714A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5277" y="9137831"/>
            <a:ext cx="2049405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非鉄｜銅鉱石・ボーキサイト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鉄鋼｜原料炭・鉄鉱石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Escondida・BMA ほか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189093" y="8474602"/>
            <a:ext cx="71599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7EA8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Trading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087449" y="9137831"/>
            <a:ext cx="2049405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原料炭・鉄鉱石を製鉄会社へ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銅精鉱を製錬会社へ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自社・第三者を問わず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539620" y="8474602"/>
            <a:ext cx="1461972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249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Steel &amp; Smelting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37975" y="9137831"/>
            <a:ext cx="1741931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鉄鉱石と原料炭から鋼材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銅精鉱から銅地金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ボーキサイトからアルミ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90146" y="8474602"/>
            <a:ext cx="71599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7EA8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Trading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788502" y="9137831"/>
            <a:ext cx="1895668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鋼材はメタルワンが販売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地金はRtM・Triland Metals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が需要家へ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240673" y="8474602"/>
            <a:ext cx="95249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249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139029" y="9137831"/>
            <a:ext cx="1434457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建材・自動車用鋼板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電線・再エネ・EV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データセンター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2591200" y="8474602"/>
            <a:ext cx="66489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249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Society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2489555" y="9137831"/>
            <a:ext cx="1588194" cy="670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豊かな暮らし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カーボンニュートラル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循環型社会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8222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4458915" y="10316906"/>
            <a:ext cx="2746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294769"/>
            <a:ext cx="252568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BUSINESS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Our Business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658232" y="200748"/>
            <a:ext cx="2393348" cy="391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MITSUBISHI CORPORATION</a:t>
            </a:r>
            <a:endParaRPr lang="en-US" sz="1100" dirty="0"/>
          </a:p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METAL RESOURCES GROUP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68024" y="294769"/>
            <a:ext cx="252568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BUSINESS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Our Business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55796" y="294769"/>
            <a:ext cx="245558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Strength to Hold. Power to Connect.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787744"/>
            <a:ext cx="4745046" cy="58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20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What the flow has built.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8222" y="1337894"/>
            <a:ext cx="7094997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両輪と新技術の循環が生んだ、いまの事業。原料炭、銅、トレーディング、新技術は、それぞ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れが三つの力の重なりから育ってきました。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60843" y="1982066"/>
            <a:ext cx="18395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1｜原料炭事業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60843" y="2210766"/>
            <a:ext cx="2637712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Metallurgical Coal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09339" y="2693577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60498" y="2693577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0843" y="3072837"/>
            <a:ext cx="1453019" cy="41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400" spc="-102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約50%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60843" y="3598212"/>
            <a:ext cx="328760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447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一級強粘結炭の世界供給に占めるBMAのシェア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0843" y="3909498"/>
            <a:ext cx="3603373" cy="82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BHPとの50:50の合弁BMAで、豪州で世界最高品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位の原料炭を生産。販売から出資、JV経営へと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関わりを深めてきました。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0843" y="5046644"/>
            <a:ext cx="375951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7EA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トレーディング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BMAの原料炭を、RtMが製鉄所へ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8222" y="6174897"/>
            <a:ext cx="15183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2｜銅事業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8222" y="6403597"/>
            <a:ext cx="1080031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Copper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6718" y="6886408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15620" y="6886408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8222" y="7265669"/>
            <a:ext cx="1309982" cy="41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400" spc="-102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Top 15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8222" y="7791043"/>
            <a:ext cx="312010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447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主要5鉱山すべてが鉱山別生産量で世界Top15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8102329"/>
            <a:ext cx="3573019" cy="82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1988年のエスコンディダから、一級資産に早く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から参画。日本最大の銅生産者として、世界の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大手と組んでいます。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8222" y="9239476"/>
            <a:ext cx="332254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新技術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低品位鉱の銅回収に、新しい技術を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68024" y="2947688"/>
            <a:ext cx="257744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3｜トレーディング事業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68024" y="3176387"/>
            <a:ext cx="3733526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Resource to Market (RtM)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018656" y="3252621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387679" y="3252621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3649669"/>
            <a:ext cx="423591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576246" y="3861217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46801" y="3649669"/>
            <a:ext cx="515964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50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380434" y="3861217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カ国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752633" y="3649669"/>
            <a:ext cx="1387724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約1,000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3023188" y="3861217"/>
            <a:ext cx="218754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63990" y="3728444"/>
            <a:ext cx="164596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7D838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×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244411" y="3728444"/>
            <a:ext cx="164596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7D838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×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09231" y="4427884"/>
            <a:ext cx="1895886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自社資産・第三者の資源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202920" y="4427884"/>
            <a:ext cx="351745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RtM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150045" y="4427884"/>
            <a:ext cx="889607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世界の顧客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55023" y="4970411"/>
            <a:ext cx="204940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7EA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市場の声を、次の投資判断へ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5478633"/>
            <a:ext cx="378375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B8714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投資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原料炭・銅など自社の資源を、世界の需要へ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68024" y="6174897"/>
            <a:ext cx="310307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NEW TECHNOLOGY｜新技術への投資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68024" y="6403597"/>
            <a:ext cx="3548779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Investing in What’s Next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1645232" y="6479830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447468" y="6479830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3098628" y="6479830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68024" y="6882596"/>
            <a:ext cx="5250151" cy="27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業界のボトルネックを解く技術に出資し、現場と市場へつなぎます。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68024" y="7587754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選鉱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68024" y="7794219"/>
            <a:ext cx="724951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CiDRA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068024" y="8146798"/>
            <a:ext cx="2049405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粗い粒子のまま銅を回収し、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回収率と処理量を高める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304201" y="7587754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浸出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04201" y="7794219"/>
            <a:ext cx="523389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Jetti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304201" y="8146798"/>
            <a:ext cx="1741931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触媒技術で、硫化鉱から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銅を回収する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540377" y="758775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リサイクル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540377" y="7794219"/>
            <a:ext cx="1079158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DESCycle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2540377" y="8146798"/>
            <a:ext cx="1895668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廃棄物から金属を回収し、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資源の循環を広げる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71313" y="8919296"/>
            <a:ext cx="107413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0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CASE｜Jetti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71313" y="9164513"/>
            <a:ext cx="6599282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Jettiに出資参画し、事業拡大を支援。同社技術で生まれる環境価値の高い銅地金を販売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し、低品位鉱に課題を持つ鉱山への導入も共同で検討しています。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33787"/>
            <a:ext cx="448496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6999"/>
            <a:ext cx="4652673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2947688"/>
            <a:ext cx="136959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パートナーシップ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37680" y="1804188"/>
            <a:ext cx="13586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社会を支える資源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3328854"/>
            <a:ext cx="49674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第3章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8222" y="3519437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8222" y="3781934"/>
            <a:ext cx="3845116" cy="44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spc="-8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Partner of choice.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8222" y="4503125"/>
            <a:ext cx="4013266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資源業界に不可欠な存在として、選ばれ続ける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222" y="4799799"/>
            <a:ext cx="355458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5622" y="4811234"/>
            <a:ext cx="127198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Cultural affinity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5622" y="5007217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資源メジャーとの文化的親和性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37076" y="4799799"/>
            <a:ext cx="418350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4476" y="4811234"/>
            <a:ext cx="12796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JV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4476" y="5007217"/>
            <a:ext cx="287355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資源投資に裏打ちされたJV経営力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8222" y="5358843"/>
            <a:ext cx="412454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5622" y="5370278"/>
            <a:ext cx="1449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Financial 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5622" y="5566262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健全な財務基盤とリスクシェア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7076" y="5358843"/>
            <a:ext cx="425775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94476" y="5370278"/>
            <a:ext cx="102390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Deep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4476" y="5566262"/>
            <a:ext cx="2839273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マクロとバリューチェーンの知見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222" y="6030967"/>
            <a:ext cx="9455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JVへの貢献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24666" y="6030967"/>
            <a:ext cx="19629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経営から現場まで伴走する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0689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現場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983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・長期目線での戦略策定と案件開発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・幅広い産業接点を生かした知見の提供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・人材派遣による操業支援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9543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6837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・中長期の事業計画・資本政策への参画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・販売戦略・人事計画への関与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・他JVのベストプラクティスの導入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926" y="7992029"/>
            <a:ext cx="209570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「会社対会社」の関係へ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00862" y="7992029"/>
            <a:ext cx="98045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3327" y="7992029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強み・信頼の蓄積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1053" y="8663557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次の協業へ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222" y="8996442"/>
            <a:ext cx="6088718" cy="28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新たな協業が生まれ、その積み重ねが、さらなる強み・知見・信頼につながる。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8222" y="9664754"/>
            <a:ext cx="146415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主なJVパートナー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3710" y="9593603"/>
            <a:ext cx="3798602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BHP　　Rio Tinto　　Anglo American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68024" y="2185355"/>
            <a:ext cx="50133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第4章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2375938"/>
            <a:ext cx="116629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2639197"/>
            <a:ext cx="4093410" cy="72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Building the future</a:t>
            </a:r>
            <a:endParaRPr lang="en-US" sz="2800" dirty="0"/>
          </a:p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of resources, together.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068024" y="3644706"/>
            <a:ext cx="3069879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社会の「当たり前」を、支え続ける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68024" y="3978227"/>
            <a:ext cx="15890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外部環境と社会課題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72623" y="4762477"/>
            <a:ext cx="1166290" cy="44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</a:t>
            </a:r>
            <a:endParaRPr lang="en-US" sz="1300" dirty="0"/>
          </a:p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ミネラル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23034" y="427585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産業構造の転換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23034" y="4514401"/>
            <a:ext cx="341513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脱炭素化とAI・データセンターで電力需要が拡大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23034" y="4784076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供給制約の深刻化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923034" y="5022623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良質な資源の開発に、より時間とコストが必要に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23034" y="5292298"/>
            <a:ext cx="190986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地政学リスクの常態化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23034" y="5530845"/>
            <a:ext cx="281809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輸出規制など、資源の囲い込みが常態化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711898" y="5939289"/>
            <a:ext cx="525561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クリティカルミネラルの供給網確保が、これまで以上に重要に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68024" y="6468514"/>
            <a:ext cx="12553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当社の取り組み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13168" y="6468514"/>
            <a:ext cx="29187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資源の安定供給と効率化で社会を支える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17516" y="6752444"/>
            <a:ext cx="794395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07785" y="7154614"/>
            <a:ext cx="2399026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・基幹事業で大規模資産を拡大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・成長領域へ早い段階から参画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588430" y="675244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57567" y="7154614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・引き取りと外部調達で安定供給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・国際取引基盤で業界網を構築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125406" y="7189554"/>
            <a:ext cx="428395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連携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89584" y="7905512"/>
            <a:ext cx="590004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「金属＝経済活動を支える礎」。社会に必要な資源を支えることが、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私たちの責務です。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22135" y="9097173"/>
            <a:ext cx="453147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グループミッション｜共に、持続可能で豊かな未来を築く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2135" y="9374154"/>
            <a:ext cx="6446419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で、より良い社会の実現に寄与する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5915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2530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2026-10-15T12:10:51Z</dcterms:created>
  <dcterms:modified xsi:type="dcterms:W3CDTF">2026-10-15T12:10:51Z</dcterms:modified>
</cp:coreProperties>
</file>