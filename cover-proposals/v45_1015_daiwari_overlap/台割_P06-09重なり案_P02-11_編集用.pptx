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5119604" cy="10692079"/>
  <p:notesSz cx="10692079" cy="15119604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7055" y="2769810"/>
            <a:ext cx="3751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都市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127055" y="2960393"/>
            <a:ext cx="12160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鉄・銅・アルミ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370709" y="1156205"/>
            <a:ext cx="87956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モビリティ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370709" y="1346788"/>
            <a:ext cx="138466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鉄・銅・リチウム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30762" y="2273063"/>
            <a:ext cx="174193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鉄道の写真（ストック）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370709" y="2769810"/>
            <a:ext cx="3751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5A6570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鉄道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70709" y="2960393"/>
            <a:ext cx="54566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5A6570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鉄・銅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7055" y="4675642"/>
            <a:ext cx="152442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再生可能エネルギー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7055" y="4866225"/>
            <a:ext cx="54566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248882" y="4675642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送電網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248882" y="4866225"/>
            <a:ext cx="8863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銅・アルミ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107631" y="3921012"/>
            <a:ext cx="1588194" cy="447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スマートフォン・</a:t>
            </a:r>
            <a:endParaRPr lang="en-US" sz="1100" dirty="0"/>
          </a:p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8A96A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データセンターの写真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370709" y="4675642"/>
            <a:ext cx="71381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5A6570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デバイス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370709" y="4866225"/>
            <a:ext cx="18939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5A6570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銅・リチウム・ニッケル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37680" y="2947688"/>
            <a:ext cx="6994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金属素材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37680" y="3138271"/>
            <a:ext cx="25571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8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暮らしを形づくる鉄・銅・アルミ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981333" y="3125565"/>
            <a:ext cx="8614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製錬・精製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37680" y="4853520"/>
            <a:ext cx="6994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海上輸送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053828" y="4853520"/>
            <a:ext cx="53736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銅地金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8222" y="5590442"/>
            <a:ext cx="12660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コアメッセージ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8222" y="5781025"/>
            <a:ext cx="1325487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私たちの存在意義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8222" y="5912527"/>
            <a:ext cx="5219797" cy="1227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Strength to Hold.</a:t>
            </a:r>
            <a:endParaRPr lang="en-US" sz="4600" dirty="0"/>
          </a:p>
          <a:p>
            <a:pPr algn="l" indent="0" marL="0">
              <a:lnSpc>
                <a:spcPts val="4830"/>
              </a:lnSpc>
              <a:buNone/>
            </a:pPr>
            <a:r>
              <a:rPr lang="en-US" sz="4600" spc="-92" kern="0" dirty="0">
                <a:solidFill>
                  <a:srgbClr val="121519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Power to Connect.</a:t>
            </a:r>
            <a:endParaRPr lang="en-US" sz="4600" dirty="0"/>
          </a:p>
        </p:txBody>
      </p:sp>
      <p:sp>
        <p:nvSpPr>
          <p:cNvPr id="24" name="Text 22"/>
          <p:cNvSpPr/>
          <p:nvPr/>
        </p:nvSpPr>
        <p:spPr>
          <a:xfrm>
            <a:off x="508222" y="7359690"/>
            <a:ext cx="2217337" cy="285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持つ力と、つなぐ力。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8222" y="7666529"/>
            <a:ext cx="4243872" cy="19744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資源は、そこに「ある」だけでは、まだ価値ではありま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せん。誰かが見出し、育て、必要とする場所へ届けて、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はじめて力になる。私たちは、世界有数の資産に関わ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り、投資とトレーディングの両輪で川上から川下までを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つなぎます。フェアな立場だからこそ、埋められる隙間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がある。多様なパートナーと使い手の間に立ち、その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時々の最適解を導く。世界に眠る価値を、社会の力へ。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068024" y="5590442"/>
            <a:ext cx="39192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目次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68024" y="5781025"/>
            <a:ext cx="704860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Contents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68024" y="6193955"/>
            <a:ext cx="55854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4000" dirty="0"/>
          </a:p>
        </p:txBody>
      </p:sp>
      <p:sp>
        <p:nvSpPr>
          <p:cNvPr id="29" name="Text 27"/>
          <p:cNvSpPr/>
          <p:nvPr/>
        </p:nvSpPr>
        <p:spPr>
          <a:xfrm>
            <a:off x="9135290" y="6244778"/>
            <a:ext cx="1266743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我々は何者か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135290" y="6520488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三菱商事とは／金属資源グループとは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9393" y="6276541"/>
            <a:ext cx="4476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68024" y="7108755"/>
            <a:ext cx="663369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4000" dirty="0"/>
          </a:p>
        </p:txBody>
      </p:sp>
      <p:sp>
        <p:nvSpPr>
          <p:cNvPr id="33" name="Text 31"/>
          <p:cNvSpPr/>
          <p:nvPr/>
        </p:nvSpPr>
        <p:spPr>
          <a:xfrm>
            <a:off x="9135290" y="7159577"/>
            <a:ext cx="861436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独自価値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35290" y="7435288"/>
            <a:ext cx="481667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投資とトレーディングの両輪／原料炭・銅・トレーディング・新技術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4179393" y="7191341"/>
            <a:ext cx="45045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P.06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68024" y="8023555"/>
            <a:ext cx="653323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4000" dirty="0"/>
          </a:p>
        </p:txBody>
      </p:sp>
      <p:sp>
        <p:nvSpPr>
          <p:cNvPr id="37" name="Text 35"/>
          <p:cNvSpPr/>
          <p:nvPr/>
        </p:nvSpPr>
        <p:spPr>
          <a:xfrm>
            <a:off x="9135290" y="8074377"/>
            <a:ext cx="1672050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選ばれ続ける理由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135290" y="8350087"/>
            <a:ext cx="124556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Partner of Choice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4179393" y="8106141"/>
            <a:ext cx="40131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P.10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68024" y="8938354"/>
            <a:ext cx="675598" cy="482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4000" spc="-120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4000" dirty="0"/>
          </a:p>
        </p:txBody>
      </p:sp>
      <p:sp>
        <p:nvSpPr>
          <p:cNvPr id="41" name="Text 39"/>
          <p:cNvSpPr/>
          <p:nvPr/>
        </p:nvSpPr>
        <p:spPr>
          <a:xfrm>
            <a:off x="9135290" y="8989176"/>
            <a:ext cx="1469397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何を実現するか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135290" y="9264887"/>
            <a:ext cx="158819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社会課題への取り組み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14179393" y="9020940"/>
            <a:ext cx="36746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P.11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508222" y="10316906"/>
            <a:ext cx="28470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02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4458915" y="10316906"/>
            <a:ext cx="28230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19887" y="1391258"/>
            <a:ext cx="3277774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3" name="Text 1"/>
          <p:cNvSpPr/>
          <p:nvPr/>
        </p:nvSpPr>
        <p:spPr>
          <a:xfrm>
            <a:off x="11816161" y="1391258"/>
            <a:ext cx="3277774" cy="2642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0"/>
              </a:lnSpc>
              <a:buNone/>
            </a:pPr>
            <a:r>
              <a:rPr lang="en-US" sz="26000" spc="-104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6000" dirty="0"/>
          </a:p>
        </p:txBody>
      </p:sp>
      <p:sp>
        <p:nvSpPr>
          <p:cNvPr id="4" name="Text 2"/>
          <p:cNvSpPr/>
          <p:nvPr/>
        </p:nvSpPr>
        <p:spPr>
          <a:xfrm>
            <a:off x="508222" y="1727955"/>
            <a:ext cx="287203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第1章　我々は何者か｜三菱商事とは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8222" y="1945220"/>
            <a:ext cx="3119014" cy="518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80"/>
              </a:lnSpc>
              <a:buNone/>
            </a:pPr>
            <a:r>
              <a:rPr lang="en-US" sz="4000" spc="-10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Who we are.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08222" y="2718988"/>
            <a:ext cx="4509200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三綱領を精神の根幹に、「総合力」で価値を生む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8222" y="3041709"/>
            <a:ext cx="4243872" cy="112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三菱商事は三綱領を企業理念とし、事業を通じて経済価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値・社会価値・環境価値の同時実現を目指しています。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幅広い産業と地域にまたがる事業と人のつながり＝「総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合力」が、三菱商事の強みです。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878931" y="3097295"/>
            <a:ext cx="2397716" cy="817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7つの営業グループのうち、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長年三菱商事を支えてきた</a:t>
            </a:r>
            <a:endParaRPr lang="en-US" sz="1300" dirty="0"/>
          </a:p>
          <a:p>
            <a:pPr algn="l" indent="0" marL="0">
              <a:lnSpc>
                <a:spcPts val="2145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中核グループの一つ。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83746" y="8739433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423715" y="8970674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897054" y="9056079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037023" y="9287320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85120" y="8169271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5089" y="8400512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785120" y="6746845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5089" y="6978086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97054" y="5860038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037023" y="6091279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283746" y="6176684"/>
            <a:ext cx="109924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8A9097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○○グループ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423715" y="6407925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事業・製品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34852" y="7188165"/>
            <a:ext cx="917559" cy="49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金属資源</a:t>
            </a:r>
            <a:endParaRPr lang="en-US" sz="1500" dirty="0"/>
          </a:p>
          <a:p>
            <a:pPr algn="ctr" indent="0" marL="0">
              <a:lnSpc>
                <a:spcPts val="1950"/>
              </a:lnSpc>
              <a:buNone/>
            </a:pPr>
            <a:r>
              <a:rPr lang="en-US" sz="15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グループ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251214" y="7775796"/>
            <a:ext cx="108483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F3DCC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中核グループ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08620" y="7968921"/>
            <a:ext cx="117022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F3DCC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原料炭・銅 ほか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52786" y="7038874"/>
            <a:ext cx="917559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三菱商事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3530326" y="7331102"/>
            <a:ext cx="56247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総合力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30326" y="7597919"/>
            <a:ext cx="56247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8A9097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三綱領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78779" y="7788820"/>
            <a:ext cx="665771" cy="6079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所期奉公</a:t>
            </a:r>
            <a:endParaRPr lang="en-US" sz="1100" dirty="0"/>
          </a:p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処事光明</a:t>
            </a:r>
            <a:endParaRPr lang="en-US" sz="1100" dirty="0"/>
          </a:p>
          <a:p>
            <a:pPr algn="ctr" indent="0" marL="0">
              <a:lnSpc>
                <a:spcPts val="1595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立業貿易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8222" y="10052631"/>
            <a:ext cx="220314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7ADB3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※グループ名称は確認後に記載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68024" y="1727955"/>
            <a:ext cx="356472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第1章　我々は何者か｜金属資源グループとは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068024" y="1946490"/>
            <a:ext cx="5412624" cy="388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60"/>
              </a:lnSpc>
              <a:buNone/>
            </a:pPr>
            <a:r>
              <a:rPr lang="en-US" sz="3000" spc="-7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The core that has carried us.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8068024" y="2642754"/>
            <a:ext cx="3495932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三綱領を体現する中核グループとして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8068024" y="2965475"/>
            <a:ext cx="7248516" cy="564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社会に不可欠な金属資源を世界から確保し、安定的に届けてきました。三綱領を事業で体現す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る中核グループとして、市況の波を越え、長年にわたり会社の屋台骨を支えています。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322135" y="3976837"/>
            <a:ext cx="319959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E9D6AC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GROUP MISSION　グループミッション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22135" y="4219513"/>
            <a:ext cx="6654750" cy="52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社会が必要とする良質な金属資源を、持続可能な形で安定供給することで、よ</a:t>
            </a:r>
            <a:endParaRPr lang="en-US" sz="1300" dirty="0"/>
          </a:p>
          <a:p>
            <a:pPr algn="l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り良い社会の実現に寄与する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8068024" y="5183864"/>
            <a:ext cx="1469397" cy="2541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4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これまでの変遷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567279" y="5211816"/>
            <a:ext cx="266435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先見性をもって先手を打ってきた歩み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68024" y="6530652"/>
            <a:ext cx="90707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事業の重心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8068024" y="6773328"/>
            <a:ext cx="1323958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■</a:t>
            </a:r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資源投資</a:t>
            </a:r>
            <a:endParaRPr lang="en-US" sz="11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■</a:t>
            </a:r>
            <a:pPr algn="l" indent="0" marL="0">
              <a:lnSpc>
                <a:spcPts val="198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 トレーディング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80730" y="8027684"/>
            <a:ext cx="119205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1980〜90年代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8080730" y="8586410"/>
            <a:ext cx="1273950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日本の産業に、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資源を。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080730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トレーディングで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参入し、少数出資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から事業に関わる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389401" y="8027684"/>
            <a:ext cx="80072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1990年代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9389401" y="8586410"/>
            <a:ext cx="924547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仲介から、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担い手へ。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9389401" y="9068586"/>
            <a:ext cx="1302775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投資モデルへ転換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し、JV運営の知見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を蓄える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0698073" y="8027684"/>
            <a:ext cx="838288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2000年代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698073" y="8586410"/>
            <a:ext cx="1099248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一級資産に、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早くから。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0698073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BHPと原料炭の合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弁を組成し、事業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経営に参画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12006744" y="8027684"/>
            <a:ext cx="798325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2010年代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12006744" y="8586410"/>
            <a:ext cx="1099248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次の柱を、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先回りして。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12006744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銅へ領域を広げ、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販売機能をRtMに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集約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3315416" y="8027684"/>
            <a:ext cx="1004473" cy="15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5"/>
              </a:lnSpc>
              <a:buNone/>
            </a:pPr>
            <a:r>
              <a:rPr lang="en-US" sz="1300" spc="-39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2020年代〜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13315416" y="8586410"/>
            <a:ext cx="1273950" cy="4421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投資と販売を、</a:t>
            </a:r>
            <a:endParaRPr lang="en-US" sz="1200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2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一つの力に。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3315416" y="9068586"/>
            <a:ext cx="1280719" cy="628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両輪を一体で動か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す、グローバルな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事業者へ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68024" y="10037384"/>
            <a:ext cx="73303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事業領域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906590" y="9999268"/>
            <a:ext cx="5724029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b="1" spc="30" kern="0" dirty="0">
                <a:solidFill>
                  <a:srgbClr val="A8622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　銅</a:t>
            </a:r>
            <a:pPr algn="l" indent="0" marL="0">
              <a:lnSpc>
                <a:spcPts val="1700"/>
              </a:lnSpc>
              <a:buNone/>
            </a:pPr>
            <a:r>
              <a:rPr lang="en-US" sz="1200" spc="30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　鉄鉱石　ニッケル　リチウム　アルミ　肥料資源　二次資源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508222" y="10316906"/>
            <a:ext cx="28688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04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4458915" y="10316906"/>
            <a:ext cx="28404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508222"/>
            <a:ext cx="393836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第2章　独自価値｜What makes us different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8222" y="724725"/>
            <a:ext cx="3892941" cy="1192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92"/>
              </a:lnSpc>
              <a:buNone/>
            </a:pPr>
            <a:r>
              <a:rPr lang="en-US" sz="4600" spc="-11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Three forces,</a:t>
            </a:r>
            <a:endParaRPr lang="en-US" sz="4600" dirty="0"/>
          </a:p>
          <a:p>
            <a:pPr algn="l" indent="0" marL="0">
              <a:lnSpc>
                <a:spcPts val="4692"/>
              </a:lnSpc>
              <a:buNone/>
            </a:pPr>
            <a:r>
              <a:rPr lang="en-US" sz="4600" spc="-11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one value.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508222" y="2184084"/>
            <a:ext cx="3719550" cy="691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三つの力が重なり合うところに、</a:t>
            </a:r>
            <a:endParaRPr lang="en-US" sz="1700" dirty="0"/>
          </a:p>
          <a:p>
            <a:pPr algn="l" indent="0" marL="0">
              <a:lnSpc>
                <a:spcPts val="2720"/>
              </a:lnSpc>
              <a:buNone/>
            </a:pPr>
            <a:r>
              <a:rPr lang="en-US" sz="17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私たちだけの価値が生まれる。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08222" y="2990886"/>
            <a:ext cx="6200308" cy="11282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資源を持つ力、市場へつなぐ力、新しい技術で流れを進化させる力。それぞれの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機能は、資源メジャーも持っています。私たちの違いは、三つを別々に動かさ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ず、互いに高め合わせてきたこと。そして、その中心に変わらない信念があるこ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とです。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3155" y="6116769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機能が「並ぶ」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13155" y="6368021"/>
            <a:ext cx="158819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それぞれが別々に動く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319887" y="6116769"/>
            <a:ext cx="246737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A8894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機能が「重なり、高め合う」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319887" y="6368021"/>
            <a:ext cx="128071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8894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金属資源グループ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8222" y="7267574"/>
            <a:ext cx="139362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A8894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AT THE CENTER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8222" y="7496274"/>
            <a:ext cx="3733744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中心にあるもの　三綱領に根ざす信念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8222" y="8055318"/>
            <a:ext cx="304794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2000" spc="-60" kern="0" dirty="0">
                <a:solidFill>
                  <a:srgbClr val="A8894F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91033" y="8069930"/>
            <a:ext cx="2249438" cy="275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業界のギャップを埋める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91033" y="8353581"/>
            <a:ext cx="2203142" cy="43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フェアな立場で、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つなぐ人のいない隙間を埋める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37076" y="8055318"/>
            <a:ext cx="357205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2000" spc="-60" kern="0" dirty="0">
                <a:solidFill>
                  <a:srgbClr val="A8894F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319887" y="8069930"/>
            <a:ext cx="1321119" cy="275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1を10に育てる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319887" y="8353581"/>
            <a:ext cx="1434457" cy="43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見出された資源を、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事業として仕上げる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8222" y="9097173"/>
            <a:ext cx="352182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2000" spc="-60" kern="0" dirty="0">
                <a:solidFill>
                  <a:srgbClr val="A8894F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91033" y="9111785"/>
            <a:ext cx="1250147" cy="275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長い時間軸で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91033" y="9395436"/>
            <a:ext cx="1588194" cy="43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短期の損得ではなく、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関わり続ける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37076" y="9097173"/>
            <a:ext cx="363319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2000" spc="-60" kern="0" dirty="0">
                <a:solidFill>
                  <a:srgbClr val="A8894F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319887" y="9111785"/>
            <a:ext cx="1250147" cy="275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三菱の安心感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19887" y="9395436"/>
            <a:ext cx="1895668" cy="433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約束を守り抜く、</a:t>
            </a:r>
            <a:endParaRPr lang="en-US" sz="1100" dirty="0"/>
          </a:p>
          <a:p>
            <a:pPr algn="l" indent="0" marL="0">
              <a:lnSpc>
                <a:spcPts val="1705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信頼される相手であること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1145735" y="3582965"/>
            <a:ext cx="400443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00" b="1" spc="50" kern="0" dirty="0">
                <a:solidFill>
                  <a:srgbClr val="24365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信念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3446621" y="508222"/>
            <a:ext cx="116476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24365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3693823" y="711511"/>
            <a:ext cx="917559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spc="50" kern="0" dirty="0">
                <a:solidFill>
                  <a:srgbClr val="24365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2869451" y="987856"/>
            <a:ext cx="1741931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持つ力</a:t>
            </a:r>
            <a:endParaRPr lang="en-US" sz="1100" dirty="0"/>
          </a:p>
          <a:p>
            <a:pPr algn="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世界屈指の資産を育てる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068024" y="5742908"/>
            <a:ext cx="82889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A8894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TRADING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068024" y="5946197"/>
            <a:ext cx="1567448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spc="50" kern="0" dirty="0">
                <a:solidFill>
                  <a:srgbClr val="A8894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8068024" y="6222543"/>
            <a:ext cx="1714852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つなぐ力</a:t>
            </a:r>
            <a:endParaRPr lang="en-US" sz="1100" dirty="0"/>
          </a:p>
          <a:p>
            <a:pPr algn="l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15業界・50カ国へ届ける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2938021" y="5742908"/>
            <a:ext cx="167336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5B93B8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NEW TECHNOLOGY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2827304" y="5946197"/>
            <a:ext cx="1784078" cy="2668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500" b="1" spc="50" kern="0" dirty="0">
                <a:solidFill>
                  <a:srgbClr val="5B93B8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新技術・事業創出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13023188" y="6222543"/>
            <a:ext cx="1588194" cy="4192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進化させる力</a:t>
            </a:r>
            <a:endParaRPr lang="en-US" sz="1100" dirty="0"/>
          </a:p>
          <a:p>
            <a:pPr algn="r" indent="0" marL="0">
              <a:lnSpc>
                <a:spcPts val="165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課題を解く技術に投資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132147" y="7350160"/>
            <a:ext cx="161321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23779" y="7305691"/>
            <a:ext cx="174913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持つ力と、つなぐ力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8423779" y="7524226"/>
            <a:ext cx="512414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資源に投資して育て、市場へ届ける。鉱山会社でも、純粋な商社でもない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134530" y="7934616"/>
            <a:ext cx="155861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423779" y="7890146"/>
            <a:ext cx="174913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互いを強め合う循環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423779" y="8108682"/>
            <a:ext cx="343303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市場の声を投資判断へ、投資で得た資源を市場へ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126589" y="8519071"/>
            <a:ext cx="17355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423779" y="8474602"/>
            <a:ext cx="2503847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新技術が、流れを進化させる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423779" y="8693137"/>
            <a:ext cx="343303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業界の課題を解く技術に投資し、両輪に還元する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129566" y="9103526"/>
            <a:ext cx="166780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423779" y="9059057"/>
            <a:ext cx="1560460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長い時間をかけて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8423779" y="9277592"/>
            <a:ext cx="343303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市況に左右されず関わり続け、先を見る力を培う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138103" y="9687982"/>
            <a:ext cx="148218" cy="215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23779" y="9643512"/>
            <a:ext cx="2126492" cy="24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その結果としての、いま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423779" y="9862048"/>
            <a:ext cx="3304634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原料炭・銅・トレーディング・新技術　→ P.08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08222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06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14458915" y="10316906"/>
            <a:ext cx="27465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8222" y="508222"/>
            <a:ext cx="342321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第2章　独自価値｜その結果としての、いま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8222" y="725995"/>
            <a:ext cx="2918763" cy="9330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72"/>
              </a:lnSpc>
              <a:buNone/>
            </a:pPr>
            <a:r>
              <a:rPr lang="en-US" sz="3600" spc="-9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Where the</a:t>
            </a:r>
            <a:endParaRPr lang="en-US" sz="3600" dirty="0"/>
          </a:p>
          <a:p>
            <a:pPr algn="l" indent="0" marL="0">
              <a:lnSpc>
                <a:spcPts val="3672"/>
              </a:lnSpc>
              <a:buNone/>
            </a:pPr>
            <a:r>
              <a:rPr lang="en-US" sz="3600" spc="-9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forces meet.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8222" y="1899480"/>
            <a:ext cx="2433966" cy="6098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三つの力の重なりから、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5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いまの事業が生まれた。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08222" y="2635131"/>
            <a:ext cx="3824370" cy="8461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原料炭、銅、トレーディング、新技術。別々の事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業に見えて、どれも三つの力が重なり合って育っ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てきたものです。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62333" y="7928263"/>
            <a:ext cx="742858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99255" y="7991791"/>
            <a:ext cx="52317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0829" y="8309429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24365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61989" y="8309429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A8894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62333" y="8635962"/>
            <a:ext cx="1205598" cy="337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2800" spc="-84" kern="0" dirty="0">
                <a:solidFill>
                  <a:srgbClr val="24365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約50%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62333" y="9081847"/>
            <a:ext cx="282638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8894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一級強粘結炭の世界供給シェア（BMA）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2333" y="9341041"/>
            <a:ext cx="2388981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販売から出資、JV経営へ。</a:t>
            </a:r>
            <a:endParaRPr lang="en-US" sz="12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BHPと共に、世界最高品位を。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3415" y="2414054"/>
            <a:ext cx="281646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13759" y="2477582"/>
            <a:ext cx="75967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COPPER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31911" y="2795221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24365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90813" y="2795221"/>
            <a:ext cx="524699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5B93B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新技術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3415" y="3121754"/>
            <a:ext cx="1087674" cy="337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2800" spc="-84" kern="0" dirty="0">
                <a:solidFill>
                  <a:srgbClr val="24365A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Top 15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383415" y="3567639"/>
            <a:ext cx="204394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8894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主要5鉱山すべてが世界Top15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383415" y="3826832"/>
            <a:ext cx="2210349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1988年から一級資産に参画。</a:t>
            </a:r>
            <a:endParaRPr lang="en-US" sz="12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日本最大の銅生産者に。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385663" y="7928263"/>
            <a:ext cx="1665281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935740" y="7991791"/>
            <a:ext cx="39694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RtM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524630" y="8309429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A8894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893653" y="8309429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24365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5663" y="8635962"/>
            <a:ext cx="2320411" cy="337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2800" spc="-84" kern="0" dirty="0">
                <a:solidFill>
                  <a:srgbClr val="24365A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15 × 50 × 1,000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8385663" y="9081847"/>
            <a:ext cx="2043946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8894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業界 × カ国 × 社の顧客基盤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85663" y="9341041"/>
            <a:ext cx="2231313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自社と第三者の資源を届け、</a:t>
            </a:r>
            <a:endParaRPr lang="en-US" sz="12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市場の声を投資へ返す。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752633" y="2414054"/>
            <a:ext cx="742858" cy="30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489555" y="2477582"/>
            <a:ext cx="113397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INCUBATION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1899343" y="2795221"/>
            <a:ext cx="524699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5B93B8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新技術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2701579" y="2795221"/>
            <a:ext cx="36681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24365A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投資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352739" y="2795221"/>
            <a:ext cx="11564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30" kern="0" dirty="0">
                <a:solidFill>
                  <a:srgbClr val="A8894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トレーディング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752633" y="3125248"/>
            <a:ext cx="2624391" cy="229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5"/>
              </a:lnSpc>
              <a:buNone/>
            </a:pPr>
            <a:r>
              <a:rPr lang="en-US" sz="1900" spc="-57" kern="0" dirty="0">
                <a:solidFill>
                  <a:srgbClr val="24365A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CiDRA · Jetti · DESCycle</a:t>
            </a:r>
            <a:endParaRPr lang="en-US" sz="1900" dirty="0"/>
          </a:p>
        </p:txBody>
      </p:sp>
      <p:sp>
        <p:nvSpPr>
          <p:cNvPr id="33" name="Text 31"/>
          <p:cNvSpPr/>
          <p:nvPr/>
        </p:nvSpPr>
        <p:spPr>
          <a:xfrm>
            <a:off x="11752633" y="3430459"/>
            <a:ext cx="2203142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A8894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選鉱・浸出・リサイクルへ出資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1752633" y="3689652"/>
            <a:ext cx="2063600" cy="5031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技術を鉱山の現場へ運び、</a:t>
            </a:r>
            <a:endParaRPr lang="en-US" sz="1200" dirty="0"/>
          </a:p>
          <a:p>
            <a:pPr algn="l" indent="0" marL="0">
              <a:lnSpc>
                <a:spcPts val="198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新しい銅を市場へ届ける。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258607" y="508222"/>
            <a:ext cx="957522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A8894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OVERLAPS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258607" y="750898"/>
            <a:ext cx="2105310" cy="8843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80"/>
              </a:lnSpc>
              <a:buNone/>
            </a:pPr>
            <a:r>
              <a:rPr lang="en-US" sz="2400" b="1" spc="50" kern="0" dirty="0">
                <a:solidFill>
                  <a:srgbClr val="24365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点ではなく、</a:t>
            </a:r>
            <a:endParaRPr lang="en-US" sz="2400" dirty="0"/>
          </a:p>
          <a:p>
            <a:pPr algn="l" indent="0" marL="0">
              <a:lnSpc>
                <a:spcPts val="3480"/>
              </a:lnSpc>
              <a:buNone/>
            </a:pPr>
            <a:r>
              <a:rPr lang="en-US" sz="2400" b="1" spc="50" kern="0" dirty="0">
                <a:solidFill>
                  <a:srgbClr val="24365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重なりから。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8258607" y="1771154"/>
            <a:ext cx="3405306" cy="564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一つの事業で得た知見と信頼が、別の事業を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強くする。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14363" y="2746940"/>
            <a:ext cx="2019269" cy="23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原料炭 × トレーディング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58607" y="3013756"/>
            <a:ext cx="2332640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BMAの原料炭を、RtMが製鉄所へ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14363" y="3433039"/>
            <a:ext cx="987876" cy="23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銅 × 新技術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58607" y="3699856"/>
            <a:ext cx="2510617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低品位鉱の銅回収に、新しい技術を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614363" y="4119139"/>
            <a:ext cx="2019269" cy="236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60"/>
              </a:lnSpc>
              <a:buNone/>
            </a:pPr>
            <a:r>
              <a:rPr lang="en-US" sz="12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新技術 × トレーディング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258607" y="4385956"/>
            <a:ext cx="232434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新しい技術の銅を、RtMが市場へ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11752633" y="6174897"/>
            <a:ext cx="51290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A8894F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NEXT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11752633" y="6420432"/>
            <a:ext cx="2496640" cy="1004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b="1" spc="50" kern="0" dirty="0">
                <a:solidFill>
                  <a:srgbClr val="24365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重なり合う力が、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b="1" spc="50" kern="0" dirty="0">
                <a:solidFill>
                  <a:srgbClr val="24365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パートナーにとっての</a:t>
            </a:r>
            <a:endParaRPr lang="en-US" sz="1700" dirty="0"/>
          </a:p>
          <a:p>
            <a:pPr algn="l" indent="0" marL="0">
              <a:lnSpc>
                <a:spcPts val="2635"/>
              </a:lnSpc>
              <a:buNone/>
            </a:pPr>
            <a:r>
              <a:rPr lang="en-US" sz="1700" b="1" spc="50" kern="0" dirty="0">
                <a:solidFill>
                  <a:srgbClr val="24365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価値になる。</a:t>
            </a:r>
            <a:endParaRPr lang="en-US" sz="1700" dirty="0"/>
          </a:p>
        </p:txBody>
      </p:sp>
      <p:sp>
        <p:nvSpPr>
          <p:cNvPr id="46" name="Text 44"/>
          <p:cNvSpPr/>
          <p:nvPr/>
        </p:nvSpPr>
        <p:spPr>
          <a:xfrm>
            <a:off x="11752633" y="7514062"/>
            <a:ext cx="3195446" cy="564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だから、世界の資源メジャーと長く組</a:t>
            </a:r>
            <a:endParaRPr lang="en-US" sz="1200" dirty="0"/>
          </a:p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み、選ばれ続けている。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1752633" y="8385663"/>
            <a:ext cx="195856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A8894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→ P.10　選ばれ続ける理由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8222" y="10316906"/>
            <a:ext cx="28688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08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4458915" y="10316906"/>
            <a:ext cx="28994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92831" y="3633787"/>
            <a:ext cx="4484960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30000" dirty="0"/>
          </a:p>
        </p:txBody>
      </p:sp>
      <p:sp>
        <p:nvSpPr>
          <p:cNvPr id="3" name="Text 1"/>
          <p:cNvSpPr/>
          <p:nvPr/>
        </p:nvSpPr>
        <p:spPr>
          <a:xfrm>
            <a:off x="11816161" y="2286999"/>
            <a:ext cx="4652673" cy="304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0"/>
              </a:lnSpc>
              <a:buNone/>
            </a:pPr>
            <a:r>
              <a:rPr lang="en-US" sz="30000" spc="-1200" kern="0" dirty="0">
                <a:solidFill>
                  <a:srgbClr val="000000">
                    <a:alpha val="0"/>
                  </a:srgbClr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30000" dirty="0"/>
          </a:p>
        </p:txBody>
      </p:sp>
      <p:sp>
        <p:nvSpPr>
          <p:cNvPr id="4" name="Text 2"/>
          <p:cNvSpPr/>
          <p:nvPr/>
        </p:nvSpPr>
        <p:spPr>
          <a:xfrm>
            <a:off x="127055" y="2947688"/>
            <a:ext cx="1369599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パートナーシップ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737680" y="1804188"/>
            <a:ext cx="1358680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60" kern="0" dirty="0">
                <a:solidFill>
                  <a:srgbClr val="FFFFFF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社会を支える資源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8222" y="3328854"/>
            <a:ext cx="49674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第3章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8222" y="3519437"/>
            <a:ext cx="1325487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選ばれ続ける理由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8222" y="3781934"/>
            <a:ext cx="3845116" cy="440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68"/>
              </a:lnSpc>
              <a:buNone/>
            </a:pPr>
            <a:r>
              <a:rPr lang="en-US" sz="3400" spc="-85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Partner of choice.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08222" y="4503125"/>
            <a:ext cx="4013266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資源業界に不可欠な存在として、選ばれ続ける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8222" y="4799799"/>
            <a:ext cx="355458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65622" y="4811234"/>
            <a:ext cx="127198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Cultural affinity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65622" y="5007217"/>
            <a:ext cx="265321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資源メジャーとの文化的親和性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837076" y="4799799"/>
            <a:ext cx="418350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294476" y="4811234"/>
            <a:ext cx="127962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JV management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294476" y="5007217"/>
            <a:ext cx="287355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資源投資に裏打ちされたJV経営力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8222" y="5358843"/>
            <a:ext cx="412454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65622" y="5370278"/>
            <a:ext cx="14490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Financial strength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5622" y="5566262"/>
            <a:ext cx="265321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健全な財務基盤とリスクシェア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837076" y="5358843"/>
            <a:ext cx="425775" cy="28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sz="2400" spc="-72" kern="0" dirty="0">
                <a:solidFill>
                  <a:srgbClr val="9C7442"/>
                </a:solidFill>
                <a:latin typeface="Manrope Light" pitchFamily="34" charset="0"/>
                <a:ea typeface="Manrope Light" pitchFamily="34" charset="-122"/>
                <a:cs typeface="Manrope Light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294476" y="5370278"/>
            <a:ext cx="102390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3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Deep insight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294476" y="5566262"/>
            <a:ext cx="2839273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マクロとバリューチェーンの知見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8222" y="6030967"/>
            <a:ext cx="945511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JVへの貢献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524666" y="6030967"/>
            <a:ext cx="1962928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経営から現場まで伴走する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0689" y="6314896"/>
            <a:ext cx="42271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現場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7983" y="6717067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・長期目線での戦略策定と案件開発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・幅広い産業接点を生かした知見の提供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・人材派遣による操業支援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989543" y="6314896"/>
            <a:ext cx="422718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経営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76837" y="6717067"/>
            <a:ext cx="3069879" cy="800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・中長期の事業計画・資本政策への参画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・販売戦略・人事計画への関与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・他JVのベストプラクティスの導入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0926" y="7992029"/>
            <a:ext cx="209570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「会社対会社」の関係へ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00862" y="7992029"/>
            <a:ext cx="98045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新たな協業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23327" y="7992029"/>
            <a:ext cx="153796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強み・信頼の蓄積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701053" y="8663557"/>
            <a:ext cx="819508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次の協業へ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8222" y="8996442"/>
            <a:ext cx="6088718" cy="2820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20"/>
              </a:lnSpc>
              <a:buNone/>
            </a:pPr>
            <a:r>
              <a:rPr lang="en-US" sz="1200" dirty="0">
                <a:solidFill>
                  <a:srgbClr val="3D424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新たな協業が生まれ、その積み重ねが、さらなる強み・知見・信頼につながる。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8222" y="9664754"/>
            <a:ext cx="1464156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主なJVパートナー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083710" y="9593603"/>
            <a:ext cx="3798602" cy="193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20"/>
              </a:lnSpc>
              <a:buNone/>
            </a:pPr>
            <a:r>
              <a:rPr lang="en-US" sz="1600" spc="-48" kern="0" dirty="0">
                <a:solidFill>
                  <a:srgbClr val="121519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BHP　　Rio Tinto　　Anglo American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68024" y="2185355"/>
            <a:ext cx="501333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第4章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68024" y="2375938"/>
            <a:ext cx="1166290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何を実現するか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68024" y="2639197"/>
            <a:ext cx="4093410" cy="725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56"/>
              </a:lnSpc>
              <a:buNone/>
            </a:pPr>
            <a:r>
              <a:rPr lang="en-US" sz="2800" spc="-7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Building the future</a:t>
            </a:r>
            <a:endParaRPr lang="en-US" sz="2800" dirty="0"/>
          </a:p>
          <a:p>
            <a:pPr algn="l" indent="0" marL="0">
              <a:lnSpc>
                <a:spcPts val="2856"/>
              </a:lnSpc>
              <a:buNone/>
            </a:pPr>
            <a:r>
              <a:rPr lang="en-US" sz="2800" spc="-70" kern="0" dirty="0">
                <a:solidFill>
                  <a:srgbClr val="121519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of resources, together.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8068024" y="3644706"/>
            <a:ext cx="3069879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社会の「当たり前」を、支え続ける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8068024" y="3978227"/>
            <a:ext cx="1589067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外部環境と社会課題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72623" y="4762477"/>
            <a:ext cx="1166290" cy="4459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クリティカル</a:t>
            </a:r>
            <a:endParaRPr lang="en-US" sz="1300" dirty="0"/>
          </a:p>
          <a:p>
            <a:pPr algn="ctr" indent="0" marL="0">
              <a:lnSpc>
                <a:spcPts val="175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ミネラル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9923034" y="4275854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産業構造の転換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9923034" y="4514401"/>
            <a:ext cx="3415133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脱炭素化とAI・データセンターで電力需要が拡大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9923034" y="4784076"/>
            <a:ext cx="1537967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供給制約の深刻化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923034" y="5022623"/>
            <a:ext cx="3433039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良質な資源の開発に、より時間とコストが必要に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923034" y="5292298"/>
            <a:ext cx="1909862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地政学リスクの常態化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9923034" y="5530845"/>
            <a:ext cx="2818091" cy="2236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60"/>
              </a:lnSpc>
              <a:buNone/>
            </a:pPr>
            <a:r>
              <a:rPr lang="en-US" sz="110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輸出規制など、資源の囲い込みが常態化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711898" y="5939289"/>
            <a:ext cx="5255611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クリティカルミネラルの供給網確保が、これまで以上に重要に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068024" y="6468514"/>
            <a:ext cx="1255388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9C7442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当社の取り組み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9313168" y="6468514"/>
            <a:ext cx="2918763" cy="2032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00" spc="40" kern="0" dirty="0">
                <a:solidFill>
                  <a:srgbClr val="7D838A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資源の安定供給と効率化で社会を支える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017516" y="6752444"/>
            <a:ext cx="794395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資源投資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207785" y="7154614"/>
            <a:ext cx="2399026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・基幹事業で大規模資産を拡大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・成長領域へ早い段階から参画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2588430" y="6752444"/>
            <a:ext cx="1352129" cy="256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15"/>
              </a:lnSpc>
              <a:buNone/>
            </a:pPr>
            <a:r>
              <a:rPr lang="en-US" sz="13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トレーディング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12057567" y="7154614"/>
            <a:ext cx="2566739" cy="533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・引き取りと外部調達で安定供給</a:t>
            </a:r>
            <a:endParaRPr lang="en-US" sz="1200" dirty="0"/>
          </a:p>
          <a:p>
            <a:pPr algn="l" indent="0" marL="0">
              <a:lnSpc>
                <a:spcPts val="2100"/>
              </a:lnSpc>
              <a:buNone/>
            </a:pPr>
            <a:r>
              <a:rPr lang="en-US" sz="120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・国際取引基盤で業界網を構築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11125406" y="7189554"/>
            <a:ext cx="428395" cy="24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50"/>
              </a:lnSpc>
              <a:buNone/>
            </a:pPr>
            <a:r>
              <a:rPr lang="en-US" sz="1300" b="1" spc="50" kern="0" dirty="0">
                <a:solidFill>
                  <a:srgbClr val="9C7442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連携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8389584" y="7905512"/>
            <a:ext cx="5900040" cy="528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「金属＝経済活動を支える礎」。社会に必要な資源を支えることが、</a:t>
            </a:r>
            <a:endParaRPr lang="en-US" sz="1300" dirty="0"/>
          </a:p>
          <a:p>
            <a:pPr algn="ctr" indent="0" marL="0">
              <a:lnSpc>
                <a:spcPts val="2080"/>
              </a:lnSpc>
              <a:buNone/>
            </a:pPr>
            <a:r>
              <a:rPr lang="en-US" sz="1300" b="1" spc="50" kern="0" dirty="0">
                <a:solidFill>
                  <a:srgbClr val="121519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私たちの責務です。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322135" y="9097173"/>
            <a:ext cx="453147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20" kern="0" dirty="0">
                <a:solidFill>
                  <a:srgbClr val="E9D6AC"/>
                </a:solidFill>
                <a:latin typeface="Zen Kaku Gothic New Medium" pitchFamily="34" charset="0"/>
                <a:ea typeface="Zen Kaku Gothic New Medium" pitchFamily="34" charset="-122"/>
                <a:cs typeface="Zen Kaku Gothic New Medium" pitchFamily="34" charset="-120"/>
              </a:rPr>
              <a:t>グループミッション｜共に、持続可能で豊かな未来を築く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8322135" y="9374154"/>
            <a:ext cx="6446419" cy="569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社会が必要とする良質な金属資源を、持続可能な形で安定供給すること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b="1" spc="30" kern="0" dirty="0">
                <a:solidFill>
                  <a:srgbClr val="FFFFFF"/>
                </a:solidFill>
                <a:latin typeface="Zen Kaku Gothic New" pitchFamily="34" charset="0"/>
                <a:ea typeface="Zen Kaku Gothic New" pitchFamily="34" charset="-122"/>
                <a:cs typeface="Zen Kaku Gothic New" pitchFamily="34" charset="-120"/>
              </a:rPr>
              <a:t>で、より良い社会の実現に寄与する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508222" y="10316906"/>
            <a:ext cx="259154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10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14458915" y="10316906"/>
            <a:ext cx="225305" cy="19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100" spc="160" kern="0" dirty="0">
                <a:solidFill>
                  <a:srgbClr val="7D838A"/>
                </a:solidFill>
                <a:latin typeface="Manrope SemiBold" pitchFamily="34" charset="0"/>
                <a:ea typeface="Manrope SemiBold" pitchFamily="34" charset="-122"/>
                <a:cs typeface="Manrope SemiBold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2026-10-15T11:50:51Z</dcterms:created>
  <dcterms:modified xsi:type="dcterms:W3CDTF">2026-10-15T11:50:51Z</dcterms:modified>
</cp:coreProperties>
</file>