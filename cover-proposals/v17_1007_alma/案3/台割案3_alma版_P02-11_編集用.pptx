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5119604" cy="10692079"/>
  <p:notesSz cx="10692079" cy="15119604"/>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127055" y="2922276"/>
            <a:ext cx="252165"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FFFFFF"/>
                </a:solidFill>
                <a:latin typeface="Noto Sans JP Medium" pitchFamily="34" charset="0"/>
                <a:ea typeface="Noto Sans JP Medium" pitchFamily="34" charset="-122"/>
                <a:cs typeface="Noto Sans JP Medium" pitchFamily="34" charset="-120"/>
              </a:rPr>
              <a:t>都市</a:t>
            </a:r>
            <a:endParaRPr lang="en-US" sz="580" dirty="0"/>
          </a:p>
        </p:txBody>
      </p:sp>
      <p:sp>
        <p:nvSpPr>
          <p:cNvPr id="3" name="Text 1"/>
          <p:cNvSpPr/>
          <p:nvPr/>
        </p:nvSpPr>
        <p:spPr>
          <a:xfrm>
            <a:off x="127055" y="3036626"/>
            <a:ext cx="702021" cy="88939"/>
          </a:xfrm>
          <a:prstGeom prst="rect">
            <a:avLst/>
          </a:prstGeom>
          <a:noFill/>
          <a:ln/>
        </p:spPr>
        <p:txBody>
          <a:bodyPr wrap="none" lIns="0" tIns="0" rIns="0" bIns="0" rtlCol="0" anchor="t"/>
          <a:lstStyle/>
          <a:p>
            <a:pPr algn="l" indent="0" marL="0">
              <a:lnSpc>
                <a:spcPts val="700"/>
              </a:lnSpc>
              <a:buNone/>
            </a:pPr>
            <a:r>
              <a:rPr lang="en-US" sz="580" spc="80" kern="0" dirty="0">
                <a:solidFill>
                  <a:srgbClr val="FFFFFF"/>
                </a:solidFill>
                <a:latin typeface="Noto Sans JP" pitchFamily="34" charset="0"/>
                <a:ea typeface="Noto Sans JP" pitchFamily="34" charset="-122"/>
                <a:cs typeface="Noto Sans JP" pitchFamily="34" charset="-120"/>
              </a:rPr>
              <a:t>鉄・銅・アルミ</a:t>
            </a:r>
            <a:endParaRPr lang="en-US" sz="580" dirty="0"/>
          </a:p>
        </p:txBody>
      </p:sp>
      <p:sp>
        <p:nvSpPr>
          <p:cNvPr id="4" name="Text 2"/>
          <p:cNvSpPr/>
          <p:nvPr/>
        </p:nvSpPr>
        <p:spPr>
          <a:xfrm>
            <a:off x="4370709" y="1308672"/>
            <a:ext cx="563352"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FFFFFF"/>
                </a:solidFill>
                <a:latin typeface="Noto Sans JP Medium" pitchFamily="34" charset="0"/>
                <a:ea typeface="Noto Sans JP Medium" pitchFamily="34" charset="-122"/>
                <a:cs typeface="Noto Sans JP Medium" pitchFamily="34" charset="-120"/>
              </a:rPr>
              <a:t>モビリティ</a:t>
            </a:r>
            <a:endParaRPr lang="en-US" sz="580" dirty="0"/>
          </a:p>
        </p:txBody>
      </p:sp>
      <p:sp>
        <p:nvSpPr>
          <p:cNvPr id="5" name="Text 3"/>
          <p:cNvSpPr/>
          <p:nvPr/>
        </p:nvSpPr>
        <p:spPr>
          <a:xfrm>
            <a:off x="4370709" y="1423022"/>
            <a:ext cx="796142" cy="88939"/>
          </a:xfrm>
          <a:prstGeom prst="rect">
            <a:avLst/>
          </a:prstGeom>
          <a:noFill/>
          <a:ln/>
        </p:spPr>
        <p:txBody>
          <a:bodyPr wrap="none" lIns="0" tIns="0" rIns="0" bIns="0" rtlCol="0" anchor="t"/>
          <a:lstStyle/>
          <a:p>
            <a:pPr algn="l" indent="0" marL="0">
              <a:lnSpc>
                <a:spcPts val="700"/>
              </a:lnSpc>
              <a:buNone/>
            </a:pPr>
            <a:r>
              <a:rPr lang="en-US" sz="580" spc="80" kern="0" dirty="0">
                <a:solidFill>
                  <a:srgbClr val="FFFFFF"/>
                </a:solidFill>
                <a:latin typeface="Noto Sans JP" pitchFamily="34" charset="0"/>
                <a:ea typeface="Noto Sans JP" pitchFamily="34" charset="-122"/>
                <a:cs typeface="Noto Sans JP" pitchFamily="34" charset="-120"/>
              </a:rPr>
              <a:t>鉄・銅・リチウム</a:t>
            </a:r>
            <a:endParaRPr lang="en-US" sz="580" dirty="0"/>
          </a:p>
        </p:txBody>
      </p:sp>
      <p:sp>
        <p:nvSpPr>
          <p:cNvPr id="6" name="Text 4"/>
          <p:cNvSpPr/>
          <p:nvPr/>
        </p:nvSpPr>
        <p:spPr>
          <a:xfrm>
            <a:off x="5362258" y="2322328"/>
            <a:ext cx="1078939" cy="136203"/>
          </a:xfrm>
          <a:prstGeom prst="rect">
            <a:avLst/>
          </a:prstGeom>
          <a:noFill/>
          <a:ln/>
        </p:spPr>
        <p:txBody>
          <a:bodyPr wrap="none" lIns="0" tIns="0" rIns="0" bIns="0" rtlCol="0" anchor="t"/>
          <a:lstStyle/>
          <a:p>
            <a:pPr algn="ctr" indent="0" marL="0">
              <a:lnSpc>
                <a:spcPts val="1072"/>
              </a:lnSpc>
              <a:buNone/>
            </a:pPr>
            <a:r>
              <a:rPr lang="en-US" sz="670" dirty="0">
                <a:solidFill>
                  <a:srgbClr val="8A96A3"/>
                </a:solidFill>
                <a:latin typeface="Noto Sans JP" pitchFamily="34" charset="0"/>
                <a:ea typeface="Noto Sans JP" pitchFamily="34" charset="-122"/>
                <a:cs typeface="Noto Sans JP" pitchFamily="34" charset="-120"/>
              </a:rPr>
              <a:t>鉄道の写真（ストック）</a:t>
            </a:r>
            <a:endParaRPr lang="en-US" sz="670" dirty="0"/>
          </a:p>
        </p:txBody>
      </p:sp>
      <p:sp>
        <p:nvSpPr>
          <p:cNvPr id="7" name="Text 5"/>
          <p:cNvSpPr/>
          <p:nvPr/>
        </p:nvSpPr>
        <p:spPr>
          <a:xfrm>
            <a:off x="4370709" y="2922276"/>
            <a:ext cx="252165"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5A6570"/>
                </a:solidFill>
                <a:latin typeface="Noto Sans JP Medium" pitchFamily="34" charset="0"/>
                <a:ea typeface="Noto Sans JP Medium" pitchFamily="34" charset="-122"/>
                <a:cs typeface="Noto Sans JP Medium" pitchFamily="34" charset="-120"/>
              </a:rPr>
              <a:t>鉄道</a:t>
            </a:r>
            <a:endParaRPr lang="en-US" sz="580" dirty="0"/>
          </a:p>
        </p:txBody>
      </p:sp>
      <p:sp>
        <p:nvSpPr>
          <p:cNvPr id="8" name="Text 6"/>
          <p:cNvSpPr/>
          <p:nvPr/>
        </p:nvSpPr>
        <p:spPr>
          <a:xfrm>
            <a:off x="4370709" y="3036626"/>
            <a:ext cx="327505" cy="88939"/>
          </a:xfrm>
          <a:prstGeom prst="rect">
            <a:avLst/>
          </a:prstGeom>
          <a:noFill/>
          <a:ln/>
        </p:spPr>
        <p:txBody>
          <a:bodyPr wrap="none" lIns="0" tIns="0" rIns="0" bIns="0" rtlCol="0" anchor="t"/>
          <a:lstStyle/>
          <a:p>
            <a:pPr algn="l" indent="0" marL="0">
              <a:lnSpc>
                <a:spcPts val="700"/>
              </a:lnSpc>
              <a:buNone/>
            </a:pPr>
            <a:r>
              <a:rPr lang="en-US" sz="580" spc="80" kern="0" dirty="0">
                <a:solidFill>
                  <a:srgbClr val="5A6570"/>
                </a:solidFill>
                <a:latin typeface="Noto Sans JP" pitchFamily="34" charset="0"/>
                <a:ea typeface="Noto Sans JP" pitchFamily="34" charset="-122"/>
                <a:cs typeface="Noto Sans JP" pitchFamily="34" charset="-120"/>
              </a:rPr>
              <a:t>鉄・銅</a:t>
            </a:r>
            <a:endParaRPr lang="en-US" sz="580" dirty="0"/>
          </a:p>
        </p:txBody>
      </p:sp>
      <p:sp>
        <p:nvSpPr>
          <p:cNvPr id="9" name="Text 7"/>
          <p:cNvSpPr/>
          <p:nvPr/>
        </p:nvSpPr>
        <p:spPr>
          <a:xfrm>
            <a:off x="127055" y="4828109"/>
            <a:ext cx="963855"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FFFFFF"/>
                </a:solidFill>
                <a:latin typeface="Noto Sans JP Medium" pitchFamily="34" charset="0"/>
                <a:ea typeface="Noto Sans JP Medium" pitchFamily="34" charset="-122"/>
                <a:cs typeface="Noto Sans JP Medium" pitchFamily="34" charset="-120"/>
              </a:rPr>
              <a:t>再生可能エネルギー</a:t>
            </a:r>
            <a:endParaRPr lang="en-US" sz="580" dirty="0"/>
          </a:p>
        </p:txBody>
      </p:sp>
      <p:sp>
        <p:nvSpPr>
          <p:cNvPr id="10" name="Text 8"/>
          <p:cNvSpPr/>
          <p:nvPr/>
        </p:nvSpPr>
        <p:spPr>
          <a:xfrm>
            <a:off x="127055" y="4942459"/>
            <a:ext cx="327505" cy="88939"/>
          </a:xfrm>
          <a:prstGeom prst="rect">
            <a:avLst/>
          </a:prstGeom>
          <a:noFill/>
          <a:ln/>
        </p:spPr>
        <p:txBody>
          <a:bodyPr wrap="none" lIns="0" tIns="0" rIns="0" bIns="0" rtlCol="0" anchor="t"/>
          <a:lstStyle/>
          <a:p>
            <a:pPr algn="l" indent="0" marL="0">
              <a:lnSpc>
                <a:spcPts val="700"/>
              </a:lnSpc>
              <a:buNone/>
            </a:pPr>
            <a:r>
              <a:rPr lang="en-US" sz="580" spc="80" kern="0" dirty="0">
                <a:solidFill>
                  <a:srgbClr val="FFFFFF"/>
                </a:solidFill>
                <a:latin typeface="Noto Sans JP" pitchFamily="34" charset="0"/>
                <a:ea typeface="Noto Sans JP" pitchFamily="34" charset="-122"/>
                <a:cs typeface="Noto Sans JP" pitchFamily="34" charset="-120"/>
              </a:rPr>
              <a:t>銅・鉄</a:t>
            </a:r>
            <a:endParaRPr lang="en-US" sz="580" dirty="0"/>
          </a:p>
        </p:txBody>
      </p:sp>
      <p:sp>
        <p:nvSpPr>
          <p:cNvPr id="11" name="Text 9"/>
          <p:cNvSpPr/>
          <p:nvPr/>
        </p:nvSpPr>
        <p:spPr>
          <a:xfrm>
            <a:off x="2248882" y="4828109"/>
            <a:ext cx="352619"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FFFFFF"/>
                </a:solidFill>
                <a:latin typeface="Noto Sans JP Medium" pitchFamily="34" charset="0"/>
                <a:ea typeface="Noto Sans JP Medium" pitchFamily="34" charset="-122"/>
                <a:cs typeface="Noto Sans JP Medium" pitchFamily="34" charset="-120"/>
              </a:rPr>
              <a:t>送電網</a:t>
            </a:r>
            <a:endParaRPr lang="en-US" sz="580" dirty="0"/>
          </a:p>
        </p:txBody>
      </p:sp>
      <p:sp>
        <p:nvSpPr>
          <p:cNvPr id="12" name="Text 10"/>
          <p:cNvSpPr/>
          <p:nvPr/>
        </p:nvSpPr>
        <p:spPr>
          <a:xfrm>
            <a:off x="2248882" y="4942459"/>
            <a:ext cx="517711" cy="88939"/>
          </a:xfrm>
          <a:prstGeom prst="rect">
            <a:avLst/>
          </a:prstGeom>
          <a:noFill/>
          <a:ln/>
        </p:spPr>
        <p:txBody>
          <a:bodyPr wrap="none" lIns="0" tIns="0" rIns="0" bIns="0" rtlCol="0" anchor="t"/>
          <a:lstStyle/>
          <a:p>
            <a:pPr algn="l" indent="0" marL="0">
              <a:lnSpc>
                <a:spcPts val="700"/>
              </a:lnSpc>
              <a:buNone/>
            </a:pPr>
            <a:r>
              <a:rPr lang="en-US" sz="580" spc="80" kern="0" dirty="0">
                <a:solidFill>
                  <a:srgbClr val="FFFFFF"/>
                </a:solidFill>
                <a:latin typeface="Noto Sans JP" pitchFamily="34" charset="0"/>
                <a:ea typeface="Noto Sans JP" pitchFamily="34" charset="-122"/>
                <a:cs typeface="Noto Sans JP" pitchFamily="34" charset="-120"/>
              </a:rPr>
              <a:t>銅・アルミ</a:t>
            </a:r>
            <a:endParaRPr lang="en-US" sz="580" dirty="0"/>
          </a:p>
        </p:txBody>
      </p:sp>
      <p:sp>
        <p:nvSpPr>
          <p:cNvPr id="13" name="Text 11"/>
          <p:cNvSpPr/>
          <p:nvPr/>
        </p:nvSpPr>
        <p:spPr>
          <a:xfrm>
            <a:off x="4756054" y="4082047"/>
            <a:ext cx="2291148" cy="136203"/>
          </a:xfrm>
          <a:prstGeom prst="rect">
            <a:avLst/>
          </a:prstGeom>
          <a:noFill/>
          <a:ln/>
        </p:spPr>
        <p:txBody>
          <a:bodyPr wrap="none" lIns="0" tIns="0" rIns="0" bIns="0" rtlCol="0" anchor="t"/>
          <a:lstStyle/>
          <a:p>
            <a:pPr algn="ctr" indent="0" marL="0">
              <a:lnSpc>
                <a:spcPts val="1072"/>
              </a:lnSpc>
              <a:buNone/>
            </a:pPr>
            <a:r>
              <a:rPr lang="en-US" sz="670" dirty="0">
                <a:solidFill>
                  <a:srgbClr val="8A96A3"/>
                </a:solidFill>
                <a:latin typeface="Noto Sans JP" pitchFamily="34" charset="0"/>
                <a:ea typeface="Noto Sans JP" pitchFamily="34" charset="-122"/>
                <a:cs typeface="Noto Sans JP" pitchFamily="34" charset="-120"/>
              </a:rPr>
              <a:t>スマートフォン・データセンターの写真（ストック）</a:t>
            </a:r>
            <a:endParaRPr lang="en-US" sz="670" dirty="0"/>
          </a:p>
        </p:txBody>
      </p:sp>
      <p:sp>
        <p:nvSpPr>
          <p:cNvPr id="14" name="Text 12"/>
          <p:cNvSpPr/>
          <p:nvPr/>
        </p:nvSpPr>
        <p:spPr>
          <a:xfrm>
            <a:off x="4370709" y="4828109"/>
            <a:ext cx="460934"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5A6570"/>
                </a:solidFill>
                <a:latin typeface="Noto Sans JP Medium" pitchFamily="34" charset="0"/>
                <a:ea typeface="Noto Sans JP Medium" pitchFamily="34" charset="-122"/>
                <a:cs typeface="Noto Sans JP Medium" pitchFamily="34" charset="-120"/>
              </a:rPr>
              <a:t>デバイス</a:t>
            </a:r>
            <a:endParaRPr lang="en-US" sz="580" dirty="0"/>
          </a:p>
        </p:txBody>
      </p:sp>
      <p:sp>
        <p:nvSpPr>
          <p:cNvPr id="15" name="Text 13"/>
          <p:cNvSpPr/>
          <p:nvPr/>
        </p:nvSpPr>
        <p:spPr>
          <a:xfrm>
            <a:off x="4370709" y="4942459"/>
            <a:ext cx="1080250" cy="88939"/>
          </a:xfrm>
          <a:prstGeom prst="rect">
            <a:avLst/>
          </a:prstGeom>
          <a:noFill/>
          <a:ln/>
        </p:spPr>
        <p:txBody>
          <a:bodyPr wrap="none" lIns="0" tIns="0" rIns="0" bIns="0" rtlCol="0" anchor="t"/>
          <a:lstStyle/>
          <a:p>
            <a:pPr algn="l" indent="0" marL="0">
              <a:lnSpc>
                <a:spcPts val="700"/>
              </a:lnSpc>
              <a:buNone/>
            </a:pPr>
            <a:r>
              <a:rPr lang="en-US" sz="580" spc="80" kern="0" dirty="0">
                <a:solidFill>
                  <a:srgbClr val="5A6570"/>
                </a:solidFill>
                <a:latin typeface="Noto Sans JP" pitchFamily="34" charset="0"/>
                <a:ea typeface="Noto Sans JP" pitchFamily="34" charset="-122"/>
                <a:cs typeface="Noto Sans JP" pitchFamily="34" charset="-120"/>
              </a:rPr>
              <a:t>銅・リチウム・ニッケル</a:t>
            </a:r>
            <a:endParaRPr lang="en-US" sz="580" dirty="0"/>
          </a:p>
        </p:txBody>
      </p:sp>
      <p:sp>
        <p:nvSpPr>
          <p:cNvPr id="16" name="Text 14"/>
          <p:cNvSpPr/>
          <p:nvPr/>
        </p:nvSpPr>
        <p:spPr>
          <a:xfrm>
            <a:off x="7737680" y="3100154"/>
            <a:ext cx="453290"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FFFFFF"/>
                </a:solidFill>
                <a:latin typeface="Noto Sans JP Medium" pitchFamily="34" charset="0"/>
                <a:ea typeface="Noto Sans JP Medium" pitchFamily="34" charset="-122"/>
                <a:cs typeface="Noto Sans JP Medium" pitchFamily="34" charset="-120"/>
              </a:rPr>
              <a:t>金属素材</a:t>
            </a:r>
            <a:endParaRPr lang="en-US" sz="580" dirty="0"/>
          </a:p>
        </p:txBody>
      </p:sp>
      <p:sp>
        <p:nvSpPr>
          <p:cNvPr id="17" name="Text 15"/>
          <p:cNvSpPr/>
          <p:nvPr/>
        </p:nvSpPr>
        <p:spPr>
          <a:xfrm>
            <a:off x="7737680" y="3214504"/>
            <a:ext cx="1451053" cy="88939"/>
          </a:xfrm>
          <a:prstGeom prst="rect">
            <a:avLst/>
          </a:prstGeom>
          <a:noFill/>
          <a:ln/>
        </p:spPr>
        <p:txBody>
          <a:bodyPr wrap="none" lIns="0" tIns="0" rIns="0" bIns="0" rtlCol="0" anchor="t"/>
          <a:lstStyle/>
          <a:p>
            <a:pPr algn="l" indent="0" marL="0">
              <a:lnSpc>
                <a:spcPts val="700"/>
              </a:lnSpc>
              <a:buNone/>
            </a:pPr>
            <a:r>
              <a:rPr lang="en-US" sz="580" spc="80" kern="0" dirty="0">
                <a:solidFill>
                  <a:srgbClr val="FFFFFF"/>
                </a:solidFill>
                <a:latin typeface="Noto Sans JP" pitchFamily="34" charset="0"/>
                <a:ea typeface="Noto Sans JP" pitchFamily="34" charset="-122"/>
                <a:cs typeface="Noto Sans JP" pitchFamily="34" charset="-120"/>
              </a:rPr>
              <a:t>暮らしを形づくる鉄・銅・アルミ</a:t>
            </a:r>
            <a:endParaRPr lang="en-US" sz="580" dirty="0"/>
          </a:p>
        </p:txBody>
      </p:sp>
      <p:sp>
        <p:nvSpPr>
          <p:cNvPr id="18" name="Text 16"/>
          <p:cNvSpPr/>
          <p:nvPr/>
        </p:nvSpPr>
        <p:spPr>
          <a:xfrm>
            <a:off x="11981333" y="3100154"/>
            <a:ext cx="553744"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FFFFFF"/>
                </a:solidFill>
                <a:latin typeface="Noto Sans JP Medium" pitchFamily="34" charset="0"/>
                <a:ea typeface="Noto Sans JP Medium" pitchFamily="34" charset="-122"/>
                <a:cs typeface="Noto Sans JP Medium" pitchFamily="34" charset="-120"/>
              </a:rPr>
              <a:t>製錬・精製</a:t>
            </a:r>
            <a:endParaRPr lang="en-US" sz="580" dirty="0"/>
          </a:p>
        </p:txBody>
      </p:sp>
      <p:sp>
        <p:nvSpPr>
          <p:cNvPr id="19" name="Text 17"/>
          <p:cNvSpPr/>
          <p:nvPr/>
        </p:nvSpPr>
        <p:spPr>
          <a:xfrm>
            <a:off x="7737680" y="4828109"/>
            <a:ext cx="453290"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FFFFFF"/>
                </a:solidFill>
                <a:latin typeface="Noto Sans JP Medium" pitchFamily="34" charset="0"/>
                <a:ea typeface="Noto Sans JP Medium" pitchFamily="34" charset="-122"/>
                <a:cs typeface="Noto Sans JP Medium" pitchFamily="34" charset="-120"/>
              </a:rPr>
              <a:t>海上輸送</a:t>
            </a:r>
            <a:endParaRPr lang="en-US" sz="580" dirty="0"/>
          </a:p>
        </p:txBody>
      </p:sp>
      <p:sp>
        <p:nvSpPr>
          <p:cNvPr id="20" name="Text 18"/>
          <p:cNvSpPr/>
          <p:nvPr/>
        </p:nvSpPr>
        <p:spPr>
          <a:xfrm>
            <a:off x="11053828" y="4828109"/>
            <a:ext cx="352619"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FFFFFF"/>
                </a:solidFill>
                <a:latin typeface="Noto Sans JP Medium" pitchFamily="34" charset="0"/>
                <a:ea typeface="Noto Sans JP Medium" pitchFamily="34" charset="-122"/>
                <a:cs typeface="Noto Sans JP Medium" pitchFamily="34" charset="-120"/>
              </a:rPr>
              <a:t>銅地金</a:t>
            </a:r>
            <a:endParaRPr lang="en-US" sz="580" dirty="0"/>
          </a:p>
        </p:txBody>
      </p:sp>
      <p:sp>
        <p:nvSpPr>
          <p:cNvPr id="21" name="Text 19"/>
          <p:cNvSpPr/>
          <p:nvPr/>
        </p:nvSpPr>
        <p:spPr>
          <a:xfrm>
            <a:off x="508222" y="5565031"/>
            <a:ext cx="288416"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Noto Sans JP Medium" pitchFamily="34" charset="0"/>
                <a:ea typeface="Noto Sans JP Medium" pitchFamily="34" charset="-122"/>
                <a:cs typeface="Noto Sans JP Medium" pitchFamily="34" charset="-120"/>
              </a:rPr>
              <a:t>導入</a:t>
            </a:r>
            <a:endParaRPr lang="en-US" sz="660" dirty="0"/>
          </a:p>
        </p:txBody>
      </p:sp>
      <p:sp>
        <p:nvSpPr>
          <p:cNvPr id="22" name="Text 20"/>
          <p:cNvSpPr/>
          <p:nvPr/>
        </p:nvSpPr>
        <p:spPr>
          <a:xfrm>
            <a:off x="508222" y="5704792"/>
            <a:ext cx="553525"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社会と金属</a:t>
            </a:r>
            <a:endParaRPr lang="en-US" sz="660" dirty="0"/>
          </a:p>
        </p:txBody>
      </p:sp>
      <p:sp>
        <p:nvSpPr>
          <p:cNvPr id="23" name="Text 21"/>
          <p:cNvSpPr/>
          <p:nvPr/>
        </p:nvSpPr>
        <p:spPr>
          <a:xfrm>
            <a:off x="508222" y="5965256"/>
            <a:ext cx="4744173" cy="1295966"/>
          </a:xfrm>
          <a:prstGeom prst="rect">
            <a:avLst/>
          </a:prstGeom>
          <a:noFill/>
          <a:ln/>
        </p:spPr>
        <p:txBody>
          <a:bodyPr wrap="none" lIns="0" tIns="0" rIns="0" bIns="0" rtlCol="0" anchor="t"/>
          <a:lstStyle/>
          <a:p>
            <a:pPr algn="l" indent="0" marL="0">
              <a:lnSpc>
                <a:spcPts val="5100"/>
              </a:lnSpc>
              <a:buNone/>
            </a:pPr>
            <a:r>
              <a:rPr lang="en-US" sz="5000" spc="-125" kern="0" dirty="0">
                <a:solidFill>
                  <a:srgbClr val="121519"/>
                </a:solidFill>
                <a:latin typeface="Inter Tight SemiBold" pitchFamily="34" charset="0"/>
                <a:ea typeface="Inter Tight SemiBold" pitchFamily="34" charset="-122"/>
                <a:cs typeface="Inter Tight SemiBold" pitchFamily="34" charset="-120"/>
              </a:rPr>
              <a:t>Metals shape</a:t>
            </a:r>
            <a:endParaRPr lang="en-US" sz="5000" dirty="0"/>
          </a:p>
          <a:p>
            <a:pPr algn="l" indent="0" marL="0">
              <a:lnSpc>
                <a:spcPts val="5100"/>
              </a:lnSpc>
              <a:buNone/>
            </a:pPr>
            <a:r>
              <a:rPr lang="en-US" sz="5000" spc="-125" kern="0" dirty="0">
                <a:solidFill>
                  <a:srgbClr val="121519"/>
                </a:solidFill>
                <a:latin typeface="Inter Tight SemiBold" pitchFamily="34" charset="0"/>
                <a:ea typeface="Inter Tight SemiBold" pitchFamily="34" charset="-122"/>
                <a:cs typeface="Inter Tight SemiBold" pitchFamily="34" charset="-120"/>
              </a:rPr>
              <a:t>the way we live.</a:t>
            </a:r>
            <a:endParaRPr lang="en-US" sz="5000" dirty="0"/>
          </a:p>
        </p:txBody>
      </p:sp>
      <p:sp>
        <p:nvSpPr>
          <p:cNvPr id="24" name="Text 22"/>
          <p:cNvSpPr/>
          <p:nvPr/>
        </p:nvSpPr>
        <p:spPr>
          <a:xfrm>
            <a:off x="508222" y="7512156"/>
            <a:ext cx="3271004" cy="285875"/>
          </a:xfrm>
          <a:prstGeom prst="rect">
            <a:avLst/>
          </a:prstGeom>
          <a:noFill/>
          <a:ln/>
        </p:spPr>
        <p:txBody>
          <a:bodyPr wrap="none" lIns="0" tIns="0" rIns="0" bIns="0" rtlCol="0" anchor="t"/>
          <a:lstStyle/>
          <a:p>
            <a:pPr algn="l" indent="0" marL="0">
              <a:lnSpc>
                <a:spcPts val="2250"/>
              </a:lnSpc>
              <a:buNone/>
            </a:pPr>
            <a:r>
              <a:rPr lang="en-US" sz="1500" spc="50" kern="0" dirty="0">
                <a:solidFill>
                  <a:srgbClr val="121519"/>
                </a:solidFill>
                <a:latin typeface="Noto Sans JP Medium" pitchFamily="34" charset="0"/>
                <a:ea typeface="Noto Sans JP Medium" pitchFamily="34" charset="-122"/>
                <a:cs typeface="Noto Sans JP Medium" pitchFamily="34" charset="-120"/>
              </a:rPr>
              <a:t>暮らしのすべてに、金属がある。</a:t>
            </a:r>
            <a:endParaRPr lang="en-US" sz="1500" dirty="0"/>
          </a:p>
        </p:txBody>
      </p:sp>
      <p:sp>
        <p:nvSpPr>
          <p:cNvPr id="25" name="Text 23"/>
          <p:cNvSpPr/>
          <p:nvPr/>
        </p:nvSpPr>
        <p:spPr>
          <a:xfrm>
            <a:off x="508222" y="7869532"/>
            <a:ext cx="3544848" cy="904953"/>
          </a:xfrm>
          <a:prstGeom prst="rect">
            <a:avLst/>
          </a:prstGeom>
          <a:noFill/>
          <a:ln/>
        </p:spPr>
        <p:txBody>
          <a:bodyPr wrap="none" lIns="0" tIns="0" rIns="0" bIns="0" rtlCol="0" anchor="t"/>
          <a:lstStyle/>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ビル、鉄道、自動車、スマートフォン、送電網、再生可能エネルギー</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——私たちの豊かな暮らしは、鉄や銅をはじめとする金属に支えられて</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います。人口の増加と新興国の発展、そして社会の電化によって、金</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属の需要はこれからも拡大を続けます。一方で、良質な資源の開発は</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年々難しくなり、地政学的なリスクも常態化しつつあります。</a:t>
            </a:r>
            <a:endParaRPr lang="en-US" sz="770" dirty="0"/>
          </a:p>
        </p:txBody>
      </p:sp>
      <p:sp>
        <p:nvSpPr>
          <p:cNvPr id="26" name="Text 24"/>
          <p:cNvSpPr/>
          <p:nvPr/>
        </p:nvSpPr>
        <p:spPr>
          <a:xfrm>
            <a:off x="4319887" y="7877441"/>
            <a:ext cx="646554"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3D4249"/>
                </a:solidFill>
                <a:latin typeface="Noto Sans JP Medium" pitchFamily="34" charset="0"/>
                <a:ea typeface="Noto Sans JP Medium" pitchFamily="34" charset="-122"/>
                <a:cs typeface="Noto Sans JP Medium" pitchFamily="34" charset="-120"/>
              </a:rPr>
              <a:t>需要と供給</a:t>
            </a:r>
            <a:endParaRPr lang="en-US" sz="660" dirty="0"/>
          </a:p>
        </p:txBody>
      </p:sp>
      <p:sp>
        <p:nvSpPr>
          <p:cNvPr id="27" name="Text 25"/>
          <p:cNvSpPr/>
          <p:nvPr/>
        </p:nvSpPr>
        <p:spPr>
          <a:xfrm>
            <a:off x="6162192" y="8156963"/>
            <a:ext cx="237971"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121519"/>
                </a:solidFill>
                <a:latin typeface="Noto Sans JP Medium" pitchFamily="34" charset="0"/>
                <a:ea typeface="Noto Sans JP Medium" pitchFamily="34" charset="-122"/>
                <a:cs typeface="Noto Sans JP Medium" pitchFamily="34" charset="-120"/>
              </a:rPr>
              <a:t>需要</a:t>
            </a:r>
            <a:endParaRPr lang="en-US" sz="640" dirty="0"/>
          </a:p>
        </p:txBody>
      </p:sp>
      <p:sp>
        <p:nvSpPr>
          <p:cNvPr id="28" name="Text 26"/>
          <p:cNvSpPr/>
          <p:nvPr/>
        </p:nvSpPr>
        <p:spPr>
          <a:xfrm>
            <a:off x="6162192" y="8265214"/>
            <a:ext cx="520114" cy="113842"/>
          </a:xfrm>
          <a:prstGeom prst="rect">
            <a:avLst/>
          </a:prstGeom>
          <a:noFill/>
          <a:ln/>
        </p:spPr>
        <p:txBody>
          <a:bodyPr wrap="none" lIns="0" tIns="0" rIns="0" bIns="0" rtlCol="0" anchor="t"/>
          <a:lstStyle/>
          <a:p>
            <a:pPr algn="l" indent="0" marL="0">
              <a:lnSpc>
                <a:spcPts val="896"/>
              </a:lnSpc>
              <a:buNone/>
            </a:pPr>
            <a:r>
              <a:rPr lang="en-US" sz="560" dirty="0">
                <a:solidFill>
                  <a:srgbClr val="7D838A"/>
                </a:solidFill>
                <a:latin typeface="Noto Sans JP" pitchFamily="34" charset="0"/>
                <a:ea typeface="Noto Sans JP" pitchFamily="34" charset="-122"/>
                <a:cs typeface="Noto Sans JP" pitchFamily="34" charset="-120"/>
              </a:rPr>
              <a:t>人口増・電化</a:t>
            </a:r>
            <a:endParaRPr lang="en-US" sz="560" dirty="0"/>
          </a:p>
        </p:txBody>
      </p:sp>
      <p:sp>
        <p:nvSpPr>
          <p:cNvPr id="29" name="Text 27"/>
          <p:cNvSpPr/>
          <p:nvPr/>
        </p:nvSpPr>
        <p:spPr>
          <a:xfrm>
            <a:off x="6263836" y="8817651"/>
            <a:ext cx="237971"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7D838A"/>
                </a:solidFill>
                <a:latin typeface="Noto Sans JP Medium" pitchFamily="34" charset="0"/>
                <a:ea typeface="Noto Sans JP Medium" pitchFamily="34" charset="-122"/>
                <a:cs typeface="Noto Sans JP Medium" pitchFamily="34" charset="-120"/>
              </a:rPr>
              <a:t>供給</a:t>
            </a:r>
            <a:endParaRPr lang="en-US" sz="640" dirty="0"/>
          </a:p>
        </p:txBody>
      </p:sp>
      <p:sp>
        <p:nvSpPr>
          <p:cNvPr id="30" name="Text 28"/>
          <p:cNvSpPr/>
          <p:nvPr/>
        </p:nvSpPr>
        <p:spPr>
          <a:xfrm>
            <a:off x="6263836" y="8925903"/>
            <a:ext cx="676471" cy="113842"/>
          </a:xfrm>
          <a:prstGeom prst="rect">
            <a:avLst/>
          </a:prstGeom>
          <a:noFill/>
          <a:ln/>
        </p:spPr>
        <p:txBody>
          <a:bodyPr wrap="none" lIns="0" tIns="0" rIns="0" bIns="0" rtlCol="0" anchor="t"/>
          <a:lstStyle/>
          <a:p>
            <a:pPr algn="l" indent="0" marL="0">
              <a:lnSpc>
                <a:spcPts val="896"/>
              </a:lnSpc>
              <a:buNone/>
            </a:pPr>
            <a:r>
              <a:rPr lang="en-US" sz="560" dirty="0">
                <a:solidFill>
                  <a:srgbClr val="7D838A"/>
                </a:solidFill>
                <a:latin typeface="Noto Sans JP" pitchFamily="34" charset="0"/>
                <a:ea typeface="Noto Sans JP" pitchFamily="34" charset="-122"/>
                <a:cs typeface="Noto Sans JP" pitchFamily="34" charset="-120"/>
              </a:rPr>
              <a:t>供給制約・地政学</a:t>
            </a:r>
            <a:endParaRPr lang="en-US" sz="560" dirty="0"/>
          </a:p>
        </p:txBody>
      </p:sp>
      <p:sp>
        <p:nvSpPr>
          <p:cNvPr id="31" name="Text 29"/>
          <p:cNvSpPr/>
          <p:nvPr/>
        </p:nvSpPr>
        <p:spPr>
          <a:xfrm>
            <a:off x="5730203" y="8716007"/>
            <a:ext cx="534308"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Noto Sans JP Medium" pitchFamily="34" charset="0"/>
                <a:ea typeface="Noto Sans JP Medium" pitchFamily="34" charset="-122"/>
                <a:cs typeface="Noto Sans JP Medium" pitchFamily="34" charset="-120"/>
              </a:rPr>
              <a:t>ギャップ</a:t>
            </a:r>
            <a:endParaRPr lang="en-US" sz="660" dirty="0"/>
          </a:p>
        </p:txBody>
      </p:sp>
      <p:sp>
        <p:nvSpPr>
          <p:cNvPr id="32" name="Text 30"/>
          <p:cNvSpPr/>
          <p:nvPr/>
        </p:nvSpPr>
        <p:spPr>
          <a:xfrm>
            <a:off x="4396120" y="9372630"/>
            <a:ext cx="201720" cy="109776"/>
          </a:xfrm>
          <a:prstGeom prst="rect">
            <a:avLst/>
          </a:prstGeom>
          <a:noFill/>
          <a:ln/>
        </p:spPr>
        <p:txBody>
          <a:bodyPr wrap="none" lIns="0" tIns="0" rIns="0" bIns="0" rtlCol="0" anchor="t"/>
          <a:lstStyle/>
          <a:p>
            <a:pPr algn="l" indent="0" marL="0">
              <a:lnSpc>
                <a:spcPts val="864"/>
              </a:lnSpc>
              <a:buNone/>
            </a:pPr>
            <a:r>
              <a:rPr lang="en-US" sz="540" dirty="0">
                <a:solidFill>
                  <a:srgbClr val="7D838A"/>
                </a:solidFill>
                <a:latin typeface="Noto Sans JP" pitchFamily="34" charset="0"/>
                <a:ea typeface="Noto Sans JP" pitchFamily="34" charset="-122"/>
                <a:cs typeface="Noto Sans JP" pitchFamily="34" charset="-120"/>
              </a:rPr>
              <a:t>現在</a:t>
            </a:r>
            <a:endParaRPr lang="en-US" sz="540" dirty="0"/>
          </a:p>
        </p:txBody>
      </p:sp>
      <p:sp>
        <p:nvSpPr>
          <p:cNvPr id="33" name="Text 31"/>
          <p:cNvSpPr/>
          <p:nvPr/>
        </p:nvSpPr>
        <p:spPr>
          <a:xfrm>
            <a:off x="6543358" y="9372630"/>
            <a:ext cx="201720" cy="109776"/>
          </a:xfrm>
          <a:prstGeom prst="rect">
            <a:avLst/>
          </a:prstGeom>
          <a:noFill/>
          <a:ln/>
        </p:spPr>
        <p:txBody>
          <a:bodyPr wrap="none" lIns="0" tIns="0" rIns="0" bIns="0" rtlCol="0" anchor="t"/>
          <a:lstStyle/>
          <a:p>
            <a:pPr algn="l" indent="0" marL="0">
              <a:lnSpc>
                <a:spcPts val="864"/>
              </a:lnSpc>
              <a:buNone/>
            </a:pPr>
            <a:r>
              <a:rPr lang="en-US" sz="540" dirty="0">
                <a:solidFill>
                  <a:srgbClr val="7D838A"/>
                </a:solidFill>
                <a:latin typeface="Noto Sans JP" pitchFamily="34" charset="0"/>
                <a:ea typeface="Noto Sans JP" pitchFamily="34" charset="-122"/>
                <a:cs typeface="Noto Sans JP" pitchFamily="34" charset="-120"/>
              </a:rPr>
              <a:t>将来</a:t>
            </a:r>
            <a:endParaRPr lang="en-US" sz="540" dirty="0"/>
          </a:p>
        </p:txBody>
      </p:sp>
      <p:sp>
        <p:nvSpPr>
          <p:cNvPr id="34" name="Text 32"/>
          <p:cNvSpPr/>
          <p:nvPr/>
        </p:nvSpPr>
        <p:spPr>
          <a:xfrm>
            <a:off x="8068024" y="5565031"/>
            <a:ext cx="894848"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Noto Sans JP Medium" pitchFamily="34" charset="0"/>
                <a:ea typeface="Noto Sans JP Medium" pitchFamily="34" charset="-122"/>
                <a:cs typeface="Noto Sans JP Medium" pitchFamily="34" charset="-120"/>
              </a:rPr>
              <a:t>コアメッセージ</a:t>
            </a:r>
            <a:endParaRPr lang="en-US" sz="660" dirty="0"/>
          </a:p>
        </p:txBody>
      </p:sp>
      <p:sp>
        <p:nvSpPr>
          <p:cNvPr id="35" name="Text 33"/>
          <p:cNvSpPr/>
          <p:nvPr/>
        </p:nvSpPr>
        <p:spPr>
          <a:xfrm>
            <a:off x="8068024" y="5704792"/>
            <a:ext cx="855322"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私たちの存在意義</a:t>
            </a:r>
            <a:endParaRPr lang="en-US" sz="660" dirty="0"/>
          </a:p>
        </p:txBody>
      </p:sp>
      <p:sp>
        <p:nvSpPr>
          <p:cNvPr id="36" name="Text 34"/>
          <p:cNvSpPr/>
          <p:nvPr/>
        </p:nvSpPr>
        <p:spPr>
          <a:xfrm>
            <a:off x="8068024" y="5964620"/>
            <a:ext cx="4628652" cy="1120629"/>
          </a:xfrm>
          <a:prstGeom prst="rect">
            <a:avLst/>
          </a:prstGeom>
          <a:noFill/>
          <a:ln/>
        </p:spPr>
        <p:txBody>
          <a:bodyPr wrap="none" lIns="0" tIns="0" rIns="0" bIns="0" rtlCol="0" anchor="t"/>
          <a:lstStyle/>
          <a:p>
            <a:pPr algn="l" indent="0" marL="0">
              <a:lnSpc>
                <a:spcPts val="4410"/>
              </a:lnSpc>
              <a:buNone/>
            </a:pPr>
            <a:r>
              <a:rPr lang="en-US" sz="4200" spc="-84" kern="0" dirty="0">
                <a:solidFill>
                  <a:srgbClr val="121519"/>
                </a:solidFill>
                <a:latin typeface="Inter Tight Light" pitchFamily="34" charset="0"/>
                <a:ea typeface="Inter Tight Light" pitchFamily="34" charset="-122"/>
                <a:cs typeface="Inter Tight Light" pitchFamily="34" charset="-120"/>
              </a:rPr>
              <a:t>Strength to Hold.</a:t>
            </a:r>
            <a:endParaRPr lang="en-US" sz="4200" dirty="0"/>
          </a:p>
          <a:p>
            <a:pPr algn="l" indent="0" marL="0">
              <a:lnSpc>
                <a:spcPts val="4410"/>
              </a:lnSpc>
              <a:buNone/>
            </a:pPr>
            <a:r>
              <a:rPr lang="en-US" sz="4200" spc="-84" kern="0" dirty="0">
                <a:solidFill>
                  <a:srgbClr val="121519"/>
                </a:solidFill>
                <a:latin typeface="Inter Tight Light" pitchFamily="34" charset="0"/>
                <a:ea typeface="Inter Tight Light" pitchFamily="34" charset="-122"/>
                <a:cs typeface="Inter Tight Light" pitchFamily="34" charset="-120"/>
              </a:rPr>
              <a:t>Power to Connect.</a:t>
            </a:r>
            <a:endParaRPr lang="en-US" sz="4200" dirty="0"/>
          </a:p>
        </p:txBody>
      </p:sp>
      <p:sp>
        <p:nvSpPr>
          <p:cNvPr id="37" name="Text 35"/>
          <p:cNvSpPr/>
          <p:nvPr/>
        </p:nvSpPr>
        <p:spPr>
          <a:xfrm>
            <a:off x="8068024" y="7188165"/>
            <a:ext cx="1930390" cy="247758"/>
          </a:xfrm>
          <a:prstGeom prst="rect">
            <a:avLst/>
          </a:prstGeom>
          <a:noFill/>
          <a:ln/>
        </p:spPr>
        <p:txBody>
          <a:bodyPr wrap="none" lIns="0" tIns="0" rIns="0" bIns="0" rtlCol="0" anchor="t"/>
          <a:lstStyle/>
          <a:p>
            <a:pPr algn="l" indent="0" marL="0">
              <a:lnSpc>
                <a:spcPts val="1950"/>
              </a:lnSpc>
              <a:buNone/>
            </a:pPr>
            <a:r>
              <a:rPr lang="en-US" sz="1300" spc="50" kern="0" dirty="0">
                <a:solidFill>
                  <a:srgbClr val="121519"/>
                </a:solidFill>
                <a:latin typeface="Noto Sans JP Medium" pitchFamily="34" charset="0"/>
                <a:ea typeface="Noto Sans JP Medium" pitchFamily="34" charset="-122"/>
                <a:cs typeface="Noto Sans JP Medium" pitchFamily="34" charset="-120"/>
              </a:rPr>
              <a:t>持つ力と、つなぐ力。</a:t>
            </a:r>
            <a:endParaRPr lang="en-US" sz="1300" dirty="0"/>
          </a:p>
        </p:txBody>
      </p:sp>
      <p:sp>
        <p:nvSpPr>
          <p:cNvPr id="38" name="Text 36"/>
          <p:cNvSpPr/>
          <p:nvPr/>
        </p:nvSpPr>
        <p:spPr>
          <a:xfrm>
            <a:off x="8068024" y="7488365"/>
            <a:ext cx="4243654" cy="904953"/>
          </a:xfrm>
          <a:prstGeom prst="rect">
            <a:avLst/>
          </a:prstGeom>
          <a:noFill/>
          <a:ln/>
        </p:spPr>
        <p:txBody>
          <a:bodyPr wrap="none" lIns="0" tIns="0" rIns="0" bIns="0" rtlCol="0" anchor="t"/>
          <a:lstStyle/>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資源は、そこに「ある」だけでは、まだ価値ではありません。誰かが見出し、育て、</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必要とする場所へ届けて、はじめて力になる。私たちは、世界有数の資産に関わり、</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投資とトレーディングの両輪で川上から川下までをつなぎます。フェアな立場だから</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こそ、埋められる隙間がある。多様なパートナーと使い手の間に立ち、その時々の最</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適解を導く。世界に眠る価値を、社会の力へ。</a:t>
            </a:r>
            <a:endParaRPr lang="en-US" sz="770" dirty="0"/>
          </a:p>
        </p:txBody>
      </p:sp>
      <p:sp>
        <p:nvSpPr>
          <p:cNvPr id="39" name="Text 37"/>
          <p:cNvSpPr/>
          <p:nvPr/>
        </p:nvSpPr>
        <p:spPr>
          <a:xfrm>
            <a:off x="12260855" y="7496274"/>
            <a:ext cx="288416"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Noto Sans JP Medium" pitchFamily="34" charset="0"/>
                <a:ea typeface="Noto Sans JP Medium" pitchFamily="34" charset="-122"/>
                <a:cs typeface="Noto Sans JP Medium" pitchFamily="34" charset="-120"/>
              </a:rPr>
              <a:t>目次</a:t>
            </a:r>
            <a:endParaRPr lang="en-US" sz="660" dirty="0"/>
          </a:p>
        </p:txBody>
      </p:sp>
      <p:sp>
        <p:nvSpPr>
          <p:cNvPr id="40" name="Text 38"/>
          <p:cNvSpPr/>
          <p:nvPr/>
        </p:nvSpPr>
        <p:spPr>
          <a:xfrm>
            <a:off x="12260855" y="7775796"/>
            <a:ext cx="154114"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9C7442"/>
                </a:solidFill>
                <a:latin typeface="Inter Medium" pitchFamily="34" charset="0"/>
                <a:ea typeface="Inter Medium" pitchFamily="34" charset="-122"/>
                <a:cs typeface="Inter Medium" pitchFamily="34" charset="-120"/>
              </a:rPr>
              <a:t>01</a:t>
            </a:r>
            <a:endParaRPr lang="en-US" sz="640" dirty="0"/>
          </a:p>
        </p:txBody>
      </p:sp>
      <p:sp>
        <p:nvSpPr>
          <p:cNvPr id="41" name="Text 39"/>
          <p:cNvSpPr/>
          <p:nvPr/>
        </p:nvSpPr>
        <p:spPr>
          <a:xfrm>
            <a:off x="12514966" y="7775796"/>
            <a:ext cx="616199"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121519"/>
                </a:solidFill>
                <a:latin typeface="Noto Sans JP Medium" pitchFamily="34" charset="0"/>
                <a:ea typeface="Noto Sans JP Medium" pitchFamily="34" charset="-122"/>
                <a:cs typeface="Noto Sans JP Medium" pitchFamily="34" charset="-120"/>
              </a:rPr>
              <a:t>我々は何者か</a:t>
            </a:r>
            <a:endParaRPr lang="en-US" sz="640" dirty="0"/>
          </a:p>
        </p:txBody>
      </p:sp>
      <p:sp>
        <p:nvSpPr>
          <p:cNvPr id="42" name="Text 40"/>
          <p:cNvSpPr/>
          <p:nvPr/>
        </p:nvSpPr>
        <p:spPr>
          <a:xfrm>
            <a:off x="14357271" y="7775796"/>
            <a:ext cx="305013" cy="76233"/>
          </a:xfrm>
          <a:prstGeom prst="rect">
            <a:avLst/>
          </a:prstGeom>
          <a:noFill/>
          <a:ln/>
        </p:spPr>
        <p:txBody>
          <a:bodyPr wrap="none" lIns="0" tIns="0" rIns="0" bIns="0" rtlCol="0" anchor="t"/>
          <a:lstStyle/>
          <a:p>
            <a:pPr algn="l" indent="0" marL="0">
              <a:lnSpc>
                <a:spcPts val="600"/>
              </a:lnSpc>
              <a:buNone/>
            </a:pPr>
            <a:r>
              <a:rPr lang="en-US" sz="540" spc="160" kern="0" dirty="0">
                <a:solidFill>
                  <a:srgbClr val="7D838A"/>
                </a:solidFill>
                <a:latin typeface="Inter Medium" pitchFamily="34" charset="0"/>
                <a:ea typeface="Inter Medium" pitchFamily="34" charset="-122"/>
                <a:cs typeface="Inter Medium" pitchFamily="34" charset="-120"/>
              </a:rPr>
              <a:t>P.04</a:t>
            </a:r>
            <a:endParaRPr lang="en-US" sz="540" dirty="0"/>
          </a:p>
        </p:txBody>
      </p:sp>
      <p:sp>
        <p:nvSpPr>
          <p:cNvPr id="43" name="Text 41"/>
          <p:cNvSpPr/>
          <p:nvPr/>
        </p:nvSpPr>
        <p:spPr>
          <a:xfrm>
            <a:off x="12260855" y="8042613"/>
            <a:ext cx="172021"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9C7442"/>
                </a:solidFill>
                <a:latin typeface="Inter Medium" pitchFamily="34" charset="0"/>
                <a:ea typeface="Inter Medium" pitchFamily="34" charset="-122"/>
                <a:cs typeface="Inter Medium" pitchFamily="34" charset="-120"/>
              </a:rPr>
              <a:t>02</a:t>
            </a:r>
            <a:endParaRPr lang="en-US" sz="640" dirty="0"/>
          </a:p>
        </p:txBody>
      </p:sp>
      <p:sp>
        <p:nvSpPr>
          <p:cNvPr id="44" name="Text 42"/>
          <p:cNvSpPr/>
          <p:nvPr/>
        </p:nvSpPr>
        <p:spPr>
          <a:xfrm>
            <a:off x="12514966" y="8042613"/>
            <a:ext cx="424901"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121519"/>
                </a:solidFill>
                <a:latin typeface="Noto Sans JP Medium" pitchFamily="34" charset="0"/>
                <a:ea typeface="Noto Sans JP Medium" pitchFamily="34" charset="-122"/>
                <a:cs typeface="Noto Sans JP Medium" pitchFamily="34" charset="-120"/>
              </a:rPr>
              <a:t>一級資産</a:t>
            </a:r>
            <a:endParaRPr lang="en-US" sz="640" dirty="0"/>
          </a:p>
        </p:txBody>
      </p:sp>
      <p:sp>
        <p:nvSpPr>
          <p:cNvPr id="45" name="Text 43"/>
          <p:cNvSpPr/>
          <p:nvPr/>
        </p:nvSpPr>
        <p:spPr>
          <a:xfrm>
            <a:off x="14357271" y="8042613"/>
            <a:ext cx="301082" cy="76233"/>
          </a:xfrm>
          <a:prstGeom prst="rect">
            <a:avLst/>
          </a:prstGeom>
          <a:noFill/>
          <a:ln/>
        </p:spPr>
        <p:txBody>
          <a:bodyPr wrap="none" lIns="0" tIns="0" rIns="0" bIns="0" rtlCol="0" anchor="t"/>
          <a:lstStyle/>
          <a:p>
            <a:pPr algn="l" indent="0" marL="0">
              <a:lnSpc>
                <a:spcPts val="600"/>
              </a:lnSpc>
              <a:buNone/>
            </a:pPr>
            <a:r>
              <a:rPr lang="en-US" sz="540" spc="160" kern="0" dirty="0">
                <a:solidFill>
                  <a:srgbClr val="7D838A"/>
                </a:solidFill>
                <a:latin typeface="Inter Medium" pitchFamily="34" charset="0"/>
                <a:ea typeface="Inter Medium" pitchFamily="34" charset="-122"/>
                <a:cs typeface="Inter Medium" pitchFamily="34" charset="-120"/>
              </a:rPr>
              <a:t>P.05</a:t>
            </a:r>
            <a:endParaRPr lang="en-US" sz="540" dirty="0"/>
          </a:p>
        </p:txBody>
      </p:sp>
      <p:sp>
        <p:nvSpPr>
          <p:cNvPr id="46" name="Text 44"/>
          <p:cNvSpPr/>
          <p:nvPr/>
        </p:nvSpPr>
        <p:spPr>
          <a:xfrm>
            <a:off x="12260855" y="8309429"/>
            <a:ext cx="172895"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9C7442"/>
                </a:solidFill>
                <a:latin typeface="Inter Medium" pitchFamily="34" charset="0"/>
                <a:ea typeface="Inter Medium" pitchFamily="34" charset="-122"/>
                <a:cs typeface="Inter Medium" pitchFamily="34" charset="-120"/>
              </a:rPr>
              <a:t>03</a:t>
            </a:r>
            <a:endParaRPr lang="en-US" sz="640" dirty="0"/>
          </a:p>
        </p:txBody>
      </p:sp>
      <p:sp>
        <p:nvSpPr>
          <p:cNvPr id="47" name="Text 45"/>
          <p:cNvSpPr/>
          <p:nvPr/>
        </p:nvSpPr>
        <p:spPr>
          <a:xfrm>
            <a:off x="12514966" y="8309429"/>
            <a:ext cx="520550"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121519"/>
                </a:solidFill>
                <a:latin typeface="Noto Sans JP Medium" pitchFamily="34" charset="0"/>
                <a:ea typeface="Noto Sans JP Medium" pitchFamily="34" charset="-122"/>
                <a:cs typeface="Noto Sans JP Medium" pitchFamily="34" charset="-120"/>
              </a:rPr>
              <a:t>原料炭と銅</a:t>
            </a:r>
            <a:endParaRPr lang="en-US" sz="640" dirty="0"/>
          </a:p>
        </p:txBody>
      </p:sp>
      <p:sp>
        <p:nvSpPr>
          <p:cNvPr id="48" name="Text 46"/>
          <p:cNvSpPr/>
          <p:nvPr/>
        </p:nvSpPr>
        <p:spPr>
          <a:xfrm>
            <a:off x="14357271" y="8309429"/>
            <a:ext cx="303047" cy="76233"/>
          </a:xfrm>
          <a:prstGeom prst="rect">
            <a:avLst/>
          </a:prstGeom>
          <a:noFill/>
          <a:ln/>
        </p:spPr>
        <p:txBody>
          <a:bodyPr wrap="none" lIns="0" tIns="0" rIns="0" bIns="0" rtlCol="0" anchor="t"/>
          <a:lstStyle/>
          <a:p>
            <a:pPr algn="l" indent="0" marL="0">
              <a:lnSpc>
                <a:spcPts val="600"/>
              </a:lnSpc>
              <a:buNone/>
            </a:pPr>
            <a:r>
              <a:rPr lang="en-US" sz="540" spc="160" kern="0" dirty="0">
                <a:solidFill>
                  <a:srgbClr val="7D838A"/>
                </a:solidFill>
                <a:latin typeface="Inter Medium" pitchFamily="34" charset="0"/>
                <a:ea typeface="Inter Medium" pitchFamily="34" charset="-122"/>
                <a:cs typeface="Inter Medium" pitchFamily="34" charset="-120"/>
              </a:rPr>
              <a:t>P.06</a:t>
            </a:r>
            <a:endParaRPr lang="en-US" sz="540" dirty="0"/>
          </a:p>
        </p:txBody>
      </p:sp>
      <p:sp>
        <p:nvSpPr>
          <p:cNvPr id="49" name="Text 47"/>
          <p:cNvSpPr/>
          <p:nvPr/>
        </p:nvSpPr>
        <p:spPr>
          <a:xfrm>
            <a:off x="12260855" y="8576246"/>
            <a:ext cx="175515"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9C7442"/>
                </a:solidFill>
                <a:latin typeface="Inter Medium" pitchFamily="34" charset="0"/>
                <a:ea typeface="Inter Medium" pitchFamily="34" charset="-122"/>
                <a:cs typeface="Inter Medium" pitchFamily="34" charset="-120"/>
              </a:rPr>
              <a:t>04</a:t>
            </a:r>
            <a:endParaRPr lang="en-US" sz="640" dirty="0"/>
          </a:p>
        </p:txBody>
      </p:sp>
      <p:sp>
        <p:nvSpPr>
          <p:cNvPr id="50" name="Text 48"/>
          <p:cNvSpPr/>
          <p:nvPr/>
        </p:nvSpPr>
        <p:spPr>
          <a:xfrm>
            <a:off x="12514966" y="8576246"/>
            <a:ext cx="711848"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121519"/>
                </a:solidFill>
                <a:latin typeface="Noto Sans JP Medium" pitchFamily="34" charset="0"/>
                <a:ea typeface="Noto Sans JP Medium" pitchFamily="34" charset="-122"/>
                <a:cs typeface="Noto Sans JP Medium" pitchFamily="34" charset="-120"/>
              </a:rPr>
              <a:t>資源から価値へ</a:t>
            </a:r>
            <a:endParaRPr lang="en-US" sz="640" dirty="0"/>
          </a:p>
        </p:txBody>
      </p:sp>
      <p:sp>
        <p:nvSpPr>
          <p:cNvPr id="51" name="Text 49"/>
          <p:cNvSpPr/>
          <p:nvPr/>
        </p:nvSpPr>
        <p:spPr>
          <a:xfrm>
            <a:off x="14357271" y="8576246"/>
            <a:ext cx="303047" cy="76233"/>
          </a:xfrm>
          <a:prstGeom prst="rect">
            <a:avLst/>
          </a:prstGeom>
          <a:noFill/>
          <a:ln/>
        </p:spPr>
        <p:txBody>
          <a:bodyPr wrap="none" lIns="0" tIns="0" rIns="0" bIns="0" rtlCol="0" anchor="t"/>
          <a:lstStyle/>
          <a:p>
            <a:pPr algn="l" indent="0" marL="0">
              <a:lnSpc>
                <a:spcPts val="600"/>
              </a:lnSpc>
              <a:buNone/>
            </a:pPr>
            <a:r>
              <a:rPr lang="en-US" sz="540" spc="160" kern="0" dirty="0">
                <a:solidFill>
                  <a:srgbClr val="7D838A"/>
                </a:solidFill>
                <a:latin typeface="Inter Medium" pitchFamily="34" charset="0"/>
                <a:ea typeface="Inter Medium" pitchFamily="34" charset="-122"/>
                <a:cs typeface="Inter Medium" pitchFamily="34" charset="-120"/>
              </a:rPr>
              <a:t>P.08</a:t>
            </a:r>
            <a:endParaRPr lang="en-US" sz="540" dirty="0"/>
          </a:p>
        </p:txBody>
      </p:sp>
      <p:sp>
        <p:nvSpPr>
          <p:cNvPr id="52" name="Text 50"/>
          <p:cNvSpPr/>
          <p:nvPr/>
        </p:nvSpPr>
        <p:spPr>
          <a:xfrm>
            <a:off x="12260855" y="8843063"/>
            <a:ext cx="170929"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9C7442"/>
                </a:solidFill>
                <a:latin typeface="Inter Medium" pitchFamily="34" charset="0"/>
                <a:ea typeface="Inter Medium" pitchFamily="34" charset="-122"/>
                <a:cs typeface="Inter Medium" pitchFamily="34" charset="-120"/>
              </a:rPr>
              <a:t>05</a:t>
            </a:r>
            <a:endParaRPr lang="en-US" sz="640" dirty="0"/>
          </a:p>
        </p:txBody>
      </p:sp>
      <p:sp>
        <p:nvSpPr>
          <p:cNvPr id="53" name="Text 51"/>
          <p:cNvSpPr/>
          <p:nvPr/>
        </p:nvSpPr>
        <p:spPr>
          <a:xfrm>
            <a:off x="12514966" y="8843063"/>
            <a:ext cx="807279"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121519"/>
                </a:solidFill>
                <a:latin typeface="Noto Sans JP Medium" pitchFamily="34" charset="0"/>
                <a:ea typeface="Noto Sans JP Medium" pitchFamily="34" charset="-122"/>
                <a:cs typeface="Noto Sans JP Medium" pitchFamily="34" charset="-120"/>
              </a:rPr>
              <a:t>選ばれ続ける理由</a:t>
            </a:r>
            <a:endParaRPr lang="en-US" sz="640" dirty="0"/>
          </a:p>
        </p:txBody>
      </p:sp>
      <p:sp>
        <p:nvSpPr>
          <p:cNvPr id="54" name="Text 52"/>
          <p:cNvSpPr/>
          <p:nvPr/>
        </p:nvSpPr>
        <p:spPr>
          <a:xfrm>
            <a:off x="14357271" y="8843063"/>
            <a:ext cx="303047" cy="76233"/>
          </a:xfrm>
          <a:prstGeom prst="rect">
            <a:avLst/>
          </a:prstGeom>
          <a:noFill/>
          <a:ln/>
        </p:spPr>
        <p:txBody>
          <a:bodyPr wrap="none" lIns="0" tIns="0" rIns="0" bIns="0" rtlCol="0" anchor="t"/>
          <a:lstStyle/>
          <a:p>
            <a:pPr algn="l" indent="0" marL="0">
              <a:lnSpc>
                <a:spcPts val="600"/>
              </a:lnSpc>
              <a:buNone/>
            </a:pPr>
            <a:r>
              <a:rPr lang="en-US" sz="540" spc="160" kern="0" dirty="0">
                <a:solidFill>
                  <a:srgbClr val="7D838A"/>
                </a:solidFill>
                <a:latin typeface="Inter Medium" pitchFamily="34" charset="0"/>
                <a:ea typeface="Inter Medium" pitchFamily="34" charset="-122"/>
                <a:cs typeface="Inter Medium" pitchFamily="34" charset="-120"/>
              </a:rPr>
              <a:t>P.09</a:t>
            </a:r>
            <a:endParaRPr lang="en-US" sz="540" dirty="0"/>
          </a:p>
        </p:txBody>
      </p:sp>
      <p:sp>
        <p:nvSpPr>
          <p:cNvPr id="55" name="Text 53"/>
          <p:cNvSpPr/>
          <p:nvPr/>
        </p:nvSpPr>
        <p:spPr>
          <a:xfrm>
            <a:off x="12260855" y="9109879"/>
            <a:ext cx="173331"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9C7442"/>
                </a:solidFill>
                <a:latin typeface="Inter Medium" pitchFamily="34" charset="0"/>
                <a:ea typeface="Inter Medium" pitchFamily="34" charset="-122"/>
                <a:cs typeface="Inter Medium" pitchFamily="34" charset="-120"/>
              </a:rPr>
              <a:t>06</a:t>
            </a:r>
            <a:endParaRPr lang="en-US" sz="640" dirty="0"/>
          </a:p>
        </p:txBody>
      </p:sp>
      <p:sp>
        <p:nvSpPr>
          <p:cNvPr id="56" name="Text 54"/>
          <p:cNvSpPr/>
          <p:nvPr/>
        </p:nvSpPr>
        <p:spPr>
          <a:xfrm>
            <a:off x="12514966" y="9109879"/>
            <a:ext cx="1094226"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121519"/>
                </a:solidFill>
                <a:latin typeface="Noto Sans JP Medium" pitchFamily="34" charset="0"/>
                <a:ea typeface="Noto Sans JP Medium" pitchFamily="34" charset="-122"/>
                <a:cs typeface="Noto Sans JP Medium" pitchFamily="34" charset="-120"/>
              </a:rPr>
              <a:t>バリューチェーンと約束</a:t>
            </a:r>
            <a:endParaRPr lang="en-US" sz="640" dirty="0"/>
          </a:p>
        </p:txBody>
      </p:sp>
      <p:sp>
        <p:nvSpPr>
          <p:cNvPr id="57" name="Text 55"/>
          <p:cNvSpPr/>
          <p:nvPr/>
        </p:nvSpPr>
        <p:spPr>
          <a:xfrm>
            <a:off x="14357271" y="9109879"/>
            <a:ext cx="282301" cy="76233"/>
          </a:xfrm>
          <a:prstGeom prst="rect">
            <a:avLst/>
          </a:prstGeom>
          <a:noFill/>
          <a:ln/>
        </p:spPr>
        <p:txBody>
          <a:bodyPr wrap="none" lIns="0" tIns="0" rIns="0" bIns="0" rtlCol="0" anchor="t"/>
          <a:lstStyle/>
          <a:p>
            <a:pPr algn="l" indent="0" marL="0">
              <a:lnSpc>
                <a:spcPts val="600"/>
              </a:lnSpc>
              <a:buNone/>
            </a:pPr>
            <a:r>
              <a:rPr lang="en-US" sz="540" spc="160" kern="0" dirty="0">
                <a:solidFill>
                  <a:srgbClr val="7D838A"/>
                </a:solidFill>
                <a:latin typeface="Inter Medium" pitchFamily="34" charset="0"/>
                <a:ea typeface="Inter Medium" pitchFamily="34" charset="-122"/>
                <a:cs typeface="Inter Medium" pitchFamily="34" charset="-120"/>
              </a:rPr>
              <a:t>P.10</a:t>
            </a:r>
            <a:endParaRPr lang="en-US" sz="540" dirty="0"/>
          </a:p>
        </p:txBody>
      </p:sp>
      <p:sp>
        <p:nvSpPr>
          <p:cNvPr id="58" name="Text 56"/>
          <p:cNvSpPr/>
          <p:nvPr/>
        </p:nvSpPr>
        <p:spPr>
          <a:xfrm>
            <a:off x="508222" y="10316906"/>
            <a:ext cx="201502" cy="88939"/>
          </a:xfrm>
          <a:prstGeom prst="rect">
            <a:avLst/>
          </a:prstGeom>
          <a:noFill/>
          <a:ln/>
        </p:spPr>
        <p:txBody>
          <a:bodyPr wrap="none" lIns="0" tIns="0" rIns="0" bIns="0" rtlCol="0" anchor="t"/>
          <a:lstStyle/>
          <a:p>
            <a:pPr algn="l" indent="0" marL="0">
              <a:lnSpc>
                <a:spcPts val="700"/>
              </a:lnSpc>
              <a:buNone/>
            </a:pPr>
            <a:r>
              <a:rPr lang="en-US" sz="600" spc="160" kern="0" dirty="0">
                <a:solidFill>
                  <a:srgbClr val="7D838A"/>
                </a:solidFill>
                <a:latin typeface="Inter Medium" pitchFamily="34" charset="0"/>
                <a:ea typeface="Inter Medium" pitchFamily="34" charset="-122"/>
                <a:cs typeface="Inter Medium" pitchFamily="34" charset="-120"/>
              </a:rPr>
              <a:t>02</a:t>
            </a:r>
            <a:endParaRPr lang="en-US" sz="600" dirty="0"/>
          </a:p>
        </p:txBody>
      </p:sp>
      <p:sp>
        <p:nvSpPr>
          <p:cNvPr id="59" name="Text 57"/>
          <p:cNvSpPr/>
          <p:nvPr/>
        </p:nvSpPr>
        <p:spPr>
          <a:xfrm>
            <a:off x="14458915" y="10316906"/>
            <a:ext cx="202376" cy="88939"/>
          </a:xfrm>
          <a:prstGeom prst="rect">
            <a:avLst/>
          </a:prstGeom>
          <a:noFill/>
          <a:ln/>
        </p:spPr>
        <p:txBody>
          <a:bodyPr wrap="none" lIns="0" tIns="0" rIns="0" bIns="0" rtlCol="0" anchor="t"/>
          <a:lstStyle/>
          <a:p>
            <a:pPr algn="l" indent="0" marL="0">
              <a:lnSpc>
                <a:spcPts val="700"/>
              </a:lnSpc>
              <a:buNone/>
            </a:pPr>
            <a:r>
              <a:rPr lang="en-US" sz="600" spc="160" kern="0" dirty="0">
                <a:solidFill>
                  <a:srgbClr val="7D838A"/>
                </a:solidFill>
                <a:latin typeface="Inter Medium" pitchFamily="34" charset="0"/>
                <a:ea typeface="Inter Medium" pitchFamily="34" charset="-122"/>
                <a:cs typeface="Inter Medium" pitchFamily="34" charset="-120"/>
              </a:rPr>
              <a:t>03</a:t>
            </a:r>
            <a:endParaRPr lang="en-US" sz="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539620" y="76233"/>
            <a:ext cx="1737345" cy="1423022"/>
          </a:xfrm>
          <a:prstGeom prst="rect">
            <a:avLst/>
          </a:prstGeom>
          <a:noFill/>
          <a:ln/>
        </p:spPr>
        <p:txBody>
          <a:bodyPr wrap="none" lIns="0" tIns="0" rIns="0" bIns="0" rtlCol="0" anchor="t"/>
          <a:lstStyle/>
          <a:p>
            <a:pPr algn="l" indent="0" marL="0">
              <a:lnSpc>
                <a:spcPts val="11200"/>
              </a:lnSpc>
              <a:buNone/>
            </a:pPr>
            <a:r>
              <a:rPr lang="en-US" sz="14000" spc="-560" kern="0" dirty="0">
                <a:solidFill>
                  <a:srgbClr val="000000">
                    <a:alpha val="0"/>
                  </a:srgbClr>
                </a:solidFill>
                <a:latin typeface="Inter Tight Light" pitchFamily="34" charset="0"/>
                <a:ea typeface="Inter Tight Light" pitchFamily="34" charset="-122"/>
                <a:cs typeface="Inter Tight Light" pitchFamily="34" charset="-120"/>
              </a:rPr>
              <a:t>01</a:t>
            </a:r>
            <a:endParaRPr lang="en-US" sz="14000" dirty="0"/>
          </a:p>
        </p:txBody>
      </p:sp>
      <p:sp>
        <p:nvSpPr>
          <p:cNvPr id="3" name="Text 1"/>
          <p:cNvSpPr/>
          <p:nvPr/>
        </p:nvSpPr>
        <p:spPr>
          <a:xfrm>
            <a:off x="12705550" y="76233"/>
            <a:ext cx="2168202" cy="1423022"/>
          </a:xfrm>
          <a:prstGeom prst="rect">
            <a:avLst/>
          </a:prstGeom>
          <a:noFill/>
          <a:ln/>
        </p:spPr>
        <p:txBody>
          <a:bodyPr wrap="none" lIns="0" tIns="0" rIns="0" bIns="0" rtlCol="0" anchor="t"/>
          <a:lstStyle/>
          <a:p>
            <a:pPr algn="l" indent="0" marL="0">
              <a:lnSpc>
                <a:spcPts val="11200"/>
              </a:lnSpc>
              <a:buNone/>
            </a:pPr>
            <a:r>
              <a:rPr lang="en-US" sz="14000" spc="-560" kern="0" dirty="0">
                <a:solidFill>
                  <a:srgbClr val="000000">
                    <a:alpha val="0"/>
                  </a:srgbClr>
                </a:solidFill>
                <a:latin typeface="Inter Tight Light" pitchFamily="34" charset="0"/>
                <a:ea typeface="Inter Tight Light" pitchFamily="34" charset="-122"/>
                <a:cs typeface="Inter Tight Light" pitchFamily="34" charset="-120"/>
              </a:rPr>
              <a:t>02</a:t>
            </a:r>
            <a:endParaRPr lang="en-US" sz="14000" dirty="0"/>
          </a:p>
        </p:txBody>
      </p:sp>
      <p:sp>
        <p:nvSpPr>
          <p:cNvPr id="4" name="Text 2"/>
          <p:cNvSpPr/>
          <p:nvPr/>
        </p:nvSpPr>
        <p:spPr>
          <a:xfrm>
            <a:off x="508222" y="508222"/>
            <a:ext cx="353929"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Noto Sans JP Medium" pitchFamily="34" charset="0"/>
                <a:ea typeface="Noto Sans JP Medium" pitchFamily="34" charset="-122"/>
                <a:cs typeface="Noto Sans JP Medium" pitchFamily="34" charset="-120"/>
              </a:rPr>
              <a:t>第1章</a:t>
            </a:r>
            <a:endParaRPr lang="en-US" sz="660" dirty="0"/>
          </a:p>
        </p:txBody>
      </p:sp>
      <p:sp>
        <p:nvSpPr>
          <p:cNvPr id="5" name="Text 3"/>
          <p:cNvSpPr/>
          <p:nvPr/>
        </p:nvSpPr>
        <p:spPr>
          <a:xfrm>
            <a:off x="508222" y="647983"/>
            <a:ext cx="654197"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我々は何者か</a:t>
            </a:r>
            <a:endParaRPr lang="en-US" sz="660" dirty="0"/>
          </a:p>
        </p:txBody>
      </p:sp>
      <p:sp>
        <p:nvSpPr>
          <p:cNvPr id="6" name="Text 4"/>
          <p:cNvSpPr/>
          <p:nvPr/>
        </p:nvSpPr>
        <p:spPr>
          <a:xfrm>
            <a:off x="508222" y="883798"/>
            <a:ext cx="3320794" cy="570225"/>
          </a:xfrm>
          <a:prstGeom prst="rect">
            <a:avLst/>
          </a:prstGeom>
          <a:noFill/>
          <a:ln/>
        </p:spPr>
        <p:txBody>
          <a:bodyPr wrap="none" lIns="0" tIns="0" rIns="0" bIns="0" rtlCol="0" anchor="t"/>
          <a:lstStyle/>
          <a:p>
            <a:pPr algn="l" indent="0" marL="0">
              <a:lnSpc>
                <a:spcPts val="4488"/>
              </a:lnSpc>
              <a:buNone/>
            </a:pPr>
            <a:r>
              <a:rPr lang="en-US" sz="4400" spc="-110" kern="0" dirty="0">
                <a:solidFill>
                  <a:srgbClr val="121519"/>
                </a:solidFill>
                <a:latin typeface="Inter Tight SemiBold" pitchFamily="34" charset="0"/>
                <a:ea typeface="Inter Tight SemiBold" pitchFamily="34" charset="-122"/>
                <a:cs typeface="Inter Tight SemiBold" pitchFamily="34" charset="-120"/>
              </a:rPr>
              <a:t>Who we are.</a:t>
            </a:r>
            <a:endParaRPr lang="en-US" sz="4400" dirty="0"/>
          </a:p>
        </p:txBody>
      </p:sp>
      <p:sp>
        <p:nvSpPr>
          <p:cNvPr id="7" name="Text 5"/>
          <p:cNvSpPr/>
          <p:nvPr/>
        </p:nvSpPr>
        <p:spPr>
          <a:xfrm>
            <a:off x="508222" y="1731131"/>
            <a:ext cx="2432656" cy="219171"/>
          </a:xfrm>
          <a:prstGeom prst="rect">
            <a:avLst/>
          </a:prstGeom>
          <a:noFill/>
          <a:ln/>
        </p:spPr>
        <p:txBody>
          <a:bodyPr wrap="none" lIns="0" tIns="0" rIns="0" bIns="0" rtlCol="0" anchor="t"/>
          <a:lstStyle/>
          <a:p>
            <a:pPr algn="l" indent="0" marL="0">
              <a:lnSpc>
                <a:spcPts val="1725"/>
              </a:lnSpc>
              <a:buNone/>
            </a:pPr>
            <a:r>
              <a:rPr lang="en-US" sz="1150" spc="50" kern="0" dirty="0">
                <a:solidFill>
                  <a:srgbClr val="121519"/>
                </a:solidFill>
                <a:latin typeface="Noto Sans JP Medium" pitchFamily="34" charset="0"/>
                <a:ea typeface="Noto Sans JP Medium" pitchFamily="34" charset="-122"/>
                <a:cs typeface="Noto Sans JP Medium" pitchFamily="34" charset="-120"/>
              </a:rPr>
              <a:t>三菱商事 金属資源グループとは</a:t>
            </a:r>
            <a:endParaRPr lang="en-US" sz="1150" dirty="0"/>
          </a:p>
        </p:txBody>
      </p:sp>
      <p:sp>
        <p:nvSpPr>
          <p:cNvPr id="8" name="Text 6"/>
          <p:cNvSpPr/>
          <p:nvPr/>
        </p:nvSpPr>
        <p:spPr>
          <a:xfrm>
            <a:off x="508222" y="1997979"/>
            <a:ext cx="3544848" cy="904953"/>
          </a:xfrm>
          <a:prstGeom prst="rect">
            <a:avLst/>
          </a:prstGeom>
          <a:noFill/>
          <a:ln/>
        </p:spPr>
        <p:txBody>
          <a:bodyPr wrap="none" lIns="0" tIns="0" rIns="0" bIns="0" rtlCol="0" anchor="t"/>
          <a:lstStyle/>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三菱商事は、三綱領（所期奉公・処事光明・立業貿易）を企業理念</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に、経済価値・環境価値・社会価値の同時実現を目指す総合商社で</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す。そのなかで金属資源グループは、社会に不可欠な金属資源を世界</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から確保し、安定的に届ける役割を担っています。原料炭と銅は、全</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社としてコミットする中核事業です。</a:t>
            </a:r>
            <a:endParaRPr lang="en-US" sz="770" dirty="0"/>
          </a:p>
        </p:txBody>
      </p:sp>
      <p:sp>
        <p:nvSpPr>
          <p:cNvPr id="9" name="Text 7"/>
          <p:cNvSpPr/>
          <p:nvPr/>
        </p:nvSpPr>
        <p:spPr>
          <a:xfrm>
            <a:off x="4116598" y="1777189"/>
            <a:ext cx="1136591"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Noto Sans JP Medium" pitchFamily="34" charset="0"/>
                <a:ea typeface="Noto Sans JP Medium" pitchFamily="34" charset="-122"/>
                <a:cs typeface="Noto Sans JP Medium" pitchFamily="34" charset="-120"/>
              </a:rPr>
              <a:t>グループミッション</a:t>
            </a:r>
            <a:endParaRPr lang="en-US" sz="660" dirty="0"/>
          </a:p>
        </p:txBody>
      </p:sp>
      <p:sp>
        <p:nvSpPr>
          <p:cNvPr id="10" name="Text 8"/>
          <p:cNvSpPr/>
          <p:nvPr/>
        </p:nvSpPr>
        <p:spPr>
          <a:xfrm>
            <a:off x="4116598" y="1973871"/>
            <a:ext cx="3021836" cy="573274"/>
          </a:xfrm>
          <a:prstGeom prst="rect">
            <a:avLst/>
          </a:prstGeom>
          <a:noFill/>
          <a:ln/>
        </p:spPr>
        <p:txBody>
          <a:bodyPr wrap="none" lIns="0" tIns="0" rIns="0" bIns="0" rtlCol="0" anchor="t"/>
          <a:lstStyle/>
          <a:p>
            <a:pPr algn="l" indent="0" marL="0">
              <a:lnSpc>
                <a:spcPts val="1504"/>
              </a:lnSpc>
              <a:buNone/>
            </a:pPr>
            <a:r>
              <a:rPr lang="en-US" sz="940" spc="30" kern="0" dirty="0">
                <a:solidFill>
                  <a:srgbClr val="121519"/>
                </a:solidFill>
                <a:latin typeface="Noto Sans JP Medium" pitchFamily="34" charset="0"/>
                <a:ea typeface="Noto Sans JP Medium" pitchFamily="34" charset="-122"/>
                <a:cs typeface="Noto Sans JP Medium" pitchFamily="34" charset="-120"/>
              </a:rPr>
              <a:t>社会が必要とする良質な金属資源を、持続可能な</a:t>
            </a:r>
            <a:endParaRPr lang="en-US" sz="940" dirty="0"/>
          </a:p>
          <a:p>
            <a:pPr algn="l" indent="0" marL="0">
              <a:lnSpc>
                <a:spcPts val="1504"/>
              </a:lnSpc>
              <a:buNone/>
            </a:pPr>
            <a:r>
              <a:rPr lang="en-US" sz="940" spc="30" kern="0" dirty="0">
                <a:solidFill>
                  <a:srgbClr val="121519"/>
                </a:solidFill>
                <a:latin typeface="Noto Sans JP Medium" pitchFamily="34" charset="0"/>
                <a:ea typeface="Noto Sans JP Medium" pitchFamily="34" charset="-122"/>
                <a:cs typeface="Noto Sans JP Medium" pitchFamily="34" charset="-120"/>
              </a:rPr>
              <a:t>形で安定供給することで、より良い社会の実現に</a:t>
            </a:r>
            <a:endParaRPr lang="en-US" sz="940" dirty="0"/>
          </a:p>
          <a:p>
            <a:pPr algn="l" indent="0" marL="0">
              <a:lnSpc>
                <a:spcPts val="1504"/>
              </a:lnSpc>
              <a:buNone/>
            </a:pPr>
            <a:r>
              <a:rPr lang="en-US" sz="940" spc="30" kern="0" dirty="0">
                <a:solidFill>
                  <a:srgbClr val="121519"/>
                </a:solidFill>
                <a:latin typeface="Noto Sans JP Medium" pitchFamily="34" charset="0"/>
                <a:ea typeface="Noto Sans JP Medium" pitchFamily="34" charset="-122"/>
                <a:cs typeface="Noto Sans JP Medium" pitchFamily="34" charset="-120"/>
              </a:rPr>
              <a:t>寄与する</a:t>
            </a:r>
            <a:endParaRPr lang="en-US" sz="940" dirty="0"/>
          </a:p>
        </p:txBody>
      </p:sp>
      <p:sp>
        <p:nvSpPr>
          <p:cNvPr id="11" name="Text 9"/>
          <p:cNvSpPr/>
          <p:nvPr/>
        </p:nvSpPr>
        <p:spPr>
          <a:xfrm>
            <a:off x="508222" y="3352677"/>
            <a:ext cx="288416"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Noto Sans JP Medium" pitchFamily="34" charset="0"/>
                <a:ea typeface="Noto Sans JP Medium" pitchFamily="34" charset="-122"/>
                <a:cs typeface="Noto Sans JP Medium" pitchFamily="34" charset="-120"/>
              </a:rPr>
              <a:t>組織</a:t>
            </a:r>
            <a:endParaRPr lang="en-US" sz="660" dirty="0"/>
          </a:p>
        </p:txBody>
      </p:sp>
      <p:sp>
        <p:nvSpPr>
          <p:cNvPr id="12" name="Text 10"/>
          <p:cNvSpPr/>
          <p:nvPr/>
        </p:nvSpPr>
        <p:spPr>
          <a:xfrm>
            <a:off x="1524666" y="3352677"/>
            <a:ext cx="2271276"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投資を担う2本部と、トレーディングを担う1本部</a:t>
            </a:r>
            <a:endParaRPr lang="en-US" sz="660" dirty="0"/>
          </a:p>
        </p:txBody>
      </p:sp>
      <p:sp>
        <p:nvSpPr>
          <p:cNvPr id="13" name="Text 11"/>
          <p:cNvSpPr/>
          <p:nvPr/>
        </p:nvSpPr>
        <p:spPr>
          <a:xfrm>
            <a:off x="3432285" y="3714785"/>
            <a:ext cx="631704" cy="101644"/>
          </a:xfrm>
          <a:prstGeom prst="rect">
            <a:avLst/>
          </a:prstGeom>
          <a:noFill/>
          <a:ln/>
        </p:spPr>
        <p:txBody>
          <a:bodyPr wrap="none" lIns="0" tIns="0" rIns="0" bIns="0" rtlCol="0" anchor="t"/>
          <a:lstStyle/>
          <a:p>
            <a:pPr algn="ctr" indent="0" marL="0">
              <a:lnSpc>
                <a:spcPts val="800"/>
              </a:lnSpc>
              <a:buNone/>
            </a:pPr>
            <a:r>
              <a:rPr lang="en-US" sz="640" spc="30" kern="0" dirty="0">
                <a:solidFill>
                  <a:srgbClr val="121519"/>
                </a:solidFill>
                <a:latin typeface="Noto Sans JP Medium" pitchFamily="34" charset="0"/>
                <a:ea typeface="Noto Sans JP Medium" pitchFamily="34" charset="-122"/>
                <a:cs typeface="Noto Sans JP Medium" pitchFamily="34" charset="-120"/>
              </a:rPr>
              <a:t>グループCEO</a:t>
            </a:r>
            <a:endParaRPr lang="en-US" sz="640" dirty="0"/>
          </a:p>
        </p:txBody>
      </p:sp>
      <p:sp>
        <p:nvSpPr>
          <p:cNvPr id="14" name="Text 12"/>
          <p:cNvSpPr/>
          <p:nvPr/>
        </p:nvSpPr>
        <p:spPr>
          <a:xfrm>
            <a:off x="622572" y="4280182"/>
            <a:ext cx="240810" cy="76233"/>
          </a:xfrm>
          <a:prstGeom prst="rect">
            <a:avLst/>
          </a:prstGeom>
          <a:noFill/>
          <a:ln/>
        </p:spPr>
        <p:txBody>
          <a:bodyPr wrap="none" lIns="0" tIns="0" rIns="0" bIns="0" rtlCol="0" anchor="t"/>
          <a:lstStyle/>
          <a:p>
            <a:pPr algn="l" indent="0" marL="0">
              <a:lnSpc>
                <a:spcPts val="600"/>
              </a:lnSpc>
              <a:buNone/>
            </a:pPr>
            <a:r>
              <a:rPr lang="en-US" sz="560" spc="120" kern="0" dirty="0">
                <a:solidFill>
                  <a:srgbClr val="FFFFFF"/>
                </a:solidFill>
                <a:latin typeface="Noto Sans JP" pitchFamily="34" charset="0"/>
                <a:ea typeface="Noto Sans JP" pitchFamily="34" charset="-122"/>
                <a:cs typeface="Noto Sans JP" pitchFamily="34" charset="-120"/>
              </a:rPr>
              <a:t>投資</a:t>
            </a:r>
            <a:endParaRPr lang="en-US" sz="560" dirty="0"/>
          </a:p>
        </p:txBody>
      </p:sp>
      <p:sp>
        <p:nvSpPr>
          <p:cNvPr id="15" name="Text 13"/>
          <p:cNvSpPr/>
          <p:nvPr/>
        </p:nvSpPr>
        <p:spPr>
          <a:xfrm>
            <a:off x="622572" y="4407238"/>
            <a:ext cx="753121" cy="152467"/>
          </a:xfrm>
          <a:prstGeom prst="rect">
            <a:avLst/>
          </a:prstGeom>
          <a:noFill/>
          <a:ln/>
        </p:spPr>
        <p:txBody>
          <a:bodyPr wrap="none" lIns="0" tIns="0" rIns="0" bIns="0" rtlCol="0" anchor="t"/>
          <a:lstStyle/>
          <a:p>
            <a:pPr algn="l" indent="0" marL="0">
              <a:lnSpc>
                <a:spcPts val="1200"/>
              </a:lnSpc>
              <a:buNone/>
            </a:pPr>
            <a:r>
              <a:rPr lang="en-US" sz="840" dirty="0">
                <a:solidFill>
                  <a:srgbClr val="FFFFFF"/>
                </a:solidFill>
                <a:latin typeface="Noto Sans JP Medium" pitchFamily="34" charset="0"/>
                <a:ea typeface="Noto Sans JP Medium" pitchFamily="34" charset="-122"/>
                <a:cs typeface="Noto Sans JP Medium" pitchFamily="34" charset="-120"/>
              </a:rPr>
              <a:t>鉄鋼原料本部</a:t>
            </a:r>
            <a:endParaRPr lang="en-US" sz="840" dirty="0"/>
          </a:p>
        </p:txBody>
      </p:sp>
      <p:sp>
        <p:nvSpPr>
          <p:cNvPr id="16" name="Text 14"/>
          <p:cNvSpPr/>
          <p:nvPr/>
        </p:nvSpPr>
        <p:spPr>
          <a:xfrm>
            <a:off x="508222" y="4848946"/>
            <a:ext cx="803348" cy="145733"/>
          </a:xfrm>
          <a:prstGeom prst="rect">
            <a:avLst/>
          </a:prstGeom>
          <a:noFill/>
          <a:ln/>
        </p:spPr>
        <p:txBody>
          <a:bodyPr wrap="none" lIns="0" tIns="0" rIns="0" bIns="0" rtlCol="0" anchor="t"/>
          <a:lstStyle/>
          <a:p>
            <a:pPr algn="l" indent="0" marL="0">
              <a:lnSpc>
                <a:spcPts val="1147"/>
              </a:lnSpc>
              <a:buNone/>
            </a:pPr>
            <a:r>
              <a:rPr lang="en-US" sz="740" spc="30" kern="0" dirty="0">
                <a:solidFill>
                  <a:srgbClr val="121519"/>
                </a:solidFill>
                <a:latin typeface="Noto Sans JP Medium" pitchFamily="34" charset="0"/>
                <a:ea typeface="Noto Sans JP Medium" pitchFamily="34" charset="-122"/>
                <a:cs typeface="Noto Sans JP Medium" pitchFamily="34" charset="-120"/>
              </a:rPr>
              <a:t>原料炭・鉄鉱石</a:t>
            </a:r>
            <a:endParaRPr lang="en-US" sz="740" dirty="0"/>
          </a:p>
        </p:txBody>
      </p:sp>
      <p:sp>
        <p:nvSpPr>
          <p:cNvPr id="17" name="Text 15"/>
          <p:cNvSpPr/>
          <p:nvPr/>
        </p:nvSpPr>
        <p:spPr>
          <a:xfrm>
            <a:off x="508222" y="5025235"/>
            <a:ext cx="904456"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主要関係会社：MDP</a:t>
            </a:r>
            <a:endParaRPr lang="en-US" sz="670" dirty="0"/>
          </a:p>
        </p:txBody>
      </p:sp>
      <p:sp>
        <p:nvSpPr>
          <p:cNvPr id="18" name="Text 16"/>
          <p:cNvSpPr/>
          <p:nvPr/>
        </p:nvSpPr>
        <p:spPr>
          <a:xfrm>
            <a:off x="2807926" y="4280182"/>
            <a:ext cx="240810" cy="76233"/>
          </a:xfrm>
          <a:prstGeom prst="rect">
            <a:avLst/>
          </a:prstGeom>
          <a:noFill/>
          <a:ln/>
        </p:spPr>
        <p:txBody>
          <a:bodyPr wrap="none" lIns="0" tIns="0" rIns="0" bIns="0" rtlCol="0" anchor="t"/>
          <a:lstStyle/>
          <a:p>
            <a:pPr algn="l" indent="0" marL="0">
              <a:lnSpc>
                <a:spcPts val="600"/>
              </a:lnSpc>
              <a:buNone/>
            </a:pPr>
            <a:r>
              <a:rPr lang="en-US" sz="560" spc="120" kern="0" dirty="0">
                <a:solidFill>
                  <a:srgbClr val="FFFFFF"/>
                </a:solidFill>
                <a:latin typeface="Noto Sans JP" pitchFamily="34" charset="0"/>
                <a:ea typeface="Noto Sans JP" pitchFamily="34" charset="-122"/>
                <a:cs typeface="Noto Sans JP" pitchFamily="34" charset="-120"/>
              </a:rPr>
              <a:t>投資</a:t>
            </a:r>
            <a:endParaRPr lang="en-US" sz="560" dirty="0"/>
          </a:p>
        </p:txBody>
      </p:sp>
      <p:sp>
        <p:nvSpPr>
          <p:cNvPr id="19" name="Text 17"/>
          <p:cNvSpPr/>
          <p:nvPr/>
        </p:nvSpPr>
        <p:spPr>
          <a:xfrm>
            <a:off x="2807926" y="4407238"/>
            <a:ext cx="1448433" cy="152467"/>
          </a:xfrm>
          <a:prstGeom prst="rect">
            <a:avLst/>
          </a:prstGeom>
          <a:noFill/>
          <a:ln/>
        </p:spPr>
        <p:txBody>
          <a:bodyPr wrap="none" lIns="0" tIns="0" rIns="0" bIns="0" rtlCol="0" anchor="t"/>
          <a:lstStyle/>
          <a:p>
            <a:pPr algn="l" indent="0" marL="0">
              <a:lnSpc>
                <a:spcPts val="1200"/>
              </a:lnSpc>
              <a:buNone/>
            </a:pPr>
            <a:r>
              <a:rPr lang="en-US" sz="840" dirty="0">
                <a:solidFill>
                  <a:srgbClr val="FFFFFF"/>
                </a:solidFill>
                <a:latin typeface="Noto Sans JP Medium" pitchFamily="34" charset="0"/>
                <a:ea typeface="Noto Sans JP Medium" pitchFamily="34" charset="-122"/>
                <a:cs typeface="Noto Sans JP Medium" pitchFamily="34" charset="-120"/>
              </a:rPr>
              <a:t>クリティカルミネラル本部</a:t>
            </a:r>
            <a:endParaRPr lang="en-US" sz="840" dirty="0"/>
          </a:p>
        </p:txBody>
      </p:sp>
      <p:sp>
        <p:nvSpPr>
          <p:cNvPr id="20" name="Text 18"/>
          <p:cNvSpPr/>
          <p:nvPr/>
        </p:nvSpPr>
        <p:spPr>
          <a:xfrm>
            <a:off x="2693577" y="4848946"/>
            <a:ext cx="1904621" cy="145733"/>
          </a:xfrm>
          <a:prstGeom prst="rect">
            <a:avLst/>
          </a:prstGeom>
          <a:noFill/>
          <a:ln/>
        </p:spPr>
        <p:txBody>
          <a:bodyPr wrap="none" lIns="0" tIns="0" rIns="0" bIns="0" rtlCol="0" anchor="t"/>
          <a:lstStyle/>
          <a:p>
            <a:pPr algn="l" indent="0" marL="0">
              <a:lnSpc>
                <a:spcPts val="1147"/>
              </a:lnSpc>
              <a:buNone/>
            </a:pPr>
            <a:r>
              <a:rPr lang="en-US" sz="740" spc="30" kern="0" dirty="0">
                <a:solidFill>
                  <a:srgbClr val="121519"/>
                </a:solidFill>
                <a:latin typeface="Noto Sans JP Medium" pitchFamily="34" charset="0"/>
                <a:ea typeface="Noto Sans JP Medium" pitchFamily="34" charset="-122"/>
                <a:cs typeface="Noto Sans JP Medium" pitchFamily="34" charset="-120"/>
              </a:rPr>
              <a:t>銅・ニッケル・リチウム・アルミ ほか</a:t>
            </a:r>
            <a:endParaRPr lang="en-US" sz="740" dirty="0"/>
          </a:p>
        </p:txBody>
      </p:sp>
      <p:sp>
        <p:nvSpPr>
          <p:cNvPr id="21" name="Text 19"/>
          <p:cNvSpPr/>
          <p:nvPr/>
        </p:nvSpPr>
        <p:spPr>
          <a:xfrm>
            <a:off x="2693577" y="5025235"/>
            <a:ext cx="1184415"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主要関係会社：MCI · MCIP</a:t>
            </a:r>
            <a:endParaRPr lang="en-US" sz="670" dirty="0"/>
          </a:p>
        </p:txBody>
      </p:sp>
      <p:sp>
        <p:nvSpPr>
          <p:cNvPr id="22" name="Text 20"/>
          <p:cNvSpPr/>
          <p:nvPr/>
        </p:nvSpPr>
        <p:spPr>
          <a:xfrm>
            <a:off x="4993281" y="4280182"/>
            <a:ext cx="726480" cy="76233"/>
          </a:xfrm>
          <a:prstGeom prst="rect">
            <a:avLst/>
          </a:prstGeom>
          <a:noFill/>
          <a:ln/>
        </p:spPr>
        <p:txBody>
          <a:bodyPr wrap="none" lIns="0" tIns="0" rIns="0" bIns="0" rtlCol="0" anchor="t"/>
          <a:lstStyle/>
          <a:p>
            <a:pPr algn="l" indent="0" marL="0">
              <a:lnSpc>
                <a:spcPts val="600"/>
              </a:lnSpc>
              <a:buNone/>
            </a:pPr>
            <a:r>
              <a:rPr lang="en-US" sz="560" spc="120" kern="0" dirty="0">
                <a:solidFill>
                  <a:srgbClr val="FFFFFF"/>
                </a:solidFill>
                <a:latin typeface="Noto Sans JP" pitchFamily="34" charset="0"/>
                <a:ea typeface="Noto Sans JP" pitchFamily="34" charset="-122"/>
                <a:cs typeface="Noto Sans JP" pitchFamily="34" charset="-120"/>
              </a:rPr>
              <a:t>トレーディング</a:t>
            </a:r>
            <a:endParaRPr lang="en-US" sz="560" dirty="0"/>
          </a:p>
        </p:txBody>
      </p:sp>
      <p:sp>
        <p:nvSpPr>
          <p:cNvPr id="23" name="Text 21"/>
          <p:cNvSpPr/>
          <p:nvPr/>
        </p:nvSpPr>
        <p:spPr>
          <a:xfrm>
            <a:off x="4993281" y="4407238"/>
            <a:ext cx="1564391" cy="152467"/>
          </a:xfrm>
          <a:prstGeom prst="rect">
            <a:avLst/>
          </a:prstGeom>
          <a:noFill/>
          <a:ln/>
        </p:spPr>
        <p:txBody>
          <a:bodyPr wrap="none" lIns="0" tIns="0" rIns="0" bIns="0" rtlCol="0" anchor="t"/>
          <a:lstStyle/>
          <a:p>
            <a:pPr algn="l" indent="0" marL="0">
              <a:lnSpc>
                <a:spcPts val="1200"/>
              </a:lnSpc>
              <a:buNone/>
            </a:pPr>
            <a:r>
              <a:rPr lang="en-US" sz="840" dirty="0">
                <a:solidFill>
                  <a:srgbClr val="FFFFFF"/>
                </a:solidFill>
                <a:latin typeface="Noto Sans JP Medium" pitchFamily="34" charset="0"/>
                <a:ea typeface="Noto Sans JP Medium" pitchFamily="34" charset="-122"/>
                <a:cs typeface="Noto Sans JP Medium" pitchFamily="34" charset="-120"/>
              </a:rPr>
              <a:t>金属資源トレーディング本部</a:t>
            </a:r>
            <a:endParaRPr lang="en-US" sz="840" dirty="0"/>
          </a:p>
        </p:txBody>
      </p:sp>
      <p:sp>
        <p:nvSpPr>
          <p:cNvPr id="24" name="Text 22"/>
          <p:cNvSpPr/>
          <p:nvPr/>
        </p:nvSpPr>
        <p:spPr>
          <a:xfrm>
            <a:off x="4878931" y="4848946"/>
            <a:ext cx="1490143" cy="145733"/>
          </a:xfrm>
          <a:prstGeom prst="rect">
            <a:avLst/>
          </a:prstGeom>
          <a:noFill/>
          <a:ln/>
        </p:spPr>
        <p:txBody>
          <a:bodyPr wrap="none" lIns="0" tIns="0" rIns="0" bIns="0" rtlCol="0" anchor="t"/>
          <a:lstStyle/>
          <a:p>
            <a:pPr algn="l" indent="0" marL="0">
              <a:lnSpc>
                <a:spcPts val="1147"/>
              </a:lnSpc>
              <a:buNone/>
            </a:pPr>
            <a:r>
              <a:rPr lang="en-US" sz="740" spc="30" kern="0" dirty="0">
                <a:solidFill>
                  <a:srgbClr val="121519"/>
                </a:solidFill>
                <a:latin typeface="Noto Sans JP Medium" pitchFamily="34" charset="0"/>
                <a:ea typeface="Noto Sans JP Medium" pitchFamily="34" charset="-122"/>
                <a:cs typeface="Noto Sans JP Medium" pitchFamily="34" charset="-120"/>
              </a:rPr>
              <a:t>RtM（Resource to Market）</a:t>
            </a:r>
            <a:endParaRPr lang="en-US" sz="740" dirty="0"/>
          </a:p>
        </p:txBody>
      </p:sp>
      <p:sp>
        <p:nvSpPr>
          <p:cNvPr id="25" name="Text 23"/>
          <p:cNvSpPr/>
          <p:nvPr/>
        </p:nvSpPr>
        <p:spPr>
          <a:xfrm>
            <a:off x="4878931" y="5025235"/>
            <a:ext cx="1579895"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主要関係会社：RtM · Triland Metals</a:t>
            </a:r>
            <a:endParaRPr lang="en-US" sz="670" dirty="0"/>
          </a:p>
        </p:txBody>
      </p:sp>
      <p:sp>
        <p:nvSpPr>
          <p:cNvPr id="26" name="Text 24"/>
          <p:cNvSpPr/>
          <p:nvPr/>
        </p:nvSpPr>
        <p:spPr>
          <a:xfrm>
            <a:off x="508222" y="5461798"/>
            <a:ext cx="406994"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Noto Sans JP Medium" pitchFamily="34" charset="0"/>
                <a:ea typeface="Noto Sans JP Medium" pitchFamily="34" charset="-122"/>
                <a:cs typeface="Noto Sans JP Medium" pitchFamily="34" charset="-120"/>
              </a:rPr>
              <a:t>三綱領</a:t>
            </a:r>
            <a:endParaRPr lang="en-US" sz="660" dirty="0"/>
          </a:p>
        </p:txBody>
      </p:sp>
      <p:sp>
        <p:nvSpPr>
          <p:cNvPr id="27" name="Text 25"/>
          <p:cNvSpPr/>
          <p:nvPr/>
        </p:nvSpPr>
        <p:spPr>
          <a:xfrm>
            <a:off x="1270555" y="5461798"/>
            <a:ext cx="955775"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三菱商事の企業理念</a:t>
            </a:r>
            <a:endParaRPr lang="en-US" sz="660" dirty="0"/>
          </a:p>
        </p:txBody>
      </p:sp>
      <p:sp>
        <p:nvSpPr>
          <p:cNvPr id="28" name="Text 26"/>
          <p:cNvSpPr/>
          <p:nvPr/>
        </p:nvSpPr>
        <p:spPr>
          <a:xfrm>
            <a:off x="508222" y="5709556"/>
            <a:ext cx="861436" cy="266817"/>
          </a:xfrm>
          <a:prstGeom prst="rect">
            <a:avLst/>
          </a:prstGeom>
          <a:noFill/>
          <a:ln/>
        </p:spPr>
        <p:txBody>
          <a:bodyPr wrap="none" lIns="0" tIns="0" rIns="0" bIns="0" rtlCol="0" anchor="t"/>
          <a:lstStyle/>
          <a:p>
            <a:pPr algn="l" indent="0" marL="0">
              <a:lnSpc>
                <a:spcPts val="2100"/>
              </a:lnSpc>
              <a:buNone/>
            </a:pPr>
            <a:r>
              <a:rPr lang="en-US" sz="1400" spc="50" kern="0" dirty="0">
                <a:solidFill>
                  <a:srgbClr val="121519"/>
                </a:solidFill>
                <a:latin typeface="Noto Sans JP Medium" pitchFamily="34" charset="0"/>
                <a:ea typeface="Noto Sans JP Medium" pitchFamily="34" charset="-122"/>
                <a:cs typeface="Noto Sans JP Medium" pitchFamily="34" charset="-120"/>
              </a:rPr>
              <a:t>所期奉公</a:t>
            </a:r>
            <a:endParaRPr lang="en-US" sz="1400" dirty="0"/>
          </a:p>
        </p:txBody>
      </p:sp>
      <p:sp>
        <p:nvSpPr>
          <p:cNvPr id="29" name="Text 27"/>
          <p:cNvSpPr/>
          <p:nvPr/>
        </p:nvSpPr>
        <p:spPr>
          <a:xfrm>
            <a:off x="508222" y="5970020"/>
            <a:ext cx="720147"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9C7442"/>
                </a:solidFill>
                <a:latin typeface="Noto Sans JP Medium" pitchFamily="34" charset="0"/>
                <a:ea typeface="Noto Sans JP Medium" pitchFamily="34" charset="-122"/>
                <a:cs typeface="Noto Sans JP Medium" pitchFamily="34" charset="-120"/>
              </a:rPr>
              <a:t>しょきほうこう</a:t>
            </a:r>
            <a:endParaRPr lang="en-US" sz="640" dirty="0"/>
          </a:p>
        </p:txBody>
      </p:sp>
      <p:sp>
        <p:nvSpPr>
          <p:cNvPr id="30" name="Text 28"/>
          <p:cNvSpPr/>
          <p:nvPr/>
        </p:nvSpPr>
        <p:spPr>
          <a:xfrm>
            <a:off x="508222" y="6117913"/>
            <a:ext cx="2200522" cy="408610"/>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事業を通じ、物心共に豊かな社会の実現に努力する</a:t>
            </a:r>
            <a:endParaRPr lang="en-US" sz="670" dirty="0"/>
          </a:p>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と同時に、かけがえのない地球環境の維持にも貢献</a:t>
            </a:r>
            <a:endParaRPr lang="en-US" sz="670" dirty="0"/>
          </a:p>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する</a:t>
            </a:r>
            <a:endParaRPr lang="en-US" sz="670" dirty="0"/>
          </a:p>
        </p:txBody>
      </p:sp>
      <p:sp>
        <p:nvSpPr>
          <p:cNvPr id="31" name="Text 29"/>
          <p:cNvSpPr/>
          <p:nvPr/>
        </p:nvSpPr>
        <p:spPr>
          <a:xfrm>
            <a:off x="2693577" y="5709556"/>
            <a:ext cx="861436" cy="266817"/>
          </a:xfrm>
          <a:prstGeom prst="rect">
            <a:avLst/>
          </a:prstGeom>
          <a:noFill/>
          <a:ln/>
        </p:spPr>
        <p:txBody>
          <a:bodyPr wrap="none" lIns="0" tIns="0" rIns="0" bIns="0" rtlCol="0" anchor="t"/>
          <a:lstStyle/>
          <a:p>
            <a:pPr algn="l" indent="0" marL="0">
              <a:lnSpc>
                <a:spcPts val="2100"/>
              </a:lnSpc>
              <a:buNone/>
            </a:pPr>
            <a:r>
              <a:rPr lang="en-US" sz="1400" spc="50" kern="0" dirty="0">
                <a:solidFill>
                  <a:srgbClr val="121519"/>
                </a:solidFill>
                <a:latin typeface="Noto Sans JP Medium" pitchFamily="34" charset="0"/>
                <a:ea typeface="Noto Sans JP Medium" pitchFamily="34" charset="-122"/>
                <a:cs typeface="Noto Sans JP Medium" pitchFamily="34" charset="-120"/>
              </a:rPr>
              <a:t>処事光明</a:t>
            </a:r>
            <a:endParaRPr lang="en-US" sz="1400" dirty="0"/>
          </a:p>
        </p:txBody>
      </p:sp>
      <p:sp>
        <p:nvSpPr>
          <p:cNvPr id="32" name="Text 30"/>
          <p:cNvSpPr/>
          <p:nvPr/>
        </p:nvSpPr>
        <p:spPr>
          <a:xfrm>
            <a:off x="2693577" y="5970020"/>
            <a:ext cx="720147"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9C7442"/>
                </a:solidFill>
                <a:latin typeface="Noto Sans JP Medium" pitchFamily="34" charset="0"/>
                <a:ea typeface="Noto Sans JP Medium" pitchFamily="34" charset="-122"/>
                <a:cs typeface="Noto Sans JP Medium" pitchFamily="34" charset="-120"/>
              </a:rPr>
              <a:t>しょじこうめい</a:t>
            </a:r>
            <a:endParaRPr lang="en-US" sz="640" dirty="0"/>
          </a:p>
        </p:txBody>
      </p:sp>
      <p:sp>
        <p:nvSpPr>
          <p:cNvPr id="33" name="Text 31"/>
          <p:cNvSpPr/>
          <p:nvPr/>
        </p:nvSpPr>
        <p:spPr>
          <a:xfrm>
            <a:off x="2693577" y="6117913"/>
            <a:ext cx="2107057" cy="272407"/>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公明正大で品格のある行動を旨とし、活動の公開</a:t>
            </a:r>
            <a:endParaRPr lang="en-US" sz="670" dirty="0"/>
          </a:p>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性、透明性を堅持する</a:t>
            </a:r>
            <a:endParaRPr lang="en-US" sz="670" dirty="0"/>
          </a:p>
        </p:txBody>
      </p:sp>
      <p:sp>
        <p:nvSpPr>
          <p:cNvPr id="34" name="Text 32"/>
          <p:cNvSpPr/>
          <p:nvPr/>
        </p:nvSpPr>
        <p:spPr>
          <a:xfrm>
            <a:off x="4878931" y="5709556"/>
            <a:ext cx="861436" cy="266817"/>
          </a:xfrm>
          <a:prstGeom prst="rect">
            <a:avLst/>
          </a:prstGeom>
          <a:noFill/>
          <a:ln/>
        </p:spPr>
        <p:txBody>
          <a:bodyPr wrap="none" lIns="0" tIns="0" rIns="0" bIns="0" rtlCol="0" anchor="t"/>
          <a:lstStyle/>
          <a:p>
            <a:pPr algn="l" indent="0" marL="0">
              <a:lnSpc>
                <a:spcPts val="2100"/>
              </a:lnSpc>
              <a:buNone/>
            </a:pPr>
            <a:r>
              <a:rPr lang="en-US" sz="1400" spc="50" kern="0" dirty="0">
                <a:solidFill>
                  <a:srgbClr val="121519"/>
                </a:solidFill>
                <a:latin typeface="Noto Sans JP Medium" pitchFamily="34" charset="0"/>
                <a:ea typeface="Noto Sans JP Medium" pitchFamily="34" charset="-122"/>
                <a:cs typeface="Noto Sans JP Medium" pitchFamily="34" charset="-120"/>
              </a:rPr>
              <a:t>立業貿易</a:t>
            </a:r>
            <a:endParaRPr lang="en-US" sz="1400" dirty="0"/>
          </a:p>
        </p:txBody>
      </p:sp>
      <p:sp>
        <p:nvSpPr>
          <p:cNvPr id="35" name="Text 33"/>
          <p:cNvSpPr/>
          <p:nvPr/>
        </p:nvSpPr>
        <p:spPr>
          <a:xfrm>
            <a:off x="4878931" y="5970020"/>
            <a:ext cx="911445"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9C7442"/>
                </a:solidFill>
                <a:latin typeface="Noto Sans JP Medium" pitchFamily="34" charset="0"/>
                <a:ea typeface="Noto Sans JP Medium" pitchFamily="34" charset="-122"/>
                <a:cs typeface="Noto Sans JP Medium" pitchFamily="34" charset="-120"/>
              </a:rPr>
              <a:t>りつぎょうぼうえき</a:t>
            </a:r>
            <a:endParaRPr lang="en-US" sz="640" dirty="0"/>
          </a:p>
        </p:txBody>
      </p:sp>
      <p:sp>
        <p:nvSpPr>
          <p:cNvPr id="36" name="Text 34"/>
          <p:cNvSpPr/>
          <p:nvPr/>
        </p:nvSpPr>
        <p:spPr>
          <a:xfrm>
            <a:off x="4878931" y="6117913"/>
            <a:ext cx="2107057"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全世界的、宇宙的視野に立脚した事業展開を図る</a:t>
            </a:r>
            <a:endParaRPr lang="en-US" sz="670" dirty="0"/>
          </a:p>
        </p:txBody>
      </p:sp>
      <p:sp>
        <p:nvSpPr>
          <p:cNvPr id="37" name="Text 35"/>
          <p:cNvSpPr/>
          <p:nvPr/>
        </p:nvSpPr>
        <p:spPr>
          <a:xfrm>
            <a:off x="8068024" y="508222"/>
            <a:ext cx="372273"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Noto Sans JP Medium" pitchFamily="34" charset="0"/>
                <a:ea typeface="Noto Sans JP Medium" pitchFamily="34" charset="-122"/>
                <a:cs typeface="Noto Sans JP Medium" pitchFamily="34" charset="-120"/>
              </a:rPr>
              <a:t>第2章</a:t>
            </a:r>
            <a:endParaRPr lang="en-US" sz="660" dirty="0"/>
          </a:p>
        </p:txBody>
      </p:sp>
      <p:sp>
        <p:nvSpPr>
          <p:cNvPr id="38" name="Text 36"/>
          <p:cNvSpPr/>
          <p:nvPr/>
        </p:nvSpPr>
        <p:spPr>
          <a:xfrm>
            <a:off x="8068024" y="647983"/>
            <a:ext cx="955775"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独自価値｜一級資産</a:t>
            </a:r>
            <a:endParaRPr lang="en-US" sz="660" dirty="0"/>
          </a:p>
        </p:txBody>
      </p:sp>
      <p:sp>
        <p:nvSpPr>
          <p:cNvPr id="39" name="Text 37"/>
          <p:cNvSpPr/>
          <p:nvPr/>
        </p:nvSpPr>
        <p:spPr>
          <a:xfrm>
            <a:off x="8068024" y="883798"/>
            <a:ext cx="3620625" cy="1140450"/>
          </a:xfrm>
          <a:prstGeom prst="rect">
            <a:avLst/>
          </a:prstGeom>
          <a:noFill/>
          <a:ln/>
        </p:spPr>
        <p:txBody>
          <a:bodyPr wrap="none" lIns="0" tIns="0" rIns="0" bIns="0" rtlCol="0" anchor="t"/>
          <a:lstStyle/>
          <a:p>
            <a:pPr algn="l" indent="0" marL="0">
              <a:lnSpc>
                <a:spcPts val="4488"/>
              </a:lnSpc>
              <a:buNone/>
            </a:pPr>
            <a:r>
              <a:rPr lang="en-US" sz="4400" spc="-110" kern="0" dirty="0">
                <a:solidFill>
                  <a:srgbClr val="121519"/>
                </a:solidFill>
                <a:latin typeface="Inter Tight SemiBold" pitchFamily="34" charset="0"/>
                <a:ea typeface="Inter Tight SemiBold" pitchFamily="34" charset="-122"/>
                <a:cs typeface="Inter Tight SemiBold" pitchFamily="34" charset="-120"/>
              </a:rPr>
              <a:t>Tier-1 assets</a:t>
            </a:r>
            <a:endParaRPr lang="en-US" sz="4400" dirty="0"/>
          </a:p>
          <a:p>
            <a:pPr algn="l" indent="0" marL="0">
              <a:lnSpc>
                <a:spcPts val="4488"/>
              </a:lnSpc>
              <a:buNone/>
            </a:pPr>
            <a:r>
              <a:rPr lang="en-US" sz="4400" spc="-110" kern="0" dirty="0">
                <a:solidFill>
                  <a:srgbClr val="121519"/>
                </a:solidFill>
                <a:latin typeface="Inter Tight SemiBold" pitchFamily="34" charset="0"/>
                <a:ea typeface="Inter Tight SemiBold" pitchFamily="34" charset="-122"/>
                <a:cs typeface="Inter Tight SemiBold" pitchFamily="34" charset="-120"/>
              </a:rPr>
              <a:t>at the source.</a:t>
            </a:r>
            <a:endParaRPr lang="en-US" sz="4400" dirty="0"/>
          </a:p>
        </p:txBody>
      </p:sp>
      <p:sp>
        <p:nvSpPr>
          <p:cNvPr id="40" name="Text 38"/>
          <p:cNvSpPr/>
          <p:nvPr/>
        </p:nvSpPr>
        <p:spPr>
          <a:xfrm>
            <a:off x="8068024" y="2301293"/>
            <a:ext cx="3726101" cy="219171"/>
          </a:xfrm>
          <a:prstGeom prst="rect">
            <a:avLst/>
          </a:prstGeom>
          <a:noFill/>
          <a:ln/>
        </p:spPr>
        <p:txBody>
          <a:bodyPr wrap="none" lIns="0" tIns="0" rIns="0" bIns="0" rtlCol="0" anchor="t"/>
          <a:lstStyle/>
          <a:p>
            <a:pPr algn="l" indent="0" marL="0">
              <a:lnSpc>
                <a:spcPts val="1725"/>
              </a:lnSpc>
              <a:buNone/>
            </a:pPr>
            <a:r>
              <a:rPr lang="en-US" sz="1150" spc="50" kern="0" dirty="0">
                <a:solidFill>
                  <a:srgbClr val="121519"/>
                </a:solidFill>
                <a:latin typeface="Noto Sans JP Medium" pitchFamily="34" charset="0"/>
                <a:ea typeface="Noto Sans JP Medium" pitchFamily="34" charset="-122"/>
                <a:cs typeface="Noto Sans JP Medium" pitchFamily="34" charset="-120"/>
              </a:rPr>
              <a:t>バリューチェーンの起点で、一級資産を保有する</a:t>
            </a:r>
            <a:endParaRPr lang="en-US" sz="1150" dirty="0"/>
          </a:p>
        </p:txBody>
      </p:sp>
      <p:sp>
        <p:nvSpPr>
          <p:cNvPr id="41" name="Text 39"/>
          <p:cNvSpPr/>
          <p:nvPr/>
        </p:nvSpPr>
        <p:spPr>
          <a:xfrm>
            <a:off x="8068024" y="2568141"/>
            <a:ext cx="3544848" cy="723962"/>
          </a:xfrm>
          <a:prstGeom prst="rect">
            <a:avLst/>
          </a:prstGeom>
          <a:noFill/>
          <a:ln/>
        </p:spPr>
        <p:txBody>
          <a:bodyPr wrap="none" lIns="0" tIns="0" rIns="0" bIns="0" rtlCol="0" anchor="t"/>
          <a:lstStyle/>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資源事業は規模の経済が働くビジネスです。私たちは、規模で世界上</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位に入る優良鉱山に早くから参画し、現在では資金があっても手に入</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らない資産のポートフォリオを築いてきました。その中核が、原料炭</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と銅です。</a:t>
            </a:r>
            <a:endParaRPr lang="en-US" sz="770" dirty="0"/>
          </a:p>
        </p:txBody>
      </p:sp>
      <p:sp>
        <p:nvSpPr>
          <p:cNvPr id="42" name="Text 40"/>
          <p:cNvSpPr/>
          <p:nvPr/>
        </p:nvSpPr>
        <p:spPr>
          <a:xfrm>
            <a:off x="12395455" y="5352411"/>
            <a:ext cx="1095318" cy="254111"/>
          </a:xfrm>
          <a:prstGeom prst="rect">
            <a:avLst/>
          </a:prstGeom>
          <a:noFill/>
          <a:ln/>
        </p:spPr>
        <p:txBody>
          <a:bodyPr wrap="none" lIns="0" tIns="0" rIns="0" bIns="0" rtlCol="0" anchor="t"/>
          <a:lstStyle/>
          <a:p>
            <a:pPr algn="l" indent="0" marL="0">
              <a:lnSpc>
                <a:spcPts val="1000"/>
              </a:lnSpc>
              <a:buNone/>
            </a:pPr>
            <a:r>
              <a:rPr lang="en-US" sz="860" dirty="0">
                <a:solidFill>
                  <a:srgbClr val="121519"/>
                </a:solidFill>
                <a:latin typeface="Inter Tight SemiBold" pitchFamily="34" charset="0"/>
                <a:ea typeface="Inter Tight SemiBold" pitchFamily="34" charset="-122"/>
                <a:cs typeface="Inter Tight SemiBold" pitchFamily="34" charset="-120"/>
              </a:rPr>
              <a:t>原料炭</a:t>
            </a:r>
            <a:endParaRPr lang="en-US" sz="860" dirty="0"/>
          </a:p>
          <a:p>
            <a:pPr algn="l" indent="0" marL="0">
              <a:lnSpc>
                <a:spcPts val="1000"/>
              </a:lnSpc>
              <a:buNone/>
            </a:pPr>
            <a:r>
              <a:rPr lang="en-US" sz="670" dirty="0">
                <a:solidFill>
                  <a:srgbClr val="7D838A"/>
                </a:solidFill>
                <a:latin typeface="Noto Sans JP" pitchFamily="34" charset="0"/>
                <a:ea typeface="Noto Sans JP" pitchFamily="34" charset="-122"/>
                <a:cs typeface="Noto Sans JP" pitchFamily="34" charset="-120"/>
              </a:rPr>
              <a:t>豪州 ボーエン・ベースン</a:t>
            </a:r>
            <a:endParaRPr lang="en-US" sz="860" dirty="0"/>
          </a:p>
        </p:txBody>
      </p:sp>
      <p:sp>
        <p:nvSpPr>
          <p:cNvPr id="43" name="Text 41"/>
          <p:cNvSpPr/>
          <p:nvPr/>
        </p:nvSpPr>
        <p:spPr>
          <a:xfrm>
            <a:off x="9938519" y="5409586"/>
            <a:ext cx="611613" cy="254111"/>
          </a:xfrm>
          <a:prstGeom prst="rect">
            <a:avLst/>
          </a:prstGeom>
          <a:noFill/>
          <a:ln/>
        </p:spPr>
        <p:txBody>
          <a:bodyPr wrap="none" lIns="0" tIns="0" rIns="0" bIns="0" rtlCol="0" anchor="t"/>
          <a:lstStyle/>
          <a:p>
            <a:pPr algn="l" indent="0" marL="0">
              <a:lnSpc>
                <a:spcPts val="1000"/>
              </a:lnSpc>
              <a:buNone/>
            </a:pPr>
            <a:r>
              <a:rPr lang="en-US" sz="860" dirty="0">
                <a:solidFill>
                  <a:srgbClr val="121519"/>
                </a:solidFill>
                <a:latin typeface="Inter Tight SemiBold" pitchFamily="34" charset="0"/>
                <a:ea typeface="Inter Tight SemiBold" pitchFamily="34" charset="-122"/>
                <a:cs typeface="Inter Tight SemiBold" pitchFamily="34" charset="-120"/>
              </a:rPr>
              <a:t>銅</a:t>
            </a:r>
            <a:endParaRPr lang="en-US" sz="860" dirty="0"/>
          </a:p>
          <a:p>
            <a:pPr algn="l" indent="0" marL="0">
              <a:lnSpc>
                <a:spcPts val="1000"/>
              </a:lnSpc>
              <a:buNone/>
            </a:pPr>
            <a:r>
              <a:rPr lang="en-US" sz="670" dirty="0">
                <a:solidFill>
                  <a:srgbClr val="7D838A"/>
                </a:solidFill>
                <a:latin typeface="Noto Sans JP" pitchFamily="34" charset="0"/>
                <a:ea typeface="Noto Sans JP" pitchFamily="34" charset="-122"/>
                <a:cs typeface="Noto Sans JP" pitchFamily="34" charset="-120"/>
              </a:rPr>
              <a:t>チリ・ペルー</a:t>
            </a:r>
            <a:endParaRPr lang="en-US" sz="860" dirty="0"/>
          </a:p>
        </p:txBody>
      </p:sp>
      <p:sp>
        <p:nvSpPr>
          <p:cNvPr id="44" name="Text 42"/>
          <p:cNvSpPr/>
          <p:nvPr/>
        </p:nvSpPr>
        <p:spPr>
          <a:xfrm>
            <a:off x="8334841" y="4237499"/>
            <a:ext cx="237753" cy="254111"/>
          </a:xfrm>
          <a:prstGeom prst="rect">
            <a:avLst/>
          </a:prstGeom>
          <a:noFill/>
          <a:ln/>
        </p:spPr>
        <p:txBody>
          <a:bodyPr wrap="none" lIns="0" tIns="0" rIns="0" bIns="0" rtlCol="0" anchor="t"/>
          <a:lstStyle/>
          <a:p>
            <a:pPr algn="l" indent="0" marL="0">
              <a:lnSpc>
                <a:spcPts val="1000"/>
              </a:lnSpc>
              <a:buNone/>
            </a:pPr>
            <a:r>
              <a:rPr lang="en-US" sz="860" dirty="0">
                <a:solidFill>
                  <a:srgbClr val="121519"/>
                </a:solidFill>
                <a:latin typeface="Inter Tight SemiBold" pitchFamily="34" charset="0"/>
                <a:ea typeface="Inter Tight SemiBold" pitchFamily="34" charset="-122"/>
                <a:cs typeface="Inter Tight SemiBold" pitchFamily="34" charset="-120"/>
              </a:rPr>
              <a:t>銅</a:t>
            </a:r>
            <a:endParaRPr lang="en-US" sz="860" dirty="0"/>
          </a:p>
          <a:p>
            <a:pPr algn="l" indent="0" marL="0">
              <a:lnSpc>
                <a:spcPts val="1000"/>
              </a:lnSpc>
              <a:buNone/>
            </a:pPr>
            <a:r>
              <a:rPr lang="en-US" sz="670" dirty="0">
                <a:solidFill>
                  <a:srgbClr val="7D838A"/>
                </a:solidFill>
                <a:latin typeface="Noto Sans JP" pitchFamily="34" charset="0"/>
                <a:ea typeface="Noto Sans JP" pitchFamily="34" charset="-122"/>
                <a:cs typeface="Noto Sans JP" pitchFamily="34" charset="-120"/>
              </a:rPr>
              <a:t>米国</a:t>
            </a:r>
            <a:endParaRPr lang="en-US" sz="860" dirty="0"/>
          </a:p>
        </p:txBody>
      </p:sp>
      <p:sp>
        <p:nvSpPr>
          <p:cNvPr id="45" name="Text 43"/>
          <p:cNvSpPr/>
          <p:nvPr/>
        </p:nvSpPr>
        <p:spPr>
          <a:xfrm>
            <a:off x="8068024" y="6265504"/>
            <a:ext cx="734996" cy="410389"/>
          </a:xfrm>
          <a:prstGeom prst="rect">
            <a:avLst/>
          </a:prstGeom>
          <a:noFill/>
          <a:ln/>
        </p:spPr>
        <p:txBody>
          <a:bodyPr wrap="none" lIns="0" tIns="0" rIns="0" bIns="0" rtlCol="0" anchor="t"/>
          <a:lstStyle/>
          <a:p>
            <a:pPr algn="l" indent="0" marL="0">
              <a:lnSpc>
                <a:spcPts val="3230"/>
              </a:lnSpc>
              <a:buNone/>
            </a:pPr>
            <a:r>
              <a:rPr lang="en-US" sz="3400" spc="-102" kern="0" dirty="0">
                <a:solidFill>
                  <a:srgbClr val="121519"/>
                </a:solidFill>
                <a:latin typeface="Inter Tight SemiBold" pitchFamily="34" charset="0"/>
                <a:ea typeface="Inter Tight SemiBold" pitchFamily="34" charset="-122"/>
                <a:cs typeface="Inter Tight SemiBold" pitchFamily="34" charset="-120"/>
              </a:rPr>
              <a:t>5/5</a:t>
            </a:r>
            <a:endParaRPr lang="en-US" sz="3400" dirty="0"/>
          </a:p>
        </p:txBody>
      </p:sp>
      <p:sp>
        <p:nvSpPr>
          <p:cNvPr id="46" name="Text 44"/>
          <p:cNvSpPr/>
          <p:nvPr/>
        </p:nvSpPr>
        <p:spPr>
          <a:xfrm>
            <a:off x="8068024" y="6731162"/>
            <a:ext cx="553744"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7D838A"/>
                </a:solidFill>
                <a:latin typeface="Noto Sans JP Medium" pitchFamily="34" charset="0"/>
                <a:ea typeface="Noto Sans JP Medium" pitchFamily="34" charset="-122"/>
                <a:cs typeface="Noto Sans JP Medium" pitchFamily="34" charset="-120"/>
              </a:rPr>
              <a:t>主要銅鉱山</a:t>
            </a:r>
            <a:endParaRPr lang="en-US" sz="580" dirty="0"/>
          </a:p>
        </p:txBody>
      </p:sp>
      <p:sp>
        <p:nvSpPr>
          <p:cNvPr id="47" name="Text 45"/>
          <p:cNvSpPr/>
          <p:nvPr/>
        </p:nvSpPr>
        <p:spPr>
          <a:xfrm>
            <a:off x="8068024" y="6866349"/>
            <a:ext cx="2240266" cy="272407"/>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参画する主要5鉱山すべてが、生産規模で世界トップ</a:t>
            </a:r>
            <a:endParaRPr lang="en-US" sz="670" dirty="0"/>
          </a:p>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15</a:t>
            </a:r>
            <a:endParaRPr lang="en-US" sz="670" dirty="0"/>
          </a:p>
        </p:txBody>
      </p:sp>
      <p:sp>
        <p:nvSpPr>
          <p:cNvPr id="48" name="Text 46"/>
          <p:cNvSpPr/>
          <p:nvPr/>
        </p:nvSpPr>
        <p:spPr>
          <a:xfrm>
            <a:off x="10304201" y="6265504"/>
            <a:ext cx="1433801" cy="410389"/>
          </a:xfrm>
          <a:prstGeom prst="rect">
            <a:avLst/>
          </a:prstGeom>
          <a:noFill/>
          <a:ln/>
        </p:spPr>
        <p:txBody>
          <a:bodyPr wrap="none" lIns="0" tIns="0" rIns="0" bIns="0" rtlCol="0" anchor="t"/>
          <a:lstStyle/>
          <a:p>
            <a:pPr algn="l" indent="0" marL="0">
              <a:lnSpc>
                <a:spcPts val="3230"/>
              </a:lnSpc>
              <a:buNone/>
            </a:pPr>
            <a:r>
              <a:rPr lang="en-US" sz="3400" spc="-102" kern="0" dirty="0">
                <a:solidFill>
                  <a:srgbClr val="121519"/>
                </a:solidFill>
                <a:latin typeface="Inter Tight SemiBold" pitchFamily="34" charset="0"/>
                <a:ea typeface="Inter Tight SemiBold" pitchFamily="34" charset="-122"/>
                <a:cs typeface="Inter Tight SemiBold" pitchFamily="34" charset="-120"/>
              </a:rPr>
              <a:t>約50%</a:t>
            </a:r>
            <a:endParaRPr lang="en-US" sz="3400" dirty="0"/>
          </a:p>
        </p:txBody>
      </p:sp>
      <p:sp>
        <p:nvSpPr>
          <p:cNvPr id="49" name="Text 47"/>
          <p:cNvSpPr/>
          <p:nvPr/>
        </p:nvSpPr>
        <p:spPr>
          <a:xfrm>
            <a:off x="10304201" y="6731162"/>
            <a:ext cx="358296"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7D838A"/>
                </a:solidFill>
                <a:latin typeface="Noto Sans JP Medium" pitchFamily="34" charset="0"/>
                <a:ea typeface="Noto Sans JP Medium" pitchFamily="34" charset="-122"/>
                <a:cs typeface="Noto Sans JP Medium" pitchFamily="34" charset="-120"/>
              </a:rPr>
              <a:t>シェア</a:t>
            </a:r>
            <a:endParaRPr lang="en-US" sz="580" dirty="0"/>
          </a:p>
        </p:txBody>
      </p:sp>
      <p:sp>
        <p:nvSpPr>
          <p:cNvPr id="50" name="Text 48"/>
          <p:cNvSpPr/>
          <p:nvPr/>
        </p:nvSpPr>
        <p:spPr>
          <a:xfrm>
            <a:off x="10304201" y="6866349"/>
            <a:ext cx="1927333"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一級強粘炭の世界供給に占めるBMAのシェア</a:t>
            </a:r>
            <a:endParaRPr lang="en-US" sz="670" dirty="0"/>
          </a:p>
        </p:txBody>
      </p:sp>
      <p:sp>
        <p:nvSpPr>
          <p:cNvPr id="51" name="Text 49"/>
          <p:cNvSpPr/>
          <p:nvPr/>
        </p:nvSpPr>
        <p:spPr>
          <a:xfrm>
            <a:off x="12540377" y="6265504"/>
            <a:ext cx="1359772" cy="410389"/>
          </a:xfrm>
          <a:prstGeom prst="rect">
            <a:avLst/>
          </a:prstGeom>
          <a:noFill/>
          <a:ln/>
        </p:spPr>
        <p:txBody>
          <a:bodyPr wrap="none" lIns="0" tIns="0" rIns="0" bIns="0" rtlCol="0" anchor="t"/>
          <a:lstStyle/>
          <a:p>
            <a:pPr algn="l" indent="0" marL="0">
              <a:lnSpc>
                <a:spcPts val="3230"/>
              </a:lnSpc>
              <a:buNone/>
            </a:pPr>
            <a:r>
              <a:rPr lang="en-US" sz="3400" spc="-102" kern="0" dirty="0">
                <a:solidFill>
                  <a:srgbClr val="121519"/>
                </a:solidFill>
                <a:latin typeface="Inter Tight SemiBold" pitchFamily="34" charset="0"/>
                <a:ea typeface="Inter Tight SemiBold" pitchFamily="34" charset="-122"/>
                <a:cs typeface="Inter Tight SemiBold" pitchFamily="34" charset="-120"/>
              </a:rPr>
              <a:t>60年+</a:t>
            </a:r>
            <a:endParaRPr lang="en-US" sz="3400" dirty="0"/>
          </a:p>
        </p:txBody>
      </p:sp>
      <p:sp>
        <p:nvSpPr>
          <p:cNvPr id="52" name="Text 50"/>
          <p:cNvSpPr/>
          <p:nvPr/>
        </p:nvSpPr>
        <p:spPr>
          <a:xfrm>
            <a:off x="12540377" y="6731162"/>
            <a:ext cx="453290"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7D838A"/>
                </a:solidFill>
                <a:latin typeface="Noto Sans JP Medium" pitchFamily="34" charset="0"/>
                <a:ea typeface="Noto Sans JP Medium" pitchFamily="34" charset="-122"/>
                <a:cs typeface="Noto Sans JP Medium" pitchFamily="34" charset="-120"/>
              </a:rPr>
              <a:t>炭鉱寿命</a:t>
            </a:r>
            <a:endParaRPr lang="en-US" sz="580" dirty="0"/>
          </a:p>
        </p:txBody>
      </p:sp>
      <p:sp>
        <p:nvSpPr>
          <p:cNvPr id="53" name="Text 51"/>
          <p:cNvSpPr/>
          <p:nvPr/>
        </p:nvSpPr>
        <p:spPr>
          <a:xfrm>
            <a:off x="12540377" y="6866349"/>
            <a:ext cx="992681"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BMAの炭鉱の可採年数</a:t>
            </a:r>
            <a:endParaRPr lang="en-US" sz="670" dirty="0"/>
          </a:p>
        </p:txBody>
      </p:sp>
      <p:sp>
        <p:nvSpPr>
          <p:cNvPr id="54" name="Text 52"/>
          <p:cNvSpPr/>
          <p:nvPr/>
        </p:nvSpPr>
        <p:spPr>
          <a:xfrm>
            <a:off x="508222" y="8131552"/>
            <a:ext cx="763385"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Noto Sans JP Medium" pitchFamily="34" charset="0"/>
                <a:ea typeface="Noto Sans JP Medium" pitchFamily="34" charset="-122"/>
                <a:cs typeface="Noto Sans JP Medium" pitchFamily="34" charset="-120"/>
              </a:rPr>
              <a:t>歩み｜先見性</a:t>
            </a:r>
            <a:endParaRPr lang="en-US" sz="660" dirty="0"/>
          </a:p>
        </p:txBody>
      </p:sp>
      <p:sp>
        <p:nvSpPr>
          <p:cNvPr id="55" name="Text 53"/>
          <p:cNvSpPr/>
          <p:nvPr/>
        </p:nvSpPr>
        <p:spPr>
          <a:xfrm>
            <a:off x="2414054" y="8131552"/>
            <a:ext cx="2360592"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時代を先読みし、事業モデルを変え続けてきた歩み</a:t>
            </a:r>
            <a:endParaRPr lang="en-US" sz="660" dirty="0"/>
          </a:p>
        </p:txBody>
      </p:sp>
      <p:sp>
        <p:nvSpPr>
          <p:cNvPr id="56" name="Text 54"/>
          <p:cNvSpPr/>
          <p:nvPr/>
        </p:nvSpPr>
        <p:spPr>
          <a:xfrm>
            <a:off x="508222" y="8359616"/>
            <a:ext cx="1611560" cy="217265"/>
          </a:xfrm>
          <a:prstGeom prst="rect">
            <a:avLst/>
          </a:prstGeom>
          <a:noFill/>
          <a:ln/>
        </p:spPr>
        <p:txBody>
          <a:bodyPr wrap="none" lIns="0" tIns="0" rIns="0" bIns="0" rtlCol="0" anchor="t"/>
          <a:lstStyle/>
          <a:p>
            <a:pPr algn="l" indent="0" marL="0">
              <a:lnSpc>
                <a:spcPts val="1710"/>
              </a:lnSpc>
              <a:buNone/>
            </a:pPr>
            <a:r>
              <a:rPr lang="en-US" sz="1800" spc="-54" kern="0" dirty="0">
                <a:solidFill>
                  <a:srgbClr val="121519"/>
                </a:solidFill>
                <a:latin typeface="Inter Tight SemiBold" pitchFamily="34" charset="0"/>
                <a:ea typeface="Inter Tight SemiBold" pitchFamily="34" charset="-122"/>
                <a:cs typeface="Inter Tight SemiBold" pitchFamily="34" charset="-120"/>
              </a:rPr>
              <a:t>1980〜90年代</a:t>
            </a:r>
            <a:endParaRPr lang="en-US" sz="1800" dirty="0"/>
          </a:p>
        </p:txBody>
      </p:sp>
      <p:sp>
        <p:nvSpPr>
          <p:cNvPr id="57" name="Text 55"/>
          <p:cNvSpPr/>
          <p:nvPr/>
        </p:nvSpPr>
        <p:spPr>
          <a:xfrm>
            <a:off x="508222" y="8863963"/>
            <a:ext cx="1229183" cy="161488"/>
          </a:xfrm>
          <a:prstGeom prst="rect">
            <a:avLst/>
          </a:prstGeom>
          <a:noFill/>
          <a:ln/>
        </p:spPr>
        <p:txBody>
          <a:bodyPr wrap="none" lIns="0" tIns="0" rIns="0" bIns="0" rtlCol="0" anchor="t"/>
          <a:lstStyle/>
          <a:p>
            <a:pPr algn="l" indent="0" marL="0">
              <a:lnSpc>
                <a:spcPts val="1271"/>
              </a:lnSpc>
              <a:buNone/>
            </a:pPr>
            <a:r>
              <a:rPr lang="en-US" sz="820" spc="30" kern="0" dirty="0">
                <a:solidFill>
                  <a:srgbClr val="121519"/>
                </a:solidFill>
                <a:latin typeface="Noto Sans JP Medium" pitchFamily="34" charset="0"/>
                <a:ea typeface="Noto Sans JP Medium" pitchFamily="34" charset="-122"/>
                <a:cs typeface="Noto Sans JP Medium" pitchFamily="34" charset="-120"/>
              </a:rPr>
              <a:t>トレーディングで参入</a:t>
            </a:r>
            <a:endParaRPr lang="en-US" sz="820" dirty="0"/>
          </a:p>
        </p:txBody>
      </p:sp>
      <p:sp>
        <p:nvSpPr>
          <p:cNvPr id="58" name="Text 56"/>
          <p:cNvSpPr/>
          <p:nvPr/>
        </p:nvSpPr>
        <p:spPr>
          <a:xfrm>
            <a:off x="508222" y="9064012"/>
            <a:ext cx="2915924" cy="285113"/>
          </a:xfrm>
          <a:prstGeom prst="rect">
            <a:avLst/>
          </a:prstGeom>
          <a:noFill/>
          <a:ln/>
        </p:spPr>
        <p:txBody>
          <a:bodyPr wrap="none" lIns="0" tIns="0" rIns="0" bIns="0" rtlCol="0" anchor="t"/>
          <a:lstStyle/>
          <a:p>
            <a:pPr algn="l" indent="0" marL="0">
              <a:lnSpc>
                <a:spcPts val="1122"/>
              </a:lnSpc>
              <a:buNone/>
            </a:pPr>
            <a:r>
              <a:rPr lang="en-US" sz="660" spc="20" kern="0" dirty="0">
                <a:solidFill>
                  <a:srgbClr val="3D4249"/>
                </a:solidFill>
                <a:latin typeface="Noto Sans JP" pitchFamily="34" charset="0"/>
                <a:ea typeface="Noto Sans JP" pitchFamily="34" charset="-122"/>
                <a:cs typeface="Noto Sans JP" pitchFamily="34" charset="-120"/>
              </a:rPr>
              <a:t>日本が世界最大の消費国だった時代。資源を日本へ届ける役割から</a:t>
            </a:r>
            <a:endParaRPr lang="en-US" sz="660" dirty="0"/>
          </a:p>
          <a:p>
            <a:pPr algn="l" indent="0" marL="0">
              <a:lnSpc>
                <a:spcPts val="1122"/>
              </a:lnSpc>
              <a:buNone/>
            </a:pPr>
            <a:r>
              <a:rPr lang="en-US" sz="660" spc="20" kern="0" dirty="0">
                <a:solidFill>
                  <a:srgbClr val="3D4249"/>
                </a:solidFill>
                <a:latin typeface="Noto Sans JP" pitchFamily="34" charset="0"/>
                <a:ea typeface="Noto Sans JP" pitchFamily="34" charset="-122"/>
                <a:cs typeface="Noto Sans JP" pitchFamily="34" charset="-120"/>
              </a:rPr>
              <a:t>始まり、少数株主として出資を開始。</a:t>
            </a:r>
            <a:endParaRPr lang="en-US" sz="660" dirty="0"/>
          </a:p>
        </p:txBody>
      </p:sp>
      <p:sp>
        <p:nvSpPr>
          <p:cNvPr id="59" name="Text 57"/>
          <p:cNvSpPr/>
          <p:nvPr/>
        </p:nvSpPr>
        <p:spPr>
          <a:xfrm>
            <a:off x="3379676" y="8359616"/>
            <a:ext cx="1070641" cy="217265"/>
          </a:xfrm>
          <a:prstGeom prst="rect">
            <a:avLst/>
          </a:prstGeom>
          <a:noFill/>
          <a:ln/>
        </p:spPr>
        <p:txBody>
          <a:bodyPr wrap="none" lIns="0" tIns="0" rIns="0" bIns="0" rtlCol="0" anchor="t"/>
          <a:lstStyle/>
          <a:p>
            <a:pPr algn="l" indent="0" marL="0">
              <a:lnSpc>
                <a:spcPts val="1710"/>
              </a:lnSpc>
              <a:buNone/>
            </a:pPr>
            <a:r>
              <a:rPr lang="en-US" sz="1800" spc="-54" kern="0" dirty="0">
                <a:solidFill>
                  <a:srgbClr val="121519"/>
                </a:solidFill>
                <a:latin typeface="Inter Tight SemiBold" pitchFamily="34" charset="0"/>
                <a:ea typeface="Inter Tight SemiBold" pitchFamily="34" charset="-122"/>
                <a:cs typeface="Inter Tight SemiBold" pitchFamily="34" charset="-120"/>
              </a:rPr>
              <a:t>1990年代</a:t>
            </a:r>
            <a:endParaRPr lang="en-US" sz="1800" dirty="0"/>
          </a:p>
        </p:txBody>
      </p:sp>
      <p:sp>
        <p:nvSpPr>
          <p:cNvPr id="60" name="Text 58"/>
          <p:cNvSpPr/>
          <p:nvPr/>
        </p:nvSpPr>
        <p:spPr>
          <a:xfrm>
            <a:off x="3379676" y="8863963"/>
            <a:ext cx="999887" cy="161488"/>
          </a:xfrm>
          <a:prstGeom prst="rect">
            <a:avLst/>
          </a:prstGeom>
          <a:noFill/>
          <a:ln/>
        </p:spPr>
        <p:txBody>
          <a:bodyPr wrap="none" lIns="0" tIns="0" rIns="0" bIns="0" rtlCol="0" anchor="t"/>
          <a:lstStyle/>
          <a:p>
            <a:pPr algn="l" indent="0" marL="0">
              <a:lnSpc>
                <a:spcPts val="1271"/>
              </a:lnSpc>
              <a:buNone/>
            </a:pPr>
            <a:r>
              <a:rPr lang="en-US" sz="820" spc="30" kern="0" dirty="0">
                <a:solidFill>
                  <a:srgbClr val="121519"/>
                </a:solidFill>
                <a:latin typeface="Noto Sans JP Medium" pitchFamily="34" charset="0"/>
                <a:ea typeface="Noto Sans JP Medium" pitchFamily="34" charset="-122"/>
                <a:cs typeface="Noto Sans JP Medium" pitchFamily="34" charset="-120"/>
              </a:rPr>
              <a:t>投資モデルへ転換</a:t>
            </a:r>
            <a:endParaRPr lang="en-US" sz="820" dirty="0"/>
          </a:p>
        </p:txBody>
      </p:sp>
      <p:sp>
        <p:nvSpPr>
          <p:cNvPr id="61" name="Text 59"/>
          <p:cNvSpPr/>
          <p:nvPr/>
        </p:nvSpPr>
        <p:spPr>
          <a:xfrm>
            <a:off x="3379676" y="9064012"/>
            <a:ext cx="2915924" cy="285113"/>
          </a:xfrm>
          <a:prstGeom prst="rect">
            <a:avLst/>
          </a:prstGeom>
          <a:noFill/>
          <a:ln/>
        </p:spPr>
        <p:txBody>
          <a:bodyPr wrap="none" lIns="0" tIns="0" rIns="0" bIns="0" rtlCol="0" anchor="t"/>
          <a:lstStyle/>
          <a:p>
            <a:pPr algn="l" indent="0" marL="0">
              <a:lnSpc>
                <a:spcPts val="1122"/>
              </a:lnSpc>
              <a:buNone/>
            </a:pPr>
            <a:r>
              <a:rPr lang="en-US" sz="660" spc="20" kern="0" dirty="0">
                <a:solidFill>
                  <a:srgbClr val="3D4249"/>
                </a:solidFill>
                <a:latin typeface="Noto Sans JP" pitchFamily="34" charset="0"/>
                <a:ea typeface="Noto Sans JP" pitchFamily="34" charset="-122"/>
                <a:cs typeface="Noto Sans JP" pitchFamily="34" charset="-120"/>
              </a:rPr>
              <a:t>仲介による口銭収入から、資産を持つ投資モデルへ。JV運営の知見</a:t>
            </a:r>
            <a:endParaRPr lang="en-US" sz="660" dirty="0"/>
          </a:p>
          <a:p>
            <a:pPr algn="l" indent="0" marL="0">
              <a:lnSpc>
                <a:spcPts val="1122"/>
              </a:lnSpc>
              <a:buNone/>
            </a:pPr>
            <a:r>
              <a:rPr lang="en-US" sz="660" spc="20" kern="0" dirty="0">
                <a:solidFill>
                  <a:srgbClr val="3D4249"/>
                </a:solidFill>
                <a:latin typeface="Noto Sans JP" pitchFamily="34" charset="0"/>
                <a:ea typeface="Noto Sans JP" pitchFamily="34" charset="-122"/>
                <a:cs typeface="Noto Sans JP" pitchFamily="34" charset="-120"/>
              </a:rPr>
              <a:t>を蓄え、事業経営へと舵を切る。</a:t>
            </a:r>
            <a:endParaRPr lang="en-US" sz="660" dirty="0"/>
          </a:p>
        </p:txBody>
      </p:sp>
      <p:sp>
        <p:nvSpPr>
          <p:cNvPr id="62" name="Text 60"/>
          <p:cNvSpPr/>
          <p:nvPr/>
        </p:nvSpPr>
        <p:spPr>
          <a:xfrm>
            <a:off x="6251130" y="8359616"/>
            <a:ext cx="1131131" cy="217265"/>
          </a:xfrm>
          <a:prstGeom prst="rect">
            <a:avLst/>
          </a:prstGeom>
          <a:noFill/>
          <a:ln/>
        </p:spPr>
        <p:txBody>
          <a:bodyPr wrap="none" lIns="0" tIns="0" rIns="0" bIns="0" rtlCol="0" anchor="t"/>
          <a:lstStyle/>
          <a:p>
            <a:pPr algn="l" indent="0" marL="0">
              <a:lnSpc>
                <a:spcPts val="1710"/>
              </a:lnSpc>
              <a:buNone/>
            </a:pPr>
            <a:r>
              <a:rPr lang="en-US" sz="1800" spc="-54" kern="0" dirty="0">
                <a:solidFill>
                  <a:srgbClr val="121519"/>
                </a:solidFill>
                <a:latin typeface="Inter Tight SemiBold" pitchFamily="34" charset="0"/>
                <a:ea typeface="Inter Tight SemiBold" pitchFamily="34" charset="-122"/>
                <a:cs typeface="Inter Tight SemiBold" pitchFamily="34" charset="-120"/>
              </a:rPr>
              <a:t>2000年代</a:t>
            </a:r>
            <a:endParaRPr lang="en-US" sz="1800" dirty="0"/>
          </a:p>
        </p:txBody>
      </p:sp>
      <p:sp>
        <p:nvSpPr>
          <p:cNvPr id="63" name="Text 61"/>
          <p:cNvSpPr/>
          <p:nvPr/>
        </p:nvSpPr>
        <p:spPr>
          <a:xfrm>
            <a:off x="6251130" y="8863963"/>
            <a:ext cx="1107110" cy="161488"/>
          </a:xfrm>
          <a:prstGeom prst="rect">
            <a:avLst/>
          </a:prstGeom>
          <a:noFill/>
          <a:ln/>
        </p:spPr>
        <p:txBody>
          <a:bodyPr wrap="none" lIns="0" tIns="0" rIns="0" bIns="0" rtlCol="0" anchor="t"/>
          <a:lstStyle/>
          <a:p>
            <a:pPr algn="l" indent="0" marL="0">
              <a:lnSpc>
                <a:spcPts val="1271"/>
              </a:lnSpc>
              <a:buNone/>
            </a:pPr>
            <a:r>
              <a:rPr lang="en-US" sz="820" spc="30" kern="0" dirty="0">
                <a:solidFill>
                  <a:srgbClr val="121519"/>
                </a:solidFill>
                <a:latin typeface="Noto Sans JP Medium" pitchFamily="34" charset="0"/>
                <a:ea typeface="Noto Sans JP Medium" pitchFamily="34" charset="-122"/>
                <a:cs typeface="Noto Sans JP Medium" pitchFamily="34" charset="-120"/>
              </a:rPr>
              <a:t>BHPと50:50のBMA</a:t>
            </a:r>
            <a:endParaRPr lang="en-US" sz="820" dirty="0"/>
          </a:p>
        </p:txBody>
      </p:sp>
      <p:sp>
        <p:nvSpPr>
          <p:cNvPr id="64" name="Text 62"/>
          <p:cNvSpPr/>
          <p:nvPr/>
        </p:nvSpPr>
        <p:spPr>
          <a:xfrm>
            <a:off x="6251130" y="9064012"/>
            <a:ext cx="2915924" cy="285113"/>
          </a:xfrm>
          <a:prstGeom prst="rect">
            <a:avLst/>
          </a:prstGeom>
          <a:noFill/>
          <a:ln/>
        </p:spPr>
        <p:txBody>
          <a:bodyPr wrap="none" lIns="0" tIns="0" rIns="0" bIns="0" rtlCol="0" anchor="t"/>
          <a:lstStyle/>
          <a:p>
            <a:pPr algn="l" indent="0" marL="0">
              <a:lnSpc>
                <a:spcPts val="1122"/>
              </a:lnSpc>
              <a:buNone/>
            </a:pPr>
            <a:r>
              <a:rPr lang="en-US" sz="660" spc="20" kern="0" dirty="0">
                <a:solidFill>
                  <a:srgbClr val="3D4249"/>
                </a:solidFill>
                <a:latin typeface="Noto Sans JP" pitchFamily="34" charset="0"/>
                <a:ea typeface="Noto Sans JP" pitchFamily="34" charset="-122"/>
                <a:cs typeface="Noto Sans JP" pitchFamily="34" charset="-120"/>
              </a:rPr>
              <a:t>2001年、BHPと折半出資でBMAを組成。中国の成長を捉え、世界</a:t>
            </a:r>
            <a:endParaRPr lang="en-US" sz="660" dirty="0"/>
          </a:p>
          <a:p>
            <a:pPr algn="l" indent="0" marL="0">
              <a:lnSpc>
                <a:spcPts val="1122"/>
              </a:lnSpc>
              <a:buNone/>
            </a:pPr>
            <a:r>
              <a:rPr lang="en-US" sz="660" spc="20" kern="0" dirty="0">
                <a:solidFill>
                  <a:srgbClr val="3D4249"/>
                </a:solidFill>
                <a:latin typeface="Noto Sans JP" pitchFamily="34" charset="0"/>
                <a:ea typeface="Noto Sans JP" pitchFamily="34" charset="-122"/>
                <a:cs typeface="Noto Sans JP" pitchFamily="34" charset="-120"/>
              </a:rPr>
              <a:t>有数の原料炭資産の経営に参画。</a:t>
            </a:r>
            <a:endParaRPr lang="en-US" sz="660" dirty="0"/>
          </a:p>
        </p:txBody>
      </p:sp>
      <p:sp>
        <p:nvSpPr>
          <p:cNvPr id="65" name="Text 63"/>
          <p:cNvSpPr/>
          <p:nvPr/>
        </p:nvSpPr>
        <p:spPr>
          <a:xfrm>
            <a:off x="9122585" y="8359616"/>
            <a:ext cx="1069549" cy="217265"/>
          </a:xfrm>
          <a:prstGeom prst="rect">
            <a:avLst/>
          </a:prstGeom>
          <a:noFill/>
          <a:ln/>
        </p:spPr>
        <p:txBody>
          <a:bodyPr wrap="none" lIns="0" tIns="0" rIns="0" bIns="0" rtlCol="0" anchor="t"/>
          <a:lstStyle/>
          <a:p>
            <a:pPr algn="l" indent="0" marL="0">
              <a:lnSpc>
                <a:spcPts val="1710"/>
              </a:lnSpc>
              <a:buNone/>
            </a:pPr>
            <a:r>
              <a:rPr lang="en-US" sz="1800" spc="-54" kern="0" dirty="0">
                <a:solidFill>
                  <a:srgbClr val="121519"/>
                </a:solidFill>
                <a:latin typeface="Inter Tight SemiBold" pitchFamily="34" charset="0"/>
                <a:ea typeface="Inter Tight SemiBold" pitchFamily="34" charset="-122"/>
                <a:cs typeface="Inter Tight SemiBold" pitchFamily="34" charset="-120"/>
              </a:rPr>
              <a:t>2010年代</a:t>
            </a:r>
            <a:endParaRPr lang="en-US" sz="1800" dirty="0"/>
          </a:p>
        </p:txBody>
      </p:sp>
      <p:sp>
        <p:nvSpPr>
          <p:cNvPr id="66" name="Text 64"/>
          <p:cNvSpPr/>
          <p:nvPr/>
        </p:nvSpPr>
        <p:spPr>
          <a:xfrm>
            <a:off x="9122585" y="8863963"/>
            <a:ext cx="881309" cy="161488"/>
          </a:xfrm>
          <a:prstGeom prst="rect">
            <a:avLst/>
          </a:prstGeom>
          <a:noFill/>
          <a:ln/>
        </p:spPr>
        <p:txBody>
          <a:bodyPr wrap="none" lIns="0" tIns="0" rIns="0" bIns="0" rtlCol="0" anchor="t"/>
          <a:lstStyle/>
          <a:p>
            <a:pPr algn="l" indent="0" marL="0">
              <a:lnSpc>
                <a:spcPts val="1271"/>
              </a:lnSpc>
              <a:buNone/>
            </a:pPr>
            <a:r>
              <a:rPr lang="en-US" sz="820" spc="30" kern="0" dirty="0">
                <a:solidFill>
                  <a:srgbClr val="121519"/>
                </a:solidFill>
                <a:latin typeface="Noto Sans JP Medium" pitchFamily="34" charset="0"/>
                <a:ea typeface="Noto Sans JP Medium" pitchFamily="34" charset="-122"/>
                <a:cs typeface="Noto Sans JP Medium" pitchFamily="34" charset="-120"/>
              </a:rPr>
              <a:t>銅の権益を拡大</a:t>
            </a:r>
            <a:endParaRPr lang="en-US" sz="820" dirty="0"/>
          </a:p>
        </p:txBody>
      </p:sp>
      <p:sp>
        <p:nvSpPr>
          <p:cNvPr id="67" name="Text 65"/>
          <p:cNvSpPr/>
          <p:nvPr/>
        </p:nvSpPr>
        <p:spPr>
          <a:xfrm>
            <a:off x="9122585" y="9064012"/>
            <a:ext cx="2915924" cy="427669"/>
          </a:xfrm>
          <a:prstGeom prst="rect">
            <a:avLst/>
          </a:prstGeom>
          <a:noFill/>
          <a:ln/>
        </p:spPr>
        <p:txBody>
          <a:bodyPr wrap="none" lIns="0" tIns="0" rIns="0" bIns="0" rtlCol="0" anchor="t"/>
          <a:lstStyle/>
          <a:p>
            <a:pPr algn="l" indent="0" marL="0">
              <a:lnSpc>
                <a:spcPts val="1122"/>
              </a:lnSpc>
              <a:buNone/>
            </a:pPr>
            <a:r>
              <a:rPr lang="en-US" sz="660" spc="20" kern="0" dirty="0">
                <a:solidFill>
                  <a:srgbClr val="3D4249"/>
                </a:solidFill>
                <a:latin typeface="Noto Sans JP" pitchFamily="34" charset="0"/>
                <a:ea typeface="Noto Sans JP" pitchFamily="34" charset="-122"/>
                <a:cs typeface="Noto Sans JP" pitchFamily="34" charset="-120"/>
              </a:rPr>
              <a:t>原料炭に続く柱として銅へ。Anglo Americanとの協業で</a:t>
            </a:r>
            <a:endParaRPr lang="en-US" sz="660" dirty="0"/>
          </a:p>
          <a:p>
            <a:pPr algn="l" indent="0" marL="0">
              <a:lnSpc>
                <a:spcPts val="1122"/>
              </a:lnSpc>
              <a:buNone/>
            </a:pPr>
            <a:r>
              <a:rPr lang="en-US" sz="660" spc="20" kern="0" dirty="0">
                <a:solidFill>
                  <a:srgbClr val="3D4249"/>
                </a:solidFill>
                <a:latin typeface="Noto Sans JP" pitchFamily="34" charset="0"/>
                <a:ea typeface="Noto Sans JP" pitchFamily="34" charset="-122"/>
                <a:cs typeface="Noto Sans JP" pitchFamily="34" charset="-120"/>
              </a:rPr>
              <a:t>Quellavecoなどに参画。2012年にRtMを設立し、販売機能を集</a:t>
            </a:r>
            <a:endParaRPr lang="en-US" sz="660" dirty="0"/>
          </a:p>
          <a:p>
            <a:pPr algn="l" indent="0" marL="0">
              <a:lnSpc>
                <a:spcPts val="1122"/>
              </a:lnSpc>
              <a:buNone/>
            </a:pPr>
            <a:r>
              <a:rPr lang="en-US" sz="660" spc="20" kern="0" dirty="0">
                <a:solidFill>
                  <a:srgbClr val="3D4249"/>
                </a:solidFill>
                <a:latin typeface="Noto Sans JP" pitchFamily="34" charset="0"/>
                <a:ea typeface="Noto Sans JP" pitchFamily="34" charset="-122"/>
                <a:cs typeface="Noto Sans JP" pitchFamily="34" charset="-120"/>
              </a:rPr>
              <a:t>約。</a:t>
            </a:r>
            <a:endParaRPr lang="en-US" sz="660" dirty="0"/>
          </a:p>
        </p:txBody>
      </p:sp>
      <p:sp>
        <p:nvSpPr>
          <p:cNvPr id="68" name="Text 66"/>
          <p:cNvSpPr/>
          <p:nvPr/>
        </p:nvSpPr>
        <p:spPr>
          <a:xfrm>
            <a:off x="11994039" y="8359616"/>
            <a:ext cx="1119776" cy="217265"/>
          </a:xfrm>
          <a:prstGeom prst="rect">
            <a:avLst/>
          </a:prstGeom>
          <a:noFill/>
          <a:ln/>
        </p:spPr>
        <p:txBody>
          <a:bodyPr wrap="none" lIns="0" tIns="0" rIns="0" bIns="0" rtlCol="0" anchor="t"/>
          <a:lstStyle/>
          <a:p>
            <a:pPr algn="l" indent="0" marL="0">
              <a:lnSpc>
                <a:spcPts val="1710"/>
              </a:lnSpc>
              <a:buNone/>
            </a:pPr>
            <a:r>
              <a:rPr lang="en-US" sz="1800" spc="-54" kern="0" dirty="0">
                <a:solidFill>
                  <a:srgbClr val="121519"/>
                </a:solidFill>
                <a:latin typeface="Inter Tight SemiBold" pitchFamily="34" charset="0"/>
                <a:ea typeface="Inter Tight SemiBold" pitchFamily="34" charset="-122"/>
                <a:cs typeface="Inter Tight SemiBold" pitchFamily="34" charset="-120"/>
              </a:rPr>
              <a:t>2020年代</a:t>
            </a:r>
            <a:endParaRPr lang="en-US" sz="1800" dirty="0"/>
          </a:p>
        </p:txBody>
      </p:sp>
      <p:sp>
        <p:nvSpPr>
          <p:cNvPr id="69" name="Text 67"/>
          <p:cNvSpPr/>
          <p:nvPr/>
        </p:nvSpPr>
        <p:spPr>
          <a:xfrm>
            <a:off x="11994039" y="8863963"/>
            <a:ext cx="1235952" cy="161488"/>
          </a:xfrm>
          <a:prstGeom prst="rect">
            <a:avLst/>
          </a:prstGeom>
          <a:noFill/>
          <a:ln/>
        </p:spPr>
        <p:txBody>
          <a:bodyPr wrap="none" lIns="0" tIns="0" rIns="0" bIns="0" rtlCol="0" anchor="t"/>
          <a:lstStyle/>
          <a:p>
            <a:pPr algn="l" indent="0" marL="0">
              <a:lnSpc>
                <a:spcPts val="1271"/>
              </a:lnSpc>
              <a:buNone/>
            </a:pPr>
            <a:r>
              <a:rPr lang="en-US" sz="820" spc="30" kern="0" dirty="0">
                <a:solidFill>
                  <a:srgbClr val="121519"/>
                </a:solidFill>
                <a:latin typeface="Noto Sans JP Medium" pitchFamily="34" charset="0"/>
                <a:ea typeface="Noto Sans JP Medium" pitchFamily="34" charset="-122"/>
                <a:cs typeface="Noto Sans JP Medium" pitchFamily="34" charset="-120"/>
              </a:rPr>
              <a:t>グローバルな事業者へ</a:t>
            </a:r>
            <a:endParaRPr lang="en-US" sz="820" dirty="0"/>
          </a:p>
        </p:txBody>
      </p:sp>
      <p:sp>
        <p:nvSpPr>
          <p:cNvPr id="70" name="Text 68"/>
          <p:cNvSpPr/>
          <p:nvPr/>
        </p:nvSpPr>
        <p:spPr>
          <a:xfrm>
            <a:off x="11994039" y="9064012"/>
            <a:ext cx="2899327" cy="142556"/>
          </a:xfrm>
          <a:prstGeom prst="rect">
            <a:avLst/>
          </a:prstGeom>
          <a:noFill/>
          <a:ln/>
        </p:spPr>
        <p:txBody>
          <a:bodyPr wrap="none" lIns="0" tIns="0" rIns="0" bIns="0" rtlCol="0" anchor="t"/>
          <a:lstStyle/>
          <a:p>
            <a:pPr algn="l" indent="0" marL="0">
              <a:lnSpc>
                <a:spcPts val="1122"/>
              </a:lnSpc>
              <a:buNone/>
            </a:pPr>
            <a:r>
              <a:rPr lang="en-US" sz="660" spc="20" kern="0" dirty="0">
                <a:solidFill>
                  <a:srgbClr val="3D4249"/>
                </a:solidFill>
                <a:latin typeface="Noto Sans JP" pitchFamily="34" charset="0"/>
                <a:ea typeface="Noto Sans JP" pitchFamily="34" charset="-122"/>
                <a:cs typeface="Noto Sans JP" pitchFamily="34" charset="-120"/>
              </a:rPr>
              <a:t>投資と販売を一体で動かし、世界の市場と産業をつなぐ事業者へ。</a:t>
            </a:r>
            <a:endParaRPr lang="en-US" sz="660" dirty="0"/>
          </a:p>
        </p:txBody>
      </p:sp>
      <p:sp>
        <p:nvSpPr>
          <p:cNvPr id="71" name="Text 69"/>
          <p:cNvSpPr/>
          <p:nvPr/>
        </p:nvSpPr>
        <p:spPr>
          <a:xfrm>
            <a:off x="508222" y="10316906"/>
            <a:ext cx="204778" cy="88939"/>
          </a:xfrm>
          <a:prstGeom prst="rect">
            <a:avLst/>
          </a:prstGeom>
          <a:noFill/>
          <a:ln/>
        </p:spPr>
        <p:txBody>
          <a:bodyPr wrap="none" lIns="0" tIns="0" rIns="0" bIns="0" rtlCol="0" anchor="t"/>
          <a:lstStyle/>
          <a:p>
            <a:pPr algn="l" indent="0" marL="0">
              <a:lnSpc>
                <a:spcPts val="700"/>
              </a:lnSpc>
              <a:buNone/>
            </a:pPr>
            <a:r>
              <a:rPr lang="en-US" sz="600" spc="160" kern="0" dirty="0">
                <a:solidFill>
                  <a:srgbClr val="7D838A"/>
                </a:solidFill>
                <a:latin typeface="Inter Medium" pitchFamily="34" charset="0"/>
                <a:ea typeface="Inter Medium" pitchFamily="34" charset="-122"/>
                <a:cs typeface="Inter Medium" pitchFamily="34" charset="-120"/>
              </a:rPr>
              <a:t>04</a:t>
            </a:r>
            <a:endParaRPr lang="en-US" sz="600" dirty="0"/>
          </a:p>
        </p:txBody>
      </p:sp>
      <p:sp>
        <p:nvSpPr>
          <p:cNvPr id="72" name="Text 70"/>
          <p:cNvSpPr/>
          <p:nvPr/>
        </p:nvSpPr>
        <p:spPr>
          <a:xfrm>
            <a:off x="14458915" y="10316906"/>
            <a:ext cx="200410" cy="88939"/>
          </a:xfrm>
          <a:prstGeom prst="rect">
            <a:avLst/>
          </a:prstGeom>
          <a:noFill/>
          <a:ln/>
        </p:spPr>
        <p:txBody>
          <a:bodyPr wrap="none" lIns="0" tIns="0" rIns="0" bIns="0" rtlCol="0" anchor="t"/>
          <a:lstStyle/>
          <a:p>
            <a:pPr algn="l" indent="0" marL="0">
              <a:lnSpc>
                <a:spcPts val="700"/>
              </a:lnSpc>
              <a:buNone/>
            </a:pPr>
            <a:r>
              <a:rPr lang="en-US" sz="600" spc="160" kern="0" dirty="0">
                <a:solidFill>
                  <a:srgbClr val="7D838A"/>
                </a:solidFill>
                <a:latin typeface="Inter Medium" pitchFamily="34" charset="0"/>
                <a:ea typeface="Inter Medium" pitchFamily="34" charset="-122"/>
                <a:cs typeface="Inter Medium" pitchFamily="34" charset="-120"/>
              </a:rPr>
              <a:t>05</a:t>
            </a:r>
            <a:endParaRPr lang="en-US" sz="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8222" y="508222"/>
            <a:ext cx="1676199"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E9D6AC"/>
                </a:solidFill>
                <a:latin typeface="Noto Sans JP Medium" pitchFamily="34" charset="0"/>
                <a:ea typeface="Noto Sans JP Medium" pitchFamily="34" charset="-122"/>
                <a:cs typeface="Noto Sans JP Medium" pitchFamily="34" charset="-120"/>
              </a:rPr>
              <a:t>第2章　独自価値｜原料炭事業</a:t>
            </a:r>
            <a:endParaRPr lang="en-US" sz="660" dirty="0"/>
          </a:p>
        </p:txBody>
      </p:sp>
      <p:sp>
        <p:nvSpPr>
          <p:cNvPr id="3" name="Text 1"/>
          <p:cNvSpPr/>
          <p:nvPr/>
        </p:nvSpPr>
        <p:spPr>
          <a:xfrm>
            <a:off x="8068024" y="508222"/>
            <a:ext cx="1438824"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E9D6AC"/>
                </a:solidFill>
                <a:latin typeface="Noto Sans JP Medium" pitchFamily="34" charset="0"/>
                <a:ea typeface="Noto Sans JP Medium" pitchFamily="34" charset="-122"/>
                <a:cs typeface="Noto Sans JP Medium" pitchFamily="34" charset="-120"/>
              </a:rPr>
              <a:t>第2章　独自価値｜銅事業</a:t>
            </a:r>
            <a:endParaRPr lang="en-US" sz="660" dirty="0"/>
          </a:p>
        </p:txBody>
      </p:sp>
      <p:sp>
        <p:nvSpPr>
          <p:cNvPr id="4" name="Text 2"/>
          <p:cNvSpPr/>
          <p:nvPr/>
        </p:nvSpPr>
        <p:spPr>
          <a:xfrm>
            <a:off x="508222" y="3419063"/>
            <a:ext cx="2654090" cy="772497"/>
          </a:xfrm>
          <a:prstGeom prst="rect">
            <a:avLst/>
          </a:prstGeom>
          <a:noFill/>
          <a:ln/>
        </p:spPr>
        <p:txBody>
          <a:bodyPr wrap="none" lIns="0" tIns="0" rIns="0" bIns="0" rtlCol="0" anchor="t"/>
          <a:lstStyle/>
          <a:p>
            <a:pPr algn="l" indent="0" marL="0">
              <a:lnSpc>
                <a:spcPts val="6080"/>
              </a:lnSpc>
              <a:buNone/>
            </a:pPr>
            <a:r>
              <a:rPr lang="en-US" sz="6400" spc="-192" kern="0" dirty="0">
                <a:solidFill>
                  <a:srgbClr val="FFFFFF"/>
                </a:solidFill>
                <a:latin typeface="Inter Tight SemiBold" pitchFamily="34" charset="0"/>
                <a:ea typeface="Inter Tight SemiBold" pitchFamily="34" charset="-122"/>
                <a:cs typeface="Inter Tight SemiBold" pitchFamily="34" charset="-120"/>
              </a:rPr>
              <a:t>約50%</a:t>
            </a:r>
            <a:endParaRPr lang="en-US" sz="6400" dirty="0"/>
          </a:p>
        </p:txBody>
      </p:sp>
      <p:sp>
        <p:nvSpPr>
          <p:cNvPr id="5" name="Text 3"/>
          <p:cNvSpPr/>
          <p:nvPr/>
        </p:nvSpPr>
        <p:spPr>
          <a:xfrm>
            <a:off x="2668165" y="3574516"/>
            <a:ext cx="1418297" cy="338730"/>
          </a:xfrm>
          <a:prstGeom prst="rect">
            <a:avLst/>
          </a:prstGeom>
          <a:noFill/>
          <a:ln/>
        </p:spPr>
        <p:txBody>
          <a:bodyPr wrap="none" lIns="0" tIns="0" rIns="0" bIns="0" rtlCol="0" anchor="t"/>
          <a:lstStyle/>
          <a:p>
            <a:pPr algn="l" indent="0" marL="0">
              <a:lnSpc>
                <a:spcPts val="1333"/>
              </a:lnSpc>
              <a:buNone/>
            </a:pPr>
            <a:r>
              <a:rPr lang="en-US" sz="860" spc="30" kern="0" dirty="0">
                <a:solidFill>
                  <a:srgbClr val="FFFFFF"/>
                </a:solidFill>
                <a:latin typeface="Noto Sans JP Medium" pitchFamily="34" charset="0"/>
                <a:ea typeface="Noto Sans JP Medium" pitchFamily="34" charset="-122"/>
                <a:cs typeface="Noto Sans JP Medium" pitchFamily="34" charset="-120"/>
              </a:rPr>
              <a:t>一級強粘炭の世界供給に</a:t>
            </a:r>
            <a:endParaRPr lang="en-US" sz="860" dirty="0"/>
          </a:p>
          <a:p>
            <a:pPr algn="l" indent="0" marL="0">
              <a:lnSpc>
                <a:spcPts val="1333"/>
              </a:lnSpc>
              <a:buNone/>
            </a:pPr>
            <a:r>
              <a:rPr lang="en-US" sz="860" spc="30" kern="0" dirty="0">
                <a:solidFill>
                  <a:srgbClr val="FFFFFF"/>
                </a:solidFill>
                <a:latin typeface="Noto Sans JP Medium" pitchFamily="34" charset="0"/>
                <a:ea typeface="Noto Sans JP Medium" pitchFamily="34" charset="-122"/>
                <a:cs typeface="Noto Sans JP Medium" pitchFamily="34" charset="-120"/>
              </a:rPr>
              <a:t>占めるBMAのシェア</a:t>
            </a:r>
            <a:endParaRPr lang="en-US" sz="860" dirty="0"/>
          </a:p>
        </p:txBody>
      </p:sp>
      <p:sp>
        <p:nvSpPr>
          <p:cNvPr id="6" name="Text 4"/>
          <p:cNvSpPr/>
          <p:nvPr/>
        </p:nvSpPr>
        <p:spPr>
          <a:xfrm>
            <a:off x="8068024" y="3419063"/>
            <a:ext cx="1600204" cy="772497"/>
          </a:xfrm>
          <a:prstGeom prst="rect">
            <a:avLst/>
          </a:prstGeom>
          <a:noFill/>
          <a:ln/>
        </p:spPr>
        <p:txBody>
          <a:bodyPr wrap="none" lIns="0" tIns="0" rIns="0" bIns="0" rtlCol="0" anchor="t"/>
          <a:lstStyle/>
          <a:p>
            <a:pPr algn="l" indent="0" marL="0">
              <a:lnSpc>
                <a:spcPts val="6080"/>
              </a:lnSpc>
              <a:buNone/>
            </a:pPr>
            <a:r>
              <a:rPr lang="en-US" sz="6400" spc="-192" kern="0" dirty="0">
                <a:solidFill>
                  <a:srgbClr val="FFFFFF"/>
                </a:solidFill>
                <a:latin typeface="Inter Tight SemiBold" pitchFamily="34" charset="0"/>
                <a:ea typeface="Inter Tight SemiBold" pitchFamily="34" charset="-122"/>
                <a:cs typeface="Inter Tight SemiBold" pitchFamily="34" charset="-120"/>
              </a:rPr>
              <a:t>No.1</a:t>
            </a:r>
            <a:endParaRPr lang="en-US" sz="6400" dirty="0"/>
          </a:p>
        </p:txBody>
      </p:sp>
      <p:sp>
        <p:nvSpPr>
          <p:cNvPr id="7" name="Text 5"/>
          <p:cNvSpPr/>
          <p:nvPr/>
        </p:nvSpPr>
        <p:spPr>
          <a:xfrm>
            <a:off x="9973856" y="3574516"/>
            <a:ext cx="1781457" cy="338730"/>
          </a:xfrm>
          <a:prstGeom prst="rect">
            <a:avLst/>
          </a:prstGeom>
          <a:noFill/>
          <a:ln/>
        </p:spPr>
        <p:txBody>
          <a:bodyPr wrap="none" lIns="0" tIns="0" rIns="0" bIns="0" rtlCol="0" anchor="t"/>
          <a:lstStyle/>
          <a:p>
            <a:pPr algn="l" indent="0" marL="0">
              <a:lnSpc>
                <a:spcPts val="1333"/>
              </a:lnSpc>
              <a:buNone/>
            </a:pPr>
            <a:r>
              <a:rPr lang="en-US" sz="860" spc="30" kern="0" dirty="0">
                <a:solidFill>
                  <a:srgbClr val="FFFFFF"/>
                </a:solidFill>
                <a:latin typeface="Noto Sans JP Medium" pitchFamily="34" charset="0"/>
                <a:ea typeface="Noto Sans JP Medium" pitchFamily="34" charset="-122"/>
                <a:cs typeface="Noto Sans JP Medium" pitchFamily="34" charset="-120"/>
              </a:rPr>
              <a:t>操業を担わない参画者として、</a:t>
            </a:r>
            <a:endParaRPr lang="en-US" sz="860" dirty="0"/>
          </a:p>
          <a:p>
            <a:pPr algn="l" indent="0" marL="0">
              <a:lnSpc>
                <a:spcPts val="1333"/>
              </a:lnSpc>
              <a:buNone/>
            </a:pPr>
            <a:r>
              <a:rPr lang="en-US" sz="860" spc="30" kern="0" dirty="0">
                <a:solidFill>
                  <a:srgbClr val="FFFFFF"/>
                </a:solidFill>
                <a:latin typeface="Noto Sans JP Medium" pitchFamily="34" charset="0"/>
                <a:ea typeface="Noto Sans JP Medium" pitchFamily="34" charset="-122"/>
                <a:cs typeface="Noto Sans JP Medium" pitchFamily="34" charset="-120"/>
              </a:rPr>
              <a:t>世界最大の銅生産規模</a:t>
            </a:r>
            <a:endParaRPr lang="en-US" sz="860" dirty="0"/>
          </a:p>
        </p:txBody>
      </p:sp>
      <p:sp>
        <p:nvSpPr>
          <p:cNvPr id="8" name="Text 6"/>
          <p:cNvSpPr/>
          <p:nvPr/>
        </p:nvSpPr>
        <p:spPr>
          <a:xfrm>
            <a:off x="508222" y="4468542"/>
            <a:ext cx="3262051" cy="777580"/>
          </a:xfrm>
          <a:prstGeom prst="rect">
            <a:avLst/>
          </a:prstGeom>
          <a:noFill/>
          <a:ln/>
        </p:spPr>
        <p:txBody>
          <a:bodyPr wrap="none" lIns="0" tIns="0" rIns="0" bIns="0" rtlCol="0" anchor="t"/>
          <a:lstStyle/>
          <a:p>
            <a:pPr algn="l" indent="0" marL="0">
              <a:lnSpc>
                <a:spcPts val="3060"/>
              </a:lnSpc>
              <a:buNone/>
            </a:pPr>
            <a:r>
              <a:rPr lang="en-US" sz="3000" spc="-75" kern="0" dirty="0">
                <a:solidFill>
                  <a:srgbClr val="121519"/>
                </a:solidFill>
                <a:latin typeface="Inter Tight SemiBold" pitchFamily="34" charset="0"/>
                <a:ea typeface="Inter Tight SemiBold" pitchFamily="34" charset="-122"/>
                <a:cs typeface="Inter Tight SemiBold" pitchFamily="34" charset="-120"/>
              </a:rPr>
              <a:t>World-class</a:t>
            </a:r>
            <a:endParaRPr lang="en-US" sz="3000" dirty="0"/>
          </a:p>
          <a:p>
            <a:pPr algn="l" indent="0" marL="0">
              <a:lnSpc>
                <a:spcPts val="3060"/>
              </a:lnSpc>
              <a:buNone/>
            </a:pPr>
            <a:r>
              <a:rPr lang="en-US" sz="3000" spc="-75" kern="0" dirty="0">
                <a:solidFill>
                  <a:srgbClr val="121519"/>
                </a:solidFill>
                <a:latin typeface="Inter Tight SemiBold" pitchFamily="34" charset="0"/>
                <a:ea typeface="Inter Tight SemiBold" pitchFamily="34" charset="-122"/>
                <a:cs typeface="Inter Tight SemiBold" pitchFamily="34" charset="-120"/>
              </a:rPr>
              <a:t>metallurgical coal.</a:t>
            </a:r>
            <a:endParaRPr lang="en-US" sz="3000" dirty="0"/>
          </a:p>
        </p:txBody>
      </p:sp>
      <p:sp>
        <p:nvSpPr>
          <p:cNvPr id="9" name="Text 7"/>
          <p:cNvSpPr/>
          <p:nvPr/>
        </p:nvSpPr>
        <p:spPr>
          <a:xfrm>
            <a:off x="508222" y="5455445"/>
            <a:ext cx="4442158" cy="219171"/>
          </a:xfrm>
          <a:prstGeom prst="rect">
            <a:avLst/>
          </a:prstGeom>
          <a:noFill/>
          <a:ln/>
        </p:spPr>
        <p:txBody>
          <a:bodyPr wrap="none" lIns="0" tIns="0" rIns="0" bIns="0" rtlCol="0" anchor="t"/>
          <a:lstStyle/>
          <a:p>
            <a:pPr algn="l" indent="0" marL="0">
              <a:lnSpc>
                <a:spcPts val="1725"/>
              </a:lnSpc>
              <a:buNone/>
            </a:pPr>
            <a:r>
              <a:rPr lang="en-US" sz="1150" spc="50" kern="0" dirty="0">
                <a:solidFill>
                  <a:srgbClr val="121519"/>
                </a:solidFill>
                <a:latin typeface="Noto Sans JP Medium" pitchFamily="34" charset="0"/>
                <a:ea typeface="Noto Sans JP Medium" pitchFamily="34" charset="-122"/>
                <a:cs typeface="Noto Sans JP Medium" pitchFamily="34" charset="-120"/>
              </a:rPr>
              <a:t>原料炭事業｜鉄の主原料“産業のコメ”を、世界最高品位で</a:t>
            </a:r>
            <a:endParaRPr lang="en-US" sz="1150" dirty="0"/>
          </a:p>
        </p:txBody>
      </p:sp>
      <p:sp>
        <p:nvSpPr>
          <p:cNvPr id="10" name="Text 8"/>
          <p:cNvSpPr/>
          <p:nvPr/>
        </p:nvSpPr>
        <p:spPr>
          <a:xfrm>
            <a:off x="508222" y="5734999"/>
            <a:ext cx="3544848" cy="1085943"/>
          </a:xfrm>
          <a:prstGeom prst="rect">
            <a:avLst/>
          </a:prstGeom>
          <a:noFill/>
          <a:ln/>
        </p:spPr>
        <p:txBody>
          <a:bodyPr wrap="none" lIns="0" tIns="0" rIns="0" bIns="0" rtlCol="0" anchor="t"/>
          <a:lstStyle/>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BHPと50:50の合弁であるBMA（BHP Mitsubishi Alliance）を通じ、</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豪州クイーンズランド州ボーエン・ベースンで世界最高品位の原料炭</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事業に参画しています。炭鉱（露天掘4・坑内掘1）に加えて港湾と鉄</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道も保有し、山から港までを一体で運営しています。保有する炭鉱を</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高品位のものに絞り込み、良質な原料の供給を通じて、鉄鋼業の脱炭</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素にも貢献しています。</a:t>
            </a:r>
            <a:endParaRPr lang="en-US" sz="770" dirty="0"/>
          </a:p>
        </p:txBody>
      </p:sp>
      <p:sp>
        <p:nvSpPr>
          <p:cNvPr id="11" name="Text 9"/>
          <p:cNvSpPr/>
          <p:nvPr/>
        </p:nvSpPr>
        <p:spPr>
          <a:xfrm>
            <a:off x="3938720" y="5734967"/>
            <a:ext cx="251074" cy="181054"/>
          </a:xfrm>
          <a:prstGeom prst="rect">
            <a:avLst/>
          </a:prstGeom>
          <a:noFill/>
          <a:ln/>
        </p:spPr>
        <p:txBody>
          <a:bodyPr wrap="none" lIns="0" tIns="0" rIns="0" bIns="0" rtlCol="0" anchor="t"/>
          <a:lstStyle/>
          <a:p>
            <a:pPr algn="l" indent="0" marL="0">
              <a:lnSpc>
                <a:spcPts val="1425"/>
              </a:lnSpc>
              <a:buNone/>
            </a:pPr>
            <a:r>
              <a:rPr lang="en-US" sz="1500" spc="-45" kern="0" dirty="0">
                <a:solidFill>
                  <a:srgbClr val="9C7442"/>
                </a:solidFill>
                <a:latin typeface="Inter Tight SemiBold" pitchFamily="34" charset="0"/>
                <a:ea typeface="Inter Tight SemiBold" pitchFamily="34" charset="-122"/>
                <a:cs typeface="Inter Tight SemiBold" pitchFamily="34" charset="-120"/>
              </a:rPr>
              <a:t>01</a:t>
            </a:r>
            <a:endParaRPr lang="en-US" sz="1500" dirty="0"/>
          </a:p>
        </p:txBody>
      </p:sp>
      <p:sp>
        <p:nvSpPr>
          <p:cNvPr id="12" name="Text 10"/>
          <p:cNvSpPr/>
          <p:nvPr/>
        </p:nvSpPr>
        <p:spPr>
          <a:xfrm>
            <a:off x="4294476" y="5772131"/>
            <a:ext cx="1558931" cy="157549"/>
          </a:xfrm>
          <a:prstGeom prst="rect">
            <a:avLst/>
          </a:prstGeom>
          <a:noFill/>
          <a:ln/>
        </p:spPr>
        <p:txBody>
          <a:bodyPr wrap="none" lIns="0" tIns="0" rIns="0" bIns="0" rtlCol="0" anchor="t"/>
          <a:lstStyle/>
          <a:p>
            <a:pPr algn="l" indent="0" marL="0">
              <a:lnSpc>
                <a:spcPts val="1240"/>
              </a:lnSpc>
              <a:buNone/>
            </a:pPr>
            <a:r>
              <a:rPr lang="en-US" sz="800" spc="30" kern="0" dirty="0">
                <a:solidFill>
                  <a:srgbClr val="121519"/>
                </a:solidFill>
                <a:latin typeface="Noto Sans JP Medium" pitchFamily="34" charset="0"/>
                <a:ea typeface="Noto Sans JP Medium" pitchFamily="34" charset="-122"/>
                <a:cs typeface="Noto Sans JP Medium" pitchFamily="34" charset="-120"/>
              </a:rPr>
              <a:t>世界最高品位の原料炭を保有</a:t>
            </a:r>
            <a:endParaRPr lang="en-US" sz="800" dirty="0"/>
          </a:p>
        </p:txBody>
      </p:sp>
      <p:sp>
        <p:nvSpPr>
          <p:cNvPr id="13" name="Text 11"/>
          <p:cNvSpPr/>
          <p:nvPr/>
        </p:nvSpPr>
        <p:spPr>
          <a:xfrm>
            <a:off x="3938720" y="6116134"/>
            <a:ext cx="293002" cy="181054"/>
          </a:xfrm>
          <a:prstGeom prst="rect">
            <a:avLst/>
          </a:prstGeom>
          <a:noFill/>
          <a:ln/>
        </p:spPr>
        <p:txBody>
          <a:bodyPr wrap="none" lIns="0" tIns="0" rIns="0" bIns="0" rtlCol="0" anchor="t"/>
          <a:lstStyle/>
          <a:p>
            <a:pPr algn="l" indent="0" marL="0">
              <a:lnSpc>
                <a:spcPts val="1425"/>
              </a:lnSpc>
              <a:buNone/>
            </a:pPr>
            <a:r>
              <a:rPr lang="en-US" sz="1500" spc="-45" kern="0" dirty="0">
                <a:solidFill>
                  <a:srgbClr val="9C7442"/>
                </a:solidFill>
                <a:latin typeface="Inter Tight SemiBold" pitchFamily="34" charset="0"/>
                <a:ea typeface="Inter Tight SemiBold" pitchFamily="34" charset="-122"/>
                <a:cs typeface="Inter Tight SemiBold" pitchFamily="34" charset="-120"/>
              </a:rPr>
              <a:t>02</a:t>
            </a:r>
            <a:endParaRPr lang="en-US" sz="1500" dirty="0"/>
          </a:p>
        </p:txBody>
      </p:sp>
      <p:sp>
        <p:nvSpPr>
          <p:cNvPr id="14" name="Text 12"/>
          <p:cNvSpPr/>
          <p:nvPr/>
        </p:nvSpPr>
        <p:spPr>
          <a:xfrm>
            <a:off x="4294476" y="6153298"/>
            <a:ext cx="1915104" cy="157549"/>
          </a:xfrm>
          <a:prstGeom prst="rect">
            <a:avLst/>
          </a:prstGeom>
          <a:noFill/>
          <a:ln/>
        </p:spPr>
        <p:txBody>
          <a:bodyPr wrap="none" lIns="0" tIns="0" rIns="0" bIns="0" rtlCol="0" anchor="t"/>
          <a:lstStyle/>
          <a:p>
            <a:pPr algn="l" indent="0" marL="0">
              <a:lnSpc>
                <a:spcPts val="1240"/>
              </a:lnSpc>
              <a:buNone/>
            </a:pPr>
            <a:r>
              <a:rPr lang="en-US" sz="800" spc="30" kern="0" dirty="0">
                <a:solidFill>
                  <a:srgbClr val="121519"/>
                </a:solidFill>
                <a:latin typeface="Noto Sans JP Medium" pitchFamily="34" charset="0"/>
                <a:ea typeface="Noto Sans JP Medium" pitchFamily="34" charset="-122"/>
                <a:cs typeface="Noto Sans JP Medium" pitchFamily="34" charset="-120"/>
              </a:rPr>
              <a:t>原料炭は鉄の主原料＝“産業のコメ”</a:t>
            </a:r>
            <a:endParaRPr lang="en-US" sz="800" dirty="0"/>
          </a:p>
        </p:txBody>
      </p:sp>
      <p:sp>
        <p:nvSpPr>
          <p:cNvPr id="15" name="Text 13"/>
          <p:cNvSpPr/>
          <p:nvPr/>
        </p:nvSpPr>
        <p:spPr>
          <a:xfrm>
            <a:off x="3938720" y="6497300"/>
            <a:ext cx="299116" cy="181054"/>
          </a:xfrm>
          <a:prstGeom prst="rect">
            <a:avLst/>
          </a:prstGeom>
          <a:noFill/>
          <a:ln/>
        </p:spPr>
        <p:txBody>
          <a:bodyPr wrap="none" lIns="0" tIns="0" rIns="0" bIns="0" rtlCol="0" anchor="t"/>
          <a:lstStyle/>
          <a:p>
            <a:pPr algn="l" indent="0" marL="0">
              <a:lnSpc>
                <a:spcPts val="1425"/>
              </a:lnSpc>
              <a:buNone/>
            </a:pPr>
            <a:r>
              <a:rPr lang="en-US" sz="1500" spc="-45" kern="0" dirty="0">
                <a:solidFill>
                  <a:srgbClr val="9C7442"/>
                </a:solidFill>
                <a:latin typeface="Inter Tight SemiBold" pitchFamily="34" charset="0"/>
                <a:ea typeface="Inter Tight SemiBold" pitchFamily="34" charset="-122"/>
                <a:cs typeface="Inter Tight SemiBold" pitchFamily="34" charset="-120"/>
              </a:rPr>
              <a:t>03</a:t>
            </a:r>
            <a:endParaRPr lang="en-US" sz="1500" dirty="0"/>
          </a:p>
        </p:txBody>
      </p:sp>
      <p:sp>
        <p:nvSpPr>
          <p:cNvPr id="16" name="Text 14"/>
          <p:cNvSpPr/>
          <p:nvPr/>
        </p:nvSpPr>
        <p:spPr>
          <a:xfrm>
            <a:off x="4294476" y="6534464"/>
            <a:ext cx="1674889" cy="157549"/>
          </a:xfrm>
          <a:prstGeom prst="rect">
            <a:avLst/>
          </a:prstGeom>
          <a:noFill/>
          <a:ln/>
        </p:spPr>
        <p:txBody>
          <a:bodyPr wrap="none" lIns="0" tIns="0" rIns="0" bIns="0" rtlCol="0" anchor="t"/>
          <a:lstStyle/>
          <a:p>
            <a:pPr algn="l" indent="0" marL="0">
              <a:lnSpc>
                <a:spcPts val="1240"/>
              </a:lnSpc>
              <a:buNone/>
            </a:pPr>
            <a:r>
              <a:rPr lang="en-US" sz="800" spc="30" kern="0" dirty="0">
                <a:solidFill>
                  <a:srgbClr val="121519"/>
                </a:solidFill>
                <a:latin typeface="Noto Sans JP Medium" pitchFamily="34" charset="0"/>
                <a:ea typeface="Noto Sans JP Medium" pitchFamily="34" charset="-122"/>
                <a:cs typeface="Noto Sans JP Medium" pitchFamily="34" charset="-120"/>
              </a:rPr>
              <a:t>鉄は今後も底堅く必要とされる</a:t>
            </a:r>
            <a:endParaRPr lang="en-US" sz="800" dirty="0"/>
          </a:p>
        </p:txBody>
      </p:sp>
      <p:sp>
        <p:nvSpPr>
          <p:cNvPr id="17" name="Text 15"/>
          <p:cNvSpPr/>
          <p:nvPr/>
        </p:nvSpPr>
        <p:spPr>
          <a:xfrm>
            <a:off x="3938720" y="6878467"/>
            <a:ext cx="302174" cy="181054"/>
          </a:xfrm>
          <a:prstGeom prst="rect">
            <a:avLst/>
          </a:prstGeom>
          <a:noFill/>
          <a:ln/>
        </p:spPr>
        <p:txBody>
          <a:bodyPr wrap="none" lIns="0" tIns="0" rIns="0" bIns="0" rtlCol="0" anchor="t"/>
          <a:lstStyle/>
          <a:p>
            <a:pPr algn="l" indent="0" marL="0">
              <a:lnSpc>
                <a:spcPts val="1425"/>
              </a:lnSpc>
              <a:buNone/>
            </a:pPr>
            <a:r>
              <a:rPr lang="en-US" sz="1500" spc="-45" kern="0" dirty="0">
                <a:solidFill>
                  <a:srgbClr val="9C7442"/>
                </a:solidFill>
                <a:latin typeface="Inter Tight SemiBold" pitchFamily="34" charset="0"/>
                <a:ea typeface="Inter Tight SemiBold" pitchFamily="34" charset="-122"/>
                <a:cs typeface="Inter Tight SemiBold" pitchFamily="34" charset="-120"/>
              </a:rPr>
              <a:t>04</a:t>
            </a:r>
            <a:endParaRPr lang="en-US" sz="1500" dirty="0"/>
          </a:p>
        </p:txBody>
      </p:sp>
      <p:sp>
        <p:nvSpPr>
          <p:cNvPr id="18" name="Text 16"/>
          <p:cNvSpPr/>
          <p:nvPr/>
        </p:nvSpPr>
        <p:spPr>
          <a:xfrm>
            <a:off x="4294476" y="6915631"/>
            <a:ext cx="1207563" cy="157549"/>
          </a:xfrm>
          <a:prstGeom prst="rect">
            <a:avLst/>
          </a:prstGeom>
          <a:noFill/>
          <a:ln/>
        </p:spPr>
        <p:txBody>
          <a:bodyPr wrap="none" lIns="0" tIns="0" rIns="0" bIns="0" rtlCol="0" anchor="t"/>
          <a:lstStyle/>
          <a:p>
            <a:pPr algn="l" indent="0" marL="0">
              <a:lnSpc>
                <a:spcPts val="1240"/>
              </a:lnSpc>
              <a:buNone/>
            </a:pPr>
            <a:r>
              <a:rPr lang="en-US" sz="800" spc="30" kern="0" dirty="0">
                <a:solidFill>
                  <a:srgbClr val="121519"/>
                </a:solidFill>
                <a:latin typeface="Noto Sans JP Medium" pitchFamily="34" charset="0"/>
                <a:ea typeface="Noto Sans JP Medium" pitchFamily="34" charset="-122"/>
                <a:cs typeface="Noto Sans JP Medium" pitchFamily="34" charset="-120"/>
              </a:rPr>
              <a:t>ゆえに、社会に不可欠</a:t>
            </a:r>
            <a:endParaRPr lang="en-US" sz="800" dirty="0"/>
          </a:p>
        </p:txBody>
      </p:sp>
      <p:sp>
        <p:nvSpPr>
          <p:cNvPr id="19" name="Text 17"/>
          <p:cNvSpPr/>
          <p:nvPr/>
        </p:nvSpPr>
        <p:spPr>
          <a:xfrm>
            <a:off x="508222" y="7267574"/>
            <a:ext cx="525791"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Noto Sans JP Medium" pitchFamily="34" charset="0"/>
                <a:ea typeface="Noto Sans JP Medium" pitchFamily="34" charset="-122"/>
                <a:cs typeface="Noto Sans JP Medium" pitchFamily="34" charset="-120"/>
              </a:rPr>
              <a:t>出資構成</a:t>
            </a:r>
            <a:endParaRPr lang="en-US" sz="660" dirty="0"/>
          </a:p>
        </p:txBody>
      </p:sp>
      <p:sp>
        <p:nvSpPr>
          <p:cNvPr id="20" name="Text 18"/>
          <p:cNvSpPr/>
          <p:nvPr/>
        </p:nvSpPr>
        <p:spPr>
          <a:xfrm>
            <a:off x="909836" y="7566155"/>
            <a:ext cx="424901"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121519"/>
                </a:solidFill>
                <a:latin typeface="Noto Sans JP Medium" pitchFamily="34" charset="0"/>
                <a:ea typeface="Noto Sans JP Medium" pitchFamily="34" charset="-122"/>
                <a:cs typeface="Noto Sans JP Medium" pitchFamily="34" charset="-120"/>
              </a:rPr>
              <a:t>三菱商事</a:t>
            </a:r>
            <a:endParaRPr lang="en-US" sz="640" dirty="0"/>
          </a:p>
        </p:txBody>
      </p:sp>
      <p:sp>
        <p:nvSpPr>
          <p:cNvPr id="21" name="Text 19"/>
          <p:cNvSpPr/>
          <p:nvPr/>
        </p:nvSpPr>
        <p:spPr>
          <a:xfrm>
            <a:off x="2379313" y="7572508"/>
            <a:ext cx="266797"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121519"/>
                </a:solidFill>
                <a:latin typeface="Inter Medium" pitchFamily="34" charset="0"/>
                <a:ea typeface="Inter Medium" pitchFamily="34" charset="-122"/>
                <a:cs typeface="Inter Medium" pitchFamily="34" charset="-120"/>
              </a:rPr>
              <a:t>MDP</a:t>
            </a:r>
            <a:endParaRPr lang="en-US" sz="640" dirty="0"/>
          </a:p>
        </p:txBody>
      </p:sp>
      <p:sp>
        <p:nvSpPr>
          <p:cNvPr id="22" name="Text 20"/>
          <p:cNvSpPr/>
          <p:nvPr/>
        </p:nvSpPr>
        <p:spPr>
          <a:xfrm>
            <a:off x="2388842" y="7979085"/>
            <a:ext cx="246051"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121519"/>
                </a:solidFill>
                <a:latin typeface="Inter Medium" pitchFamily="34" charset="0"/>
                <a:ea typeface="Inter Medium" pitchFamily="34" charset="-122"/>
                <a:cs typeface="Inter Medium" pitchFamily="34" charset="-120"/>
              </a:rPr>
              <a:t>BHP</a:t>
            </a:r>
            <a:endParaRPr lang="en-US" sz="640" dirty="0"/>
          </a:p>
        </p:txBody>
      </p:sp>
      <p:sp>
        <p:nvSpPr>
          <p:cNvPr id="23" name="Text 21"/>
          <p:cNvSpPr/>
          <p:nvPr/>
        </p:nvSpPr>
        <p:spPr>
          <a:xfrm>
            <a:off x="3789629" y="7775796"/>
            <a:ext cx="267015"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FFFFFF"/>
                </a:solidFill>
                <a:latin typeface="Inter Medium" pitchFamily="34" charset="0"/>
                <a:ea typeface="Inter Medium" pitchFamily="34" charset="-122"/>
                <a:cs typeface="Inter Medium" pitchFamily="34" charset="-120"/>
              </a:rPr>
              <a:t>BMA</a:t>
            </a:r>
            <a:endParaRPr lang="en-US" sz="640" dirty="0"/>
          </a:p>
        </p:txBody>
      </p:sp>
      <p:sp>
        <p:nvSpPr>
          <p:cNvPr id="24" name="Text 22"/>
          <p:cNvSpPr/>
          <p:nvPr/>
        </p:nvSpPr>
        <p:spPr>
          <a:xfrm>
            <a:off x="1727955" y="7504914"/>
            <a:ext cx="245833" cy="109776"/>
          </a:xfrm>
          <a:prstGeom prst="rect">
            <a:avLst/>
          </a:prstGeom>
          <a:noFill/>
          <a:ln/>
        </p:spPr>
        <p:txBody>
          <a:bodyPr wrap="none" lIns="0" tIns="0" rIns="0" bIns="0" rtlCol="0" anchor="t"/>
          <a:lstStyle/>
          <a:p>
            <a:pPr algn="l" indent="0" marL="0">
              <a:lnSpc>
                <a:spcPts val="864"/>
              </a:lnSpc>
              <a:buNone/>
            </a:pPr>
            <a:r>
              <a:rPr lang="en-US" sz="540" dirty="0">
                <a:solidFill>
                  <a:srgbClr val="7D838A"/>
                </a:solidFill>
                <a:latin typeface="Noto Sans JP" pitchFamily="34" charset="0"/>
                <a:ea typeface="Noto Sans JP" pitchFamily="34" charset="-122"/>
                <a:cs typeface="Noto Sans JP" pitchFamily="34" charset="-120"/>
              </a:rPr>
              <a:t>100%</a:t>
            </a:r>
            <a:endParaRPr lang="en-US" sz="540" dirty="0"/>
          </a:p>
        </p:txBody>
      </p:sp>
      <p:sp>
        <p:nvSpPr>
          <p:cNvPr id="25" name="Text 23"/>
          <p:cNvSpPr/>
          <p:nvPr/>
        </p:nvSpPr>
        <p:spPr>
          <a:xfrm>
            <a:off x="2960393" y="7517620"/>
            <a:ext cx="203904" cy="109776"/>
          </a:xfrm>
          <a:prstGeom prst="rect">
            <a:avLst/>
          </a:prstGeom>
          <a:noFill/>
          <a:ln/>
        </p:spPr>
        <p:txBody>
          <a:bodyPr wrap="none" lIns="0" tIns="0" rIns="0" bIns="0" rtlCol="0" anchor="t"/>
          <a:lstStyle/>
          <a:p>
            <a:pPr algn="l" indent="0" marL="0">
              <a:lnSpc>
                <a:spcPts val="864"/>
              </a:lnSpc>
              <a:buNone/>
            </a:pPr>
            <a:r>
              <a:rPr lang="en-US" sz="540" dirty="0">
                <a:solidFill>
                  <a:srgbClr val="7D838A"/>
                </a:solidFill>
                <a:latin typeface="Noto Sans JP" pitchFamily="34" charset="0"/>
                <a:ea typeface="Noto Sans JP" pitchFamily="34" charset="-122"/>
                <a:cs typeface="Noto Sans JP" pitchFamily="34" charset="-120"/>
              </a:rPr>
              <a:t>50%</a:t>
            </a:r>
            <a:endParaRPr lang="en-US" sz="540" dirty="0"/>
          </a:p>
        </p:txBody>
      </p:sp>
      <p:sp>
        <p:nvSpPr>
          <p:cNvPr id="26" name="Text 24"/>
          <p:cNvSpPr/>
          <p:nvPr/>
        </p:nvSpPr>
        <p:spPr>
          <a:xfrm>
            <a:off x="2960393" y="8051253"/>
            <a:ext cx="203904" cy="109776"/>
          </a:xfrm>
          <a:prstGeom prst="rect">
            <a:avLst/>
          </a:prstGeom>
          <a:noFill/>
          <a:ln/>
        </p:spPr>
        <p:txBody>
          <a:bodyPr wrap="none" lIns="0" tIns="0" rIns="0" bIns="0" rtlCol="0" anchor="t"/>
          <a:lstStyle/>
          <a:p>
            <a:pPr algn="l" indent="0" marL="0">
              <a:lnSpc>
                <a:spcPts val="864"/>
              </a:lnSpc>
              <a:buNone/>
            </a:pPr>
            <a:r>
              <a:rPr lang="en-US" sz="540" dirty="0">
                <a:solidFill>
                  <a:srgbClr val="7D838A"/>
                </a:solidFill>
                <a:latin typeface="Noto Sans JP" pitchFamily="34" charset="0"/>
                <a:ea typeface="Noto Sans JP" pitchFamily="34" charset="-122"/>
                <a:cs typeface="Noto Sans JP" pitchFamily="34" charset="-120"/>
              </a:rPr>
              <a:t>50%</a:t>
            </a:r>
            <a:endParaRPr lang="en-US" sz="540" dirty="0"/>
          </a:p>
        </p:txBody>
      </p:sp>
      <p:sp>
        <p:nvSpPr>
          <p:cNvPr id="27" name="Text 25"/>
          <p:cNvSpPr/>
          <p:nvPr/>
        </p:nvSpPr>
        <p:spPr>
          <a:xfrm>
            <a:off x="508222" y="8385663"/>
            <a:ext cx="237971"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7D838A"/>
                </a:solidFill>
                <a:latin typeface="Noto Sans JP Medium" pitchFamily="34" charset="0"/>
                <a:ea typeface="Noto Sans JP Medium" pitchFamily="34" charset="-122"/>
                <a:cs typeface="Noto Sans JP Medium" pitchFamily="34" charset="-120"/>
              </a:rPr>
              <a:t>設立</a:t>
            </a:r>
            <a:endParaRPr lang="en-US" sz="640" dirty="0"/>
          </a:p>
        </p:txBody>
      </p:sp>
      <p:sp>
        <p:nvSpPr>
          <p:cNvPr id="28" name="Text 26"/>
          <p:cNvSpPr/>
          <p:nvPr/>
        </p:nvSpPr>
        <p:spPr>
          <a:xfrm>
            <a:off x="1905832" y="8365588"/>
            <a:ext cx="1785388" cy="141794"/>
          </a:xfrm>
          <a:prstGeom prst="rect">
            <a:avLst/>
          </a:prstGeom>
          <a:noFill/>
          <a:ln/>
        </p:spPr>
        <p:txBody>
          <a:bodyPr wrap="none" lIns="0" tIns="0" rIns="0" bIns="0" rtlCol="0" anchor="t"/>
          <a:lstStyle/>
          <a:p>
            <a:pPr algn="l" indent="0" marL="0">
              <a:lnSpc>
                <a:spcPts val="1116"/>
              </a:lnSpc>
              <a:buNone/>
            </a:pPr>
            <a:r>
              <a:rPr lang="en-US" sz="720" spc="30" kern="0" dirty="0">
                <a:solidFill>
                  <a:srgbClr val="121519"/>
                </a:solidFill>
                <a:latin typeface="Noto Sans JP Medium" pitchFamily="34" charset="0"/>
                <a:ea typeface="Noto Sans JP Medium" pitchFamily="34" charset="-122"/>
                <a:cs typeface="Noto Sans JP Medium" pitchFamily="34" charset="-120"/>
              </a:rPr>
              <a:t>1968年 MDP設立／2001年 BMA組成</a:t>
            </a:r>
            <a:endParaRPr lang="en-US" sz="720" dirty="0"/>
          </a:p>
        </p:txBody>
      </p:sp>
      <p:sp>
        <p:nvSpPr>
          <p:cNvPr id="29" name="Text 27"/>
          <p:cNvSpPr/>
          <p:nvPr/>
        </p:nvSpPr>
        <p:spPr>
          <a:xfrm>
            <a:off x="508222" y="8576246"/>
            <a:ext cx="331436"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7D838A"/>
                </a:solidFill>
                <a:latin typeface="Noto Sans JP Medium" pitchFamily="34" charset="0"/>
                <a:ea typeface="Noto Sans JP Medium" pitchFamily="34" charset="-122"/>
                <a:cs typeface="Noto Sans JP Medium" pitchFamily="34" charset="-120"/>
              </a:rPr>
              <a:t>所在地</a:t>
            </a:r>
            <a:endParaRPr lang="en-US" sz="640" dirty="0"/>
          </a:p>
        </p:txBody>
      </p:sp>
      <p:sp>
        <p:nvSpPr>
          <p:cNvPr id="30" name="Text 28"/>
          <p:cNvSpPr/>
          <p:nvPr/>
        </p:nvSpPr>
        <p:spPr>
          <a:xfrm>
            <a:off x="1905832" y="8556171"/>
            <a:ext cx="2158593" cy="141794"/>
          </a:xfrm>
          <a:prstGeom prst="rect">
            <a:avLst/>
          </a:prstGeom>
          <a:noFill/>
          <a:ln/>
        </p:spPr>
        <p:txBody>
          <a:bodyPr wrap="none" lIns="0" tIns="0" rIns="0" bIns="0" rtlCol="0" anchor="t"/>
          <a:lstStyle/>
          <a:p>
            <a:pPr algn="l" indent="0" marL="0">
              <a:lnSpc>
                <a:spcPts val="1116"/>
              </a:lnSpc>
              <a:buNone/>
            </a:pPr>
            <a:r>
              <a:rPr lang="en-US" sz="720" spc="30" kern="0" dirty="0">
                <a:solidFill>
                  <a:srgbClr val="121519"/>
                </a:solidFill>
                <a:latin typeface="Noto Sans JP Medium" pitchFamily="34" charset="0"/>
                <a:ea typeface="Noto Sans JP Medium" pitchFamily="34" charset="-122"/>
                <a:cs typeface="Noto Sans JP Medium" pitchFamily="34" charset="-120"/>
              </a:rPr>
              <a:t>豪州クイーンズランド州 ボーエン・ベースン</a:t>
            </a:r>
            <a:endParaRPr lang="en-US" sz="720" dirty="0"/>
          </a:p>
        </p:txBody>
      </p:sp>
      <p:sp>
        <p:nvSpPr>
          <p:cNvPr id="31" name="Text 29"/>
          <p:cNvSpPr/>
          <p:nvPr/>
        </p:nvSpPr>
        <p:spPr>
          <a:xfrm>
            <a:off x="508222" y="8766829"/>
            <a:ext cx="424901"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7D838A"/>
                </a:solidFill>
                <a:latin typeface="Noto Sans JP Medium" pitchFamily="34" charset="0"/>
                <a:ea typeface="Noto Sans JP Medium" pitchFamily="34" charset="-122"/>
                <a:cs typeface="Noto Sans JP Medium" pitchFamily="34" charset="-120"/>
              </a:rPr>
              <a:t>保有資産</a:t>
            </a:r>
            <a:endParaRPr lang="en-US" sz="640" dirty="0"/>
          </a:p>
        </p:txBody>
      </p:sp>
      <p:sp>
        <p:nvSpPr>
          <p:cNvPr id="32" name="Text 30"/>
          <p:cNvSpPr/>
          <p:nvPr/>
        </p:nvSpPr>
        <p:spPr>
          <a:xfrm>
            <a:off x="1905832" y="8746754"/>
            <a:ext cx="1964020" cy="141794"/>
          </a:xfrm>
          <a:prstGeom prst="rect">
            <a:avLst/>
          </a:prstGeom>
          <a:noFill/>
          <a:ln/>
        </p:spPr>
        <p:txBody>
          <a:bodyPr wrap="none" lIns="0" tIns="0" rIns="0" bIns="0" rtlCol="0" anchor="t"/>
          <a:lstStyle/>
          <a:p>
            <a:pPr algn="l" indent="0" marL="0">
              <a:lnSpc>
                <a:spcPts val="1116"/>
              </a:lnSpc>
              <a:buNone/>
            </a:pPr>
            <a:r>
              <a:rPr lang="en-US" sz="720" spc="30" kern="0" dirty="0">
                <a:solidFill>
                  <a:srgbClr val="121519"/>
                </a:solidFill>
                <a:latin typeface="Noto Sans JP Medium" pitchFamily="34" charset="0"/>
                <a:ea typeface="Noto Sans JP Medium" pitchFamily="34" charset="-122"/>
                <a:cs typeface="Noto Sans JP Medium" pitchFamily="34" charset="-120"/>
              </a:rPr>
              <a:t>炭鉱5（露天掘4・坑内掘1）・港湾・鉄道</a:t>
            </a:r>
            <a:endParaRPr lang="en-US" sz="720" dirty="0"/>
          </a:p>
        </p:txBody>
      </p:sp>
      <p:sp>
        <p:nvSpPr>
          <p:cNvPr id="33" name="Text 31"/>
          <p:cNvSpPr/>
          <p:nvPr/>
        </p:nvSpPr>
        <p:spPr>
          <a:xfrm>
            <a:off x="508222" y="8957412"/>
            <a:ext cx="424901"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7D838A"/>
                </a:solidFill>
                <a:latin typeface="Noto Sans JP Medium" pitchFamily="34" charset="0"/>
                <a:ea typeface="Noto Sans JP Medium" pitchFamily="34" charset="-122"/>
                <a:cs typeface="Noto Sans JP Medium" pitchFamily="34" charset="-120"/>
              </a:rPr>
              <a:t>炭鉱寿命</a:t>
            </a:r>
            <a:endParaRPr lang="en-US" sz="640" dirty="0"/>
          </a:p>
        </p:txBody>
      </p:sp>
      <p:sp>
        <p:nvSpPr>
          <p:cNvPr id="34" name="Text 32"/>
          <p:cNvSpPr/>
          <p:nvPr/>
        </p:nvSpPr>
        <p:spPr>
          <a:xfrm>
            <a:off x="1905832" y="8937338"/>
            <a:ext cx="487794" cy="141794"/>
          </a:xfrm>
          <a:prstGeom prst="rect">
            <a:avLst/>
          </a:prstGeom>
          <a:noFill/>
          <a:ln/>
        </p:spPr>
        <p:txBody>
          <a:bodyPr wrap="none" lIns="0" tIns="0" rIns="0" bIns="0" rtlCol="0" anchor="t"/>
          <a:lstStyle/>
          <a:p>
            <a:pPr algn="l" indent="0" marL="0">
              <a:lnSpc>
                <a:spcPts val="1116"/>
              </a:lnSpc>
              <a:buNone/>
            </a:pPr>
            <a:r>
              <a:rPr lang="en-US" sz="720" spc="30" kern="0" dirty="0">
                <a:solidFill>
                  <a:srgbClr val="121519"/>
                </a:solidFill>
                <a:latin typeface="Noto Sans JP Medium" pitchFamily="34" charset="0"/>
                <a:ea typeface="Noto Sans JP Medium" pitchFamily="34" charset="-122"/>
                <a:cs typeface="Noto Sans JP Medium" pitchFamily="34" charset="-120"/>
              </a:rPr>
              <a:t>60年以上</a:t>
            </a:r>
            <a:endParaRPr lang="en-US" sz="720" dirty="0"/>
          </a:p>
        </p:txBody>
      </p:sp>
      <p:sp>
        <p:nvSpPr>
          <p:cNvPr id="35" name="Text 33"/>
          <p:cNvSpPr/>
          <p:nvPr/>
        </p:nvSpPr>
        <p:spPr>
          <a:xfrm>
            <a:off x="508222" y="9147996"/>
            <a:ext cx="711848"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7D838A"/>
                </a:solidFill>
                <a:latin typeface="Noto Sans JP Medium" pitchFamily="34" charset="0"/>
                <a:ea typeface="Noto Sans JP Medium" pitchFamily="34" charset="-122"/>
                <a:cs typeface="Noto Sans JP Medium" pitchFamily="34" charset="-120"/>
              </a:rPr>
              <a:t>海上輸出シェア</a:t>
            </a:r>
            <a:endParaRPr lang="en-US" sz="640" dirty="0"/>
          </a:p>
        </p:txBody>
      </p:sp>
      <p:sp>
        <p:nvSpPr>
          <p:cNvPr id="36" name="Text 34"/>
          <p:cNvSpPr/>
          <p:nvPr/>
        </p:nvSpPr>
        <p:spPr>
          <a:xfrm>
            <a:off x="1905832" y="9127921"/>
            <a:ext cx="1423538" cy="141794"/>
          </a:xfrm>
          <a:prstGeom prst="rect">
            <a:avLst/>
          </a:prstGeom>
          <a:noFill/>
          <a:ln/>
        </p:spPr>
        <p:txBody>
          <a:bodyPr wrap="none" lIns="0" tIns="0" rIns="0" bIns="0" rtlCol="0" anchor="t"/>
          <a:lstStyle/>
          <a:p>
            <a:pPr algn="l" indent="0" marL="0">
              <a:lnSpc>
                <a:spcPts val="1116"/>
              </a:lnSpc>
              <a:buNone/>
            </a:pPr>
            <a:r>
              <a:rPr lang="en-US" sz="720" spc="30" kern="0" dirty="0">
                <a:solidFill>
                  <a:srgbClr val="121519"/>
                </a:solidFill>
                <a:latin typeface="Noto Sans JP Medium" pitchFamily="34" charset="0"/>
                <a:ea typeface="Noto Sans JP Medium" pitchFamily="34" charset="-122"/>
                <a:cs typeface="Noto Sans JP Medium" pitchFamily="34" charset="-120"/>
              </a:rPr>
              <a:t>原料炭の海上貿易量の約20%</a:t>
            </a:r>
            <a:endParaRPr lang="en-US" sz="720" dirty="0"/>
          </a:p>
        </p:txBody>
      </p:sp>
      <p:sp>
        <p:nvSpPr>
          <p:cNvPr id="37" name="Text 35"/>
          <p:cNvSpPr/>
          <p:nvPr/>
        </p:nvSpPr>
        <p:spPr>
          <a:xfrm>
            <a:off x="8068024" y="4468542"/>
            <a:ext cx="4184692" cy="777580"/>
          </a:xfrm>
          <a:prstGeom prst="rect">
            <a:avLst/>
          </a:prstGeom>
          <a:noFill/>
          <a:ln/>
        </p:spPr>
        <p:txBody>
          <a:bodyPr wrap="none" lIns="0" tIns="0" rIns="0" bIns="0" rtlCol="0" anchor="t"/>
          <a:lstStyle/>
          <a:p>
            <a:pPr algn="l" indent="0" marL="0">
              <a:lnSpc>
                <a:spcPts val="3060"/>
              </a:lnSpc>
              <a:buNone/>
            </a:pPr>
            <a:r>
              <a:rPr lang="en-US" sz="3000" spc="-75" kern="0" dirty="0">
                <a:solidFill>
                  <a:srgbClr val="121519"/>
                </a:solidFill>
                <a:latin typeface="Inter Tight SemiBold" pitchFamily="34" charset="0"/>
                <a:ea typeface="Inter Tight SemiBold" pitchFamily="34" charset="-122"/>
                <a:cs typeface="Inter Tight SemiBold" pitchFamily="34" charset="-120"/>
              </a:rPr>
              <a:t>The partner the copper</a:t>
            </a:r>
            <a:endParaRPr lang="en-US" sz="3000" dirty="0"/>
          </a:p>
          <a:p>
            <a:pPr algn="l" indent="0" marL="0">
              <a:lnSpc>
                <a:spcPts val="3060"/>
              </a:lnSpc>
              <a:buNone/>
            </a:pPr>
            <a:r>
              <a:rPr lang="en-US" sz="3000" spc="-75" kern="0" dirty="0">
                <a:solidFill>
                  <a:srgbClr val="121519"/>
                </a:solidFill>
                <a:latin typeface="Inter Tight SemiBold" pitchFamily="34" charset="0"/>
                <a:ea typeface="Inter Tight SemiBold" pitchFamily="34" charset="-122"/>
                <a:cs typeface="Inter Tight SemiBold" pitchFamily="34" charset="-120"/>
              </a:rPr>
              <a:t>industry calls first.</a:t>
            </a:r>
            <a:endParaRPr lang="en-US" sz="3000" dirty="0"/>
          </a:p>
        </p:txBody>
      </p:sp>
      <p:sp>
        <p:nvSpPr>
          <p:cNvPr id="38" name="Text 36"/>
          <p:cNvSpPr/>
          <p:nvPr/>
        </p:nvSpPr>
        <p:spPr>
          <a:xfrm>
            <a:off x="8068024" y="5455445"/>
            <a:ext cx="4746793" cy="219171"/>
          </a:xfrm>
          <a:prstGeom prst="rect">
            <a:avLst/>
          </a:prstGeom>
          <a:noFill/>
          <a:ln/>
        </p:spPr>
        <p:txBody>
          <a:bodyPr wrap="none" lIns="0" tIns="0" rIns="0" bIns="0" rtlCol="0" anchor="t"/>
          <a:lstStyle/>
          <a:p>
            <a:pPr algn="l" indent="0" marL="0">
              <a:lnSpc>
                <a:spcPts val="1725"/>
              </a:lnSpc>
              <a:buNone/>
            </a:pPr>
            <a:r>
              <a:rPr lang="en-US" sz="1150" spc="50" kern="0" dirty="0">
                <a:solidFill>
                  <a:srgbClr val="121519"/>
                </a:solidFill>
                <a:latin typeface="Noto Sans JP Medium" pitchFamily="34" charset="0"/>
                <a:ea typeface="Noto Sans JP Medium" pitchFamily="34" charset="-122"/>
                <a:cs typeface="Noto Sans JP Medium" pitchFamily="34" charset="-120"/>
              </a:rPr>
              <a:t>銅事業｜業界から最初に声がかかる、世界最大級のパートナー</a:t>
            </a:r>
            <a:endParaRPr lang="en-US" sz="1150" dirty="0"/>
          </a:p>
        </p:txBody>
      </p:sp>
      <p:sp>
        <p:nvSpPr>
          <p:cNvPr id="39" name="Text 37"/>
          <p:cNvSpPr/>
          <p:nvPr/>
        </p:nvSpPr>
        <p:spPr>
          <a:xfrm>
            <a:off x="8068024" y="5734999"/>
            <a:ext cx="3544848" cy="1085943"/>
          </a:xfrm>
          <a:prstGeom prst="rect">
            <a:avLst/>
          </a:prstGeom>
          <a:noFill/>
          <a:ln/>
        </p:spPr>
        <p:txBody>
          <a:bodyPr wrap="none" lIns="0" tIns="0" rIns="0" bIns="0" rtlCol="0" anchor="t"/>
          <a:lstStyle/>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銅は原料炭に比べてプレイヤーが多く、寡占化が進んでいない市場で</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す。そのなかで私たちは、規模で世界上位15に入る優良鉱山に複数参</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画し、日本最大・世界第20位の持分生産量を有しています。特定の1社</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に偏らず、主要メジャーのほぼすべてと共同事業・取引を行い、販売</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を通じた幅広い関係から、新しい案件で“声がかかる存在”であり続け</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ています。</a:t>
            </a:r>
            <a:endParaRPr lang="en-US" sz="770" dirty="0"/>
          </a:p>
        </p:txBody>
      </p:sp>
      <p:sp>
        <p:nvSpPr>
          <p:cNvPr id="40" name="Text 38"/>
          <p:cNvSpPr/>
          <p:nvPr/>
        </p:nvSpPr>
        <p:spPr>
          <a:xfrm>
            <a:off x="11498522" y="5742908"/>
            <a:ext cx="646554"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Noto Sans JP Medium" pitchFamily="34" charset="0"/>
                <a:ea typeface="Noto Sans JP Medium" pitchFamily="34" charset="-122"/>
                <a:cs typeface="Noto Sans JP Medium" pitchFamily="34" charset="-120"/>
              </a:rPr>
              <a:t>早期の参画</a:t>
            </a:r>
            <a:endParaRPr lang="en-US" sz="660" dirty="0"/>
          </a:p>
        </p:txBody>
      </p:sp>
      <p:sp>
        <p:nvSpPr>
          <p:cNvPr id="41" name="Text 39"/>
          <p:cNvSpPr/>
          <p:nvPr/>
        </p:nvSpPr>
        <p:spPr>
          <a:xfrm>
            <a:off x="12387911" y="5742908"/>
            <a:ext cx="1056228"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主要銅鉱山への参画年</a:t>
            </a:r>
            <a:endParaRPr lang="en-US" sz="660" dirty="0"/>
          </a:p>
        </p:txBody>
      </p:sp>
      <p:sp>
        <p:nvSpPr>
          <p:cNvPr id="42" name="Text 40"/>
          <p:cNvSpPr/>
          <p:nvPr/>
        </p:nvSpPr>
        <p:spPr>
          <a:xfrm>
            <a:off x="11741913" y="5940099"/>
            <a:ext cx="229018" cy="113842"/>
          </a:xfrm>
          <a:prstGeom prst="rect">
            <a:avLst/>
          </a:prstGeom>
          <a:noFill/>
          <a:ln/>
        </p:spPr>
        <p:txBody>
          <a:bodyPr wrap="none" lIns="0" tIns="0" rIns="0" bIns="0" rtlCol="0" anchor="t"/>
          <a:lstStyle/>
          <a:p>
            <a:pPr algn="l" indent="0" marL="0">
              <a:lnSpc>
                <a:spcPts val="896"/>
              </a:lnSpc>
              <a:buNone/>
            </a:pPr>
            <a:r>
              <a:rPr lang="en-US" sz="560" dirty="0">
                <a:solidFill>
                  <a:srgbClr val="7D838A"/>
                </a:solidFill>
                <a:latin typeface="Inter" pitchFamily="34" charset="0"/>
                <a:ea typeface="Inter" pitchFamily="34" charset="-122"/>
                <a:cs typeface="Inter" pitchFamily="34" charset="-120"/>
              </a:rPr>
              <a:t>1990</a:t>
            </a:r>
            <a:endParaRPr lang="en-US" sz="560" dirty="0"/>
          </a:p>
        </p:txBody>
      </p:sp>
      <p:sp>
        <p:nvSpPr>
          <p:cNvPr id="43" name="Text 41"/>
          <p:cNvSpPr/>
          <p:nvPr/>
        </p:nvSpPr>
        <p:spPr>
          <a:xfrm>
            <a:off x="12483202" y="5940099"/>
            <a:ext cx="246488" cy="113842"/>
          </a:xfrm>
          <a:prstGeom prst="rect">
            <a:avLst/>
          </a:prstGeom>
          <a:noFill/>
          <a:ln/>
        </p:spPr>
        <p:txBody>
          <a:bodyPr wrap="none" lIns="0" tIns="0" rIns="0" bIns="0" rtlCol="0" anchor="t"/>
          <a:lstStyle/>
          <a:p>
            <a:pPr algn="l" indent="0" marL="0">
              <a:lnSpc>
                <a:spcPts val="896"/>
              </a:lnSpc>
              <a:buNone/>
            </a:pPr>
            <a:r>
              <a:rPr lang="en-US" sz="560" dirty="0">
                <a:solidFill>
                  <a:srgbClr val="7D838A"/>
                </a:solidFill>
                <a:latin typeface="Inter" pitchFamily="34" charset="0"/>
                <a:ea typeface="Inter" pitchFamily="34" charset="-122"/>
                <a:cs typeface="Inter" pitchFamily="34" charset="-120"/>
              </a:rPr>
              <a:t>2000</a:t>
            </a:r>
            <a:endParaRPr lang="en-US" sz="560" dirty="0"/>
          </a:p>
        </p:txBody>
      </p:sp>
      <p:sp>
        <p:nvSpPr>
          <p:cNvPr id="44" name="Text 42"/>
          <p:cNvSpPr/>
          <p:nvPr/>
        </p:nvSpPr>
        <p:spPr>
          <a:xfrm>
            <a:off x="13224293" y="5940099"/>
            <a:ext cx="229018" cy="113842"/>
          </a:xfrm>
          <a:prstGeom prst="rect">
            <a:avLst/>
          </a:prstGeom>
          <a:noFill/>
          <a:ln/>
        </p:spPr>
        <p:txBody>
          <a:bodyPr wrap="none" lIns="0" tIns="0" rIns="0" bIns="0" rtlCol="0" anchor="t"/>
          <a:lstStyle/>
          <a:p>
            <a:pPr algn="l" indent="0" marL="0">
              <a:lnSpc>
                <a:spcPts val="896"/>
              </a:lnSpc>
              <a:buNone/>
            </a:pPr>
            <a:r>
              <a:rPr lang="en-US" sz="560" dirty="0">
                <a:solidFill>
                  <a:srgbClr val="7D838A"/>
                </a:solidFill>
                <a:latin typeface="Inter" pitchFamily="34" charset="0"/>
                <a:ea typeface="Inter" pitchFamily="34" charset="-122"/>
                <a:cs typeface="Inter" pitchFamily="34" charset="-120"/>
              </a:rPr>
              <a:t>2010</a:t>
            </a:r>
            <a:endParaRPr lang="en-US" sz="560" dirty="0"/>
          </a:p>
        </p:txBody>
      </p:sp>
      <p:sp>
        <p:nvSpPr>
          <p:cNvPr id="45" name="Text 43"/>
          <p:cNvSpPr/>
          <p:nvPr/>
        </p:nvSpPr>
        <p:spPr>
          <a:xfrm>
            <a:off x="13965384" y="5940099"/>
            <a:ext cx="244959" cy="113842"/>
          </a:xfrm>
          <a:prstGeom prst="rect">
            <a:avLst/>
          </a:prstGeom>
          <a:noFill/>
          <a:ln/>
        </p:spPr>
        <p:txBody>
          <a:bodyPr wrap="none" lIns="0" tIns="0" rIns="0" bIns="0" rtlCol="0" anchor="t"/>
          <a:lstStyle/>
          <a:p>
            <a:pPr algn="l" indent="0" marL="0">
              <a:lnSpc>
                <a:spcPts val="896"/>
              </a:lnSpc>
              <a:buNone/>
            </a:pPr>
            <a:r>
              <a:rPr lang="en-US" sz="560" dirty="0">
                <a:solidFill>
                  <a:srgbClr val="7D838A"/>
                </a:solidFill>
                <a:latin typeface="Inter" pitchFamily="34" charset="0"/>
                <a:ea typeface="Inter" pitchFamily="34" charset="-122"/>
                <a:cs typeface="Inter" pitchFamily="34" charset="-120"/>
              </a:rPr>
              <a:t>2020</a:t>
            </a:r>
            <a:endParaRPr lang="en-US" sz="560" dirty="0"/>
          </a:p>
        </p:txBody>
      </p:sp>
      <p:sp>
        <p:nvSpPr>
          <p:cNvPr id="46" name="Text 44"/>
          <p:cNvSpPr/>
          <p:nvPr/>
        </p:nvSpPr>
        <p:spPr>
          <a:xfrm>
            <a:off x="11797103" y="6276541"/>
            <a:ext cx="1084399" cy="127055"/>
          </a:xfrm>
          <a:prstGeom prst="rect">
            <a:avLst/>
          </a:prstGeom>
          <a:noFill/>
          <a:ln/>
        </p:spPr>
        <p:txBody>
          <a:bodyPr wrap="none" lIns="0" tIns="0" rIns="0" bIns="0" rtlCol="0" anchor="t"/>
          <a:lstStyle/>
          <a:p>
            <a:pPr algn="l" indent="0" marL="0">
              <a:lnSpc>
                <a:spcPts val="1000"/>
              </a:lnSpc>
              <a:buNone/>
            </a:pPr>
            <a:r>
              <a:rPr lang="en-US" sz="640" spc="30" kern="0" dirty="0">
                <a:solidFill>
                  <a:srgbClr val="121519"/>
                </a:solidFill>
                <a:latin typeface="Inter SemiBold" pitchFamily="34" charset="0"/>
                <a:ea typeface="Inter SemiBold" pitchFamily="34" charset="-122"/>
                <a:cs typeface="Inter SemiBold" pitchFamily="34" charset="-120"/>
              </a:rPr>
              <a:t>Escondida</a:t>
            </a:r>
            <a:pPr algn="l" indent="0" marL="0">
              <a:lnSpc>
                <a:spcPts val="1000"/>
              </a:lnSpc>
              <a:buNone/>
            </a:pPr>
            <a:r>
              <a:rPr lang="en-US" sz="640" spc="30" kern="0" dirty="0">
                <a:solidFill>
                  <a:srgbClr val="121519"/>
                </a:solidFill>
                <a:latin typeface="Inter Medium" pitchFamily="34" charset="0"/>
                <a:ea typeface="Inter Medium" pitchFamily="34" charset="-122"/>
                <a:cs typeface="Inter Medium" pitchFamily="34" charset="-120"/>
              </a:rPr>
              <a:t> </a:t>
            </a:r>
            <a:pPr algn="l" indent="0" marL="0">
              <a:lnSpc>
                <a:spcPts val="1000"/>
              </a:lnSpc>
              <a:buNone/>
            </a:pPr>
            <a:r>
              <a:rPr lang="en-US" sz="670" spc="30" kern="0" dirty="0">
                <a:solidFill>
                  <a:srgbClr val="7D838A"/>
                </a:solidFill>
                <a:latin typeface="Noto Sans JP" pitchFamily="34" charset="0"/>
                <a:ea typeface="Noto Sans JP" pitchFamily="34" charset="-122"/>
                <a:cs typeface="Noto Sans JP" pitchFamily="34" charset="-120"/>
              </a:rPr>
              <a:t>チリ・1988</a:t>
            </a:r>
            <a:endParaRPr lang="en-US" sz="640" dirty="0"/>
          </a:p>
        </p:txBody>
      </p:sp>
      <p:sp>
        <p:nvSpPr>
          <p:cNvPr id="47" name="Text 45"/>
          <p:cNvSpPr/>
          <p:nvPr/>
        </p:nvSpPr>
        <p:spPr>
          <a:xfrm>
            <a:off x="12464144" y="6441714"/>
            <a:ext cx="1283340" cy="127055"/>
          </a:xfrm>
          <a:prstGeom prst="rect">
            <a:avLst/>
          </a:prstGeom>
          <a:noFill/>
          <a:ln/>
        </p:spPr>
        <p:txBody>
          <a:bodyPr wrap="none" lIns="0" tIns="0" rIns="0" bIns="0" rtlCol="0" anchor="t"/>
          <a:lstStyle/>
          <a:p>
            <a:pPr algn="l" indent="0" marL="0">
              <a:lnSpc>
                <a:spcPts val="1000"/>
              </a:lnSpc>
              <a:buNone/>
            </a:pPr>
            <a:r>
              <a:rPr lang="en-US" sz="640" spc="30" kern="0" dirty="0">
                <a:solidFill>
                  <a:srgbClr val="121519"/>
                </a:solidFill>
                <a:latin typeface="Inter SemiBold" pitchFamily="34" charset="0"/>
                <a:ea typeface="Inter SemiBold" pitchFamily="34" charset="-122"/>
                <a:cs typeface="Inter SemiBold" pitchFamily="34" charset="-120"/>
              </a:rPr>
              <a:t>Los Pelambres</a:t>
            </a:r>
            <a:pPr algn="l" indent="0" marL="0">
              <a:lnSpc>
                <a:spcPts val="1000"/>
              </a:lnSpc>
              <a:buNone/>
            </a:pPr>
            <a:r>
              <a:rPr lang="en-US" sz="640" spc="30" kern="0" dirty="0">
                <a:solidFill>
                  <a:srgbClr val="121519"/>
                </a:solidFill>
                <a:latin typeface="Inter Medium" pitchFamily="34" charset="0"/>
                <a:ea typeface="Inter Medium" pitchFamily="34" charset="-122"/>
                <a:cs typeface="Inter Medium" pitchFamily="34" charset="-120"/>
              </a:rPr>
              <a:t> </a:t>
            </a:r>
            <a:pPr algn="l" indent="0" marL="0">
              <a:lnSpc>
                <a:spcPts val="1000"/>
              </a:lnSpc>
              <a:buNone/>
            </a:pPr>
            <a:r>
              <a:rPr lang="en-US" sz="670" spc="30" kern="0" dirty="0">
                <a:solidFill>
                  <a:srgbClr val="7D838A"/>
                </a:solidFill>
                <a:latin typeface="Noto Sans JP" pitchFamily="34" charset="0"/>
                <a:ea typeface="Noto Sans JP" pitchFamily="34" charset="-122"/>
                <a:cs typeface="Noto Sans JP" pitchFamily="34" charset="-120"/>
              </a:rPr>
              <a:t>チリ・1997</a:t>
            </a:r>
            <a:endParaRPr lang="en-US" sz="640" dirty="0"/>
          </a:p>
        </p:txBody>
      </p:sp>
      <p:sp>
        <p:nvSpPr>
          <p:cNvPr id="48" name="Text 46"/>
          <p:cNvSpPr/>
          <p:nvPr/>
        </p:nvSpPr>
        <p:spPr>
          <a:xfrm>
            <a:off x="12612243" y="6606886"/>
            <a:ext cx="1140303" cy="127055"/>
          </a:xfrm>
          <a:prstGeom prst="rect">
            <a:avLst/>
          </a:prstGeom>
          <a:noFill/>
          <a:ln/>
        </p:spPr>
        <p:txBody>
          <a:bodyPr wrap="none" lIns="0" tIns="0" rIns="0" bIns="0" rtlCol="0" anchor="t"/>
          <a:lstStyle/>
          <a:p>
            <a:pPr algn="l" indent="0" marL="0">
              <a:lnSpc>
                <a:spcPts val="1000"/>
              </a:lnSpc>
              <a:buNone/>
            </a:pPr>
            <a:r>
              <a:rPr lang="en-US" sz="640" spc="30" kern="0" dirty="0">
                <a:solidFill>
                  <a:srgbClr val="121519"/>
                </a:solidFill>
                <a:latin typeface="Inter SemiBold" pitchFamily="34" charset="0"/>
                <a:ea typeface="Inter SemiBold" pitchFamily="34" charset="-122"/>
                <a:cs typeface="Inter SemiBold" pitchFamily="34" charset="-120"/>
              </a:rPr>
              <a:t>Antamina</a:t>
            </a:r>
            <a:pPr algn="l" indent="0" marL="0">
              <a:lnSpc>
                <a:spcPts val="1000"/>
              </a:lnSpc>
              <a:buNone/>
            </a:pPr>
            <a:r>
              <a:rPr lang="en-US" sz="640" spc="30" kern="0" dirty="0">
                <a:solidFill>
                  <a:srgbClr val="121519"/>
                </a:solidFill>
                <a:latin typeface="Inter Medium" pitchFamily="34" charset="0"/>
                <a:ea typeface="Inter Medium" pitchFamily="34" charset="-122"/>
                <a:cs typeface="Inter Medium" pitchFamily="34" charset="-120"/>
              </a:rPr>
              <a:t> </a:t>
            </a:r>
            <a:pPr algn="l" indent="0" marL="0">
              <a:lnSpc>
                <a:spcPts val="1000"/>
              </a:lnSpc>
              <a:buNone/>
            </a:pPr>
            <a:r>
              <a:rPr lang="en-US" sz="670" spc="30" kern="0" dirty="0">
                <a:solidFill>
                  <a:srgbClr val="7D838A"/>
                </a:solidFill>
                <a:latin typeface="Noto Sans JP" pitchFamily="34" charset="0"/>
                <a:ea typeface="Noto Sans JP" pitchFamily="34" charset="-122"/>
                <a:cs typeface="Noto Sans JP" pitchFamily="34" charset="-120"/>
              </a:rPr>
              <a:t>ペルー・1999</a:t>
            </a:r>
            <a:endParaRPr lang="en-US" sz="640" dirty="0"/>
          </a:p>
        </p:txBody>
      </p:sp>
      <p:sp>
        <p:nvSpPr>
          <p:cNvPr id="49" name="Text 47"/>
          <p:cNvSpPr/>
          <p:nvPr/>
        </p:nvSpPr>
        <p:spPr>
          <a:xfrm>
            <a:off x="13501632" y="6772058"/>
            <a:ext cx="1534910" cy="127055"/>
          </a:xfrm>
          <a:prstGeom prst="rect">
            <a:avLst/>
          </a:prstGeom>
          <a:noFill/>
          <a:ln/>
        </p:spPr>
        <p:txBody>
          <a:bodyPr wrap="none" lIns="0" tIns="0" rIns="0" bIns="0" rtlCol="0" anchor="t"/>
          <a:lstStyle/>
          <a:p>
            <a:pPr algn="l" indent="0" marL="0">
              <a:lnSpc>
                <a:spcPts val="1000"/>
              </a:lnSpc>
              <a:buNone/>
            </a:pPr>
            <a:r>
              <a:rPr lang="en-US" sz="640" spc="30" kern="0" dirty="0">
                <a:solidFill>
                  <a:srgbClr val="121519"/>
                </a:solidFill>
                <a:latin typeface="Inter SemiBold" pitchFamily="34" charset="0"/>
                <a:ea typeface="Inter SemiBold" pitchFamily="34" charset="-122"/>
                <a:cs typeface="Inter SemiBold" pitchFamily="34" charset="-120"/>
              </a:rPr>
              <a:t>Anglo American Sur</a:t>
            </a:r>
            <a:pPr algn="l" indent="0" marL="0">
              <a:lnSpc>
                <a:spcPts val="1000"/>
              </a:lnSpc>
              <a:buNone/>
            </a:pPr>
            <a:r>
              <a:rPr lang="en-US" sz="640" spc="30" kern="0" dirty="0">
                <a:solidFill>
                  <a:srgbClr val="121519"/>
                </a:solidFill>
                <a:latin typeface="Inter Medium" pitchFamily="34" charset="0"/>
                <a:ea typeface="Inter Medium" pitchFamily="34" charset="-122"/>
                <a:cs typeface="Inter Medium" pitchFamily="34" charset="-120"/>
              </a:rPr>
              <a:t> </a:t>
            </a:r>
            <a:pPr algn="l" indent="0" marL="0">
              <a:lnSpc>
                <a:spcPts val="1000"/>
              </a:lnSpc>
              <a:buNone/>
            </a:pPr>
            <a:r>
              <a:rPr lang="en-US" sz="670" spc="30" kern="0" dirty="0">
                <a:solidFill>
                  <a:srgbClr val="7D838A"/>
                </a:solidFill>
                <a:latin typeface="Noto Sans JP" pitchFamily="34" charset="0"/>
                <a:ea typeface="Noto Sans JP" pitchFamily="34" charset="-122"/>
                <a:cs typeface="Noto Sans JP" pitchFamily="34" charset="-120"/>
              </a:rPr>
              <a:t>チリ・2011</a:t>
            </a:r>
            <a:endParaRPr lang="en-US" sz="640" dirty="0"/>
          </a:p>
        </p:txBody>
      </p:sp>
      <p:sp>
        <p:nvSpPr>
          <p:cNvPr id="50" name="Text 48"/>
          <p:cNvSpPr/>
          <p:nvPr/>
        </p:nvSpPr>
        <p:spPr>
          <a:xfrm>
            <a:off x="13501632" y="6937230"/>
            <a:ext cx="1219137" cy="127055"/>
          </a:xfrm>
          <a:prstGeom prst="rect">
            <a:avLst/>
          </a:prstGeom>
          <a:noFill/>
          <a:ln/>
        </p:spPr>
        <p:txBody>
          <a:bodyPr wrap="none" lIns="0" tIns="0" rIns="0" bIns="0" rtlCol="0" anchor="t"/>
          <a:lstStyle/>
          <a:p>
            <a:pPr algn="l" indent="0" marL="0">
              <a:lnSpc>
                <a:spcPts val="1000"/>
              </a:lnSpc>
              <a:buNone/>
            </a:pPr>
            <a:r>
              <a:rPr lang="en-US" sz="640" spc="30" kern="0" dirty="0">
                <a:solidFill>
                  <a:srgbClr val="121519"/>
                </a:solidFill>
                <a:latin typeface="Inter SemiBold" pitchFamily="34" charset="0"/>
                <a:ea typeface="Inter SemiBold" pitchFamily="34" charset="-122"/>
                <a:cs typeface="Inter SemiBold" pitchFamily="34" charset="-120"/>
              </a:rPr>
              <a:t>Quellaveco</a:t>
            </a:r>
            <a:pPr algn="l" indent="0" marL="0">
              <a:lnSpc>
                <a:spcPts val="1000"/>
              </a:lnSpc>
              <a:buNone/>
            </a:pPr>
            <a:r>
              <a:rPr lang="en-US" sz="640" spc="30" kern="0" dirty="0">
                <a:solidFill>
                  <a:srgbClr val="121519"/>
                </a:solidFill>
                <a:latin typeface="Inter Medium" pitchFamily="34" charset="0"/>
                <a:ea typeface="Inter Medium" pitchFamily="34" charset="-122"/>
                <a:cs typeface="Inter Medium" pitchFamily="34" charset="-120"/>
              </a:rPr>
              <a:t> </a:t>
            </a:r>
            <a:pPr algn="l" indent="0" marL="0">
              <a:lnSpc>
                <a:spcPts val="1000"/>
              </a:lnSpc>
              <a:buNone/>
            </a:pPr>
            <a:r>
              <a:rPr lang="en-US" sz="670" spc="30" kern="0" dirty="0">
                <a:solidFill>
                  <a:srgbClr val="7D838A"/>
                </a:solidFill>
                <a:latin typeface="Noto Sans JP" pitchFamily="34" charset="0"/>
                <a:ea typeface="Noto Sans JP" pitchFamily="34" charset="-122"/>
                <a:cs typeface="Noto Sans JP" pitchFamily="34" charset="-120"/>
              </a:rPr>
              <a:t>ペルー・2011</a:t>
            </a:r>
            <a:endParaRPr lang="en-US" sz="640" dirty="0"/>
          </a:p>
        </p:txBody>
      </p:sp>
      <p:sp>
        <p:nvSpPr>
          <p:cNvPr id="51" name="Text 49"/>
          <p:cNvSpPr/>
          <p:nvPr/>
        </p:nvSpPr>
        <p:spPr>
          <a:xfrm>
            <a:off x="12789029" y="7102402"/>
            <a:ext cx="1449525" cy="127055"/>
          </a:xfrm>
          <a:prstGeom prst="rect">
            <a:avLst/>
          </a:prstGeom>
          <a:noFill/>
          <a:ln/>
        </p:spPr>
        <p:txBody>
          <a:bodyPr wrap="none" lIns="0" tIns="0" rIns="0" bIns="0" rtlCol="0" anchor="t"/>
          <a:lstStyle/>
          <a:p>
            <a:pPr algn="r" indent="0" marL="0">
              <a:lnSpc>
                <a:spcPts val="1000"/>
              </a:lnSpc>
              <a:buNone/>
            </a:pPr>
            <a:r>
              <a:rPr lang="en-US" sz="640" spc="30" kern="0" dirty="0">
                <a:solidFill>
                  <a:srgbClr val="121519"/>
                </a:solidFill>
                <a:latin typeface="Inter SemiBold" pitchFamily="34" charset="0"/>
                <a:ea typeface="Inter SemiBold" pitchFamily="34" charset="-122"/>
                <a:cs typeface="Inter SemiBold" pitchFamily="34" charset="-120"/>
              </a:rPr>
              <a:t>Marimaca</a:t>
            </a:r>
            <a:pPr algn="r" indent="0" marL="0">
              <a:lnSpc>
                <a:spcPts val="1000"/>
              </a:lnSpc>
              <a:buNone/>
            </a:pPr>
            <a:r>
              <a:rPr lang="en-US" sz="640" spc="30" kern="0" dirty="0">
                <a:solidFill>
                  <a:srgbClr val="121519"/>
                </a:solidFill>
                <a:latin typeface="Inter Medium" pitchFamily="34" charset="0"/>
                <a:ea typeface="Inter Medium" pitchFamily="34" charset="-122"/>
                <a:cs typeface="Inter Medium" pitchFamily="34" charset="-120"/>
              </a:rPr>
              <a:t> </a:t>
            </a:r>
            <a:pPr algn="r" indent="0" marL="0">
              <a:lnSpc>
                <a:spcPts val="1000"/>
              </a:lnSpc>
              <a:buNone/>
            </a:pPr>
            <a:r>
              <a:rPr lang="en-US" sz="670" spc="30" kern="0" dirty="0">
                <a:solidFill>
                  <a:srgbClr val="7D838A"/>
                </a:solidFill>
                <a:latin typeface="Noto Sans JP" pitchFamily="34" charset="0"/>
                <a:ea typeface="Noto Sans JP" pitchFamily="34" charset="-122"/>
                <a:cs typeface="Noto Sans JP" pitchFamily="34" charset="-120"/>
              </a:rPr>
              <a:t>チリ・開発中・2023</a:t>
            </a:r>
            <a:endParaRPr lang="en-US" sz="640" dirty="0"/>
          </a:p>
        </p:txBody>
      </p:sp>
      <p:sp>
        <p:nvSpPr>
          <p:cNvPr id="52" name="Text 50"/>
          <p:cNvSpPr/>
          <p:nvPr/>
        </p:nvSpPr>
        <p:spPr>
          <a:xfrm>
            <a:off x="12749959" y="7267574"/>
            <a:ext cx="1636892" cy="127055"/>
          </a:xfrm>
          <a:prstGeom prst="rect">
            <a:avLst/>
          </a:prstGeom>
          <a:noFill/>
          <a:ln/>
        </p:spPr>
        <p:txBody>
          <a:bodyPr wrap="none" lIns="0" tIns="0" rIns="0" bIns="0" rtlCol="0" anchor="t"/>
          <a:lstStyle/>
          <a:p>
            <a:pPr algn="r" indent="0" marL="0">
              <a:lnSpc>
                <a:spcPts val="1000"/>
              </a:lnSpc>
              <a:buNone/>
            </a:pPr>
            <a:r>
              <a:rPr lang="en-US" sz="640" spc="30" kern="0" dirty="0">
                <a:solidFill>
                  <a:srgbClr val="121519"/>
                </a:solidFill>
                <a:latin typeface="Inter SemiBold" pitchFamily="34" charset="0"/>
                <a:ea typeface="Inter SemiBold" pitchFamily="34" charset="-122"/>
                <a:cs typeface="Inter SemiBold" pitchFamily="34" charset="-120"/>
              </a:rPr>
              <a:t>Copper World</a:t>
            </a:r>
            <a:pPr algn="r" indent="0" marL="0">
              <a:lnSpc>
                <a:spcPts val="1000"/>
              </a:lnSpc>
              <a:buNone/>
            </a:pPr>
            <a:r>
              <a:rPr lang="en-US" sz="640" spc="30" kern="0" dirty="0">
                <a:solidFill>
                  <a:srgbClr val="121519"/>
                </a:solidFill>
                <a:latin typeface="Inter Medium" pitchFamily="34" charset="0"/>
                <a:ea typeface="Inter Medium" pitchFamily="34" charset="-122"/>
                <a:cs typeface="Inter Medium" pitchFamily="34" charset="-120"/>
              </a:rPr>
              <a:t> </a:t>
            </a:r>
            <a:pPr algn="r" indent="0" marL="0">
              <a:lnSpc>
                <a:spcPts val="1000"/>
              </a:lnSpc>
              <a:buNone/>
            </a:pPr>
            <a:r>
              <a:rPr lang="en-US" sz="670" spc="30" kern="0" dirty="0">
                <a:solidFill>
                  <a:srgbClr val="7D838A"/>
                </a:solidFill>
                <a:latin typeface="Noto Sans JP" pitchFamily="34" charset="0"/>
                <a:ea typeface="Noto Sans JP" pitchFamily="34" charset="-122"/>
                <a:cs typeface="Noto Sans JP" pitchFamily="34" charset="-120"/>
              </a:rPr>
              <a:t>米国・開発中・2025</a:t>
            </a:r>
            <a:endParaRPr lang="en-US" sz="640" dirty="0"/>
          </a:p>
        </p:txBody>
      </p:sp>
      <p:sp>
        <p:nvSpPr>
          <p:cNvPr id="53" name="Text 51"/>
          <p:cNvSpPr/>
          <p:nvPr/>
        </p:nvSpPr>
        <p:spPr>
          <a:xfrm>
            <a:off x="8068024" y="7216752"/>
            <a:ext cx="884147"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Noto Sans JP Medium" pitchFamily="34" charset="0"/>
                <a:ea typeface="Noto Sans JP Medium" pitchFamily="34" charset="-122"/>
                <a:cs typeface="Noto Sans JP Medium" pitchFamily="34" charset="-120"/>
              </a:rPr>
              <a:t>世界の銅生産量</a:t>
            </a:r>
            <a:endParaRPr lang="en-US" sz="660" dirty="0"/>
          </a:p>
        </p:txBody>
      </p:sp>
      <p:sp>
        <p:nvSpPr>
          <p:cNvPr id="54" name="Text 52"/>
          <p:cNvSpPr/>
          <p:nvPr/>
        </p:nvSpPr>
        <p:spPr>
          <a:xfrm>
            <a:off x="9973856" y="7216752"/>
            <a:ext cx="1596055"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会社別・2025年（単位：千トン）</a:t>
            </a:r>
            <a:endParaRPr lang="en-US" sz="660" dirty="0"/>
          </a:p>
        </p:txBody>
      </p:sp>
      <p:sp>
        <p:nvSpPr>
          <p:cNvPr id="55" name="Text 53"/>
          <p:cNvSpPr/>
          <p:nvPr/>
        </p:nvSpPr>
        <p:spPr>
          <a:xfrm>
            <a:off x="8777212" y="7439099"/>
            <a:ext cx="358078" cy="88939"/>
          </a:xfrm>
          <a:prstGeom prst="rect">
            <a:avLst/>
          </a:prstGeom>
          <a:noFill/>
          <a:ln/>
        </p:spPr>
        <p:txBody>
          <a:bodyPr wrap="none" lIns="0" tIns="0" rIns="0" bIns="0" rtlCol="0" anchor="t"/>
          <a:lstStyle/>
          <a:p>
            <a:pPr algn="r" indent="0" marL="0">
              <a:lnSpc>
                <a:spcPts val="700"/>
              </a:lnSpc>
              <a:buNone/>
            </a:pPr>
            <a:r>
              <a:rPr lang="en-US" sz="600" spc="30" kern="0" dirty="0">
                <a:solidFill>
                  <a:srgbClr val="3D4249"/>
                </a:solidFill>
                <a:latin typeface="Inter Medium" pitchFamily="34" charset="0"/>
                <a:ea typeface="Inter Medium" pitchFamily="34" charset="-122"/>
                <a:cs typeface="Inter Medium" pitchFamily="34" charset="-120"/>
              </a:rPr>
              <a:t>#1 BHP</a:t>
            </a:r>
            <a:endParaRPr lang="en-US" sz="600" dirty="0"/>
          </a:p>
        </p:txBody>
      </p:sp>
      <p:sp>
        <p:nvSpPr>
          <p:cNvPr id="56" name="Text 54"/>
          <p:cNvSpPr/>
          <p:nvPr/>
        </p:nvSpPr>
        <p:spPr>
          <a:xfrm>
            <a:off x="13099422" y="7439099"/>
            <a:ext cx="263958" cy="88939"/>
          </a:xfrm>
          <a:prstGeom prst="rect">
            <a:avLst/>
          </a:prstGeom>
          <a:noFill/>
          <a:ln/>
        </p:spPr>
        <p:txBody>
          <a:bodyPr wrap="none" lIns="0" tIns="0" rIns="0" bIns="0" rtlCol="0" anchor="t"/>
          <a:lstStyle/>
          <a:p>
            <a:pPr algn="l" indent="0" marL="0">
              <a:lnSpc>
                <a:spcPts val="700"/>
              </a:lnSpc>
              <a:buNone/>
            </a:pPr>
            <a:r>
              <a:rPr lang="en-US" sz="580" spc="30" kern="0" dirty="0">
                <a:solidFill>
                  <a:srgbClr val="7D838A"/>
                </a:solidFill>
                <a:latin typeface="Inter Medium" pitchFamily="34" charset="0"/>
                <a:ea typeface="Inter Medium" pitchFamily="34" charset="-122"/>
                <a:cs typeface="Inter Medium" pitchFamily="34" charset="-120"/>
              </a:rPr>
              <a:t>1,501</a:t>
            </a:r>
            <a:endParaRPr lang="en-US" sz="580" dirty="0"/>
          </a:p>
        </p:txBody>
      </p:sp>
      <p:sp>
        <p:nvSpPr>
          <p:cNvPr id="57" name="Text 55"/>
          <p:cNvSpPr/>
          <p:nvPr/>
        </p:nvSpPr>
        <p:spPr>
          <a:xfrm>
            <a:off x="8581328" y="7596529"/>
            <a:ext cx="553962" cy="88939"/>
          </a:xfrm>
          <a:prstGeom prst="rect">
            <a:avLst/>
          </a:prstGeom>
          <a:noFill/>
          <a:ln/>
        </p:spPr>
        <p:txBody>
          <a:bodyPr wrap="none" lIns="0" tIns="0" rIns="0" bIns="0" rtlCol="0" anchor="t"/>
          <a:lstStyle/>
          <a:p>
            <a:pPr algn="r" indent="0" marL="0">
              <a:lnSpc>
                <a:spcPts val="700"/>
              </a:lnSpc>
              <a:buNone/>
            </a:pPr>
            <a:r>
              <a:rPr lang="en-US" sz="600" spc="30" kern="0" dirty="0">
                <a:solidFill>
                  <a:srgbClr val="3D4249"/>
                </a:solidFill>
                <a:latin typeface="Inter Medium" pitchFamily="34" charset="0"/>
                <a:ea typeface="Inter Medium" pitchFamily="34" charset="-122"/>
                <a:cs typeface="Inter Medium" pitchFamily="34" charset="-120"/>
              </a:rPr>
              <a:t>#2 Codelco</a:t>
            </a:r>
            <a:endParaRPr lang="en-US" sz="600" dirty="0"/>
          </a:p>
        </p:txBody>
      </p:sp>
      <p:sp>
        <p:nvSpPr>
          <p:cNvPr id="58" name="Text 56"/>
          <p:cNvSpPr/>
          <p:nvPr/>
        </p:nvSpPr>
        <p:spPr>
          <a:xfrm>
            <a:off x="12924125" y="7596529"/>
            <a:ext cx="284048" cy="88939"/>
          </a:xfrm>
          <a:prstGeom prst="rect">
            <a:avLst/>
          </a:prstGeom>
          <a:noFill/>
          <a:ln/>
        </p:spPr>
        <p:txBody>
          <a:bodyPr wrap="none" lIns="0" tIns="0" rIns="0" bIns="0" rtlCol="0" anchor="t"/>
          <a:lstStyle/>
          <a:p>
            <a:pPr algn="l" indent="0" marL="0">
              <a:lnSpc>
                <a:spcPts val="700"/>
              </a:lnSpc>
              <a:buNone/>
            </a:pPr>
            <a:r>
              <a:rPr lang="en-US" sz="580" spc="30" kern="0" dirty="0">
                <a:solidFill>
                  <a:srgbClr val="7D838A"/>
                </a:solidFill>
                <a:latin typeface="Inter Medium" pitchFamily="34" charset="0"/>
                <a:ea typeface="Inter Medium" pitchFamily="34" charset="-122"/>
                <a:cs typeface="Inter Medium" pitchFamily="34" charset="-120"/>
              </a:rPr>
              <a:t>1,432</a:t>
            </a:r>
            <a:endParaRPr lang="en-US" sz="580" dirty="0"/>
          </a:p>
        </p:txBody>
      </p:sp>
      <p:sp>
        <p:nvSpPr>
          <p:cNvPr id="59" name="Text 57"/>
          <p:cNvSpPr/>
          <p:nvPr/>
        </p:nvSpPr>
        <p:spPr>
          <a:xfrm>
            <a:off x="8568226" y="7754157"/>
            <a:ext cx="567065" cy="88939"/>
          </a:xfrm>
          <a:prstGeom prst="rect">
            <a:avLst/>
          </a:prstGeom>
          <a:noFill/>
          <a:ln/>
        </p:spPr>
        <p:txBody>
          <a:bodyPr wrap="none" lIns="0" tIns="0" rIns="0" bIns="0" rtlCol="0" anchor="t"/>
          <a:lstStyle/>
          <a:p>
            <a:pPr algn="r" indent="0" marL="0">
              <a:lnSpc>
                <a:spcPts val="700"/>
              </a:lnSpc>
              <a:buNone/>
            </a:pPr>
            <a:r>
              <a:rPr lang="en-US" sz="600" spc="30" kern="0" dirty="0">
                <a:solidFill>
                  <a:srgbClr val="3D4249"/>
                </a:solidFill>
                <a:latin typeface="Inter Medium" pitchFamily="34" charset="0"/>
                <a:ea typeface="Inter Medium" pitchFamily="34" charset="-122"/>
                <a:cs typeface="Inter Medium" pitchFamily="34" charset="-120"/>
              </a:rPr>
              <a:t>#3 Freeport</a:t>
            </a:r>
            <a:endParaRPr lang="en-US" sz="600" dirty="0"/>
          </a:p>
        </p:txBody>
      </p:sp>
      <p:sp>
        <p:nvSpPr>
          <p:cNvPr id="60" name="Text 58"/>
          <p:cNvSpPr/>
          <p:nvPr/>
        </p:nvSpPr>
        <p:spPr>
          <a:xfrm>
            <a:off x="12078412" y="7754157"/>
            <a:ext cx="282301" cy="88939"/>
          </a:xfrm>
          <a:prstGeom prst="rect">
            <a:avLst/>
          </a:prstGeom>
          <a:noFill/>
          <a:ln/>
        </p:spPr>
        <p:txBody>
          <a:bodyPr wrap="none" lIns="0" tIns="0" rIns="0" bIns="0" rtlCol="0" anchor="t"/>
          <a:lstStyle/>
          <a:p>
            <a:pPr algn="l" indent="0" marL="0">
              <a:lnSpc>
                <a:spcPts val="700"/>
              </a:lnSpc>
              <a:buNone/>
            </a:pPr>
            <a:r>
              <a:rPr lang="en-US" sz="580" spc="30" kern="0" dirty="0">
                <a:solidFill>
                  <a:srgbClr val="7D838A"/>
                </a:solidFill>
                <a:latin typeface="Inter Medium" pitchFamily="34" charset="0"/>
                <a:ea typeface="Inter Medium" pitchFamily="34" charset="-122"/>
                <a:cs typeface="Inter Medium" pitchFamily="34" charset="-120"/>
              </a:rPr>
              <a:t>1,099</a:t>
            </a:r>
            <a:endParaRPr lang="en-US" sz="580" dirty="0"/>
          </a:p>
        </p:txBody>
      </p:sp>
      <p:sp>
        <p:nvSpPr>
          <p:cNvPr id="61" name="Text 59"/>
          <p:cNvSpPr/>
          <p:nvPr/>
        </p:nvSpPr>
        <p:spPr>
          <a:xfrm>
            <a:off x="8190652" y="7911587"/>
            <a:ext cx="944638" cy="88939"/>
          </a:xfrm>
          <a:prstGeom prst="rect">
            <a:avLst/>
          </a:prstGeom>
          <a:noFill/>
          <a:ln/>
        </p:spPr>
        <p:txBody>
          <a:bodyPr wrap="none" lIns="0" tIns="0" rIns="0" bIns="0" rtlCol="0" anchor="t"/>
          <a:lstStyle/>
          <a:p>
            <a:pPr algn="r" indent="0" marL="0">
              <a:lnSpc>
                <a:spcPts val="700"/>
              </a:lnSpc>
              <a:buNone/>
            </a:pPr>
            <a:r>
              <a:rPr lang="en-US" sz="600" spc="30" kern="0" dirty="0">
                <a:solidFill>
                  <a:srgbClr val="3D4249"/>
                </a:solidFill>
                <a:latin typeface="Inter Medium" pitchFamily="34" charset="0"/>
                <a:ea typeface="Inter Medium" pitchFamily="34" charset="-122"/>
                <a:cs typeface="Inter Medium" pitchFamily="34" charset="-120"/>
              </a:rPr>
              <a:t>#4 Southern Copper</a:t>
            </a:r>
            <a:endParaRPr lang="en-US" sz="600" dirty="0"/>
          </a:p>
        </p:txBody>
      </p:sp>
      <p:sp>
        <p:nvSpPr>
          <p:cNvPr id="62" name="Text 60"/>
          <p:cNvSpPr/>
          <p:nvPr/>
        </p:nvSpPr>
        <p:spPr>
          <a:xfrm>
            <a:off x="11695061" y="7911587"/>
            <a:ext cx="218754" cy="88939"/>
          </a:xfrm>
          <a:prstGeom prst="rect">
            <a:avLst/>
          </a:prstGeom>
          <a:noFill/>
          <a:ln/>
        </p:spPr>
        <p:txBody>
          <a:bodyPr wrap="none" lIns="0" tIns="0" rIns="0" bIns="0" rtlCol="0" anchor="t"/>
          <a:lstStyle/>
          <a:p>
            <a:pPr algn="l" indent="0" marL="0">
              <a:lnSpc>
                <a:spcPts val="700"/>
              </a:lnSpc>
              <a:buNone/>
            </a:pPr>
            <a:r>
              <a:rPr lang="en-US" sz="580" spc="30" kern="0" dirty="0">
                <a:solidFill>
                  <a:srgbClr val="7D838A"/>
                </a:solidFill>
                <a:latin typeface="Inter Medium" pitchFamily="34" charset="0"/>
                <a:ea typeface="Inter Medium" pitchFamily="34" charset="-122"/>
                <a:cs typeface="Inter Medium" pitchFamily="34" charset="-120"/>
              </a:rPr>
              <a:t>948</a:t>
            </a:r>
            <a:endParaRPr lang="en-US" sz="580" dirty="0"/>
          </a:p>
        </p:txBody>
      </p:sp>
      <p:sp>
        <p:nvSpPr>
          <p:cNvPr id="63" name="Text 61"/>
          <p:cNvSpPr/>
          <p:nvPr/>
        </p:nvSpPr>
        <p:spPr>
          <a:xfrm>
            <a:off x="8433487" y="8069215"/>
            <a:ext cx="701803" cy="88939"/>
          </a:xfrm>
          <a:prstGeom prst="rect">
            <a:avLst/>
          </a:prstGeom>
          <a:noFill/>
          <a:ln/>
        </p:spPr>
        <p:txBody>
          <a:bodyPr wrap="none" lIns="0" tIns="0" rIns="0" bIns="0" rtlCol="0" anchor="t"/>
          <a:lstStyle/>
          <a:p>
            <a:pPr algn="r" indent="0" marL="0">
              <a:lnSpc>
                <a:spcPts val="700"/>
              </a:lnSpc>
              <a:buNone/>
            </a:pPr>
            <a:r>
              <a:rPr lang="en-US" sz="600" spc="30" kern="0" dirty="0">
                <a:solidFill>
                  <a:srgbClr val="3D4249"/>
                </a:solidFill>
                <a:latin typeface="Inter Medium" pitchFamily="34" charset="0"/>
                <a:ea typeface="Inter Medium" pitchFamily="34" charset="-122"/>
                <a:cs typeface="Inter Medium" pitchFamily="34" charset="-120"/>
              </a:rPr>
              <a:t>#5 Zijin Mining</a:t>
            </a:r>
            <a:endParaRPr lang="en-US" sz="600" dirty="0"/>
          </a:p>
        </p:txBody>
      </p:sp>
      <p:sp>
        <p:nvSpPr>
          <p:cNvPr id="64" name="Text 62"/>
          <p:cNvSpPr/>
          <p:nvPr/>
        </p:nvSpPr>
        <p:spPr>
          <a:xfrm>
            <a:off x="11446112" y="8069215"/>
            <a:ext cx="215697" cy="88939"/>
          </a:xfrm>
          <a:prstGeom prst="rect">
            <a:avLst/>
          </a:prstGeom>
          <a:noFill/>
          <a:ln/>
        </p:spPr>
        <p:txBody>
          <a:bodyPr wrap="none" lIns="0" tIns="0" rIns="0" bIns="0" rtlCol="0" anchor="t"/>
          <a:lstStyle/>
          <a:p>
            <a:pPr algn="l" indent="0" marL="0">
              <a:lnSpc>
                <a:spcPts val="700"/>
              </a:lnSpc>
              <a:buNone/>
            </a:pPr>
            <a:r>
              <a:rPr lang="en-US" sz="580" spc="30" kern="0" dirty="0">
                <a:solidFill>
                  <a:srgbClr val="7D838A"/>
                </a:solidFill>
                <a:latin typeface="Inter Medium" pitchFamily="34" charset="0"/>
                <a:ea typeface="Inter Medium" pitchFamily="34" charset="-122"/>
                <a:cs typeface="Inter Medium" pitchFamily="34" charset="-120"/>
              </a:rPr>
              <a:t>850</a:t>
            </a:r>
            <a:endParaRPr lang="en-US" sz="580" dirty="0"/>
          </a:p>
        </p:txBody>
      </p:sp>
      <p:sp>
        <p:nvSpPr>
          <p:cNvPr id="65" name="Text 63"/>
          <p:cNvSpPr/>
          <p:nvPr/>
        </p:nvSpPr>
        <p:spPr>
          <a:xfrm>
            <a:off x="8546825" y="8226843"/>
            <a:ext cx="588465" cy="88939"/>
          </a:xfrm>
          <a:prstGeom prst="rect">
            <a:avLst/>
          </a:prstGeom>
          <a:noFill/>
          <a:ln/>
        </p:spPr>
        <p:txBody>
          <a:bodyPr wrap="none" lIns="0" tIns="0" rIns="0" bIns="0" rtlCol="0" anchor="t"/>
          <a:lstStyle/>
          <a:p>
            <a:pPr algn="r" indent="0" marL="0">
              <a:lnSpc>
                <a:spcPts val="700"/>
              </a:lnSpc>
              <a:buNone/>
            </a:pPr>
            <a:r>
              <a:rPr lang="en-US" sz="600" spc="30" kern="0" dirty="0">
                <a:solidFill>
                  <a:srgbClr val="3D4249"/>
                </a:solidFill>
                <a:latin typeface="Inter Medium" pitchFamily="34" charset="0"/>
                <a:ea typeface="Inter Medium" pitchFamily="34" charset="-122"/>
                <a:cs typeface="Inter Medium" pitchFamily="34" charset="-120"/>
              </a:rPr>
              <a:t>#6 Glencore</a:t>
            </a:r>
            <a:endParaRPr lang="en-US" sz="600" dirty="0"/>
          </a:p>
        </p:txBody>
      </p:sp>
      <p:sp>
        <p:nvSpPr>
          <p:cNvPr id="66" name="Text 64"/>
          <p:cNvSpPr/>
          <p:nvPr/>
        </p:nvSpPr>
        <p:spPr>
          <a:xfrm>
            <a:off x="11349629" y="8226843"/>
            <a:ext cx="198008" cy="88939"/>
          </a:xfrm>
          <a:prstGeom prst="rect">
            <a:avLst/>
          </a:prstGeom>
          <a:noFill/>
          <a:ln/>
        </p:spPr>
        <p:txBody>
          <a:bodyPr wrap="none" lIns="0" tIns="0" rIns="0" bIns="0" rtlCol="0" anchor="t"/>
          <a:lstStyle/>
          <a:p>
            <a:pPr algn="l" indent="0" marL="0">
              <a:lnSpc>
                <a:spcPts val="700"/>
              </a:lnSpc>
              <a:buNone/>
            </a:pPr>
            <a:r>
              <a:rPr lang="en-US" sz="580" spc="30" kern="0" dirty="0">
                <a:solidFill>
                  <a:srgbClr val="7D838A"/>
                </a:solidFill>
                <a:latin typeface="Inter Medium" pitchFamily="34" charset="0"/>
                <a:ea typeface="Inter Medium" pitchFamily="34" charset="-122"/>
                <a:cs typeface="Inter Medium" pitchFamily="34" charset="-120"/>
              </a:rPr>
              <a:t>812</a:t>
            </a:r>
            <a:endParaRPr lang="en-US" sz="580" dirty="0"/>
          </a:p>
        </p:txBody>
      </p:sp>
      <p:sp>
        <p:nvSpPr>
          <p:cNvPr id="67" name="Text 65"/>
          <p:cNvSpPr/>
          <p:nvPr/>
        </p:nvSpPr>
        <p:spPr>
          <a:xfrm>
            <a:off x="8557088" y="8384273"/>
            <a:ext cx="578202" cy="88939"/>
          </a:xfrm>
          <a:prstGeom prst="rect">
            <a:avLst/>
          </a:prstGeom>
          <a:noFill/>
          <a:ln/>
        </p:spPr>
        <p:txBody>
          <a:bodyPr wrap="none" lIns="0" tIns="0" rIns="0" bIns="0" rtlCol="0" anchor="t"/>
          <a:lstStyle/>
          <a:p>
            <a:pPr algn="r" indent="0" marL="0">
              <a:lnSpc>
                <a:spcPts val="700"/>
              </a:lnSpc>
              <a:buNone/>
            </a:pPr>
            <a:r>
              <a:rPr lang="en-US" sz="600" spc="30" kern="0" dirty="0">
                <a:solidFill>
                  <a:srgbClr val="3D4249"/>
                </a:solidFill>
                <a:latin typeface="Inter Medium" pitchFamily="34" charset="0"/>
                <a:ea typeface="Inter Medium" pitchFamily="34" charset="-122"/>
                <a:cs typeface="Inter Medium" pitchFamily="34" charset="-120"/>
              </a:rPr>
              <a:t>#7 Rio Tinto</a:t>
            </a:r>
            <a:endParaRPr lang="en-US" sz="600" dirty="0"/>
          </a:p>
        </p:txBody>
      </p:sp>
      <p:sp>
        <p:nvSpPr>
          <p:cNvPr id="68" name="Text 66"/>
          <p:cNvSpPr/>
          <p:nvPr/>
        </p:nvSpPr>
        <p:spPr>
          <a:xfrm>
            <a:off x="11166788" y="8384273"/>
            <a:ext cx="210456" cy="88939"/>
          </a:xfrm>
          <a:prstGeom prst="rect">
            <a:avLst/>
          </a:prstGeom>
          <a:noFill/>
          <a:ln/>
        </p:spPr>
        <p:txBody>
          <a:bodyPr wrap="none" lIns="0" tIns="0" rIns="0" bIns="0" rtlCol="0" anchor="t"/>
          <a:lstStyle/>
          <a:p>
            <a:pPr algn="l" indent="0" marL="0">
              <a:lnSpc>
                <a:spcPts val="700"/>
              </a:lnSpc>
              <a:buNone/>
            </a:pPr>
            <a:r>
              <a:rPr lang="en-US" sz="580" spc="30" kern="0" dirty="0">
                <a:solidFill>
                  <a:srgbClr val="7D838A"/>
                </a:solidFill>
                <a:latin typeface="Inter Medium" pitchFamily="34" charset="0"/>
                <a:ea typeface="Inter Medium" pitchFamily="34" charset="-122"/>
                <a:cs typeface="Inter Medium" pitchFamily="34" charset="-120"/>
              </a:rPr>
              <a:t>740</a:t>
            </a:r>
            <a:endParaRPr lang="en-US" sz="580" dirty="0"/>
          </a:p>
        </p:txBody>
      </p:sp>
      <p:sp>
        <p:nvSpPr>
          <p:cNvPr id="69" name="Text 67"/>
          <p:cNvSpPr/>
          <p:nvPr/>
        </p:nvSpPr>
        <p:spPr>
          <a:xfrm>
            <a:off x="8450521" y="8541901"/>
            <a:ext cx="684770" cy="88939"/>
          </a:xfrm>
          <a:prstGeom prst="rect">
            <a:avLst/>
          </a:prstGeom>
          <a:noFill/>
          <a:ln/>
        </p:spPr>
        <p:txBody>
          <a:bodyPr wrap="none" lIns="0" tIns="0" rIns="0" bIns="0" rtlCol="0" anchor="t"/>
          <a:lstStyle/>
          <a:p>
            <a:pPr algn="r" indent="0" marL="0">
              <a:lnSpc>
                <a:spcPts val="700"/>
              </a:lnSpc>
              <a:buNone/>
            </a:pPr>
            <a:r>
              <a:rPr lang="en-US" sz="600" spc="30" kern="0" dirty="0">
                <a:solidFill>
                  <a:srgbClr val="3D4249"/>
                </a:solidFill>
                <a:latin typeface="Inter Medium" pitchFamily="34" charset="0"/>
                <a:ea typeface="Inter Medium" pitchFamily="34" charset="-122"/>
                <a:cs typeface="Inter Medium" pitchFamily="34" charset="-120"/>
              </a:rPr>
              <a:t>#8 China Moly</a:t>
            </a:r>
            <a:endParaRPr lang="en-US" sz="600" dirty="0"/>
          </a:p>
        </p:txBody>
      </p:sp>
      <p:sp>
        <p:nvSpPr>
          <p:cNvPr id="70" name="Text 68"/>
          <p:cNvSpPr/>
          <p:nvPr/>
        </p:nvSpPr>
        <p:spPr>
          <a:xfrm>
            <a:off x="10704624" y="8541901"/>
            <a:ext cx="212203" cy="88939"/>
          </a:xfrm>
          <a:prstGeom prst="rect">
            <a:avLst/>
          </a:prstGeom>
          <a:noFill/>
          <a:ln/>
        </p:spPr>
        <p:txBody>
          <a:bodyPr wrap="none" lIns="0" tIns="0" rIns="0" bIns="0" rtlCol="0" anchor="t"/>
          <a:lstStyle/>
          <a:p>
            <a:pPr algn="l" indent="0" marL="0">
              <a:lnSpc>
                <a:spcPts val="700"/>
              </a:lnSpc>
              <a:buNone/>
            </a:pPr>
            <a:r>
              <a:rPr lang="en-US" sz="580" spc="30" kern="0" dirty="0">
                <a:solidFill>
                  <a:srgbClr val="7D838A"/>
                </a:solidFill>
                <a:latin typeface="Inter Medium" pitchFamily="34" charset="0"/>
                <a:ea typeface="Inter Medium" pitchFamily="34" charset="-122"/>
                <a:cs typeface="Inter Medium" pitchFamily="34" charset="-120"/>
              </a:rPr>
              <a:t>558</a:t>
            </a:r>
            <a:endParaRPr lang="en-US" sz="580" dirty="0"/>
          </a:p>
        </p:txBody>
      </p:sp>
      <p:sp>
        <p:nvSpPr>
          <p:cNvPr id="71" name="Text 69"/>
          <p:cNvSpPr/>
          <p:nvPr/>
        </p:nvSpPr>
        <p:spPr>
          <a:xfrm>
            <a:off x="8669989" y="8699331"/>
            <a:ext cx="465301" cy="88939"/>
          </a:xfrm>
          <a:prstGeom prst="rect">
            <a:avLst/>
          </a:prstGeom>
          <a:noFill/>
          <a:ln/>
        </p:spPr>
        <p:txBody>
          <a:bodyPr wrap="none" lIns="0" tIns="0" rIns="0" bIns="0" rtlCol="0" anchor="t"/>
          <a:lstStyle/>
          <a:p>
            <a:pPr algn="r" indent="0" marL="0">
              <a:lnSpc>
                <a:spcPts val="700"/>
              </a:lnSpc>
              <a:buNone/>
            </a:pPr>
            <a:r>
              <a:rPr lang="en-US" sz="600" spc="30" kern="0" dirty="0">
                <a:solidFill>
                  <a:srgbClr val="3D4249"/>
                </a:solidFill>
                <a:latin typeface="Inter Medium" pitchFamily="34" charset="0"/>
                <a:ea typeface="Inter Medium" pitchFamily="34" charset="-122"/>
                <a:cs typeface="Inter Medium" pitchFamily="34" charset="-120"/>
              </a:rPr>
              <a:t>#9 KGHM</a:t>
            </a:r>
            <a:endParaRPr lang="en-US" sz="600" dirty="0"/>
          </a:p>
        </p:txBody>
      </p:sp>
      <p:sp>
        <p:nvSpPr>
          <p:cNvPr id="72" name="Text 70"/>
          <p:cNvSpPr/>
          <p:nvPr/>
        </p:nvSpPr>
        <p:spPr>
          <a:xfrm>
            <a:off x="10653802" y="8699331"/>
            <a:ext cx="214168" cy="88939"/>
          </a:xfrm>
          <a:prstGeom prst="rect">
            <a:avLst/>
          </a:prstGeom>
          <a:noFill/>
          <a:ln/>
        </p:spPr>
        <p:txBody>
          <a:bodyPr wrap="none" lIns="0" tIns="0" rIns="0" bIns="0" rtlCol="0" anchor="t"/>
          <a:lstStyle/>
          <a:p>
            <a:pPr algn="l" indent="0" marL="0">
              <a:lnSpc>
                <a:spcPts val="700"/>
              </a:lnSpc>
              <a:buNone/>
            </a:pPr>
            <a:r>
              <a:rPr lang="en-US" sz="580" spc="30" kern="0" dirty="0">
                <a:solidFill>
                  <a:srgbClr val="7D838A"/>
                </a:solidFill>
                <a:latin typeface="Inter Medium" pitchFamily="34" charset="0"/>
                <a:ea typeface="Inter Medium" pitchFamily="34" charset="-122"/>
                <a:cs typeface="Inter Medium" pitchFamily="34" charset="-120"/>
              </a:rPr>
              <a:t>538</a:t>
            </a:r>
            <a:endParaRPr lang="en-US" sz="580" dirty="0"/>
          </a:p>
        </p:txBody>
      </p:sp>
      <p:sp>
        <p:nvSpPr>
          <p:cNvPr id="73" name="Text 71"/>
          <p:cNvSpPr/>
          <p:nvPr/>
        </p:nvSpPr>
        <p:spPr>
          <a:xfrm>
            <a:off x="8203318" y="8856959"/>
            <a:ext cx="931972" cy="88939"/>
          </a:xfrm>
          <a:prstGeom prst="rect">
            <a:avLst/>
          </a:prstGeom>
          <a:noFill/>
          <a:ln/>
        </p:spPr>
        <p:txBody>
          <a:bodyPr wrap="none" lIns="0" tIns="0" rIns="0" bIns="0" rtlCol="0" anchor="t"/>
          <a:lstStyle/>
          <a:p>
            <a:pPr algn="r" indent="0" marL="0">
              <a:lnSpc>
                <a:spcPts val="700"/>
              </a:lnSpc>
              <a:buNone/>
            </a:pPr>
            <a:r>
              <a:rPr lang="en-US" sz="600" spc="30" kern="0" dirty="0">
                <a:solidFill>
                  <a:srgbClr val="3D4249"/>
                </a:solidFill>
                <a:latin typeface="Inter Medium" pitchFamily="34" charset="0"/>
                <a:ea typeface="Inter Medium" pitchFamily="34" charset="-122"/>
                <a:cs typeface="Inter Medium" pitchFamily="34" charset="-120"/>
              </a:rPr>
              <a:t>#10 Anglo American</a:t>
            </a:r>
            <a:endParaRPr lang="en-US" sz="600" dirty="0"/>
          </a:p>
        </p:txBody>
      </p:sp>
      <p:sp>
        <p:nvSpPr>
          <p:cNvPr id="74" name="Text 72"/>
          <p:cNvSpPr/>
          <p:nvPr/>
        </p:nvSpPr>
        <p:spPr>
          <a:xfrm>
            <a:off x="10547194" y="8856959"/>
            <a:ext cx="218754" cy="88939"/>
          </a:xfrm>
          <a:prstGeom prst="rect">
            <a:avLst/>
          </a:prstGeom>
          <a:noFill/>
          <a:ln/>
        </p:spPr>
        <p:txBody>
          <a:bodyPr wrap="none" lIns="0" tIns="0" rIns="0" bIns="0" rtlCol="0" anchor="t"/>
          <a:lstStyle/>
          <a:p>
            <a:pPr algn="l" indent="0" marL="0">
              <a:lnSpc>
                <a:spcPts val="700"/>
              </a:lnSpc>
              <a:buNone/>
            </a:pPr>
            <a:r>
              <a:rPr lang="en-US" sz="580" spc="30" kern="0" dirty="0">
                <a:solidFill>
                  <a:srgbClr val="7D838A"/>
                </a:solidFill>
                <a:latin typeface="Inter Medium" pitchFamily="34" charset="0"/>
                <a:ea typeface="Inter Medium" pitchFamily="34" charset="-122"/>
                <a:cs typeface="Inter Medium" pitchFamily="34" charset="-120"/>
              </a:rPr>
              <a:t>496</a:t>
            </a:r>
            <a:endParaRPr lang="en-US" sz="580" dirty="0"/>
          </a:p>
        </p:txBody>
      </p:sp>
      <p:sp>
        <p:nvSpPr>
          <p:cNvPr id="75" name="Text 73"/>
          <p:cNvSpPr/>
          <p:nvPr/>
        </p:nvSpPr>
        <p:spPr>
          <a:xfrm>
            <a:off x="8532630" y="9065410"/>
            <a:ext cx="602660" cy="88939"/>
          </a:xfrm>
          <a:prstGeom prst="rect">
            <a:avLst/>
          </a:prstGeom>
          <a:noFill/>
          <a:ln/>
        </p:spPr>
        <p:txBody>
          <a:bodyPr wrap="none" lIns="0" tIns="0" rIns="0" bIns="0" rtlCol="0" anchor="t"/>
          <a:lstStyle/>
          <a:p>
            <a:pPr algn="r" indent="0" marL="0">
              <a:lnSpc>
                <a:spcPts val="700"/>
              </a:lnSpc>
              <a:buNone/>
            </a:pPr>
            <a:r>
              <a:rPr lang="en-US" sz="600" spc="30" kern="0" dirty="0">
                <a:solidFill>
                  <a:srgbClr val="9C7442"/>
                </a:solidFill>
                <a:latin typeface="Noto Sans JP Medium" pitchFamily="34" charset="0"/>
                <a:ea typeface="Noto Sans JP Medium" pitchFamily="34" charset="-122"/>
                <a:cs typeface="Noto Sans JP Medium" pitchFamily="34" charset="-120"/>
              </a:rPr>
              <a:t>#20 三菱商事</a:t>
            </a:r>
            <a:endParaRPr lang="en-US" sz="600" dirty="0"/>
          </a:p>
        </p:txBody>
      </p:sp>
      <p:sp>
        <p:nvSpPr>
          <p:cNvPr id="76" name="Text 74"/>
          <p:cNvSpPr/>
          <p:nvPr/>
        </p:nvSpPr>
        <p:spPr>
          <a:xfrm>
            <a:off x="10115603" y="9065410"/>
            <a:ext cx="215260" cy="88939"/>
          </a:xfrm>
          <a:prstGeom prst="rect">
            <a:avLst/>
          </a:prstGeom>
          <a:noFill/>
          <a:ln/>
        </p:spPr>
        <p:txBody>
          <a:bodyPr wrap="none" lIns="0" tIns="0" rIns="0" bIns="0" rtlCol="0" anchor="t"/>
          <a:lstStyle/>
          <a:p>
            <a:pPr algn="l" indent="0" marL="0">
              <a:lnSpc>
                <a:spcPts val="700"/>
              </a:lnSpc>
              <a:buNone/>
            </a:pPr>
            <a:r>
              <a:rPr lang="en-US" sz="580" spc="30" kern="0" dirty="0">
                <a:solidFill>
                  <a:srgbClr val="9C7442"/>
                </a:solidFill>
                <a:latin typeface="Inter Medium" pitchFamily="34" charset="0"/>
                <a:ea typeface="Inter Medium" pitchFamily="34" charset="-122"/>
                <a:cs typeface="Inter Medium" pitchFamily="34" charset="-120"/>
              </a:rPr>
              <a:t>326</a:t>
            </a:r>
            <a:endParaRPr lang="en-US" sz="580" dirty="0"/>
          </a:p>
        </p:txBody>
      </p:sp>
      <p:sp>
        <p:nvSpPr>
          <p:cNvPr id="77" name="Text 75"/>
          <p:cNvSpPr/>
          <p:nvPr/>
        </p:nvSpPr>
        <p:spPr>
          <a:xfrm>
            <a:off x="12260855" y="8482733"/>
            <a:ext cx="2567831" cy="408610"/>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上位には協業の難しい国有・政府系企業も含まれます。操業</a:t>
            </a:r>
            <a:endParaRPr lang="en-US" sz="670" dirty="0"/>
          </a:p>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権を求めずに協業できるパートナーとしては、三菱商事が最</a:t>
            </a:r>
            <a:endParaRPr lang="en-US" sz="670" dirty="0"/>
          </a:p>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大規模です。</a:t>
            </a:r>
            <a:endParaRPr lang="en-US" sz="670" dirty="0"/>
          </a:p>
        </p:txBody>
      </p:sp>
      <p:sp>
        <p:nvSpPr>
          <p:cNvPr id="78" name="Text 76"/>
          <p:cNvSpPr/>
          <p:nvPr/>
        </p:nvSpPr>
        <p:spPr>
          <a:xfrm>
            <a:off x="508222" y="9757862"/>
            <a:ext cx="525791"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Noto Sans JP Medium" pitchFamily="34" charset="0"/>
                <a:ea typeface="Noto Sans JP Medium" pitchFamily="34" charset="-122"/>
                <a:cs typeface="Noto Sans JP Medium" pitchFamily="34" charset="-120"/>
              </a:rPr>
              <a:t>市場構造</a:t>
            </a:r>
            <a:endParaRPr lang="en-US" sz="660" dirty="0"/>
          </a:p>
        </p:txBody>
      </p:sp>
      <p:sp>
        <p:nvSpPr>
          <p:cNvPr id="79" name="Text 77"/>
          <p:cNvSpPr/>
          <p:nvPr/>
        </p:nvSpPr>
        <p:spPr>
          <a:xfrm>
            <a:off x="1905832" y="9757862"/>
            <a:ext cx="1316970"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上位5社が市場に占める割合</a:t>
            </a:r>
            <a:endParaRPr lang="en-US" sz="660" dirty="0"/>
          </a:p>
        </p:txBody>
      </p:sp>
      <p:sp>
        <p:nvSpPr>
          <p:cNvPr id="80" name="Text 78"/>
          <p:cNvSpPr/>
          <p:nvPr/>
        </p:nvSpPr>
        <p:spPr>
          <a:xfrm>
            <a:off x="508222" y="9961151"/>
            <a:ext cx="356986" cy="114350"/>
          </a:xfrm>
          <a:prstGeom prst="rect">
            <a:avLst/>
          </a:prstGeom>
          <a:noFill/>
          <a:ln/>
        </p:spPr>
        <p:txBody>
          <a:bodyPr wrap="none" lIns="0" tIns="0" rIns="0" bIns="0" rtlCol="0" anchor="t"/>
          <a:lstStyle/>
          <a:p>
            <a:pPr algn="l" indent="0" marL="0">
              <a:lnSpc>
                <a:spcPts val="900"/>
              </a:lnSpc>
              <a:buNone/>
            </a:pPr>
            <a:r>
              <a:rPr lang="en-US" sz="700" spc="30" kern="0" dirty="0">
                <a:solidFill>
                  <a:srgbClr val="121519"/>
                </a:solidFill>
                <a:latin typeface="Noto Sans JP Medium" pitchFamily="34" charset="0"/>
                <a:ea typeface="Noto Sans JP Medium" pitchFamily="34" charset="-122"/>
                <a:cs typeface="Noto Sans JP Medium" pitchFamily="34" charset="-120"/>
              </a:rPr>
              <a:t>原料炭</a:t>
            </a:r>
            <a:endParaRPr lang="en-US" sz="700" dirty="0"/>
          </a:p>
        </p:txBody>
      </p:sp>
      <p:sp>
        <p:nvSpPr>
          <p:cNvPr id="81" name="Text 79"/>
          <p:cNvSpPr/>
          <p:nvPr/>
        </p:nvSpPr>
        <p:spPr>
          <a:xfrm>
            <a:off x="5920786" y="9938916"/>
            <a:ext cx="324230" cy="120703"/>
          </a:xfrm>
          <a:prstGeom prst="rect">
            <a:avLst/>
          </a:prstGeom>
          <a:noFill/>
          <a:ln/>
        </p:spPr>
        <p:txBody>
          <a:bodyPr wrap="none" lIns="0" tIns="0" rIns="0" bIns="0" rtlCol="0" anchor="t"/>
          <a:lstStyle/>
          <a:p>
            <a:pPr algn="l" indent="0" marL="0">
              <a:lnSpc>
                <a:spcPts val="950"/>
              </a:lnSpc>
              <a:buNone/>
            </a:pPr>
            <a:r>
              <a:rPr lang="en-US" sz="1000" spc="-30" kern="0" dirty="0">
                <a:solidFill>
                  <a:srgbClr val="121519"/>
                </a:solidFill>
                <a:latin typeface="Inter Tight SemiBold" pitchFamily="34" charset="0"/>
                <a:ea typeface="Inter Tight SemiBold" pitchFamily="34" charset="-122"/>
                <a:cs typeface="Inter Tight SemiBold" pitchFamily="34" charset="-120"/>
              </a:rPr>
              <a:t>80%</a:t>
            </a:r>
            <a:endParaRPr lang="en-US" sz="1000" dirty="0"/>
          </a:p>
        </p:txBody>
      </p:sp>
      <p:sp>
        <p:nvSpPr>
          <p:cNvPr id="82" name="Text 80"/>
          <p:cNvSpPr/>
          <p:nvPr/>
        </p:nvSpPr>
        <p:spPr>
          <a:xfrm>
            <a:off x="1778777" y="10134455"/>
            <a:ext cx="1974939"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上位5社で約80%｜寡占度が高く、供給は漸減</a:t>
            </a:r>
            <a:endParaRPr lang="en-US" sz="670" dirty="0"/>
          </a:p>
        </p:txBody>
      </p:sp>
      <p:sp>
        <p:nvSpPr>
          <p:cNvPr id="83" name="Text 81"/>
          <p:cNvSpPr/>
          <p:nvPr/>
        </p:nvSpPr>
        <p:spPr>
          <a:xfrm>
            <a:off x="8068024" y="9961151"/>
            <a:ext cx="153022" cy="114350"/>
          </a:xfrm>
          <a:prstGeom prst="rect">
            <a:avLst/>
          </a:prstGeom>
          <a:noFill/>
          <a:ln/>
        </p:spPr>
        <p:txBody>
          <a:bodyPr wrap="none" lIns="0" tIns="0" rIns="0" bIns="0" rtlCol="0" anchor="t"/>
          <a:lstStyle/>
          <a:p>
            <a:pPr algn="l" indent="0" marL="0">
              <a:lnSpc>
                <a:spcPts val="900"/>
              </a:lnSpc>
              <a:buNone/>
            </a:pPr>
            <a:r>
              <a:rPr lang="en-US" sz="700" spc="30" kern="0" dirty="0">
                <a:solidFill>
                  <a:srgbClr val="121519"/>
                </a:solidFill>
                <a:latin typeface="Noto Sans JP Medium" pitchFamily="34" charset="0"/>
                <a:ea typeface="Noto Sans JP Medium" pitchFamily="34" charset="-122"/>
                <a:cs typeface="Noto Sans JP Medium" pitchFamily="34" charset="-120"/>
              </a:rPr>
              <a:t>銅</a:t>
            </a:r>
            <a:endParaRPr lang="en-US" sz="700" dirty="0"/>
          </a:p>
        </p:txBody>
      </p:sp>
      <p:sp>
        <p:nvSpPr>
          <p:cNvPr id="84" name="Text 82"/>
          <p:cNvSpPr/>
          <p:nvPr/>
        </p:nvSpPr>
        <p:spPr>
          <a:xfrm>
            <a:off x="10685367" y="9938916"/>
            <a:ext cx="315713" cy="120703"/>
          </a:xfrm>
          <a:prstGeom prst="rect">
            <a:avLst/>
          </a:prstGeom>
          <a:noFill/>
          <a:ln/>
        </p:spPr>
        <p:txBody>
          <a:bodyPr wrap="none" lIns="0" tIns="0" rIns="0" bIns="0" rtlCol="0" anchor="t"/>
          <a:lstStyle/>
          <a:p>
            <a:pPr algn="l" indent="0" marL="0">
              <a:lnSpc>
                <a:spcPts val="950"/>
              </a:lnSpc>
              <a:buNone/>
            </a:pPr>
            <a:r>
              <a:rPr lang="en-US" sz="1000" spc="-30" kern="0" dirty="0">
                <a:solidFill>
                  <a:srgbClr val="121519"/>
                </a:solidFill>
                <a:latin typeface="Inter Tight SemiBold" pitchFamily="34" charset="0"/>
                <a:ea typeface="Inter Tight SemiBold" pitchFamily="34" charset="-122"/>
                <a:cs typeface="Inter Tight SemiBold" pitchFamily="34" charset="-120"/>
              </a:rPr>
              <a:t>25%</a:t>
            </a:r>
            <a:endParaRPr lang="en-US" sz="1000" dirty="0"/>
          </a:p>
        </p:txBody>
      </p:sp>
      <p:sp>
        <p:nvSpPr>
          <p:cNvPr id="85" name="Text 83"/>
          <p:cNvSpPr/>
          <p:nvPr/>
        </p:nvSpPr>
        <p:spPr>
          <a:xfrm>
            <a:off x="9338579" y="10134455"/>
            <a:ext cx="2061853"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上位5社で約25%｜寡占化が進まず、再編の機運</a:t>
            </a:r>
            <a:endParaRPr lang="en-US" sz="670" dirty="0"/>
          </a:p>
        </p:txBody>
      </p:sp>
      <p:sp>
        <p:nvSpPr>
          <p:cNvPr id="86" name="Text 84"/>
          <p:cNvSpPr/>
          <p:nvPr/>
        </p:nvSpPr>
        <p:spPr>
          <a:xfrm>
            <a:off x="508222" y="10316906"/>
            <a:ext cx="202594" cy="88939"/>
          </a:xfrm>
          <a:prstGeom prst="rect">
            <a:avLst/>
          </a:prstGeom>
          <a:noFill/>
          <a:ln/>
        </p:spPr>
        <p:txBody>
          <a:bodyPr wrap="none" lIns="0" tIns="0" rIns="0" bIns="0" rtlCol="0" anchor="t"/>
          <a:lstStyle/>
          <a:p>
            <a:pPr algn="l" indent="0" marL="0">
              <a:lnSpc>
                <a:spcPts val="700"/>
              </a:lnSpc>
              <a:buNone/>
            </a:pPr>
            <a:r>
              <a:rPr lang="en-US" sz="600" spc="160" kern="0" dirty="0">
                <a:solidFill>
                  <a:srgbClr val="7D838A"/>
                </a:solidFill>
                <a:latin typeface="Inter Medium" pitchFamily="34" charset="0"/>
                <a:ea typeface="Inter Medium" pitchFamily="34" charset="-122"/>
                <a:cs typeface="Inter Medium" pitchFamily="34" charset="-120"/>
              </a:rPr>
              <a:t>06</a:t>
            </a:r>
            <a:endParaRPr lang="en-US" sz="600" dirty="0"/>
          </a:p>
        </p:txBody>
      </p:sp>
      <p:sp>
        <p:nvSpPr>
          <p:cNvPr id="87" name="Text 85"/>
          <p:cNvSpPr/>
          <p:nvPr/>
        </p:nvSpPr>
        <p:spPr>
          <a:xfrm>
            <a:off x="14458915" y="10316906"/>
            <a:ext cx="196043" cy="88939"/>
          </a:xfrm>
          <a:prstGeom prst="rect">
            <a:avLst/>
          </a:prstGeom>
          <a:noFill/>
          <a:ln/>
        </p:spPr>
        <p:txBody>
          <a:bodyPr wrap="none" lIns="0" tIns="0" rIns="0" bIns="0" rtlCol="0" anchor="t"/>
          <a:lstStyle/>
          <a:p>
            <a:pPr algn="l" indent="0" marL="0">
              <a:lnSpc>
                <a:spcPts val="700"/>
              </a:lnSpc>
              <a:buNone/>
            </a:pPr>
            <a:r>
              <a:rPr lang="en-US" sz="600" spc="160" kern="0" dirty="0">
                <a:solidFill>
                  <a:srgbClr val="7D838A"/>
                </a:solidFill>
                <a:latin typeface="Inter Medium" pitchFamily="34" charset="0"/>
                <a:ea typeface="Inter Medium" pitchFamily="34" charset="-122"/>
                <a:cs typeface="Inter Medium" pitchFamily="34" charset="-120"/>
              </a:rPr>
              <a:t>07</a:t>
            </a:r>
            <a:endParaRPr lang="en-US" sz="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539620" y="330344"/>
            <a:ext cx="2203579" cy="1423022"/>
          </a:xfrm>
          <a:prstGeom prst="rect">
            <a:avLst/>
          </a:prstGeom>
          <a:noFill/>
          <a:ln/>
        </p:spPr>
        <p:txBody>
          <a:bodyPr wrap="none" lIns="0" tIns="0" rIns="0" bIns="0" rtlCol="0" anchor="t"/>
          <a:lstStyle/>
          <a:p>
            <a:pPr algn="l" indent="0" marL="0">
              <a:lnSpc>
                <a:spcPts val="11200"/>
              </a:lnSpc>
              <a:buNone/>
            </a:pPr>
            <a:r>
              <a:rPr lang="en-US" sz="14000" spc="-560" kern="0" dirty="0">
                <a:solidFill>
                  <a:srgbClr val="000000">
                    <a:alpha val="0"/>
                  </a:srgbClr>
                </a:solidFill>
                <a:latin typeface="Inter Tight Light" pitchFamily="34" charset="0"/>
                <a:ea typeface="Inter Tight Light" pitchFamily="34" charset="-122"/>
                <a:cs typeface="Inter Tight Light" pitchFamily="34" charset="-120"/>
              </a:rPr>
              <a:t>03</a:t>
            </a:r>
            <a:endParaRPr lang="en-US" sz="14000" dirty="0"/>
          </a:p>
        </p:txBody>
      </p:sp>
      <p:sp>
        <p:nvSpPr>
          <p:cNvPr id="3" name="Text 1"/>
          <p:cNvSpPr/>
          <p:nvPr/>
        </p:nvSpPr>
        <p:spPr>
          <a:xfrm>
            <a:off x="12705550" y="330344"/>
            <a:ext cx="2197901" cy="1423022"/>
          </a:xfrm>
          <a:prstGeom prst="rect">
            <a:avLst/>
          </a:prstGeom>
          <a:noFill/>
          <a:ln/>
        </p:spPr>
        <p:txBody>
          <a:bodyPr wrap="none" lIns="0" tIns="0" rIns="0" bIns="0" rtlCol="0" anchor="t"/>
          <a:lstStyle/>
          <a:p>
            <a:pPr algn="l" indent="0" marL="0">
              <a:lnSpc>
                <a:spcPts val="11200"/>
              </a:lnSpc>
              <a:buNone/>
            </a:pPr>
            <a:r>
              <a:rPr lang="en-US" sz="14000" spc="-560" kern="0" dirty="0">
                <a:solidFill>
                  <a:srgbClr val="000000">
                    <a:alpha val="0"/>
                  </a:srgbClr>
                </a:solidFill>
                <a:latin typeface="Inter Tight Light" pitchFamily="34" charset="0"/>
                <a:ea typeface="Inter Tight Light" pitchFamily="34" charset="-122"/>
                <a:cs typeface="Inter Tight Light" pitchFamily="34" charset="-120"/>
              </a:rPr>
              <a:t>04</a:t>
            </a:r>
            <a:endParaRPr lang="en-US" sz="14000" dirty="0"/>
          </a:p>
        </p:txBody>
      </p:sp>
      <p:sp>
        <p:nvSpPr>
          <p:cNvPr id="4" name="Text 2"/>
          <p:cNvSpPr/>
          <p:nvPr/>
        </p:nvSpPr>
        <p:spPr>
          <a:xfrm>
            <a:off x="508222" y="508222"/>
            <a:ext cx="372273"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Noto Sans JP Medium" pitchFamily="34" charset="0"/>
                <a:ea typeface="Noto Sans JP Medium" pitchFamily="34" charset="-122"/>
                <a:cs typeface="Noto Sans JP Medium" pitchFamily="34" charset="-120"/>
              </a:rPr>
              <a:t>第2章</a:t>
            </a:r>
            <a:endParaRPr lang="en-US" sz="660" dirty="0"/>
          </a:p>
        </p:txBody>
      </p:sp>
      <p:sp>
        <p:nvSpPr>
          <p:cNvPr id="5" name="Text 3"/>
          <p:cNvSpPr/>
          <p:nvPr/>
        </p:nvSpPr>
        <p:spPr>
          <a:xfrm>
            <a:off x="508222" y="647983"/>
            <a:ext cx="1358025"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独自価値｜事業領域と新技術</a:t>
            </a:r>
            <a:endParaRPr lang="en-US" sz="660" dirty="0"/>
          </a:p>
        </p:txBody>
      </p:sp>
      <p:sp>
        <p:nvSpPr>
          <p:cNvPr id="6" name="Text 4"/>
          <p:cNvSpPr/>
          <p:nvPr/>
        </p:nvSpPr>
        <p:spPr>
          <a:xfrm>
            <a:off x="508222" y="884814"/>
            <a:ext cx="4693946" cy="933096"/>
          </a:xfrm>
          <a:prstGeom prst="rect">
            <a:avLst/>
          </a:prstGeom>
          <a:noFill/>
          <a:ln/>
        </p:spPr>
        <p:txBody>
          <a:bodyPr wrap="none" lIns="0" tIns="0" rIns="0" bIns="0" rtlCol="0" anchor="t"/>
          <a:lstStyle/>
          <a:p>
            <a:pPr algn="l" indent="0" marL="0">
              <a:lnSpc>
                <a:spcPts val="3672"/>
              </a:lnSpc>
              <a:buNone/>
            </a:pPr>
            <a:r>
              <a:rPr lang="en-US" sz="3600" spc="-90" kern="0" dirty="0">
                <a:solidFill>
                  <a:srgbClr val="121519"/>
                </a:solidFill>
                <a:latin typeface="Inter Tight SemiBold" pitchFamily="34" charset="0"/>
                <a:ea typeface="Inter Tight SemiBold" pitchFamily="34" charset="-122"/>
                <a:cs typeface="Inter Tight SemiBold" pitchFamily="34" charset="-120"/>
              </a:rPr>
              <a:t>Resources become</a:t>
            </a:r>
            <a:endParaRPr lang="en-US" sz="3600" dirty="0"/>
          </a:p>
          <a:p>
            <a:pPr algn="l" indent="0" marL="0">
              <a:lnSpc>
                <a:spcPts val="3672"/>
              </a:lnSpc>
              <a:buNone/>
            </a:pPr>
            <a:r>
              <a:rPr lang="en-US" sz="3600" spc="-90" kern="0" dirty="0">
                <a:solidFill>
                  <a:srgbClr val="121519"/>
                </a:solidFill>
                <a:latin typeface="Inter Tight SemiBold" pitchFamily="34" charset="0"/>
                <a:ea typeface="Inter Tight SemiBold" pitchFamily="34" charset="-122"/>
                <a:cs typeface="Inter Tight SemiBold" pitchFamily="34" charset="-120"/>
              </a:rPr>
              <a:t>value when delivered.</a:t>
            </a:r>
            <a:endParaRPr lang="en-US" sz="3600" dirty="0"/>
          </a:p>
        </p:txBody>
      </p:sp>
      <p:sp>
        <p:nvSpPr>
          <p:cNvPr id="7" name="Text 5"/>
          <p:cNvSpPr/>
          <p:nvPr/>
        </p:nvSpPr>
        <p:spPr>
          <a:xfrm>
            <a:off x="508222" y="2094033"/>
            <a:ext cx="4906427" cy="219171"/>
          </a:xfrm>
          <a:prstGeom prst="rect">
            <a:avLst/>
          </a:prstGeom>
          <a:noFill/>
          <a:ln/>
        </p:spPr>
        <p:txBody>
          <a:bodyPr wrap="none" lIns="0" tIns="0" rIns="0" bIns="0" rtlCol="0" anchor="t"/>
          <a:lstStyle/>
          <a:p>
            <a:pPr algn="l" indent="0" marL="0">
              <a:lnSpc>
                <a:spcPts val="1725"/>
              </a:lnSpc>
              <a:buNone/>
            </a:pPr>
            <a:r>
              <a:rPr lang="en-US" sz="1150" spc="50" kern="0" dirty="0">
                <a:solidFill>
                  <a:srgbClr val="121519"/>
                </a:solidFill>
                <a:latin typeface="Noto Sans JP Medium" pitchFamily="34" charset="0"/>
                <a:ea typeface="Noto Sans JP Medium" pitchFamily="34" charset="-122"/>
                <a:cs typeface="Noto Sans JP Medium" pitchFamily="34" charset="-120"/>
              </a:rPr>
              <a:t>鉄鉱石から電池資源・肥料・アルミまで、世界に広がる事業領域</a:t>
            </a:r>
            <a:endParaRPr lang="en-US" sz="1150" dirty="0"/>
          </a:p>
        </p:txBody>
      </p:sp>
      <p:sp>
        <p:nvSpPr>
          <p:cNvPr id="8" name="Text 6"/>
          <p:cNvSpPr/>
          <p:nvPr/>
        </p:nvSpPr>
        <p:spPr>
          <a:xfrm>
            <a:off x="508222" y="2335471"/>
            <a:ext cx="7248516" cy="361981"/>
          </a:xfrm>
          <a:prstGeom prst="rect">
            <a:avLst/>
          </a:prstGeom>
          <a:noFill/>
          <a:ln/>
        </p:spPr>
        <p:txBody>
          <a:bodyPr wrap="none" lIns="0" tIns="0" rIns="0" bIns="0" rtlCol="0" anchor="t"/>
          <a:lstStyle/>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資源は、ただ存在するだけでは社会の価値になりません。良質な資源を安定的に確保し、高品質な金属へと精錬し、必要とする産業へ届けてはじ</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めて価値になります。原料炭と銅に加え、私たちは鉄鉱石、電池資源、アルミ、肥料、二次資源へと事業領域を広げています。</a:t>
            </a:r>
            <a:endParaRPr lang="en-US" sz="770" dirty="0"/>
          </a:p>
        </p:txBody>
      </p:sp>
      <p:sp>
        <p:nvSpPr>
          <p:cNvPr id="9" name="Text 7"/>
          <p:cNvSpPr/>
          <p:nvPr/>
        </p:nvSpPr>
        <p:spPr>
          <a:xfrm>
            <a:off x="1448433" y="3454544"/>
            <a:ext cx="390398" cy="153610"/>
          </a:xfrm>
          <a:prstGeom prst="rect">
            <a:avLst/>
          </a:prstGeom>
          <a:noFill/>
          <a:ln/>
        </p:spPr>
        <p:txBody>
          <a:bodyPr wrap="none" lIns="0" tIns="0" rIns="0" bIns="0" rtlCol="0" anchor="t"/>
          <a:lstStyle/>
          <a:p>
            <a:pPr algn="l" indent="0" marL="0">
              <a:lnSpc>
                <a:spcPts val="1209"/>
              </a:lnSpc>
              <a:buNone/>
            </a:pPr>
            <a:r>
              <a:rPr lang="en-US" sz="780" spc="30" kern="0" dirty="0">
                <a:solidFill>
                  <a:srgbClr val="121519"/>
                </a:solidFill>
                <a:latin typeface="Noto Sans JP Medium" pitchFamily="34" charset="0"/>
                <a:ea typeface="Noto Sans JP Medium" pitchFamily="34" charset="-122"/>
                <a:cs typeface="Noto Sans JP Medium" pitchFamily="34" charset="-120"/>
              </a:rPr>
              <a:t>鉄鉱石</a:t>
            </a:r>
            <a:endParaRPr lang="en-US" sz="780" dirty="0"/>
          </a:p>
        </p:txBody>
      </p:sp>
      <p:sp>
        <p:nvSpPr>
          <p:cNvPr id="10" name="Text 8"/>
          <p:cNvSpPr/>
          <p:nvPr/>
        </p:nvSpPr>
        <p:spPr>
          <a:xfrm>
            <a:off x="1448433" y="3660183"/>
            <a:ext cx="1289891"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IOC（カナダ）・CMP（チリ）</a:t>
            </a:r>
            <a:endParaRPr lang="en-US" sz="670" dirty="0"/>
          </a:p>
        </p:txBody>
      </p:sp>
      <p:sp>
        <p:nvSpPr>
          <p:cNvPr id="11" name="Text 9"/>
          <p:cNvSpPr/>
          <p:nvPr/>
        </p:nvSpPr>
        <p:spPr>
          <a:xfrm>
            <a:off x="3659198" y="3454544"/>
            <a:ext cx="503517" cy="153610"/>
          </a:xfrm>
          <a:prstGeom prst="rect">
            <a:avLst/>
          </a:prstGeom>
          <a:noFill/>
          <a:ln/>
        </p:spPr>
        <p:txBody>
          <a:bodyPr wrap="none" lIns="0" tIns="0" rIns="0" bIns="0" rtlCol="0" anchor="t"/>
          <a:lstStyle/>
          <a:p>
            <a:pPr algn="l" indent="0" marL="0">
              <a:lnSpc>
                <a:spcPts val="1209"/>
              </a:lnSpc>
              <a:buNone/>
            </a:pPr>
            <a:r>
              <a:rPr lang="en-US" sz="780" spc="30" kern="0" dirty="0">
                <a:solidFill>
                  <a:srgbClr val="121519"/>
                </a:solidFill>
                <a:latin typeface="Noto Sans JP Medium" pitchFamily="34" charset="0"/>
                <a:ea typeface="Noto Sans JP Medium" pitchFamily="34" charset="-122"/>
                <a:cs typeface="Noto Sans JP Medium" pitchFamily="34" charset="-120"/>
              </a:rPr>
              <a:t>ニッケル</a:t>
            </a:r>
            <a:endParaRPr lang="en-US" sz="780" dirty="0"/>
          </a:p>
        </p:txBody>
      </p:sp>
      <p:sp>
        <p:nvSpPr>
          <p:cNvPr id="12" name="Text 10"/>
          <p:cNvSpPr/>
          <p:nvPr/>
        </p:nvSpPr>
        <p:spPr>
          <a:xfrm>
            <a:off x="3659198" y="3660183"/>
            <a:ext cx="1004473" cy="272407"/>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Turnagain（カナダ）・</a:t>
            </a:r>
            <a:endParaRPr lang="en-US" sz="670" dirty="0"/>
          </a:p>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Kalgoorlie（豪州）</a:t>
            </a:r>
            <a:endParaRPr lang="en-US" sz="670" dirty="0"/>
          </a:p>
        </p:txBody>
      </p:sp>
      <p:sp>
        <p:nvSpPr>
          <p:cNvPr id="13" name="Text 11"/>
          <p:cNvSpPr/>
          <p:nvPr/>
        </p:nvSpPr>
        <p:spPr>
          <a:xfrm>
            <a:off x="5869964" y="3454544"/>
            <a:ext cx="503517" cy="153610"/>
          </a:xfrm>
          <a:prstGeom prst="rect">
            <a:avLst/>
          </a:prstGeom>
          <a:noFill/>
          <a:ln/>
        </p:spPr>
        <p:txBody>
          <a:bodyPr wrap="none" lIns="0" tIns="0" rIns="0" bIns="0" rtlCol="0" anchor="t"/>
          <a:lstStyle/>
          <a:p>
            <a:pPr algn="l" indent="0" marL="0">
              <a:lnSpc>
                <a:spcPts val="1209"/>
              </a:lnSpc>
              <a:buNone/>
            </a:pPr>
            <a:r>
              <a:rPr lang="en-US" sz="780" spc="30" kern="0" dirty="0">
                <a:solidFill>
                  <a:srgbClr val="121519"/>
                </a:solidFill>
                <a:latin typeface="Noto Sans JP Medium" pitchFamily="34" charset="0"/>
                <a:ea typeface="Noto Sans JP Medium" pitchFamily="34" charset="-122"/>
                <a:cs typeface="Noto Sans JP Medium" pitchFamily="34" charset="-120"/>
              </a:rPr>
              <a:t>リチウム</a:t>
            </a:r>
            <a:endParaRPr lang="en-US" sz="780" dirty="0"/>
          </a:p>
        </p:txBody>
      </p:sp>
      <p:sp>
        <p:nvSpPr>
          <p:cNvPr id="14" name="Text 12"/>
          <p:cNvSpPr/>
          <p:nvPr/>
        </p:nvSpPr>
        <p:spPr>
          <a:xfrm>
            <a:off x="5869964" y="3660183"/>
            <a:ext cx="1047493"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PAK Lithium（カナダ）</a:t>
            </a:r>
            <a:endParaRPr lang="en-US" sz="670" dirty="0"/>
          </a:p>
        </p:txBody>
      </p:sp>
      <p:sp>
        <p:nvSpPr>
          <p:cNvPr id="15" name="Text 13"/>
          <p:cNvSpPr/>
          <p:nvPr/>
        </p:nvSpPr>
        <p:spPr>
          <a:xfrm>
            <a:off x="1448433" y="4775921"/>
            <a:ext cx="1520934" cy="153610"/>
          </a:xfrm>
          <a:prstGeom prst="rect">
            <a:avLst/>
          </a:prstGeom>
          <a:noFill/>
          <a:ln/>
        </p:spPr>
        <p:txBody>
          <a:bodyPr wrap="none" lIns="0" tIns="0" rIns="0" bIns="0" rtlCol="0" anchor="t"/>
          <a:lstStyle/>
          <a:p>
            <a:pPr algn="l" indent="0" marL="0">
              <a:lnSpc>
                <a:spcPts val="1209"/>
              </a:lnSpc>
              <a:buNone/>
            </a:pPr>
            <a:r>
              <a:rPr lang="en-US" sz="780" spc="30" kern="0" dirty="0">
                <a:solidFill>
                  <a:srgbClr val="121519"/>
                </a:solidFill>
                <a:latin typeface="Noto Sans JP Medium" pitchFamily="34" charset="0"/>
                <a:ea typeface="Noto Sans JP Medium" pitchFamily="34" charset="-122"/>
                <a:cs typeface="Noto Sans JP Medium" pitchFamily="34" charset="-120"/>
              </a:rPr>
              <a:t>ボーキサイト・低炭素アルミ</a:t>
            </a:r>
            <a:endParaRPr lang="en-US" sz="780" dirty="0"/>
          </a:p>
        </p:txBody>
      </p:sp>
      <p:sp>
        <p:nvSpPr>
          <p:cNvPr id="16" name="Text 14"/>
          <p:cNvSpPr/>
          <p:nvPr/>
        </p:nvSpPr>
        <p:spPr>
          <a:xfrm>
            <a:off x="1448433" y="4981560"/>
            <a:ext cx="1306051" cy="272407"/>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Aurukun（豪州）・Arctial（北</a:t>
            </a:r>
            <a:endParaRPr lang="en-US" sz="670" dirty="0"/>
          </a:p>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欧）</a:t>
            </a:r>
            <a:endParaRPr lang="en-US" sz="670" dirty="0"/>
          </a:p>
        </p:txBody>
      </p:sp>
      <p:sp>
        <p:nvSpPr>
          <p:cNvPr id="17" name="Text 15"/>
          <p:cNvSpPr/>
          <p:nvPr/>
        </p:nvSpPr>
        <p:spPr>
          <a:xfrm>
            <a:off x="3659198" y="4775921"/>
            <a:ext cx="503517" cy="153610"/>
          </a:xfrm>
          <a:prstGeom prst="rect">
            <a:avLst/>
          </a:prstGeom>
          <a:noFill/>
          <a:ln/>
        </p:spPr>
        <p:txBody>
          <a:bodyPr wrap="none" lIns="0" tIns="0" rIns="0" bIns="0" rtlCol="0" anchor="t"/>
          <a:lstStyle/>
          <a:p>
            <a:pPr algn="l" indent="0" marL="0">
              <a:lnSpc>
                <a:spcPts val="1209"/>
              </a:lnSpc>
              <a:buNone/>
            </a:pPr>
            <a:r>
              <a:rPr lang="en-US" sz="780" spc="30" kern="0" dirty="0">
                <a:solidFill>
                  <a:srgbClr val="121519"/>
                </a:solidFill>
                <a:latin typeface="Noto Sans JP Medium" pitchFamily="34" charset="0"/>
                <a:ea typeface="Noto Sans JP Medium" pitchFamily="34" charset="-122"/>
                <a:cs typeface="Noto Sans JP Medium" pitchFamily="34" charset="-120"/>
              </a:rPr>
              <a:t>肥料資源</a:t>
            </a:r>
            <a:endParaRPr lang="en-US" sz="780" dirty="0"/>
          </a:p>
        </p:txBody>
      </p:sp>
      <p:sp>
        <p:nvSpPr>
          <p:cNvPr id="18" name="Text 16"/>
          <p:cNvSpPr/>
          <p:nvPr/>
        </p:nvSpPr>
        <p:spPr>
          <a:xfrm>
            <a:off x="3659198" y="4981560"/>
            <a:ext cx="926076"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Woodsmith（英国）</a:t>
            </a:r>
            <a:endParaRPr lang="en-US" sz="670" dirty="0"/>
          </a:p>
        </p:txBody>
      </p:sp>
      <p:sp>
        <p:nvSpPr>
          <p:cNvPr id="19" name="Text 17"/>
          <p:cNvSpPr/>
          <p:nvPr/>
        </p:nvSpPr>
        <p:spPr>
          <a:xfrm>
            <a:off x="5869964" y="4775921"/>
            <a:ext cx="503517" cy="153610"/>
          </a:xfrm>
          <a:prstGeom prst="rect">
            <a:avLst/>
          </a:prstGeom>
          <a:noFill/>
          <a:ln/>
        </p:spPr>
        <p:txBody>
          <a:bodyPr wrap="none" lIns="0" tIns="0" rIns="0" bIns="0" rtlCol="0" anchor="t"/>
          <a:lstStyle/>
          <a:p>
            <a:pPr algn="l" indent="0" marL="0">
              <a:lnSpc>
                <a:spcPts val="1209"/>
              </a:lnSpc>
              <a:buNone/>
            </a:pPr>
            <a:r>
              <a:rPr lang="en-US" sz="780" spc="30" kern="0" dirty="0">
                <a:solidFill>
                  <a:srgbClr val="121519"/>
                </a:solidFill>
                <a:latin typeface="Noto Sans JP Medium" pitchFamily="34" charset="0"/>
                <a:ea typeface="Noto Sans JP Medium" pitchFamily="34" charset="-122"/>
                <a:cs typeface="Noto Sans JP Medium" pitchFamily="34" charset="-120"/>
              </a:rPr>
              <a:t>二次資源</a:t>
            </a:r>
            <a:endParaRPr lang="en-US" sz="780" dirty="0"/>
          </a:p>
        </p:txBody>
      </p:sp>
      <p:sp>
        <p:nvSpPr>
          <p:cNvPr id="20" name="Text 18"/>
          <p:cNvSpPr/>
          <p:nvPr/>
        </p:nvSpPr>
        <p:spPr>
          <a:xfrm>
            <a:off x="5869964" y="4981560"/>
            <a:ext cx="1167819"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リサイクル由来の金属資源</a:t>
            </a:r>
            <a:endParaRPr lang="en-US" sz="670" dirty="0"/>
          </a:p>
        </p:txBody>
      </p:sp>
      <p:sp>
        <p:nvSpPr>
          <p:cNvPr id="21" name="Text 19"/>
          <p:cNvSpPr/>
          <p:nvPr/>
        </p:nvSpPr>
        <p:spPr>
          <a:xfrm>
            <a:off x="508222" y="6002578"/>
            <a:ext cx="1730139"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Noto Sans JP Medium" pitchFamily="34" charset="0"/>
                <a:ea typeface="Noto Sans JP Medium" pitchFamily="34" charset="-122"/>
                <a:cs typeface="Noto Sans JP Medium" pitchFamily="34" charset="-120"/>
              </a:rPr>
              <a:t>銅のバリューチェーンと新技術</a:t>
            </a:r>
            <a:endParaRPr lang="en-US" sz="660" dirty="0"/>
          </a:p>
        </p:txBody>
      </p:sp>
      <p:sp>
        <p:nvSpPr>
          <p:cNvPr id="22" name="Text 20"/>
          <p:cNvSpPr/>
          <p:nvPr/>
        </p:nvSpPr>
        <p:spPr>
          <a:xfrm>
            <a:off x="508222" y="6142339"/>
            <a:ext cx="2460172"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川上から川下まで、業界の課題に挑む技術へ投資する</a:t>
            </a:r>
            <a:endParaRPr lang="en-US" sz="660" dirty="0"/>
          </a:p>
        </p:txBody>
      </p:sp>
      <p:sp>
        <p:nvSpPr>
          <p:cNvPr id="23" name="Text 21"/>
          <p:cNvSpPr/>
          <p:nvPr/>
        </p:nvSpPr>
        <p:spPr>
          <a:xfrm>
            <a:off x="609866" y="6523506"/>
            <a:ext cx="260245" cy="114350"/>
          </a:xfrm>
          <a:prstGeom prst="rect">
            <a:avLst/>
          </a:prstGeom>
          <a:noFill/>
          <a:ln/>
        </p:spPr>
        <p:txBody>
          <a:bodyPr wrap="none" lIns="0" tIns="0" rIns="0" bIns="0" rtlCol="0" anchor="t"/>
          <a:lstStyle/>
          <a:p>
            <a:pPr algn="l" indent="0" marL="0">
              <a:lnSpc>
                <a:spcPts val="900"/>
              </a:lnSpc>
              <a:buNone/>
            </a:pPr>
            <a:r>
              <a:rPr lang="en-US" sz="720" spc="30" kern="0" dirty="0">
                <a:solidFill>
                  <a:srgbClr val="121519"/>
                </a:solidFill>
                <a:latin typeface="Noto Sans JP Medium" pitchFamily="34" charset="0"/>
                <a:ea typeface="Noto Sans JP Medium" pitchFamily="34" charset="-122"/>
                <a:cs typeface="Noto Sans JP Medium" pitchFamily="34" charset="-120"/>
              </a:rPr>
              <a:t>鉱石</a:t>
            </a:r>
            <a:endParaRPr lang="en-US" sz="720" dirty="0"/>
          </a:p>
        </p:txBody>
      </p:sp>
      <p:sp>
        <p:nvSpPr>
          <p:cNvPr id="24" name="Text 22"/>
          <p:cNvSpPr/>
          <p:nvPr/>
        </p:nvSpPr>
        <p:spPr>
          <a:xfrm>
            <a:off x="609866" y="6658693"/>
            <a:ext cx="237753"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採掘</a:t>
            </a:r>
            <a:endParaRPr lang="en-US" sz="670" dirty="0"/>
          </a:p>
        </p:txBody>
      </p:sp>
      <p:sp>
        <p:nvSpPr>
          <p:cNvPr id="25" name="Text 23"/>
          <p:cNvSpPr/>
          <p:nvPr/>
        </p:nvSpPr>
        <p:spPr>
          <a:xfrm>
            <a:off x="609866" y="6793181"/>
            <a:ext cx="491069" cy="108632"/>
          </a:xfrm>
          <a:prstGeom prst="rect">
            <a:avLst/>
          </a:prstGeom>
          <a:noFill/>
          <a:ln/>
        </p:spPr>
        <p:txBody>
          <a:bodyPr wrap="none" lIns="0" tIns="0" rIns="0" bIns="0" rtlCol="0" anchor="t"/>
          <a:lstStyle/>
          <a:p>
            <a:pPr algn="l" indent="0" marL="0">
              <a:lnSpc>
                <a:spcPts val="855"/>
              </a:lnSpc>
              <a:buNone/>
            </a:pPr>
            <a:r>
              <a:rPr lang="en-US" sz="900" spc="-27" kern="0" dirty="0">
                <a:solidFill>
                  <a:srgbClr val="9C7442"/>
                </a:solidFill>
                <a:latin typeface="Inter Tight SemiBold" pitchFamily="34" charset="0"/>
                <a:ea typeface="Inter Tight SemiBold" pitchFamily="34" charset="-122"/>
                <a:cs typeface="Inter Tight SemiBold" pitchFamily="34" charset="-120"/>
              </a:rPr>
              <a:t>Cu 約1%</a:t>
            </a:r>
            <a:endParaRPr lang="en-US" sz="900" dirty="0"/>
          </a:p>
        </p:txBody>
      </p:sp>
      <p:sp>
        <p:nvSpPr>
          <p:cNvPr id="26" name="Text 24"/>
          <p:cNvSpPr/>
          <p:nvPr/>
        </p:nvSpPr>
        <p:spPr>
          <a:xfrm>
            <a:off x="1931244" y="6523506"/>
            <a:ext cx="364848" cy="114350"/>
          </a:xfrm>
          <a:prstGeom prst="rect">
            <a:avLst/>
          </a:prstGeom>
          <a:noFill/>
          <a:ln/>
        </p:spPr>
        <p:txBody>
          <a:bodyPr wrap="none" lIns="0" tIns="0" rIns="0" bIns="0" rtlCol="0" anchor="t"/>
          <a:lstStyle/>
          <a:p>
            <a:pPr algn="l" indent="0" marL="0">
              <a:lnSpc>
                <a:spcPts val="900"/>
              </a:lnSpc>
              <a:buNone/>
            </a:pPr>
            <a:r>
              <a:rPr lang="en-US" sz="720" spc="30" kern="0" dirty="0">
                <a:solidFill>
                  <a:srgbClr val="121519"/>
                </a:solidFill>
                <a:latin typeface="Noto Sans JP Medium" pitchFamily="34" charset="0"/>
                <a:ea typeface="Noto Sans JP Medium" pitchFamily="34" charset="-122"/>
                <a:cs typeface="Noto Sans JP Medium" pitchFamily="34" charset="-120"/>
              </a:rPr>
              <a:t>銅精鉱</a:t>
            </a:r>
            <a:endParaRPr lang="en-US" sz="720" dirty="0"/>
          </a:p>
        </p:txBody>
      </p:sp>
      <p:sp>
        <p:nvSpPr>
          <p:cNvPr id="27" name="Text 25"/>
          <p:cNvSpPr/>
          <p:nvPr/>
        </p:nvSpPr>
        <p:spPr>
          <a:xfrm>
            <a:off x="1931244" y="6658693"/>
            <a:ext cx="518148"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選鉱・浸出</a:t>
            </a:r>
            <a:endParaRPr lang="en-US" sz="670" dirty="0"/>
          </a:p>
        </p:txBody>
      </p:sp>
      <p:sp>
        <p:nvSpPr>
          <p:cNvPr id="28" name="Text 26"/>
          <p:cNvSpPr/>
          <p:nvPr/>
        </p:nvSpPr>
        <p:spPr>
          <a:xfrm>
            <a:off x="1931244" y="6793181"/>
            <a:ext cx="740674" cy="108632"/>
          </a:xfrm>
          <a:prstGeom prst="rect">
            <a:avLst/>
          </a:prstGeom>
          <a:noFill/>
          <a:ln/>
        </p:spPr>
        <p:txBody>
          <a:bodyPr wrap="none" lIns="0" tIns="0" rIns="0" bIns="0" rtlCol="0" anchor="t"/>
          <a:lstStyle/>
          <a:p>
            <a:pPr algn="l" indent="0" marL="0">
              <a:lnSpc>
                <a:spcPts val="855"/>
              </a:lnSpc>
              <a:buNone/>
            </a:pPr>
            <a:r>
              <a:rPr lang="en-US" sz="900" spc="-27" kern="0" dirty="0">
                <a:solidFill>
                  <a:srgbClr val="9C7442"/>
                </a:solidFill>
                <a:latin typeface="Inter Tight SemiBold" pitchFamily="34" charset="0"/>
                <a:ea typeface="Inter Tight SemiBold" pitchFamily="34" charset="-122"/>
                <a:cs typeface="Inter Tight SemiBold" pitchFamily="34" charset="-120"/>
              </a:rPr>
              <a:t>Cu 20〜30%</a:t>
            </a:r>
            <a:endParaRPr lang="en-US" sz="900" dirty="0"/>
          </a:p>
        </p:txBody>
      </p:sp>
      <p:sp>
        <p:nvSpPr>
          <p:cNvPr id="29" name="Text 27"/>
          <p:cNvSpPr/>
          <p:nvPr/>
        </p:nvSpPr>
        <p:spPr>
          <a:xfrm>
            <a:off x="3252621" y="6523506"/>
            <a:ext cx="364848" cy="114350"/>
          </a:xfrm>
          <a:prstGeom prst="rect">
            <a:avLst/>
          </a:prstGeom>
          <a:noFill/>
          <a:ln/>
        </p:spPr>
        <p:txBody>
          <a:bodyPr wrap="none" lIns="0" tIns="0" rIns="0" bIns="0" rtlCol="0" anchor="t"/>
          <a:lstStyle/>
          <a:p>
            <a:pPr algn="l" indent="0" marL="0">
              <a:lnSpc>
                <a:spcPts val="900"/>
              </a:lnSpc>
              <a:buNone/>
            </a:pPr>
            <a:r>
              <a:rPr lang="en-US" sz="720" spc="30" kern="0" dirty="0">
                <a:solidFill>
                  <a:srgbClr val="121519"/>
                </a:solidFill>
                <a:latin typeface="Noto Sans JP Medium" pitchFamily="34" charset="0"/>
                <a:ea typeface="Noto Sans JP Medium" pitchFamily="34" charset="-122"/>
                <a:cs typeface="Noto Sans JP Medium" pitchFamily="34" charset="-120"/>
              </a:rPr>
              <a:t>銅地金</a:t>
            </a:r>
            <a:endParaRPr lang="en-US" sz="720" dirty="0"/>
          </a:p>
        </p:txBody>
      </p:sp>
      <p:sp>
        <p:nvSpPr>
          <p:cNvPr id="30" name="Text 28"/>
          <p:cNvSpPr/>
          <p:nvPr/>
        </p:nvSpPr>
        <p:spPr>
          <a:xfrm>
            <a:off x="3252621" y="6658693"/>
            <a:ext cx="518148"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製錬・精製</a:t>
            </a:r>
            <a:endParaRPr lang="en-US" sz="670" dirty="0"/>
          </a:p>
        </p:txBody>
      </p:sp>
      <p:sp>
        <p:nvSpPr>
          <p:cNvPr id="31" name="Text 29"/>
          <p:cNvSpPr/>
          <p:nvPr/>
        </p:nvSpPr>
        <p:spPr>
          <a:xfrm>
            <a:off x="3252621" y="6793181"/>
            <a:ext cx="642623" cy="108632"/>
          </a:xfrm>
          <a:prstGeom prst="rect">
            <a:avLst/>
          </a:prstGeom>
          <a:noFill/>
          <a:ln/>
        </p:spPr>
        <p:txBody>
          <a:bodyPr wrap="none" lIns="0" tIns="0" rIns="0" bIns="0" rtlCol="0" anchor="t"/>
          <a:lstStyle/>
          <a:p>
            <a:pPr algn="l" indent="0" marL="0">
              <a:lnSpc>
                <a:spcPts val="855"/>
              </a:lnSpc>
              <a:buNone/>
            </a:pPr>
            <a:r>
              <a:rPr lang="en-US" sz="900" spc="-27" kern="0" dirty="0">
                <a:solidFill>
                  <a:srgbClr val="9C7442"/>
                </a:solidFill>
                <a:latin typeface="Inter Tight SemiBold" pitchFamily="34" charset="0"/>
                <a:ea typeface="Inter Tight SemiBold" pitchFamily="34" charset="-122"/>
                <a:cs typeface="Inter Tight SemiBold" pitchFamily="34" charset="-120"/>
              </a:rPr>
              <a:t>Cu 99.99%</a:t>
            </a:r>
            <a:endParaRPr lang="en-US" sz="900" dirty="0"/>
          </a:p>
        </p:txBody>
      </p:sp>
      <p:sp>
        <p:nvSpPr>
          <p:cNvPr id="32" name="Text 30"/>
          <p:cNvSpPr/>
          <p:nvPr/>
        </p:nvSpPr>
        <p:spPr>
          <a:xfrm>
            <a:off x="4573998" y="6523506"/>
            <a:ext cx="469450" cy="114350"/>
          </a:xfrm>
          <a:prstGeom prst="rect">
            <a:avLst/>
          </a:prstGeom>
          <a:noFill/>
          <a:ln/>
        </p:spPr>
        <p:txBody>
          <a:bodyPr wrap="none" lIns="0" tIns="0" rIns="0" bIns="0" rtlCol="0" anchor="t"/>
          <a:lstStyle/>
          <a:p>
            <a:pPr algn="l" indent="0" marL="0">
              <a:lnSpc>
                <a:spcPts val="900"/>
              </a:lnSpc>
              <a:buNone/>
            </a:pPr>
            <a:r>
              <a:rPr lang="en-US" sz="720" spc="30" kern="0" dirty="0">
                <a:solidFill>
                  <a:srgbClr val="121519"/>
                </a:solidFill>
                <a:latin typeface="Noto Sans JP Medium" pitchFamily="34" charset="0"/>
                <a:ea typeface="Noto Sans JP Medium" pitchFamily="34" charset="-122"/>
                <a:cs typeface="Noto Sans JP Medium" pitchFamily="34" charset="-120"/>
              </a:rPr>
              <a:t>最終用途</a:t>
            </a:r>
            <a:endParaRPr lang="en-US" sz="720" dirty="0"/>
          </a:p>
        </p:txBody>
      </p:sp>
      <p:sp>
        <p:nvSpPr>
          <p:cNvPr id="33" name="Text 31"/>
          <p:cNvSpPr/>
          <p:nvPr/>
        </p:nvSpPr>
        <p:spPr>
          <a:xfrm>
            <a:off x="4573998" y="6658693"/>
            <a:ext cx="424683"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最終製品</a:t>
            </a:r>
            <a:endParaRPr lang="en-US" sz="670" dirty="0"/>
          </a:p>
        </p:txBody>
      </p:sp>
      <p:sp>
        <p:nvSpPr>
          <p:cNvPr id="34" name="Text 32"/>
          <p:cNvSpPr/>
          <p:nvPr/>
        </p:nvSpPr>
        <p:spPr>
          <a:xfrm>
            <a:off x="4573998" y="6793181"/>
            <a:ext cx="916904" cy="108632"/>
          </a:xfrm>
          <a:prstGeom prst="rect">
            <a:avLst/>
          </a:prstGeom>
          <a:noFill/>
          <a:ln/>
        </p:spPr>
        <p:txBody>
          <a:bodyPr wrap="none" lIns="0" tIns="0" rIns="0" bIns="0" rtlCol="0" anchor="t"/>
          <a:lstStyle/>
          <a:p>
            <a:pPr algn="l" indent="0" marL="0">
              <a:lnSpc>
                <a:spcPts val="855"/>
              </a:lnSpc>
              <a:buNone/>
            </a:pPr>
            <a:r>
              <a:rPr lang="en-US" sz="900" spc="-27" kern="0" dirty="0">
                <a:solidFill>
                  <a:srgbClr val="9C7442"/>
                </a:solidFill>
                <a:latin typeface="Inter Tight SemiBold" pitchFamily="34" charset="0"/>
                <a:ea typeface="Inter Tight SemiBold" pitchFamily="34" charset="-122"/>
                <a:cs typeface="Inter Tight SemiBold" pitchFamily="34" charset="-120"/>
              </a:rPr>
              <a:t>電化・インフラ</a:t>
            </a:r>
            <a:endParaRPr lang="en-US" sz="900" dirty="0"/>
          </a:p>
        </p:txBody>
      </p:sp>
      <p:sp>
        <p:nvSpPr>
          <p:cNvPr id="35" name="Text 33"/>
          <p:cNvSpPr/>
          <p:nvPr/>
        </p:nvSpPr>
        <p:spPr>
          <a:xfrm>
            <a:off x="5895375" y="6523506"/>
            <a:ext cx="585845" cy="114350"/>
          </a:xfrm>
          <a:prstGeom prst="rect">
            <a:avLst/>
          </a:prstGeom>
          <a:noFill/>
          <a:ln/>
        </p:spPr>
        <p:txBody>
          <a:bodyPr wrap="none" lIns="0" tIns="0" rIns="0" bIns="0" rtlCol="0" anchor="t"/>
          <a:lstStyle/>
          <a:p>
            <a:pPr algn="l" indent="0" marL="0">
              <a:lnSpc>
                <a:spcPts val="900"/>
              </a:lnSpc>
              <a:buNone/>
            </a:pPr>
            <a:r>
              <a:rPr lang="en-US" sz="720" spc="30" kern="0" dirty="0">
                <a:solidFill>
                  <a:srgbClr val="121519"/>
                </a:solidFill>
                <a:latin typeface="Noto Sans JP Medium" pitchFamily="34" charset="0"/>
                <a:ea typeface="Noto Sans JP Medium" pitchFamily="34" charset="-122"/>
                <a:cs typeface="Noto Sans JP Medium" pitchFamily="34" charset="-120"/>
              </a:rPr>
              <a:t>リサイクル</a:t>
            </a:r>
            <a:endParaRPr lang="en-US" sz="720" dirty="0"/>
          </a:p>
        </p:txBody>
      </p:sp>
      <p:sp>
        <p:nvSpPr>
          <p:cNvPr id="36" name="Text 34"/>
          <p:cNvSpPr/>
          <p:nvPr/>
        </p:nvSpPr>
        <p:spPr>
          <a:xfrm>
            <a:off x="5895375" y="6658693"/>
            <a:ext cx="237753"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回収</a:t>
            </a:r>
            <a:endParaRPr lang="en-US" sz="670" dirty="0"/>
          </a:p>
        </p:txBody>
      </p:sp>
      <p:sp>
        <p:nvSpPr>
          <p:cNvPr id="37" name="Text 35"/>
          <p:cNvSpPr/>
          <p:nvPr/>
        </p:nvSpPr>
        <p:spPr>
          <a:xfrm>
            <a:off x="5895375" y="6793181"/>
            <a:ext cx="666863" cy="108632"/>
          </a:xfrm>
          <a:prstGeom prst="rect">
            <a:avLst/>
          </a:prstGeom>
          <a:noFill/>
          <a:ln/>
        </p:spPr>
        <p:txBody>
          <a:bodyPr wrap="none" lIns="0" tIns="0" rIns="0" bIns="0" rtlCol="0" anchor="t"/>
          <a:lstStyle/>
          <a:p>
            <a:pPr algn="l" indent="0" marL="0">
              <a:lnSpc>
                <a:spcPts val="855"/>
              </a:lnSpc>
              <a:buNone/>
            </a:pPr>
            <a:r>
              <a:rPr lang="en-US" sz="900" spc="-27" kern="0" dirty="0">
                <a:solidFill>
                  <a:srgbClr val="9C7442"/>
                </a:solidFill>
                <a:latin typeface="Inter Tight SemiBold" pitchFamily="34" charset="0"/>
                <a:ea typeface="Inter Tight SemiBold" pitchFamily="34" charset="-122"/>
                <a:cs typeface="Inter Tight SemiBold" pitchFamily="34" charset="-120"/>
              </a:rPr>
              <a:t>再び供給へ</a:t>
            </a:r>
            <a:endParaRPr lang="en-US" sz="900" dirty="0"/>
          </a:p>
        </p:txBody>
      </p:sp>
      <p:sp>
        <p:nvSpPr>
          <p:cNvPr id="38" name="Text 36"/>
          <p:cNvSpPr/>
          <p:nvPr/>
        </p:nvSpPr>
        <p:spPr>
          <a:xfrm>
            <a:off x="622572" y="7527244"/>
            <a:ext cx="981107" cy="76233"/>
          </a:xfrm>
          <a:prstGeom prst="rect">
            <a:avLst/>
          </a:prstGeom>
          <a:noFill/>
          <a:ln/>
        </p:spPr>
        <p:txBody>
          <a:bodyPr wrap="none" lIns="0" tIns="0" rIns="0" bIns="0" rtlCol="0" anchor="t"/>
          <a:lstStyle/>
          <a:p>
            <a:pPr algn="l" indent="0" marL="0">
              <a:lnSpc>
                <a:spcPts val="600"/>
              </a:lnSpc>
              <a:buNone/>
            </a:pPr>
            <a:r>
              <a:rPr lang="en-US" sz="540" spc="120" kern="0" dirty="0">
                <a:solidFill>
                  <a:srgbClr val="9C7442"/>
                </a:solidFill>
                <a:latin typeface="Noto Sans JP Medium" pitchFamily="34" charset="0"/>
                <a:ea typeface="Noto Sans JP Medium" pitchFamily="34" charset="-122"/>
                <a:cs typeface="Noto Sans JP Medium" pitchFamily="34" charset="-120"/>
              </a:rPr>
              <a:t>スタートアップ｜選鉱</a:t>
            </a:r>
            <a:endParaRPr lang="en-US" sz="540" dirty="0"/>
          </a:p>
        </p:txBody>
      </p:sp>
      <p:sp>
        <p:nvSpPr>
          <p:cNvPr id="39" name="Text 37"/>
          <p:cNvSpPr/>
          <p:nvPr/>
        </p:nvSpPr>
        <p:spPr>
          <a:xfrm>
            <a:off x="622572" y="7641594"/>
            <a:ext cx="444337" cy="127055"/>
          </a:xfrm>
          <a:prstGeom prst="rect">
            <a:avLst/>
          </a:prstGeom>
          <a:noFill/>
          <a:ln/>
        </p:spPr>
        <p:txBody>
          <a:bodyPr wrap="none" lIns="0" tIns="0" rIns="0" bIns="0" rtlCol="0" anchor="t"/>
          <a:lstStyle/>
          <a:p>
            <a:pPr algn="l" indent="0" marL="0">
              <a:lnSpc>
                <a:spcPts val="1000"/>
              </a:lnSpc>
              <a:buNone/>
            </a:pPr>
            <a:r>
              <a:rPr lang="en-US" sz="860" spc="30" kern="0" dirty="0">
                <a:solidFill>
                  <a:srgbClr val="121519"/>
                </a:solidFill>
                <a:latin typeface="Inter SemiBold" pitchFamily="34" charset="0"/>
                <a:ea typeface="Inter SemiBold" pitchFamily="34" charset="-122"/>
                <a:cs typeface="Inter SemiBold" pitchFamily="34" charset="-120"/>
              </a:rPr>
              <a:t>CiDRA</a:t>
            </a:r>
            <a:endParaRPr lang="en-US" sz="860" dirty="0"/>
          </a:p>
        </p:txBody>
      </p:sp>
      <p:sp>
        <p:nvSpPr>
          <p:cNvPr id="40" name="Text 38"/>
          <p:cNvSpPr/>
          <p:nvPr/>
        </p:nvSpPr>
        <p:spPr>
          <a:xfrm>
            <a:off x="622572" y="7789487"/>
            <a:ext cx="1449088" cy="272407"/>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浮遊選鉱の高度化で、回収率・処</a:t>
            </a:r>
            <a:endParaRPr lang="en-US" sz="670" dirty="0"/>
          </a:p>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理能力を向上</a:t>
            </a:r>
            <a:endParaRPr lang="en-US" sz="670" dirty="0"/>
          </a:p>
        </p:txBody>
      </p:sp>
      <p:sp>
        <p:nvSpPr>
          <p:cNvPr id="41" name="Text 39"/>
          <p:cNvSpPr/>
          <p:nvPr/>
        </p:nvSpPr>
        <p:spPr>
          <a:xfrm>
            <a:off x="2274293" y="7527244"/>
            <a:ext cx="981107" cy="76233"/>
          </a:xfrm>
          <a:prstGeom prst="rect">
            <a:avLst/>
          </a:prstGeom>
          <a:noFill/>
          <a:ln/>
        </p:spPr>
        <p:txBody>
          <a:bodyPr wrap="none" lIns="0" tIns="0" rIns="0" bIns="0" rtlCol="0" anchor="t"/>
          <a:lstStyle/>
          <a:p>
            <a:pPr algn="l" indent="0" marL="0">
              <a:lnSpc>
                <a:spcPts val="600"/>
              </a:lnSpc>
              <a:buNone/>
            </a:pPr>
            <a:r>
              <a:rPr lang="en-US" sz="540" spc="120" kern="0" dirty="0">
                <a:solidFill>
                  <a:srgbClr val="9C7442"/>
                </a:solidFill>
                <a:latin typeface="Noto Sans JP Medium" pitchFamily="34" charset="0"/>
                <a:ea typeface="Noto Sans JP Medium" pitchFamily="34" charset="-122"/>
                <a:cs typeface="Noto Sans JP Medium" pitchFamily="34" charset="-120"/>
              </a:rPr>
              <a:t>スタートアップ｜浸出</a:t>
            </a:r>
            <a:endParaRPr lang="en-US" sz="540" dirty="0"/>
          </a:p>
        </p:txBody>
      </p:sp>
      <p:sp>
        <p:nvSpPr>
          <p:cNvPr id="42" name="Text 40"/>
          <p:cNvSpPr/>
          <p:nvPr/>
        </p:nvSpPr>
        <p:spPr>
          <a:xfrm>
            <a:off x="2274293" y="7641594"/>
            <a:ext cx="327942" cy="127055"/>
          </a:xfrm>
          <a:prstGeom prst="rect">
            <a:avLst/>
          </a:prstGeom>
          <a:noFill/>
          <a:ln/>
        </p:spPr>
        <p:txBody>
          <a:bodyPr wrap="none" lIns="0" tIns="0" rIns="0" bIns="0" rtlCol="0" anchor="t"/>
          <a:lstStyle/>
          <a:p>
            <a:pPr algn="l" indent="0" marL="0">
              <a:lnSpc>
                <a:spcPts val="1000"/>
              </a:lnSpc>
              <a:buNone/>
            </a:pPr>
            <a:r>
              <a:rPr lang="en-US" sz="860" spc="30" kern="0" dirty="0">
                <a:solidFill>
                  <a:srgbClr val="121519"/>
                </a:solidFill>
                <a:latin typeface="Inter SemiBold" pitchFamily="34" charset="0"/>
                <a:ea typeface="Inter SemiBold" pitchFamily="34" charset="-122"/>
                <a:cs typeface="Inter SemiBold" pitchFamily="34" charset="-120"/>
              </a:rPr>
              <a:t>Jetti</a:t>
            </a:r>
            <a:endParaRPr lang="en-US" sz="860" dirty="0"/>
          </a:p>
        </p:txBody>
      </p:sp>
      <p:sp>
        <p:nvSpPr>
          <p:cNvPr id="43" name="Text 41"/>
          <p:cNvSpPr/>
          <p:nvPr/>
        </p:nvSpPr>
        <p:spPr>
          <a:xfrm>
            <a:off x="2274293" y="7789487"/>
            <a:ext cx="1449088" cy="272407"/>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新たな触媒で、硫化鉱から銅を浸</a:t>
            </a:r>
            <a:endParaRPr lang="en-US" sz="670" dirty="0"/>
          </a:p>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出・回収</a:t>
            </a:r>
            <a:endParaRPr lang="en-US" sz="670" dirty="0"/>
          </a:p>
        </p:txBody>
      </p:sp>
      <p:sp>
        <p:nvSpPr>
          <p:cNvPr id="44" name="Text 42"/>
          <p:cNvSpPr/>
          <p:nvPr/>
        </p:nvSpPr>
        <p:spPr>
          <a:xfrm>
            <a:off x="3926015" y="7527244"/>
            <a:ext cx="1347324" cy="76233"/>
          </a:xfrm>
          <a:prstGeom prst="rect">
            <a:avLst/>
          </a:prstGeom>
          <a:noFill/>
          <a:ln/>
        </p:spPr>
        <p:txBody>
          <a:bodyPr wrap="none" lIns="0" tIns="0" rIns="0" bIns="0" rtlCol="0" anchor="t"/>
          <a:lstStyle/>
          <a:p>
            <a:pPr algn="l" indent="0" marL="0">
              <a:lnSpc>
                <a:spcPts val="600"/>
              </a:lnSpc>
              <a:buNone/>
            </a:pPr>
            <a:r>
              <a:rPr lang="en-US" sz="540" spc="120" kern="0" dirty="0">
                <a:solidFill>
                  <a:srgbClr val="9C7442"/>
                </a:solidFill>
                <a:latin typeface="Noto Sans JP Medium" pitchFamily="34" charset="0"/>
                <a:ea typeface="Noto Sans JP Medium" pitchFamily="34" charset="-122"/>
                <a:cs typeface="Noto Sans JP Medium" pitchFamily="34" charset="-120"/>
              </a:rPr>
              <a:t>トレーディング｜100%子会社</a:t>
            </a:r>
            <a:endParaRPr lang="en-US" sz="540" dirty="0"/>
          </a:p>
        </p:txBody>
      </p:sp>
      <p:sp>
        <p:nvSpPr>
          <p:cNvPr id="45" name="Text 43"/>
          <p:cNvSpPr/>
          <p:nvPr/>
        </p:nvSpPr>
        <p:spPr>
          <a:xfrm>
            <a:off x="3926015" y="7641594"/>
            <a:ext cx="932190" cy="127055"/>
          </a:xfrm>
          <a:prstGeom prst="rect">
            <a:avLst/>
          </a:prstGeom>
          <a:noFill/>
          <a:ln/>
        </p:spPr>
        <p:txBody>
          <a:bodyPr wrap="none" lIns="0" tIns="0" rIns="0" bIns="0" rtlCol="0" anchor="t"/>
          <a:lstStyle/>
          <a:p>
            <a:pPr algn="l" indent="0" marL="0">
              <a:lnSpc>
                <a:spcPts val="1000"/>
              </a:lnSpc>
              <a:buNone/>
            </a:pPr>
            <a:r>
              <a:rPr lang="en-US" sz="860" spc="30" kern="0" dirty="0">
                <a:solidFill>
                  <a:srgbClr val="121519"/>
                </a:solidFill>
                <a:latin typeface="Inter SemiBold" pitchFamily="34" charset="0"/>
                <a:ea typeface="Inter SemiBold" pitchFamily="34" charset="-122"/>
                <a:cs typeface="Inter SemiBold" pitchFamily="34" charset="-120"/>
              </a:rPr>
              <a:t>Triland Metals</a:t>
            </a:r>
            <a:endParaRPr lang="en-US" sz="860" dirty="0"/>
          </a:p>
        </p:txBody>
      </p:sp>
      <p:sp>
        <p:nvSpPr>
          <p:cNvPr id="46" name="Text 44"/>
          <p:cNvSpPr/>
          <p:nvPr/>
        </p:nvSpPr>
        <p:spPr>
          <a:xfrm>
            <a:off x="3926015" y="7789487"/>
            <a:ext cx="1451272" cy="272407"/>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LME・CMEでのブローカー・ヘッ</a:t>
            </a:r>
            <a:endParaRPr lang="en-US" sz="670" dirty="0"/>
          </a:p>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ジ機能</a:t>
            </a:r>
            <a:endParaRPr lang="en-US" sz="670" dirty="0"/>
          </a:p>
        </p:txBody>
      </p:sp>
      <p:sp>
        <p:nvSpPr>
          <p:cNvPr id="47" name="Text 45"/>
          <p:cNvSpPr/>
          <p:nvPr/>
        </p:nvSpPr>
        <p:spPr>
          <a:xfrm>
            <a:off x="5577736" y="7527244"/>
            <a:ext cx="795050" cy="76233"/>
          </a:xfrm>
          <a:prstGeom prst="rect">
            <a:avLst/>
          </a:prstGeom>
          <a:noFill/>
          <a:ln/>
        </p:spPr>
        <p:txBody>
          <a:bodyPr wrap="none" lIns="0" tIns="0" rIns="0" bIns="0" rtlCol="0" anchor="t"/>
          <a:lstStyle/>
          <a:p>
            <a:pPr algn="l" indent="0" marL="0">
              <a:lnSpc>
                <a:spcPts val="600"/>
              </a:lnSpc>
              <a:buNone/>
            </a:pPr>
            <a:r>
              <a:rPr lang="en-US" sz="540" spc="120" kern="0" dirty="0">
                <a:solidFill>
                  <a:srgbClr val="9C7442"/>
                </a:solidFill>
                <a:latin typeface="Noto Sans JP Medium" pitchFamily="34" charset="0"/>
                <a:ea typeface="Noto Sans JP Medium" pitchFamily="34" charset="-122"/>
                <a:cs typeface="Noto Sans JP Medium" pitchFamily="34" charset="-120"/>
              </a:rPr>
              <a:t>リサイクル｜回収</a:t>
            </a:r>
            <a:endParaRPr lang="en-US" sz="540" dirty="0"/>
          </a:p>
        </p:txBody>
      </p:sp>
      <p:sp>
        <p:nvSpPr>
          <p:cNvPr id="48" name="Text 46"/>
          <p:cNvSpPr/>
          <p:nvPr/>
        </p:nvSpPr>
        <p:spPr>
          <a:xfrm>
            <a:off x="5577736" y="7641594"/>
            <a:ext cx="651795" cy="127055"/>
          </a:xfrm>
          <a:prstGeom prst="rect">
            <a:avLst/>
          </a:prstGeom>
          <a:noFill/>
          <a:ln/>
        </p:spPr>
        <p:txBody>
          <a:bodyPr wrap="none" lIns="0" tIns="0" rIns="0" bIns="0" rtlCol="0" anchor="t"/>
          <a:lstStyle/>
          <a:p>
            <a:pPr algn="l" indent="0" marL="0">
              <a:lnSpc>
                <a:spcPts val="1000"/>
              </a:lnSpc>
              <a:buNone/>
            </a:pPr>
            <a:r>
              <a:rPr lang="en-US" sz="860" spc="30" kern="0" dirty="0">
                <a:solidFill>
                  <a:srgbClr val="121519"/>
                </a:solidFill>
                <a:latin typeface="Inter SemiBold" pitchFamily="34" charset="0"/>
                <a:ea typeface="Inter SemiBold" pitchFamily="34" charset="-122"/>
                <a:cs typeface="Inter SemiBold" pitchFamily="34" charset="-120"/>
              </a:rPr>
              <a:t>DESCycle</a:t>
            </a:r>
            <a:endParaRPr lang="en-US" sz="860" dirty="0"/>
          </a:p>
        </p:txBody>
      </p:sp>
      <p:sp>
        <p:nvSpPr>
          <p:cNvPr id="49" name="Text 47"/>
          <p:cNvSpPr/>
          <p:nvPr/>
        </p:nvSpPr>
        <p:spPr>
          <a:xfrm>
            <a:off x="5577736" y="7789487"/>
            <a:ext cx="1452800" cy="272407"/>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電子スクラップから銅・貴金属を</a:t>
            </a:r>
            <a:endParaRPr lang="en-US" sz="670" dirty="0"/>
          </a:p>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回収</a:t>
            </a:r>
            <a:endParaRPr lang="en-US" sz="670" dirty="0"/>
          </a:p>
        </p:txBody>
      </p:sp>
      <p:sp>
        <p:nvSpPr>
          <p:cNvPr id="50" name="Text 48"/>
          <p:cNvSpPr/>
          <p:nvPr/>
        </p:nvSpPr>
        <p:spPr>
          <a:xfrm>
            <a:off x="508222" y="8484957"/>
            <a:ext cx="3544848" cy="723962"/>
          </a:xfrm>
          <a:prstGeom prst="rect">
            <a:avLst/>
          </a:prstGeom>
          <a:noFill/>
          <a:ln/>
        </p:spPr>
        <p:txBody>
          <a:bodyPr wrap="none" lIns="0" tIns="0" rIns="0" bIns="0" rtlCol="0" anchor="t"/>
          <a:lstStyle/>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新技術の把握は、既存事業の高度化と将来価値の創出に還元されま</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す。業界のボトルネック——鉱石品位の低下、回収率、リサイクル——</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に挑むスタートアップへの投資を通じ、山を持つだけでも、売るだけ</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でもない、川上から川下までのフットプリントを広げています。</a:t>
            </a:r>
            <a:endParaRPr lang="en-US" sz="770" dirty="0"/>
          </a:p>
        </p:txBody>
      </p:sp>
      <p:sp>
        <p:nvSpPr>
          <p:cNvPr id="51" name="Text 49"/>
          <p:cNvSpPr/>
          <p:nvPr/>
        </p:nvSpPr>
        <p:spPr>
          <a:xfrm>
            <a:off x="4065776" y="9661776"/>
            <a:ext cx="352619"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FFFFFF"/>
                </a:solidFill>
                <a:latin typeface="Noto Sans JP Medium" pitchFamily="34" charset="0"/>
                <a:ea typeface="Noto Sans JP Medium" pitchFamily="34" charset="-122"/>
                <a:cs typeface="Noto Sans JP Medium" pitchFamily="34" charset="-120"/>
              </a:rPr>
              <a:t>銅鉱山</a:t>
            </a:r>
            <a:endParaRPr lang="en-US" sz="580" dirty="0"/>
          </a:p>
        </p:txBody>
      </p:sp>
      <p:sp>
        <p:nvSpPr>
          <p:cNvPr id="52" name="Text 50"/>
          <p:cNvSpPr/>
          <p:nvPr/>
        </p:nvSpPr>
        <p:spPr>
          <a:xfrm>
            <a:off x="4065776" y="9776126"/>
            <a:ext cx="239063" cy="88939"/>
          </a:xfrm>
          <a:prstGeom prst="rect">
            <a:avLst/>
          </a:prstGeom>
          <a:noFill/>
          <a:ln/>
        </p:spPr>
        <p:txBody>
          <a:bodyPr wrap="none" lIns="0" tIns="0" rIns="0" bIns="0" rtlCol="0" anchor="t"/>
          <a:lstStyle/>
          <a:p>
            <a:pPr algn="l" indent="0" marL="0">
              <a:lnSpc>
                <a:spcPts val="700"/>
              </a:lnSpc>
              <a:buNone/>
            </a:pPr>
            <a:r>
              <a:rPr lang="en-US" sz="580" spc="80" kern="0" dirty="0">
                <a:solidFill>
                  <a:srgbClr val="FFFFFF"/>
                </a:solidFill>
                <a:latin typeface="Noto Sans JP" pitchFamily="34" charset="0"/>
                <a:ea typeface="Noto Sans JP" pitchFamily="34" charset="-122"/>
                <a:cs typeface="Noto Sans JP" pitchFamily="34" charset="-120"/>
              </a:rPr>
              <a:t>チリ</a:t>
            </a:r>
            <a:endParaRPr lang="en-US" sz="580" dirty="0"/>
          </a:p>
        </p:txBody>
      </p:sp>
      <p:sp>
        <p:nvSpPr>
          <p:cNvPr id="53" name="Text 51"/>
          <p:cNvSpPr/>
          <p:nvPr/>
        </p:nvSpPr>
        <p:spPr>
          <a:xfrm>
            <a:off x="8068024" y="508222"/>
            <a:ext cx="373583"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Noto Sans JP Medium" pitchFamily="34" charset="0"/>
                <a:ea typeface="Noto Sans JP Medium" pitchFamily="34" charset="-122"/>
                <a:cs typeface="Noto Sans JP Medium" pitchFamily="34" charset="-120"/>
              </a:rPr>
              <a:t>第3章</a:t>
            </a:r>
            <a:endParaRPr lang="en-US" sz="660" dirty="0"/>
          </a:p>
        </p:txBody>
      </p:sp>
      <p:sp>
        <p:nvSpPr>
          <p:cNvPr id="54" name="Text 52"/>
          <p:cNvSpPr/>
          <p:nvPr/>
        </p:nvSpPr>
        <p:spPr>
          <a:xfrm>
            <a:off x="8068024" y="647983"/>
            <a:ext cx="855322"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選ばれ続ける理由</a:t>
            </a:r>
            <a:endParaRPr lang="en-US" sz="660" dirty="0"/>
          </a:p>
        </p:txBody>
      </p:sp>
      <p:sp>
        <p:nvSpPr>
          <p:cNvPr id="55" name="Text 53"/>
          <p:cNvSpPr/>
          <p:nvPr/>
        </p:nvSpPr>
        <p:spPr>
          <a:xfrm>
            <a:off x="8068024" y="884814"/>
            <a:ext cx="3837255" cy="466548"/>
          </a:xfrm>
          <a:prstGeom prst="rect">
            <a:avLst/>
          </a:prstGeom>
          <a:noFill/>
          <a:ln/>
        </p:spPr>
        <p:txBody>
          <a:bodyPr wrap="none" lIns="0" tIns="0" rIns="0" bIns="0" rtlCol="0" anchor="t"/>
          <a:lstStyle/>
          <a:p>
            <a:pPr algn="l" indent="0" marL="0">
              <a:lnSpc>
                <a:spcPts val="3672"/>
              </a:lnSpc>
              <a:buNone/>
            </a:pPr>
            <a:r>
              <a:rPr lang="en-US" sz="3600" spc="-90" kern="0" dirty="0">
                <a:solidFill>
                  <a:srgbClr val="121519"/>
                </a:solidFill>
                <a:latin typeface="Inter Tight SemiBold" pitchFamily="34" charset="0"/>
                <a:ea typeface="Inter Tight SemiBold" pitchFamily="34" charset="-122"/>
                <a:cs typeface="Inter Tight SemiBold" pitchFamily="34" charset="-120"/>
              </a:rPr>
              <a:t>Partner of choice.</a:t>
            </a:r>
            <a:endParaRPr lang="en-US" sz="3600" dirty="0"/>
          </a:p>
        </p:txBody>
      </p:sp>
      <p:sp>
        <p:nvSpPr>
          <p:cNvPr id="56" name="Text 54"/>
          <p:cNvSpPr/>
          <p:nvPr/>
        </p:nvSpPr>
        <p:spPr>
          <a:xfrm>
            <a:off x="8068024" y="1627501"/>
            <a:ext cx="3721297" cy="219171"/>
          </a:xfrm>
          <a:prstGeom prst="rect">
            <a:avLst/>
          </a:prstGeom>
          <a:noFill/>
          <a:ln/>
        </p:spPr>
        <p:txBody>
          <a:bodyPr wrap="none" lIns="0" tIns="0" rIns="0" bIns="0" rtlCol="0" anchor="t"/>
          <a:lstStyle/>
          <a:p>
            <a:pPr algn="l" indent="0" marL="0">
              <a:lnSpc>
                <a:spcPts val="1725"/>
              </a:lnSpc>
              <a:buNone/>
            </a:pPr>
            <a:r>
              <a:rPr lang="en-US" sz="1150" spc="50" kern="0" dirty="0">
                <a:solidFill>
                  <a:srgbClr val="121519"/>
                </a:solidFill>
                <a:latin typeface="Noto Sans JP Medium" pitchFamily="34" charset="0"/>
                <a:ea typeface="Noto Sans JP Medium" pitchFamily="34" charset="-122"/>
                <a:cs typeface="Noto Sans JP Medium" pitchFamily="34" charset="-120"/>
              </a:rPr>
              <a:t>メジャーとのパートナーシップと、世界の販売網</a:t>
            </a:r>
            <a:endParaRPr lang="en-US" sz="1150" dirty="0"/>
          </a:p>
        </p:txBody>
      </p:sp>
      <p:sp>
        <p:nvSpPr>
          <p:cNvPr id="57" name="Text 55"/>
          <p:cNvSpPr/>
          <p:nvPr/>
        </p:nvSpPr>
        <p:spPr>
          <a:xfrm>
            <a:off x="8068024" y="1868939"/>
            <a:ext cx="7248516" cy="542972"/>
          </a:xfrm>
          <a:prstGeom prst="rect">
            <a:avLst/>
          </a:prstGeom>
          <a:noFill/>
          <a:ln/>
        </p:spPr>
        <p:txBody>
          <a:bodyPr wrap="none" lIns="0" tIns="0" rIns="0" bIns="0" rtlCol="0" anchor="t"/>
          <a:lstStyle/>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資源業界では、良い案件があっても単独では規模が大きすぎることが少なくありません。そのとき「三菱に声をかけよう」と思われる存在である</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こと。BHP、Rio Tinto、Anglo Americanをはじめとする業界最大手とJVを組み、単なる共同出資者に留まらず、人材派遣・ガバナンス参画・総</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合力で事業価値の最大化に貢献してきました。</a:t>
            </a:r>
            <a:endParaRPr lang="en-US" sz="770" dirty="0"/>
          </a:p>
        </p:txBody>
      </p:sp>
      <p:sp>
        <p:nvSpPr>
          <p:cNvPr id="58" name="Text 56"/>
          <p:cNvSpPr/>
          <p:nvPr/>
        </p:nvSpPr>
        <p:spPr>
          <a:xfrm>
            <a:off x="8068024" y="2810706"/>
            <a:ext cx="317678" cy="241405"/>
          </a:xfrm>
          <a:prstGeom prst="rect">
            <a:avLst/>
          </a:prstGeom>
          <a:noFill/>
          <a:ln/>
        </p:spPr>
        <p:txBody>
          <a:bodyPr wrap="none" lIns="0" tIns="0" rIns="0" bIns="0" rtlCol="0" anchor="t"/>
          <a:lstStyle/>
          <a:p>
            <a:pPr algn="l" indent="0" marL="0">
              <a:lnSpc>
                <a:spcPts val="1900"/>
              </a:lnSpc>
              <a:buNone/>
            </a:pPr>
            <a:r>
              <a:rPr lang="en-US" sz="2000" spc="-60" kern="0" dirty="0">
                <a:solidFill>
                  <a:srgbClr val="9C7442"/>
                </a:solidFill>
                <a:latin typeface="Inter Tight SemiBold" pitchFamily="34" charset="0"/>
                <a:ea typeface="Inter Tight SemiBold" pitchFamily="34" charset="-122"/>
                <a:cs typeface="Inter Tight SemiBold" pitchFamily="34" charset="-120"/>
              </a:rPr>
              <a:t>01</a:t>
            </a:r>
            <a:endParaRPr lang="en-US" sz="2000" dirty="0"/>
          </a:p>
        </p:txBody>
      </p:sp>
      <p:sp>
        <p:nvSpPr>
          <p:cNvPr id="59" name="Text 57"/>
          <p:cNvSpPr/>
          <p:nvPr/>
        </p:nvSpPr>
        <p:spPr>
          <a:xfrm>
            <a:off x="8474602" y="2964570"/>
            <a:ext cx="1809628" cy="149671"/>
          </a:xfrm>
          <a:prstGeom prst="rect">
            <a:avLst/>
          </a:prstGeom>
          <a:noFill/>
          <a:ln/>
        </p:spPr>
        <p:txBody>
          <a:bodyPr wrap="none" lIns="0" tIns="0" rIns="0" bIns="0" rtlCol="0" anchor="t"/>
          <a:lstStyle/>
          <a:p>
            <a:pPr algn="l" indent="0" marL="0">
              <a:lnSpc>
                <a:spcPts val="1178"/>
              </a:lnSpc>
              <a:buNone/>
            </a:pPr>
            <a:r>
              <a:rPr lang="en-US" sz="760" spc="30" kern="0" dirty="0">
                <a:solidFill>
                  <a:srgbClr val="121519"/>
                </a:solidFill>
                <a:latin typeface="Noto Sans JP Medium" pitchFamily="34" charset="0"/>
                <a:ea typeface="Noto Sans JP Medium" pitchFamily="34" charset="-122"/>
                <a:cs typeface="Noto Sans JP Medium" pitchFamily="34" charset="-120"/>
              </a:rPr>
              <a:t>資源メジャーとの企業文化的親和性</a:t>
            </a:r>
            <a:endParaRPr lang="en-US" sz="760" dirty="0"/>
          </a:p>
        </p:txBody>
      </p:sp>
      <p:sp>
        <p:nvSpPr>
          <p:cNvPr id="60" name="Text 58"/>
          <p:cNvSpPr/>
          <p:nvPr/>
        </p:nvSpPr>
        <p:spPr>
          <a:xfrm>
            <a:off x="8474602" y="3142829"/>
            <a:ext cx="2566958"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短期の成果を求める投資家とは一線を画す、中長期の視座。</a:t>
            </a:r>
            <a:endParaRPr lang="en-US" sz="670" dirty="0"/>
          </a:p>
        </p:txBody>
      </p:sp>
      <p:sp>
        <p:nvSpPr>
          <p:cNvPr id="61" name="Text 59"/>
          <p:cNvSpPr/>
          <p:nvPr/>
        </p:nvSpPr>
        <p:spPr>
          <a:xfrm>
            <a:off x="11396878" y="2810706"/>
            <a:ext cx="373583" cy="241405"/>
          </a:xfrm>
          <a:prstGeom prst="rect">
            <a:avLst/>
          </a:prstGeom>
          <a:noFill/>
          <a:ln/>
        </p:spPr>
        <p:txBody>
          <a:bodyPr wrap="none" lIns="0" tIns="0" rIns="0" bIns="0" rtlCol="0" anchor="t"/>
          <a:lstStyle/>
          <a:p>
            <a:pPr algn="l" indent="0" marL="0">
              <a:lnSpc>
                <a:spcPts val="1900"/>
              </a:lnSpc>
              <a:buNone/>
            </a:pPr>
            <a:r>
              <a:rPr lang="en-US" sz="2000" spc="-60" kern="0" dirty="0">
                <a:solidFill>
                  <a:srgbClr val="9C7442"/>
                </a:solidFill>
                <a:latin typeface="Inter Tight SemiBold" pitchFamily="34" charset="0"/>
                <a:ea typeface="Inter Tight SemiBold" pitchFamily="34" charset="-122"/>
                <a:cs typeface="Inter Tight SemiBold" pitchFamily="34" charset="-120"/>
              </a:rPr>
              <a:t>02</a:t>
            </a:r>
            <a:endParaRPr lang="en-US" sz="2000" dirty="0"/>
          </a:p>
        </p:txBody>
      </p:sp>
      <p:sp>
        <p:nvSpPr>
          <p:cNvPr id="62" name="Text 60"/>
          <p:cNvSpPr/>
          <p:nvPr/>
        </p:nvSpPr>
        <p:spPr>
          <a:xfrm>
            <a:off x="11803456" y="2964570"/>
            <a:ext cx="1945676" cy="149671"/>
          </a:xfrm>
          <a:prstGeom prst="rect">
            <a:avLst/>
          </a:prstGeom>
          <a:noFill/>
          <a:ln/>
        </p:spPr>
        <p:txBody>
          <a:bodyPr wrap="none" lIns="0" tIns="0" rIns="0" bIns="0" rtlCol="0" anchor="t"/>
          <a:lstStyle/>
          <a:p>
            <a:pPr algn="l" indent="0" marL="0">
              <a:lnSpc>
                <a:spcPts val="1178"/>
              </a:lnSpc>
              <a:buNone/>
            </a:pPr>
            <a:r>
              <a:rPr lang="en-US" sz="760" spc="30" kern="0" dirty="0">
                <a:solidFill>
                  <a:srgbClr val="121519"/>
                </a:solidFill>
                <a:latin typeface="Noto Sans JP Medium" pitchFamily="34" charset="0"/>
                <a:ea typeface="Noto Sans JP Medium" pitchFamily="34" charset="-122"/>
                <a:cs typeface="Noto Sans JP Medium" pitchFamily="34" charset="-120"/>
              </a:rPr>
              <a:t>資源投資経験に裏打ちされたJV経営力</a:t>
            </a:r>
            <a:endParaRPr lang="en-US" sz="760" dirty="0"/>
          </a:p>
        </p:txBody>
      </p:sp>
      <p:sp>
        <p:nvSpPr>
          <p:cNvPr id="63" name="Text 61"/>
          <p:cNvSpPr/>
          <p:nvPr/>
        </p:nvSpPr>
        <p:spPr>
          <a:xfrm>
            <a:off x="11803456" y="3142829"/>
            <a:ext cx="1636018"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実質的な経営貢献と、高い目利き力。</a:t>
            </a:r>
            <a:endParaRPr lang="en-US" sz="670" dirty="0"/>
          </a:p>
        </p:txBody>
      </p:sp>
      <p:sp>
        <p:nvSpPr>
          <p:cNvPr id="64" name="Text 62"/>
          <p:cNvSpPr/>
          <p:nvPr/>
        </p:nvSpPr>
        <p:spPr>
          <a:xfrm>
            <a:off x="8068024" y="3750916"/>
            <a:ext cx="381881" cy="241405"/>
          </a:xfrm>
          <a:prstGeom prst="rect">
            <a:avLst/>
          </a:prstGeom>
          <a:noFill/>
          <a:ln/>
        </p:spPr>
        <p:txBody>
          <a:bodyPr wrap="none" lIns="0" tIns="0" rIns="0" bIns="0" rtlCol="0" anchor="t"/>
          <a:lstStyle/>
          <a:p>
            <a:pPr algn="l" indent="0" marL="0">
              <a:lnSpc>
                <a:spcPts val="1900"/>
              </a:lnSpc>
              <a:buNone/>
            </a:pPr>
            <a:r>
              <a:rPr lang="en-US" sz="2000" spc="-60" kern="0" dirty="0">
                <a:solidFill>
                  <a:srgbClr val="9C7442"/>
                </a:solidFill>
                <a:latin typeface="Inter Tight SemiBold" pitchFamily="34" charset="0"/>
                <a:ea typeface="Inter Tight SemiBold" pitchFamily="34" charset="-122"/>
                <a:cs typeface="Inter Tight SemiBold" pitchFamily="34" charset="-120"/>
              </a:rPr>
              <a:t>03</a:t>
            </a:r>
            <a:endParaRPr lang="en-US" sz="2000" dirty="0"/>
          </a:p>
        </p:txBody>
      </p:sp>
      <p:sp>
        <p:nvSpPr>
          <p:cNvPr id="65" name="Text 63"/>
          <p:cNvSpPr/>
          <p:nvPr/>
        </p:nvSpPr>
        <p:spPr>
          <a:xfrm>
            <a:off x="8474602" y="3904781"/>
            <a:ext cx="2367798" cy="149671"/>
          </a:xfrm>
          <a:prstGeom prst="rect">
            <a:avLst/>
          </a:prstGeom>
          <a:noFill/>
          <a:ln/>
        </p:spPr>
        <p:txBody>
          <a:bodyPr wrap="none" lIns="0" tIns="0" rIns="0" bIns="0" rtlCol="0" anchor="t"/>
          <a:lstStyle/>
          <a:p>
            <a:pPr algn="l" indent="0" marL="0">
              <a:lnSpc>
                <a:spcPts val="1178"/>
              </a:lnSpc>
              <a:buNone/>
            </a:pPr>
            <a:r>
              <a:rPr lang="en-US" sz="760" spc="30" kern="0" dirty="0">
                <a:solidFill>
                  <a:srgbClr val="121519"/>
                </a:solidFill>
                <a:latin typeface="Noto Sans JP Medium" pitchFamily="34" charset="0"/>
                <a:ea typeface="Noto Sans JP Medium" pitchFamily="34" charset="-122"/>
                <a:cs typeface="Noto Sans JP Medium" pitchFamily="34" charset="-120"/>
              </a:rPr>
              <a:t>事業ポートフォリオを活かした健全な財務基盤</a:t>
            </a:r>
            <a:endParaRPr lang="en-US" sz="760" dirty="0"/>
          </a:p>
        </p:txBody>
      </p:sp>
      <p:sp>
        <p:nvSpPr>
          <p:cNvPr id="66" name="Text 64"/>
          <p:cNvSpPr/>
          <p:nvPr/>
        </p:nvSpPr>
        <p:spPr>
          <a:xfrm>
            <a:off x="8474602" y="4083040"/>
            <a:ext cx="2107057"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リスクを分かち合い、制度金融の活用も後押し。</a:t>
            </a:r>
            <a:endParaRPr lang="en-US" sz="670" dirty="0"/>
          </a:p>
        </p:txBody>
      </p:sp>
      <p:sp>
        <p:nvSpPr>
          <p:cNvPr id="67" name="Text 65"/>
          <p:cNvSpPr/>
          <p:nvPr/>
        </p:nvSpPr>
        <p:spPr>
          <a:xfrm>
            <a:off x="11396878" y="3750916"/>
            <a:ext cx="385812" cy="241405"/>
          </a:xfrm>
          <a:prstGeom prst="rect">
            <a:avLst/>
          </a:prstGeom>
          <a:noFill/>
          <a:ln/>
        </p:spPr>
        <p:txBody>
          <a:bodyPr wrap="none" lIns="0" tIns="0" rIns="0" bIns="0" rtlCol="0" anchor="t"/>
          <a:lstStyle/>
          <a:p>
            <a:pPr algn="l" indent="0" marL="0">
              <a:lnSpc>
                <a:spcPts val="1900"/>
              </a:lnSpc>
              <a:buNone/>
            </a:pPr>
            <a:r>
              <a:rPr lang="en-US" sz="2000" spc="-60" kern="0" dirty="0">
                <a:solidFill>
                  <a:srgbClr val="9C7442"/>
                </a:solidFill>
                <a:latin typeface="Inter Tight SemiBold" pitchFamily="34" charset="0"/>
                <a:ea typeface="Inter Tight SemiBold" pitchFamily="34" charset="-122"/>
                <a:cs typeface="Inter Tight SemiBold" pitchFamily="34" charset="-120"/>
              </a:rPr>
              <a:t>04</a:t>
            </a:r>
            <a:endParaRPr lang="en-US" sz="2000" dirty="0"/>
          </a:p>
        </p:txBody>
      </p:sp>
      <p:sp>
        <p:nvSpPr>
          <p:cNvPr id="68" name="Text 66"/>
          <p:cNvSpPr/>
          <p:nvPr/>
        </p:nvSpPr>
        <p:spPr>
          <a:xfrm>
            <a:off x="11803456" y="3904781"/>
            <a:ext cx="2252059" cy="149671"/>
          </a:xfrm>
          <a:prstGeom prst="rect">
            <a:avLst/>
          </a:prstGeom>
          <a:noFill/>
          <a:ln/>
        </p:spPr>
        <p:txBody>
          <a:bodyPr wrap="none" lIns="0" tIns="0" rIns="0" bIns="0" rtlCol="0" anchor="t"/>
          <a:lstStyle/>
          <a:p>
            <a:pPr algn="l" indent="0" marL="0">
              <a:lnSpc>
                <a:spcPts val="1178"/>
              </a:lnSpc>
              <a:buNone/>
            </a:pPr>
            <a:r>
              <a:rPr lang="en-US" sz="760" spc="30" kern="0" dirty="0">
                <a:solidFill>
                  <a:srgbClr val="121519"/>
                </a:solidFill>
                <a:latin typeface="Noto Sans JP Medium" pitchFamily="34" charset="0"/>
                <a:ea typeface="Noto Sans JP Medium" pitchFamily="34" charset="-122"/>
                <a:cs typeface="Noto Sans JP Medium" pitchFamily="34" charset="-120"/>
              </a:rPr>
              <a:t>マクロ環境とバリューチェーンへの深い知見</a:t>
            </a:r>
            <a:endParaRPr lang="en-US" sz="760" dirty="0"/>
          </a:p>
        </p:txBody>
      </p:sp>
      <p:sp>
        <p:nvSpPr>
          <p:cNvPr id="69" name="Text 67"/>
          <p:cNvSpPr/>
          <p:nvPr/>
        </p:nvSpPr>
        <p:spPr>
          <a:xfrm>
            <a:off x="11803456" y="4083040"/>
            <a:ext cx="2382866"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国・地域の拠点と、幅広い産業との接点から得る知見。</a:t>
            </a:r>
            <a:endParaRPr lang="en-US" sz="670" dirty="0"/>
          </a:p>
        </p:txBody>
      </p:sp>
      <p:sp>
        <p:nvSpPr>
          <p:cNvPr id="70" name="Text 68"/>
          <p:cNvSpPr/>
          <p:nvPr/>
        </p:nvSpPr>
        <p:spPr>
          <a:xfrm>
            <a:off x="8068024" y="4900769"/>
            <a:ext cx="406994"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Noto Sans JP Medium" pitchFamily="34" charset="0"/>
                <a:ea typeface="Noto Sans JP Medium" pitchFamily="34" charset="-122"/>
                <a:cs typeface="Noto Sans JP Medium" pitchFamily="34" charset="-120"/>
              </a:rPr>
              <a:t>販売網</a:t>
            </a:r>
            <a:endParaRPr lang="en-US" sz="660" dirty="0"/>
          </a:p>
        </p:txBody>
      </p:sp>
      <p:sp>
        <p:nvSpPr>
          <p:cNvPr id="71" name="Text 69"/>
          <p:cNvSpPr/>
          <p:nvPr/>
        </p:nvSpPr>
        <p:spPr>
          <a:xfrm>
            <a:off x="9440223" y="4900769"/>
            <a:ext cx="2037176"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RtM（Resource to Market）｜世界10拠点</a:t>
            </a:r>
            <a:endParaRPr lang="en-US" sz="660" dirty="0"/>
          </a:p>
        </p:txBody>
      </p:sp>
      <p:sp>
        <p:nvSpPr>
          <p:cNvPr id="72" name="Text 70"/>
          <p:cNvSpPr/>
          <p:nvPr/>
        </p:nvSpPr>
        <p:spPr>
          <a:xfrm>
            <a:off x="8068024" y="6951119"/>
            <a:ext cx="3920019"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シンガポール（統括）・日本・インド・中国・米国・英国・UAE・インドネシア・タイ・チリ</a:t>
            </a:r>
            <a:endParaRPr lang="en-US" sz="670" dirty="0"/>
          </a:p>
        </p:txBody>
      </p:sp>
      <p:sp>
        <p:nvSpPr>
          <p:cNvPr id="73" name="Text 71"/>
          <p:cNvSpPr/>
          <p:nvPr/>
        </p:nvSpPr>
        <p:spPr>
          <a:xfrm>
            <a:off x="13023188" y="5219678"/>
            <a:ext cx="359170" cy="289687"/>
          </a:xfrm>
          <a:prstGeom prst="rect">
            <a:avLst/>
          </a:prstGeom>
          <a:noFill/>
          <a:ln/>
        </p:spPr>
        <p:txBody>
          <a:bodyPr wrap="none" lIns="0" tIns="0" rIns="0" bIns="0" rtlCol="0" anchor="t"/>
          <a:lstStyle/>
          <a:p>
            <a:pPr algn="l" indent="0" marL="0">
              <a:lnSpc>
                <a:spcPts val="2280"/>
              </a:lnSpc>
              <a:buNone/>
            </a:pPr>
            <a:r>
              <a:rPr lang="en-US" sz="2400" spc="-72" kern="0" dirty="0">
                <a:solidFill>
                  <a:srgbClr val="121519"/>
                </a:solidFill>
                <a:latin typeface="Inter Tight SemiBold" pitchFamily="34" charset="0"/>
                <a:ea typeface="Inter Tight SemiBold" pitchFamily="34" charset="-122"/>
                <a:cs typeface="Inter Tight SemiBold" pitchFamily="34" charset="-120"/>
              </a:rPr>
              <a:t>15</a:t>
            </a:r>
            <a:endParaRPr lang="en-US" sz="2400" dirty="0"/>
          </a:p>
        </p:txBody>
      </p:sp>
      <p:sp>
        <p:nvSpPr>
          <p:cNvPr id="74" name="Text 72"/>
          <p:cNvSpPr/>
          <p:nvPr/>
        </p:nvSpPr>
        <p:spPr>
          <a:xfrm>
            <a:off x="13023188" y="5574163"/>
            <a:ext cx="306541" cy="88939"/>
          </a:xfrm>
          <a:prstGeom prst="rect">
            <a:avLst/>
          </a:prstGeom>
          <a:noFill/>
          <a:ln/>
        </p:spPr>
        <p:txBody>
          <a:bodyPr wrap="none" lIns="0" tIns="0" rIns="0" bIns="0" rtlCol="0" anchor="t"/>
          <a:lstStyle/>
          <a:p>
            <a:pPr algn="l" indent="0" marL="0">
              <a:lnSpc>
                <a:spcPts val="700"/>
              </a:lnSpc>
              <a:buNone/>
            </a:pPr>
            <a:r>
              <a:rPr lang="en-US" sz="580" spc="30" kern="0" dirty="0">
                <a:solidFill>
                  <a:srgbClr val="7D838A"/>
                </a:solidFill>
                <a:latin typeface="Noto Sans JP Medium" pitchFamily="34" charset="0"/>
                <a:ea typeface="Noto Sans JP Medium" pitchFamily="34" charset="-122"/>
                <a:cs typeface="Noto Sans JP Medium" pitchFamily="34" charset="-120"/>
              </a:rPr>
              <a:t>　業界</a:t>
            </a:r>
            <a:endParaRPr lang="en-US" sz="580" dirty="0"/>
          </a:p>
        </p:txBody>
      </p:sp>
      <p:sp>
        <p:nvSpPr>
          <p:cNvPr id="75" name="Text 73"/>
          <p:cNvSpPr/>
          <p:nvPr/>
        </p:nvSpPr>
        <p:spPr>
          <a:xfrm>
            <a:off x="13023188" y="5829544"/>
            <a:ext cx="441498" cy="289687"/>
          </a:xfrm>
          <a:prstGeom prst="rect">
            <a:avLst/>
          </a:prstGeom>
          <a:noFill/>
          <a:ln/>
        </p:spPr>
        <p:txBody>
          <a:bodyPr wrap="none" lIns="0" tIns="0" rIns="0" bIns="0" rtlCol="0" anchor="t"/>
          <a:lstStyle/>
          <a:p>
            <a:pPr algn="l" indent="0" marL="0">
              <a:lnSpc>
                <a:spcPts val="2280"/>
              </a:lnSpc>
              <a:buNone/>
            </a:pPr>
            <a:r>
              <a:rPr lang="en-US" sz="2400" spc="-72" kern="0" dirty="0">
                <a:solidFill>
                  <a:srgbClr val="121519"/>
                </a:solidFill>
                <a:latin typeface="Inter Tight SemiBold" pitchFamily="34" charset="0"/>
                <a:ea typeface="Inter Tight SemiBold" pitchFamily="34" charset="-122"/>
                <a:cs typeface="Inter Tight SemiBold" pitchFamily="34" charset="-120"/>
              </a:rPr>
              <a:t>50</a:t>
            </a:r>
            <a:endParaRPr lang="en-US" sz="2400" dirty="0"/>
          </a:p>
        </p:txBody>
      </p:sp>
      <p:sp>
        <p:nvSpPr>
          <p:cNvPr id="76" name="Text 74"/>
          <p:cNvSpPr/>
          <p:nvPr/>
        </p:nvSpPr>
        <p:spPr>
          <a:xfrm>
            <a:off x="13023188" y="6184029"/>
            <a:ext cx="308507" cy="88939"/>
          </a:xfrm>
          <a:prstGeom prst="rect">
            <a:avLst/>
          </a:prstGeom>
          <a:noFill/>
          <a:ln/>
        </p:spPr>
        <p:txBody>
          <a:bodyPr wrap="none" lIns="0" tIns="0" rIns="0" bIns="0" rtlCol="0" anchor="t"/>
          <a:lstStyle/>
          <a:p>
            <a:pPr algn="l" indent="0" marL="0">
              <a:lnSpc>
                <a:spcPts val="700"/>
              </a:lnSpc>
              <a:buNone/>
            </a:pPr>
            <a:r>
              <a:rPr lang="en-US" sz="580" spc="30" kern="0" dirty="0">
                <a:solidFill>
                  <a:srgbClr val="7D838A"/>
                </a:solidFill>
                <a:latin typeface="Noto Sans JP Medium" pitchFamily="34" charset="0"/>
                <a:ea typeface="Noto Sans JP Medium" pitchFamily="34" charset="-122"/>
                <a:cs typeface="Noto Sans JP Medium" pitchFamily="34" charset="-120"/>
              </a:rPr>
              <a:t>　カ国</a:t>
            </a:r>
            <a:endParaRPr lang="en-US" sz="580" dirty="0"/>
          </a:p>
        </p:txBody>
      </p:sp>
      <p:sp>
        <p:nvSpPr>
          <p:cNvPr id="77" name="Text 75"/>
          <p:cNvSpPr/>
          <p:nvPr/>
        </p:nvSpPr>
        <p:spPr>
          <a:xfrm>
            <a:off x="13023188" y="6439411"/>
            <a:ext cx="1178956" cy="289687"/>
          </a:xfrm>
          <a:prstGeom prst="rect">
            <a:avLst/>
          </a:prstGeom>
          <a:noFill/>
          <a:ln/>
        </p:spPr>
        <p:txBody>
          <a:bodyPr wrap="none" lIns="0" tIns="0" rIns="0" bIns="0" rtlCol="0" anchor="t"/>
          <a:lstStyle/>
          <a:p>
            <a:pPr algn="l" indent="0" marL="0">
              <a:lnSpc>
                <a:spcPts val="2280"/>
              </a:lnSpc>
              <a:buNone/>
            </a:pPr>
            <a:r>
              <a:rPr lang="en-US" sz="2400" spc="-72" kern="0" dirty="0">
                <a:solidFill>
                  <a:srgbClr val="121519"/>
                </a:solidFill>
                <a:latin typeface="Inter Tight SemiBold" pitchFamily="34" charset="0"/>
                <a:ea typeface="Inter Tight SemiBold" pitchFamily="34" charset="-122"/>
                <a:cs typeface="Inter Tight SemiBold" pitchFamily="34" charset="-120"/>
              </a:rPr>
              <a:t>約1,000</a:t>
            </a:r>
            <a:endParaRPr lang="en-US" sz="2400" dirty="0"/>
          </a:p>
        </p:txBody>
      </p:sp>
      <p:sp>
        <p:nvSpPr>
          <p:cNvPr id="78" name="Text 76"/>
          <p:cNvSpPr/>
          <p:nvPr/>
        </p:nvSpPr>
        <p:spPr>
          <a:xfrm>
            <a:off x="13023188" y="6793896"/>
            <a:ext cx="564007" cy="88939"/>
          </a:xfrm>
          <a:prstGeom prst="rect">
            <a:avLst/>
          </a:prstGeom>
          <a:noFill/>
          <a:ln/>
        </p:spPr>
        <p:txBody>
          <a:bodyPr wrap="none" lIns="0" tIns="0" rIns="0" bIns="0" rtlCol="0" anchor="t"/>
          <a:lstStyle/>
          <a:p>
            <a:pPr algn="l" indent="0" marL="0">
              <a:lnSpc>
                <a:spcPts val="700"/>
              </a:lnSpc>
              <a:buNone/>
            </a:pPr>
            <a:r>
              <a:rPr lang="en-US" sz="580" spc="30" kern="0" dirty="0">
                <a:solidFill>
                  <a:srgbClr val="7D838A"/>
                </a:solidFill>
                <a:latin typeface="Noto Sans JP Medium" pitchFamily="34" charset="0"/>
                <a:ea typeface="Noto Sans JP Medium" pitchFamily="34" charset="-122"/>
                <a:cs typeface="Noto Sans JP Medium" pitchFamily="34" charset="-120"/>
              </a:rPr>
              <a:t>　社の販売先</a:t>
            </a:r>
            <a:endParaRPr lang="en-US" sz="580" dirty="0"/>
          </a:p>
        </p:txBody>
      </p:sp>
      <p:sp>
        <p:nvSpPr>
          <p:cNvPr id="79" name="Text 77"/>
          <p:cNvSpPr/>
          <p:nvPr/>
        </p:nvSpPr>
        <p:spPr>
          <a:xfrm>
            <a:off x="8068024" y="7540148"/>
            <a:ext cx="462025"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Noto Sans JP Medium" pitchFamily="34" charset="0"/>
                <a:ea typeface="Noto Sans JP Medium" pitchFamily="34" charset="-122"/>
                <a:cs typeface="Noto Sans JP Medium" pitchFamily="34" charset="-120"/>
              </a:rPr>
              <a:t>JV実績</a:t>
            </a:r>
            <a:endParaRPr lang="en-US" sz="660" dirty="0"/>
          </a:p>
        </p:txBody>
      </p:sp>
      <p:sp>
        <p:nvSpPr>
          <p:cNvPr id="80" name="Text 78"/>
          <p:cNvSpPr/>
          <p:nvPr/>
        </p:nvSpPr>
        <p:spPr>
          <a:xfrm>
            <a:off x="9236935" y="7540148"/>
            <a:ext cx="1156026"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業界最大手との共同事業</a:t>
            </a:r>
            <a:endParaRPr lang="en-US" sz="660" dirty="0"/>
          </a:p>
        </p:txBody>
      </p:sp>
      <p:sp>
        <p:nvSpPr>
          <p:cNvPr id="81" name="Text 79"/>
          <p:cNvSpPr/>
          <p:nvPr/>
        </p:nvSpPr>
        <p:spPr>
          <a:xfrm>
            <a:off x="8068024" y="7742484"/>
            <a:ext cx="488667" cy="205195"/>
          </a:xfrm>
          <a:prstGeom prst="rect">
            <a:avLst/>
          </a:prstGeom>
          <a:noFill/>
          <a:ln/>
        </p:spPr>
        <p:txBody>
          <a:bodyPr wrap="none" lIns="0" tIns="0" rIns="0" bIns="0" rtlCol="0" anchor="t"/>
          <a:lstStyle/>
          <a:p>
            <a:pPr algn="l" indent="0" marL="0">
              <a:lnSpc>
                <a:spcPts val="1615"/>
              </a:lnSpc>
              <a:buNone/>
            </a:pPr>
            <a:r>
              <a:rPr lang="en-US" sz="1700" spc="-51" kern="0" dirty="0">
                <a:solidFill>
                  <a:srgbClr val="121519"/>
                </a:solidFill>
                <a:latin typeface="Inter Tight SemiBold" pitchFamily="34" charset="0"/>
                <a:ea typeface="Inter Tight SemiBold" pitchFamily="34" charset="-122"/>
                <a:cs typeface="Inter Tight SemiBold" pitchFamily="34" charset="-120"/>
              </a:rPr>
              <a:t>BHP</a:t>
            </a:r>
            <a:endParaRPr lang="en-US" sz="1700" dirty="0"/>
          </a:p>
        </p:txBody>
      </p:sp>
      <p:sp>
        <p:nvSpPr>
          <p:cNvPr id="82" name="Text 80"/>
          <p:cNvSpPr/>
          <p:nvPr/>
        </p:nvSpPr>
        <p:spPr>
          <a:xfrm>
            <a:off x="9592690" y="7742484"/>
            <a:ext cx="923892" cy="205195"/>
          </a:xfrm>
          <a:prstGeom prst="rect">
            <a:avLst/>
          </a:prstGeom>
          <a:noFill/>
          <a:ln/>
        </p:spPr>
        <p:txBody>
          <a:bodyPr wrap="none" lIns="0" tIns="0" rIns="0" bIns="0" rtlCol="0" anchor="t"/>
          <a:lstStyle/>
          <a:p>
            <a:pPr algn="l" indent="0" marL="0">
              <a:lnSpc>
                <a:spcPts val="1615"/>
              </a:lnSpc>
              <a:buNone/>
            </a:pPr>
            <a:r>
              <a:rPr lang="en-US" sz="1700" spc="-51" kern="0" dirty="0">
                <a:solidFill>
                  <a:srgbClr val="121519"/>
                </a:solidFill>
                <a:latin typeface="Inter Tight SemiBold" pitchFamily="34" charset="0"/>
                <a:ea typeface="Inter Tight SemiBold" pitchFamily="34" charset="-122"/>
                <a:cs typeface="Inter Tight SemiBold" pitchFamily="34" charset="-120"/>
              </a:rPr>
              <a:t>Rio Tinto</a:t>
            </a:r>
            <a:endParaRPr lang="en-US" sz="1700" dirty="0"/>
          </a:p>
        </p:txBody>
      </p:sp>
      <p:sp>
        <p:nvSpPr>
          <p:cNvPr id="83" name="Text 81"/>
          <p:cNvSpPr/>
          <p:nvPr/>
        </p:nvSpPr>
        <p:spPr>
          <a:xfrm>
            <a:off x="11117356" y="7742484"/>
            <a:ext cx="1659384" cy="205195"/>
          </a:xfrm>
          <a:prstGeom prst="rect">
            <a:avLst/>
          </a:prstGeom>
          <a:noFill/>
          <a:ln/>
        </p:spPr>
        <p:txBody>
          <a:bodyPr wrap="none" lIns="0" tIns="0" rIns="0" bIns="0" rtlCol="0" anchor="t"/>
          <a:lstStyle/>
          <a:p>
            <a:pPr algn="l" indent="0" marL="0">
              <a:lnSpc>
                <a:spcPts val="1615"/>
              </a:lnSpc>
              <a:buNone/>
            </a:pPr>
            <a:r>
              <a:rPr lang="en-US" sz="1700" spc="-51" kern="0" dirty="0">
                <a:solidFill>
                  <a:srgbClr val="121519"/>
                </a:solidFill>
                <a:latin typeface="Inter Tight SemiBold" pitchFamily="34" charset="0"/>
                <a:ea typeface="Inter Tight SemiBold" pitchFamily="34" charset="-122"/>
                <a:cs typeface="Inter Tight SemiBold" pitchFamily="34" charset="-120"/>
              </a:rPr>
              <a:t>Anglo American</a:t>
            </a:r>
            <a:endParaRPr lang="en-US" sz="1700" dirty="0"/>
          </a:p>
        </p:txBody>
      </p:sp>
      <p:sp>
        <p:nvSpPr>
          <p:cNvPr id="84" name="Text 82"/>
          <p:cNvSpPr/>
          <p:nvPr/>
        </p:nvSpPr>
        <p:spPr>
          <a:xfrm>
            <a:off x="8068024" y="8302481"/>
            <a:ext cx="888297"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Noto Sans JP Medium" pitchFamily="34" charset="0"/>
                <a:ea typeface="Noto Sans JP Medium" pitchFamily="34" charset="-122"/>
                <a:cs typeface="Noto Sans JP Medium" pitchFamily="34" charset="-120"/>
              </a:rPr>
              <a:t>評価される理由</a:t>
            </a:r>
            <a:endParaRPr lang="en-US" sz="660" dirty="0"/>
          </a:p>
        </p:txBody>
      </p:sp>
      <p:sp>
        <p:nvSpPr>
          <p:cNvPr id="85" name="Text 83"/>
          <p:cNvSpPr/>
          <p:nvPr/>
        </p:nvSpPr>
        <p:spPr>
          <a:xfrm>
            <a:off x="9846801" y="8302481"/>
            <a:ext cx="1358025"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パートナーから見た三菱商事</a:t>
            </a:r>
            <a:endParaRPr lang="en-US" sz="660" dirty="0"/>
          </a:p>
        </p:txBody>
      </p:sp>
      <p:sp>
        <p:nvSpPr>
          <p:cNvPr id="86" name="Text 84"/>
          <p:cNvSpPr/>
          <p:nvPr/>
        </p:nvSpPr>
        <p:spPr>
          <a:xfrm>
            <a:off x="8220491" y="8649787"/>
            <a:ext cx="921053" cy="169365"/>
          </a:xfrm>
          <a:prstGeom prst="rect">
            <a:avLst/>
          </a:prstGeom>
          <a:noFill/>
          <a:ln/>
        </p:spPr>
        <p:txBody>
          <a:bodyPr wrap="none" lIns="0" tIns="0" rIns="0" bIns="0" rtlCol="0" anchor="t"/>
          <a:lstStyle/>
          <a:p>
            <a:pPr algn="l" indent="0" marL="0">
              <a:lnSpc>
                <a:spcPts val="1333"/>
              </a:lnSpc>
              <a:buNone/>
            </a:pPr>
            <a:r>
              <a:rPr lang="en-US" sz="860" spc="30" kern="0" dirty="0">
                <a:solidFill>
                  <a:srgbClr val="121519"/>
                </a:solidFill>
                <a:latin typeface="Noto Sans JP Medium" pitchFamily="34" charset="0"/>
                <a:ea typeface="Noto Sans JP Medium" pitchFamily="34" charset="-122"/>
                <a:cs typeface="Noto Sans JP Medium" pitchFamily="34" charset="-120"/>
              </a:rPr>
              <a:t>中長期的な視座</a:t>
            </a:r>
            <a:endParaRPr lang="en-US" sz="860" dirty="0"/>
          </a:p>
        </p:txBody>
      </p:sp>
      <p:sp>
        <p:nvSpPr>
          <p:cNvPr id="87" name="Text 85"/>
          <p:cNvSpPr/>
          <p:nvPr/>
        </p:nvSpPr>
        <p:spPr>
          <a:xfrm>
            <a:off x="8220491" y="8860922"/>
            <a:ext cx="1915540" cy="272407"/>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資源事業は長期にわたる。短期的リターンを</a:t>
            </a:r>
            <a:endParaRPr lang="en-US" sz="670" dirty="0"/>
          </a:p>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求める投資家とは一線を画す。</a:t>
            </a:r>
            <a:endParaRPr lang="en-US" sz="670" dirty="0"/>
          </a:p>
        </p:txBody>
      </p:sp>
      <p:sp>
        <p:nvSpPr>
          <p:cNvPr id="88" name="Text 86"/>
          <p:cNvSpPr/>
          <p:nvPr/>
        </p:nvSpPr>
        <p:spPr>
          <a:xfrm>
            <a:off x="10456667" y="8649787"/>
            <a:ext cx="1169566" cy="169365"/>
          </a:xfrm>
          <a:prstGeom prst="rect">
            <a:avLst/>
          </a:prstGeom>
          <a:noFill/>
          <a:ln/>
        </p:spPr>
        <p:txBody>
          <a:bodyPr wrap="none" lIns="0" tIns="0" rIns="0" bIns="0" rtlCol="0" anchor="t"/>
          <a:lstStyle/>
          <a:p>
            <a:pPr algn="l" indent="0" marL="0">
              <a:lnSpc>
                <a:spcPts val="1333"/>
              </a:lnSpc>
              <a:buNone/>
            </a:pPr>
            <a:r>
              <a:rPr lang="en-US" sz="860" spc="30" kern="0" dirty="0">
                <a:solidFill>
                  <a:srgbClr val="121519"/>
                </a:solidFill>
                <a:latin typeface="Noto Sans JP Medium" pitchFamily="34" charset="0"/>
                <a:ea typeface="Noto Sans JP Medium" pitchFamily="34" charset="-122"/>
                <a:cs typeface="Noto Sans JP Medium" pitchFamily="34" charset="-120"/>
              </a:rPr>
              <a:t>リスクシェアリング</a:t>
            </a:r>
            <a:endParaRPr lang="en-US" sz="860" dirty="0"/>
          </a:p>
        </p:txBody>
      </p:sp>
      <p:sp>
        <p:nvSpPr>
          <p:cNvPr id="89" name="Text 87"/>
          <p:cNvSpPr/>
          <p:nvPr/>
        </p:nvSpPr>
        <p:spPr>
          <a:xfrm>
            <a:off x="10456667" y="8860922"/>
            <a:ext cx="1915540" cy="272407"/>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リスクの高い案件ほど、資金面での分担が力</a:t>
            </a:r>
            <a:endParaRPr lang="en-US" sz="670" dirty="0"/>
          </a:p>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になる。</a:t>
            </a:r>
            <a:endParaRPr lang="en-US" sz="670" dirty="0"/>
          </a:p>
        </p:txBody>
      </p:sp>
      <p:sp>
        <p:nvSpPr>
          <p:cNvPr id="90" name="Text 88"/>
          <p:cNvSpPr/>
          <p:nvPr/>
        </p:nvSpPr>
        <p:spPr>
          <a:xfrm>
            <a:off x="12692844" y="8649787"/>
            <a:ext cx="423809" cy="169365"/>
          </a:xfrm>
          <a:prstGeom prst="rect">
            <a:avLst/>
          </a:prstGeom>
          <a:noFill/>
          <a:ln/>
        </p:spPr>
        <p:txBody>
          <a:bodyPr wrap="none" lIns="0" tIns="0" rIns="0" bIns="0" rtlCol="0" anchor="t"/>
          <a:lstStyle/>
          <a:p>
            <a:pPr algn="l" indent="0" marL="0">
              <a:lnSpc>
                <a:spcPts val="1333"/>
              </a:lnSpc>
              <a:buNone/>
            </a:pPr>
            <a:r>
              <a:rPr lang="en-US" sz="860" spc="30" kern="0" dirty="0">
                <a:solidFill>
                  <a:srgbClr val="121519"/>
                </a:solidFill>
                <a:latin typeface="Noto Sans JP Medium" pitchFamily="34" charset="0"/>
                <a:ea typeface="Noto Sans JP Medium" pitchFamily="34" charset="-122"/>
                <a:cs typeface="Noto Sans JP Medium" pitchFamily="34" charset="-120"/>
              </a:rPr>
              <a:t>総合力</a:t>
            </a:r>
            <a:endParaRPr lang="en-US" sz="860" dirty="0"/>
          </a:p>
        </p:txBody>
      </p:sp>
      <p:sp>
        <p:nvSpPr>
          <p:cNvPr id="91" name="Text 89"/>
          <p:cNvSpPr/>
          <p:nvPr/>
        </p:nvSpPr>
        <p:spPr>
          <a:xfrm>
            <a:off x="12692844" y="8860922"/>
            <a:ext cx="1920126" cy="272407"/>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幅広い産業接点を通じ、多様なバリューチェ</a:t>
            </a:r>
            <a:endParaRPr lang="en-US" sz="670" dirty="0"/>
          </a:p>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ーンに知見を提供する。</a:t>
            </a:r>
            <a:endParaRPr lang="en-US" sz="670" dirty="0"/>
          </a:p>
        </p:txBody>
      </p:sp>
      <p:sp>
        <p:nvSpPr>
          <p:cNvPr id="92" name="Text 90"/>
          <p:cNvSpPr/>
          <p:nvPr/>
        </p:nvSpPr>
        <p:spPr>
          <a:xfrm>
            <a:off x="508222" y="10316906"/>
            <a:ext cx="202594" cy="88939"/>
          </a:xfrm>
          <a:prstGeom prst="rect">
            <a:avLst/>
          </a:prstGeom>
          <a:noFill/>
          <a:ln/>
        </p:spPr>
        <p:txBody>
          <a:bodyPr wrap="none" lIns="0" tIns="0" rIns="0" bIns="0" rtlCol="0" anchor="t"/>
          <a:lstStyle/>
          <a:p>
            <a:pPr algn="l" indent="0" marL="0">
              <a:lnSpc>
                <a:spcPts val="700"/>
              </a:lnSpc>
              <a:buNone/>
            </a:pPr>
            <a:r>
              <a:rPr lang="en-US" sz="600" spc="160" kern="0" dirty="0">
                <a:solidFill>
                  <a:srgbClr val="7D838A"/>
                </a:solidFill>
                <a:latin typeface="Inter Medium" pitchFamily="34" charset="0"/>
                <a:ea typeface="Inter Medium" pitchFamily="34" charset="-122"/>
                <a:cs typeface="Inter Medium" pitchFamily="34" charset="-120"/>
              </a:rPr>
              <a:t>08</a:t>
            </a:r>
            <a:endParaRPr lang="en-US" sz="600" dirty="0"/>
          </a:p>
        </p:txBody>
      </p:sp>
      <p:sp>
        <p:nvSpPr>
          <p:cNvPr id="93" name="Text 91"/>
          <p:cNvSpPr/>
          <p:nvPr/>
        </p:nvSpPr>
        <p:spPr>
          <a:xfrm>
            <a:off x="14458915" y="10316906"/>
            <a:ext cx="202594" cy="88939"/>
          </a:xfrm>
          <a:prstGeom prst="rect">
            <a:avLst/>
          </a:prstGeom>
          <a:noFill/>
          <a:ln/>
        </p:spPr>
        <p:txBody>
          <a:bodyPr wrap="none" lIns="0" tIns="0" rIns="0" bIns="0" rtlCol="0" anchor="t"/>
          <a:lstStyle/>
          <a:p>
            <a:pPr algn="l" indent="0" marL="0">
              <a:lnSpc>
                <a:spcPts val="700"/>
              </a:lnSpc>
              <a:buNone/>
            </a:pPr>
            <a:r>
              <a:rPr lang="en-US" sz="600" spc="160" kern="0" dirty="0">
                <a:solidFill>
                  <a:srgbClr val="7D838A"/>
                </a:solidFill>
                <a:latin typeface="Inter Medium" pitchFamily="34" charset="0"/>
                <a:ea typeface="Inter Medium" pitchFamily="34" charset="-122"/>
                <a:cs typeface="Inter Medium" pitchFamily="34" charset="-120"/>
              </a:rPr>
              <a:t>09</a:t>
            </a:r>
            <a:endParaRPr lang="en-US" sz="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12832605" y="76233"/>
            <a:ext cx="2126274" cy="1423022"/>
          </a:xfrm>
          <a:prstGeom prst="rect">
            <a:avLst/>
          </a:prstGeom>
          <a:noFill/>
          <a:ln/>
        </p:spPr>
        <p:txBody>
          <a:bodyPr wrap="none" lIns="0" tIns="0" rIns="0" bIns="0" rtlCol="0" anchor="t"/>
          <a:lstStyle/>
          <a:p>
            <a:pPr algn="l" indent="0" marL="0">
              <a:lnSpc>
                <a:spcPts val="11200"/>
              </a:lnSpc>
              <a:buNone/>
            </a:pPr>
            <a:r>
              <a:rPr lang="en-US" sz="14000" spc="-560" kern="0" dirty="0">
                <a:solidFill>
                  <a:srgbClr val="000000">
                    <a:alpha val="0"/>
                  </a:srgbClr>
                </a:solidFill>
                <a:latin typeface="Inter Tight Light" pitchFamily="34" charset="0"/>
                <a:ea typeface="Inter Tight Light" pitchFamily="34" charset="-122"/>
                <a:cs typeface="Inter Tight Light" pitchFamily="34" charset="-120"/>
              </a:rPr>
              <a:t>05</a:t>
            </a:r>
            <a:endParaRPr lang="en-US" sz="14000" dirty="0"/>
          </a:p>
        </p:txBody>
      </p:sp>
      <p:sp>
        <p:nvSpPr>
          <p:cNvPr id="3" name="Text 1"/>
          <p:cNvSpPr/>
          <p:nvPr/>
        </p:nvSpPr>
        <p:spPr>
          <a:xfrm>
            <a:off x="508222" y="508222"/>
            <a:ext cx="376203"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Noto Sans JP Medium" pitchFamily="34" charset="0"/>
                <a:ea typeface="Noto Sans JP Medium" pitchFamily="34" charset="-122"/>
                <a:cs typeface="Noto Sans JP Medium" pitchFamily="34" charset="-120"/>
              </a:rPr>
              <a:t>第4章</a:t>
            </a:r>
            <a:endParaRPr lang="en-US" sz="660" dirty="0"/>
          </a:p>
        </p:txBody>
      </p:sp>
      <p:sp>
        <p:nvSpPr>
          <p:cNvPr id="4" name="Text 2"/>
          <p:cNvSpPr/>
          <p:nvPr/>
        </p:nvSpPr>
        <p:spPr>
          <a:xfrm>
            <a:off x="508222" y="647983"/>
            <a:ext cx="2358626"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何を実現するか｜バリューチェーンと私たちの約束</a:t>
            </a:r>
            <a:endParaRPr lang="en-US" sz="660" dirty="0"/>
          </a:p>
        </p:txBody>
      </p:sp>
      <p:sp>
        <p:nvSpPr>
          <p:cNvPr id="5" name="Text 3"/>
          <p:cNvSpPr/>
          <p:nvPr/>
        </p:nvSpPr>
        <p:spPr>
          <a:xfrm>
            <a:off x="508222" y="877953"/>
            <a:ext cx="10712625" cy="518386"/>
          </a:xfrm>
          <a:prstGeom prst="rect">
            <a:avLst/>
          </a:prstGeom>
          <a:noFill/>
          <a:ln/>
        </p:spPr>
        <p:txBody>
          <a:bodyPr wrap="none" lIns="0" tIns="0" rIns="0" bIns="0" rtlCol="0" anchor="t"/>
          <a:lstStyle/>
          <a:p>
            <a:pPr algn="l" indent="0" marL="0">
              <a:lnSpc>
                <a:spcPts val="4080"/>
              </a:lnSpc>
              <a:buNone/>
            </a:pPr>
            <a:r>
              <a:rPr lang="en-US" sz="4000" spc="-100" kern="0" dirty="0">
                <a:solidFill>
                  <a:srgbClr val="121519"/>
                </a:solidFill>
                <a:latin typeface="Inter Tight SemiBold" pitchFamily="34" charset="0"/>
                <a:ea typeface="Inter Tight SemiBold" pitchFamily="34" charset="-122"/>
                <a:cs typeface="Inter Tight SemiBold" pitchFamily="34" charset="-120"/>
              </a:rPr>
              <a:t>From mine to market — one integrated chain.</a:t>
            </a:r>
            <a:endParaRPr lang="en-US" sz="4000" dirty="0"/>
          </a:p>
        </p:txBody>
      </p:sp>
      <p:sp>
        <p:nvSpPr>
          <p:cNvPr id="6" name="Text 4"/>
          <p:cNvSpPr/>
          <p:nvPr/>
        </p:nvSpPr>
        <p:spPr>
          <a:xfrm>
            <a:off x="508222" y="1745425"/>
            <a:ext cx="9254087" cy="219171"/>
          </a:xfrm>
          <a:prstGeom prst="rect">
            <a:avLst/>
          </a:prstGeom>
          <a:noFill/>
          <a:ln/>
        </p:spPr>
        <p:txBody>
          <a:bodyPr wrap="none" lIns="0" tIns="0" rIns="0" bIns="0" rtlCol="0" anchor="t"/>
          <a:lstStyle/>
          <a:p>
            <a:pPr algn="l" indent="0" marL="0">
              <a:lnSpc>
                <a:spcPts val="1725"/>
              </a:lnSpc>
              <a:buNone/>
            </a:pPr>
            <a:r>
              <a:rPr lang="en-US" sz="1150" spc="50" kern="0" dirty="0">
                <a:solidFill>
                  <a:srgbClr val="121519"/>
                </a:solidFill>
                <a:latin typeface="Noto Sans JP Medium" pitchFamily="34" charset="0"/>
                <a:ea typeface="Noto Sans JP Medium" pitchFamily="34" charset="-122"/>
                <a:cs typeface="Noto Sans JP Medium" pitchFamily="34" charset="-120"/>
              </a:rPr>
              <a:t>投資と販売の両輪で、川上から川下までをつなぐ。採掘・製造・販売をつなぐトレーディング力こそが、総合商社の強み。</a:t>
            </a:r>
            <a:endParaRPr lang="en-US" sz="1150" dirty="0"/>
          </a:p>
        </p:txBody>
      </p:sp>
      <p:sp>
        <p:nvSpPr>
          <p:cNvPr id="7" name="Text 5"/>
          <p:cNvSpPr/>
          <p:nvPr/>
        </p:nvSpPr>
        <p:spPr>
          <a:xfrm>
            <a:off x="635277" y="2490288"/>
            <a:ext cx="475783" cy="88939"/>
          </a:xfrm>
          <a:prstGeom prst="rect">
            <a:avLst/>
          </a:prstGeom>
          <a:noFill/>
          <a:ln/>
        </p:spPr>
        <p:txBody>
          <a:bodyPr wrap="none" lIns="0" tIns="0" rIns="0" bIns="0" rtlCol="0" anchor="t"/>
          <a:lstStyle/>
          <a:p>
            <a:pPr algn="l" indent="0" marL="0">
              <a:lnSpc>
                <a:spcPts val="700"/>
              </a:lnSpc>
              <a:buNone/>
            </a:pPr>
            <a:r>
              <a:rPr lang="en-US" sz="600" spc="160" kern="0" dirty="0">
                <a:solidFill>
                  <a:srgbClr val="FFFFFF"/>
                </a:solidFill>
                <a:latin typeface="Noto Sans JP Medium" pitchFamily="34" charset="0"/>
                <a:ea typeface="Noto Sans JP Medium" pitchFamily="34" charset="-122"/>
                <a:cs typeface="Noto Sans JP Medium" pitchFamily="34" charset="-120"/>
              </a:rPr>
              <a:t>資源投資</a:t>
            </a:r>
            <a:endParaRPr lang="en-US" sz="600" dirty="0"/>
          </a:p>
        </p:txBody>
      </p:sp>
      <p:sp>
        <p:nvSpPr>
          <p:cNvPr id="8" name="Text 6"/>
          <p:cNvSpPr/>
          <p:nvPr/>
        </p:nvSpPr>
        <p:spPr>
          <a:xfrm>
            <a:off x="635277" y="2604638"/>
            <a:ext cx="1308890" cy="165172"/>
          </a:xfrm>
          <a:prstGeom prst="rect">
            <a:avLst/>
          </a:prstGeom>
          <a:noFill/>
          <a:ln/>
        </p:spPr>
        <p:txBody>
          <a:bodyPr wrap="none" lIns="0" tIns="0" rIns="0" bIns="0" rtlCol="0" anchor="t"/>
          <a:lstStyle/>
          <a:p>
            <a:pPr algn="l" indent="0" marL="0">
              <a:lnSpc>
                <a:spcPts val="1300"/>
              </a:lnSpc>
              <a:buNone/>
            </a:pPr>
            <a:r>
              <a:rPr lang="en-US" sz="900" dirty="0">
                <a:solidFill>
                  <a:srgbClr val="FFFFFF"/>
                </a:solidFill>
                <a:latin typeface="Noto Sans JP Medium" pitchFamily="34" charset="0"/>
                <a:ea typeface="Noto Sans JP Medium" pitchFamily="34" charset="-122"/>
                <a:cs typeface="Noto Sans JP Medium" pitchFamily="34" charset="-120"/>
              </a:rPr>
              <a:t>川上｜資源開発・保有</a:t>
            </a:r>
            <a:endParaRPr lang="en-US" sz="900" dirty="0"/>
          </a:p>
        </p:txBody>
      </p:sp>
      <p:sp>
        <p:nvSpPr>
          <p:cNvPr id="9" name="Text 7"/>
          <p:cNvSpPr/>
          <p:nvPr/>
        </p:nvSpPr>
        <p:spPr>
          <a:xfrm>
            <a:off x="3557554" y="2490288"/>
            <a:ext cx="1247526" cy="88939"/>
          </a:xfrm>
          <a:prstGeom prst="rect">
            <a:avLst/>
          </a:prstGeom>
          <a:noFill/>
          <a:ln/>
        </p:spPr>
        <p:txBody>
          <a:bodyPr wrap="none" lIns="0" tIns="0" rIns="0" bIns="0" rtlCol="0" anchor="t"/>
          <a:lstStyle/>
          <a:p>
            <a:pPr algn="l" indent="0" marL="0">
              <a:lnSpc>
                <a:spcPts val="700"/>
              </a:lnSpc>
              <a:buNone/>
            </a:pPr>
            <a:r>
              <a:rPr lang="en-US" sz="600" spc="160" kern="0" dirty="0">
                <a:solidFill>
                  <a:srgbClr val="1F3A56"/>
                </a:solidFill>
                <a:latin typeface="Noto Sans JP Medium" pitchFamily="34" charset="0"/>
                <a:ea typeface="Noto Sans JP Medium" pitchFamily="34" charset="-122"/>
                <a:cs typeface="Noto Sans JP Medium" pitchFamily="34" charset="-120"/>
              </a:rPr>
              <a:t>トレーディング（RtM）</a:t>
            </a:r>
            <a:endParaRPr lang="en-US" sz="600" dirty="0"/>
          </a:p>
        </p:txBody>
      </p:sp>
      <p:sp>
        <p:nvSpPr>
          <p:cNvPr id="10" name="Text 8"/>
          <p:cNvSpPr/>
          <p:nvPr/>
        </p:nvSpPr>
        <p:spPr>
          <a:xfrm>
            <a:off x="3557554" y="2604638"/>
            <a:ext cx="1308890" cy="165172"/>
          </a:xfrm>
          <a:prstGeom prst="rect">
            <a:avLst/>
          </a:prstGeom>
          <a:noFill/>
          <a:ln/>
        </p:spPr>
        <p:txBody>
          <a:bodyPr wrap="none" lIns="0" tIns="0" rIns="0" bIns="0" rtlCol="0" anchor="t"/>
          <a:lstStyle/>
          <a:p>
            <a:pPr algn="l" indent="0" marL="0">
              <a:lnSpc>
                <a:spcPts val="1300"/>
              </a:lnSpc>
              <a:buNone/>
            </a:pPr>
            <a:r>
              <a:rPr lang="en-US" sz="900" dirty="0">
                <a:solidFill>
                  <a:srgbClr val="1F3A56"/>
                </a:solidFill>
                <a:latin typeface="Noto Sans JP Medium" pitchFamily="34" charset="0"/>
                <a:ea typeface="Noto Sans JP Medium" pitchFamily="34" charset="-122"/>
                <a:cs typeface="Noto Sans JP Medium" pitchFamily="34" charset="-120"/>
              </a:rPr>
              <a:t>中間流通｜調達・販売</a:t>
            </a:r>
            <a:endParaRPr lang="en-US" sz="900" dirty="0"/>
          </a:p>
        </p:txBody>
      </p:sp>
      <p:sp>
        <p:nvSpPr>
          <p:cNvPr id="11" name="Text 9"/>
          <p:cNvSpPr/>
          <p:nvPr/>
        </p:nvSpPr>
        <p:spPr>
          <a:xfrm>
            <a:off x="6225719" y="2490288"/>
            <a:ext cx="475783" cy="88939"/>
          </a:xfrm>
          <a:prstGeom prst="rect">
            <a:avLst/>
          </a:prstGeom>
          <a:noFill/>
          <a:ln/>
        </p:spPr>
        <p:txBody>
          <a:bodyPr wrap="none" lIns="0" tIns="0" rIns="0" bIns="0" rtlCol="0" anchor="t"/>
          <a:lstStyle/>
          <a:p>
            <a:pPr algn="l" indent="0" marL="0">
              <a:lnSpc>
                <a:spcPts val="700"/>
              </a:lnSpc>
              <a:buNone/>
            </a:pPr>
            <a:r>
              <a:rPr lang="en-US" sz="600" spc="160" kern="0" dirty="0">
                <a:solidFill>
                  <a:srgbClr val="FFFFFF"/>
                </a:solidFill>
                <a:latin typeface="Noto Sans JP Medium" pitchFamily="34" charset="0"/>
                <a:ea typeface="Noto Sans JP Medium" pitchFamily="34" charset="-122"/>
                <a:cs typeface="Noto Sans JP Medium" pitchFamily="34" charset="-120"/>
              </a:rPr>
              <a:t>資源投資</a:t>
            </a:r>
            <a:endParaRPr lang="en-US" sz="600" dirty="0"/>
          </a:p>
        </p:txBody>
      </p:sp>
      <p:sp>
        <p:nvSpPr>
          <p:cNvPr id="12" name="Text 10"/>
          <p:cNvSpPr/>
          <p:nvPr/>
        </p:nvSpPr>
        <p:spPr>
          <a:xfrm>
            <a:off x="6225719" y="2604638"/>
            <a:ext cx="1057320" cy="165172"/>
          </a:xfrm>
          <a:prstGeom prst="rect">
            <a:avLst/>
          </a:prstGeom>
          <a:noFill/>
          <a:ln/>
        </p:spPr>
        <p:txBody>
          <a:bodyPr wrap="none" lIns="0" tIns="0" rIns="0" bIns="0" rtlCol="0" anchor="t"/>
          <a:lstStyle/>
          <a:p>
            <a:pPr algn="l" indent="0" marL="0">
              <a:lnSpc>
                <a:spcPts val="1300"/>
              </a:lnSpc>
              <a:buNone/>
            </a:pPr>
            <a:r>
              <a:rPr lang="en-US" sz="900" dirty="0">
                <a:solidFill>
                  <a:srgbClr val="FFFFFF"/>
                </a:solidFill>
                <a:latin typeface="Noto Sans JP Medium" pitchFamily="34" charset="0"/>
                <a:ea typeface="Noto Sans JP Medium" pitchFamily="34" charset="-122"/>
                <a:cs typeface="Noto Sans JP Medium" pitchFamily="34" charset="-120"/>
              </a:rPr>
              <a:t>川中｜製鉄・製錬</a:t>
            </a:r>
            <a:endParaRPr lang="en-US" sz="900" dirty="0"/>
          </a:p>
        </p:txBody>
      </p:sp>
      <p:sp>
        <p:nvSpPr>
          <p:cNvPr id="13" name="Text 11"/>
          <p:cNvSpPr/>
          <p:nvPr/>
        </p:nvSpPr>
        <p:spPr>
          <a:xfrm>
            <a:off x="9147996" y="2490288"/>
            <a:ext cx="1247526" cy="88939"/>
          </a:xfrm>
          <a:prstGeom prst="rect">
            <a:avLst/>
          </a:prstGeom>
          <a:noFill/>
          <a:ln/>
        </p:spPr>
        <p:txBody>
          <a:bodyPr wrap="none" lIns="0" tIns="0" rIns="0" bIns="0" rtlCol="0" anchor="t"/>
          <a:lstStyle/>
          <a:p>
            <a:pPr algn="l" indent="0" marL="0">
              <a:lnSpc>
                <a:spcPts val="700"/>
              </a:lnSpc>
              <a:buNone/>
            </a:pPr>
            <a:r>
              <a:rPr lang="en-US" sz="600" spc="160" kern="0" dirty="0">
                <a:solidFill>
                  <a:srgbClr val="1F3A56"/>
                </a:solidFill>
                <a:latin typeface="Noto Sans JP Medium" pitchFamily="34" charset="0"/>
                <a:ea typeface="Noto Sans JP Medium" pitchFamily="34" charset="-122"/>
                <a:cs typeface="Noto Sans JP Medium" pitchFamily="34" charset="-120"/>
              </a:rPr>
              <a:t>トレーディング（RtM）</a:t>
            </a:r>
            <a:endParaRPr lang="en-US" sz="600" dirty="0"/>
          </a:p>
        </p:txBody>
      </p:sp>
      <p:sp>
        <p:nvSpPr>
          <p:cNvPr id="14" name="Text 12"/>
          <p:cNvSpPr/>
          <p:nvPr/>
        </p:nvSpPr>
        <p:spPr>
          <a:xfrm>
            <a:off x="9147996" y="2604638"/>
            <a:ext cx="1308890" cy="165172"/>
          </a:xfrm>
          <a:prstGeom prst="rect">
            <a:avLst/>
          </a:prstGeom>
          <a:noFill/>
          <a:ln/>
        </p:spPr>
        <p:txBody>
          <a:bodyPr wrap="none" lIns="0" tIns="0" rIns="0" bIns="0" rtlCol="0" anchor="t"/>
          <a:lstStyle/>
          <a:p>
            <a:pPr algn="l" indent="0" marL="0">
              <a:lnSpc>
                <a:spcPts val="1300"/>
              </a:lnSpc>
              <a:buNone/>
            </a:pPr>
            <a:r>
              <a:rPr lang="en-US" sz="900" dirty="0">
                <a:solidFill>
                  <a:srgbClr val="1F3A56"/>
                </a:solidFill>
                <a:latin typeface="Noto Sans JP Medium" pitchFamily="34" charset="0"/>
                <a:ea typeface="Noto Sans JP Medium" pitchFamily="34" charset="-122"/>
                <a:cs typeface="Noto Sans JP Medium" pitchFamily="34" charset="-120"/>
              </a:rPr>
              <a:t>中間流通｜調達・販売</a:t>
            </a:r>
            <a:endParaRPr lang="en-US" sz="900" dirty="0"/>
          </a:p>
        </p:txBody>
      </p:sp>
      <p:sp>
        <p:nvSpPr>
          <p:cNvPr id="15" name="Text 13"/>
          <p:cNvSpPr/>
          <p:nvPr/>
        </p:nvSpPr>
        <p:spPr>
          <a:xfrm>
            <a:off x="11816161" y="2490288"/>
            <a:ext cx="369652" cy="88939"/>
          </a:xfrm>
          <a:prstGeom prst="rect">
            <a:avLst/>
          </a:prstGeom>
          <a:noFill/>
          <a:ln/>
        </p:spPr>
        <p:txBody>
          <a:bodyPr wrap="none" lIns="0" tIns="0" rIns="0" bIns="0" rtlCol="0" anchor="t"/>
          <a:lstStyle/>
          <a:p>
            <a:pPr algn="l" indent="0" marL="0">
              <a:lnSpc>
                <a:spcPts val="700"/>
              </a:lnSpc>
              <a:buNone/>
            </a:pPr>
            <a:r>
              <a:rPr lang="en-US" sz="600" spc="160" kern="0" dirty="0">
                <a:solidFill>
                  <a:srgbClr val="FFFFFF"/>
                </a:solidFill>
                <a:latin typeface="Noto Sans JP Medium" pitchFamily="34" charset="0"/>
                <a:ea typeface="Noto Sans JP Medium" pitchFamily="34" charset="-122"/>
                <a:cs typeface="Noto Sans JP Medium" pitchFamily="34" charset="-120"/>
              </a:rPr>
              <a:t>需要家</a:t>
            </a:r>
            <a:endParaRPr lang="en-US" sz="600" dirty="0"/>
          </a:p>
        </p:txBody>
      </p:sp>
      <p:sp>
        <p:nvSpPr>
          <p:cNvPr id="16" name="Text 14"/>
          <p:cNvSpPr/>
          <p:nvPr/>
        </p:nvSpPr>
        <p:spPr>
          <a:xfrm>
            <a:off x="11816161" y="2604638"/>
            <a:ext cx="931535" cy="165172"/>
          </a:xfrm>
          <a:prstGeom prst="rect">
            <a:avLst/>
          </a:prstGeom>
          <a:noFill/>
          <a:ln/>
        </p:spPr>
        <p:txBody>
          <a:bodyPr wrap="none" lIns="0" tIns="0" rIns="0" bIns="0" rtlCol="0" anchor="t"/>
          <a:lstStyle/>
          <a:p>
            <a:pPr algn="l" indent="0" marL="0">
              <a:lnSpc>
                <a:spcPts val="1300"/>
              </a:lnSpc>
              <a:buNone/>
            </a:pPr>
            <a:r>
              <a:rPr lang="en-US" sz="900" dirty="0">
                <a:solidFill>
                  <a:srgbClr val="FFFFFF"/>
                </a:solidFill>
                <a:latin typeface="Noto Sans JP Medium" pitchFamily="34" charset="0"/>
                <a:ea typeface="Noto Sans JP Medium" pitchFamily="34" charset="-122"/>
                <a:cs typeface="Noto Sans JP Medium" pitchFamily="34" charset="-120"/>
              </a:rPr>
              <a:t>川下｜最終製品</a:t>
            </a:r>
            <a:endParaRPr lang="en-US" sz="900" dirty="0"/>
          </a:p>
        </p:txBody>
      </p:sp>
      <p:sp>
        <p:nvSpPr>
          <p:cNvPr id="17" name="Text 15"/>
          <p:cNvSpPr/>
          <p:nvPr/>
        </p:nvSpPr>
        <p:spPr>
          <a:xfrm>
            <a:off x="482811" y="2871454"/>
            <a:ext cx="406994"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3D4249"/>
                </a:solidFill>
                <a:latin typeface="Noto Sans JP Medium" pitchFamily="34" charset="0"/>
                <a:ea typeface="Noto Sans JP Medium" pitchFamily="34" charset="-122"/>
                <a:cs typeface="Noto Sans JP Medium" pitchFamily="34" charset="-120"/>
              </a:rPr>
              <a:t>　鉄鋼</a:t>
            </a:r>
            <a:endParaRPr lang="en-US" sz="660" dirty="0"/>
          </a:p>
        </p:txBody>
      </p:sp>
      <p:sp>
        <p:nvSpPr>
          <p:cNvPr id="18" name="Text 16"/>
          <p:cNvSpPr/>
          <p:nvPr/>
        </p:nvSpPr>
        <p:spPr>
          <a:xfrm>
            <a:off x="647983" y="3155233"/>
            <a:ext cx="921053" cy="169365"/>
          </a:xfrm>
          <a:prstGeom prst="rect">
            <a:avLst/>
          </a:prstGeom>
          <a:noFill/>
          <a:ln/>
        </p:spPr>
        <p:txBody>
          <a:bodyPr wrap="none" lIns="0" tIns="0" rIns="0" bIns="0" rtlCol="0" anchor="t"/>
          <a:lstStyle/>
          <a:p>
            <a:pPr algn="l" indent="0" marL="0">
              <a:lnSpc>
                <a:spcPts val="1333"/>
              </a:lnSpc>
              <a:buNone/>
            </a:pPr>
            <a:r>
              <a:rPr lang="en-US" sz="860" spc="30" kern="0" dirty="0">
                <a:solidFill>
                  <a:srgbClr val="121519"/>
                </a:solidFill>
                <a:latin typeface="Noto Sans JP Medium" pitchFamily="34" charset="0"/>
                <a:ea typeface="Noto Sans JP Medium" pitchFamily="34" charset="-122"/>
                <a:cs typeface="Noto Sans JP Medium" pitchFamily="34" charset="-120"/>
              </a:rPr>
              <a:t>原料炭・鉄鉱石</a:t>
            </a:r>
            <a:endParaRPr lang="en-US" sz="860" dirty="0"/>
          </a:p>
        </p:txBody>
      </p:sp>
      <p:sp>
        <p:nvSpPr>
          <p:cNvPr id="19" name="Text 17"/>
          <p:cNvSpPr/>
          <p:nvPr/>
        </p:nvSpPr>
        <p:spPr>
          <a:xfrm>
            <a:off x="647983" y="3366367"/>
            <a:ext cx="1730794"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鉱山会社／当社資産（BMA・IOC ほか）</a:t>
            </a:r>
            <a:endParaRPr lang="en-US" sz="670" dirty="0"/>
          </a:p>
        </p:txBody>
      </p:sp>
      <p:sp>
        <p:nvSpPr>
          <p:cNvPr id="20" name="Text 18"/>
          <p:cNvSpPr/>
          <p:nvPr/>
        </p:nvSpPr>
        <p:spPr>
          <a:xfrm>
            <a:off x="3570259" y="3155233"/>
            <a:ext cx="921053" cy="169365"/>
          </a:xfrm>
          <a:prstGeom prst="rect">
            <a:avLst/>
          </a:prstGeom>
          <a:noFill/>
          <a:ln/>
        </p:spPr>
        <p:txBody>
          <a:bodyPr wrap="none" lIns="0" tIns="0" rIns="0" bIns="0" rtlCol="0" anchor="t"/>
          <a:lstStyle/>
          <a:p>
            <a:pPr algn="l" indent="0" marL="0">
              <a:lnSpc>
                <a:spcPts val="1333"/>
              </a:lnSpc>
              <a:buNone/>
            </a:pPr>
            <a:r>
              <a:rPr lang="en-US" sz="860" spc="30" kern="0" dirty="0">
                <a:solidFill>
                  <a:srgbClr val="1F3A56"/>
                </a:solidFill>
                <a:latin typeface="Noto Sans JP Medium" pitchFamily="34" charset="0"/>
                <a:ea typeface="Noto Sans JP Medium" pitchFamily="34" charset="-122"/>
                <a:cs typeface="Noto Sans JP Medium" pitchFamily="34" charset="-120"/>
              </a:rPr>
              <a:t>原料炭・鉄鉱石</a:t>
            </a:r>
            <a:endParaRPr lang="en-US" sz="860" dirty="0"/>
          </a:p>
        </p:txBody>
      </p:sp>
      <p:sp>
        <p:nvSpPr>
          <p:cNvPr id="21" name="Text 19"/>
          <p:cNvSpPr/>
          <p:nvPr/>
        </p:nvSpPr>
        <p:spPr>
          <a:xfrm>
            <a:off x="3570259" y="3366367"/>
            <a:ext cx="969096"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RtMが製鉄会社へ供給</a:t>
            </a:r>
            <a:endParaRPr lang="en-US" sz="670" dirty="0"/>
          </a:p>
        </p:txBody>
      </p:sp>
      <p:sp>
        <p:nvSpPr>
          <p:cNvPr id="22" name="Text 20"/>
          <p:cNvSpPr/>
          <p:nvPr/>
        </p:nvSpPr>
        <p:spPr>
          <a:xfrm>
            <a:off x="6238425" y="3155233"/>
            <a:ext cx="548066" cy="169365"/>
          </a:xfrm>
          <a:prstGeom prst="rect">
            <a:avLst/>
          </a:prstGeom>
          <a:noFill/>
          <a:ln/>
        </p:spPr>
        <p:txBody>
          <a:bodyPr wrap="none" lIns="0" tIns="0" rIns="0" bIns="0" rtlCol="0" anchor="t"/>
          <a:lstStyle/>
          <a:p>
            <a:pPr algn="l" indent="0" marL="0">
              <a:lnSpc>
                <a:spcPts val="1333"/>
              </a:lnSpc>
              <a:buNone/>
            </a:pPr>
            <a:r>
              <a:rPr lang="en-US" sz="860" spc="30" kern="0" dirty="0">
                <a:solidFill>
                  <a:srgbClr val="121519"/>
                </a:solidFill>
                <a:latin typeface="Noto Sans JP Medium" pitchFamily="34" charset="0"/>
                <a:ea typeface="Noto Sans JP Medium" pitchFamily="34" charset="-122"/>
                <a:cs typeface="Noto Sans JP Medium" pitchFamily="34" charset="-120"/>
              </a:rPr>
              <a:t>製鉄会社</a:t>
            </a:r>
            <a:endParaRPr lang="en-US" sz="860" dirty="0"/>
          </a:p>
        </p:txBody>
      </p:sp>
      <p:sp>
        <p:nvSpPr>
          <p:cNvPr id="23" name="Text 21"/>
          <p:cNvSpPr/>
          <p:nvPr/>
        </p:nvSpPr>
        <p:spPr>
          <a:xfrm>
            <a:off x="6238425" y="3366367"/>
            <a:ext cx="1359335"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鉄鉱石と原料炭から鋼材を製造</a:t>
            </a:r>
            <a:endParaRPr lang="en-US" sz="670" dirty="0"/>
          </a:p>
        </p:txBody>
      </p:sp>
      <p:sp>
        <p:nvSpPr>
          <p:cNvPr id="24" name="Text 22"/>
          <p:cNvSpPr/>
          <p:nvPr/>
        </p:nvSpPr>
        <p:spPr>
          <a:xfrm>
            <a:off x="9160701" y="3155233"/>
            <a:ext cx="299553" cy="169365"/>
          </a:xfrm>
          <a:prstGeom prst="rect">
            <a:avLst/>
          </a:prstGeom>
          <a:noFill/>
          <a:ln/>
        </p:spPr>
        <p:txBody>
          <a:bodyPr wrap="none" lIns="0" tIns="0" rIns="0" bIns="0" rtlCol="0" anchor="t"/>
          <a:lstStyle/>
          <a:p>
            <a:pPr algn="l" indent="0" marL="0">
              <a:lnSpc>
                <a:spcPts val="1333"/>
              </a:lnSpc>
              <a:buNone/>
            </a:pPr>
            <a:r>
              <a:rPr lang="en-US" sz="860" spc="30" kern="0" dirty="0">
                <a:solidFill>
                  <a:srgbClr val="1F3A56"/>
                </a:solidFill>
                <a:latin typeface="Noto Sans JP Medium" pitchFamily="34" charset="0"/>
                <a:ea typeface="Noto Sans JP Medium" pitchFamily="34" charset="-122"/>
                <a:cs typeface="Noto Sans JP Medium" pitchFamily="34" charset="-120"/>
              </a:rPr>
              <a:t>鋼材</a:t>
            </a:r>
            <a:endParaRPr lang="en-US" sz="860" dirty="0"/>
          </a:p>
        </p:txBody>
      </p:sp>
      <p:sp>
        <p:nvSpPr>
          <p:cNvPr id="25" name="Text 23"/>
          <p:cNvSpPr/>
          <p:nvPr/>
        </p:nvSpPr>
        <p:spPr>
          <a:xfrm>
            <a:off x="9160701" y="3366367"/>
            <a:ext cx="2381993" cy="272407"/>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鋼材の販売はメタルワン（三菱商事の別グループ）が担</a:t>
            </a:r>
            <a:endParaRPr lang="en-US" sz="670" dirty="0"/>
          </a:p>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う</a:t>
            </a:r>
            <a:endParaRPr lang="en-US" sz="670" dirty="0"/>
          </a:p>
        </p:txBody>
      </p:sp>
      <p:sp>
        <p:nvSpPr>
          <p:cNvPr id="26" name="Text 24"/>
          <p:cNvSpPr/>
          <p:nvPr/>
        </p:nvSpPr>
        <p:spPr>
          <a:xfrm>
            <a:off x="11828867" y="3155233"/>
            <a:ext cx="1169566" cy="169365"/>
          </a:xfrm>
          <a:prstGeom prst="rect">
            <a:avLst/>
          </a:prstGeom>
          <a:noFill/>
          <a:ln/>
        </p:spPr>
        <p:txBody>
          <a:bodyPr wrap="none" lIns="0" tIns="0" rIns="0" bIns="0" rtlCol="0" anchor="t"/>
          <a:lstStyle/>
          <a:p>
            <a:pPr algn="l" indent="0" marL="0">
              <a:lnSpc>
                <a:spcPts val="1333"/>
              </a:lnSpc>
              <a:buNone/>
            </a:pPr>
            <a:r>
              <a:rPr lang="en-US" sz="860" spc="30" kern="0" dirty="0">
                <a:solidFill>
                  <a:srgbClr val="121519"/>
                </a:solidFill>
                <a:latin typeface="Noto Sans JP Medium" pitchFamily="34" charset="0"/>
                <a:ea typeface="Noto Sans JP Medium" pitchFamily="34" charset="-122"/>
                <a:cs typeface="Noto Sans JP Medium" pitchFamily="34" charset="-120"/>
              </a:rPr>
              <a:t>建材・自動車用鋼板</a:t>
            </a:r>
            <a:endParaRPr lang="en-US" sz="860" dirty="0"/>
          </a:p>
        </p:txBody>
      </p:sp>
      <p:sp>
        <p:nvSpPr>
          <p:cNvPr id="27" name="Text 25"/>
          <p:cNvSpPr/>
          <p:nvPr/>
        </p:nvSpPr>
        <p:spPr>
          <a:xfrm>
            <a:off x="11828867" y="3366367"/>
            <a:ext cx="977176"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インフラ・モビリティ</a:t>
            </a:r>
            <a:endParaRPr lang="en-US" sz="670" dirty="0"/>
          </a:p>
        </p:txBody>
      </p:sp>
      <p:sp>
        <p:nvSpPr>
          <p:cNvPr id="28" name="Text 26"/>
          <p:cNvSpPr/>
          <p:nvPr/>
        </p:nvSpPr>
        <p:spPr>
          <a:xfrm>
            <a:off x="482811" y="3964131"/>
            <a:ext cx="406994"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3D4249"/>
                </a:solidFill>
                <a:latin typeface="Noto Sans JP Medium" pitchFamily="34" charset="0"/>
                <a:ea typeface="Noto Sans JP Medium" pitchFamily="34" charset="-122"/>
                <a:cs typeface="Noto Sans JP Medium" pitchFamily="34" charset="-120"/>
              </a:rPr>
              <a:t>　非鉄</a:t>
            </a:r>
            <a:endParaRPr lang="en-US" sz="660" dirty="0"/>
          </a:p>
        </p:txBody>
      </p:sp>
      <p:sp>
        <p:nvSpPr>
          <p:cNvPr id="29" name="Text 27"/>
          <p:cNvSpPr/>
          <p:nvPr/>
        </p:nvSpPr>
        <p:spPr>
          <a:xfrm>
            <a:off x="647983" y="4247910"/>
            <a:ext cx="1294040" cy="169365"/>
          </a:xfrm>
          <a:prstGeom prst="rect">
            <a:avLst/>
          </a:prstGeom>
          <a:noFill/>
          <a:ln/>
        </p:spPr>
        <p:txBody>
          <a:bodyPr wrap="none" lIns="0" tIns="0" rIns="0" bIns="0" rtlCol="0" anchor="t"/>
          <a:lstStyle/>
          <a:p>
            <a:pPr algn="l" indent="0" marL="0">
              <a:lnSpc>
                <a:spcPts val="1333"/>
              </a:lnSpc>
              <a:buNone/>
            </a:pPr>
            <a:r>
              <a:rPr lang="en-US" sz="860" spc="30" kern="0" dirty="0">
                <a:solidFill>
                  <a:srgbClr val="121519"/>
                </a:solidFill>
                <a:latin typeface="Noto Sans JP Medium" pitchFamily="34" charset="0"/>
                <a:ea typeface="Noto Sans JP Medium" pitchFamily="34" charset="-122"/>
                <a:cs typeface="Noto Sans JP Medium" pitchFamily="34" charset="-120"/>
              </a:rPr>
              <a:t>銅鉱石・ボーキサイト</a:t>
            </a:r>
            <a:endParaRPr lang="en-US" sz="860" dirty="0"/>
          </a:p>
        </p:txBody>
      </p:sp>
      <p:sp>
        <p:nvSpPr>
          <p:cNvPr id="30" name="Text 28"/>
          <p:cNvSpPr/>
          <p:nvPr/>
        </p:nvSpPr>
        <p:spPr>
          <a:xfrm>
            <a:off x="647983" y="4459044"/>
            <a:ext cx="1289236"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Escondida・Quellaveco ほか</a:t>
            </a:r>
            <a:endParaRPr lang="en-US" sz="670" dirty="0"/>
          </a:p>
        </p:txBody>
      </p:sp>
      <p:sp>
        <p:nvSpPr>
          <p:cNvPr id="31" name="Text 29"/>
          <p:cNvSpPr/>
          <p:nvPr/>
        </p:nvSpPr>
        <p:spPr>
          <a:xfrm>
            <a:off x="3570259" y="4247910"/>
            <a:ext cx="1294040" cy="169365"/>
          </a:xfrm>
          <a:prstGeom prst="rect">
            <a:avLst/>
          </a:prstGeom>
          <a:noFill/>
          <a:ln/>
        </p:spPr>
        <p:txBody>
          <a:bodyPr wrap="none" lIns="0" tIns="0" rIns="0" bIns="0" rtlCol="0" anchor="t"/>
          <a:lstStyle/>
          <a:p>
            <a:pPr algn="l" indent="0" marL="0">
              <a:lnSpc>
                <a:spcPts val="1333"/>
              </a:lnSpc>
              <a:buNone/>
            </a:pPr>
            <a:r>
              <a:rPr lang="en-US" sz="860" spc="30" kern="0" dirty="0">
                <a:solidFill>
                  <a:srgbClr val="1F3A56"/>
                </a:solidFill>
                <a:latin typeface="Noto Sans JP Medium" pitchFamily="34" charset="0"/>
                <a:ea typeface="Noto Sans JP Medium" pitchFamily="34" charset="-122"/>
                <a:cs typeface="Noto Sans JP Medium" pitchFamily="34" charset="-120"/>
              </a:rPr>
              <a:t>銅精鉱・ボーキサイト</a:t>
            </a:r>
            <a:endParaRPr lang="en-US" sz="860" dirty="0"/>
          </a:p>
        </p:txBody>
      </p:sp>
      <p:sp>
        <p:nvSpPr>
          <p:cNvPr id="32" name="Text 30"/>
          <p:cNvSpPr/>
          <p:nvPr/>
        </p:nvSpPr>
        <p:spPr>
          <a:xfrm>
            <a:off x="3570259" y="4459044"/>
            <a:ext cx="969096"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RtMが製錬会社へ供給</a:t>
            </a:r>
            <a:endParaRPr lang="en-US" sz="670" dirty="0"/>
          </a:p>
        </p:txBody>
      </p:sp>
      <p:sp>
        <p:nvSpPr>
          <p:cNvPr id="33" name="Text 31"/>
          <p:cNvSpPr/>
          <p:nvPr/>
        </p:nvSpPr>
        <p:spPr>
          <a:xfrm>
            <a:off x="6238425" y="4247910"/>
            <a:ext cx="548066" cy="169365"/>
          </a:xfrm>
          <a:prstGeom prst="rect">
            <a:avLst/>
          </a:prstGeom>
          <a:noFill/>
          <a:ln/>
        </p:spPr>
        <p:txBody>
          <a:bodyPr wrap="none" lIns="0" tIns="0" rIns="0" bIns="0" rtlCol="0" anchor="t"/>
          <a:lstStyle/>
          <a:p>
            <a:pPr algn="l" indent="0" marL="0">
              <a:lnSpc>
                <a:spcPts val="1333"/>
              </a:lnSpc>
              <a:buNone/>
            </a:pPr>
            <a:r>
              <a:rPr lang="en-US" sz="860" spc="30" kern="0" dirty="0">
                <a:solidFill>
                  <a:srgbClr val="121519"/>
                </a:solidFill>
                <a:latin typeface="Noto Sans JP Medium" pitchFamily="34" charset="0"/>
                <a:ea typeface="Noto Sans JP Medium" pitchFamily="34" charset="-122"/>
                <a:cs typeface="Noto Sans JP Medium" pitchFamily="34" charset="-120"/>
              </a:rPr>
              <a:t>製錬会社</a:t>
            </a:r>
            <a:endParaRPr lang="en-US" sz="860" dirty="0"/>
          </a:p>
        </p:txBody>
      </p:sp>
      <p:sp>
        <p:nvSpPr>
          <p:cNvPr id="34" name="Text 32"/>
          <p:cNvSpPr/>
          <p:nvPr/>
        </p:nvSpPr>
        <p:spPr>
          <a:xfrm>
            <a:off x="6238425" y="4459044"/>
            <a:ext cx="1078939"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銅精鉱から銅地金を製造</a:t>
            </a:r>
            <a:endParaRPr lang="en-US" sz="670" dirty="0"/>
          </a:p>
        </p:txBody>
      </p:sp>
      <p:sp>
        <p:nvSpPr>
          <p:cNvPr id="35" name="Text 33"/>
          <p:cNvSpPr/>
          <p:nvPr/>
        </p:nvSpPr>
        <p:spPr>
          <a:xfrm>
            <a:off x="9160701" y="4247910"/>
            <a:ext cx="1168474" cy="169365"/>
          </a:xfrm>
          <a:prstGeom prst="rect">
            <a:avLst/>
          </a:prstGeom>
          <a:noFill/>
          <a:ln/>
        </p:spPr>
        <p:txBody>
          <a:bodyPr wrap="none" lIns="0" tIns="0" rIns="0" bIns="0" rtlCol="0" anchor="t"/>
          <a:lstStyle/>
          <a:p>
            <a:pPr algn="l" indent="0" marL="0">
              <a:lnSpc>
                <a:spcPts val="1333"/>
              </a:lnSpc>
              <a:buNone/>
            </a:pPr>
            <a:r>
              <a:rPr lang="en-US" sz="860" spc="30" kern="0" dirty="0">
                <a:solidFill>
                  <a:srgbClr val="1F3A56"/>
                </a:solidFill>
                <a:latin typeface="Noto Sans JP Medium" pitchFamily="34" charset="0"/>
                <a:ea typeface="Noto Sans JP Medium" pitchFamily="34" charset="-122"/>
                <a:cs typeface="Noto Sans JP Medium" pitchFamily="34" charset="-120"/>
              </a:rPr>
              <a:t>銅地金・アルミ地金</a:t>
            </a:r>
            <a:endParaRPr lang="en-US" sz="860" dirty="0"/>
          </a:p>
        </p:txBody>
      </p:sp>
      <p:sp>
        <p:nvSpPr>
          <p:cNvPr id="36" name="Text 34"/>
          <p:cNvSpPr/>
          <p:nvPr/>
        </p:nvSpPr>
        <p:spPr>
          <a:xfrm>
            <a:off x="9160701" y="4459044"/>
            <a:ext cx="1579022"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RtM・Triland Metalsが需要家へ販売</a:t>
            </a:r>
            <a:endParaRPr lang="en-US" sz="670" dirty="0"/>
          </a:p>
        </p:txBody>
      </p:sp>
      <p:sp>
        <p:nvSpPr>
          <p:cNvPr id="37" name="Text 35"/>
          <p:cNvSpPr/>
          <p:nvPr/>
        </p:nvSpPr>
        <p:spPr>
          <a:xfrm>
            <a:off x="11828867" y="4247910"/>
            <a:ext cx="1077629" cy="169365"/>
          </a:xfrm>
          <a:prstGeom prst="rect">
            <a:avLst/>
          </a:prstGeom>
          <a:noFill/>
          <a:ln/>
        </p:spPr>
        <p:txBody>
          <a:bodyPr wrap="none" lIns="0" tIns="0" rIns="0" bIns="0" rtlCol="0" anchor="t"/>
          <a:lstStyle/>
          <a:p>
            <a:pPr algn="l" indent="0" marL="0">
              <a:lnSpc>
                <a:spcPts val="1333"/>
              </a:lnSpc>
              <a:buNone/>
            </a:pPr>
            <a:r>
              <a:rPr lang="en-US" sz="860" spc="30" kern="0" dirty="0">
                <a:solidFill>
                  <a:srgbClr val="121519"/>
                </a:solidFill>
                <a:latin typeface="Noto Sans JP Medium" pitchFamily="34" charset="0"/>
                <a:ea typeface="Noto Sans JP Medium" pitchFamily="34" charset="-122"/>
                <a:cs typeface="Noto Sans JP Medium" pitchFamily="34" charset="-120"/>
              </a:rPr>
              <a:t>電線・再エネ・EV</a:t>
            </a:r>
            <a:endParaRPr lang="en-US" sz="860" dirty="0"/>
          </a:p>
        </p:txBody>
      </p:sp>
      <p:sp>
        <p:nvSpPr>
          <p:cNvPr id="38" name="Text 36"/>
          <p:cNvSpPr/>
          <p:nvPr/>
        </p:nvSpPr>
        <p:spPr>
          <a:xfrm>
            <a:off x="11828867" y="4459044"/>
            <a:ext cx="1546265"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送配電・モーター・データセンター</a:t>
            </a:r>
            <a:endParaRPr lang="en-US" sz="670" dirty="0"/>
          </a:p>
        </p:txBody>
      </p:sp>
      <p:sp>
        <p:nvSpPr>
          <p:cNvPr id="39" name="Text 37"/>
          <p:cNvSpPr/>
          <p:nvPr/>
        </p:nvSpPr>
        <p:spPr>
          <a:xfrm>
            <a:off x="635277" y="5387153"/>
            <a:ext cx="4460065" cy="152467"/>
          </a:xfrm>
          <a:prstGeom prst="rect">
            <a:avLst/>
          </a:prstGeom>
          <a:noFill/>
          <a:ln/>
        </p:spPr>
        <p:txBody>
          <a:bodyPr wrap="none" lIns="0" tIns="0" rIns="0" bIns="0" rtlCol="0" anchor="t"/>
          <a:lstStyle/>
          <a:p>
            <a:pPr algn="l" indent="0" marL="0">
              <a:lnSpc>
                <a:spcPts val="1200"/>
              </a:lnSpc>
              <a:buNone/>
            </a:pPr>
            <a:r>
              <a:rPr lang="en-US" sz="640" spc="160" kern="0" dirty="0">
                <a:solidFill>
                  <a:srgbClr val="FFFFFF"/>
                </a:solidFill>
                <a:latin typeface="Noto Sans JP Medium" pitchFamily="34" charset="0"/>
                <a:ea typeface="Noto Sans JP Medium" pitchFamily="34" charset="-122"/>
                <a:cs typeface="Noto Sans JP Medium" pitchFamily="34" charset="-120"/>
              </a:rPr>
              <a:t>資源投資</a:t>
            </a:r>
            <a:pPr algn="l" indent="0" marL="0">
              <a:lnSpc>
                <a:spcPts val="1200"/>
              </a:lnSpc>
              <a:buNone/>
            </a:pPr>
            <a:r>
              <a:rPr lang="en-US" sz="1600" dirty="0">
                <a:solidFill>
                  <a:srgbClr val="121519"/>
                </a:solidFill>
                <a:latin typeface="Noto Sans JP" pitchFamily="34" charset="0"/>
                <a:ea typeface="Noto Sans JP" pitchFamily="34" charset="-122"/>
                <a:cs typeface="Noto Sans JP" pitchFamily="34" charset="-120"/>
              </a:rPr>
              <a:t>　</a:t>
            </a:r>
            <a:pPr algn="l" indent="0" marL="0">
              <a:lnSpc>
                <a:spcPts val="1200"/>
              </a:lnSpc>
              <a:buNone/>
            </a:pPr>
            <a:r>
              <a:rPr lang="en-US" sz="840" dirty="0">
                <a:solidFill>
                  <a:srgbClr val="FFFFFF"/>
                </a:solidFill>
                <a:latin typeface="Noto Sans JP Medium" pitchFamily="34" charset="0"/>
                <a:ea typeface="Noto Sans JP Medium" pitchFamily="34" charset="-122"/>
                <a:cs typeface="Noto Sans JP Medium" pitchFamily="34" charset="-120"/>
              </a:rPr>
              <a:t>鉱山・製鉄・製錬への出資｜鉄鋼原料本部・クリティカルミネラル本部</a:t>
            </a:r>
            <a:endParaRPr lang="en-US" sz="640" dirty="0"/>
          </a:p>
        </p:txBody>
      </p:sp>
      <p:sp>
        <p:nvSpPr>
          <p:cNvPr id="40" name="Text 38"/>
          <p:cNvSpPr/>
          <p:nvPr/>
        </p:nvSpPr>
        <p:spPr>
          <a:xfrm>
            <a:off x="635277" y="5742908"/>
            <a:ext cx="4572529" cy="152467"/>
          </a:xfrm>
          <a:prstGeom prst="rect">
            <a:avLst/>
          </a:prstGeom>
          <a:noFill/>
          <a:ln/>
        </p:spPr>
        <p:txBody>
          <a:bodyPr wrap="none" lIns="0" tIns="0" rIns="0" bIns="0" rtlCol="0" anchor="t"/>
          <a:lstStyle/>
          <a:p>
            <a:pPr algn="l" indent="0" marL="0">
              <a:lnSpc>
                <a:spcPts val="1200"/>
              </a:lnSpc>
              <a:buNone/>
            </a:pPr>
            <a:r>
              <a:rPr lang="en-US" sz="640" spc="160" kern="0" dirty="0">
                <a:solidFill>
                  <a:srgbClr val="FFFFFF"/>
                </a:solidFill>
                <a:latin typeface="Noto Sans JP Medium" pitchFamily="34" charset="0"/>
                <a:ea typeface="Noto Sans JP Medium" pitchFamily="34" charset="-122"/>
                <a:cs typeface="Noto Sans JP Medium" pitchFamily="34" charset="-120"/>
              </a:rPr>
              <a:t>トレーディング</a:t>
            </a:r>
            <a:pPr algn="l" indent="0" marL="0">
              <a:lnSpc>
                <a:spcPts val="1200"/>
              </a:lnSpc>
              <a:buNone/>
            </a:pPr>
            <a:r>
              <a:rPr lang="en-US" sz="1600" dirty="0">
                <a:solidFill>
                  <a:srgbClr val="121519"/>
                </a:solidFill>
                <a:latin typeface="Noto Sans JP" pitchFamily="34" charset="0"/>
                <a:ea typeface="Noto Sans JP" pitchFamily="34" charset="-122"/>
                <a:cs typeface="Noto Sans JP" pitchFamily="34" charset="-120"/>
              </a:rPr>
              <a:t>　</a:t>
            </a:r>
            <a:pPr algn="l" indent="0" marL="0">
              <a:lnSpc>
                <a:spcPts val="1200"/>
              </a:lnSpc>
              <a:buNone/>
            </a:pPr>
            <a:r>
              <a:rPr lang="en-US" sz="840" dirty="0">
                <a:solidFill>
                  <a:srgbClr val="FFFFFF"/>
                </a:solidFill>
                <a:latin typeface="Noto Sans JP Medium" pitchFamily="34" charset="0"/>
                <a:ea typeface="Noto Sans JP Medium" pitchFamily="34" charset="-122"/>
                <a:cs typeface="Noto Sans JP Medium" pitchFamily="34" charset="-120"/>
              </a:rPr>
              <a:t>RtM｜金属資源トレーディング本部｜15業界×50カ国×約1,000社</a:t>
            </a:r>
            <a:endParaRPr lang="en-US" sz="640" dirty="0"/>
          </a:p>
        </p:txBody>
      </p:sp>
      <p:sp>
        <p:nvSpPr>
          <p:cNvPr id="41" name="Text 39"/>
          <p:cNvSpPr/>
          <p:nvPr/>
        </p:nvSpPr>
        <p:spPr>
          <a:xfrm>
            <a:off x="508222" y="6225719"/>
            <a:ext cx="406994"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Noto Sans JP Medium" pitchFamily="34" charset="0"/>
                <a:ea typeface="Noto Sans JP Medium" pitchFamily="34" charset="-122"/>
                <a:cs typeface="Noto Sans JP Medium" pitchFamily="34" charset="-120"/>
              </a:rPr>
              <a:t>好循環</a:t>
            </a:r>
            <a:endParaRPr lang="en-US" sz="660" dirty="0"/>
          </a:p>
        </p:txBody>
      </p:sp>
      <p:sp>
        <p:nvSpPr>
          <p:cNvPr id="42" name="Text 40"/>
          <p:cNvSpPr/>
          <p:nvPr/>
        </p:nvSpPr>
        <p:spPr>
          <a:xfrm>
            <a:off x="1905832" y="6225719"/>
            <a:ext cx="1358025"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投資と販売が支え合う仕組み</a:t>
            </a:r>
            <a:endParaRPr lang="en-US" sz="660" dirty="0"/>
          </a:p>
        </p:txBody>
      </p:sp>
      <p:sp>
        <p:nvSpPr>
          <p:cNvPr id="43" name="Text 41"/>
          <p:cNvSpPr/>
          <p:nvPr/>
        </p:nvSpPr>
        <p:spPr>
          <a:xfrm>
            <a:off x="899821" y="6399023"/>
            <a:ext cx="1249492" cy="136203"/>
          </a:xfrm>
          <a:prstGeom prst="rect">
            <a:avLst/>
          </a:prstGeom>
          <a:noFill/>
          <a:ln/>
        </p:spPr>
        <p:txBody>
          <a:bodyPr wrap="none" lIns="0" tIns="0" rIns="0" bIns="0" rtlCol="0" anchor="t"/>
          <a:lstStyle/>
          <a:p>
            <a:pPr algn="ctr" indent="0" marL="0">
              <a:lnSpc>
                <a:spcPts val="1072"/>
              </a:lnSpc>
              <a:buNone/>
            </a:pPr>
            <a:r>
              <a:rPr lang="en-US" sz="670" dirty="0">
                <a:solidFill>
                  <a:srgbClr val="9C7442"/>
                </a:solidFill>
                <a:latin typeface="Noto Sans JP" pitchFamily="34" charset="0"/>
                <a:ea typeface="Noto Sans JP" pitchFamily="34" charset="-122"/>
                <a:cs typeface="Noto Sans JP" pitchFamily="34" charset="-120"/>
              </a:rPr>
              <a:t>出資先の産出物をRtMが販売</a:t>
            </a:r>
            <a:endParaRPr lang="en-US" sz="670" dirty="0"/>
          </a:p>
        </p:txBody>
      </p:sp>
      <p:sp>
        <p:nvSpPr>
          <p:cNvPr id="44" name="Text 42"/>
          <p:cNvSpPr/>
          <p:nvPr/>
        </p:nvSpPr>
        <p:spPr>
          <a:xfrm>
            <a:off x="704801" y="8203211"/>
            <a:ext cx="1639731" cy="136203"/>
          </a:xfrm>
          <a:prstGeom prst="rect">
            <a:avLst/>
          </a:prstGeom>
          <a:noFill/>
          <a:ln/>
        </p:spPr>
        <p:txBody>
          <a:bodyPr wrap="none" lIns="0" tIns="0" rIns="0" bIns="0" rtlCol="0" anchor="t"/>
          <a:lstStyle/>
          <a:p>
            <a:pPr algn="ctr" indent="0" marL="0">
              <a:lnSpc>
                <a:spcPts val="1072"/>
              </a:lnSpc>
              <a:buNone/>
            </a:pPr>
            <a:r>
              <a:rPr lang="en-US" sz="670" dirty="0">
                <a:solidFill>
                  <a:srgbClr val="1F3A56"/>
                </a:solidFill>
                <a:latin typeface="Noto Sans JP" pitchFamily="34" charset="0"/>
                <a:ea typeface="Noto Sans JP" pitchFamily="34" charset="-122"/>
                <a:cs typeface="Noto Sans JP" pitchFamily="34" charset="-120"/>
              </a:rPr>
              <a:t>顧客から得た市場の情報を投資判断へ</a:t>
            </a:r>
            <a:endParaRPr lang="en-US" sz="670" dirty="0"/>
          </a:p>
        </p:txBody>
      </p:sp>
      <p:sp>
        <p:nvSpPr>
          <p:cNvPr id="45" name="Text 43"/>
          <p:cNvSpPr/>
          <p:nvPr/>
        </p:nvSpPr>
        <p:spPr>
          <a:xfrm>
            <a:off x="1143499" y="7264716"/>
            <a:ext cx="349125" cy="132773"/>
          </a:xfrm>
          <a:prstGeom prst="rect">
            <a:avLst/>
          </a:prstGeom>
          <a:noFill/>
          <a:ln/>
        </p:spPr>
        <p:txBody>
          <a:bodyPr wrap="none" lIns="0" tIns="0" rIns="0" bIns="0" rtlCol="0" anchor="t"/>
          <a:lstStyle/>
          <a:p>
            <a:pPr algn="l" indent="0" marL="0">
              <a:lnSpc>
                <a:spcPts val="1045"/>
              </a:lnSpc>
              <a:buNone/>
            </a:pPr>
            <a:r>
              <a:rPr lang="en-US" sz="1100" spc="-33" kern="0" dirty="0">
                <a:solidFill>
                  <a:srgbClr val="9C7442"/>
                </a:solidFill>
                <a:latin typeface="Inter Tight SemiBold" pitchFamily="34" charset="0"/>
                <a:ea typeface="Inter Tight SemiBold" pitchFamily="34" charset="-122"/>
                <a:cs typeface="Inter Tight SemiBold" pitchFamily="34" charset="-120"/>
              </a:rPr>
              <a:t>投資</a:t>
            </a:r>
            <a:endParaRPr lang="en-US" sz="1100" dirty="0"/>
          </a:p>
        </p:txBody>
      </p:sp>
      <p:sp>
        <p:nvSpPr>
          <p:cNvPr id="46" name="Text 44"/>
          <p:cNvSpPr/>
          <p:nvPr/>
        </p:nvSpPr>
        <p:spPr>
          <a:xfrm>
            <a:off x="1143499" y="7417182"/>
            <a:ext cx="501115" cy="132773"/>
          </a:xfrm>
          <a:prstGeom prst="rect">
            <a:avLst/>
          </a:prstGeom>
          <a:noFill/>
          <a:ln/>
        </p:spPr>
        <p:txBody>
          <a:bodyPr wrap="none" lIns="0" tIns="0" rIns="0" bIns="0" rtlCol="0" anchor="t"/>
          <a:lstStyle/>
          <a:p>
            <a:pPr algn="l" indent="0" marL="0">
              <a:lnSpc>
                <a:spcPts val="1045"/>
              </a:lnSpc>
              <a:buNone/>
            </a:pPr>
            <a:r>
              <a:rPr lang="en-US" sz="1100" spc="-33" kern="0" dirty="0">
                <a:solidFill>
                  <a:srgbClr val="1F3A56"/>
                </a:solidFill>
                <a:latin typeface="Inter Tight SemiBold" pitchFamily="34" charset="0"/>
                <a:ea typeface="Inter Tight SemiBold" pitchFamily="34" charset="-122"/>
                <a:cs typeface="Inter Tight SemiBold" pitchFamily="34" charset="-120"/>
              </a:rPr>
              <a:t>⇄ 販売</a:t>
            </a:r>
            <a:endParaRPr lang="en-US" sz="1100" dirty="0"/>
          </a:p>
        </p:txBody>
      </p:sp>
      <p:sp>
        <p:nvSpPr>
          <p:cNvPr id="47" name="Text 45"/>
          <p:cNvSpPr/>
          <p:nvPr/>
        </p:nvSpPr>
        <p:spPr>
          <a:xfrm>
            <a:off x="2668165" y="6497332"/>
            <a:ext cx="4942459" cy="904953"/>
          </a:xfrm>
          <a:prstGeom prst="rect">
            <a:avLst/>
          </a:prstGeom>
          <a:noFill/>
          <a:ln/>
        </p:spPr>
        <p:txBody>
          <a:bodyPr wrap="none" lIns="0" tIns="0" rIns="0" bIns="0" rtlCol="0" anchor="t"/>
          <a:lstStyle/>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出資先の鉱山から出資比率に応じて引き取る資源を、RtMがヘッジ・在庫・物流などの機能を付け</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て、欧州・アジア・米州の顧客に届けます。顧客と日々向き合うRtMが得た市場の情報は、次の資</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源投資の判断に生かされます。肥料資源では、本格的な投資に先立ってシンガポールにトレーディ</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ングデスクを設け、市場を深く理解してから投資へと進みました。投資と販売を併せ持つからこそ</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できる、この「事業機会の発掘」が私たちの強みです。</a:t>
            </a:r>
            <a:endParaRPr lang="en-US" sz="770" dirty="0"/>
          </a:p>
        </p:txBody>
      </p:sp>
      <p:sp>
        <p:nvSpPr>
          <p:cNvPr id="48" name="Text 46"/>
          <p:cNvSpPr/>
          <p:nvPr/>
        </p:nvSpPr>
        <p:spPr>
          <a:xfrm>
            <a:off x="2668165" y="7724974"/>
            <a:ext cx="694815"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Noto Sans JP Medium" pitchFamily="34" charset="0"/>
                <a:ea typeface="Noto Sans JP Medium" pitchFamily="34" charset="-122"/>
                <a:cs typeface="Noto Sans JP Medium" pitchFamily="34" charset="-120"/>
              </a:rPr>
              <a:t>RtMの機能</a:t>
            </a:r>
            <a:endParaRPr lang="en-US" sz="660" dirty="0"/>
          </a:p>
        </p:txBody>
      </p:sp>
      <p:sp>
        <p:nvSpPr>
          <p:cNvPr id="49" name="Text 47"/>
          <p:cNvSpPr/>
          <p:nvPr/>
        </p:nvSpPr>
        <p:spPr>
          <a:xfrm>
            <a:off x="2744399" y="7949100"/>
            <a:ext cx="518148"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販売・調達</a:t>
            </a:r>
            <a:endParaRPr lang="en-US" sz="670" dirty="0"/>
          </a:p>
        </p:txBody>
      </p:sp>
      <p:sp>
        <p:nvSpPr>
          <p:cNvPr id="50" name="Text 48"/>
          <p:cNvSpPr/>
          <p:nvPr/>
        </p:nvSpPr>
        <p:spPr>
          <a:xfrm>
            <a:off x="3633787" y="7949100"/>
            <a:ext cx="237753"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物流</a:t>
            </a:r>
            <a:endParaRPr lang="en-US" sz="670" dirty="0"/>
          </a:p>
        </p:txBody>
      </p:sp>
      <p:sp>
        <p:nvSpPr>
          <p:cNvPr id="51" name="Text 49"/>
          <p:cNvSpPr/>
          <p:nvPr/>
        </p:nvSpPr>
        <p:spPr>
          <a:xfrm>
            <a:off x="4523176" y="7949100"/>
            <a:ext cx="607901"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ファイナンス</a:t>
            </a:r>
            <a:endParaRPr lang="en-US" sz="670" dirty="0"/>
          </a:p>
        </p:txBody>
      </p:sp>
      <p:sp>
        <p:nvSpPr>
          <p:cNvPr id="52" name="Text 50"/>
          <p:cNvSpPr/>
          <p:nvPr/>
        </p:nvSpPr>
        <p:spPr>
          <a:xfrm>
            <a:off x="5412564" y="7949100"/>
            <a:ext cx="518148"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リスク管理</a:t>
            </a:r>
            <a:endParaRPr lang="en-US" sz="670" dirty="0"/>
          </a:p>
        </p:txBody>
      </p:sp>
      <p:sp>
        <p:nvSpPr>
          <p:cNvPr id="53" name="Text 51"/>
          <p:cNvSpPr/>
          <p:nvPr/>
        </p:nvSpPr>
        <p:spPr>
          <a:xfrm>
            <a:off x="6301953" y="7949100"/>
            <a:ext cx="331218"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脱炭素</a:t>
            </a:r>
            <a:endParaRPr lang="en-US" sz="670" dirty="0"/>
          </a:p>
        </p:txBody>
      </p:sp>
      <p:sp>
        <p:nvSpPr>
          <p:cNvPr id="54" name="Text 52"/>
          <p:cNvSpPr/>
          <p:nvPr/>
        </p:nvSpPr>
        <p:spPr>
          <a:xfrm>
            <a:off x="8881179" y="6301953"/>
            <a:ext cx="769718"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E9D6AC"/>
                </a:solidFill>
                <a:latin typeface="Noto Sans JP Medium" pitchFamily="34" charset="0"/>
                <a:ea typeface="Noto Sans JP Medium" pitchFamily="34" charset="-122"/>
                <a:cs typeface="Noto Sans JP Medium" pitchFamily="34" charset="-120"/>
              </a:rPr>
              <a:t>私たちの約束</a:t>
            </a:r>
            <a:endParaRPr lang="en-US" sz="660" dirty="0"/>
          </a:p>
        </p:txBody>
      </p:sp>
      <p:sp>
        <p:nvSpPr>
          <p:cNvPr id="55" name="Text 53"/>
          <p:cNvSpPr/>
          <p:nvPr/>
        </p:nvSpPr>
        <p:spPr>
          <a:xfrm>
            <a:off x="8881179" y="6495585"/>
            <a:ext cx="4299776" cy="673902"/>
          </a:xfrm>
          <a:prstGeom prst="rect">
            <a:avLst/>
          </a:prstGeom>
          <a:noFill/>
          <a:ln/>
        </p:spPr>
        <p:txBody>
          <a:bodyPr wrap="none" lIns="0" tIns="0" rIns="0" bIns="0" rtlCol="0" anchor="t"/>
          <a:lstStyle/>
          <a:p>
            <a:pPr algn="l" indent="0" marL="0">
              <a:lnSpc>
                <a:spcPts val="2652"/>
              </a:lnSpc>
              <a:buNone/>
            </a:pPr>
            <a:r>
              <a:rPr lang="en-US" sz="2600" spc="-65" kern="0" dirty="0">
                <a:solidFill>
                  <a:srgbClr val="FFFFFF"/>
                </a:solidFill>
                <a:latin typeface="Inter Tight SemiBold" pitchFamily="34" charset="0"/>
                <a:ea typeface="Inter Tight SemiBold" pitchFamily="34" charset="-122"/>
                <a:cs typeface="Inter Tight SemiBold" pitchFamily="34" charset="-120"/>
              </a:rPr>
              <a:t>Supporting society</a:t>
            </a:r>
            <a:endParaRPr lang="en-US" sz="2600" dirty="0"/>
          </a:p>
          <a:p>
            <a:pPr algn="l" indent="0" marL="0">
              <a:lnSpc>
                <a:spcPts val="2652"/>
              </a:lnSpc>
              <a:buNone/>
            </a:pPr>
            <a:r>
              <a:rPr lang="en-US" sz="2600" spc="-65" kern="0" dirty="0">
                <a:solidFill>
                  <a:srgbClr val="FFFFFF"/>
                </a:solidFill>
                <a:latin typeface="Inter Tight SemiBold" pitchFamily="34" charset="0"/>
                <a:ea typeface="Inter Tight SemiBold" pitchFamily="34" charset="-122"/>
                <a:cs typeface="Inter Tight SemiBold" pitchFamily="34" charset="-120"/>
              </a:rPr>
              <a:t>with the resources it needs.</a:t>
            </a:r>
            <a:endParaRPr lang="en-US" sz="2600" dirty="0"/>
          </a:p>
        </p:txBody>
      </p:sp>
      <p:sp>
        <p:nvSpPr>
          <p:cNvPr id="56" name="Text 54"/>
          <p:cNvSpPr/>
          <p:nvPr/>
        </p:nvSpPr>
        <p:spPr>
          <a:xfrm>
            <a:off x="8881179" y="7312361"/>
            <a:ext cx="5884972" cy="354485"/>
          </a:xfrm>
          <a:prstGeom prst="rect">
            <a:avLst/>
          </a:prstGeom>
          <a:noFill/>
          <a:ln/>
        </p:spPr>
        <p:txBody>
          <a:bodyPr wrap="none" lIns="0" tIns="0" rIns="0" bIns="0" rtlCol="0" anchor="t"/>
          <a:lstStyle/>
          <a:p>
            <a:pPr algn="l" indent="0" marL="0">
              <a:lnSpc>
                <a:spcPts val="1395"/>
              </a:lnSpc>
              <a:buNone/>
            </a:pPr>
            <a:r>
              <a:rPr lang="en-US" sz="900" spc="30" kern="0" dirty="0">
                <a:solidFill>
                  <a:srgbClr val="FFFFFF"/>
                </a:solidFill>
                <a:latin typeface="Noto Sans JP Medium" pitchFamily="34" charset="0"/>
                <a:ea typeface="Noto Sans JP Medium" pitchFamily="34" charset="-122"/>
                <a:cs typeface="Noto Sans JP Medium" pitchFamily="34" charset="-120"/>
              </a:rPr>
              <a:t>社会が必要とする良質な金属資源を、持続可能な形で安定供給することで、より良い社会の実現に寄</a:t>
            </a:r>
            <a:endParaRPr lang="en-US" sz="900" dirty="0"/>
          </a:p>
          <a:p>
            <a:pPr algn="l" indent="0" marL="0">
              <a:lnSpc>
                <a:spcPts val="1395"/>
              </a:lnSpc>
              <a:buNone/>
            </a:pPr>
            <a:r>
              <a:rPr lang="en-US" sz="900" spc="30" kern="0" dirty="0">
                <a:solidFill>
                  <a:srgbClr val="FFFFFF"/>
                </a:solidFill>
                <a:latin typeface="Noto Sans JP Medium" pitchFamily="34" charset="0"/>
                <a:ea typeface="Noto Sans JP Medium" pitchFamily="34" charset="-122"/>
                <a:cs typeface="Noto Sans JP Medium" pitchFamily="34" charset="-120"/>
              </a:rPr>
              <a:t>与する。</a:t>
            </a:r>
            <a:endParaRPr lang="en-US" sz="900" dirty="0"/>
          </a:p>
        </p:txBody>
      </p:sp>
      <p:sp>
        <p:nvSpPr>
          <p:cNvPr id="57" name="Text 55"/>
          <p:cNvSpPr/>
          <p:nvPr/>
        </p:nvSpPr>
        <p:spPr>
          <a:xfrm>
            <a:off x="8881179" y="7670467"/>
            <a:ext cx="5920786" cy="319672"/>
          </a:xfrm>
          <a:prstGeom prst="rect">
            <a:avLst/>
          </a:prstGeom>
          <a:noFill/>
          <a:ln/>
        </p:spPr>
        <p:txBody>
          <a:bodyPr wrap="none" lIns="0" tIns="0" rIns="0" bIns="0" rtlCol="0" anchor="t"/>
          <a:lstStyle/>
          <a:p>
            <a:pPr algn="l" indent="0" marL="0">
              <a:lnSpc>
                <a:spcPts val="1258"/>
              </a:lnSpc>
              <a:buNone/>
            </a:pPr>
            <a:r>
              <a:rPr lang="en-US" sz="680" spc="20" kern="0" dirty="0">
                <a:solidFill>
                  <a:srgbClr val="C9CED3"/>
                </a:solidFill>
                <a:latin typeface="Noto Sans JP" pitchFamily="34" charset="0"/>
                <a:ea typeface="Noto Sans JP" pitchFamily="34" charset="-122"/>
                <a:cs typeface="Noto Sans JP" pitchFamily="34" charset="-120"/>
              </a:rPr>
              <a:t>需要の拡大、供給制約、地政学リスク——変化する外部環境に対し、①安定的な資源確保による安定供給と、②バリューチェーン全体</a:t>
            </a:r>
            <a:endParaRPr lang="en-US" sz="680" dirty="0"/>
          </a:p>
          <a:p>
            <a:pPr algn="l" indent="0" marL="0">
              <a:lnSpc>
                <a:spcPts val="1258"/>
              </a:lnSpc>
              <a:buNone/>
            </a:pPr>
            <a:r>
              <a:rPr lang="en-US" sz="680" spc="20" kern="0" dirty="0">
                <a:solidFill>
                  <a:srgbClr val="C9CED3"/>
                </a:solidFill>
                <a:latin typeface="Noto Sans JP" pitchFamily="34" charset="0"/>
                <a:ea typeface="Noto Sans JP" pitchFamily="34" charset="-122"/>
                <a:cs typeface="Noto Sans JP" pitchFamily="34" charset="-120"/>
              </a:rPr>
              <a:t>の効率化による効率的な供給の両面で応えていきます。共に、持続可能で豊かな未来を。</a:t>
            </a:r>
            <a:endParaRPr lang="en-US" sz="680" dirty="0"/>
          </a:p>
        </p:txBody>
      </p:sp>
      <p:sp>
        <p:nvSpPr>
          <p:cNvPr id="58" name="Text 56"/>
          <p:cNvSpPr/>
          <p:nvPr/>
        </p:nvSpPr>
        <p:spPr>
          <a:xfrm>
            <a:off x="8881179" y="8309429"/>
            <a:ext cx="1272858"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FFFFFF"/>
                </a:solidFill>
                <a:latin typeface="Noto Sans JP Medium" pitchFamily="34" charset="0"/>
                <a:ea typeface="Noto Sans JP Medium" pitchFamily="34" charset="-122"/>
                <a:cs typeface="Noto Sans JP Medium" pitchFamily="34" charset="-120"/>
              </a:rPr>
              <a:t>三菱商事　金属資源グループ</a:t>
            </a:r>
            <a:endParaRPr lang="en-US" sz="640" dirty="0"/>
          </a:p>
        </p:txBody>
      </p:sp>
      <p:sp>
        <p:nvSpPr>
          <p:cNvPr id="59" name="Text 57"/>
          <p:cNvSpPr/>
          <p:nvPr/>
        </p:nvSpPr>
        <p:spPr>
          <a:xfrm>
            <a:off x="8881179" y="8444616"/>
            <a:ext cx="2985149" cy="136203"/>
          </a:xfrm>
          <a:prstGeom prst="rect">
            <a:avLst/>
          </a:prstGeom>
          <a:noFill/>
          <a:ln/>
        </p:spPr>
        <p:txBody>
          <a:bodyPr wrap="none" lIns="0" tIns="0" rIns="0" bIns="0" rtlCol="0" anchor="t"/>
          <a:lstStyle/>
          <a:p>
            <a:pPr algn="l" indent="0" marL="0">
              <a:lnSpc>
                <a:spcPts val="1072"/>
              </a:lnSpc>
              <a:buNone/>
            </a:pPr>
            <a:r>
              <a:rPr lang="en-US" sz="670" dirty="0">
                <a:solidFill>
                  <a:srgbClr val="9AA1A8"/>
                </a:solidFill>
                <a:latin typeface="Noto Sans JP" pitchFamily="34" charset="0"/>
                <a:ea typeface="Noto Sans JP" pitchFamily="34" charset="-122"/>
                <a:cs typeface="Noto Sans JP" pitchFamily="34" charset="-120"/>
              </a:rPr>
              <a:t>〒100-8086 東京都千代田区丸の内2-3-1｜www.mitsubishicorp.com</a:t>
            </a:r>
            <a:endParaRPr lang="en-US" sz="670" dirty="0"/>
          </a:p>
        </p:txBody>
      </p:sp>
      <p:sp>
        <p:nvSpPr>
          <p:cNvPr id="60" name="Text 58"/>
          <p:cNvSpPr/>
          <p:nvPr/>
        </p:nvSpPr>
        <p:spPr>
          <a:xfrm>
            <a:off x="127055" y="10011973"/>
            <a:ext cx="553744"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FFFFFF"/>
                </a:solidFill>
                <a:latin typeface="Noto Sans JP Medium" pitchFamily="34" charset="0"/>
                <a:ea typeface="Noto Sans JP Medium" pitchFamily="34" charset="-122"/>
                <a:cs typeface="Noto Sans JP Medium" pitchFamily="34" charset="-120"/>
              </a:rPr>
              <a:t>港湾・鉄道</a:t>
            </a:r>
            <a:endParaRPr lang="en-US" sz="580" dirty="0"/>
          </a:p>
        </p:txBody>
      </p:sp>
      <p:sp>
        <p:nvSpPr>
          <p:cNvPr id="61" name="Text 59"/>
          <p:cNvSpPr/>
          <p:nvPr/>
        </p:nvSpPr>
        <p:spPr>
          <a:xfrm>
            <a:off x="5171159" y="10011973"/>
            <a:ext cx="453290"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FFFFFF"/>
                </a:solidFill>
                <a:latin typeface="Noto Sans JP Medium" pitchFamily="34" charset="0"/>
                <a:ea typeface="Noto Sans JP Medium" pitchFamily="34" charset="-122"/>
                <a:cs typeface="Noto Sans JP Medium" pitchFamily="34" charset="-120"/>
              </a:rPr>
              <a:t>海上輸送</a:t>
            </a:r>
            <a:endParaRPr lang="en-US" sz="580" dirty="0"/>
          </a:p>
        </p:txBody>
      </p:sp>
      <p:sp>
        <p:nvSpPr>
          <p:cNvPr id="62" name="Text 60"/>
          <p:cNvSpPr/>
          <p:nvPr/>
        </p:nvSpPr>
        <p:spPr>
          <a:xfrm>
            <a:off x="10253379" y="10011973"/>
            <a:ext cx="252165"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FFFFFF"/>
                </a:solidFill>
                <a:latin typeface="Noto Sans JP Medium" pitchFamily="34" charset="0"/>
                <a:ea typeface="Noto Sans JP Medium" pitchFamily="34" charset="-122"/>
                <a:cs typeface="Noto Sans JP Medium" pitchFamily="34" charset="-120"/>
              </a:rPr>
              <a:t>操業</a:t>
            </a:r>
            <a:endParaRPr lang="en-US" sz="580" dirty="0"/>
          </a:p>
        </p:txBody>
      </p:sp>
      <p:sp>
        <p:nvSpPr>
          <p:cNvPr id="63" name="Text 61"/>
          <p:cNvSpPr/>
          <p:nvPr/>
        </p:nvSpPr>
        <p:spPr>
          <a:xfrm>
            <a:off x="508222" y="10316906"/>
            <a:ext cx="184687" cy="88939"/>
          </a:xfrm>
          <a:prstGeom prst="rect">
            <a:avLst/>
          </a:prstGeom>
          <a:noFill/>
          <a:ln/>
        </p:spPr>
        <p:txBody>
          <a:bodyPr wrap="none" lIns="0" tIns="0" rIns="0" bIns="0" rtlCol="0" anchor="t"/>
          <a:lstStyle/>
          <a:p>
            <a:pPr algn="l" indent="0" marL="0">
              <a:lnSpc>
                <a:spcPts val="700"/>
              </a:lnSpc>
              <a:buNone/>
            </a:pPr>
            <a:r>
              <a:rPr lang="en-US" sz="600" spc="160" kern="0" dirty="0">
                <a:solidFill>
                  <a:srgbClr val="7D838A"/>
                </a:solidFill>
                <a:latin typeface="Inter Medium" pitchFamily="34" charset="0"/>
                <a:ea typeface="Inter Medium" pitchFamily="34" charset="-122"/>
                <a:cs typeface="Inter Medium" pitchFamily="34" charset="-120"/>
              </a:rPr>
              <a:t>10</a:t>
            </a:r>
            <a:endParaRPr lang="en-US" sz="600" dirty="0"/>
          </a:p>
        </p:txBody>
      </p:sp>
      <p:sp>
        <p:nvSpPr>
          <p:cNvPr id="64" name="Text 62"/>
          <p:cNvSpPr/>
          <p:nvPr/>
        </p:nvSpPr>
        <p:spPr>
          <a:xfrm>
            <a:off x="14458915" y="10316906"/>
            <a:ext cx="165252" cy="88939"/>
          </a:xfrm>
          <a:prstGeom prst="rect">
            <a:avLst/>
          </a:prstGeom>
          <a:noFill/>
          <a:ln/>
        </p:spPr>
        <p:txBody>
          <a:bodyPr wrap="none" lIns="0" tIns="0" rIns="0" bIns="0" rtlCol="0" anchor="t"/>
          <a:lstStyle/>
          <a:p>
            <a:pPr algn="l" indent="0" marL="0">
              <a:lnSpc>
                <a:spcPts val="700"/>
              </a:lnSpc>
              <a:buNone/>
            </a:pPr>
            <a:r>
              <a:rPr lang="en-US" sz="600" spc="160" kern="0" dirty="0">
                <a:solidFill>
                  <a:srgbClr val="7D838A"/>
                </a:solidFill>
                <a:latin typeface="Inter Medium" pitchFamily="34" charset="0"/>
                <a:ea typeface="Inter Medium" pitchFamily="34" charset="-122"/>
                <a:cs typeface="Inter Medium" pitchFamily="34" charset="-120"/>
              </a:rPr>
              <a:t>11</a:t>
            </a:r>
            <a:endParaRPr lang="en-US" sz="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2026-10-07T12:15:28Z</dcterms:created>
  <dcterms:modified xsi:type="dcterms:W3CDTF">2026-10-07T12:15:28Z</dcterms:modified>
</cp:coreProperties>
</file>