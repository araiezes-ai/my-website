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9604" cy="10692079"/>
  <p:notesSz cx="10692079" cy="151196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09866" y="749627"/>
            <a:ext cx="1643225"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三菱商事　金属資源グループ</a:t>
            </a:r>
            <a:endParaRPr lang="en-US" sz="660" dirty="0"/>
          </a:p>
        </p:txBody>
      </p:sp>
      <p:sp>
        <p:nvSpPr>
          <p:cNvPr id="3" name="Text 1"/>
          <p:cNvSpPr/>
          <p:nvPr/>
        </p:nvSpPr>
        <p:spPr>
          <a:xfrm>
            <a:off x="8169668" y="1899480"/>
            <a:ext cx="4556369" cy="1118088"/>
          </a:xfrm>
          <a:prstGeom prst="rect">
            <a:avLst/>
          </a:prstGeom>
          <a:noFill/>
          <a:ln/>
        </p:spPr>
        <p:txBody>
          <a:bodyPr wrap="none" lIns="0" tIns="0" rIns="0" bIns="0" rtlCol="0" anchor="t"/>
          <a:lstStyle/>
          <a:p>
            <a:pPr algn="l" indent="0" marL="0">
              <a:lnSpc>
                <a:spcPts val="4400"/>
              </a:lnSpc>
              <a:buNone/>
            </a:pPr>
            <a:r>
              <a:rPr lang="en-US" sz="4000" spc="-20" kern="0" dirty="0">
                <a:solidFill>
                  <a:srgbClr val="23272C"/>
                </a:solidFill>
                <a:latin typeface="Noto Sans ExtraLight" pitchFamily="34" charset="0"/>
                <a:ea typeface="Noto Sans ExtraLight" pitchFamily="34" charset="-122"/>
                <a:cs typeface="Noto Sans ExtraLight" pitchFamily="34" charset="-120"/>
              </a:rPr>
              <a:t>Strength to Hold.</a:t>
            </a:r>
            <a:endParaRPr lang="en-US" sz="4000" dirty="0"/>
          </a:p>
          <a:p>
            <a:pPr algn="l" indent="0" marL="0">
              <a:lnSpc>
                <a:spcPts val="4400"/>
              </a:lnSpc>
              <a:buNone/>
            </a:pPr>
            <a:r>
              <a:rPr lang="en-US" sz="4000" spc="-20" kern="0" dirty="0">
                <a:solidFill>
                  <a:srgbClr val="23272C"/>
                </a:solidFill>
                <a:latin typeface="Noto Sans ExtraLight" pitchFamily="34" charset="0"/>
                <a:ea typeface="Noto Sans ExtraLight" pitchFamily="34" charset="-122"/>
                <a:cs typeface="Noto Sans ExtraLight" pitchFamily="34" charset="-120"/>
              </a:rPr>
              <a:t>Power to Connect.</a:t>
            </a:r>
            <a:endParaRPr lang="en-US" sz="4000" dirty="0"/>
          </a:p>
        </p:txBody>
      </p:sp>
      <p:sp>
        <p:nvSpPr>
          <p:cNvPr id="4" name="Text 2"/>
          <p:cNvSpPr/>
          <p:nvPr/>
        </p:nvSpPr>
        <p:spPr>
          <a:xfrm>
            <a:off x="8169668" y="3443204"/>
            <a:ext cx="1850464"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コアメッセージ｜持つ力と、つなぐ力。</a:t>
            </a:r>
            <a:endParaRPr lang="en-US" sz="660" dirty="0"/>
          </a:p>
        </p:txBody>
      </p:sp>
      <p:sp>
        <p:nvSpPr>
          <p:cNvPr id="5" name="Text 3"/>
          <p:cNvSpPr/>
          <p:nvPr/>
        </p:nvSpPr>
        <p:spPr>
          <a:xfrm>
            <a:off x="8169668" y="3679985"/>
            <a:ext cx="4238631" cy="808581"/>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資源は、そこに「ある」だけでは、まだ価値ではありません。誰かが見出し、育て、必要</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とする場所へ届けて、はじめて力になる。私たちは、世界有数の資産に関わり、投資とト</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レーディングの両輪で川上から川下までをつなぎます。フェアな立場だからこそ、埋めら</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れる隙間がある。多様なパートナーと使い手の間に立ち、その時々の最適解を導く。世界</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に眠る価値を、社会の力へ。</a:t>
            </a:r>
            <a:endParaRPr lang="en-US" sz="740" dirty="0"/>
          </a:p>
        </p:txBody>
      </p:sp>
      <p:sp>
        <p:nvSpPr>
          <p:cNvPr id="6" name="Text 4"/>
          <p:cNvSpPr/>
          <p:nvPr/>
        </p:nvSpPr>
        <p:spPr>
          <a:xfrm>
            <a:off x="8169668" y="7534391"/>
            <a:ext cx="352400"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目次</a:t>
            </a:r>
            <a:endParaRPr lang="en-US" sz="820" dirty="0"/>
          </a:p>
        </p:txBody>
      </p:sp>
      <p:sp>
        <p:nvSpPr>
          <p:cNvPr id="7" name="Text 5"/>
          <p:cNvSpPr/>
          <p:nvPr/>
        </p:nvSpPr>
        <p:spPr>
          <a:xfrm>
            <a:off x="8169668" y="7915557"/>
            <a:ext cx="323793" cy="228700"/>
          </a:xfrm>
          <a:prstGeom prst="rect">
            <a:avLst/>
          </a:prstGeom>
          <a:noFill/>
          <a:ln/>
        </p:spPr>
        <p:txBody>
          <a:bodyPr wrap="none" lIns="0" tIns="0" rIns="0" bIns="0" rtlCol="0" anchor="t"/>
          <a:lstStyle/>
          <a:p>
            <a:pPr algn="l" indent="0" marL="0">
              <a:lnSpc>
                <a:spcPts val="1800"/>
              </a:lnSpc>
              <a:buNone/>
            </a:pPr>
            <a:r>
              <a:rPr lang="en-US" sz="1800" spc="-50" kern="0" dirty="0">
                <a:solidFill>
                  <a:srgbClr val="B38F4F"/>
                </a:solidFill>
                <a:latin typeface="Noto Sans ExtraLight" pitchFamily="34" charset="0"/>
                <a:ea typeface="Noto Sans ExtraLight" pitchFamily="34" charset="-122"/>
                <a:cs typeface="Noto Sans ExtraLight" pitchFamily="34" charset="-120"/>
              </a:rPr>
              <a:t>01</a:t>
            </a:r>
            <a:endParaRPr lang="en-US" sz="1800" dirty="0"/>
          </a:p>
        </p:txBody>
      </p:sp>
      <p:sp>
        <p:nvSpPr>
          <p:cNvPr id="8" name="Text 6"/>
          <p:cNvSpPr/>
          <p:nvPr/>
        </p:nvSpPr>
        <p:spPr>
          <a:xfrm>
            <a:off x="8728713" y="7915557"/>
            <a:ext cx="973245" cy="190583"/>
          </a:xfrm>
          <a:prstGeom prst="rect">
            <a:avLst/>
          </a:prstGeom>
          <a:noFill/>
          <a:ln/>
        </p:spPr>
        <p:txBody>
          <a:bodyPr wrap="none" lIns="0" tIns="0" rIns="0" bIns="0" rtlCol="0" anchor="t"/>
          <a:lstStyle/>
          <a:p>
            <a:pPr algn="l" indent="0" marL="0">
              <a:lnSpc>
                <a:spcPts val="1500"/>
              </a:lnSpc>
              <a:buNone/>
            </a:pPr>
            <a:r>
              <a:rPr lang="en-US" sz="1100" dirty="0">
                <a:solidFill>
                  <a:srgbClr val="23272C"/>
                </a:solidFill>
                <a:latin typeface="Noto Sans JP Light" pitchFamily="34" charset="0"/>
                <a:ea typeface="Noto Sans JP Light" pitchFamily="34" charset="-122"/>
                <a:cs typeface="Noto Sans JP Light" pitchFamily="34" charset="-120"/>
              </a:rPr>
              <a:t>我々は何者か</a:t>
            </a:r>
            <a:endParaRPr lang="en-US" sz="1100" dirty="0"/>
          </a:p>
        </p:txBody>
      </p:sp>
      <p:sp>
        <p:nvSpPr>
          <p:cNvPr id="9" name="Text 7"/>
          <p:cNvSpPr/>
          <p:nvPr/>
        </p:nvSpPr>
        <p:spPr>
          <a:xfrm>
            <a:off x="8728713" y="8104679"/>
            <a:ext cx="1355841"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三菱商事 金属資源グループとは</a:t>
            </a:r>
            <a:endParaRPr lang="en-US" sz="660" dirty="0"/>
          </a:p>
        </p:txBody>
      </p:sp>
      <p:sp>
        <p:nvSpPr>
          <p:cNvPr id="10" name="Text 8"/>
          <p:cNvSpPr/>
          <p:nvPr/>
        </p:nvSpPr>
        <p:spPr>
          <a:xfrm>
            <a:off x="13747405" y="7928263"/>
            <a:ext cx="30348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P.04</a:t>
            </a:r>
            <a:endParaRPr lang="en-US" sz="620" dirty="0"/>
          </a:p>
        </p:txBody>
      </p:sp>
      <p:sp>
        <p:nvSpPr>
          <p:cNvPr id="11" name="Text 9"/>
          <p:cNvSpPr/>
          <p:nvPr/>
        </p:nvSpPr>
        <p:spPr>
          <a:xfrm>
            <a:off x="8169668" y="8474602"/>
            <a:ext cx="323793" cy="228700"/>
          </a:xfrm>
          <a:prstGeom prst="rect">
            <a:avLst/>
          </a:prstGeom>
          <a:noFill/>
          <a:ln/>
        </p:spPr>
        <p:txBody>
          <a:bodyPr wrap="none" lIns="0" tIns="0" rIns="0" bIns="0" rtlCol="0" anchor="t"/>
          <a:lstStyle/>
          <a:p>
            <a:pPr algn="l" indent="0" marL="0">
              <a:lnSpc>
                <a:spcPts val="1800"/>
              </a:lnSpc>
              <a:buNone/>
            </a:pPr>
            <a:r>
              <a:rPr lang="en-US" sz="1800" spc="-50" kern="0" dirty="0">
                <a:solidFill>
                  <a:srgbClr val="B38F4F"/>
                </a:solidFill>
                <a:latin typeface="Noto Sans ExtraLight" pitchFamily="34" charset="0"/>
                <a:ea typeface="Noto Sans ExtraLight" pitchFamily="34" charset="-122"/>
                <a:cs typeface="Noto Sans ExtraLight" pitchFamily="34" charset="-120"/>
              </a:rPr>
              <a:t>02</a:t>
            </a:r>
            <a:endParaRPr lang="en-US" sz="1800" dirty="0"/>
          </a:p>
        </p:txBody>
      </p:sp>
      <p:sp>
        <p:nvSpPr>
          <p:cNvPr id="12" name="Text 10"/>
          <p:cNvSpPr/>
          <p:nvPr/>
        </p:nvSpPr>
        <p:spPr>
          <a:xfrm>
            <a:off x="8728713" y="8474602"/>
            <a:ext cx="665771" cy="190583"/>
          </a:xfrm>
          <a:prstGeom prst="rect">
            <a:avLst/>
          </a:prstGeom>
          <a:noFill/>
          <a:ln/>
        </p:spPr>
        <p:txBody>
          <a:bodyPr wrap="none" lIns="0" tIns="0" rIns="0" bIns="0" rtlCol="0" anchor="t"/>
          <a:lstStyle/>
          <a:p>
            <a:pPr algn="l" indent="0" marL="0">
              <a:lnSpc>
                <a:spcPts val="1500"/>
              </a:lnSpc>
              <a:buNone/>
            </a:pPr>
            <a:r>
              <a:rPr lang="en-US" sz="1100" dirty="0">
                <a:solidFill>
                  <a:srgbClr val="23272C"/>
                </a:solidFill>
                <a:latin typeface="Noto Sans JP Light" pitchFamily="34" charset="0"/>
                <a:ea typeface="Noto Sans JP Light" pitchFamily="34" charset="-122"/>
                <a:cs typeface="Noto Sans JP Light" pitchFamily="34" charset="-120"/>
              </a:rPr>
              <a:t>独自価値</a:t>
            </a:r>
            <a:endParaRPr lang="en-US" sz="1100" dirty="0"/>
          </a:p>
        </p:txBody>
      </p:sp>
      <p:sp>
        <p:nvSpPr>
          <p:cNvPr id="13" name="Text 11"/>
          <p:cNvSpPr/>
          <p:nvPr/>
        </p:nvSpPr>
        <p:spPr>
          <a:xfrm>
            <a:off x="8728713" y="8663724"/>
            <a:ext cx="2348363"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フットプリント／原料炭／銅／トレーディング／新技術</a:t>
            </a:r>
            <a:endParaRPr lang="en-US" sz="660" dirty="0"/>
          </a:p>
        </p:txBody>
      </p:sp>
      <p:sp>
        <p:nvSpPr>
          <p:cNvPr id="14" name="Text 12"/>
          <p:cNvSpPr/>
          <p:nvPr/>
        </p:nvSpPr>
        <p:spPr>
          <a:xfrm>
            <a:off x="13747405" y="8487307"/>
            <a:ext cx="30348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P.05</a:t>
            </a:r>
            <a:endParaRPr lang="en-US" sz="620" dirty="0"/>
          </a:p>
        </p:txBody>
      </p:sp>
      <p:sp>
        <p:nvSpPr>
          <p:cNvPr id="15" name="Text 13"/>
          <p:cNvSpPr/>
          <p:nvPr/>
        </p:nvSpPr>
        <p:spPr>
          <a:xfrm>
            <a:off x="8169668" y="9033646"/>
            <a:ext cx="323793" cy="228700"/>
          </a:xfrm>
          <a:prstGeom prst="rect">
            <a:avLst/>
          </a:prstGeom>
          <a:noFill/>
          <a:ln/>
        </p:spPr>
        <p:txBody>
          <a:bodyPr wrap="none" lIns="0" tIns="0" rIns="0" bIns="0" rtlCol="0" anchor="t"/>
          <a:lstStyle/>
          <a:p>
            <a:pPr algn="l" indent="0" marL="0">
              <a:lnSpc>
                <a:spcPts val="1800"/>
              </a:lnSpc>
              <a:buNone/>
            </a:pPr>
            <a:r>
              <a:rPr lang="en-US" sz="1800" spc="-50" kern="0" dirty="0">
                <a:solidFill>
                  <a:srgbClr val="B38F4F"/>
                </a:solidFill>
                <a:latin typeface="Noto Sans ExtraLight" pitchFamily="34" charset="0"/>
                <a:ea typeface="Noto Sans ExtraLight" pitchFamily="34" charset="-122"/>
                <a:cs typeface="Noto Sans ExtraLight" pitchFamily="34" charset="-120"/>
              </a:rPr>
              <a:t>03</a:t>
            </a:r>
            <a:endParaRPr lang="en-US" sz="1800" dirty="0"/>
          </a:p>
        </p:txBody>
      </p:sp>
      <p:sp>
        <p:nvSpPr>
          <p:cNvPr id="16" name="Text 14"/>
          <p:cNvSpPr/>
          <p:nvPr/>
        </p:nvSpPr>
        <p:spPr>
          <a:xfrm>
            <a:off x="8728713" y="9033646"/>
            <a:ext cx="1280719" cy="190583"/>
          </a:xfrm>
          <a:prstGeom prst="rect">
            <a:avLst/>
          </a:prstGeom>
          <a:noFill/>
          <a:ln/>
        </p:spPr>
        <p:txBody>
          <a:bodyPr wrap="none" lIns="0" tIns="0" rIns="0" bIns="0" rtlCol="0" anchor="t"/>
          <a:lstStyle/>
          <a:p>
            <a:pPr algn="l" indent="0" marL="0">
              <a:lnSpc>
                <a:spcPts val="1500"/>
              </a:lnSpc>
              <a:buNone/>
            </a:pPr>
            <a:r>
              <a:rPr lang="en-US" sz="1100" dirty="0">
                <a:solidFill>
                  <a:srgbClr val="23272C"/>
                </a:solidFill>
                <a:latin typeface="Noto Sans JP Light" pitchFamily="34" charset="0"/>
                <a:ea typeface="Noto Sans JP Light" pitchFamily="34" charset="-122"/>
                <a:cs typeface="Noto Sans JP Light" pitchFamily="34" charset="-120"/>
              </a:rPr>
              <a:t>選ばれ続ける理由</a:t>
            </a:r>
            <a:endParaRPr lang="en-US" sz="1100" dirty="0"/>
          </a:p>
        </p:txBody>
      </p:sp>
      <p:sp>
        <p:nvSpPr>
          <p:cNvPr id="17" name="Text 15"/>
          <p:cNvSpPr/>
          <p:nvPr/>
        </p:nvSpPr>
        <p:spPr>
          <a:xfrm>
            <a:off x="8728713" y="9222768"/>
            <a:ext cx="1614836"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資源業界に不可欠なパートナーとして</a:t>
            </a:r>
            <a:endParaRPr lang="en-US" sz="660" dirty="0"/>
          </a:p>
        </p:txBody>
      </p:sp>
      <p:sp>
        <p:nvSpPr>
          <p:cNvPr id="18" name="Text 16"/>
          <p:cNvSpPr/>
          <p:nvPr/>
        </p:nvSpPr>
        <p:spPr>
          <a:xfrm>
            <a:off x="13747405" y="9046351"/>
            <a:ext cx="30348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P.10</a:t>
            </a:r>
            <a:endParaRPr lang="en-US" sz="620" dirty="0"/>
          </a:p>
        </p:txBody>
      </p:sp>
      <p:sp>
        <p:nvSpPr>
          <p:cNvPr id="19" name="Text 17"/>
          <p:cNvSpPr/>
          <p:nvPr/>
        </p:nvSpPr>
        <p:spPr>
          <a:xfrm>
            <a:off x="8169668" y="9592690"/>
            <a:ext cx="323793" cy="228700"/>
          </a:xfrm>
          <a:prstGeom prst="rect">
            <a:avLst/>
          </a:prstGeom>
          <a:noFill/>
          <a:ln/>
        </p:spPr>
        <p:txBody>
          <a:bodyPr wrap="none" lIns="0" tIns="0" rIns="0" bIns="0" rtlCol="0" anchor="t"/>
          <a:lstStyle/>
          <a:p>
            <a:pPr algn="l" indent="0" marL="0">
              <a:lnSpc>
                <a:spcPts val="1800"/>
              </a:lnSpc>
              <a:buNone/>
            </a:pPr>
            <a:r>
              <a:rPr lang="en-US" sz="1800" spc="-50" kern="0" dirty="0">
                <a:solidFill>
                  <a:srgbClr val="B38F4F"/>
                </a:solidFill>
                <a:latin typeface="Noto Sans ExtraLight" pitchFamily="34" charset="0"/>
                <a:ea typeface="Noto Sans ExtraLight" pitchFamily="34" charset="-122"/>
                <a:cs typeface="Noto Sans ExtraLight" pitchFamily="34" charset="-120"/>
              </a:rPr>
              <a:t>04</a:t>
            </a:r>
            <a:endParaRPr lang="en-US" sz="1800" dirty="0"/>
          </a:p>
        </p:txBody>
      </p:sp>
      <p:sp>
        <p:nvSpPr>
          <p:cNvPr id="20" name="Text 18"/>
          <p:cNvSpPr/>
          <p:nvPr/>
        </p:nvSpPr>
        <p:spPr>
          <a:xfrm>
            <a:off x="8728713" y="9592690"/>
            <a:ext cx="1126982" cy="190583"/>
          </a:xfrm>
          <a:prstGeom prst="rect">
            <a:avLst/>
          </a:prstGeom>
          <a:noFill/>
          <a:ln/>
        </p:spPr>
        <p:txBody>
          <a:bodyPr wrap="none" lIns="0" tIns="0" rIns="0" bIns="0" rtlCol="0" anchor="t"/>
          <a:lstStyle/>
          <a:p>
            <a:pPr algn="l" indent="0" marL="0">
              <a:lnSpc>
                <a:spcPts val="1500"/>
              </a:lnSpc>
              <a:buNone/>
            </a:pPr>
            <a:r>
              <a:rPr lang="en-US" sz="1100" dirty="0">
                <a:solidFill>
                  <a:srgbClr val="23272C"/>
                </a:solidFill>
                <a:latin typeface="Noto Sans JP Light" pitchFamily="34" charset="0"/>
                <a:ea typeface="Noto Sans JP Light" pitchFamily="34" charset="-122"/>
                <a:cs typeface="Noto Sans JP Light" pitchFamily="34" charset="-120"/>
              </a:rPr>
              <a:t>何を実現するか</a:t>
            </a:r>
            <a:endParaRPr lang="en-US" sz="1100" dirty="0"/>
          </a:p>
        </p:txBody>
      </p:sp>
      <p:sp>
        <p:nvSpPr>
          <p:cNvPr id="21" name="Text 19"/>
          <p:cNvSpPr/>
          <p:nvPr/>
        </p:nvSpPr>
        <p:spPr>
          <a:xfrm>
            <a:off x="8728713" y="9781812"/>
            <a:ext cx="106452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外部環境と私たちの約束</a:t>
            </a:r>
            <a:endParaRPr lang="en-US" sz="660" dirty="0"/>
          </a:p>
        </p:txBody>
      </p:sp>
      <p:sp>
        <p:nvSpPr>
          <p:cNvPr id="22" name="Text 20"/>
          <p:cNvSpPr/>
          <p:nvPr/>
        </p:nvSpPr>
        <p:spPr>
          <a:xfrm>
            <a:off x="13747405" y="9605395"/>
            <a:ext cx="30348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P.11</a:t>
            </a:r>
            <a:endParaRPr lang="en-US" sz="620" dirty="0"/>
          </a:p>
        </p:txBody>
      </p:sp>
      <p:sp>
        <p:nvSpPr>
          <p:cNvPr id="23" name="Text 21"/>
          <p:cNvSpPr/>
          <p:nvPr/>
        </p:nvSpPr>
        <p:spPr>
          <a:xfrm>
            <a:off x="609866"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02</a:t>
            </a:r>
            <a:endParaRPr lang="en-US" sz="620" dirty="0"/>
          </a:p>
        </p:txBody>
      </p:sp>
      <p:sp>
        <p:nvSpPr>
          <p:cNvPr id="24" name="Text 22"/>
          <p:cNvSpPr/>
          <p:nvPr/>
        </p:nvSpPr>
        <p:spPr>
          <a:xfrm>
            <a:off x="14357271"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03</a:t>
            </a:r>
            <a:endParaRPr lang="en-US" sz="6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09866" y="673394"/>
            <a:ext cx="380134"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第1章</a:t>
            </a:r>
            <a:endParaRPr lang="en-US" sz="660" dirty="0"/>
          </a:p>
        </p:txBody>
      </p:sp>
      <p:sp>
        <p:nvSpPr>
          <p:cNvPr id="3" name="Text 1"/>
          <p:cNvSpPr/>
          <p:nvPr/>
        </p:nvSpPr>
        <p:spPr>
          <a:xfrm>
            <a:off x="609866" y="813155"/>
            <a:ext cx="654197"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我々は何者か</a:t>
            </a:r>
            <a:endParaRPr lang="en-US" sz="660" dirty="0"/>
          </a:p>
        </p:txBody>
      </p:sp>
      <p:sp>
        <p:nvSpPr>
          <p:cNvPr id="4" name="Text 2"/>
          <p:cNvSpPr/>
          <p:nvPr/>
        </p:nvSpPr>
        <p:spPr>
          <a:xfrm>
            <a:off x="609866" y="1088866"/>
            <a:ext cx="2733579" cy="853813"/>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From resource</a:t>
            </a:r>
            <a:endParaRPr lang="en-US" sz="3000" dirty="0"/>
          </a:p>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to market.</a:t>
            </a:r>
            <a:endParaRPr lang="en-US" sz="3000" dirty="0"/>
          </a:p>
        </p:txBody>
      </p:sp>
      <p:sp>
        <p:nvSpPr>
          <p:cNvPr id="5" name="Text 3"/>
          <p:cNvSpPr/>
          <p:nvPr/>
        </p:nvSpPr>
        <p:spPr>
          <a:xfrm>
            <a:off x="609866" y="2225853"/>
            <a:ext cx="2396406"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三菱商事 金属資源グループとは</a:t>
            </a:r>
            <a:endParaRPr lang="en-US" sz="1100" dirty="0"/>
          </a:p>
        </p:txBody>
      </p:sp>
      <p:sp>
        <p:nvSpPr>
          <p:cNvPr id="6" name="Text 4"/>
          <p:cNvSpPr/>
          <p:nvPr/>
        </p:nvSpPr>
        <p:spPr>
          <a:xfrm>
            <a:off x="609866" y="2434733"/>
            <a:ext cx="3278866"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投資とトレーディングの両輪で、川上から川下までをつなぐ</a:t>
            </a:r>
            <a:endParaRPr lang="en-US" sz="820" dirty="0"/>
          </a:p>
        </p:txBody>
      </p:sp>
      <p:sp>
        <p:nvSpPr>
          <p:cNvPr id="7" name="Text 5"/>
          <p:cNvSpPr/>
          <p:nvPr/>
        </p:nvSpPr>
        <p:spPr>
          <a:xfrm>
            <a:off x="609866" y="2659570"/>
            <a:ext cx="4651144" cy="646865"/>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三菱商事は、三綱領に基づき、経済価値・環境価値・社会価値の同時実現を目指す総合商社です。</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そのなかで金属資源グループは、社会に不可欠な金属資源を世界から確保し、安定的に届ける役割</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を担っています。資源投資を担う2本部と、トレーディングを担う1本部の両輪で、川上の鉱山から</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川下の需要家までをつないでいます。</a:t>
            </a:r>
            <a:endParaRPr lang="en-US" sz="740" dirty="0"/>
          </a:p>
        </p:txBody>
      </p:sp>
      <p:sp>
        <p:nvSpPr>
          <p:cNvPr id="8" name="Text 6"/>
          <p:cNvSpPr/>
          <p:nvPr/>
        </p:nvSpPr>
        <p:spPr>
          <a:xfrm>
            <a:off x="2549726" y="5637198"/>
            <a:ext cx="2473056" cy="313065"/>
          </a:xfrm>
          <a:prstGeom prst="rect">
            <a:avLst/>
          </a:prstGeom>
          <a:noFill/>
          <a:ln/>
        </p:spPr>
        <p:txBody>
          <a:bodyPr wrap="none" lIns="0" tIns="0" rIns="0" bIns="0" rtlCol="0" anchor="t"/>
          <a:lstStyle/>
          <a:p>
            <a:pPr algn="ctr" indent="0" marL="0">
              <a:lnSpc>
                <a:spcPts val="2464"/>
              </a:lnSpc>
              <a:buNone/>
            </a:pPr>
            <a:r>
              <a:rPr lang="en-US" sz="2200" spc="-20" kern="0" dirty="0">
                <a:solidFill>
                  <a:srgbClr val="7D8794"/>
                </a:solidFill>
                <a:latin typeface="Noto Sans JP Light" pitchFamily="34" charset="0"/>
                <a:ea typeface="Noto Sans JP Light" pitchFamily="34" charset="-122"/>
                <a:cs typeface="Noto Sans JP Light" pitchFamily="34" charset="-120"/>
              </a:rPr>
              <a:t>バリューチェーン</a:t>
            </a:r>
            <a:endParaRPr lang="en-US" sz="2200" dirty="0"/>
          </a:p>
        </p:txBody>
      </p:sp>
      <p:sp>
        <p:nvSpPr>
          <p:cNvPr id="9" name="Text 7"/>
          <p:cNvSpPr/>
          <p:nvPr/>
        </p:nvSpPr>
        <p:spPr>
          <a:xfrm>
            <a:off x="2984524" y="5997019"/>
            <a:ext cx="1603262" cy="152467"/>
          </a:xfrm>
          <a:prstGeom prst="rect">
            <a:avLst/>
          </a:prstGeom>
          <a:noFill/>
          <a:ln/>
        </p:spPr>
        <p:txBody>
          <a:bodyPr wrap="none" lIns="0" tIns="0" rIns="0" bIns="0" rtlCol="0" anchor="t"/>
          <a:lstStyle/>
          <a:p>
            <a:pPr algn="ctr" indent="0" marL="0">
              <a:lnSpc>
                <a:spcPts val="1200"/>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投資とトレーディングの両輪</a:t>
            </a:r>
            <a:endParaRPr lang="en-US" sz="820" dirty="0"/>
          </a:p>
        </p:txBody>
      </p:sp>
      <p:sp>
        <p:nvSpPr>
          <p:cNvPr id="10" name="Text 8"/>
          <p:cNvSpPr/>
          <p:nvPr/>
        </p:nvSpPr>
        <p:spPr>
          <a:xfrm>
            <a:off x="884902" y="6556064"/>
            <a:ext cx="263084"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川上</a:t>
            </a:r>
            <a:endParaRPr lang="en-US" sz="760" dirty="0"/>
          </a:p>
        </p:txBody>
      </p:sp>
      <p:sp>
        <p:nvSpPr>
          <p:cNvPr id="11" name="Text 9"/>
          <p:cNvSpPr/>
          <p:nvPr/>
        </p:nvSpPr>
        <p:spPr>
          <a:xfrm>
            <a:off x="668491" y="6694363"/>
            <a:ext cx="695907" cy="129978"/>
          </a:xfrm>
          <a:prstGeom prst="rect">
            <a:avLst/>
          </a:prstGeom>
          <a:noFill/>
          <a:ln/>
        </p:spPr>
        <p:txBody>
          <a:bodyPr wrap="none" lIns="0" tIns="0" rIns="0" bIns="0" rtlCol="0" anchor="t"/>
          <a:lstStyle/>
          <a:p>
            <a:pPr algn="ctr"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資源開発・保有</a:t>
            </a:r>
            <a:endParaRPr lang="en-US" sz="660" dirty="0"/>
          </a:p>
        </p:txBody>
      </p:sp>
      <p:sp>
        <p:nvSpPr>
          <p:cNvPr id="12" name="Text 10"/>
          <p:cNvSpPr/>
          <p:nvPr/>
        </p:nvSpPr>
        <p:spPr>
          <a:xfrm>
            <a:off x="2163676" y="7381130"/>
            <a:ext cx="475346"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中間流通</a:t>
            </a:r>
            <a:endParaRPr lang="en-US" sz="760" dirty="0"/>
          </a:p>
        </p:txBody>
      </p:sp>
      <p:sp>
        <p:nvSpPr>
          <p:cNvPr id="13" name="Text 11"/>
          <p:cNvSpPr/>
          <p:nvPr/>
        </p:nvSpPr>
        <p:spPr>
          <a:xfrm>
            <a:off x="2056463" y="7519430"/>
            <a:ext cx="689574" cy="129978"/>
          </a:xfrm>
          <a:prstGeom prst="rect">
            <a:avLst/>
          </a:prstGeom>
          <a:noFill/>
          <a:ln/>
        </p:spPr>
        <p:txBody>
          <a:bodyPr wrap="none" lIns="0" tIns="0" rIns="0" bIns="0" rtlCol="0" anchor="t"/>
          <a:lstStyle/>
          <a:p>
            <a:pPr algn="ctr"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トレーディング</a:t>
            </a:r>
            <a:endParaRPr lang="en-US" sz="660" dirty="0"/>
          </a:p>
        </p:txBody>
      </p:sp>
      <p:sp>
        <p:nvSpPr>
          <p:cNvPr id="14" name="Text 12"/>
          <p:cNvSpPr/>
          <p:nvPr/>
        </p:nvSpPr>
        <p:spPr>
          <a:xfrm>
            <a:off x="3654712" y="7508980"/>
            <a:ext cx="263084"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川中</a:t>
            </a:r>
            <a:endParaRPr lang="en-US" sz="760" dirty="0"/>
          </a:p>
        </p:txBody>
      </p:sp>
      <p:sp>
        <p:nvSpPr>
          <p:cNvPr id="15" name="Text 13"/>
          <p:cNvSpPr/>
          <p:nvPr/>
        </p:nvSpPr>
        <p:spPr>
          <a:xfrm>
            <a:off x="3530455" y="7647280"/>
            <a:ext cx="511597" cy="129978"/>
          </a:xfrm>
          <a:prstGeom prst="rect">
            <a:avLst/>
          </a:prstGeom>
          <a:noFill/>
          <a:ln/>
        </p:spPr>
        <p:txBody>
          <a:bodyPr wrap="none" lIns="0" tIns="0" rIns="0" bIns="0" rtlCol="0" anchor="t"/>
          <a:lstStyle/>
          <a:p>
            <a:pPr algn="ctr"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製錬・製鉄</a:t>
            </a:r>
            <a:endParaRPr lang="en-US" sz="660" dirty="0"/>
          </a:p>
        </p:txBody>
      </p:sp>
      <p:sp>
        <p:nvSpPr>
          <p:cNvPr id="16" name="Text 14"/>
          <p:cNvSpPr/>
          <p:nvPr/>
        </p:nvSpPr>
        <p:spPr>
          <a:xfrm>
            <a:off x="4933485" y="7381130"/>
            <a:ext cx="475346"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中間流通</a:t>
            </a:r>
            <a:endParaRPr lang="en-US" sz="760" dirty="0"/>
          </a:p>
        </p:txBody>
      </p:sp>
      <p:sp>
        <p:nvSpPr>
          <p:cNvPr id="17" name="Text 15"/>
          <p:cNvSpPr/>
          <p:nvPr/>
        </p:nvSpPr>
        <p:spPr>
          <a:xfrm>
            <a:off x="4826272" y="7519430"/>
            <a:ext cx="689574" cy="129978"/>
          </a:xfrm>
          <a:prstGeom prst="rect">
            <a:avLst/>
          </a:prstGeom>
          <a:noFill/>
          <a:ln/>
        </p:spPr>
        <p:txBody>
          <a:bodyPr wrap="none" lIns="0" tIns="0" rIns="0" bIns="0" rtlCol="0" anchor="t"/>
          <a:lstStyle/>
          <a:p>
            <a:pPr algn="ctr"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トレーディング</a:t>
            </a:r>
            <a:endParaRPr lang="en-US" sz="660" dirty="0"/>
          </a:p>
        </p:txBody>
      </p:sp>
      <p:sp>
        <p:nvSpPr>
          <p:cNvPr id="18" name="Text 16"/>
          <p:cNvSpPr/>
          <p:nvPr/>
        </p:nvSpPr>
        <p:spPr>
          <a:xfrm>
            <a:off x="6424521" y="6556064"/>
            <a:ext cx="263084"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川下</a:t>
            </a:r>
            <a:endParaRPr lang="en-US" sz="760" dirty="0"/>
          </a:p>
        </p:txBody>
      </p:sp>
      <p:sp>
        <p:nvSpPr>
          <p:cNvPr id="19" name="Text 17"/>
          <p:cNvSpPr/>
          <p:nvPr/>
        </p:nvSpPr>
        <p:spPr>
          <a:xfrm>
            <a:off x="6162033" y="6694363"/>
            <a:ext cx="788062" cy="129978"/>
          </a:xfrm>
          <a:prstGeom prst="rect">
            <a:avLst/>
          </a:prstGeom>
          <a:noFill/>
          <a:ln/>
        </p:spPr>
        <p:txBody>
          <a:bodyPr wrap="none" lIns="0" tIns="0" rIns="0" bIns="0" rtlCol="0" anchor="t"/>
          <a:lstStyle/>
          <a:p>
            <a:pPr algn="ctr"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最終製品・需要家</a:t>
            </a:r>
            <a:endParaRPr lang="en-US" sz="660" dirty="0"/>
          </a:p>
        </p:txBody>
      </p:sp>
      <p:sp>
        <p:nvSpPr>
          <p:cNvPr id="20" name="Text 18"/>
          <p:cNvSpPr/>
          <p:nvPr/>
        </p:nvSpPr>
        <p:spPr>
          <a:xfrm>
            <a:off x="991033" y="4497765"/>
            <a:ext cx="3572801" cy="279522"/>
          </a:xfrm>
          <a:prstGeom prst="rect">
            <a:avLst/>
          </a:prstGeom>
          <a:noFill/>
          <a:ln/>
        </p:spPr>
        <p:txBody>
          <a:bodyPr wrap="none" lIns="0" tIns="0" rIns="0" bIns="0" rtlCol="0" anchor="t"/>
          <a:lstStyle/>
          <a:p>
            <a:pPr algn="l" indent="0" marL="0">
              <a:lnSpc>
                <a:spcPts val="2200"/>
              </a:lnSpc>
              <a:buNone/>
            </a:pPr>
            <a:r>
              <a:rPr lang="en-US" sz="820" spc="160" kern="0" dirty="0">
                <a:solidFill>
                  <a:srgbClr val="B38F4F"/>
                </a:solidFill>
                <a:latin typeface="Noto Sans Medium" pitchFamily="34" charset="0"/>
                <a:ea typeface="Noto Sans Medium" pitchFamily="34" charset="-122"/>
                <a:cs typeface="Noto Sans Medium" pitchFamily="34" charset="-120"/>
              </a:rPr>
              <a:t>INVESTMENT</a:t>
            </a:r>
            <a:pPr algn="l" indent="0" marL="0">
              <a:lnSpc>
                <a:spcPts val="2200"/>
              </a:lnSpc>
              <a:buNone/>
            </a:pPr>
            <a:r>
              <a:rPr lang="en-US" sz="1600" dirty="0">
                <a:solidFill>
                  <a:srgbClr val="23272C"/>
                </a:solidFill>
                <a:latin typeface="Noto Sans JP" pitchFamily="34" charset="0"/>
                <a:ea typeface="Noto Sans JP" pitchFamily="34" charset="-122"/>
                <a:cs typeface="Noto Sans JP" pitchFamily="34" charset="-120"/>
              </a:rPr>
              <a:t>　</a:t>
            </a:r>
            <a:pPr algn="l" indent="0" marL="0">
              <a:lnSpc>
                <a:spcPts val="2200"/>
              </a:lnSpc>
              <a:buNone/>
            </a:pPr>
            <a:r>
              <a:rPr lang="en-US" sz="940" dirty="0">
                <a:solidFill>
                  <a:srgbClr val="B38F4F"/>
                </a:solidFill>
                <a:latin typeface="Noto Sans JP Medium" pitchFamily="34" charset="0"/>
                <a:ea typeface="Noto Sans JP Medium" pitchFamily="34" charset="-122"/>
                <a:cs typeface="Noto Sans JP Medium" pitchFamily="34" charset="-120"/>
              </a:rPr>
              <a:t>資源投資</a:t>
            </a:r>
            <a:pPr algn="l" indent="0" marL="0">
              <a:lnSpc>
                <a:spcPts val="2200"/>
              </a:lnSpc>
              <a:buNone/>
            </a:pPr>
            <a:r>
              <a:rPr lang="en-US" sz="660" dirty="0">
                <a:solidFill>
                  <a:srgbClr val="5D636A"/>
                </a:solidFill>
                <a:latin typeface="Noto Sans JP Light" pitchFamily="34" charset="0"/>
                <a:ea typeface="Noto Sans JP Light" pitchFamily="34" charset="-122"/>
                <a:cs typeface="Noto Sans JP Light" pitchFamily="34" charset="-120"/>
              </a:rPr>
              <a:t>｜鉄鋼原料本部・クリティカルミネラル本部</a:t>
            </a:r>
            <a:endParaRPr lang="en-US" sz="820" dirty="0"/>
          </a:p>
        </p:txBody>
      </p:sp>
      <p:sp>
        <p:nvSpPr>
          <p:cNvPr id="21" name="Text 19"/>
          <p:cNvSpPr/>
          <p:nvPr/>
        </p:nvSpPr>
        <p:spPr>
          <a:xfrm>
            <a:off x="991033" y="7928263"/>
            <a:ext cx="3639624" cy="279522"/>
          </a:xfrm>
          <a:prstGeom prst="rect">
            <a:avLst/>
          </a:prstGeom>
          <a:noFill/>
          <a:ln/>
        </p:spPr>
        <p:txBody>
          <a:bodyPr wrap="none" lIns="0" tIns="0" rIns="0" bIns="0" rtlCol="0" anchor="t"/>
          <a:lstStyle/>
          <a:p>
            <a:pPr algn="l" indent="0" marL="0">
              <a:lnSpc>
                <a:spcPts val="2200"/>
              </a:lnSpc>
              <a:buNone/>
            </a:pPr>
            <a:r>
              <a:rPr lang="en-US" sz="820" spc="160" kern="0" dirty="0">
                <a:solidFill>
                  <a:srgbClr val="4F7AA3"/>
                </a:solidFill>
                <a:latin typeface="Noto Sans Medium" pitchFamily="34" charset="0"/>
                <a:ea typeface="Noto Sans Medium" pitchFamily="34" charset="-122"/>
                <a:cs typeface="Noto Sans Medium" pitchFamily="34" charset="-120"/>
              </a:rPr>
              <a:t>TRADING</a:t>
            </a:r>
            <a:pPr algn="l" indent="0" marL="0">
              <a:lnSpc>
                <a:spcPts val="2200"/>
              </a:lnSpc>
              <a:buNone/>
            </a:pPr>
            <a:r>
              <a:rPr lang="en-US" sz="1600" dirty="0">
                <a:solidFill>
                  <a:srgbClr val="23272C"/>
                </a:solidFill>
                <a:latin typeface="Noto Sans JP" pitchFamily="34" charset="0"/>
                <a:ea typeface="Noto Sans JP" pitchFamily="34" charset="-122"/>
                <a:cs typeface="Noto Sans JP" pitchFamily="34" charset="-120"/>
              </a:rPr>
              <a:t>　</a:t>
            </a:r>
            <a:pPr algn="l" indent="0" marL="0">
              <a:lnSpc>
                <a:spcPts val="2200"/>
              </a:lnSpc>
              <a:buNone/>
            </a:pPr>
            <a:r>
              <a:rPr lang="en-US" sz="940" dirty="0">
                <a:solidFill>
                  <a:srgbClr val="4F7AA3"/>
                </a:solidFill>
                <a:latin typeface="Noto Sans JP Medium" pitchFamily="34" charset="0"/>
                <a:ea typeface="Noto Sans JP Medium" pitchFamily="34" charset="-122"/>
                <a:cs typeface="Noto Sans JP Medium" pitchFamily="34" charset="-120"/>
              </a:rPr>
              <a:t>トレーディング（RtM）</a:t>
            </a:r>
            <a:pPr algn="l" indent="0" marL="0">
              <a:lnSpc>
                <a:spcPts val="2200"/>
              </a:lnSpc>
              <a:buNone/>
            </a:pPr>
            <a:r>
              <a:rPr lang="en-US" sz="660" dirty="0">
                <a:solidFill>
                  <a:srgbClr val="5D636A"/>
                </a:solidFill>
                <a:latin typeface="Noto Sans JP Light" pitchFamily="34" charset="0"/>
                <a:ea typeface="Noto Sans JP Light" pitchFamily="34" charset="-122"/>
                <a:cs typeface="Noto Sans JP Light" pitchFamily="34" charset="-120"/>
              </a:rPr>
              <a:t>｜金属資源トレーディング本部</a:t>
            </a:r>
            <a:endParaRPr lang="en-US" sz="820" dirty="0"/>
          </a:p>
        </p:txBody>
      </p:sp>
      <p:sp>
        <p:nvSpPr>
          <p:cNvPr id="22" name="Text 20"/>
          <p:cNvSpPr/>
          <p:nvPr/>
        </p:nvSpPr>
        <p:spPr>
          <a:xfrm>
            <a:off x="609866" y="8449190"/>
            <a:ext cx="352400"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歩み</a:t>
            </a:r>
            <a:endParaRPr lang="en-US" sz="820" dirty="0"/>
          </a:p>
        </p:txBody>
      </p:sp>
      <p:sp>
        <p:nvSpPr>
          <p:cNvPr id="23" name="Text 21"/>
          <p:cNvSpPr/>
          <p:nvPr/>
        </p:nvSpPr>
        <p:spPr>
          <a:xfrm>
            <a:off x="1092677" y="8436485"/>
            <a:ext cx="2684444" cy="152467"/>
          </a:xfrm>
          <a:prstGeom prst="rect">
            <a:avLst/>
          </a:prstGeom>
          <a:noFill/>
          <a:ln/>
        </p:spPr>
        <p:txBody>
          <a:bodyPr wrap="none" lIns="0" tIns="0" rIns="0" bIns="0" rtlCol="0" anchor="t"/>
          <a:lstStyle/>
          <a:p>
            <a:pPr algn="l" indent="0" marL="0">
              <a:lnSpc>
                <a:spcPts val="1200"/>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時代を先読みし、事業モデルを変革してきた歩み</a:t>
            </a:r>
            <a:endParaRPr lang="en-US" sz="820" dirty="0"/>
          </a:p>
        </p:txBody>
      </p:sp>
      <p:sp>
        <p:nvSpPr>
          <p:cNvPr id="24" name="Text 22"/>
          <p:cNvSpPr/>
          <p:nvPr/>
        </p:nvSpPr>
        <p:spPr>
          <a:xfrm>
            <a:off x="609866" y="8684243"/>
            <a:ext cx="1108857" cy="190583"/>
          </a:xfrm>
          <a:prstGeom prst="rect">
            <a:avLst/>
          </a:prstGeom>
          <a:noFill/>
          <a:ln/>
        </p:spPr>
        <p:txBody>
          <a:bodyPr wrap="none" lIns="0" tIns="0" rIns="0" bIns="0" rtlCol="0" anchor="t"/>
          <a:lstStyle/>
          <a:p>
            <a:pPr algn="l" indent="0" marL="0">
              <a:lnSpc>
                <a:spcPts val="1500"/>
              </a:lnSpc>
              <a:buNone/>
            </a:pPr>
            <a:r>
              <a:rPr lang="en-US" sz="1500" spc="-50" kern="0" dirty="0">
                <a:solidFill>
                  <a:srgbClr val="23272C"/>
                </a:solidFill>
                <a:latin typeface="Noto Sans JP Light" pitchFamily="34" charset="0"/>
                <a:ea typeface="Noto Sans JP Light" pitchFamily="34" charset="-122"/>
                <a:cs typeface="Noto Sans JP Light" pitchFamily="34" charset="-120"/>
              </a:rPr>
              <a:t>〜1980年代</a:t>
            </a:r>
            <a:endParaRPr lang="en-US" sz="1500" dirty="0"/>
          </a:p>
        </p:txBody>
      </p:sp>
      <p:sp>
        <p:nvSpPr>
          <p:cNvPr id="25" name="Text 23"/>
          <p:cNvSpPr/>
          <p:nvPr/>
        </p:nvSpPr>
        <p:spPr>
          <a:xfrm>
            <a:off x="609866" y="9222768"/>
            <a:ext cx="1334658"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トレーディングで参入し、少数</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株主として出資</a:t>
            </a:r>
            <a:endParaRPr lang="en-US" sz="660" dirty="0"/>
          </a:p>
        </p:txBody>
      </p:sp>
      <p:sp>
        <p:nvSpPr>
          <p:cNvPr id="26" name="Text 24"/>
          <p:cNvSpPr/>
          <p:nvPr/>
        </p:nvSpPr>
        <p:spPr>
          <a:xfrm>
            <a:off x="1893127" y="8684243"/>
            <a:ext cx="906203" cy="190583"/>
          </a:xfrm>
          <a:prstGeom prst="rect">
            <a:avLst/>
          </a:prstGeom>
          <a:noFill/>
          <a:ln/>
        </p:spPr>
        <p:txBody>
          <a:bodyPr wrap="none" lIns="0" tIns="0" rIns="0" bIns="0" rtlCol="0" anchor="t"/>
          <a:lstStyle/>
          <a:p>
            <a:pPr algn="l" indent="0" marL="0">
              <a:lnSpc>
                <a:spcPts val="1500"/>
              </a:lnSpc>
              <a:buNone/>
            </a:pPr>
            <a:r>
              <a:rPr lang="en-US" sz="1500" spc="-50" kern="0" dirty="0">
                <a:solidFill>
                  <a:srgbClr val="23272C"/>
                </a:solidFill>
                <a:latin typeface="Noto Sans JP Light" pitchFamily="34" charset="0"/>
                <a:ea typeface="Noto Sans JP Light" pitchFamily="34" charset="-122"/>
                <a:cs typeface="Noto Sans JP Light" pitchFamily="34" charset="-120"/>
              </a:rPr>
              <a:t>1990年代</a:t>
            </a:r>
            <a:endParaRPr lang="en-US" sz="1500" dirty="0"/>
          </a:p>
        </p:txBody>
      </p:sp>
      <p:sp>
        <p:nvSpPr>
          <p:cNvPr id="27" name="Text 25"/>
          <p:cNvSpPr/>
          <p:nvPr/>
        </p:nvSpPr>
        <p:spPr>
          <a:xfrm>
            <a:off x="1893127" y="9222768"/>
            <a:ext cx="1156681"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口銭モデルから投資モデル</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へ。JV運営の知見を蓄積</a:t>
            </a:r>
            <a:endParaRPr lang="en-US" sz="660" dirty="0"/>
          </a:p>
        </p:txBody>
      </p:sp>
      <p:sp>
        <p:nvSpPr>
          <p:cNvPr id="28" name="Text 26"/>
          <p:cNvSpPr/>
          <p:nvPr/>
        </p:nvSpPr>
        <p:spPr>
          <a:xfrm>
            <a:off x="3176387" y="8684243"/>
            <a:ext cx="906203" cy="190583"/>
          </a:xfrm>
          <a:prstGeom prst="rect">
            <a:avLst/>
          </a:prstGeom>
          <a:noFill/>
          <a:ln/>
        </p:spPr>
        <p:txBody>
          <a:bodyPr wrap="none" lIns="0" tIns="0" rIns="0" bIns="0" rtlCol="0" anchor="t"/>
          <a:lstStyle/>
          <a:p>
            <a:pPr algn="l" indent="0" marL="0">
              <a:lnSpc>
                <a:spcPts val="1500"/>
              </a:lnSpc>
              <a:buNone/>
            </a:pPr>
            <a:r>
              <a:rPr lang="en-US" sz="1500" spc="-50" kern="0" dirty="0">
                <a:solidFill>
                  <a:srgbClr val="23272C"/>
                </a:solidFill>
                <a:latin typeface="Noto Sans JP Light" pitchFamily="34" charset="0"/>
                <a:ea typeface="Noto Sans JP Light" pitchFamily="34" charset="-122"/>
                <a:cs typeface="Noto Sans JP Light" pitchFamily="34" charset="-120"/>
              </a:rPr>
              <a:t>2000年代</a:t>
            </a:r>
            <a:endParaRPr lang="en-US" sz="1500" dirty="0"/>
          </a:p>
        </p:txBody>
      </p:sp>
      <p:sp>
        <p:nvSpPr>
          <p:cNvPr id="29" name="Text 27"/>
          <p:cNvSpPr/>
          <p:nvPr/>
        </p:nvSpPr>
        <p:spPr>
          <a:xfrm>
            <a:off x="3176387" y="9222768"/>
            <a:ext cx="1247089"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BHPと折半出資でBMAを組成</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し、事業経営に参画</a:t>
            </a:r>
            <a:endParaRPr lang="en-US" sz="660" dirty="0"/>
          </a:p>
        </p:txBody>
      </p:sp>
      <p:sp>
        <p:nvSpPr>
          <p:cNvPr id="30" name="Text 28"/>
          <p:cNvSpPr/>
          <p:nvPr/>
        </p:nvSpPr>
        <p:spPr>
          <a:xfrm>
            <a:off x="4459648" y="8684243"/>
            <a:ext cx="906203" cy="190583"/>
          </a:xfrm>
          <a:prstGeom prst="rect">
            <a:avLst/>
          </a:prstGeom>
          <a:noFill/>
          <a:ln/>
        </p:spPr>
        <p:txBody>
          <a:bodyPr wrap="none" lIns="0" tIns="0" rIns="0" bIns="0" rtlCol="0" anchor="t"/>
          <a:lstStyle/>
          <a:p>
            <a:pPr algn="l" indent="0" marL="0">
              <a:lnSpc>
                <a:spcPts val="1500"/>
              </a:lnSpc>
              <a:buNone/>
            </a:pPr>
            <a:r>
              <a:rPr lang="en-US" sz="1500" spc="-50" kern="0" dirty="0">
                <a:solidFill>
                  <a:srgbClr val="23272C"/>
                </a:solidFill>
                <a:latin typeface="Noto Sans JP Light" pitchFamily="34" charset="0"/>
                <a:ea typeface="Noto Sans JP Light" pitchFamily="34" charset="-122"/>
                <a:cs typeface="Noto Sans JP Light" pitchFamily="34" charset="-120"/>
              </a:rPr>
              <a:t>2010年代</a:t>
            </a:r>
            <a:endParaRPr lang="en-US" sz="1500" dirty="0"/>
          </a:p>
        </p:txBody>
      </p:sp>
      <p:sp>
        <p:nvSpPr>
          <p:cNvPr id="31" name="Text 29"/>
          <p:cNvSpPr/>
          <p:nvPr/>
        </p:nvSpPr>
        <p:spPr>
          <a:xfrm>
            <a:off x="4459648" y="9222768"/>
            <a:ext cx="1330728"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銅へ領域を拡大。2012年にRtM</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を設立</a:t>
            </a:r>
            <a:endParaRPr lang="en-US" sz="660" dirty="0"/>
          </a:p>
        </p:txBody>
      </p:sp>
      <p:sp>
        <p:nvSpPr>
          <p:cNvPr id="32" name="Text 30"/>
          <p:cNvSpPr/>
          <p:nvPr/>
        </p:nvSpPr>
        <p:spPr>
          <a:xfrm>
            <a:off x="5742908" y="8684243"/>
            <a:ext cx="1108857" cy="190583"/>
          </a:xfrm>
          <a:prstGeom prst="rect">
            <a:avLst/>
          </a:prstGeom>
          <a:noFill/>
          <a:ln/>
        </p:spPr>
        <p:txBody>
          <a:bodyPr wrap="none" lIns="0" tIns="0" rIns="0" bIns="0" rtlCol="0" anchor="t"/>
          <a:lstStyle/>
          <a:p>
            <a:pPr algn="l" indent="0" marL="0">
              <a:lnSpc>
                <a:spcPts val="1500"/>
              </a:lnSpc>
              <a:buNone/>
            </a:pPr>
            <a:r>
              <a:rPr lang="en-US" sz="1500" spc="-50" kern="0" dirty="0">
                <a:solidFill>
                  <a:srgbClr val="23272C"/>
                </a:solidFill>
                <a:latin typeface="Noto Sans JP Light" pitchFamily="34" charset="0"/>
                <a:ea typeface="Noto Sans JP Light" pitchFamily="34" charset="-122"/>
                <a:cs typeface="Noto Sans JP Light" pitchFamily="34" charset="-120"/>
              </a:rPr>
              <a:t>2020年代〜</a:t>
            </a:r>
            <a:endParaRPr lang="en-US" sz="1500" dirty="0"/>
          </a:p>
        </p:txBody>
      </p:sp>
      <p:sp>
        <p:nvSpPr>
          <p:cNvPr id="33" name="Text 31"/>
          <p:cNvSpPr/>
          <p:nvPr/>
        </p:nvSpPr>
        <p:spPr>
          <a:xfrm>
            <a:off x="5742908" y="9222768"/>
            <a:ext cx="1333785"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投資と販売を一体で動かす、グ</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ローバルな事業者へ</a:t>
            </a:r>
            <a:endParaRPr lang="en-US" sz="660" dirty="0"/>
          </a:p>
        </p:txBody>
      </p:sp>
      <p:sp>
        <p:nvSpPr>
          <p:cNvPr id="34" name="Text 32"/>
          <p:cNvSpPr/>
          <p:nvPr/>
        </p:nvSpPr>
        <p:spPr>
          <a:xfrm>
            <a:off x="609866" y="9732400"/>
            <a:ext cx="2951082" cy="139863"/>
          </a:xfrm>
          <a:prstGeom prst="rect">
            <a:avLst/>
          </a:prstGeom>
          <a:noFill/>
          <a:ln/>
        </p:spPr>
        <p:txBody>
          <a:bodyPr wrap="none" lIns="0" tIns="0" rIns="0" bIns="0" rtlCol="0" anchor="t"/>
          <a:lstStyle/>
          <a:p>
            <a:pPr algn="l" indent="0" marL="0">
              <a:lnSpc>
                <a:spcPts val="1101"/>
              </a:lnSpc>
              <a:buNone/>
            </a:pPr>
            <a:r>
              <a:rPr lang="en-US" sz="640" spc="10" kern="0" dirty="0">
                <a:solidFill>
                  <a:srgbClr val="9AA0A6"/>
                </a:solidFill>
                <a:latin typeface="Noto Sans JP Light" pitchFamily="34" charset="0"/>
                <a:ea typeface="Noto Sans JP Light" pitchFamily="34" charset="-122"/>
                <a:cs typeface="Noto Sans JP Light" pitchFamily="34" charset="-120"/>
              </a:rPr>
              <a:t>三菱商事の三綱領（所期奉公・処事光明・立業貿易）を企業理念とする</a:t>
            </a:r>
            <a:endParaRPr lang="en-US" sz="640" dirty="0"/>
          </a:p>
        </p:txBody>
      </p:sp>
      <p:sp>
        <p:nvSpPr>
          <p:cNvPr id="35" name="Text 33"/>
          <p:cNvSpPr/>
          <p:nvPr/>
        </p:nvSpPr>
        <p:spPr>
          <a:xfrm>
            <a:off x="8169668" y="673394"/>
            <a:ext cx="380134"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第2章</a:t>
            </a:r>
            <a:endParaRPr lang="en-US" sz="660" dirty="0"/>
          </a:p>
        </p:txBody>
      </p:sp>
      <p:sp>
        <p:nvSpPr>
          <p:cNvPr id="36" name="Text 34"/>
          <p:cNvSpPr/>
          <p:nvPr/>
        </p:nvSpPr>
        <p:spPr>
          <a:xfrm>
            <a:off x="8169668" y="813155"/>
            <a:ext cx="453072"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独自価値</a:t>
            </a:r>
            <a:endParaRPr lang="en-US" sz="660" dirty="0"/>
          </a:p>
        </p:txBody>
      </p:sp>
      <p:sp>
        <p:nvSpPr>
          <p:cNvPr id="37" name="Text 35"/>
          <p:cNvSpPr/>
          <p:nvPr/>
        </p:nvSpPr>
        <p:spPr>
          <a:xfrm>
            <a:off x="8169668" y="1088866"/>
            <a:ext cx="2970736" cy="426906"/>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Where we work.</a:t>
            </a:r>
            <a:endParaRPr lang="en-US" sz="3000" dirty="0"/>
          </a:p>
        </p:txBody>
      </p:sp>
      <p:sp>
        <p:nvSpPr>
          <p:cNvPr id="38" name="Text 36"/>
          <p:cNvSpPr/>
          <p:nvPr/>
        </p:nvSpPr>
        <p:spPr>
          <a:xfrm>
            <a:off x="8169668" y="1799026"/>
            <a:ext cx="2193315"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グローバル・フットプリント</a:t>
            </a:r>
            <a:endParaRPr lang="en-US" sz="1100" dirty="0"/>
          </a:p>
        </p:txBody>
      </p:sp>
      <p:sp>
        <p:nvSpPr>
          <p:cNvPr id="39" name="Text 37"/>
          <p:cNvSpPr/>
          <p:nvPr/>
        </p:nvSpPr>
        <p:spPr>
          <a:xfrm>
            <a:off x="8169668" y="2007906"/>
            <a:ext cx="2566739"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多様な資源と地域で、事業と人の拠点を広げる</a:t>
            </a:r>
            <a:endParaRPr lang="en-US" sz="820" dirty="0"/>
          </a:p>
        </p:txBody>
      </p:sp>
      <p:sp>
        <p:nvSpPr>
          <p:cNvPr id="40" name="Text 38"/>
          <p:cNvSpPr/>
          <p:nvPr/>
        </p:nvSpPr>
        <p:spPr>
          <a:xfrm>
            <a:off x="8169668" y="2232743"/>
            <a:ext cx="5360213" cy="485149"/>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原料炭と銅を中核に、鉄鉱石、電池資源、アルミ、肥料、二次資源へと事業領域を広げています。資産を保有す</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る地域だけでなく、世界各地にトレーディング拠点と金属資源の担当者を置き、新しい事業機会を探っています。</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世界に広がる事業と人のネットワークが、新しい協業の起点になります。</a:t>
            </a:r>
            <a:endParaRPr lang="en-US" sz="740" dirty="0"/>
          </a:p>
        </p:txBody>
      </p:sp>
      <p:sp>
        <p:nvSpPr>
          <p:cNvPr id="41" name="Text 39"/>
          <p:cNvSpPr/>
          <p:nvPr/>
        </p:nvSpPr>
        <p:spPr>
          <a:xfrm>
            <a:off x="8309429" y="6153981"/>
            <a:ext cx="51159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事業・資産</a:t>
            </a:r>
            <a:endParaRPr lang="en-US" sz="660" dirty="0"/>
          </a:p>
        </p:txBody>
      </p:sp>
      <p:sp>
        <p:nvSpPr>
          <p:cNvPr id="42" name="Text 40"/>
          <p:cNvSpPr/>
          <p:nvPr/>
        </p:nvSpPr>
        <p:spPr>
          <a:xfrm>
            <a:off x="9579984" y="6153981"/>
            <a:ext cx="106452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開発・探鉱プロジェクト</a:t>
            </a:r>
            <a:endParaRPr lang="en-US" sz="660" dirty="0"/>
          </a:p>
        </p:txBody>
      </p:sp>
      <p:sp>
        <p:nvSpPr>
          <p:cNvPr id="43" name="Text 41"/>
          <p:cNvSpPr/>
          <p:nvPr/>
        </p:nvSpPr>
        <p:spPr>
          <a:xfrm>
            <a:off x="11231706" y="6153981"/>
            <a:ext cx="1611123"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トレーディング拠点・金属資源の駐在</a:t>
            </a:r>
            <a:endParaRPr lang="en-US" sz="660" dirty="0"/>
          </a:p>
        </p:txBody>
      </p:sp>
      <p:sp>
        <p:nvSpPr>
          <p:cNvPr id="44" name="Text 42"/>
          <p:cNvSpPr/>
          <p:nvPr/>
        </p:nvSpPr>
        <p:spPr>
          <a:xfrm>
            <a:off x="8169668" y="6549314"/>
            <a:ext cx="653978"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取扱資源</a:t>
            </a:r>
            <a:endParaRPr lang="en-US" sz="820" dirty="0"/>
          </a:p>
        </p:txBody>
      </p:sp>
      <p:sp>
        <p:nvSpPr>
          <p:cNvPr id="45" name="Text 43"/>
          <p:cNvSpPr/>
          <p:nvPr/>
        </p:nvSpPr>
        <p:spPr>
          <a:xfrm>
            <a:off x="8957412" y="6536608"/>
            <a:ext cx="3525850" cy="152467"/>
          </a:xfrm>
          <a:prstGeom prst="rect">
            <a:avLst/>
          </a:prstGeom>
          <a:noFill/>
          <a:ln/>
        </p:spPr>
        <p:txBody>
          <a:bodyPr wrap="none" lIns="0" tIns="0" rIns="0" bIns="0" rtlCol="0" anchor="t"/>
          <a:lstStyle/>
          <a:p>
            <a:pPr algn="l" indent="0" marL="0">
              <a:lnSpc>
                <a:spcPts val="1200"/>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鉄鉱石から電池資源・肥料・アルミまで、世界に広がる事業領域</a:t>
            </a:r>
            <a:endParaRPr lang="en-US" sz="820" dirty="0"/>
          </a:p>
        </p:txBody>
      </p:sp>
      <p:sp>
        <p:nvSpPr>
          <p:cNvPr id="46" name="Text 44"/>
          <p:cNvSpPr/>
          <p:nvPr/>
        </p:nvSpPr>
        <p:spPr>
          <a:xfrm>
            <a:off x="8438014" y="7641991"/>
            <a:ext cx="327287"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Medium" pitchFamily="34" charset="0"/>
                <a:ea typeface="Noto Sans JP Medium" pitchFamily="34" charset="-122"/>
                <a:cs typeface="Noto Sans JP Medium" pitchFamily="34" charset="-120"/>
              </a:rPr>
              <a:t>原料炭</a:t>
            </a:r>
            <a:endParaRPr lang="en-US" sz="660" dirty="0"/>
          </a:p>
        </p:txBody>
      </p:sp>
      <p:sp>
        <p:nvSpPr>
          <p:cNvPr id="47" name="Text 45"/>
          <p:cNvSpPr/>
          <p:nvPr/>
        </p:nvSpPr>
        <p:spPr>
          <a:xfrm>
            <a:off x="9495790" y="7641991"/>
            <a:ext cx="142977"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Medium" pitchFamily="34" charset="0"/>
                <a:ea typeface="Noto Sans JP Medium" pitchFamily="34" charset="-122"/>
                <a:cs typeface="Noto Sans JP Medium" pitchFamily="34" charset="-120"/>
              </a:rPr>
              <a:t>銅</a:t>
            </a:r>
            <a:endParaRPr lang="en-US" sz="660" dirty="0"/>
          </a:p>
        </p:txBody>
      </p:sp>
      <p:sp>
        <p:nvSpPr>
          <p:cNvPr id="48" name="Text 46"/>
          <p:cNvSpPr/>
          <p:nvPr/>
        </p:nvSpPr>
        <p:spPr>
          <a:xfrm>
            <a:off x="10254907" y="7527641"/>
            <a:ext cx="327287"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鉄鉱石</a:t>
            </a:r>
            <a:endParaRPr lang="en-US" sz="660" dirty="0"/>
          </a:p>
        </p:txBody>
      </p:sp>
      <p:sp>
        <p:nvSpPr>
          <p:cNvPr id="49" name="Text 47"/>
          <p:cNvSpPr/>
          <p:nvPr/>
        </p:nvSpPr>
        <p:spPr>
          <a:xfrm>
            <a:off x="10958457" y="7527641"/>
            <a:ext cx="419442"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ニッケル</a:t>
            </a:r>
            <a:endParaRPr lang="en-US" sz="660" dirty="0"/>
          </a:p>
        </p:txBody>
      </p:sp>
      <p:sp>
        <p:nvSpPr>
          <p:cNvPr id="50" name="Text 48"/>
          <p:cNvSpPr/>
          <p:nvPr/>
        </p:nvSpPr>
        <p:spPr>
          <a:xfrm>
            <a:off x="11708085" y="7527641"/>
            <a:ext cx="419442"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リチウム</a:t>
            </a:r>
            <a:endParaRPr lang="en-US" sz="660" dirty="0"/>
          </a:p>
        </p:txBody>
      </p:sp>
      <p:sp>
        <p:nvSpPr>
          <p:cNvPr id="51" name="Text 49"/>
          <p:cNvSpPr/>
          <p:nvPr/>
        </p:nvSpPr>
        <p:spPr>
          <a:xfrm>
            <a:off x="12181684" y="7527641"/>
            <a:ext cx="971498"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アルミ・ボーキサイト</a:t>
            </a:r>
            <a:endParaRPr lang="en-US" sz="660" dirty="0"/>
          </a:p>
        </p:txBody>
      </p:sp>
      <p:sp>
        <p:nvSpPr>
          <p:cNvPr id="52" name="Text 50"/>
          <p:cNvSpPr/>
          <p:nvPr/>
        </p:nvSpPr>
        <p:spPr>
          <a:xfrm>
            <a:off x="13207339" y="7527641"/>
            <a:ext cx="419442"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二次資源</a:t>
            </a:r>
            <a:endParaRPr lang="en-US" sz="660" dirty="0"/>
          </a:p>
        </p:txBody>
      </p:sp>
      <p:sp>
        <p:nvSpPr>
          <p:cNvPr id="53" name="Text 51"/>
          <p:cNvSpPr/>
          <p:nvPr/>
        </p:nvSpPr>
        <p:spPr>
          <a:xfrm>
            <a:off x="13956967" y="7527641"/>
            <a:ext cx="419442"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肥料資源</a:t>
            </a:r>
            <a:endParaRPr lang="en-US" sz="660" dirty="0"/>
          </a:p>
        </p:txBody>
      </p:sp>
      <p:sp>
        <p:nvSpPr>
          <p:cNvPr id="54" name="Text 52"/>
          <p:cNvSpPr/>
          <p:nvPr/>
        </p:nvSpPr>
        <p:spPr>
          <a:xfrm>
            <a:off x="8169668" y="8251857"/>
            <a:ext cx="503299"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販売網</a:t>
            </a:r>
            <a:endParaRPr lang="en-US" sz="820" dirty="0"/>
          </a:p>
        </p:txBody>
      </p:sp>
      <p:sp>
        <p:nvSpPr>
          <p:cNvPr id="55" name="Text 53"/>
          <p:cNvSpPr/>
          <p:nvPr/>
        </p:nvSpPr>
        <p:spPr>
          <a:xfrm>
            <a:off x="8804946" y="8239152"/>
            <a:ext cx="1851338" cy="152467"/>
          </a:xfrm>
          <a:prstGeom prst="rect">
            <a:avLst/>
          </a:prstGeom>
          <a:noFill/>
          <a:ln/>
        </p:spPr>
        <p:txBody>
          <a:bodyPr wrap="none" lIns="0" tIns="0" rIns="0" bIns="0" rtlCol="0" anchor="t"/>
          <a:lstStyle/>
          <a:p>
            <a:pPr algn="l" indent="0" marL="0">
              <a:lnSpc>
                <a:spcPts val="1200"/>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世界の資源と需要をつなぐ販売網</a:t>
            </a:r>
            <a:endParaRPr lang="en-US" sz="820" dirty="0"/>
          </a:p>
        </p:txBody>
      </p:sp>
      <p:sp>
        <p:nvSpPr>
          <p:cNvPr id="56" name="Text 54"/>
          <p:cNvSpPr/>
          <p:nvPr/>
        </p:nvSpPr>
        <p:spPr>
          <a:xfrm>
            <a:off x="8386655" y="8829960"/>
            <a:ext cx="300208" cy="139761"/>
          </a:xfrm>
          <a:prstGeom prst="rect">
            <a:avLst/>
          </a:prstGeom>
          <a:noFill/>
          <a:ln/>
        </p:spPr>
        <p:txBody>
          <a:bodyPr wrap="none" lIns="0" tIns="0" rIns="0" bIns="0" rtlCol="0" anchor="t"/>
          <a:lstStyle/>
          <a:p>
            <a:pPr algn="l" indent="0" marL="0">
              <a:lnSpc>
                <a:spcPts val="1100"/>
              </a:lnSpc>
              <a:buNone/>
            </a:pPr>
            <a:r>
              <a:rPr lang="en-US" sz="800" dirty="0">
                <a:solidFill>
                  <a:srgbClr val="2C4C6E"/>
                </a:solidFill>
                <a:latin typeface="Noto Sans" pitchFamily="34" charset="0"/>
                <a:ea typeface="Noto Sans" pitchFamily="34" charset="-122"/>
                <a:cs typeface="Noto Sans" pitchFamily="34" charset="-120"/>
              </a:rPr>
              <a:t>RtMI</a:t>
            </a:r>
            <a:endParaRPr lang="en-US" sz="800" dirty="0"/>
          </a:p>
        </p:txBody>
      </p:sp>
      <p:sp>
        <p:nvSpPr>
          <p:cNvPr id="57" name="Text 55"/>
          <p:cNvSpPr/>
          <p:nvPr/>
        </p:nvSpPr>
        <p:spPr>
          <a:xfrm>
            <a:off x="8142232" y="9281007"/>
            <a:ext cx="715561" cy="101644"/>
          </a:xfrm>
          <a:prstGeom prst="rect">
            <a:avLst/>
          </a:prstGeom>
          <a:noFill/>
          <a:ln/>
        </p:spPr>
        <p:txBody>
          <a:bodyPr wrap="none" lIns="0" tIns="0" rIns="0" bIns="0" rtlCol="0" anchor="t"/>
          <a:lstStyle/>
          <a:p>
            <a:pPr algn="ctr" indent="0" marL="0">
              <a:lnSpc>
                <a:spcPts val="800"/>
              </a:lnSpc>
              <a:buNone/>
            </a:pPr>
            <a:r>
              <a:rPr lang="en-US" sz="600" dirty="0">
                <a:solidFill>
                  <a:srgbClr val="23272C"/>
                </a:solidFill>
                <a:latin typeface="Noto Sans Light" pitchFamily="34" charset="0"/>
                <a:ea typeface="Noto Sans Light" pitchFamily="34" charset="-122"/>
                <a:cs typeface="Noto Sans Light" pitchFamily="34" charset="-120"/>
              </a:rPr>
              <a:t>RtM International</a:t>
            </a:r>
            <a:endParaRPr lang="en-US" sz="600" dirty="0"/>
          </a:p>
        </p:txBody>
      </p:sp>
      <p:sp>
        <p:nvSpPr>
          <p:cNvPr id="58" name="Text 56"/>
          <p:cNvSpPr/>
          <p:nvPr/>
        </p:nvSpPr>
        <p:spPr>
          <a:xfrm>
            <a:off x="9254008" y="8829960"/>
            <a:ext cx="292784" cy="139761"/>
          </a:xfrm>
          <a:prstGeom prst="rect">
            <a:avLst/>
          </a:prstGeom>
          <a:noFill/>
          <a:ln/>
        </p:spPr>
        <p:txBody>
          <a:bodyPr wrap="none" lIns="0" tIns="0" rIns="0" bIns="0" rtlCol="0" anchor="t"/>
          <a:lstStyle/>
          <a:p>
            <a:pPr algn="l" indent="0" marL="0">
              <a:lnSpc>
                <a:spcPts val="1100"/>
              </a:lnSpc>
              <a:buNone/>
            </a:pPr>
            <a:r>
              <a:rPr lang="en-US" sz="800" dirty="0">
                <a:solidFill>
                  <a:srgbClr val="2C4C6E"/>
                </a:solidFill>
                <a:latin typeface="Noto Sans" pitchFamily="34" charset="0"/>
                <a:ea typeface="Noto Sans" pitchFamily="34" charset="-122"/>
                <a:cs typeface="Noto Sans" pitchFamily="34" charset="-120"/>
              </a:rPr>
              <a:t>RtMJ</a:t>
            </a:r>
            <a:endParaRPr lang="en-US" sz="800" dirty="0"/>
          </a:p>
        </p:txBody>
      </p:sp>
      <p:sp>
        <p:nvSpPr>
          <p:cNvPr id="59" name="Text 57"/>
          <p:cNvSpPr/>
          <p:nvPr/>
        </p:nvSpPr>
        <p:spPr>
          <a:xfrm>
            <a:off x="9145981" y="9281007"/>
            <a:ext cx="435820" cy="101644"/>
          </a:xfrm>
          <a:prstGeom prst="rect">
            <a:avLst/>
          </a:prstGeom>
          <a:noFill/>
          <a:ln/>
        </p:spPr>
        <p:txBody>
          <a:bodyPr wrap="none" lIns="0" tIns="0" rIns="0" bIns="0" rtlCol="0" anchor="t"/>
          <a:lstStyle/>
          <a:p>
            <a:pPr algn="ctr" indent="0" marL="0">
              <a:lnSpc>
                <a:spcPts val="800"/>
              </a:lnSpc>
              <a:buNone/>
            </a:pPr>
            <a:r>
              <a:rPr lang="en-US" sz="600" dirty="0">
                <a:solidFill>
                  <a:srgbClr val="23272C"/>
                </a:solidFill>
                <a:latin typeface="Noto Sans Light" pitchFamily="34" charset="0"/>
                <a:ea typeface="Noto Sans Light" pitchFamily="34" charset="-122"/>
                <a:cs typeface="Noto Sans Light" pitchFamily="34" charset="-120"/>
              </a:rPr>
              <a:t>RtM Japan</a:t>
            </a:r>
            <a:endParaRPr lang="en-US" sz="600" dirty="0"/>
          </a:p>
        </p:txBody>
      </p:sp>
      <p:sp>
        <p:nvSpPr>
          <p:cNvPr id="60" name="Text 58"/>
          <p:cNvSpPr/>
          <p:nvPr/>
        </p:nvSpPr>
        <p:spPr>
          <a:xfrm>
            <a:off x="10098728" y="8829960"/>
            <a:ext cx="334930" cy="139761"/>
          </a:xfrm>
          <a:prstGeom prst="rect">
            <a:avLst/>
          </a:prstGeom>
          <a:noFill/>
          <a:ln/>
        </p:spPr>
        <p:txBody>
          <a:bodyPr wrap="none" lIns="0" tIns="0" rIns="0" bIns="0" rtlCol="0" anchor="t"/>
          <a:lstStyle/>
          <a:p>
            <a:pPr algn="l" indent="0" marL="0">
              <a:lnSpc>
                <a:spcPts val="1100"/>
              </a:lnSpc>
              <a:buNone/>
            </a:pPr>
            <a:r>
              <a:rPr lang="en-US" sz="800" dirty="0">
                <a:solidFill>
                  <a:srgbClr val="2C4C6E"/>
                </a:solidFill>
                <a:latin typeface="Noto Sans" pitchFamily="34" charset="0"/>
                <a:ea typeface="Noto Sans" pitchFamily="34" charset="-122"/>
                <a:cs typeface="Noto Sans" pitchFamily="34" charset="-120"/>
              </a:rPr>
              <a:t>RtMB</a:t>
            </a:r>
            <a:endParaRPr lang="en-US" sz="800" dirty="0"/>
          </a:p>
        </p:txBody>
      </p:sp>
      <p:sp>
        <p:nvSpPr>
          <p:cNvPr id="61" name="Text 59"/>
          <p:cNvSpPr/>
          <p:nvPr/>
        </p:nvSpPr>
        <p:spPr>
          <a:xfrm>
            <a:off x="9989202" y="9281007"/>
            <a:ext cx="477530" cy="101644"/>
          </a:xfrm>
          <a:prstGeom prst="rect">
            <a:avLst/>
          </a:prstGeom>
          <a:noFill/>
          <a:ln/>
        </p:spPr>
        <p:txBody>
          <a:bodyPr wrap="none" lIns="0" tIns="0" rIns="0" bIns="0" rtlCol="0" anchor="t"/>
          <a:lstStyle/>
          <a:p>
            <a:pPr algn="ctr" indent="0" marL="0">
              <a:lnSpc>
                <a:spcPts val="800"/>
              </a:lnSpc>
              <a:buNone/>
            </a:pPr>
            <a:r>
              <a:rPr lang="en-US" sz="600" dirty="0">
                <a:solidFill>
                  <a:srgbClr val="23272C"/>
                </a:solidFill>
                <a:latin typeface="Noto Sans Light" pitchFamily="34" charset="0"/>
                <a:ea typeface="Noto Sans Light" pitchFamily="34" charset="-122"/>
                <a:cs typeface="Noto Sans Light" pitchFamily="34" charset="-120"/>
              </a:rPr>
              <a:t>RtM Bharat</a:t>
            </a:r>
            <a:endParaRPr lang="en-US" sz="600" dirty="0"/>
          </a:p>
        </p:txBody>
      </p:sp>
      <p:sp>
        <p:nvSpPr>
          <p:cNvPr id="62" name="Text 60"/>
          <p:cNvSpPr/>
          <p:nvPr/>
        </p:nvSpPr>
        <p:spPr>
          <a:xfrm>
            <a:off x="10967470" y="8829960"/>
            <a:ext cx="324448" cy="139761"/>
          </a:xfrm>
          <a:prstGeom prst="rect">
            <a:avLst/>
          </a:prstGeom>
          <a:noFill/>
          <a:ln/>
        </p:spPr>
        <p:txBody>
          <a:bodyPr wrap="none" lIns="0" tIns="0" rIns="0" bIns="0" rtlCol="0" anchor="t"/>
          <a:lstStyle/>
          <a:p>
            <a:pPr algn="l" indent="0" marL="0">
              <a:lnSpc>
                <a:spcPts val="1100"/>
              </a:lnSpc>
              <a:buNone/>
            </a:pPr>
            <a:r>
              <a:rPr lang="en-US" sz="800" dirty="0">
                <a:solidFill>
                  <a:srgbClr val="2C4C6E"/>
                </a:solidFill>
                <a:latin typeface="Noto Sans" pitchFamily="34" charset="0"/>
                <a:ea typeface="Noto Sans" pitchFamily="34" charset="-122"/>
                <a:cs typeface="Noto Sans" pitchFamily="34" charset="-120"/>
              </a:rPr>
              <a:t>RtME</a:t>
            </a:r>
            <a:endParaRPr lang="en-US" sz="800" dirty="0"/>
          </a:p>
        </p:txBody>
      </p:sp>
      <p:sp>
        <p:nvSpPr>
          <p:cNvPr id="63" name="Text 61"/>
          <p:cNvSpPr/>
          <p:nvPr/>
        </p:nvSpPr>
        <p:spPr>
          <a:xfrm>
            <a:off x="10842698" y="9281007"/>
            <a:ext cx="498494" cy="101644"/>
          </a:xfrm>
          <a:prstGeom prst="rect">
            <a:avLst/>
          </a:prstGeom>
          <a:noFill/>
          <a:ln/>
        </p:spPr>
        <p:txBody>
          <a:bodyPr wrap="none" lIns="0" tIns="0" rIns="0" bIns="0" rtlCol="0" anchor="t"/>
          <a:lstStyle/>
          <a:p>
            <a:pPr algn="ctr" indent="0" marL="0">
              <a:lnSpc>
                <a:spcPts val="800"/>
              </a:lnSpc>
              <a:buNone/>
            </a:pPr>
            <a:r>
              <a:rPr lang="en-US" sz="600" dirty="0">
                <a:solidFill>
                  <a:srgbClr val="23272C"/>
                </a:solidFill>
                <a:latin typeface="Noto Sans Light" pitchFamily="34" charset="0"/>
                <a:ea typeface="Noto Sans Light" pitchFamily="34" charset="-122"/>
                <a:cs typeface="Noto Sans Light" pitchFamily="34" charset="-120"/>
              </a:rPr>
              <a:t>RtM Europe</a:t>
            </a:r>
            <a:endParaRPr lang="en-US" sz="600" dirty="0"/>
          </a:p>
        </p:txBody>
      </p:sp>
      <p:sp>
        <p:nvSpPr>
          <p:cNvPr id="64" name="Text 62"/>
          <p:cNvSpPr/>
          <p:nvPr/>
        </p:nvSpPr>
        <p:spPr>
          <a:xfrm>
            <a:off x="11827278" y="8829960"/>
            <a:ext cx="333620" cy="139761"/>
          </a:xfrm>
          <a:prstGeom prst="rect">
            <a:avLst/>
          </a:prstGeom>
          <a:noFill/>
          <a:ln/>
        </p:spPr>
        <p:txBody>
          <a:bodyPr wrap="none" lIns="0" tIns="0" rIns="0" bIns="0" rtlCol="0" anchor="t"/>
          <a:lstStyle/>
          <a:p>
            <a:pPr algn="l" indent="0" marL="0">
              <a:lnSpc>
                <a:spcPts val="1100"/>
              </a:lnSpc>
              <a:buNone/>
            </a:pPr>
            <a:r>
              <a:rPr lang="en-US" sz="800" dirty="0">
                <a:solidFill>
                  <a:srgbClr val="2C4C6E"/>
                </a:solidFill>
                <a:latin typeface="Noto Sans" pitchFamily="34" charset="0"/>
                <a:ea typeface="Noto Sans" pitchFamily="34" charset="-122"/>
                <a:cs typeface="Noto Sans" pitchFamily="34" charset="-120"/>
              </a:rPr>
              <a:t>RtMA</a:t>
            </a:r>
            <a:endParaRPr lang="en-US" sz="800" dirty="0"/>
          </a:p>
        </p:txBody>
      </p:sp>
      <p:sp>
        <p:nvSpPr>
          <p:cNvPr id="65" name="Text 63"/>
          <p:cNvSpPr/>
          <p:nvPr/>
        </p:nvSpPr>
        <p:spPr>
          <a:xfrm>
            <a:off x="11669114" y="9281007"/>
            <a:ext cx="573616" cy="101644"/>
          </a:xfrm>
          <a:prstGeom prst="rect">
            <a:avLst/>
          </a:prstGeom>
          <a:noFill/>
          <a:ln/>
        </p:spPr>
        <p:txBody>
          <a:bodyPr wrap="none" lIns="0" tIns="0" rIns="0" bIns="0" rtlCol="0" anchor="t"/>
          <a:lstStyle/>
          <a:p>
            <a:pPr algn="ctr" indent="0" marL="0">
              <a:lnSpc>
                <a:spcPts val="800"/>
              </a:lnSpc>
              <a:buNone/>
            </a:pPr>
            <a:r>
              <a:rPr lang="en-US" sz="600" dirty="0">
                <a:solidFill>
                  <a:srgbClr val="23272C"/>
                </a:solidFill>
                <a:latin typeface="Noto Sans Light" pitchFamily="34" charset="0"/>
                <a:ea typeface="Noto Sans Light" pitchFamily="34" charset="-122"/>
                <a:cs typeface="Noto Sans Light" pitchFamily="34" charset="-120"/>
              </a:rPr>
              <a:t>RtM Americas</a:t>
            </a:r>
            <a:endParaRPr lang="en-US" sz="600" dirty="0"/>
          </a:p>
        </p:txBody>
      </p:sp>
      <p:sp>
        <p:nvSpPr>
          <p:cNvPr id="66" name="Text 64"/>
          <p:cNvSpPr/>
          <p:nvPr/>
        </p:nvSpPr>
        <p:spPr>
          <a:xfrm>
            <a:off x="12687851" y="9141309"/>
            <a:ext cx="213076" cy="114223"/>
          </a:xfrm>
          <a:prstGeom prst="rect">
            <a:avLst/>
          </a:prstGeom>
          <a:noFill/>
          <a:ln/>
        </p:spPr>
        <p:txBody>
          <a:bodyPr wrap="none" lIns="0" tIns="0" rIns="0" bIns="0" rtlCol="0" anchor="t"/>
          <a:lstStyle/>
          <a:p>
            <a:pPr algn="ctr"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中国</a:t>
            </a:r>
            <a:endParaRPr lang="en-US" sz="580" dirty="0"/>
          </a:p>
        </p:txBody>
      </p:sp>
      <p:sp>
        <p:nvSpPr>
          <p:cNvPr id="67" name="Text 65"/>
          <p:cNvSpPr/>
          <p:nvPr/>
        </p:nvSpPr>
        <p:spPr>
          <a:xfrm>
            <a:off x="13126173" y="9141309"/>
            <a:ext cx="200410" cy="114223"/>
          </a:xfrm>
          <a:prstGeom prst="rect">
            <a:avLst/>
          </a:prstGeom>
          <a:noFill/>
          <a:ln/>
        </p:spPr>
        <p:txBody>
          <a:bodyPr wrap="none" lIns="0" tIns="0" rIns="0" bIns="0" rtlCol="0" anchor="t"/>
          <a:lstStyle/>
          <a:p>
            <a:pPr algn="ctr"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UAE</a:t>
            </a:r>
            <a:endParaRPr lang="en-US" sz="580" dirty="0"/>
          </a:p>
        </p:txBody>
      </p:sp>
      <p:sp>
        <p:nvSpPr>
          <p:cNvPr id="68" name="Text 66"/>
          <p:cNvSpPr/>
          <p:nvPr/>
        </p:nvSpPr>
        <p:spPr>
          <a:xfrm>
            <a:off x="13389793" y="9141309"/>
            <a:ext cx="537147" cy="114223"/>
          </a:xfrm>
          <a:prstGeom prst="rect">
            <a:avLst/>
          </a:prstGeom>
          <a:noFill/>
          <a:ln/>
        </p:spPr>
        <p:txBody>
          <a:bodyPr wrap="none" lIns="0" tIns="0" rIns="0" bIns="0" rtlCol="0" anchor="t"/>
          <a:lstStyle/>
          <a:p>
            <a:pPr algn="ctr"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インドネシア</a:t>
            </a:r>
            <a:endParaRPr lang="en-US" sz="580" dirty="0"/>
          </a:p>
        </p:txBody>
      </p:sp>
      <p:sp>
        <p:nvSpPr>
          <p:cNvPr id="69" name="Text 67"/>
          <p:cNvSpPr/>
          <p:nvPr/>
        </p:nvSpPr>
        <p:spPr>
          <a:xfrm>
            <a:off x="13983817" y="9141309"/>
            <a:ext cx="213076" cy="114223"/>
          </a:xfrm>
          <a:prstGeom prst="rect">
            <a:avLst/>
          </a:prstGeom>
          <a:noFill/>
          <a:ln/>
        </p:spPr>
        <p:txBody>
          <a:bodyPr wrap="none" lIns="0" tIns="0" rIns="0" bIns="0" rtlCol="0" anchor="t"/>
          <a:lstStyle/>
          <a:p>
            <a:pPr algn="ctr"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タイ</a:t>
            </a:r>
            <a:endParaRPr lang="en-US" sz="580" dirty="0"/>
          </a:p>
        </p:txBody>
      </p:sp>
      <p:sp>
        <p:nvSpPr>
          <p:cNvPr id="70" name="Text 68"/>
          <p:cNvSpPr/>
          <p:nvPr/>
        </p:nvSpPr>
        <p:spPr>
          <a:xfrm>
            <a:off x="14415806" y="9141309"/>
            <a:ext cx="213076" cy="114223"/>
          </a:xfrm>
          <a:prstGeom prst="rect">
            <a:avLst/>
          </a:prstGeom>
          <a:noFill/>
          <a:ln/>
        </p:spPr>
        <p:txBody>
          <a:bodyPr wrap="none" lIns="0" tIns="0" rIns="0" bIns="0" rtlCol="0" anchor="t"/>
          <a:lstStyle/>
          <a:p>
            <a:pPr algn="ctr"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チリ</a:t>
            </a:r>
            <a:endParaRPr lang="en-US" sz="580" dirty="0"/>
          </a:p>
        </p:txBody>
      </p:sp>
      <p:sp>
        <p:nvSpPr>
          <p:cNvPr id="71" name="Text 69"/>
          <p:cNvSpPr/>
          <p:nvPr/>
        </p:nvSpPr>
        <p:spPr>
          <a:xfrm>
            <a:off x="609866"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04</a:t>
            </a:r>
            <a:endParaRPr lang="en-US" sz="620" dirty="0"/>
          </a:p>
        </p:txBody>
      </p:sp>
      <p:sp>
        <p:nvSpPr>
          <p:cNvPr id="72" name="Text 70"/>
          <p:cNvSpPr/>
          <p:nvPr/>
        </p:nvSpPr>
        <p:spPr>
          <a:xfrm>
            <a:off x="14357271"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05</a:t>
            </a:r>
            <a:endParaRPr lang="en-US" sz="6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09866" y="520928"/>
            <a:ext cx="1732104"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FFFFFF"/>
                </a:solidFill>
                <a:latin typeface="Noto Sans JP" pitchFamily="34" charset="0"/>
                <a:ea typeface="Noto Sans JP" pitchFamily="34" charset="-122"/>
                <a:cs typeface="Noto Sans JP" pitchFamily="34" charset="-120"/>
              </a:rPr>
              <a:t>第2章　独自価値｜原料炭事業</a:t>
            </a:r>
            <a:endParaRPr lang="en-US" sz="660" dirty="0"/>
          </a:p>
        </p:txBody>
      </p:sp>
      <p:sp>
        <p:nvSpPr>
          <p:cNvPr id="3" name="Text 1"/>
          <p:cNvSpPr/>
          <p:nvPr/>
        </p:nvSpPr>
        <p:spPr>
          <a:xfrm>
            <a:off x="8169668" y="520928"/>
            <a:ext cx="1486212"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FFFFFF"/>
                </a:solidFill>
                <a:latin typeface="Noto Sans JP" pitchFamily="34" charset="0"/>
                <a:ea typeface="Noto Sans JP" pitchFamily="34" charset="-122"/>
                <a:cs typeface="Noto Sans JP" pitchFamily="34" charset="-120"/>
              </a:rPr>
              <a:t>第2章　独自価値｜銅事業</a:t>
            </a:r>
            <a:endParaRPr lang="en-US" sz="660" dirty="0"/>
          </a:p>
        </p:txBody>
      </p:sp>
      <p:sp>
        <p:nvSpPr>
          <p:cNvPr id="4" name="Text 2"/>
          <p:cNvSpPr/>
          <p:nvPr/>
        </p:nvSpPr>
        <p:spPr>
          <a:xfrm>
            <a:off x="609866" y="4565358"/>
            <a:ext cx="3110497" cy="796892"/>
          </a:xfrm>
          <a:prstGeom prst="rect">
            <a:avLst/>
          </a:prstGeom>
          <a:noFill/>
          <a:ln/>
        </p:spPr>
        <p:txBody>
          <a:bodyPr wrap="none" lIns="0" tIns="0" rIns="0" bIns="0" rtlCol="0" anchor="t"/>
          <a:lstStyle/>
          <a:p>
            <a:pPr algn="l" indent="0" marL="0">
              <a:lnSpc>
                <a:spcPts val="3136"/>
              </a:lnSpc>
              <a:buNone/>
            </a:pPr>
            <a:r>
              <a:rPr lang="en-US" sz="2800" spc="-20" kern="0" dirty="0">
                <a:solidFill>
                  <a:srgbClr val="23272C"/>
                </a:solidFill>
                <a:latin typeface="Noto Sans ExtraLight" pitchFamily="34" charset="0"/>
                <a:ea typeface="Noto Sans ExtraLight" pitchFamily="34" charset="-122"/>
                <a:cs typeface="Noto Sans ExtraLight" pitchFamily="34" charset="-120"/>
              </a:rPr>
              <a:t>World-class</a:t>
            </a:r>
            <a:endParaRPr lang="en-US" sz="2800" dirty="0"/>
          </a:p>
          <a:p>
            <a:pPr algn="l" indent="0" marL="0">
              <a:lnSpc>
                <a:spcPts val="3136"/>
              </a:lnSpc>
              <a:buNone/>
            </a:pPr>
            <a:r>
              <a:rPr lang="en-US" sz="2800" spc="-20" kern="0" dirty="0">
                <a:solidFill>
                  <a:srgbClr val="23272C"/>
                </a:solidFill>
                <a:latin typeface="Noto Sans ExtraLight" pitchFamily="34" charset="0"/>
                <a:ea typeface="Noto Sans ExtraLight" pitchFamily="34" charset="-122"/>
                <a:cs typeface="Noto Sans ExtraLight" pitchFamily="34" charset="-120"/>
              </a:rPr>
              <a:t>metallurgical coal.</a:t>
            </a:r>
            <a:endParaRPr lang="en-US" sz="2800" dirty="0"/>
          </a:p>
        </p:txBody>
      </p:sp>
      <p:sp>
        <p:nvSpPr>
          <p:cNvPr id="5" name="Text 3"/>
          <p:cNvSpPr/>
          <p:nvPr/>
        </p:nvSpPr>
        <p:spPr>
          <a:xfrm>
            <a:off x="609866" y="5615853"/>
            <a:ext cx="875412"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原料炭事業</a:t>
            </a:r>
            <a:endParaRPr lang="en-US" sz="1100" dirty="0"/>
          </a:p>
        </p:txBody>
      </p:sp>
      <p:sp>
        <p:nvSpPr>
          <p:cNvPr id="6" name="Text 4"/>
          <p:cNvSpPr/>
          <p:nvPr/>
        </p:nvSpPr>
        <p:spPr>
          <a:xfrm>
            <a:off x="609866" y="5824732"/>
            <a:ext cx="2797563"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鉄の主原料“産業のコメ”を、世界最高品位で届ける</a:t>
            </a:r>
            <a:endParaRPr lang="en-US" sz="820" dirty="0"/>
          </a:p>
        </p:txBody>
      </p:sp>
      <p:sp>
        <p:nvSpPr>
          <p:cNvPr id="7" name="Text 5"/>
          <p:cNvSpPr/>
          <p:nvPr/>
        </p:nvSpPr>
        <p:spPr>
          <a:xfrm>
            <a:off x="8169668" y="4565358"/>
            <a:ext cx="4048425" cy="796892"/>
          </a:xfrm>
          <a:prstGeom prst="rect">
            <a:avLst/>
          </a:prstGeom>
          <a:noFill/>
          <a:ln/>
        </p:spPr>
        <p:txBody>
          <a:bodyPr wrap="none" lIns="0" tIns="0" rIns="0" bIns="0" rtlCol="0" anchor="t"/>
          <a:lstStyle/>
          <a:p>
            <a:pPr algn="l" indent="0" marL="0">
              <a:lnSpc>
                <a:spcPts val="3136"/>
              </a:lnSpc>
              <a:buNone/>
            </a:pPr>
            <a:r>
              <a:rPr lang="en-US" sz="2800" spc="-20" kern="0" dirty="0">
                <a:solidFill>
                  <a:srgbClr val="23272C"/>
                </a:solidFill>
                <a:latin typeface="Noto Sans ExtraLight" pitchFamily="34" charset="0"/>
                <a:ea typeface="Noto Sans ExtraLight" pitchFamily="34" charset="-122"/>
                <a:cs typeface="Noto Sans ExtraLight" pitchFamily="34" charset="-120"/>
              </a:rPr>
              <a:t>The partner the copper</a:t>
            </a:r>
            <a:endParaRPr lang="en-US" sz="2800" dirty="0"/>
          </a:p>
          <a:p>
            <a:pPr algn="l" indent="0" marL="0">
              <a:lnSpc>
                <a:spcPts val="3136"/>
              </a:lnSpc>
              <a:buNone/>
            </a:pPr>
            <a:r>
              <a:rPr lang="en-US" sz="2800" spc="-20" kern="0" dirty="0">
                <a:solidFill>
                  <a:srgbClr val="23272C"/>
                </a:solidFill>
                <a:latin typeface="Noto Sans ExtraLight" pitchFamily="34" charset="0"/>
                <a:ea typeface="Noto Sans ExtraLight" pitchFamily="34" charset="-122"/>
                <a:cs typeface="Noto Sans ExtraLight" pitchFamily="34" charset="-120"/>
              </a:rPr>
              <a:t>industry calls first.</a:t>
            </a:r>
            <a:endParaRPr lang="en-US" sz="2800" dirty="0"/>
          </a:p>
        </p:txBody>
      </p:sp>
      <p:sp>
        <p:nvSpPr>
          <p:cNvPr id="8" name="Text 6"/>
          <p:cNvSpPr/>
          <p:nvPr/>
        </p:nvSpPr>
        <p:spPr>
          <a:xfrm>
            <a:off x="8169668" y="5615853"/>
            <a:ext cx="545664"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銅事業</a:t>
            </a:r>
            <a:endParaRPr lang="en-US" sz="1100" dirty="0"/>
          </a:p>
        </p:txBody>
      </p:sp>
      <p:sp>
        <p:nvSpPr>
          <p:cNvPr id="9" name="Text 7"/>
          <p:cNvSpPr/>
          <p:nvPr/>
        </p:nvSpPr>
        <p:spPr>
          <a:xfrm>
            <a:off x="8169668" y="5824732"/>
            <a:ext cx="2931428"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業界から最初に声がかかる、世界最大級のパートナー</a:t>
            </a:r>
            <a:endParaRPr lang="en-US" sz="820" dirty="0"/>
          </a:p>
        </p:txBody>
      </p:sp>
      <p:sp>
        <p:nvSpPr>
          <p:cNvPr id="10" name="Text 8"/>
          <p:cNvSpPr/>
          <p:nvPr/>
        </p:nvSpPr>
        <p:spPr>
          <a:xfrm>
            <a:off x="609866" y="6378186"/>
            <a:ext cx="1219137"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JP Light" pitchFamily="34" charset="0"/>
                <a:ea typeface="Noto Sans JP Light" pitchFamily="34" charset="-122"/>
                <a:cs typeface="Noto Sans JP Light" pitchFamily="34" charset="-120"/>
              </a:rPr>
              <a:t>約50</a:t>
            </a:r>
            <a:pPr algn="l" indent="0" marL="0">
              <a:lnSpc>
                <a:spcPts val="3400"/>
              </a:lnSpc>
              <a:buNone/>
            </a:pPr>
            <a:r>
              <a:rPr lang="en-US" sz="1600" spc="-50" kern="0" dirty="0">
                <a:solidFill>
                  <a:srgbClr val="23272C"/>
                </a:solidFill>
                <a:latin typeface="Noto Sans ExtraLight" pitchFamily="34" charset="0"/>
                <a:ea typeface="Noto Sans ExtraLight" pitchFamily="34" charset="-122"/>
                <a:cs typeface="Noto Sans ExtraLight" pitchFamily="34" charset="-120"/>
              </a:rPr>
              <a:t>%</a:t>
            </a:r>
            <a:endParaRPr lang="en-US" sz="3400" dirty="0"/>
          </a:p>
        </p:txBody>
      </p:sp>
      <p:sp>
        <p:nvSpPr>
          <p:cNvPr id="11" name="Text 9"/>
          <p:cNvSpPr/>
          <p:nvPr/>
        </p:nvSpPr>
        <p:spPr>
          <a:xfrm>
            <a:off x="609866" y="6910358"/>
            <a:ext cx="1064527"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一級強粘炭の世界供給に</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占めるBMAのシェア</a:t>
            </a:r>
            <a:endParaRPr lang="en-US" sz="660" dirty="0"/>
          </a:p>
        </p:txBody>
      </p:sp>
      <p:sp>
        <p:nvSpPr>
          <p:cNvPr id="12" name="Text 10"/>
          <p:cNvSpPr/>
          <p:nvPr/>
        </p:nvSpPr>
        <p:spPr>
          <a:xfrm>
            <a:off x="2744399" y="6378186"/>
            <a:ext cx="1219137"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JP Light" pitchFamily="34" charset="0"/>
                <a:ea typeface="Noto Sans JP Light" pitchFamily="34" charset="-122"/>
                <a:cs typeface="Noto Sans JP Light" pitchFamily="34" charset="-120"/>
              </a:rPr>
              <a:t>約20</a:t>
            </a:r>
            <a:pPr algn="l" indent="0" marL="0">
              <a:lnSpc>
                <a:spcPts val="3400"/>
              </a:lnSpc>
              <a:buNone/>
            </a:pPr>
            <a:r>
              <a:rPr lang="en-US" sz="1600" spc="-50" kern="0" dirty="0">
                <a:solidFill>
                  <a:srgbClr val="23272C"/>
                </a:solidFill>
                <a:latin typeface="Noto Sans ExtraLight" pitchFamily="34" charset="0"/>
                <a:ea typeface="Noto Sans ExtraLight" pitchFamily="34" charset="-122"/>
                <a:cs typeface="Noto Sans ExtraLight" pitchFamily="34" charset="-120"/>
              </a:rPr>
              <a:t>%</a:t>
            </a:r>
            <a:endParaRPr lang="en-US" sz="3400" dirty="0"/>
          </a:p>
        </p:txBody>
      </p:sp>
      <p:sp>
        <p:nvSpPr>
          <p:cNvPr id="13" name="Text 11"/>
          <p:cNvSpPr/>
          <p:nvPr/>
        </p:nvSpPr>
        <p:spPr>
          <a:xfrm>
            <a:off x="2744399" y="6910358"/>
            <a:ext cx="972372"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原料炭の海上貿易量に</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占めるシェア</a:t>
            </a:r>
            <a:endParaRPr lang="en-US" sz="660" dirty="0"/>
          </a:p>
        </p:txBody>
      </p:sp>
      <p:sp>
        <p:nvSpPr>
          <p:cNvPr id="14" name="Text 12"/>
          <p:cNvSpPr/>
          <p:nvPr/>
        </p:nvSpPr>
        <p:spPr>
          <a:xfrm>
            <a:off x="4878931" y="6378186"/>
            <a:ext cx="915812"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ExtraLight" pitchFamily="34" charset="0"/>
                <a:ea typeface="Noto Sans ExtraLight" pitchFamily="34" charset="-122"/>
                <a:cs typeface="Noto Sans ExtraLight" pitchFamily="34" charset="-120"/>
              </a:rPr>
              <a:t>60</a:t>
            </a:r>
            <a:pPr algn="l" indent="0" marL="0">
              <a:lnSpc>
                <a:spcPts val="3400"/>
              </a:lnSpc>
              <a:buNone/>
            </a:pPr>
            <a:r>
              <a:rPr lang="en-US" sz="1600" spc="-50" kern="0" dirty="0">
                <a:solidFill>
                  <a:srgbClr val="23272C"/>
                </a:solidFill>
                <a:latin typeface="Noto Sans JP Light" pitchFamily="34" charset="0"/>
                <a:ea typeface="Noto Sans JP Light" pitchFamily="34" charset="-122"/>
                <a:cs typeface="Noto Sans JP Light" pitchFamily="34" charset="-120"/>
              </a:rPr>
              <a:t>年+</a:t>
            </a:r>
            <a:endParaRPr lang="en-US" sz="3400" dirty="0"/>
          </a:p>
        </p:txBody>
      </p:sp>
      <p:sp>
        <p:nvSpPr>
          <p:cNvPr id="15" name="Text 13"/>
          <p:cNvSpPr/>
          <p:nvPr/>
        </p:nvSpPr>
        <p:spPr>
          <a:xfrm>
            <a:off x="4878931" y="6910358"/>
            <a:ext cx="788062"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炭鉱寿命。</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港湾・鉄道も保有</a:t>
            </a:r>
            <a:endParaRPr lang="en-US" sz="660" dirty="0"/>
          </a:p>
        </p:txBody>
      </p:sp>
      <p:sp>
        <p:nvSpPr>
          <p:cNvPr id="16" name="Text 14"/>
          <p:cNvSpPr/>
          <p:nvPr/>
        </p:nvSpPr>
        <p:spPr>
          <a:xfrm>
            <a:off x="8169668" y="6378186"/>
            <a:ext cx="1017139"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ExtraLight" pitchFamily="34" charset="0"/>
                <a:ea typeface="Noto Sans ExtraLight" pitchFamily="34" charset="-122"/>
                <a:cs typeface="Noto Sans ExtraLight" pitchFamily="34" charset="-120"/>
              </a:rPr>
              <a:t>No.1</a:t>
            </a:r>
            <a:endParaRPr lang="en-US" sz="3400" dirty="0"/>
          </a:p>
        </p:txBody>
      </p:sp>
      <p:sp>
        <p:nvSpPr>
          <p:cNvPr id="17" name="Text 15"/>
          <p:cNvSpPr/>
          <p:nvPr/>
        </p:nvSpPr>
        <p:spPr>
          <a:xfrm>
            <a:off x="8169668" y="6910358"/>
            <a:ext cx="1246216"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操業を担わない参画者として</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世界最大の銅生産規模</a:t>
            </a:r>
            <a:endParaRPr lang="en-US" sz="660" dirty="0"/>
          </a:p>
        </p:txBody>
      </p:sp>
      <p:sp>
        <p:nvSpPr>
          <p:cNvPr id="18" name="Text 16"/>
          <p:cNvSpPr/>
          <p:nvPr/>
        </p:nvSpPr>
        <p:spPr>
          <a:xfrm>
            <a:off x="10304201" y="6378186"/>
            <a:ext cx="962545"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ExtraLight" pitchFamily="34" charset="0"/>
                <a:ea typeface="Noto Sans ExtraLight" pitchFamily="34" charset="-122"/>
                <a:cs typeface="Noto Sans ExtraLight" pitchFamily="34" charset="-120"/>
              </a:rPr>
              <a:t>5 / 5</a:t>
            </a:r>
            <a:endParaRPr lang="en-US" sz="3400" dirty="0"/>
          </a:p>
        </p:txBody>
      </p:sp>
      <p:sp>
        <p:nvSpPr>
          <p:cNvPr id="19" name="Text 17"/>
          <p:cNvSpPr/>
          <p:nvPr/>
        </p:nvSpPr>
        <p:spPr>
          <a:xfrm>
            <a:off x="10304201" y="6910358"/>
            <a:ext cx="1195989"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参画する主要5鉱山すべてが</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生産規模で世界トップ15</a:t>
            </a:r>
            <a:endParaRPr lang="en-US" sz="660" dirty="0"/>
          </a:p>
        </p:txBody>
      </p:sp>
      <p:sp>
        <p:nvSpPr>
          <p:cNvPr id="20" name="Text 18"/>
          <p:cNvSpPr/>
          <p:nvPr/>
        </p:nvSpPr>
        <p:spPr>
          <a:xfrm>
            <a:off x="12438733" y="6378186"/>
            <a:ext cx="1687337"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JP Light" pitchFamily="34" charset="0"/>
                <a:ea typeface="Noto Sans JP Light" pitchFamily="34" charset="-122"/>
                <a:cs typeface="Noto Sans JP Light" pitchFamily="34" charset="-120"/>
              </a:rPr>
              <a:t>上位25</a:t>
            </a:r>
            <a:pPr algn="l" indent="0" marL="0">
              <a:lnSpc>
                <a:spcPts val="3400"/>
              </a:lnSpc>
              <a:buNone/>
            </a:pPr>
            <a:r>
              <a:rPr lang="en-US" sz="1600" spc="-50" kern="0" dirty="0">
                <a:solidFill>
                  <a:srgbClr val="23272C"/>
                </a:solidFill>
                <a:latin typeface="Noto Sans ExtraLight" pitchFamily="34" charset="0"/>
                <a:ea typeface="Noto Sans ExtraLight" pitchFamily="34" charset="-122"/>
                <a:cs typeface="Noto Sans ExtraLight" pitchFamily="34" charset="-120"/>
              </a:rPr>
              <a:t>%</a:t>
            </a:r>
            <a:endParaRPr lang="en-US" sz="3400" dirty="0"/>
          </a:p>
        </p:txBody>
      </p:sp>
      <p:sp>
        <p:nvSpPr>
          <p:cNvPr id="21" name="Text 19"/>
          <p:cNvSpPr/>
          <p:nvPr/>
        </p:nvSpPr>
        <p:spPr>
          <a:xfrm>
            <a:off x="12438733" y="6910358"/>
            <a:ext cx="693068"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生産コストは</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世界の上位25%</a:t>
            </a:r>
            <a:endParaRPr lang="en-US" sz="660" dirty="0"/>
          </a:p>
        </p:txBody>
      </p:sp>
      <p:sp>
        <p:nvSpPr>
          <p:cNvPr id="22" name="Text 20"/>
          <p:cNvSpPr/>
          <p:nvPr/>
        </p:nvSpPr>
        <p:spPr>
          <a:xfrm>
            <a:off x="609866" y="7390005"/>
            <a:ext cx="3669541" cy="485149"/>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BHPと50:50の合弁であるBMAを通じ、豪州クイーンズランド州ボーエン・ベ</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ースンで世界最高品位の原料炭事業に参画しています。炭鉱に加えて港湾と</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鉄道も保有し、山から港までを一体で運営しています。</a:t>
            </a:r>
            <a:endParaRPr lang="en-US" sz="740" dirty="0"/>
          </a:p>
        </p:txBody>
      </p:sp>
      <p:sp>
        <p:nvSpPr>
          <p:cNvPr id="23" name="Text 21"/>
          <p:cNvSpPr/>
          <p:nvPr/>
        </p:nvSpPr>
        <p:spPr>
          <a:xfrm>
            <a:off x="609866" y="8500013"/>
            <a:ext cx="653978"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出資構成</a:t>
            </a:r>
            <a:endParaRPr lang="en-US" sz="820" dirty="0"/>
          </a:p>
        </p:txBody>
      </p:sp>
      <p:sp>
        <p:nvSpPr>
          <p:cNvPr id="24" name="Text 22"/>
          <p:cNvSpPr/>
          <p:nvPr/>
        </p:nvSpPr>
        <p:spPr>
          <a:xfrm>
            <a:off x="816887" y="8925649"/>
            <a:ext cx="475346"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三菱商事</a:t>
            </a:r>
            <a:endParaRPr lang="en-US" sz="760" dirty="0"/>
          </a:p>
        </p:txBody>
      </p:sp>
      <p:sp>
        <p:nvSpPr>
          <p:cNvPr id="25" name="Text 23"/>
          <p:cNvSpPr/>
          <p:nvPr/>
        </p:nvSpPr>
        <p:spPr>
          <a:xfrm>
            <a:off x="2231511" y="8864305"/>
            <a:ext cx="288853"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pitchFamily="34" charset="0"/>
                <a:ea typeface="Noto Sans" pitchFamily="34" charset="-122"/>
                <a:cs typeface="Noto Sans" pitchFamily="34" charset="-120"/>
              </a:rPr>
              <a:t>MDP</a:t>
            </a:r>
            <a:endParaRPr lang="en-US" sz="760" dirty="0"/>
          </a:p>
        </p:txBody>
      </p:sp>
      <p:sp>
        <p:nvSpPr>
          <p:cNvPr id="26" name="Text 24"/>
          <p:cNvSpPr/>
          <p:nvPr/>
        </p:nvSpPr>
        <p:spPr>
          <a:xfrm>
            <a:off x="2009432" y="8987040"/>
            <a:ext cx="732812" cy="110284"/>
          </a:xfrm>
          <a:prstGeom prst="rect">
            <a:avLst/>
          </a:prstGeom>
          <a:noFill/>
          <a:ln/>
        </p:spPr>
        <p:txBody>
          <a:bodyPr wrap="none" lIns="0" tIns="0" rIns="0" bIns="0" rtlCol="0" anchor="t"/>
          <a:lstStyle/>
          <a:p>
            <a:pPr algn="ctr" indent="0" marL="0">
              <a:lnSpc>
                <a:spcPts val="868"/>
              </a:lnSpc>
              <a:buNone/>
            </a:pPr>
            <a:r>
              <a:rPr lang="en-US" sz="560" dirty="0">
                <a:solidFill>
                  <a:srgbClr val="5D636A"/>
                </a:solidFill>
                <a:latin typeface="Noto Sans JP Light" pitchFamily="34" charset="0"/>
                <a:ea typeface="Noto Sans JP Light" pitchFamily="34" charset="-122"/>
                <a:cs typeface="Noto Sans JP Light" pitchFamily="34" charset="-120"/>
              </a:rPr>
              <a:t>三菱商事 100%出資</a:t>
            </a:r>
            <a:endParaRPr lang="en-US" sz="560" dirty="0"/>
          </a:p>
        </p:txBody>
      </p:sp>
      <p:sp>
        <p:nvSpPr>
          <p:cNvPr id="27" name="Text 25"/>
          <p:cNvSpPr/>
          <p:nvPr/>
        </p:nvSpPr>
        <p:spPr>
          <a:xfrm>
            <a:off x="2244406" y="9427518"/>
            <a:ext cx="262866"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pitchFamily="34" charset="0"/>
                <a:ea typeface="Noto Sans" pitchFamily="34" charset="-122"/>
                <a:cs typeface="Noto Sans" pitchFamily="34" charset="-120"/>
              </a:rPr>
              <a:t>BHP</a:t>
            </a:r>
            <a:endParaRPr lang="en-US" sz="760" dirty="0"/>
          </a:p>
        </p:txBody>
      </p:sp>
      <p:sp>
        <p:nvSpPr>
          <p:cNvPr id="28" name="Text 26"/>
          <p:cNvSpPr/>
          <p:nvPr/>
        </p:nvSpPr>
        <p:spPr>
          <a:xfrm>
            <a:off x="3682346" y="9118416"/>
            <a:ext cx="284048"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pitchFamily="34" charset="0"/>
                <a:ea typeface="Noto Sans" pitchFamily="34" charset="-122"/>
                <a:cs typeface="Noto Sans" pitchFamily="34" charset="-120"/>
              </a:rPr>
              <a:t>BMA</a:t>
            </a:r>
            <a:endParaRPr lang="en-US" sz="760" dirty="0"/>
          </a:p>
        </p:txBody>
      </p:sp>
      <p:sp>
        <p:nvSpPr>
          <p:cNvPr id="29" name="Text 27"/>
          <p:cNvSpPr/>
          <p:nvPr/>
        </p:nvSpPr>
        <p:spPr>
          <a:xfrm>
            <a:off x="3387756" y="9241151"/>
            <a:ext cx="873229" cy="110284"/>
          </a:xfrm>
          <a:prstGeom prst="rect">
            <a:avLst/>
          </a:prstGeom>
          <a:noFill/>
          <a:ln/>
        </p:spPr>
        <p:txBody>
          <a:bodyPr wrap="none" lIns="0" tIns="0" rIns="0" bIns="0" rtlCol="0" anchor="t"/>
          <a:lstStyle/>
          <a:p>
            <a:pPr algn="ctr" indent="0" marL="0">
              <a:lnSpc>
                <a:spcPts val="868"/>
              </a:lnSpc>
              <a:buNone/>
            </a:pPr>
            <a:r>
              <a:rPr lang="en-US" sz="560" dirty="0">
                <a:solidFill>
                  <a:srgbClr val="5D636A"/>
                </a:solidFill>
                <a:latin typeface="Noto Sans JP Light" pitchFamily="34" charset="0"/>
                <a:ea typeface="Noto Sans JP Light" pitchFamily="34" charset="-122"/>
                <a:cs typeface="Noto Sans JP Light" pitchFamily="34" charset="-120"/>
              </a:rPr>
              <a:t>BHP Mitsubishi Alliance</a:t>
            </a:r>
            <a:endParaRPr lang="en-US" sz="560" dirty="0"/>
          </a:p>
        </p:txBody>
      </p:sp>
      <p:sp>
        <p:nvSpPr>
          <p:cNvPr id="30" name="Text 28"/>
          <p:cNvSpPr/>
          <p:nvPr/>
        </p:nvSpPr>
        <p:spPr>
          <a:xfrm>
            <a:off x="1550077" y="8817715"/>
            <a:ext cx="253694"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100%</a:t>
            </a:r>
            <a:endParaRPr lang="en-US" sz="580" dirty="0"/>
          </a:p>
        </p:txBody>
      </p:sp>
      <p:sp>
        <p:nvSpPr>
          <p:cNvPr id="31" name="Text 29"/>
          <p:cNvSpPr/>
          <p:nvPr/>
        </p:nvSpPr>
        <p:spPr>
          <a:xfrm>
            <a:off x="2846043" y="8830420"/>
            <a:ext cx="210237"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50%</a:t>
            </a:r>
            <a:endParaRPr lang="en-US" sz="580" dirty="0"/>
          </a:p>
        </p:txBody>
      </p:sp>
      <p:sp>
        <p:nvSpPr>
          <p:cNvPr id="32" name="Text 30"/>
          <p:cNvSpPr/>
          <p:nvPr/>
        </p:nvSpPr>
        <p:spPr>
          <a:xfrm>
            <a:off x="2846043" y="9338642"/>
            <a:ext cx="210237"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50%</a:t>
            </a:r>
            <a:endParaRPr lang="en-US" sz="580" dirty="0"/>
          </a:p>
        </p:txBody>
      </p:sp>
      <p:sp>
        <p:nvSpPr>
          <p:cNvPr id="33" name="Text 31"/>
          <p:cNvSpPr/>
          <p:nvPr/>
        </p:nvSpPr>
        <p:spPr>
          <a:xfrm>
            <a:off x="5575552" y="7912580"/>
            <a:ext cx="875631" cy="114350"/>
          </a:xfrm>
          <a:prstGeom prst="rect">
            <a:avLst/>
          </a:prstGeom>
          <a:noFill/>
          <a:ln/>
        </p:spPr>
        <p:txBody>
          <a:bodyPr wrap="none" lIns="0" tIns="0" rIns="0" bIns="0" rtlCol="0" anchor="t"/>
          <a:lstStyle/>
          <a:p>
            <a:pPr algn="l" indent="0" marL="0">
              <a:lnSpc>
                <a:spcPts val="900"/>
              </a:lnSpc>
              <a:buNone/>
            </a:pPr>
            <a:r>
              <a:rPr lang="en-US" sz="660" dirty="0">
                <a:solidFill>
                  <a:srgbClr val="23272C"/>
                </a:solidFill>
                <a:latin typeface="Noto Sans JP Medium" pitchFamily="34" charset="0"/>
                <a:ea typeface="Noto Sans JP Medium" pitchFamily="34" charset="-122"/>
                <a:cs typeface="Noto Sans JP Medium" pitchFamily="34" charset="-120"/>
              </a:rPr>
              <a:t>ボーエン・ベースン</a:t>
            </a:r>
            <a:endParaRPr lang="en-US" sz="660" dirty="0"/>
          </a:p>
        </p:txBody>
      </p:sp>
      <p:sp>
        <p:nvSpPr>
          <p:cNvPr id="34" name="Text 32"/>
          <p:cNvSpPr/>
          <p:nvPr/>
        </p:nvSpPr>
        <p:spPr>
          <a:xfrm>
            <a:off x="5575552" y="8039635"/>
            <a:ext cx="1182668" cy="101644"/>
          </a:xfrm>
          <a:prstGeom prst="rect">
            <a:avLst/>
          </a:prstGeom>
          <a:noFill/>
          <a:ln/>
        </p:spPr>
        <p:txBody>
          <a:bodyPr wrap="none" lIns="0" tIns="0" rIns="0" bIns="0" rtlCol="0" anchor="t"/>
          <a:lstStyle/>
          <a:p>
            <a:pPr algn="l" indent="0" marL="0">
              <a:lnSpc>
                <a:spcPts val="800"/>
              </a:lnSpc>
              <a:buNone/>
            </a:pPr>
            <a:r>
              <a:rPr lang="en-US" sz="600" spc="140" kern="0" dirty="0">
                <a:solidFill>
                  <a:srgbClr val="9AA0A6"/>
                </a:solidFill>
                <a:latin typeface="Noto Sans JP" pitchFamily="34" charset="0"/>
                <a:ea typeface="Noto Sans JP" pitchFamily="34" charset="-122"/>
                <a:cs typeface="Noto Sans JP" pitchFamily="34" charset="-120"/>
              </a:rPr>
              <a:t>豪州クイーンズランド州</a:t>
            </a:r>
            <a:endParaRPr lang="en-US" sz="600" dirty="0"/>
          </a:p>
        </p:txBody>
      </p:sp>
      <p:sp>
        <p:nvSpPr>
          <p:cNvPr id="35" name="Text 33"/>
          <p:cNvSpPr/>
          <p:nvPr/>
        </p:nvSpPr>
        <p:spPr>
          <a:xfrm>
            <a:off x="4421531" y="9458813"/>
            <a:ext cx="1507831"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1968年 MDP設立／2001年 BMA組成</a:t>
            </a:r>
            <a:endParaRPr lang="en-US" sz="660" dirty="0"/>
          </a:p>
        </p:txBody>
      </p:sp>
      <p:sp>
        <p:nvSpPr>
          <p:cNvPr id="36" name="Text 34"/>
          <p:cNvSpPr/>
          <p:nvPr/>
        </p:nvSpPr>
        <p:spPr>
          <a:xfrm>
            <a:off x="8670545" y="7713857"/>
            <a:ext cx="393892"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Antamina</a:t>
            </a:r>
            <a:endParaRPr lang="en-US" sz="540" dirty="0"/>
          </a:p>
        </p:txBody>
      </p:sp>
      <p:sp>
        <p:nvSpPr>
          <p:cNvPr id="37" name="Text 35"/>
          <p:cNvSpPr/>
          <p:nvPr/>
        </p:nvSpPr>
        <p:spPr>
          <a:xfrm>
            <a:off x="9053101" y="8162720"/>
            <a:ext cx="442372"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Quellaveco</a:t>
            </a:r>
            <a:endParaRPr lang="en-US" sz="540" dirty="0"/>
          </a:p>
        </p:txBody>
      </p:sp>
      <p:sp>
        <p:nvSpPr>
          <p:cNvPr id="38" name="Text 36"/>
          <p:cNvSpPr/>
          <p:nvPr/>
        </p:nvSpPr>
        <p:spPr>
          <a:xfrm>
            <a:off x="9143827" y="8587959"/>
            <a:ext cx="411580"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Escondida</a:t>
            </a:r>
            <a:endParaRPr lang="en-US" sz="540" dirty="0"/>
          </a:p>
        </p:txBody>
      </p:sp>
      <p:sp>
        <p:nvSpPr>
          <p:cNvPr id="39" name="Text 37"/>
          <p:cNvSpPr/>
          <p:nvPr/>
        </p:nvSpPr>
        <p:spPr>
          <a:xfrm>
            <a:off x="9070770" y="8506762"/>
            <a:ext cx="403282"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Marimaca</a:t>
            </a:r>
            <a:endParaRPr lang="en-US" sz="540" dirty="0"/>
          </a:p>
        </p:txBody>
      </p:sp>
      <p:sp>
        <p:nvSpPr>
          <p:cNvPr id="40" name="Text 38"/>
          <p:cNvSpPr/>
          <p:nvPr/>
        </p:nvSpPr>
        <p:spPr>
          <a:xfrm>
            <a:off x="9059057" y="9028484"/>
            <a:ext cx="566409"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Los Pelambres</a:t>
            </a:r>
            <a:endParaRPr lang="en-US" sz="540" dirty="0"/>
          </a:p>
        </p:txBody>
      </p:sp>
      <p:sp>
        <p:nvSpPr>
          <p:cNvPr id="41" name="Text 39"/>
          <p:cNvSpPr/>
          <p:nvPr/>
        </p:nvSpPr>
        <p:spPr>
          <a:xfrm>
            <a:off x="9070770" y="9114445"/>
            <a:ext cx="751811"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Anglo American Sur</a:t>
            </a:r>
            <a:endParaRPr lang="en-US" sz="540" dirty="0"/>
          </a:p>
        </p:txBody>
      </p:sp>
      <p:sp>
        <p:nvSpPr>
          <p:cNvPr id="42" name="Text 40"/>
          <p:cNvSpPr/>
          <p:nvPr/>
        </p:nvSpPr>
        <p:spPr>
          <a:xfrm>
            <a:off x="8169668" y="9442931"/>
            <a:ext cx="2304251"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チリ・ペルーを中心に参画（ほか米国 Copper World）</a:t>
            </a:r>
            <a:endParaRPr lang="en-US" sz="660" dirty="0"/>
          </a:p>
        </p:txBody>
      </p:sp>
      <p:sp>
        <p:nvSpPr>
          <p:cNvPr id="43" name="Text 41"/>
          <p:cNvSpPr/>
          <p:nvPr/>
        </p:nvSpPr>
        <p:spPr>
          <a:xfrm>
            <a:off x="10329612" y="7387515"/>
            <a:ext cx="4624721" cy="333394"/>
          </a:xfrm>
          <a:prstGeom prst="rect">
            <a:avLst/>
          </a:prstGeom>
          <a:noFill/>
          <a:ln/>
        </p:spPr>
        <p:txBody>
          <a:bodyPr wrap="none" lIns="0" tIns="0" rIns="0" bIns="0" rtlCol="0" anchor="t"/>
          <a:lstStyle/>
          <a:p>
            <a:pPr algn="l" indent="0" marL="0">
              <a:lnSpc>
                <a:spcPts val="1312"/>
              </a:lnSpc>
              <a:buNone/>
            </a:pPr>
            <a:r>
              <a:rPr lang="en-US" sz="820" dirty="0">
                <a:solidFill>
                  <a:srgbClr val="23272C"/>
                </a:solidFill>
                <a:latin typeface="Noto Sans JP" pitchFamily="34" charset="0"/>
                <a:ea typeface="Noto Sans JP" pitchFamily="34" charset="-122"/>
                <a:cs typeface="Noto Sans JP" pitchFamily="34" charset="-120"/>
              </a:rPr>
              <a:t>パートナーが多く、規模が大きく、業界と幅広い関係を築いている。だから、新しい案件</a:t>
            </a:r>
            <a:endParaRPr lang="en-US" sz="820" dirty="0"/>
          </a:p>
          <a:p>
            <a:pPr algn="l" indent="0" marL="0">
              <a:lnSpc>
                <a:spcPts val="1312"/>
              </a:lnSpc>
              <a:buNone/>
            </a:pPr>
            <a:r>
              <a:rPr lang="en-US" sz="820" dirty="0">
                <a:solidFill>
                  <a:srgbClr val="23272C"/>
                </a:solidFill>
                <a:latin typeface="Noto Sans JP" pitchFamily="34" charset="0"/>
                <a:ea typeface="Noto Sans JP" pitchFamily="34" charset="-122"/>
                <a:cs typeface="Noto Sans JP" pitchFamily="34" charset="-120"/>
              </a:rPr>
              <a:t>で最初に声がかかる。</a:t>
            </a:r>
            <a:endParaRPr lang="en-US" sz="820" dirty="0"/>
          </a:p>
        </p:txBody>
      </p:sp>
      <p:sp>
        <p:nvSpPr>
          <p:cNvPr id="44" name="Text 42"/>
          <p:cNvSpPr/>
          <p:nvPr/>
        </p:nvSpPr>
        <p:spPr>
          <a:xfrm>
            <a:off x="10329612" y="7796583"/>
            <a:ext cx="4571655" cy="323432"/>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特定の1社に偏らず、主要メジャーのほぼすべてと共同事業・取引を行っています。販売を通じた</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幅広い関係と長年の実績が、新しい案件での信頼につながっています。</a:t>
            </a:r>
            <a:endParaRPr lang="en-US" sz="740" dirty="0"/>
          </a:p>
        </p:txBody>
      </p:sp>
      <p:sp>
        <p:nvSpPr>
          <p:cNvPr id="45" name="Text 43"/>
          <p:cNvSpPr/>
          <p:nvPr/>
        </p:nvSpPr>
        <p:spPr>
          <a:xfrm>
            <a:off x="10329612" y="8709654"/>
            <a:ext cx="244086" cy="165172"/>
          </a:xfrm>
          <a:prstGeom prst="rect">
            <a:avLst/>
          </a:prstGeom>
          <a:noFill/>
          <a:ln/>
        </p:spPr>
        <p:txBody>
          <a:bodyPr wrap="none" lIns="0" tIns="0" rIns="0" bIns="0" rtlCol="0" anchor="t"/>
          <a:lstStyle/>
          <a:p>
            <a:pPr algn="l" indent="0" marL="0">
              <a:lnSpc>
                <a:spcPts val="1300"/>
              </a:lnSpc>
              <a:buNone/>
            </a:pPr>
            <a:r>
              <a:rPr lang="en-US" sz="1300" spc="-50" kern="0" dirty="0">
                <a:solidFill>
                  <a:srgbClr val="B38F4F"/>
                </a:solidFill>
                <a:latin typeface="Noto Sans ExtraLight" pitchFamily="34" charset="0"/>
                <a:ea typeface="Noto Sans ExtraLight" pitchFamily="34" charset="-122"/>
                <a:cs typeface="Noto Sans ExtraLight" pitchFamily="34" charset="-120"/>
              </a:rPr>
              <a:t>01</a:t>
            </a:r>
            <a:endParaRPr lang="en-US" sz="1300" dirty="0"/>
          </a:p>
        </p:txBody>
      </p:sp>
      <p:sp>
        <p:nvSpPr>
          <p:cNvPr id="46" name="Text 44"/>
          <p:cNvSpPr/>
          <p:nvPr/>
        </p:nvSpPr>
        <p:spPr>
          <a:xfrm>
            <a:off x="10583723" y="8853862"/>
            <a:ext cx="1308890" cy="118162"/>
          </a:xfrm>
          <a:prstGeom prst="rect">
            <a:avLst/>
          </a:prstGeom>
          <a:noFill/>
          <a:ln/>
        </p:spPr>
        <p:txBody>
          <a:bodyPr wrap="none" lIns="0" tIns="0" rIns="0" bIns="0" rtlCol="0" anchor="t"/>
          <a:lstStyle/>
          <a:p>
            <a:pPr algn="l"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規模で世界上位の優良鉱山に参画</a:t>
            </a:r>
            <a:endParaRPr lang="en-US" sz="600" dirty="0"/>
          </a:p>
        </p:txBody>
      </p:sp>
      <p:sp>
        <p:nvSpPr>
          <p:cNvPr id="47" name="Text 45"/>
          <p:cNvSpPr/>
          <p:nvPr/>
        </p:nvSpPr>
        <p:spPr>
          <a:xfrm>
            <a:off x="12426027" y="8709654"/>
            <a:ext cx="244086" cy="165172"/>
          </a:xfrm>
          <a:prstGeom prst="rect">
            <a:avLst/>
          </a:prstGeom>
          <a:noFill/>
          <a:ln/>
        </p:spPr>
        <p:txBody>
          <a:bodyPr wrap="none" lIns="0" tIns="0" rIns="0" bIns="0" rtlCol="0" anchor="t"/>
          <a:lstStyle/>
          <a:p>
            <a:pPr algn="l" indent="0" marL="0">
              <a:lnSpc>
                <a:spcPts val="1300"/>
              </a:lnSpc>
              <a:buNone/>
            </a:pPr>
            <a:r>
              <a:rPr lang="en-US" sz="1300" spc="-50" kern="0" dirty="0">
                <a:solidFill>
                  <a:srgbClr val="B38F4F"/>
                </a:solidFill>
                <a:latin typeface="Noto Sans ExtraLight" pitchFamily="34" charset="0"/>
                <a:ea typeface="Noto Sans ExtraLight" pitchFamily="34" charset="-122"/>
                <a:cs typeface="Noto Sans ExtraLight" pitchFamily="34" charset="-120"/>
              </a:rPr>
              <a:t>02</a:t>
            </a:r>
            <a:endParaRPr lang="en-US" sz="1300" dirty="0"/>
          </a:p>
        </p:txBody>
      </p:sp>
      <p:sp>
        <p:nvSpPr>
          <p:cNvPr id="48" name="Text 46"/>
          <p:cNvSpPr/>
          <p:nvPr/>
        </p:nvSpPr>
        <p:spPr>
          <a:xfrm>
            <a:off x="12680138" y="8853862"/>
            <a:ext cx="1509578" cy="118162"/>
          </a:xfrm>
          <a:prstGeom prst="rect">
            <a:avLst/>
          </a:prstGeom>
          <a:noFill/>
          <a:ln/>
        </p:spPr>
        <p:txBody>
          <a:bodyPr wrap="none" lIns="0" tIns="0" rIns="0" bIns="0" rtlCol="0" anchor="t"/>
          <a:lstStyle/>
          <a:p>
            <a:pPr algn="l"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特定1社に偏らず、主要メジャーと協業</a:t>
            </a:r>
            <a:endParaRPr lang="en-US" sz="600" dirty="0"/>
          </a:p>
        </p:txBody>
      </p:sp>
      <p:sp>
        <p:nvSpPr>
          <p:cNvPr id="49" name="Text 47"/>
          <p:cNvSpPr/>
          <p:nvPr/>
        </p:nvSpPr>
        <p:spPr>
          <a:xfrm>
            <a:off x="10329612" y="9217876"/>
            <a:ext cx="244086" cy="165172"/>
          </a:xfrm>
          <a:prstGeom prst="rect">
            <a:avLst/>
          </a:prstGeom>
          <a:noFill/>
          <a:ln/>
        </p:spPr>
        <p:txBody>
          <a:bodyPr wrap="none" lIns="0" tIns="0" rIns="0" bIns="0" rtlCol="0" anchor="t"/>
          <a:lstStyle/>
          <a:p>
            <a:pPr algn="l" indent="0" marL="0">
              <a:lnSpc>
                <a:spcPts val="1300"/>
              </a:lnSpc>
              <a:buNone/>
            </a:pPr>
            <a:r>
              <a:rPr lang="en-US" sz="1300" spc="-50" kern="0" dirty="0">
                <a:solidFill>
                  <a:srgbClr val="B38F4F"/>
                </a:solidFill>
                <a:latin typeface="Noto Sans ExtraLight" pitchFamily="34" charset="0"/>
                <a:ea typeface="Noto Sans ExtraLight" pitchFamily="34" charset="-122"/>
                <a:cs typeface="Noto Sans ExtraLight" pitchFamily="34" charset="-120"/>
              </a:rPr>
              <a:t>03</a:t>
            </a:r>
            <a:endParaRPr lang="en-US" sz="1300" dirty="0"/>
          </a:p>
        </p:txBody>
      </p:sp>
      <p:sp>
        <p:nvSpPr>
          <p:cNvPr id="50" name="Text 48"/>
          <p:cNvSpPr/>
          <p:nvPr/>
        </p:nvSpPr>
        <p:spPr>
          <a:xfrm>
            <a:off x="10583723" y="9362084"/>
            <a:ext cx="1476603" cy="118162"/>
          </a:xfrm>
          <a:prstGeom prst="rect">
            <a:avLst/>
          </a:prstGeom>
          <a:noFill/>
          <a:ln/>
        </p:spPr>
        <p:txBody>
          <a:bodyPr wrap="none" lIns="0" tIns="0" rIns="0" bIns="0" rtlCol="0" anchor="t"/>
          <a:lstStyle/>
          <a:p>
            <a:pPr algn="l"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販売を通じ、業界の幅広い関係を構築</a:t>
            </a:r>
            <a:endParaRPr lang="en-US" sz="600" dirty="0"/>
          </a:p>
        </p:txBody>
      </p:sp>
      <p:sp>
        <p:nvSpPr>
          <p:cNvPr id="51" name="Text 49"/>
          <p:cNvSpPr/>
          <p:nvPr/>
        </p:nvSpPr>
        <p:spPr>
          <a:xfrm>
            <a:off x="12426027" y="9217876"/>
            <a:ext cx="244086" cy="165172"/>
          </a:xfrm>
          <a:prstGeom prst="rect">
            <a:avLst/>
          </a:prstGeom>
          <a:noFill/>
          <a:ln/>
        </p:spPr>
        <p:txBody>
          <a:bodyPr wrap="none" lIns="0" tIns="0" rIns="0" bIns="0" rtlCol="0" anchor="t"/>
          <a:lstStyle/>
          <a:p>
            <a:pPr algn="l" indent="0" marL="0">
              <a:lnSpc>
                <a:spcPts val="1300"/>
              </a:lnSpc>
              <a:buNone/>
            </a:pPr>
            <a:r>
              <a:rPr lang="en-US" sz="1300" spc="-50" kern="0" dirty="0">
                <a:solidFill>
                  <a:srgbClr val="B38F4F"/>
                </a:solidFill>
                <a:latin typeface="Noto Sans ExtraLight" pitchFamily="34" charset="0"/>
                <a:ea typeface="Noto Sans ExtraLight" pitchFamily="34" charset="-122"/>
                <a:cs typeface="Noto Sans ExtraLight" pitchFamily="34" charset="-120"/>
              </a:rPr>
              <a:t>04</a:t>
            </a:r>
            <a:endParaRPr lang="en-US" sz="1300" dirty="0"/>
          </a:p>
        </p:txBody>
      </p:sp>
      <p:sp>
        <p:nvSpPr>
          <p:cNvPr id="52" name="Text 50"/>
          <p:cNvSpPr/>
          <p:nvPr/>
        </p:nvSpPr>
        <p:spPr>
          <a:xfrm>
            <a:off x="12680138" y="9362084"/>
            <a:ext cx="1476603" cy="118162"/>
          </a:xfrm>
          <a:prstGeom prst="rect">
            <a:avLst/>
          </a:prstGeom>
          <a:noFill/>
          <a:ln/>
        </p:spPr>
        <p:txBody>
          <a:bodyPr wrap="none" lIns="0" tIns="0" rIns="0" bIns="0" rtlCol="0" anchor="t"/>
          <a:lstStyle/>
          <a:p>
            <a:pPr algn="l"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業界のボトルネックに挑む技術へ投資</a:t>
            </a:r>
            <a:endParaRPr lang="en-US" sz="600" dirty="0"/>
          </a:p>
        </p:txBody>
      </p:sp>
      <p:sp>
        <p:nvSpPr>
          <p:cNvPr id="53" name="Text 51"/>
          <p:cNvSpPr/>
          <p:nvPr/>
        </p:nvSpPr>
        <p:spPr>
          <a:xfrm>
            <a:off x="609866"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06</a:t>
            </a:r>
            <a:endParaRPr lang="en-US" sz="620" dirty="0"/>
          </a:p>
        </p:txBody>
      </p:sp>
      <p:sp>
        <p:nvSpPr>
          <p:cNvPr id="54" name="Text 52"/>
          <p:cNvSpPr/>
          <p:nvPr/>
        </p:nvSpPr>
        <p:spPr>
          <a:xfrm>
            <a:off x="14357271"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07</a:t>
            </a:r>
            <a:endParaRPr lang="en-US" sz="6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09866" y="673394"/>
            <a:ext cx="380134"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第2章</a:t>
            </a:r>
            <a:endParaRPr lang="en-US" sz="660" dirty="0"/>
          </a:p>
        </p:txBody>
      </p:sp>
      <p:sp>
        <p:nvSpPr>
          <p:cNvPr id="3" name="Text 1"/>
          <p:cNvSpPr/>
          <p:nvPr/>
        </p:nvSpPr>
        <p:spPr>
          <a:xfrm>
            <a:off x="609866" y="813155"/>
            <a:ext cx="1451927"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独自価値｜トレーディング事業</a:t>
            </a:r>
            <a:endParaRPr lang="en-US" sz="660" dirty="0"/>
          </a:p>
        </p:txBody>
      </p:sp>
      <p:sp>
        <p:nvSpPr>
          <p:cNvPr id="4" name="Text 2"/>
          <p:cNvSpPr/>
          <p:nvPr/>
        </p:nvSpPr>
        <p:spPr>
          <a:xfrm>
            <a:off x="609866" y="1088866"/>
            <a:ext cx="3727411" cy="426906"/>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Resource to Market.</a:t>
            </a:r>
            <a:endParaRPr lang="en-US" sz="3000" dirty="0"/>
          </a:p>
        </p:txBody>
      </p:sp>
      <p:sp>
        <p:nvSpPr>
          <p:cNvPr id="5" name="Text 3"/>
          <p:cNvSpPr/>
          <p:nvPr/>
        </p:nvSpPr>
        <p:spPr>
          <a:xfrm>
            <a:off x="609866" y="1799026"/>
            <a:ext cx="2177155"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トレーディング事業（RtM）</a:t>
            </a:r>
            <a:endParaRPr lang="en-US" sz="1100" dirty="0"/>
          </a:p>
        </p:txBody>
      </p:sp>
      <p:sp>
        <p:nvSpPr>
          <p:cNvPr id="6" name="Text 4"/>
          <p:cNvSpPr/>
          <p:nvPr/>
        </p:nvSpPr>
        <p:spPr>
          <a:xfrm>
            <a:off x="609866" y="2007906"/>
            <a:ext cx="3166838"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一つの商品の中で、投資から販売までを一気通貫でつなぐ</a:t>
            </a:r>
            <a:endParaRPr lang="en-US" sz="820" dirty="0"/>
          </a:p>
        </p:txBody>
      </p:sp>
      <p:sp>
        <p:nvSpPr>
          <p:cNvPr id="7" name="Text 5"/>
          <p:cNvSpPr/>
          <p:nvPr/>
        </p:nvSpPr>
        <p:spPr>
          <a:xfrm>
            <a:off x="609866" y="2288190"/>
            <a:ext cx="642404" cy="482811"/>
          </a:xfrm>
          <a:prstGeom prst="rect">
            <a:avLst/>
          </a:prstGeom>
          <a:noFill/>
          <a:ln/>
        </p:spPr>
        <p:txBody>
          <a:bodyPr wrap="none" lIns="0" tIns="0" rIns="0" bIns="0" rtlCol="0" anchor="t"/>
          <a:lstStyle/>
          <a:p>
            <a:pPr algn="l" indent="0" marL="0">
              <a:lnSpc>
                <a:spcPts val="3800"/>
              </a:lnSpc>
              <a:buNone/>
            </a:pPr>
            <a:r>
              <a:rPr lang="en-US" sz="3800" spc="-50" kern="0" dirty="0">
                <a:solidFill>
                  <a:srgbClr val="23272C"/>
                </a:solidFill>
                <a:latin typeface="Noto Sans ExtraLight" pitchFamily="34" charset="0"/>
                <a:ea typeface="Noto Sans ExtraLight" pitchFamily="34" charset="-122"/>
                <a:cs typeface="Noto Sans ExtraLight" pitchFamily="34" charset="-120"/>
              </a:rPr>
              <a:t>15</a:t>
            </a:r>
            <a:endParaRPr lang="en-US" sz="3800" dirty="0"/>
          </a:p>
        </p:txBody>
      </p:sp>
      <p:sp>
        <p:nvSpPr>
          <p:cNvPr id="8" name="Text 6"/>
          <p:cNvSpPr/>
          <p:nvPr/>
        </p:nvSpPr>
        <p:spPr>
          <a:xfrm>
            <a:off x="609866" y="2947418"/>
            <a:ext cx="23513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業界</a:t>
            </a:r>
            <a:endParaRPr lang="en-US" sz="660" dirty="0"/>
          </a:p>
        </p:txBody>
      </p:sp>
      <p:sp>
        <p:nvSpPr>
          <p:cNvPr id="9" name="Text 7"/>
          <p:cNvSpPr/>
          <p:nvPr/>
        </p:nvSpPr>
        <p:spPr>
          <a:xfrm>
            <a:off x="2109121" y="2415246"/>
            <a:ext cx="194296" cy="304933"/>
          </a:xfrm>
          <a:prstGeom prst="rect">
            <a:avLst/>
          </a:prstGeom>
          <a:noFill/>
          <a:ln/>
        </p:spPr>
        <p:txBody>
          <a:bodyPr wrap="none" lIns="0" tIns="0" rIns="0" bIns="0" rtlCol="0" anchor="t"/>
          <a:lstStyle/>
          <a:p>
            <a:pPr algn="l" indent="0" marL="0">
              <a:lnSpc>
                <a:spcPts val="2400"/>
              </a:lnSpc>
              <a:buNone/>
            </a:pPr>
            <a:r>
              <a:rPr lang="en-US" sz="1800" dirty="0">
                <a:solidFill>
                  <a:srgbClr val="B38F4F"/>
                </a:solidFill>
                <a:latin typeface="Noto Sans ExtraLight" pitchFamily="34" charset="0"/>
                <a:ea typeface="Noto Sans ExtraLight" pitchFamily="34" charset="-122"/>
                <a:cs typeface="Noto Sans ExtraLight" pitchFamily="34" charset="-120"/>
              </a:rPr>
              <a:t>×</a:t>
            </a:r>
            <a:endParaRPr lang="en-US" sz="1800" dirty="0"/>
          </a:p>
        </p:txBody>
      </p:sp>
      <p:sp>
        <p:nvSpPr>
          <p:cNvPr id="10" name="Text 8"/>
          <p:cNvSpPr/>
          <p:nvPr/>
        </p:nvSpPr>
        <p:spPr>
          <a:xfrm>
            <a:off x="2642754" y="2288190"/>
            <a:ext cx="642404" cy="482811"/>
          </a:xfrm>
          <a:prstGeom prst="rect">
            <a:avLst/>
          </a:prstGeom>
          <a:noFill/>
          <a:ln/>
        </p:spPr>
        <p:txBody>
          <a:bodyPr wrap="none" lIns="0" tIns="0" rIns="0" bIns="0" rtlCol="0" anchor="t"/>
          <a:lstStyle/>
          <a:p>
            <a:pPr algn="l" indent="0" marL="0">
              <a:lnSpc>
                <a:spcPts val="3800"/>
              </a:lnSpc>
              <a:buNone/>
            </a:pPr>
            <a:r>
              <a:rPr lang="en-US" sz="3800" spc="-50" kern="0" dirty="0">
                <a:solidFill>
                  <a:srgbClr val="23272C"/>
                </a:solidFill>
                <a:latin typeface="Noto Sans ExtraLight" pitchFamily="34" charset="0"/>
                <a:ea typeface="Noto Sans ExtraLight" pitchFamily="34" charset="-122"/>
                <a:cs typeface="Noto Sans ExtraLight" pitchFamily="34" charset="-120"/>
              </a:rPr>
              <a:t>50</a:t>
            </a:r>
            <a:endParaRPr lang="en-US" sz="3800" dirty="0"/>
          </a:p>
        </p:txBody>
      </p:sp>
      <p:sp>
        <p:nvSpPr>
          <p:cNvPr id="11" name="Text 9"/>
          <p:cNvSpPr/>
          <p:nvPr/>
        </p:nvSpPr>
        <p:spPr>
          <a:xfrm>
            <a:off x="2642754" y="2947418"/>
            <a:ext cx="23513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カ国</a:t>
            </a:r>
            <a:endParaRPr lang="en-US" sz="660" dirty="0"/>
          </a:p>
        </p:txBody>
      </p:sp>
      <p:sp>
        <p:nvSpPr>
          <p:cNvPr id="12" name="Text 10"/>
          <p:cNvSpPr/>
          <p:nvPr/>
        </p:nvSpPr>
        <p:spPr>
          <a:xfrm>
            <a:off x="4142009" y="2415246"/>
            <a:ext cx="194296" cy="304933"/>
          </a:xfrm>
          <a:prstGeom prst="rect">
            <a:avLst/>
          </a:prstGeom>
          <a:noFill/>
          <a:ln/>
        </p:spPr>
        <p:txBody>
          <a:bodyPr wrap="none" lIns="0" tIns="0" rIns="0" bIns="0" rtlCol="0" anchor="t"/>
          <a:lstStyle/>
          <a:p>
            <a:pPr algn="l" indent="0" marL="0">
              <a:lnSpc>
                <a:spcPts val="2400"/>
              </a:lnSpc>
              <a:buNone/>
            </a:pPr>
            <a:r>
              <a:rPr lang="en-US" sz="1800" dirty="0">
                <a:solidFill>
                  <a:srgbClr val="B38F4F"/>
                </a:solidFill>
                <a:latin typeface="Noto Sans ExtraLight" pitchFamily="34" charset="0"/>
                <a:ea typeface="Noto Sans ExtraLight" pitchFamily="34" charset="-122"/>
                <a:cs typeface="Noto Sans ExtraLight" pitchFamily="34" charset="-120"/>
              </a:rPr>
              <a:t>×</a:t>
            </a:r>
            <a:endParaRPr lang="en-US" sz="1800" dirty="0"/>
          </a:p>
        </p:txBody>
      </p:sp>
      <p:sp>
        <p:nvSpPr>
          <p:cNvPr id="13" name="Text 11"/>
          <p:cNvSpPr/>
          <p:nvPr/>
        </p:nvSpPr>
        <p:spPr>
          <a:xfrm>
            <a:off x="4675642" y="2288190"/>
            <a:ext cx="1857234" cy="482811"/>
          </a:xfrm>
          <a:prstGeom prst="rect">
            <a:avLst/>
          </a:prstGeom>
          <a:noFill/>
          <a:ln/>
        </p:spPr>
        <p:txBody>
          <a:bodyPr wrap="none" lIns="0" tIns="0" rIns="0" bIns="0" rtlCol="0" anchor="t"/>
          <a:lstStyle/>
          <a:p>
            <a:pPr algn="l" indent="0" marL="0">
              <a:lnSpc>
                <a:spcPts val="3800"/>
              </a:lnSpc>
              <a:buNone/>
            </a:pPr>
            <a:r>
              <a:rPr lang="en-US" sz="3800" spc="-50" kern="0" dirty="0">
                <a:solidFill>
                  <a:srgbClr val="23272C"/>
                </a:solidFill>
                <a:latin typeface="Noto Sans JP Light" pitchFamily="34" charset="0"/>
                <a:ea typeface="Noto Sans JP Light" pitchFamily="34" charset="-122"/>
                <a:cs typeface="Noto Sans JP Light" pitchFamily="34" charset="-120"/>
              </a:rPr>
              <a:t>約1,000</a:t>
            </a:r>
            <a:endParaRPr lang="en-US" sz="3800" dirty="0"/>
          </a:p>
        </p:txBody>
      </p:sp>
      <p:sp>
        <p:nvSpPr>
          <p:cNvPr id="14" name="Text 12"/>
          <p:cNvSpPr/>
          <p:nvPr/>
        </p:nvSpPr>
        <p:spPr>
          <a:xfrm>
            <a:off x="4675642" y="2947418"/>
            <a:ext cx="51159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社の販売先</a:t>
            </a:r>
            <a:endParaRPr lang="en-US" sz="660" dirty="0"/>
          </a:p>
        </p:txBody>
      </p:sp>
      <p:sp>
        <p:nvSpPr>
          <p:cNvPr id="15" name="Text 13"/>
          <p:cNvSpPr/>
          <p:nvPr/>
        </p:nvSpPr>
        <p:spPr>
          <a:xfrm>
            <a:off x="609866" y="3223776"/>
            <a:ext cx="6931215" cy="323432"/>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出資先から出資比率に応じて引き取る資源を、RtMがヘッジ・在庫・物流などの機能を付けて世界の顧客に届けます。顧客との接点から得た市場の</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情報は、次の資源投資の判断に生かされます。</a:t>
            </a:r>
            <a:endParaRPr lang="en-US" sz="740" dirty="0"/>
          </a:p>
        </p:txBody>
      </p:sp>
      <p:sp>
        <p:nvSpPr>
          <p:cNvPr id="16" name="Text 14"/>
          <p:cNvSpPr/>
          <p:nvPr/>
        </p:nvSpPr>
        <p:spPr>
          <a:xfrm>
            <a:off x="2147913" y="5565031"/>
            <a:ext cx="481461" cy="292228"/>
          </a:xfrm>
          <a:prstGeom prst="rect">
            <a:avLst/>
          </a:prstGeom>
          <a:noFill/>
          <a:ln/>
        </p:spPr>
        <p:txBody>
          <a:bodyPr wrap="none" lIns="0" tIns="0" rIns="0" bIns="0" rtlCol="0" anchor="t"/>
          <a:lstStyle/>
          <a:p>
            <a:pPr algn="ctr" indent="0" marL="0">
              <a:lnSpc>
                <a:spcPts val="2300"/>
              </a:lnSpc>
              <a:buNone/>
            </a:pPr>
            <a:r>
              <a:rPr lang="en-US" sz="1700" dirty="0">
                <a:solidFill>
                  <a:srgbClr val="2C4C6E"/>
                </a:solidFill>
                <a:latin typeface="Noto Sans Light" pitchFamily="34" charset="0"/>
                <a:ea typeface="Noto Sans Light" pitchFamily="34" charset="-122"/>
                <a:cs typeface="Noto Sans Light" pitchFamily="34" charset="-120"/>
              </a:rPr>
              <a:t>RtM</a:t>
            </a:r>
            <a:endParaRPr lang="en-US" sz="1700" dirty="0"/>
          </a:p>
        </p:txBody>
      </p:sp>
      <p:sp>
        <p:nvSpPr>
          <p:cNvPr id="17" name="Text 15"/>
          <p:cNvSpPr/>
          <p:nvPr/>
        </p:nvSpPr>
        <p:spPr>
          <a:xfrm>
            <a:off x="2122581" y="5844553"/>
            <a:ext cx="532124" cy="101644"/>
          </a:xfrm>
          <a:prstGeom prst="rect">
            <a:avLst/>
          </a:prstGeom>
          <a:noFill/>
          <a:ln/>
        </p:spPr>
        <p:txBody>
          <a:bodyPr wrap="none" lIns="0" tIns="0" rIns="0" bIns="0" rtlCol="0" anchor="t"/>
          <a:lstStyle/>
          <a:p>
            <a:pPr algn="ctr" indent="0" marL="0">
              <a:lnSpc>
                <a:spcPts val="800"/>
              </a:lnSpc>
              <a:buNone/>
            </a:pPr>
            <a:r>
              <a:rPr lang="en-US" sz="600" spc="140" kern="0" dirty="0">
                <a:solidFill>
                  <a:srgbClr val="7D93A9"/>
                </a:solidFill>
                <a:latin typeface="Noto Sans JP" pitchFamily="34" charset="0"/>
                <a:ea typeface="Noto Sans JP" pitchFamily="34" charset="-122"/>
                <a:cs typeface="Noto Sans JP" pitchFamily="34" charset="-120"/>
              </a:rPr>
              <a:t>5つの機能</a:t>
            </a:r>
            <a:endParaRPr lang="en-US" sz="600" dirty="0"/>
          </a:p>
        </p:txBody>
      </p:sp>
      <p:sp>
        <p:nvSpPr>
          <p:cNvPr id="18" name="Text 16"/>
          <p:cNvSpPr/>
          <p:nvPr/>
        </p:nvSpPr>
        <p:spPr>
          <a:xfrm>
            <a:off x="686536" y="5645886"/>
            <a:ext cx="456129" cy="88431"/>
          </a:xfrm>
          <a:prstGeom prst="rect">
            <a:avLst/>
          </a:prstGeom>
          <a:noFill/>
          <a:ln/>
        </p:spPr>
        <p:txBody>
          <a:bodyPr wrap="none" lIns="0" tIns="0" rIns="0" bIns="0" rtlCol="0" anchor="t"/>
          <a:lstStyle/>
          <a:p>
            <a:pPr algn="ctr" indent="0" marL="0">
              <a:lnSpc>
                <a:spcPts val="696"/>
              </a:lnSpc>
              <a:buNone/>
            </a:pPr>
            <a:r>
              <a:rPr lang="en-US" sz="580" dirty="0">
                <a:solidFill>
                  <a:srgbClr val="23272C"/>
                </a:solidFill>
                <a:latin typeface="Noto Sans JP" pitchFamily="34" charset="0"/>
                <a:ea typeface="Noto Sans JP" pitchFamily="34" charset="-122"/>
                <a:cs typeface="Noto Sans JP" pitchFamily="34" charset="-120"/>
              </a:rPr>
              <a:t>販売・調達</a:t>
            </a:r>
            <a:endParaRPr lang="en-US" sz="580" dirty="0"/>
          </a:p>
        </p:txBody>
      </p:sp>
      <p:sp>
        <p:nvSpPr>
          <p:cNvPr id="19" name="Text 17"/>
          <p:cNvSpPr/>
          <p:nvPr/>
        </p:nvSpPr>
        <p:spPr>
          <a:xfrm>
            <a:off x="1509439" y="5165259"/>
            <a:ext cx="294094" cy="88431"/>
          </a:xfrm>
          <a:prstGeom prst="rect">
            <a:avLst/>
          </a:prstGeom>
          <a:noFill/>
          <a:ln/>
        </p:spPr>
        <p:txBody>
          <a:bodyPr wrap="none" lIns="0" tIns="0" rIns="0" bIns="0" rtlCol="0" anchor="t"/>
          <a:lstStyle/>
          <a:p>
            <a:pPr algn="ctr" indent="0" marL="0">
              <a:lnSpc>
                <a:spcPts val="696"/>
              </a:lnSpc>
              <a:buNone/>
            </a:pPr>
            <a:r>
              <a:rPr lang="en-US" sz="580" dirty="0">
                <a:solidFill>
                  <a:srgbClr val="23272C"/>
                </a:solidFill>
                <a:latin typeface="Noto Sans JP" pitchFamily="34" charset="0"/>
                <a:ea typeface="Noto Sans JP" pitchFamily="34" charset="-122"/>
                <a:cs typeface="Noto Sans JP" pitchFamily="34" charset="-120"/>
              </a:rPr>
              <a:t>脱炭素</a:t>
            </a:r>
            <a:endParaRPr lang="en-US" sz="580" dirty="0"/>
          </a:p>
        </p:txBody>
      </p:sp>
      <p:sp>
        <p:nvSpPr>
          <p:cNvPr id="20" name="Text 18"/>
          <p:cNvSpPr/>
          <p:nvPr/>
        </p:nvSpPr>
        <p:spPr>
          <a:xfrm>
            <a:off x="2848267" y="4992542"/>
            <a:ext cx="456129" cy="88431"/>
          </a:xfrm>
          <a:prstGeom prst="rect">
            <a:avLst/>
          </a:prstGeom>
          <a:noFill/>
          <a:ln/>
        </p:spPr>
        <p:txBody>
          <a:bodyPr wrap="none" lIns="0" tIns="0" rIns="0" bIns="0" rtlCol="0" anchor="t"/>
          <a:lstStyle/>
          <a:p>
            <a:pPr algn="ctr" indent="0" marL="0">
              <a:lnSpc>
                <a:spcPts val="696"/>
              </a:lnSpc>
              <a:buNone/>
            </a:pPr>
            <a:r>
              <a:rPr lang="en-US" sz="580" dirty="0">
                <a:solidFill>
                  <a:srgbClr val="23272C"/>
                </a:solidFill>
                <a:latin typeface="Noto Sans JP" pitchFamily="34" charset="0"/>
                <a:ea typeface="Noto Sans JP" pitchFamily="34" charset="-122"/>
                <a:cs typeface="Noto Sans JP" pitchFamily="34" charset="-120"/>
              </a:rPr>
              <a:t>リスク管理</a:t>
            </a:r>
            <a:endParaRPr lang="en-US" sz="580" dirty="0"/>
          </a:p>
        </p:txBody>
      </p:sp>
      <p:sp>
        <p:nvSpPr>
          <p:cNvPr id="21" name="Text 19"/>
          <p:cNvSpPr/>
          <p:nvPr/>
        </p:nvSpPr>
        <p:spPr>
          <a:xfrm>
            <a:off x="3617389" y="5340952"/>
            <a:ext cx="533871" cy="88431"/>
          </a:xfrm>
          <a:prstGeom prst="rect">
            <a:avLst/>
          </a:prstGeom>
          <a:noFill/>
          <a:ln/>
        </p:spPr>
        <p:txBody>
          <a:bodyPr wrap="none" lIns="0" tIns="0" rIns="0" bIns="0" rtlCol="0" anchor="t"/>
          <a:lstStyle/>
          <a:p>
            <a:pPr algn="ctr" indent="0" marL="0">
              <a:lnSpc>
                <a:spcPts val="696"/>
              </a:lnSpc>
              <a:buNone/>
            </a:pPr>
            <a:r>
              <a:rPr lang="en-US" sz="580" dirty="0">
                <a:solidFill>
                  <a:srgbClr val="23272C"/>
                </a:solidFill>
                <a:latin typeface="Noto Sans JP" pitchFamily="34" charset="0"/>
                <a:ea typeface="Noto Sans JP" pitchFamily="34" charset="-122"/>
                <a:cs typeface="Noto Sans JP" pitchFamily="34" charset="-120"/>
              </a:rPr>
              <a:t>ファイナンス</a:t>
            </a:r>
            <a:endParaRPr lang="en-US" sz="580" dirty="0"/>
          </a:p>
        </p:txBody>
      </p:sp>
      <p:sp>
        <p:nvSpPr>
          <p:cNvPr id="22" name="Text 20"/>
          <p:cNvSpPr/>
          <p:nvPr/>
        </p:nvSpPr>
        <p:spPr>
          <a:xfrm>
            <a:off x="2373923" y="6321265"/>
            <a:ext cx="213076" cy="88431"/>
          </a:xfrm>
          <a:prstGeom prst="rect">
            <a:avLst/>
          </a:prstGeom>
          <a:noFill/>
          <a:ln/>
        </p:spPr>
        <p:txBody>
          <a:bodyPr wrap="none" lIns="0" tIns="0" rIns="0" bIns="0" rtlCol="0" anchor="t"/>
          <a:lstStyle/>
          <a:p>
            <a:pPr algn="ctr" indent="0" marL="0">
              <a:lnSpc>
                <a:spcPts val="696"/>
              </a:lnSpc>
              <a:buNone/>
            </a:pPr>
            <a:r>
              <a:rPr lang="en-US" sz="580" dirty="0">
                <a:solidFill>
                  <a:srgbClr val="23272C"/>
                </a:solidFill>
                <a:latin typeface="Noto Sans JP" pitchFamily="34" charset="0"/>
                <a:ea typeface="Noto Sans JP" pitchFamily="34" charset="-122"/>
                <a:cs typeface="Noto Sans JP" pitchFamily="34" charset="-120"/>
              </a:rPr>
              <a:t>物流</a:t>
            </a:r>
            <a:endParaRPr lang="en-US" sz="580" dirty="0"/>
          </a:p>
        </p:txBody>
      </p:sp>
      <p:sp>
        <p:nvSpPr>
          <p:cNvPr id="23" name="Text 21"/>
          <p:cNvSpPr/>
          <p:nvPr/>
        </p:nvSpPr>
        <p:spPr>
          <a:xfrm>
            <a:off x="1664000" y="6748362"/>
            <a:ext cx="1449088" cy="136331"/>
          </a:xfrm>
          <a:prstGeom prst="rect">
            <a:avLst/>
          </a:prstGeom>
          <a:noFill/>
          <a:ln/>
        </p:spPr>
        <p:txBody>
          <a:bodyPr wrap="none" lIns="0" tIns="0" rIns="0" bIns="0" rtlCol="0" anchor="t"/>
          <a:lstStyle/>
          <a:p>
            <a:pPr algn="ctr" indent="0" marL="0">
              <a:lnSpc>
                <a:spcPts val="1073"/>
              </a:lnSpc>
              <a:buNone/>
            </a:pPr>
            <a:r>
              <a:rPr lang="en-US" sz="740" dirty="0">
                <a:solidFill>
                  <a:srgbClr val="23272C"/>
                </a:solidFill>
                <a:latin typeface="Noto Sans JP" pitchFamily="34" charset="0"/>
                <a:ea typeface="Noto Sans JP" pitchFamily="34" charset="-122"/>
                <a:cs typeface="Noto Sans JP" pitchFamily="34" charset="-120"/>
              </a:rPr>
              <a:t>お客様に提供できる5つの機能</a:t>
            </a:r>
            <a:endParaRPr lang="en-US" sz="740" dirty="0"/>
          </a:p>
        </p:txBody>
      </p:sp>
      <p:sp>
        <p:nvSpPr>
          <p:cNvPr id="24" name="Text 22"/>
          <p:cNvSpPr/>
          <p:nvPr/>
        </p:nvSpPr>
        <p:spPr>
          <a:xfrm>
            <a:off x="4675642" y="4713759"/>
            <a:ext cx="1106236"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ビジネスモデル</a:t>
            </a:r>
            <a:endParaRPr lang="en-US" sz="820" dirty="0"/>
          </a:p>
        </p:txBody>
      </p:sp>
      <p:sp>
        <p:nvSpPr>
          <p:cNvPr id="25" name="Text 23"/>
          <p:cNvSpPr/>
          <p:nvPr/>
        </p:nvSpPr>
        <p:spPr>
          <a:xfrm>
            <a:off x="4675642" y="5207814"/>
            <a:ext cx="165567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MC保有資産と第三者取引の両方を扱う</a:t>
            </a:r>
            <a:endParaRPr lang="en-US" sz="660" dirty="0"/>
          </a:p>
        </p:txBody>
      </p:sp>
      <p:sp>
        <p:nvSpPr>
          <p:cNvPr id="26" name="Text 24"/>
          <p:cNvSpPr/>
          <p:nvPr/>
        </p:nvSpPr>
        <p:spPr>
          <a:xfrm>
            <a:off x="4675642" y="5766858"/>
            <a:ext cx="1061906"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資源確保による安定供給</a:t>
            </a:r>
            <a:endParaRPr lang="en-US" sz="660" dirty="0"/>
          </a:p>
        </p:txBody>
      </p:sp>
      <p:sp>
        <p:nvSpPr>
          <p:cNvPr id="27" name="Text 25"/>
          <p:cNvSpPr/>
          <p:nvPr/>
        </p:nvSpPr>
        <p:spPr>
          <a:xfrm>
            <a:off x="4675642" y="6325903"/>
            <a:ext cx="225904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市場・業界動向の発信と知見共有で、事業機会を発掘</a:t>
            </a:r>
            <a:endParaRPr lang="en-US" sz="660" dirty="0"/>
          </a:p>
        </p:txBody>
      </p:sp>
      <p:sp>
        <p:nvSpPr>
          <p:cNvPr id="28" name="Text 26"/>
          <p:cNvSpPr/>
          <p:nvPr/>
        </p:nvSpPr>
        <p:spPr>
          <a:xfrm>
            <a:off x="4675642" y="6884947"/>
            <a:ext cx="2252495"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トレーディング機能の強化で、付加価値を生み続ける</a:t>
            </a:r>
            <a:endParaRPr lang="en-US" sz="660" dirty="0"/>
          </a:p>
        </p:txBody>
      </p:sp>
      <p:sp>
        <p:nvSpPr>
          <p:cNvPr id="29" name="Text 27"/>
          <p:cNvSpPr/>
          <p:nvPr/>
        </p:nvSpPr>
        <p:spPr>
          <a:xfrm>
            <a:off x="609866" y="7864735"/>
            <a:ext cx="1550633"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トレーディング事業例</a:t>
            </a:r>
            <a:endParaRPr lang="en-US" sz="820" dirty="0"/>
          </a:p>
        </p:txBody>
      </p:sp>
      <p:sp>
        <p:nvSpPr>
          <p:cNvPr id="30" name="Text 28"/>
          <p:cNvSpPr/>
          <p:nvPr/>
        </p:nvSpPr>
        <p:spPr>
          <a:xfrm>
            <a:off x="2312410" y="7852030"/>
            <a:ext cx="1245342" cy="152467"/>
          </a:xfrm>
          <a:prstGeom prst="rect">
            <a:avLst/>
          </a:prstGeom>
          <a:noFill/>
          <a:ln/>
        </p:spPr>
        <p:txBody>
          <a:bodyPr wrap="none" lIns="0" tIns="0" rIns="0" bIns="0" rtlCol="0" anchor="t"/>
          <a:lstStyle/>
          <a:p>
            <a:pPr algn="l" indent="0" marL="0">
              <a:lnSpc>
                <a:spcPts val="1200"/>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銅のバリューチェーン</a:t>
            </a:r>
            <a:endParaRPr lang="en-US" sz="820" dirty="0"/>
          </a:p>
        </p:txBody>
      </p:sp>
      <p:sp>
        <p:nvSpPr>
          <p:cNvPr id="31" name="Text 29"/>
          <p:cNvSpPr/>
          <p:nvPr/>
        </p:nvSpPr>
        <p:spPr>
          <a:xfrm>
            <a:off x="873179" y="8442838"/>
            <a:ext cx="464209" cy="139761"/>
          </a:xfrm>
          <a:prstGeom prst="rect">
            <a:avLst/>
          </a:prstGeom>
          <a:noFill/>
          <a:ln/>
        </p:spPr>
        <p:txBody>
          <a:bodyPr wrap="none" lIns="0" tIns="0" rIns="0" bIns="0" rtlCol="0" anchor="t"/>
          <a:lstStyle/>
          <a:p>
            <a:pPr algn="ctr" indent="0" marL="0">
              <a:lnSpc>
                <a:spcPts val="1100"/>
              </a:lnSpc>
              <a:buNone/>
            </a:pPr>
            <a:r>
              <a:rPr lang="en-US" sz="740" dirty="0">
                <a:solidFill>
                  <a:srgbClr val="23272C"/>
                </a:solidFill>
                <a:latin typeface="Noto Sans JP" pitchFamily="34" charset="0"/>
                <a:ea typeface="Noto Sans JP" pitchFamily="34" charset="-122"/>
                <a:cs typeface="Noto Sans JP" pitchFamily="34" charset="-120"/>
              </a:rPr>
              <a:t>鉱山会社</a:t>
            </a:r>
            <a:endParaRPr lang="en-US" sz="740" dirty="0"/>
          </a:p>
        </p:txBody>
      </p:sp>
      <p:sp>
        <p:nvSpPr>
          <p:cNvPr id="32" name="Text 30"/>
          <p:cNvSpPr/>
          <p:nvPr/>
        </p:nvSpPr>
        <p:spPr>
          <a:xfrm>
            <a:off x="1916374" y="8392015"/>
            <a:ext cx="766661" cy="139761"/>
          </a:xfrm>
          <a:prstGeom prst="rect">
            <a:avLst/>
          </a:prstGeom>
          <a:noFill/>
          <a:ln/>
        </p:spPr>
        <p:txBody>
          <a:bodyPr wrap="none" lIns="0" tIns="0" rIns="0" bIns="0" rtlCol="0" anchor="t"/>
          <a:lstStyle/>
          <a:p>
            <a:pPr algn="ctr" indent="0" marL="0">
              <a:lnSpc>
                <a:spcPts val="1100"/>
              </a:lnSpc>
              <a:buNone/>
            </a:pPr>
            <a:r>
              <a:rPr lang="en-US" sz="740" dirty="0">
                <a:solidFill>
                  <a:srgbClr val="4F7AA3"/>
                </a:solidFill>
                <a:latin typeface="Noto Sans JP Medium" pitchFamily="34" charset="0"/>
                <a:ea typeface="Noto Sans JP Medium" pitchFamily="34" charset="-122"/>
                <a:cs typeface="Noto Sans JP Medium" pitchFamily="34" charset="-120"/>
              </a:rPr>
              <a:t>トレーディング</a:t>
            </a:r>
            <a:endParaRPr lang="en-US" sz="740" dirty="0"/>
          </a:p>
        </p:txBody>
      </p:sp>
      <p:sp>
        <p:nvSpPr>
          <p:cNvPr id="33" name="Text 31"/>
          <p:cNvSpPr/>
          <p:nvPr/>
        </p:nvSpPr>
        <p:spPr>
          <a:xfrm>
            <a:off x="2171001" y="8557188"/>
            <a:ext cx="257406" cy="101644"/>
          </a:xfrm>
          <a:prstGeom prst="rect">
            <a:avLst/>
          </a:prstGeom>
          <a:noFill/>
          <a:ln/>
        </p:spPr>
        <p:txBody>
          <a:bodyPr wrap="none" lIns="0" tIns="0" rIns="0" bIns="0" rtlCol="0" anchor="t"/>
          <a:lstStyle/>
          <a:p>
            <a:pPr algn="ctr" indent="0" marL="0">
              <a:lnSpc>
                <a:spcPts val="800"/>
              </a:lnSpc>
              <a:buNone/>
            </a:pPr>
            <a:r>
              <a:rPr lang="en-US" sz="560" spc="140" kern="0" dirty="0">
                <a:solidFill>
                  <a:srgbClr val="9AA0A6"/>
                </a:solidFill>
                <a:latin typeface="Noto Sans" pitchFamily="34" charset="0"/>
                <a:ea typeface="Noto Sans" pitchFamily="34" charset="-122"/>
                <a:cs typeface="Noto Sans" pitchFamily="34" charset="-120"/>
              </a:rPr>
              <a:t>RtM</a:t>
            </a:r>
            <a:endParaRPr lang="en-US" sz="560" dirty="0"/>
          </a:p>
        </p:txBody>
      </p:sp>
      <p:sp>
        <p:nvSpPr>
          <p:cNvPr id="34" name="Text 32"/>
          <p:cNvSpPr/>
          <p:nvPr/>
        </p:nvSpPr>
        <p:spPr>
          <a:xfrm>
            <a:off x="3210275" y="8442838"/>
            <a:ext cx="567501" cy="139761"/>
          </a:xfrm>
          <a:prstGeom prst="rect">
            <a:avLst/>
          </a:prstGeom>
          <a:noFill/>
          <a:ln/>
        </p:spPr>
        <p:txBody>
          <a:bodyPr wrap="none" lIns="0" tIns="0" rIns="0" bIns="0" rtlCol="0" anchor="t"/>
          <a:lstStyle/>
          <a:p>
            <a:pPr algn="ctr" indent="0" marL="0">
              <a:lnSpc>
                <a:spcPts val="1100"/>
              </a:lnSpc>
              <a:buNone/>
            </a:pPr>
            <a:r>
              <a:rPr lang="en-US" sz="740" dirty="0">
                <a:solidFill>
                  <a:srgbClr val="23272C"/>
                </a:solidFill>
                <a:latin typeface="Noto Sans JP" pitchFamily="34" charset="0"/>
                <a:ea typeface="Noto Sans JP" pitchFamily="34" charset="-122"/>
                <a:cs typeface="Noto Sans JP" pitchFamily="34" charset="-120"/>
              </a:rPr>
              <a:t>製鉄・製錬</a:t>
            </a:r>
            <a:endParaRPr lang="en-US" sz="740" dirty="0"/>
          </a:p>
        </p:txBody>
      </p:sp>
      <p:sp>
        <p:nvSpPr>
          <p:cNvPr id="35" name="Text 33"/>
          <p:cNvSpPr/>
          <p:nvPr/>
        </p:nvSpPr>
        <p:spPr>
          <a:xfrm>
            <a:off x="4305017" y="8392015"/>
            <a:ext cx="766661" cy="139761"/>
          </a:xfrm>
          <a:prstGeom prst="rect">
            <a:avLst/>
          </a:prstGeom>
          <a:noFill/>
          <a:ln/>
        </p:spPr>
        <p:txBody>
          <a:bodyPr wrap="none" lIns="0" tIns="0" rIns="0" bIns="0" rtlCol="0" anchor="t"/>
          <a:lstStyle/>
          <a:p>
            <a:pPr algn="ctr" indent="0" marL="0">
              <a:lnSpc>
                <a:spcPts val="1100"/>
              </a:lnSpc>
              <a:buNone/>
            </a:pPr>
            <a:r>
              <a:rPr lang="en-US" sz="740" dirty="0">
                <a:solidFill>
                  <a:srgbClr val="4F7AA3"/>
                </a:solidFill>
                <a:latin typeface="Noto Sans JP Medium" pitchFamily="34" charset="0"/>
                <a:ea typeface="Noto Sans JP Medium" pitchFamily="34" charset="-122"/>
                <a:cs typeface="Noto Sans JP Medium" pitchFamily="34" charset="-120"/>
              </a:rPr>
              <a:t>トレーディング</a:t>
            </a:r>
            <a:endParaRPr lang="en-US" sz="740" dirty="0"/>
          </a:p>
        </p:txBody>
      </p:sp>
      <p:sp>
        <p:nvSpPr>
          <p:cNvPr id="36" name="Text 34"/>
          <p:cNvSpPr/>
          <p:nvPr/>
        </p:nvSpPr>
        <p:spPr>
          <a:xfrm>
            <a:off x="4559645" y="8557188"/>
            <a:ext cx="257406" cy="101644"/>
          </a:xfrm>
          <a:prstGeom prst="rect">
            <a:avLst/>
          </a:prstGeom>
          <a:noFill/>
          <a:ln/>
        </p:spPr>
        <p:txBody>
          <a:bodyPr wrap="none" lIns="0" tIns="0" rIns="0" bIns="0" rtlCol="0" anchor="t"/>
          <a:lstStyle/>
          <a:p>
            <a:pPr algn="ctr" indent="0" marL="0">
              <a:lnSpc>
                <a:spcPts val="800"/>
              </a:lnSpc>
              <a:buNone/>
            </a:pPr>
            <a:r>
              <a:rPr lang="en-US" sz="560" spc="140" kern="0" dirty="0">
                <a:solidFill>
                  <a:srgbClr val="9AA0A6"/>
                </a:solidFill>
                <a:latin typeface="Noto Sans" pitchFamily="34" charset="0"/>
                <a:ea typeface="Noto Sans" pitchFamily="34" charset="-122"/>
                <a:cs typeface="Noto Sans" pitchFamily="34" charset="-120"/>
              </a:rPr>
              <a:t>RtM</a:t>
            </a:r>
            <a:endParaRPr lang="en-US" sz="560" dirty="0"/>
          </a:p>
        </p:txBody>
      </p:sp>
      <p:sp>
        <p:nvSpPr>
          <p:cNvPr id="37" name="Text 35"/>
          <p:cNvSpPr/>
          <p:nvPr/>
        </p:nvSpPr>
        <p:spPr>
          <a:xfrm>
            <a:off x="5387153" y="8203910"/>
            <a:ext cx="829117" cy="122100"/>
          </a:xfrm>
          <a:prstGeom prst="rect">
            <a:avLst/>
          </a:prstGeom>
          <a:noFill/>
          <a:ln/>
        </p:spPr>
        <p:txBody>
          <a:bodyPr wrap="none" lIns="0" tIns="0" rIns="0" bIns="0" rtlCol="0" anchor="t"/>
          <a:lstStyle/>
          <a:p>
            <a:pPr algn="l" indent="0" marL="0">
              <a:lnSpc>
                <a:spcPts val="961"/>
              </a:lnSpc>
              <a:buNone/>
            </a:pPr>
            <a:r>
              <a:rPr lang="en-US" sz="620" dirty="0">
                <a:solidFill>
                  <a:srgbClr val="5D636A"/>
                </a:solidFill>
                <a:latin typeface="Noto Sans JP Light" pitchFamily="34" charset="0"/>
                <a:ea typeface="Noto Sans JP Light" pitchFamily="34" charset="-122"/>
                <a:cs typeface="Noto Sans JP Light" pitchFamily="34" charset="-120"/>
              </a:rPr>
              <a:t>主な最終用途（例）</a:t>
            </a:r>
            <a:endParaRPr lang="en-US" sz="620" dirty="0"/>
          </a:p>
        </p:txBody>
      </p:sp>
      <p:sp>
        <p:nvSpPr>
          <p:cNvPr id="38" name="Text 36"/>
          <p:cNvSpPr/>
          <p:nvPr/>
        </p:nvSpPr>
        <p:spPr>
          <a:xfrm>
            <a:off x="5387153" y="8398368"/>
            <a:ext cx="587155" cy="127055"/>
          </a:xfrm>
          <a:prstGeom prst="rect">
            <a:avLst/>
          </a:prstGeom>
          <a:noFill/>
          <a:ln/>
        </p:spPr>
        <p:txBody>
          <a:bodyPr wrap="none" lIns="0" tIns="0" rIns="0" bIns="0" rtlCol="0" anchor="t"/>
          <a:lstStyle/>
          <a:p>
            <a:pPr algn="l" indent="0" marL="0">
              <a:lnSpc>
                <a:spcPts val="1000"/>
              </a:lnSpc>
              <a:buNone/>
            </a:pPr>
            <a:r>
              <a:rPr lang="en-US" sz="600" dirty="0">
                <a:solidFill>
                  <a:srgbClr val="B38F4F"/>
                </a:solidFill>
                <a:latin typeface="Noto Sans Light" pitchFamily="34" charset="0"/>
                <a:ea typeface="Noto Sans Light" pitchFamily="34" charset="-122"/>
                <a:cs typeface="Noto Sans Light" pitchFamily="34" charset="-120"/>
              </a:rPr>
              <a:t>●</a:t>
            </a:r>
            <a:pPr algn="l" indent="0" marL="0">
              <a:lnSpc>
                <a:spcPts val="1000"/>
              </a:lnSpc>
              <a:buNone/>
            </a:pPr>
            <a:r>
              <a:rPr lang="en-US" sz="760" dirty="0">
                <a:solidFill>
                  <a:srgbClr val="23272C"/>
                </a:solidFill>
                <a:latin typeface="Noto Sans JP Light" pitchFamily="34" charset="0"/>
                <a:ea typeface="Noto Sans JP Light" pitchFamily="34" charset="-122"/>
                <a:cs typeface="Noto Sans JP Light" pitchFamily="34" charset="-120"/>
              </a:rPr>
              <a:t> 基礎需要</a:t>
            </a:r>
            <a:endParaRPr lang="en-US" sz="600" dirty="0"/>
          </a:p>
        </p:txBody>
      </p:sp>
      <p:sp>
        <p:nvSpPr>
          <p:cNvPr id="39" name="Text 37"/>
          <p:cNvSpPr/>
          <p:nvPr/>
        </p:nvSpPr>
        <p:spPr>
          <a:xfrm>
            <a:off x="5387153" y="8563540"/>
            <a:ext cx="905548" cy="127055"/>
          </a:xfrm>
          <a:prstGeom prst="rect">
            <a:avLst/>
          </a:prstGeom>
          <a:noFill/>
          <a:ln/>
        </p:spPr>
        <p:txBody>
          <a:bodyPr wrap="none" lIns="0" tIns="0" rIns="0" bIns="0" rtlCol="0" anchor="t"/>
          <a:lstStyle/>
          <a:p>
            <a:pPr algn="l" indent="0" marL="0">
              <a:lnSpc>
                <a:spcPts val="1000"/>
              </a:lnSpc>
              <a:buNone/>
            </a:pPr>
            <a:r>
              <a:rPr lang="en-US" sz="600" dirty="0">
                <a:solidFill>
                  <a:srgbClr val="B38F4F"/>
                </a:solidFill>
                <a:latin typeface="Noto Sans Light" pitchFamily="34" charset="0"/>
                <a:ea typeface="Noto Sans Light" pitchFamily="34" charset="-122"/>
                <a:cs typeface="Noto Sans Light" pitchFamily="34" charset="-120"/>
              </a:rPr>
              <a:t>●</a:t>
            </a:r>
            <a:pPr algn="l" indent="0" marL="0">
              <a:lnSpc>
                <a:spcPts val="1000"/>
              </a:lnSpc>
              <a:buNone/>
            </a:pPr>
            <a:r>
              <a:rPr lang="en-US" sz="760" dirty="0">
                <a:solidFill>
                  <a:srgbClr val="23272C"/>
                </a:solidFill>
                <a:latin typeface="Noto Sans JP Light" pitchFamily="34" charset="0"/>
                <a:ea typeface="Noto Sans JP Light" pitchFamily="34" charset="-122"/>
                <a:cs typeface="Noto Sans JP Light" pitchFamily="34" charset="-120"/>
              </a:rPr>
              <a:t> エネルギー転換</a:t>
            </a:r>
            <a:endParaRPr lang="en-US" sz="600" dirty="0"/>
          </a:p>
        </p:txBody>
      </p:sp>
      <p:sp>
        <p:nvSpPr>
          <p:cNvPr id="40" name="Text 38"/>
          <p:cNvSpPr/>
          <p:nvPr/>
        </p:nvSpPr>
        <p:spPr>
          <a:xfrm>
            <a:off x="5387153" y="8728713"/>
            <a:ext cx="1109075" cy="127055"/>
          </a:xfrm>
          <a:prstGeom prst="rect">
            <a:avLst/>
          </a:prstGeom>
          <a:noFill/>
          <a:ln/>
        </p:spPr>
        <p:txBody>
          <a:bodyPr wrap="none" lIns="0" tIns="0" rIns="0" bIns="0" rtlCol="0" anchor="t"/>
          <a:lstStyle/>
          <a:p>
            <a:pPr algn="l" indent="0" marL="0">
              <a:lnSpc>
                <a:spcPts val="1000"/>
              </a:lnSpc>
              <a:buNone/>
            </a:pPr>
            <a:r>
              <a:rPr lang="en-US" sz="600" dirty="0">
                <a:solidFill>
                  <a:srgbClr val="B38F4F"/>
                </a:solidFill>
                <a:latin typeface="Noto Sans Light" pitchFamily="34" charset="0"/>
                <a:ea typeface="Noto Sans Light" pitchFamily="34" charset="-122"/>
                <a:cs typeface="Noto Sans Light" pitchFamily="34" charset="-120"/>
              </a:rPr>
              <a:t>●</a:t>
            </a:r>
            <a:pPr algn="l" indent="0" marL="0">
              <a:lnSpc>
                <a:spcPts val="1000"/>
              </a:lnSpc>
              <a:buNone/>
            </a:pPr>
            <a:r>
              <a:rPr lang="en-US" sz="760" dirty="0">
                <a:solidFill>
                  <a:srgbClr val="23272C"/>
                </a:solidFill>
                <a:latin typeface="Noto Sans JP Light" pitchFamily="34" charset="0"/>
                <a:ea typeface="Noto Sans JP Light" pitchFamily="34" charset="-122"/>
                <a:cs typeface="Noto Sans JP Light" pitchFamily="34" charset="-120"/>
              </a:rPr>
              <a:t> AI・データセンター</a:t>
            </a:r>
            <a:endParaRPr lang="en-US" sz="600" dirty="0"/>
          </a:p>
        </p:txBody>
      </p:sp>
      <p:sp>
        <p:nvSpPr>
          <p:cNvPr id="41" name="Text 39"/>
          <p:cNvSpPr/>
          <p:nvPr/>
        </p:nvSpPr>
        <p:spPr>
          <a:xfrm>
            <a:off x="609866" y="8994068"/>
            <a:ext cx="385516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RtMは鉱山会社から製錬所へ、製錬所から需要家へ、2度の流通を担い、川上と川下をつなぐ</a:t>
            </a:r>
            <a:endParaRPr lang="en-US" sz="660" dirty="0"/>
          </a:p>
        </p:txBody>
      </p:sp>
      <p:sp>
        <p:nvSpPr>
          <p:cNvPr id="42" name="Text 40"/>
          <p:cNvSpPr/>
          <p:nvPr/>
        </p:nvSpPr>
        <p:spPr>
          <a:xfrm>
            <a:off x="8169668" y="673394"/>
            <a:ext cx="380134"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第2章</a:t>
            </a:r>
            <a:endParaRPr lang="en-US" sz="660" dirty="0"/>
          </a:p>
        </p:txBody>
      </p:sp>
      <p:sp>
        <p:nvSpPr>
          <p:cNvPr id="43" name="Text 41"/>
          <p:cNvSpPr/>
          <p:nvPr/>
        </p:nvSpPr>
        <p:spPr>
          <a:xfrm>
            <a:off x="8169668" y="813155"/>
            <a:ext cx="855322"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独自価値｜新技術</a:t>
            </a:r>
            <a:endParaRPr lang="en-US" sz="660" dirty="0"/>
          </a:p>
        </p:txBody>
      </p:sp>
      <p:sp>
        <p:nvSpPr>
          <p:cNvPr id="44" name="Text 42"/>
          <p:cNvSpPr/>
          <p:nvPr/>
        </p:nvSpPr>
        <p:spPr>
          <a:xfrm>
            <a:off x="8169668" y="1088866"/>
            <a:ext cx="2191787" cy="853813"/>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Investing in</a:t>
            </a:r>
            <a:endParaRPr lang="en-US" sz="3000" dirty="0"/>
          </a:p>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what's next.</a:t>
            </a:r>
            <a:endParaRPr lang="en-US" sz="3000" dirty="0"/>
          </a:p>
        </p:txBody>
      </p:sp>
      <p:sp>
        <p:nvSpPr>
          <p:cNvPr id="45" name="Text 43"/>
          <p:cNvSpPr/>
          <p:nvPr/>
        </p:nvSpPr>
        <p:spPr>
          <a:xfrm>
            <a:off x="8169668" y="2225853"/>
            <a:ext cx="1535128"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新技術への取り組み</a:t>
            </a:r>
            <a:endParaRPr lang="en-US" sz="1100" dirty="0"/>
          </a:p>
        </p:txBody>
      </p:sp>
      <p:sp>
        <p:nvSpPr>
          <p:cNvPr id="46" name="Text 44"/>
          <p:cNvSpPr/>
          <p:nvPr/>
        </p:nvSpPr>
        <p:spPr>
          <a:xfrm>
            <a:off x="8169668" y="2434733"/>
            <a:ext cx="4240160"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加工技術・回収・リサイクルなど、業界のボトルネックに挑む技術へ投資する</a:t>
            </a:r>
            <a:endParaRPr lang="en-US" sz="820" dirty="0"/>
          </a:p>
        </p:txBody>
      </p:sp>
      <p:sp>
        <p:nvSpPr>
          <p:cNvPr id="47" name="Text 45"/>
          <p:cNvSpPr/>
          <p:nvPr/>
        </p:nvSpPr>
        <p:spPr>
          <a:xfrm>
            <a:off x="8169668" y="2659570"/>
            <a:ext cx="5070864" cy="485149"/>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新技術の把握は、既存事業の高度化と将来価値の創出に還元されます。鉱石品位の低下、回収率、リサイク</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ルといった業界のボトルネックに挑むスタートアップへの投資を通じ、川上から川下までに網を張っていま</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す。</a:t>
            </a:r>
            <a:endParaRPr lang="en-US" sz="740" dirty="0"/>
          </a:p>
        </p:txBody>
      </p:sp>
      <p:sp>
        <p:nvSpPr>
          <p:cNvPr id="48" name="Text 46"/>
          <p:cNvSpPr/>
          <p:nvPr/>
        </p:nvSpPr>
        <p:spPr>
          <a:xfrm>
            <a:off x="7877441" y="6412856"/>
            <a:ext cx="23513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採掘</a:t>
            </a:r>
            <a:endParaRPr lang="en-US" sz="660" dirty="0"/>
          </a:p>
        </p:txBody>
      </p:sp>
      <p:sp>
        <p:nvSpPr>
          <p:cNvPr id="49" name="Text 47"/>
          <p:cNvSpPr/>
          <p:nvPr/>
        </p:nvSpPr>
        <p:spPr>
          <a:xfrm>
            <a:off x="8368193" y="7227600"/>
            <a:ext cx="51159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選鉱・浸出</a:t>
            </a:r>
            <a:endParaRPr lang="en-US" sz="660" dirty="0"/>
          </a:p>
        </p:txBody>
      </p:sp>
      <p:sp>
        <p:nvSpPr>
          <p:cNvPr id="50" name="Text 48"/>
          <p:cNvSpPr/>
          <p:nvPr/>
        </p:nvSpPr>
        <p:spPr>
          <a:xfrm>
            <a:off x="12851663" y="7423543"/>
            <a:ext cx="51159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製錬・精製</a:t>
            </a:r>
            <a:endParaRPr lang="en-US" sz="660" dirty="0"/>
          </a:p>
        </p:txBody>
      </p:sp>
      <p:sp>
        <p:nvSpPr>
          <p:cNvPr id="51" name="Text 49"/>
          <p:cNvSpPr/>
          <p:nvPr/>
        </p:nvSpPr>
        <p:spPr>
          <a:xfrm>
            <a:off x="13696582" y="6616145"/>
            <a:ext cx="1156681"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電化・再エネ・データセン</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ター</a:t>
            </a:r>
            <a:endParaRPr lang="en-US" sz="660" dirty="0"/>
          </a:p>
        </p:txBody>
      </p:sp>
      <p:sp>
        <p:nvSpPr>
          <p:cNvPr id="52" name="Text 50"/>
          <p:cNvSpPr/>
          <p:nvPr/>
        </p:nvSpPr>
        <p:spPr>
          <a:xfrm>
            <a:off x="11117356" y="5116890"/>
            <a:ext cx="507011"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リサイクル</a:t>
            </a:r>
            <a:endParaRPr lang="en-US" sz="660" dirty="0"/>
          </a:p>
        </p:txBody>
      </p:sp>
      <p:sp>
        <p:nvSpPr>
          <p:cNvPr id="53" name="Text 51"/>
          <p:cNvSpPr/>
          <p:nvPr/>
        </p:nvSpPr>
        <p:spPr>
          <a:xfrm>
            <a:off x="9249640" y="5730203"/>
            <a:ext cx="879998" cy="101644"/>
          </a:xfrm>
          <a:prstGeom prst="rect">
            <a:avLst/>
          </a:prstGeom>
          <a:noFill/>
          <a:ln/>
        </p:spPr>
        <p:txBody>
          <a:bodyPr wrap="none" lIns="0" tIns="0" rIns="0" bIns="0" rtlCol="0" anchor="t"/>
          <a:lstStyle/>
          <a:p>
            <a:pPr algn="l" indent="0" marL="0">
              <a:lnSpc>
                <a:spcPts val="800"/>
              </a:lnSpc>
              <a:buNone/>
            </a:pPr>
            <a:r>
              <a:rPr lang="en-US" sz="540" spc="120" kern="0" dirty="0">
                <a:solidFill>
                  <a:srgbClr val="B38F4F"/>
                </a:solidFill>
                <a:latin typeface="Noto Sans JP" pitchFamily="34" charset="0"/>
                <a:ea typeface="Noto Sans JP" pitchFamily="34" charset="-122"/>
                <a:cs typeface="Noto Sans JP" pitchFamily="34" charset="-120"/>
              </a:rPr>
              <a:t>銅｜スタートアップ</a:t>
            </a:r>
            <a:endParaRPr lang="en-US" sz="540" dirty="0"/>
          </a:p>
        </p:txBody>
      </p:sp>
      <p:sp>
        <p:nvSpPr>
          <p:cNvPr id="54" name="Text 52"/>
          <p:cNvSpPr/>
          <p:nvPr/>
        </p:nvSpPr>
        <p:spPr>
          <a:xfrm>
            <a:off x="9249640" y="5831847"/>
            <a:ext cx="433418" cy="165172"/>
          </a:xfrm>
          <a:prstGeom prst="rect">
            <a:avLst/>
          </a:prstGeom>
          <a:noFill/>
          <a:ln/>
        </p:spPr>
        <p:txBody>
          <a:bodyPr wrap="none" lIns="0" tIns="0" rIns="0" bIns="0" rtlCol="0" anchor="t"/>
          <a:lstStyle/>
          <a:p>
            <a:pPr algn="l" indent="0" marL="0">
              <a:lnSpc>
                <a:spcPts val="1300"/>
              </a:lnSpc>
              <a:buNone/>
            </a:pPr>
            <a:r>
              <a:rPr lang="en-US" sz="950" dirty="0">
                <a:solidFill>
                  <a:srgbClr val="23272C"/>
                </a:solidFill>
                <a:latin typeface="Noto Sans" pitchFamily="34" charset="0"/>
                <a:ea typeface="Noto Sans" pitchFamily="34" charset="-122"/>
                <a:cs typeface="Noto Sans" pitchFamily="34" charset="-120"/>
              </a:rPr>
              <a:t>CiDRA</a:t>
            </a:r>
            <a:endParaRPr lang="en-US" sz="950" dirty="0"/>
          </a:p>
        </p:txBody>
      </p:sp>
      <p:sp>
        <p:nvSpPr>
          <p:cNvPr id="55" name="Text 53"/>
          <p:cNvSpPr/>
          <p:nvPr/>
        </p:nvSpPr>
        <p:spPr>
          <a:xfrm>
            <a:off x="9249640" y="5985203"/>
            <a:ext cx="810773" cy="125277"/>
          </a:xfrm>
          <a:prstGeom prst="rect">
            <a:avLst/>
          </a:prstGeom>
          <a:noFill/>
          <a:ln/>
        </p:spPr>
        <p:txBody>
          <a:bodyPr wrap="none" lIns="0" tIns="0" rIns="0" bIns="0" rtlCol="0" anchor="t"/>
          <a:lstStyle/>
          <a:p>
            <a:pPr algn="l" indent="0" marL="0">
              <a:lnSpc>
                <a:spcPts val="986"/>
              </a:lnSpc>
              <a:buNone/>
            </a:pPr>
            <a:r>
              <a:rPr lang="en-US" sz="680" dirty="0">
                <a:solidFill>
                  <a:srgbClr val="23272C"/>
                </a:solidFill>
                <a:latin typeface="Noto Sans JP" pitchFamily="34" charset="0"/>
                <a:ea typeface="Noto Sans JP" pitchFamily="34" charset="-122"/>
                <a:cs typeface="Noto Sans JP" pitchFamily="34" charset="-120"/>
              </a:rPr>
              <a:t>浮遊選鉱の高度化</a:t>
            </a:r>
            <a:endParaRPr lang="en-US" sz="680" dirty="0"/>
          </a:p>
        </p:txBody>
      </p:sp>
      <p:sp>
        <p:nvSpPr>
          <p:cNvPr id="56" name="Text 54"/>
          <p:cNvSpPr/>
          <p:nvPr/>
        </p:nvSpPr>
        <p:spPr>
          <a:xfrm>
            <a:off x="9249640" y="6122153"/>
            <a:ext cx="942236"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回収率・処理能力を向上</a:t>
            </a:r>
            <a:endParaRPr lang="en-US" sz="580" dirty="0"/>
          </a:p>
        </p:txBody>
      </p:sp>
      <p:sp>
        <p:nvSpPr>
          <p:cNvPr id="57" name="Text 55"/>
          <p:cNvSpPr/>
          <p:nvPr/>
        </p:nvSpPr>
        <p:spPr>
          <a:xfrm>
            <a:off x="11866983" y="5730203"/>
            <a:ext cx="879998" cy="101644"/>
          </a:xfrm>
          <a:prstGeom prst="rect">
            <a:avLst/>
          </a:prstGeom>
          <a:noFill/>
          <a:ln/>
        </p:spPr>
        <p:txBody>
          <a:bodyPr wrap="none" lIns="0" tIns="0" rIns="0" bIns="0" rtlCol="0" anchor="t"/>
          <a:lstStyle/>
          <a:p>
            <a:pPr algn="l" indent="0" marL="0">
              <a:lnSpc>
                <a:spcPts val="800"/>
              </a:lnSpc>
              <a:buNone/>
            </a:pPr>
            <a:r>
              <a:rPr lang="en-US" sz="540" spc="120" kern="0" dirty="0">
                <a:solidFill>
                  <a:srgbClr val="B38F4F"/>
                </a:solidFill>
                <a:latin typeface="Noto Sans JP" pitchFamily="34" charset="0"/>
                <a:ea typeface="Noto Sans JP" pitchFamily="34" charset="-122"/>
                <a:cs typeface="Noto Sans JP" pitchFamily="34" charset="-120"/>
              </a:rPr>
              <a:t>銅｜スタートアップ</a:t>
            </a:r>
            <a:endParaRPr lang="en-US" sz="540" dirty="0"/>
          </a:p>
        </p:txBody>
      </p:sp>
      <p:sp>
        <p:nvSpPr>
          <p:cNvPr id="58" name="Text 56"/>
          <p:cNvSpPr/>
          <p:nvPr/>
        </p:nvSpPr>
        <p:spPr>
          <a:xfrm>
            <a:off x="11866983" y="5831847"/>
            <a:ext cx="292128" cy="165172"/>
          </a:xfrm>
          <a:prstGeom prst="rect">
            <a:avLst/>
          </a:prstGeom>
          <a:noFill/>
          <a:ln/>
        </p:spPr>
        <p:txBody>
          <a:bodyPr wrap="none" lIns="0" tIns="0" rIns="0" bIns="0" rtlCol="0" anchor="t"/>
          <a:lstStyle/>
          <a:p>
            <a:pPr algn="l" indent="0" marL="0">
              <a:lnSpc>
                <a:spcPts val="1300"/>
              </a:lnSpc>
              <a:buNone/>
            </a:pPr>
            <a:r>
              <a:rPr lang="en-US" sz="950" dirty="0">
                <a:solidFill>
                  <a:srgbClr val="23272C"/>
                </a:solidFill>
                <a:latin typeface="Noto Sans" pitchFamily="34" charset="0"/>
                <a:ea typeface="Noto Sans" pitchFamily="34" charset="-122"/>
                <a:cs typeface="Noto Sans" pitchFamily="34" charset="-120"/>
              </a:rPr>
              <a:t>Jetti</a:t>
            </a:r>
            <a:endParaRPr lang="en-US" sz="950" dirty="0"/>
          </a:p>
        </p:txBody>
      </p:sp>
      <p:sp>
        <p:nvSpPr>
          <p:cNvPr id="59" name="Text 57"/>
          <p:cNvSpPr/>
          <p:nvPr/>
        </p:nvSpPr>
        <p:spPr>
          <a:xfrm>
            <a:off x="11866983" y="5985203"/>
            <a:ext cx="1000761" cy="125277"/>
          </a:xfrm>
          <a:prstGeom prst="rect">
            <a:avLst/>
          </a:prstGeom>
          <a:noFill/>
          <a:ln/>
        </p:spPr>
        <p:txBody>
          <a:bodyPr wrap="none" lIns="0" tIns="0" rIns="0" bIns="0" rtlCol="0" anchor="t"/>
          <a:lstStyle/>
          <a:p>
            <a:pPr algn="l" indent="0" marL="0">
              <a:lnSpc>
                <a:spcPts val="986"/>
              </a:lnSpc>
              <a:buNone/>
            </a:pPr>
            <a:r>
              <a:rPr lang="en-US" sz="680" dirty="0">
                <a:solidFill>
                  <a:srgbClr val="23272C"/>
                </a:solidFill>
                <a:latin typeface="Noto Sans JP" pitchFamily="34" charset="0"/>
                <a:ea typeface="Noto Sans JP" pitchFamily="34" charset="-122"/>
                <a:cs typeface="Noto Sans JP" pitchFamily="34" charset="-120"/>
              </a:rPr>
              <a:t>硫化鉱のリーチング化</a:t>
            </a:r>
            <a:endParaRPr lang="en-US" sz="680" dirty="0"/>
          </a:p>
        </p:txBody>
      </p:sp>
      <p:sp>
        <p:nvSpPr>
          <p:cNvPr id="60" name="Text 58"/>
          <p:cNvSpPr/>
          <p:nvPr/>
        </p:nvSpPr>
        <p:spPr>
          <a:xfrm>
            <a:off x="11866983" y="6122153"/>
            <a:ext cx="1023253"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触媒で硫化鉱から銅を回収</a:t>
            </a:r>
            <a:endParaRPr lang="en-US" sz="580" dirty="0"/>
          </a:p>
        </p:txBody>
      </p:sp>
      <p:sp>
        <p:nvSpPr>
          <p:cNvPr id="61" name="Text 59"/>
          <p:cNvSpPr/>
          <p:nvPr/>
        </p:nvSpPr>
        <p:spPr>
          <a:xfrm>
            <a:off x="10558312" y="6645002"/>
            <a:ext cx="507666" cy="101644"/>
          </a:xfrm>
          <a:prstGeom prst="rect">
            <a:avLst/>
          </a:prstGeom>
          <a:noFill/>
          <a:ln/>
        </p:spPr>
        <p:txBody>
          <a:bodyPr wrap="none" lIns="0" tIns="0" rIns="0" bIns="0" rtlCol="0" anchor="t"/>
          <a:lstStyle/>
          <a:p>
            <a:pPr algn="l" indent="0" marL="0">
              <a:lnSpc>
                <a:spcPts val="800"/>
              </a:lnSpc>
              <a:buNone/>
            </a:pPr>
            <a:r>
              <a:rPr lang="en-US" sz="540" spc="120" kern="0" dirty="0">
                <a:solidFill>
                  <a:srgbClr val="B38F4F"/>
                </a:solidFill>
                <a:latin typeface="Noto Sans JP" pitchFamily="34" charset="0"/>
                <a:ea typeface="Noto Sans JP" pitchFamily="34" charset="-122"/>
                <a:cs typeface="Noto Sans JP" pitchFamily="34" charset="-120"/>
              </a:rPr>
              <a:t>リサイクル</a:t>
            </a:r>
            <a:endParaRPr lang="en-US" sz="540" dirty="0"/>
          </a:p>
        </p:txBody>
      </p:sp>
      <p:sp>
        <p:nvSpPr>
          <p:cNvPr id="62" name="Text 60"/>
          <p:cNvSpPr/>
          <p:nvPr/>
        </p:nvSpPr>
        <p:spPr>
          <a:xfrm>
            <a:off x="10558312" y="6746647"/>
            <a:ext cx="619038" cy="165172"/>
          </a:xfrm>
          <a:prstGeom prst="rect">
            <a:avLst/>
          </a:prstGeom>
          <a:noFill/>
          <a:ln/>
        </p:spPr>
        <p:txBody>
          <a:bodyPr wrap="none" lIns="0" tIns="0" rIns="0" bIns="0" rtlCol="0" anchor="t"/>
          <a:lstStyle/>
          <a:p>
            <a:pPr algn="l" indent="0" marL="0">
              <a:lnSpc>
                <a:spcPts val="1300"/>
              </a:lnSpc>
              <a:buNone/>
            </a:pPr>
            <a:r>
              <a:rPr lang="en-US" sz="950" dirty="0">
                <a:solidFill>
                  <a:srgbClr val="23272C"/>
                </a:solidFill>
                <a:latin typeface="Noto Sans" pitchFamily="34" charset="0"/>
                <a:ea typeface="Noto Sans" pitchFamily="34" charset="-122"/>
                <a:cs typeface="Noto Sans" pitchFamily="34" charset="-120"/>
              </a:rPr>
              <a:t>DESCycle</a:t>
            </a:r>
            <a:endParaRPr lang="en-US" sz="950" dirty="0"/>
          </a:p>
        </p:txBody>
      </p:sp>
      <p:sp>
        <p:nvSpPr>
          <p:cNvPr id="63" name="Text 61"/>
          <p:cNvSpPr/>
          <p:nvPr/>
        </p:nvSpPr>
        <p:spPr>
          <a:xfrm>
            <a:off x="10558312" y="6900003"/>
            <a:ext cx="1095754" cy="125277"/>
          </a:xfrm>
          <a:prstGeom prst="rect">
            <a:avLst/>
          </a:prstGeom>
          <a:noFill/>
          <a:ln/>
        </p:spPr>
        <p:txBody>
          <a:bodyPr wrap="none" lIns="0" tIns="0" rIns="0" bIns="0" rtlCol="0" anchor="t"/>
          <a:lstStyle/>
          <a:p>
            <a:pPr algn="l" indent="0" marL="0">
              <a:lnSpc>
                <a:spcPts val="986"/>
              </a:lnSpc>
              <a:buNone/>
            </a:pPr>
            <a:r>
              <a:rPr lang="en-US" sz="680" dirty="0">
                <a:solidFill>
                  <a:srgbClr val="23272C"/>
                </a:solidFill>
                <a:latin typeface="Noto Sans JP" pitchFamily="34" charset="0"/>
                <a:ea typeface="Noto Sans JP" pitchFamily="34" charset="-122"/>
                <a:cs typeface="Noto Sans JP" pitchFamily="34" charset="-120"/>
              </a:rPr>
              <a:t>銅スクラップの回収強化</a:t>
            </a:r>
            <a:endParaRPr lang="en-US" sz="680" dirty="0"/>
          </a:p>
        </p:txBody>
      </p:sp>
      <p:sp>
        <p:nvSpPr>
          <p:cNvPr id="64" name="Text 62"/>
          <p:cNvSpPr/>
          <p:nvPr/>
        </p:nvSpPr>
        <p:spPr>
          <a:xfrm>
            <a:off x="10558312" y="7036953"/>
            <a:ext cx="1428342"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電子スクラップから銅・貴金属を回収</a:t>
            </a:r>
            <a:endParaRPr lang="en-US" sz="580" dirty="0"/>
          </a:p>
        </p:txBody>
      </p:sp>
      <p:sp>
        <p:nvSpPr>
          <p:cNvPr id="65" name="Text 63"/>
          <p:cNvSpPr/>
          <p:nvPr/>
        </p:nvSpPr>
        <p:spPr>
          <a:xfrm>
            <a:off x="609866"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08</a:t>
            </a:r>
            <a:endParaRPr lang="en-US" sz="620" dirty="0"/>
          </a:p>
        </p:txBody>
      </p:sp>
      <p:sp>
        <p:nvSpPr>
          <p:cNvPr id="66" name="Text 64"/>
          <p:cNvSpPr/>
          <p:nvPr/>
        </p:nvSpPr>
        <p:spPr>
          <a:xfrm>
            <a:off x="14357271"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09</a:t>
            </a:r>
            <a:endParaRPr lang="en-US" sz="6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09866" y="520928"/>
            <a:ext cx="380134"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FFFFFF"/>
                </a:solidFill>
                <a:latin typeface="Noto Sans JP" pitchFamily="34" charset="0"/>
                <a:ea typeface="Noto Sans JP" pitchFamily="34" charset="-122"/>
                <a:cs typeface="Noto Sans JP" pitchFamily="34" charset="-120"/>
              </a:rPr>
              <a:t>第3章</a:t>
            </a:r>
            <a:endParaRPr lang="en-US" sz="660" dirty="0"/>
          </a:p>
        </p:txBody>
      </p:sp>
      <p:sp>
        <p:nvSpPr>
          <p:cNvPr id="3" name="Text 1"/>
          <p:cNvSpPr/>
          <p:nvPr/>
        </p:nvSpPr>
        <p:spPr>
          <a:xfrm>
            <a:off x="609866" y="5129230"/>
            <a:ext cx="3276900" cy="426906"/>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Partner of choice.</a:t>
            </a:r>
            <a:endParaRPr lang="en-US" sz="3000" dirty="0"/>
          </a:p>
        </p:txBody>
      </p:sp>
      <p:sp>
        <p:nvSpPr>
          <p:cNvPr id="4" name="Text 2"/>
          <p:cNvSpPr/>
          <p:nvPr/>
        </p:nvSpPr>
        <p:spPr>
          <a:xfrm>
            <a:off x="609866" y="5839391"/>
            <a:ext cx="1963802"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第3章　選ばれ続ける理由</a:t>
            </a:r>
            <a:endParaRPr lang="en-US" sz="1100" dirty="0"/>
          </a:p>
        </p:txBody>
      </p:sp>
      <p:sp>
        <p:nvSpPr>
          <p:cNvPr id="5" name="Text 3"/>
          <p:cNvSpPr/>
          <p:nvPr/>
        </p:nvSpPr>
        <p:spPr>
          <a:xfrm>
            <a:off x="609866" y="6048270"/>
            <a:ext cx="4118961"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資源業界に不可欠な存在として、世界のトッププレイヤーから選ばれ続ける</a:t>
            </a:r>
            <a:endParaRPr lang="en-US" sz="820" dirty="0"/>
          </a:p>
        </p:txBody>
      </p:sp>
      <p:sp>
        <p:nvSpPr>
          <p:cNvPr id="6" name="Text 4"/>
          <p:cNvSpPr/>
          <p:nvPr/>
        </p:nvSpPr>
        <p:spPr>
          <a:xfrm>
            <a:off x="609866" y="6273108"/>
            <a:ext cx="6940823" cy="323432"/>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資源業界では、良い案件があっても単独では規模が大きすぎることが少なくありません。そのとき「三菱に声をかけよう」と思われる存在であるこ</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と。業界最大手とJVを組み、人材派遣・ガバナンス参画・総合力で事業価値の最大化に貢献してきました。</a:t>
            </a:r>
            <a:endParaRPr lang="en-US" sz="740" dirty="0"/>
          </a:p>
        </p:txBody>
      </p:sp>
      <p:sp>
        <p:nvSpPr>
          <p:cNvPr id="7" name="Text 5"/>
          <p:cNvSpPr/>
          <p:nvPr/>
        </p:nvSpPr>
        <p:spPr>
          <a:xfrm>
            <a:off x="609866" y="6778411"/>
            <a:ext cx="451107" cy="330344"/>
          </a:xfrm>
          <a:prstGeom prst="rect">
            <a:avLst/>
          </a:prstGeom>
          <a:noFill/>
          <a:ln/>
        </p:spPr>
        <p:txBody>
          <a:bodyPr wrap="none" lIns="0" tIns="0" rIns="0" bIns="0" rtlCol="0" anchor="t"/>
          <a:lstStyle/>
          <a:p>
            <a:pPr algn="l" indent="0" marL="0">
              <a:lnSpc>
                <a:spcPts val="2600"/>
              </a:lnSpc>
              <a:buNone/>
            </a:pPr>
            <a:r>
              <a:rPr lang="en-US" sz="2600" spc="-50" kern="0" dirty="0">
                <a:solidFill>
                  <a:srgbClr val="B38F4F"/>
                </a:solidFill>
                <a:latin typeface="Noto Sans ExtraLight" pitchFamily="34" charset="0"/>
                <a:ea typeface="Noto Sans ExtraLight" pitchFamily="34" charset="-122"/>
                <a:cs typeface="Noto Sans ExtraLight" pitchFamily="34" charset="-120"/>
              </a:rPr>
              <a:t>01</a:t>
            </a:r>
            <a:endParaRPr lang="en-US" sz="2600" dirty="0"/>
          </a:p>
        </p:txBody>
      </p:sp>
      <p:sp>
        <p:nvSpPr>
          <p:cNvPr id="8" name="Text 6"/>
          <p:cNvSpPr/>
          <p:nvPr/>
        </p:nvSpPr>
        <p:spPr>
          <a:xfrm>
            <a:off x="1118088" y="6980238"/>
            <a:ext cx="151984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資源メジャーとの企業文化的親和性</a:t>
            </a:r>
            <a:endParaRPr lang="en-US" sz="660" dirty="0"/>
          </a:p>
        </p:txBody>
      </p:sp>
      <p:sp>
        <p:nvSpPr>
          <p:cNvPr id="9" name="Text 7"/>
          <p:cNvSpPr/>
          <p:nvPr/>
        </p:nvSpPr>
        <p:spPr>
          <a:xfrm>
            <a:off x="3849782" y="6778411"/>
            <a:ext cx="451107" cy="330344"/>
          </a:xfrm>
          <a:prstGeom prst="rect">
            <a:avLst/>
          </a:prstGeom>
          <a:noFill/>
          <a:ln/>
        </p:spPr>
        <p:txBody>
          <a:bodyPr wrap="none" lIns="0" tIns="0" rIns="0" bIns="0" rtlCol="0" anchor="t"/>
          <a:lstStyle/>
          <a:p>
            <a:pPr algn="l" indent="0" marL="0">
              <a:lnSpc>
                <a:spcPts val="2600"/>
              </a:lnSpc>
              <a:buNone/>
            </a:pPr>
            <a:r>
              <a:rPr lang="en-US" sz="2600" spc="-50" kern="0" dirty="0">
                <a:solidFill>
                  <a:srgbClr val="B38F4F"/>
                </a:solidFill>
                <a:latin typeface="Noto Sans ExtraLight" pitchFamily="34" charset="0"/>
                <a:ea typeface="Noto Sans ExtraLight" pitchFamily="34" charset="-122"/>
                <a:cs typeface="Noto Sans ExtraLight" pitchFamily="34" charset="-120"/>
              </a:rPr>
              <a:t>02</a:t>
            </a:r>
            <a:endParaRPr lang="en-US" sz="2600" dirty="0"/>
          </a:p>
        </p:txBody>
      </p:sp>
      <p:sp>
        <p:nvSpPr>
          <p:cNvPr id="10" name="Text 8"/>
          <p:cNvSpPr/>
          <p:nvPr/>
        </p:nvSpPr>
        <p:spPr>
          <a:xfrm>
            <a:off x="4358004" y="6980238"/>
            <a:ext cx="1623571"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資源投資経験に裏打ちされたJV経営力</a:t>
            </a:r>
            <a:endParaRPr lang="en-US" sz="660" dirty="0"/>
          </a:p>
        </p:txBody>
      </p:sp>
      <p:sp>
        <p:nvSpPr>
          <p:cNvPr id="11" name="Text 9"/>
          <p:cNvSpPr/>
          <p:nvPr/>
        </p:nvSpPr>
        <p:spPr>
          <a:xfrm>
            <a:off x="609866" y="7337455"/>
            <a:ext cx="451107" cy="330344"/>
          </a:xfrm>
          <a:prstGeom prst="rect">
            <a:avLst/>
          </a:prstGeom>
          <a:noFill/>
          <a:ln/>
        </p:spPr>
        <p:txBody>
          <a:bodyPr wrap="none" lIns="0" tIns="0" rIns="0" bIns="0" rtlCol="0" anchor="t"/>
          <a:lstStyle/>
          <a:p>
            <a:pPr algn="l" indent="0" marL="0">
              <a:lnSpc>
                <a:spcPts val="2600"/>
              </a:lnSpc>
              <a:buNone/>
            </a:pPr>
            <a:r>
              <a:rPr lang="en-US" sz="2600" spc="-50" kern="0" dirty="0">
                <a:solidFill>
                  <a:srgbClr val="B38F4F"/>
                </a:solidFill>
                <a:latin typeface="Noto Sans ExtraLight" pitchFamily="34" charset="0"/>
                <a:ea typeface="Noto Sans ExtraLight" pitchFamily="34" charset="-122"/>
                <a:cs typeface="Noto Sans ExtraLight" pitchFamily="34" charset="-120"/>
              </a:rPr>
              <a:t>03</a:t>
            </a:r>
            <a:endParaRPr lang="en-US" sz="2600" dirty="0"/>
          </a:p>
        </p:txBody>
      </p:sp>
      <p:sp>
        <p:nvSpPr>
          <p:cNvPr id="12" name="Text 10"/>
          <p:cNvSpPr/>
          <p:nvPr/>
        </p:nvSpPr>
        <p:spPr>
          <a:xfrm>
            <a:off x="1118088" y="7539283"/>
            <a:ext cx="1986076"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事業ポートフォリオを活かした健全な財務基盤</a:t>
            </a:r>
            <a:endParaRPr lang="en-US" sz="660" dirty="0"/>
          </a:p>
        </p:txBody>
      </p:sp>
      <p:sp>
        <p:nvSpPr>
          <p:cNvPr id="13" name="Text 11"/>
          <p:cNvSpPr/>
          <p:nvPr/>
        </p:nvSpPr>
        <p:spPr>
          <a:xfrm>
            <a:off x="3849782" y="7337455"/>
            <a:ext cx="451107" cy="330344"/>
          </a:xfrm>
          <a:prstGeom prst="rect">
            <a:avLst/>
          </a:prstGeom>
          <a:noFill/>
          <a:ln/>
        </p:spPr>
        <p:txBody>
          <a:bodyPr wrap="none" lIns="0" tIns="0" rIns="0" bIns="0" rtlCol="0" anchor="t"/>
          <a:lstStyle/>
          <a:p>
            <a:pPr algn="l" indent="0" marL="0">
              <a:lnSpc>
                <a:spcPts val="2600"/>
              </a:lnSpc>
              <a:buNone/>
            </a:pPr>
            <a:r>
              <a:rPr lang="en-US" sz="2600" spc="-50" kern="0" dirty="0">
                <a:solidFill>
                  <a:srgbClr val="B38F4F"/>
                </a:solidFill>
                <a:latin typeface="Noto Sans ExtraLight" pitchFamily="34" charset="0"/>
                <a:ea typeface="Noto Sans ExtraLight" pitchFamily="34" charset="-122"/>
                <a:cs typeface="Noto Sans ExtraLight" pitchFamily="34" charset="-120"/>
              </a:rPr>
              <a:t>04</a:t>
            </a:r>
            <a:endParaRPr lang="en-US" sz="2600" dirty="0"/>
          </a:p>
        </p:txBody>
      </p:sp>
      <p:sp>
        <p:nvSpPr>
          <p:cNvPr id="14" name="Text 12"/>
          <p:cNvSpPr/>
          <p:nvPr/>
        </p:nvSpPr>
        <p:spPr>
          <a:xfrm>
            <a:off x="4358004" y="7539283"/>
            <a:ext cx="2073645"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マクロ環境とバリューチェーンに対する深い知見</a:t>
            </a:r>
            <a:endParaRPr lang="en-US" sz="660" dirty="0"/>
          </a:p>
        </p:txBody>
      </p:sp>
      <p:sp>
        <p:nvSpPr>
          <p:cNvPr id="15" name="Text 13"/>
          <p:cNvSpPr/>
          <p:nvPr/>
        </p:nvSpPr>
        <p:spPr>
          <a:xfrm>
            <a:off x="609866" y="8163316"/>
            <a:ext cx="1579240"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業界最大手とのJV実績</a:t>
            </a:r>
            <a:endParaRPr lang="en-US" sz="820" dirty="0"/>
          </a:p>
        </p:txBody>
      </p:sp>
      <p:sp>
        <p:nvSpPr>
          <p:cNvPr id="16" name="Text 14"/>
          <p:cNvSpPr/>
          <p:nvPr/>
        </p:nvSpPr>
        <p:spPr>
          <a:xfrm>
            <a:off x="609866" y="8404721"/>
            <a:ext cx="431453" cy="241405"/>
          </a:xfrm>
          <a:prstGeom prst="rect">
            <a:avLst/>
          </a:prstGeom>
          <a:noFill/>
          <a:ln/>
        </p:spPr>
        <p:txBody>
          <a:bodyPr wrap="none" lIns="0" tIns="0" rIns="0" bIns="0" rtlCol="0" anchor="t"/>
          <a:lstStyle/>
          <a:p>
            <a:pPr algn="l" indent="0" marL="0">
              <a:lnSpc>
                <a:spcPts val="1900"/>
              </a:lnSpc>
              <a:buNone/>
            </a:pPr>
            <a:r>
              <a:rPr lang="en-US" sz="1400" dirty="0">
                <a:solidFill>
                  <a:srgbClr val="23272C"/>
                </a:solidFill>
                <a:latin typeface="Noto Sans Light" pitchFamily="34" charset="0"/>
                <a:ea typeface="Noto Sans Light" pitchFamily="34" charset="-122"/>
                <a:cs typeface="Noto Sans Light" pitchFamily="34" charset="-120"/>
              </a:rPr>
              <a:t>BHP</a:t>
            </a:r>
            <a:endParaRPr lang="en-US" sz="1400" dirty="0"/>
          </a:p>
        </p:txBody>
      </p:sp>
      <p:sp>
        <p:nvSpPr>
          <p:cNvPr id="17" name="Text 15"/>
          <p:cNvSpPr/>
          <p:nvPr/>
        </p:nvSpPr>
        <p:spPr>
          <a:xfrm>
            <a:off x="2261588" y="8404721"/>
            <a:ext cx="828243" cy="241405"/>
          </a:xfrm>
          <a:prstGeom prst="rect">
            <a:avLst/>
          </a:prstGeom>
          <a:noFill/>
          <a:ln/>
        </p:spPr>
        <p:txBody>
          <a:bodyPr wrap="none" lIns="0" tIns="0" rIns="0" bIns="0" rtlCol="0" anchor="t"/>
          <a:lstStyle/>
          <a:p>
            <a:pPr algn="l" indent="0" marL="0">
              <a:lnSpc>
                <a:spcPts val="1900"/>
              </a:lnSpc>
              <a:buNone/>
            </a:pPr>
            <a:r>
              <a:rPr lang="en-US" sz="1400" dirty="0">
                <a:solidFill>
                  <a:srgbClr val="23272C"/>
                </a:solidFill>
                <a:latin typeface="Noto Sans Light" pitchFamily="34" charset="0"/>
                <a:ea typeface="Noto Sans Light" pitchFamily="34" charset="-122"/>
                <a:cs typeface="Noto Sans Light" pitchFamily="34" charset="-120"/>
              </a:rPr>
              <a:t>Rio Tinto</a:t>
            </a:r>
            <a:endParaRPr lang="en-US" sz="1400" dirty="0"/>
          </a:p>
        </p:txBody>
      </p:sp>
      <p:sp>
        <p:nvSpPr>
          <p:cNvPr id="18" name="Text 16"/>
          <p:cNvSpPr/>
          <p:nvPr/>
        </p:nvSpPr>
        <p:spPr>
          <a:xfrm>
            <a:off x="3913309" y="8404721"/>
            <a:ext cx="1454766" cy="241405"/>
          </a:xfrm>
          <a:prstGeom prst="rect">
            <a:avLst/>
          </a:prstGeom>
          <a:noFill/>
          <a:ln/>
        </p:spPr>
        <p:txBody>
          <a:bodyPr wrap="none" lIns="0" tIns="0" rIns="0" bIns="0" rtlCol="0" anchor="t"/>
          <a:lstStyle/>
          <a:p>
            <a:pPr algn="l" indent="0" marL="0">
              <a:lnSpc>
                <a:spcPts val="1900"/>
              </a:lnSpc>
              <a:buNone/>
            </a:pPr>
            <a:r>
              <a:rPr lang="en-US" sz="1400" dirty="0">
                <a:solidFill>
                  <a:srgbClr val="23272C"/>
                </a:solidFill>
                <a:latin typeface="Noto Sans Light" pitchFamily="34" charset="0"/>
                <a:ea typeface="Noto Sans Light" pitchFamily="34" charset="-122"/>
                <a:cs typeface="Noto Sans Light" pitchFamily="34" charset="-120"/>
              </a:rPr>
              <a:t>Anglo American</a:t>
            </a:r>
            <a:endParaRPr lang="en-US" sz="1400" dirty="0"/>
          </a:p>
        </p:txBody>
      </p:sp>
      <p:sp>
        <p:nvSpPr>
          <p:cNvPr id="19" name="Text 17"/>
          <p:cNvSpPr/>
          <p:nvPr/>
        </p:nvSpPr>
        <p:spPr>
          <a:xfrm>
            <a:off x="609866" y="8708193"/>
            <a:ext cx="3825244"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単なる共同出資者に留まらず、人材派遣・ガバナンス参画・総合力でJVの事業価値を最大化</a:t>
            </a:r>
            <a:endParaRPr lang="en-US" sz="660" dirty="0"/>
          </a:p>
        </p:txBody>
      </p:sp>
      <p:sp>
        <p:nvSpPr>
          <p:cNvPr id="20" name="Text 18"/>
          <p:cNvSpPr/>
          <p:nvPr/>
        </p:nvSpPr>
        <p:spPr>
          <a:xfrm>
            <a:off x="609866" y="9001882"/>
            <a:ext cx="2010971"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パートナーに評価される理由</a:t>
            </a:r>
            <a:endParaRPr lang="en-US" sz="820" dirty="0"/>
          </a:p>
        </p:txBody>
      </p:sp>
      <p:sp>
        <p:nvSpPr>
          <p:cNvPr id="21" name="Text 19"/>
          <p:cNvSpPr/>
          <p:nvPr/>
        </p:nvSpPr>
        <p:spPr>
          <a:xfrm>
            <a:off x="1213856" y="9367293"/>
            <a:ext cx="774086" cy="136331"/>
          </a:xfrm>
          <a:prstGeom prst="rect">
            <a:avLst/>
          </a:prstGeom>
          <a:noFill/>
          <a:ln/>
        </p:spPr>
        <p:txBody>
          <a:bodyPr wrap="none" lIns="0" tIns="0" rIns="0" bIns="0" rtlCol="0" anchor="t"/>
          <a:lstStyle/>
          <a:p>
            <a:pPr algn="ctr" indent="0" marL="0">
              <a:lnSpc>
                <a:spcPts val="1073"/>
              </a:lnSpc>
              <a:buNone/>
            </a:pPr>
            <a:r>
              <a:rPr lang="en-US" sz="740" dirty="0">
                <a:solidFill>
                  <a:srgbClr val="23272C"/>
                </a:solidFill>
                <a:latin typeface="Noto Sans JP" pitchFamily="34" charset="0"/>
                <a:ea typeface="Noto Sans JP" pitchFamily="34" charset="-122"/>
                <a:cs typeface="Noto Sans JP" pitchFamily="34" charset="-120"/>
              </a:rPr>
              <a:t>中長期的な視座</a:t>
            </a:r>
            <a:endParaRPr lang="en-US" sz="740" dirty="0"/>
          </a:p>
        </p:txBody>
      </p:sp>
      <p:sp>
        <p:nvSpPr>
          <p:cNvPr id="22" name="Text 20"/>
          <p:cNvSpPr/>
          <p:nvPr/>
        </p:nvSpPr>
        <p:spPr>
          <a:xfrm>
            <a:off x="3245097" y="9367293"/>
            <a:ext cx="980670" cy="136331"/>
          </a:xfrm>
          <a:prstGeom prst="rect">
            <a:avLst/>
          </a:prstGeom>
          <a:noFill/>
          <a:ln/>
        </p:spPr>
        <p:txBody>
          <a:bodyPr wrap="none" lIns="0" tIns="0" rIns="0" bIns="0" rtlCol="0" anchor="t"/>
          <a:lstStyle/>
          <a:p>
            <a:pPr algn="ctr" indent="0" marL="0">
              <a:lnSpc>
                <a:spcPts val="1073"/>
              </a:lnSpc>
              <a:buNone/>
            </a:pPr>
            <a:r>
              <a:rPr lang="en-US" sz="740" dirty="0">
                <a:solidFill>
                  <a:srgbClr val="23272C"/>
                </a:solidFill>
                <a:latin typeface="Noto Sans JP" pitchFamily="34" charset="0"/>
                <a:ea typeface="Noto Sans JP" pitchFamily="34" charset="-122"/>
                <a:cs typeface="Noto Sans JP" pitchFamily="34" charset="-120"/>
              </a:rPr>
              <a:t>リスクシェアリング</a:t>
            </a:r>
            <a:endParaRPr lang="en-US" sz="740" dirty="0"/>
          </a:p>
        </p:txBody>
      </p:sp>
      <p:sp>
        <p:nvSpPr>
          <p:cNvPr id="23" name="Text 21"/>
          <p:cNvSpPr/>
          <p:nvPr/>
        </p:nvSpPr>
        <p:spPr>
          <a:xfrm>
            <a:off x="5689505" y="9367293"/>
            <a:ext cx="360917" cy="136331"/>
          </a:xfrm>
          <a:prstGeom prst="rect">
            <a:avLst/>
          </a:prstGeom>
          <a:noFill/>
          <a:ln/>
        </p:spPr>
        <p:txBody>
          <a:bodyPr wrap="none" lIns="0" tIns="0" rIns="0" bIns="0" rtlCol="0" anchor="t"/>
          <a:lstStyle/>
          <a:p>
            <a:pPr algn="ctr" indent="0" marL="0">
              <a:lnSpc>
                <a:spcPts val="1073"/>
              </a:lnSpc>
              <a:buNone/>
            </a:pPr>
            <a:r>
              <a:rPr lang="en-US" sz="740" dirty="0">
                <a:solidFill>
                  <a:srgbClr val="23272C"/>
                </a:solidFill>
                <a:latin typeface="Noto Sans JP" pitchFamily="34" charset="0"/>
                <a:ea typeface="Noto Sans JP" pitchFamily="34" charset="-122"/>
                <a:cs typeface="Noto Sans JP" pitchFamily="34" charset="-120"/>
              </a:rPr>
              <a:t>総合力</a:t>
            </a:r>
            <a:endParaRPr lang="en-US" sz="740" dirty="0"/>
          </a:p>
        </p:txBody>
      </p:sp>
      <p:sp>
        <p:nvSpPr>
          <p:cNvPr id="24" name="Text 22"/>
          <p:cNvSpPr/>
          <p:nvPr/>
        </p:nvSpPr>
        <p:spPr>
          <a:xfrm>
            <a:off x="8169668" y="673394"/>
            <a:ext cx="380134"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第4章</a:t>
            </a:r>
            <a:endParaRPr lang="en-US" sz="660" dirty="0"/>
          </a:p>
        </p:txBody>
      </p:sp>
      <p:sp>
        <p:nvSpPr>
          <p:cNvPr id="25" name="Text 23"/>
          <p:cNvSpPr/>
          <p:nvPr/>
        </p:nvSpPr>
        <p:spPr>
          <a:xfrm>
            <a:off x="8169668" y="813155"/>
            <a:ext cx="754650"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何を実現するか</a:t>
            </a:r>
            <a:endParaRPr lang="en-US" sz="660" dirty="0"/>
          </a:p>
        </p:txBody>
      </p:sp>
      <p:sp>
        <p:nvSpPr>
          <p:cNvPr id="26" name="Text 24"/>
          <p:cNvSpPr/>
          <p:nvPr/>
        </p:nvSpPr>
        <p:spPr>
          <a:xfrm>
            <a:off x="8169668" y="1088866"/>
            <a:ext cx="4145166" cy="853813"/>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Building the future</a:t>
            </a:r>
            <a:endParaRPr lang="en-US" sz="3000" dirty="0"/>
          </a:p>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of resources, together.</a:t>
            </a:r>
            <a:endParaRPr lang="en-US" sz="3000" dirty="0"/>
          </a:p>
        </p:txBody>
      </p:sp>
      <p:sp>
        <p:nvSpPr>
          <p:cNvPr id="27" name="Text 25"/>
          <p:cNvSpPr/>
          <p:nvPr/>
        </p:nvSpPr>
        <p:spPr>
          <a:xfrm>
            <a:off x="8169668" y="2225853"/>
            <a:ext cx="1860509"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共に、資源の未来を築く</a:t>
            </a:r>
            <a:endParaRPr lang="en-US" sz="1100" dirty="0"/>
          </a:p>
        </p:txBody>
      </p:sp>
      <p:sp>
        <p:nvSpPr>
          <p:cNvPr id="28" name="Text 26"/>
          <p:cNvSpPr/>
          <p:nvPr/>
        </p:nvSpPr>
        <p:spPr>
          <a:xfrm>
            <a:off x="8169668" y="2434733"/>
            <a:ext cx="4717968"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クリティカルミネラルを取り巻く外部環境に、安定供給と効率的な供給の両面で応える</a:t>
            </a:r>
            <a:endParaRPr lang="en-US" sz="820" dirty="0"/>
          </a:p>
        </p:txBody>
      </p:sp>
      <p:sp>
        <p:nvSpPr>
          <p:cNvPr id="29" name="Text 27"/>
          <p:cNvSpPr/>
          <p:nvPr/>
        </p:nvSpPr>
        <p:spPr>
          <a:xfrm>
            <a:off x="8923753" y="3731461"/>
            <a:ext cx="651576" cy="152467"/>
          </a:xfrm>
          <a:prstGeom prst="rect">
            <a:avLst/>
          </a:prstGeom>
          <a:noFill/>
          <a:ln/>
        </p:spPr>
        <p:txBody>
          <a:bodyPr wrap="none" lIns="0" tIns="0" rIns="0" bIns="0" rtlCol="0" anchor="t"/>
          <a:lstStyle/>
          <a:p>
            <a:pPr algn="ctr" indent="0" marL="0">
              <a:lnSpc>
                <a:spcPts val="1200"/>
              </a:lnSpc>
              <a:buNone/>
            </a:pPr>
            <a:r>
              <a:rPr lang="en-US" sz="860" dirty="0">
                <a:solidFill>
                  <a:srgbClr val="23272C"/>
                </a:solidFill>
                <a:latin typeface="Noto Sans JP" pitchFamily="34" charset="0"/>
                <a:ea typeface="Noto Sans JP" pitchFamily="34" charset="-122"/>
                <a:cs typeface="Noto Sans JP" pitchFamily="34" charset="-120"/>
              </a:rPr>
              <a:t>需要の拡大</a:t>
            </a:r>
            <a:endParaRPr lang="en-US" sz="860" dirty="0"/>
          </a:p>
        </p:txBody>
      </p:sp>
      <p:sp>
        <p:nvSpPr>
          <p:cNvPr id="30" name="Text 28"/>
          <p:cNvSpPr/>
          <p:nvPr/>
        </p:nvSpPr>
        <p:spPr>
          <a:xfrm>
            <a:off x="8847976" y="3920139"/>
            <a:ext cx="803130" cy="236323"/>
          </a:xfrm>
          <a:prstGeom prst="rect">
            <a:avLst/>
          </a:prstGeom>
          <a:noFill/>
          <a:ln/>
        </p:spPr>
        <p:txBody>
          <a:bodyPr wrap="none" lIns="0" tIns="0" rIns="0" bIns="0" rtlCol="0" anchor="t"/>
          <a:lstStyle/>
          <a:p>
            <a:pPr algn="ctr"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人口増と電化による</a:t>
            </a:r>
            <a:endParaRPr lang="en-US" sz="600" dirty="0"/>
          </a:p>
          <a:p>
            <a:pPr algn="ctr"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産業構造の転換</a:t>
            </a:r>
            <a:endParaRPr lang="en-US" sz="600" dirty="0"/>
          </a:p>
        </p:txBody>
      </p:sp>
      <p:sp>
        <p:nvSpPr>
          <p:cNvPr id="31" name="Text 29"/>
          <p:cNvSpPr/>
          <p:nvPr/>
        </p:nvSpPr>
        <p:spPr>
          <a:xfrm>
            <a:off x="11080222" y="3731461"/>
            <a:ext cx="531469" cy="152467"/>
          </a:xfrm>
          <a:prstGeom prst="rect">
            <a:avLst/>
          </a:prstGeom>
          <a:noFill/>
          <a:ln/>
        </p:spPr>
        <p:txBody>
          <a:bodyPr wrap="none" lIns="0" tIns="0" rIns="0" bIns="0" rtlCol="0" anchor="t"/>
          <a:lstStyle/>
          <a:p>
            <a:pPr algn="ctr" indent="0" marL="0">
              <a:lnSpc>
                <a:spcPts val="1200"/>
              </a:lnSpc>
              <a:buNone/>
            </a:pPr>
            <a:r>
              <a:rPr lang="en-US" sz="860" dirty="0">
                <a:solidFill>
                  <a:srgbClr val="23272C"/>
                </a:solidFill>
                <a:latin typeface="Noto Sans JP" pitchFamily="34" charset="0"/>
                <a:ea typeface="Noto Sans JP" pitchFamily="34" charset="-122"/>
                <a:cs typeface="Noto Sans JP" pitchFamily="34" charset="-120"/>
              </a:rPr>
              <a:t>供給制約</a:t>
            </a:r>
            <a:endParaRPr lang="en-US" sz="860" dirty="0"/>
          </a:p>
        </p:txBody>
      </p:sp>
      <p:sp>
        <p:nvSpPr>
          <p:cNvPr id="32" name="Text 30"/>
          <p:cNvSpPr/>
          <p:nvPr/>
        </p:nvSpPr>
        <p:spPr>
          <a:xfrm>
            <a:off x="10988057" y="3920139"/>
            <a:ext cx="715997" cy="236323"/>
          </a:xfrm>
          <a:prstGeom prst="rect">
            <a:avLst/>
          </a:prstGeom>
          <a:noFill/>
          <a:ln/>
        </p:spPr>
        <p:txBody>
          <a:bodyPr wrap="none" lIns="0" tIns="0" rIns="0" bIns="0" rtlCol="0" anchor="t"/>
          <a:lstStyle/>
          <a:p>
            <a:pPr algn="ctr"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良質な資源の</a:t>
            </a:r>
            <a:endParaRPr lang="en-US" sz="600" dirty="0"/>
          </a:p>
          <a:p>
            <a:pPr algn="ctr"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開発がより困難に</a:t>
            </a:r>
            <a:endParaRPr lang="en-US" sz="600" dirty="0"/>
          </a:p>
        </p:txBody>
      </p:sp>
      <p:sp>
        <p:nvSpPr>
          <p:cNvPr id="33" name="Text 31"/>
          <p:cNvSpPr/>
          <p:nvPr/>
        </p:nvSpPr>
        <p:spPr>
          <a:xfrm>
            <a:off x="13056530" y="3731461"/>
            <a:ext cx="771683" cy="152467"/>
          </a:xfrm>
          <a:prstGeom prst="rect">
            <a:avLst/>
          </a:prstGeom>
          <a:noFill/>
          <a:ln/>
        </p:spPr>
        <p:txBody>
          <a:bodyPr wrap="none" lIns="0" tIns="0" rIns="0" bIns="0" rtlCol="0" anchor="t"/>
          <a:lstStyle/>
          <a:p>
            <a:pPr algn="ctr" indent="0" marL="0">
              <a:lnSpc>
                <a:spcPts val="1200"/>
              </a:lnSpc>
              <a:buNone/>
            </a:pPr>
            <a:r>
              <a:rPr lang="en-US" sz="860" dirty="0">
                <a:solidFill>
                  <a:srgbClr val="23272C"/>
                </a:solidFill>
                <a:latin typeface="Noto Sans JP" pitchFamily="34" charset="0"/>
                <a:ea typeface="Noto Sans JP" pitchFamily="34" charset="-122"/>
                <a:cs typeface="Noto Sans JP" pitchFamily="34" charset="-120"/>
              </a:rPr>
              <a:t>地政学リスク</a:t>
            </a:r>
            <a:endParaRPr lang="en-US" sz="860" dirty="0"/>
          </a:p>
        </p:txBody>
      </p:sp>
      <p:sp>
        <p:nvSpPr>
          <p:cNvPr id="34" name="Text 32"/>
          <p:cNvSpPr/>
          <p:nvPr/>
        </p:nvSpPr>
        <p:spPr>
          <a:xfrm>
            <a:off x="13081425" y="3920139"/>
            <a:ext cx="721894" cy="236323"/>
          </a:xfrm>
          <a:prstGeom prst="rect">
            <a:avLst/>
          </a:prstGeom>
          <a:noFill/>
          <a:ln/>
        </p:spPr>
        <p:txBody>
          <a:bodyPr wrap="none" lIns="0" tIns="0" rIns="0" bIns="0" rtlCol="0" anchor="t"/>
          <a:lstStyle/>
          <a:p>
            <a:pPr algn="ctr"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国際情勢の</a:t>
            </a:r>
            <a:endParaRPr lang="en-US" sz="600" dirty="0"/>
          </a:p>
          <a:p>
            <a:pPr algn="ctr"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不確実性が常態化</a:t>
            </a:r>
            <a:endParaRPr lang="en-US" sz="600" dirty="0"/>
          </a:p>
        </p:txBody>
      </p:sp>
      <p:sp>
        <p:nvSpPr>
          <p:cNvPr id="35" name="Text 33"/>
          <p:cNvSpPr/>
          <p:nvPr/>
        </p:nvSpPr>
        <p:spPr>
          <a:xfrm>
            <a:off x="9821042" y="5511953"/>
            <a:ext cx="3037123" cy="136331"/>
          </a:xfrm>
          <a:prstGeom prst="rect">
            <a:avLst/>
          </a:prstGeom>
          <a:noFill/>
          <a:ln/>
        </p:spPr>
        <p:txBody>
          <a:bodyPr wrap="none" lIns="0" tIns="0" rIns="0" bIns="0" rtlCol="0" anchor="t"/>
          <a:lstStyle/>
          <a:p>
            <a:pPr algn="ctr" indent="0" marL="0">
              <a:lnSpc>
                <a:spcPts val="1073"/>
              </a:lnSpc>
              <a:buNone/>
            </a:pPr>
            <a:r>
              <a:rPr lang="en-US" sz="740" dirty="0">
                <a:solidFill>
                  <a:srgbClr val="23272C"/>
                </a:solidFill>
                <a:latin typeface="Noto Sans JP" pitchFamily="34" charset="0"/>
                <a:ea typeface="Noto Sans JP" pitchFamily="34" charset="-122"/>
                <a:cs typeface="Noto Sans JP" pitchFamily="34" charset="-120"/>
              </a:rPr>
              <a:t>サプライチェーン確保の重要性と、川上資源への参入障壁が増大</a:t>
            </a:r>
            <a:endParaRPr lang="en-US" sz="740" dirty="0"/>
          </a:p>
        </p:txBody>
      </p:sp>
      <p:sp>
        <p:nvSpPr>
          <p:cNvPr id="36" name="Text 34"/>
          <p:cNvSpPr/>
          <p:nvPr/>
        </p:nvSpPr>
        <p:spPr>
          <a:xfrm>
            <a:off x="8169668" y="6120104"/>
            <a:ext cx="955557"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私たちの約束</a:t>
            </a:r>
            <a:endParaRPr lang="en-US" sz="820" dirty="0"/>
          </a:p>
        </p:txBody>
      </p:sp>
      <p:sp>
        <p:nvSpPr>
          <p:cNvPr id="37" name="Text 35"/>
          <p:cNvSpPr/>
          <p:nvPr/>
        </p:nvSpPr>
        <p:spPr>
          <a:xfrm>
            <a:off x="8169668" y="6350392"/>
            <a:ext cx="6663703" cy="552691"/>
          </a:xfrm>
          <a:prstGeom prst="rect">
            <a:avLst/>
          </a:prstGeom>
          <a:noFill/>
          <a:ln/>
        </p:spPr>
        <p:txBody>
          <a:bodyPr wrap="none" lIns="0" tIns="0" rIns="0" bIns="0" rtlCol="0" anchor="t"/>
          <a:lstStyle/>
          <a:p>
            <a:pPr algn="l" indent="0" marL="0">
              <a:lnSpc>
                <a:spcPts val="2175"/>
              </a:lnSpc>
              <a:buNone/>
            </a:pPr>
            <a:r>
              <a:rPr lang="en-US" sz="1500" spc="-20" kern="0" dirty="0">
                <a:solidFill>
                  <a:srgbClr val="23272C"/>
                </a:solidFill>
                <a:latin typeface="Noto Sans JP Light" pitchFamily="34" charset="0"/>
                <a:ea typeface="Noto Sans JP Light" pitchFamily="34" charset="-122"/>
                <a:cs typeface="Noto Sans JP Light" pitchFamily="34" charset="-120"/>
              </a:rPr>
              <a:t>「社会が必要とする良質な金属資源を、持続可能な形で安定供給するこ</a:t>
            </a:r>
            <a:endParaRPr lang="en-US" sz="1500" dirty="0"/>
          </a:p>
          <a:p>
            <a:pPr algn="l" indent="0" marL="0">
              <a:lnSpc>
                <a:spcPts val="2175"/>
              </a:lnSpc>
              <a:buNone/>
            </a:pPr>
            <a:r>
              <a:rPr lang="en-US" sz="1500" spc="-20" kern="0" dirty="0">
                <a:solidFill>
                  <a:srgbClr val="23272C"/>
                </a:solidFill>
                <a:latin typeface="Noto Sans JP Light" pitchFamily="34" charset="0"/>
                <a:ea typeface="Noto Sans JP Light" pitchFamily="34" charset="-122"/>
                <a:cs typeface="Noto Sans JP Light" pitchFamily="34" charset="-120"/>
              </a:rPr>
              <a:t>とで、より良い社会の実現に寄与する」</a:t>
            </a:r>
            <a:endParaRPr lang="en-US" sz="1500" dirty="0"/>
          </a:p>
        </p:txBody>
      </p:sp>
      <p:sp>
        <p:nvSpPr>
          <p:cNvPr id="38" name="Text 36"/>
          <p:cNvSpPr/>
          <p:nvPr/>
        </p:nvSpPr>
        <p:spPr>
          <a:xfrm>
            <a:off x="8169668" y="8779535"/>
            <a:ext cx="955557"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お問い合わせ</a:t>
            </a:r>
            <a:endParaRPr lang="en-US" sz="820" dirty="0"/>
          </a:p>
        </p:txBody>
      </p:sp>
      <p:sp>
        <p:nvSpPr>
          <p:cNvPr id="39" name="Text 37"/>
          <p:cNvSpPr/>
          <p:nvPr/>
        </p:nvSpPr>
        <p:spPr>
          <a:xfrm>
            <a:off x="8169668" y="9015223"/>
            <a:ext cx="1805697" cy="453588"/>
          </a:xfrm>
          <a:prstGeom prst="rect">
            <a:avLst/>
          </a:prstGeom>
          <a:noFill/>
          <a:ln/>
        </p:spPr>
        <p:txBody>
          <a:bodyPr wrap="none" lIns="0" tIns="0" rIns="0" bIns="0" rtlCol="0" anchor="t"/>
          <a:lstStyle/>
          <a:p>
            <a:pPr algn="l" indent="0" marL="0">
              <a:lnSpc>
                <a:spcPts val="1190"/>
              </a:lnSpc>
              <a:buNone/>
            </a:pPr>
            <a:r>
              <a:rPr lang="en-US" sz="700" dirty="0">
                <a:solidFill>
                  <a:srgbClr val="5D636A"/>
                </a:solidFill>
                <a:latin typeface="Noto Sans JP Light" pitchFamily="34" charset="0"/>
                <a:ea typeface="Noto Sans JP Light" pitchFamily="34" charset="-122"/>
                <a:cs typeface="Noto Sans JP Light" pitchFamily="34" charset="-120"/>
              </a:rPr>
              <a:t>三菱商事　金属資源グループ</a:t>
            </a:r>
            <a:endParaRPr lang="en-US" sz="700" dirty="0"/>
          </a:p>
          <a:p>
            <a:pPr algn="l" indent="0" marL="0">
              <a:lnSpc>
                <a:spcPts val="1190"/>
              </a:lnSpc>
              <a:buNone/>
            </a:pPr>
            <a:r>
              <a:rPr lang="en-US" sz="700" dirty="0">
                <a:solidFill>
                  <a:srgbClr val="5D636A"/>
                </a:solidFill>
                <a:latin typeface="Noto Sans JP Light" pitchFamily="34" charset="0"/>
                <a:ea typeface="Noto Sans JP Light" pitchFamily="34" charset="-122"/>
                <a:cs typeface="Noto Sans JP Light" pitchFamily="34" charset="-120"/>
              </a:rPr>
              <a:t>〒100-8086 東京都千代田区丸の内2-3-1</a:t>
            </a:r>
            <a:endParaRPr lang="en-US" sz="700" dirty="0"/>
          </a:p>
          <a:p>
            <a:pPr algn="l" indent="0" marL="0">
              <a:lnSpc>
                <a:spcPts val="1190"/>
              </a:lnSpc>
              <a:buNone/>
            </a:pPr>
            <a:r>
              <a:rPr lang="en-US" sz="700" dirty="0">
                <a:solidFill>
                  <a:srgbClr val="5D636A"/>
                </a:solidFill>
                <a:latin typeface="Noto Sans Light" pitchFamily="34" charset="0"/>
                <a:ea typeface="Noto Sans Light" pitchFamily="34" charset="-122"/>
                <a:cs typeface="Noto Sans Light" pitchFamily="34" charset="-120"/>
              </a:rPr>
              <a:t>www.mitsubishicorp.com</a:t>
            </a:r>
            <a:endParaRPr lang="en-US" sz="700" dirty="0"/>
          </a:p>
        </p:txBody>
      </p:sp>
      <p:sp>
        <p:nvSpPr>
          <p:cNvPr id="40" name="Text 38"/>
          <p:cNvSpPr/>
          <p:nvPr/>
        </p:nvSpPr>
        <p:spPr>
          <a:xfrm>
            <a:off x="609866"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10</a:t>
            </a:r>
            <a:endParaRPr lang="en-US" sz="620" dirty="0"/>
          </a:p>
        </p:txBody>
      </p:sp>
      <p:sp>
        <p:nvSpPr>
          <p:cNvPr id="41" name="Text 39"/>
          <p:cNvSpPr/>
          <p:nvPr/>
        </p:nvSpPr>
        <p:spPr>
          <a:xfrm>
            <a:off x="14357271"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11</a:t>
            </a:r>
            <a:endParaRPr lang="en-US" sz="6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2026-10-07T12:14:32Z</dcterms:created>
  <dcterms:modified xsi:type="dcterms:W3CDTF">2026-10-07T12:14:32Z</dcterms:modified>
</cp:coreProperties>
</file>