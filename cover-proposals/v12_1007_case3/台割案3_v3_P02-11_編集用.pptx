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559044"/>
            <a:ext cx="108636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Introduction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508222" y="698805"/>
            <a:ext cx="85532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導入｜社会と金属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508222" y="882273"/>
            <a:ext cx="5307366" cy="1451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spc="-14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Metals shape</a:t>
            </a:r>
            <a:endParaRPr lang="en-US" sz="5600" dirty="0"/>
          </a:p>
          <a:p>
            <a:pPr algn="l" indent="0" marL="0">
              <a:lnSpc>
                <a:spcPts val="5712"/>
              </a:lnSpc>
              <a:buNone/>
            </a:pPr>
            <a:r>
              <a:rPr lang="en-US" sz="5600" spc="-14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way we live.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8222" y="2610990"/>
            <a:ext cx="3063328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暮らしのすべてに、金属がある。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222" y="2938127"/>
            <a:ext cx="3544848" cy="68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ビル、鉄道、自動車、スマートフォン、送電網、再生可能エネルギー——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私たちの豊かな暮らしは、鉄や銅をはじめとする金属に支えられていま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す。人口の増加と新興国の発展、社会の電化によって、金属の需要はこれ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からも拡大を続けます。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3913309" y="2938127"/>
            <a:ext cx="3544848" cy="68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一方で、良質な資源の開発は年々難しくなり、供給の制約や地政学的なリ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スクが常態化しつつあります。社会が必要とする金属を、これからも持続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可能な形で届け続けること——それが、私たち金属資源グループの使命で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す。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068024" y="559044"/>
            <a:ext cx="109531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Core message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8068024" y="698805"/>
            <a:ext cx="74831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コアメッセージ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8068024" y="888118"/>
            <a:ext cx="4846810" cy="1173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spc="-88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</a:t>
            </a:r>
            <a:endParaRPr lang="en-US" sz="4400" dirty="0"/>
          </a:p>
          <a:p>
            <a:pPr algn="l" indent="0" marL="0">
              <a:lnSpc>
                <a:spcPts val="4620"/>
              </a:lnSpc>
              <a:buNone/>
            </a:pPr>
            <a:r>
              <a:rPr lang="en-US" sz="4400" spc="-88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Power to Connect.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68024" y="2156767"/>
            <a:ext cx="1930390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持つ力と、つなぐ力。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68024" y="2483554"/>
            <a:ext cx="7248516" cy="53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76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資源は、そこに「ある」だけでは、まだ価値ではありません。誰かが見出し、育て、必要とする場所へ届けて、はじめて力になる。私たちは、世界</a:t>
            </a:r>
            <a:endParaRPr lang="en-US" sz="760" dirty="0"/>
          </a:p>
          <a:p>
            <a:pPr algn="l" indent="0" marL="0">
              <a:lnSpc>
                <a:spcPts val="1406"/>
              </a:lnSpc>
              <a:buNone/>
            </a:pPr>
            <a:r>
              <a:rPr lang="en-US" sz="76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有数の資産に関わり、投資とトレーディングの両輪で川上から川下までをつなぎます。フェアな立場だからこそ、埋められる隙間がある。多様なパ</a:t>
            </a:r>
            <a:endParaRPr lang="en-US" sz="760" dirty="0"/>
          </a:p>
          <a:p>
            <a:pPr algn="l" indent="0" marL="0">
              <a:lnSpc>
                <a:spcPts val="1406"/>
              </a:lnSpc>
              <a:buNone/>
            </a:pPr>
            <a:r>
              <a:rPr lang="en-US" sz="76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ートナーと使い手の間に立ち、その時々の最適解を導く。世界に眠る価値を、社会の力へ。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27055" y="7496274"/>
            <a:ext cx="42599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Cities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997951" y="3862487"/>
            <a:ext cx="54500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A487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 · Cu · Al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2718988" y="7496274"/>
            <a:ext cx="59720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Mobility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3252571" y="4218242"/>
            <a:ext cx="71141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480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 · Cu · Li · Ni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5130183" y="6474383"/>
            <a:ext cx="74263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写真（ストック）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4802698" y="7496274"/>
            <a:ext cx="62056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Railways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5317779" y="4014954"/>
            <a:ext cx="3672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87796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 · Cu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6505241" y="7496274"/>
            <a:ext cx="82977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grids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7154148" y="4345298"/>
            <a:ext cx="35371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7A7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 · Al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8461896" y="7496274"/>
            <a:ext cx="79199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Renewables</a:t>
            </a:r>
            <a:endParaRPr lang="en-US" sz="580" dirty="0"/>
          </a:p>
        </p:txBody>
      </p:sp>
      <p:sp>
        <p:nvSpPr>
          <p:cNvPr id="23" name="Text 21"/>
          <p:cNvSpPr/>
          <p:nvPr/>
        </p:nvSpPr>
        <p:spPr>
          <a:xfrm>
            <a:off x="9104033" y="3913309"/>
            <a:ext cx="3672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6D6E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 · Fe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10746036" y="6474383"/>
            <a:ext cx="74263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写真（ストック）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10418551" y="7496274"/>
            <a:ext cx="53540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Devices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10857200" y="4142009"/>
            <a:ext cx="52011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61686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 · Li · Ni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2121094" y="7496274"/>
            <a:ext cx="4190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Trade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13246042" y="3786254"/>
            <a:ext cx="3672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5061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 · Cu</a:t>
            </a:r>
            <a:endParaRPr lang="en-US" sz="620" dirty="0"/>
          </a:p>
        </p:txBody>
      </p:sp>
      <p:sp>
        <p:nvSpPr>
          <p:cNvPr id="29" name="Text 27"/>
          <p:cNvSpPr/>
          <p:nvPr/>
        </p:nvSpPr>
        <p:spPr>
          <a:xfrm>
            <a:off x="508222" y="8284018"/>
            <a:ext cx="203630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world of rising demand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08222" y="8423779"/>
            <a:ext cx="155543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需要の拡大と、深まる供給の制約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3049332" y="8716007"/>
            <a:ext cx="43210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Demand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3049332" y="9503751"/>
            <a:ext cx="3724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F3A5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Supply</a:t>
            </a:r>
            <a:endParaRPr lang="en-US" sz="640" dirty="0"/>
          </a:p>
        </p:txBody>
      </p:sp>
      <p:sp>
        <p:nvSpPr>
          <p:cNvPr id="33" name="Text 31"/>
          <p:cNvSpPr/>
          <p:nvPr/>
        </p:nvSpPr>
        <p:spPr>
          <a:xfrm>
            <a:off x="2388643" y="9275051"/>
            <a:ext cx="32357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GAP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508222" y="10033318"/>
            <a:ext cx="72910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概念図（数値なし）</a:t>
            </a:r>
            <a:endParaRPr lang="en-US" sz="540" dirty="0"/>
          </a:p>
        </p:txBody>
      </p:sp>
      <p:sp>
        <p:nvSpPr>
          <p:cNvPr id="35" name="Text 33"/>
          <p:cNvSpPr/>
          <p:nvPr/>
        </p:nvSpPr>
        <p:spPr>
          <a:xfrm>
            <a:off x="3964131" y="8741418"/>
            <a:ext cx="74438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Demand shift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5209275" y="8736463"/>
            <a:ext cx="602442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需要の拡大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5209275" y="8900746"/>
            <a:ext cx="1432054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人口増・電化による産業構造の転換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3964131" y="9224229"/>
            <a:ext cx="103613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Supply constraints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5209275" y="9219274"/>
            <a:ext cx="492161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供給制約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209275" y="9383557"/>
            <a:ext cx="1255606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良質な資源の開発がより困難に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3964131" y="9707040"/>
            <a:ext cx="64480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Geopolitics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5209275" y="9702085"/>
            <a:ext cx="712940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地政学リスク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5209275" y="9866367"/>
            <a:ext cx="1516785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サプライチェーン確保の重要性が増大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8068024" y="8284018"/>
            <a:ext cx="77910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Contents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8068024" y="8423779"/>
            <a:ext cx="25194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8068024" y="8733477"/>
            <a:ext cx="251074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449190" y="8741418"/>
            <a:ext cx="712503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Who We Are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8449190" y="8900746"/>
            <a:ext cx="1275697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 金属資源グループとは</a:t>
            </a:r>
            <a:endParaRPr lang="en-US" sz="620" dirty="0"/>
          </a:p>
        </p:txBody>
      </p:sp>
      <p:sp>
        <p:nvSpPr>
          <p:cNvPr id="49" name="Text 47"/>
          <p:cNvSpPr/>
          <p:nvPr/>
        </p:nvSpPr>
        <p:spPr>
          <a:xfrm>
            <a:off x="10888656" y="8754124"/>
            <a:ext cx="305013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P.04</a:t>
            </a:r>
            <a:endParaRPr lang="en-US" sz="540" dirty="0"/>
          </a:p>
        </p:txBody>
      </p:sp>
      <p:sp>
        <p:nvSpPr>
          <p:cNvPr id="50" name="Text 48"/>
          <p:cNvSpPr/>
          <p:nvPr/>
        </p:nvSpPr>
        <p:spPr>
          <a:xfrm>
            <a:off x="8068024" y="9216288"/>
            <a:ext cx="293002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449190" y="9224229"/>
            <a:ext cx="80291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Our Strengths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8449190" y="9383557"/>
            <a:ext cx="656162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一級資産と歩み</a:t>
            </a:r>
            <a:endParaRPr lang="en-US" sz="620" dirty="0"/>
          </a:p>
        </p:txBody>
      </p:sp>
      <p:sp>
        <p:nvSpPr>
          <p:cNvPr id="53" name="Text 51"/>
          <p:cNvSpPr/>
          <p:nvPr/>
        </p:nvSpPr>
        <p:spPr>
          <a:xfrm>
            <a:off x="10888656" y="9236935"/>
            <a:ext cx="30108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P.05</a:t>
            </a:r>
            <a:endParaRPr lang="en-US" sz="540" dirty="0"/>
          </a:p>
        </p:txBody>
      </p:sp>
      <p:sp>
        <p:nvSpPr>
          <p:cNvPr id="54" name="Text 52"/>
          <p:cNvSpPr/>
          <p:nvPr/>
        </p:nvSpPr>
        <p:spPr>
          <a:xfrm>
            <a:off x="8068024" y="9699099"/>
            <a:ext cx="299116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449190" y="9707040"/>
            <a:ext cx="82234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Coal &amp; Copper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8449190" y="9866367"/>
            <a:ext cx="829117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原料炭事業・銅事業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10888656" y="9719745"/>
            <a:ext cx="30304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P.06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11396878" y="8733477"/>
            <a:ext cx="302174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1778044" y="8741418"/>
            <a:ext cx="130212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Footprint &amp; Technology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11778044" y="8900746"/>
            <a:ext cx="74263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事業領域と新技術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14217510" y="8754124"/>
            <a:ext cx="30304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P.08</a:t>
            </a:r>
            <a:endParaRPr lang="en-US" sz="540" dirty="0"/>
          </a:p>
        </p:txBody>
      </p:sp>
      <p:sp>
        <p:nvSpPr>
          <p:cNvPr id="62" name="Text 60"/>
          <p:cNvSpPr/>
          <p:nvPr/>
        </p:nvSpPr>
        <p:spPr>
          <a:xfrm>
            <a:off x="11396878" y="9216288"/>
            <a:ext cx="294967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1778044" y="9224229"/>
            <a:ext cx="99748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Partner of Choice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11778044" y="9383557"/>
            <a:ext cx="108701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パートナーシップと販売網</a:t>
            </a:r>
            <a:endParaRPr lang="en-US" sz="620" dirty="0"/>
          </a:p>
        </p:txBody>
      </p:sp>
      <p:sp>
        <p:nvSpPr>
          <p:cNvPr id="65" name="Text 63"/>
          <p:cNvSpPr/>
          <p:nvPr/>
        </p:nvSpPr>
        <p:spPr>
          <a:xfrm>
            <a:off x="14217510" y="9236935"/>
            <a:ext cx="30304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P.09</a:t>
            </a:r>
            <a:endParaRPr lang="en-US" sz="540" dirty="0"/>
          </a:p>
        </p:txBody>
      </p:sp>
      <p:sp>
        <p:nvSpPr>
          <p:cNvPr id="66" name="Text 64"/>
          <p:cNvSpPr/>
          <p:nvPr/>
        </p:nvSpPr>
        <p:spPr>
          <a:xfrm>
            <a:off x="11396878" y="9699099"/>
            <a:ext cx="298243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1778044" y="9707040"/>
            <a:ext cx="127744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Integrated Value Chain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11778044" y="9866367"/>
            <a:ext cx="134797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川上から川下まで／私たちの約束</a:t>
            </a:r>
            <a:endParaRPr lang="en-US" sz="620" dirty="0"/>
          </a:p>
        </p:txBody>
      </p:sp>
      <p:sp>
        <p:nvSpPr>
          <p:cNvPr id="69" name="Text 67"/>
          <p:cNvSpPr/>
          <p:nvPr/>
        </p:nvSpPr>
        <p:spPr>
          <a:xfrm>
            <a:off x="14217510" y="9719745"/>
            <a:ext cx="28230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P.10</a:t>
            </a:r>
            <a:endParaRPr lang="en-US" sz="540" dirty="0"/>
          </a:p>
        </p:txBody>
      </p:sp>
      <p:sp>
        <p:nvSpPr>
          <p:cNvPr id="70" name="Text 68"/>
          <p:cNvSpPr/>
          <p:nvPr/>
        </p:nvSpPr>
        <p:spPr>
          <a:xfrm>
            <a:off x="508222" y="10316906"/>
            <a:ext cx="20150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14458915" y="10316906"/>
            <a:ext cx="20237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876683" y="10328977"/>
            <a:ext cx="6075178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台割メモ｜動画01 OPENING。暮らしの場面の写真を1本のフィルムストリップに。各写真から金属のヘアライン（表紙案①のモチーフ）が立ち上がり、使われている金属を示す。</a:t>
            </a:r>
            <a:endParaRPr lang="en-US" sz="540" dirty="0"/>
          </a:p>
        </p:txBody>
      </p:sp>
      <p:sp>
        <p:nvSpPr>
          <p:cNvPr id="73" name="Text 71"/>
          <p:cNvSpPr/>
          <p:nvPr/>
        </p:nvSpPr>
        <p:spPr>
          <a:xfrm>
            <a:off x="8169668" y="10328977"/>
            <a:ext cx="5254082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台割メモ｜コアメッセージ全文と目次。下段は外部環境（需要の拡大・供給制約・地政学）を概念図と3項目で——冒頭で「なぜ私たちが必要か」を示す。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400" y="374814"/>
            <a:ext cx="1462846" cy="121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12000" spc="-600" kern="0" dirty="0">
                <a:solidFill>
                  <a:srgbClr val="ECEDEE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8222" y="1499255"/>
            <a:ext cx="123748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 · Who we are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508222" y="1639016"/>
            <a:ext cx="101539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　我々は何者か</a:t>
            </a:r>
            <a:endParaRPr lang="en-US" sz="660" dirty="0"/>
          </a:p>
        </p:txBody>
      </p:sp>
      <p:sp>
        <p:nvSpPr>
          <p:cNvPr id="5" name="Text 3"/>
          <p:cNvSpPr/>
          <p:nvPr/>
        </p:nvSpPr>
        <p:spPr>
          <a:xfrm>
            <a:off x="508222" y="1817148"/>
            <a:ext cx="3618005" cy="6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96"/>
              </a:lnSpc>
              <a:buNone/>
            </a:pPr>
            <a:r>
              <a:rPr lang="en-US" sz="4800" spc="-12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Who we are.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8222" y="2736458"/>
            <a:ext cx="2432656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 金属資源グループとは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8222" y="3065182"/>
            <a:ext cx="3544848" cy="68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三菱商事は、三綱領（所期奉公・処事光明・立業貿易）を企業理念に、経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済価値・環境価値・社会価値の同時実現を目指す総合商社です。エネルギ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ー、素材、金属資源、社会インフラ、モビリティ、食品産業、S.L.C.の7グ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ループで、世界の産業と暮らしを支えています。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3913309" y="3065182"/>
            <a:ext cx="3502920" cy="51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そのなかで金属資源グループは、社会に不可欠な金属資源を世界から確保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し、安定的に届ける役割を担っています。資源投資とトレーディングを両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輪に、原料炭と銅を中核として、全社としてコミットする事業領域です。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711511" y="4243654"/>
            <a:ext cx="114336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GROUP MISSION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711511" y="4410414"/>
            <a:ext cx="5277230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500" spc="60" kern="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社会が必要とする良質な金属資源を、持続可能な形で</a:t>
            </a:r>
            <a:endParaRPr lang="en-US" sz="15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500" spc="60" kern="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安定供給することで、より良い社会の実現に寄与する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1511" y="5000142"/>
            <a:ext cx="5577935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contribute to a better society by providing a stable supply of high-quality mineral resources that society needs, in a sustainable way.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508222" y="5590442"/>
            <a:ext cx="107566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Organization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508222" y="5730203"/>
            <a:ext cx="227127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投資を担う2本部と、トレーディングを担う1本部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3491108" y="5971608"/>
            <a:ext cx="56488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Group CEO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508222" y="6530652"/>
            <a:ext cx="92651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INVESTMENT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508222" y="6683119"/>
            <a:ext cx="93131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鉄鋼原料本部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8222" y="6880563"/>
            <a:ext cx="1149693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Steelmaking Raw Materials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508222" y="7086711"/>
            <a:ext cx="803348" cy="145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原料炭・鉄鉱石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08222" y="7261730"/>
            <a:ext cx="667736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MDP（原料炭）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2731693" y="6530652"/>
            <a:ext cx="92651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INVESTMENT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2731693" y="6683119"/>
            <a:ext cx="18035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クリティカルミネラル本部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31693" y="6880563"/>
            <a:ext cx="71010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Minerals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2731693" y="7086711"/>
            <a:ext cx="1904621" cy="145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銅・ニッケル・リチウム・アルミ ほか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2731693" y="7261730"/>
            <a:ext cx="1920345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MCI（南米の銅・鉄鉱石）・MCIP（ペルーの銅）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4955164" y="6530652"/>
            <a:ext cx="65594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1F3A5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TRADING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4955164" y="6683119"/>
            <a:ext cx="194895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金属資源トレーディング本部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5164" y="6880563"/>
            <a:ext cx="114226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Mineral Resources Trading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4955164" y="7086711"/>
            <a:ext cx="1490143" cy="145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RtM（Resource to Market）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4955164" y="7261730"/>
            <a:ext cx="208390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Triland Metals（LME・CMEのブローカー／ヘッジ）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508222" y="7572508"/>
            <a:ext cx="218960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Three corporate principles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508222" y="7712269"/>
            <a:ext cx="35261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三綱領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08222" y="7921910"/>
            <a:ext cx="1168911" cy="3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20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所期奉公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8222" y="8284018"/>
            <a:ext cx="170262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Corporate Responsibility to Society</a:t>
            </a:r>
            <a:endParaRPr lang="en-US" sz="640" dirty="0"/>
          </a:p>
        </p:txBody>
      </p:sp>
      <p:sp>
        <p:nvSpPr>
          <p:cNvPr id="34" name="Text 32"/>
          <p:cNvSpPr/>
          <p:nvPr/>
        </p:nvSpPr>
        <p:spPr>
          <a:xfrm>
            <a:off x="508222" y="8456051"/>
            <a:ext cx="2039797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事業を通じ、物心ともに豊かな社会の実現に努める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2731693" y="7921910"/>
            <a:ext cx="1168911" cy="3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20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処事光明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731693" y="8284018"/>
            <a:ext cx="106911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Integrity and Fairness</a:t>
            </a:r>
            <a:endParaRPr lang="en-US" sz="640" dirty="0"/>
          </a:p>
        </p:txBody>
      </p:sp>
      <p:sp>
        <p:nvSpPr>
          <p:cNvPr id="37" name="Text 35"/>
          <p:cNvSpPr/>
          <p:nvPr/>
        </p:nvSpPr>
        <p:spPr>
          <a:xfrm>
            <a:off x="2731693" y="8456051"/>
            <a:ext cx="1518532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公明正大で品格のある行動を旨とする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4955164" y="7921910"/>
            <a:ext cx="1168911" cy="3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20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立業貿易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5164" y="8284018"/>
            <a:ext cx="190134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Global Understanding through Business</a:t>
            </a:r>
            <a:endParaRPr lang="en-US" sz="640" dirty="0"/>
          </a:p>
        </p:txBody>
      </p:sp>
      <p:sp>
        <p:nvSpPr>
          <p:cNvPr id="40" name="Text 38"/>
          <p:cNvSpPr/>
          <p:nvPr/>
        </p:nvSpPr>
        <p:spPr>
          <a:xfrm>
            <a:off x="4955164" y="8456051"/>
            <a:ext cx="195331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全世界的、宇宙的視野に立脚した事業展開を図る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8017202" y="374814"/>
            <a:ext cx="1832120" cy="121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12000" spc="-600" kern="0" dirty="0">
                <a:solidFill>
                  <a:srgbClr val="ECEDEE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12000" dirty="0"/>
          </a:p>
        </p:txBody>
      </p:sp>
      <p:sp>
        <p:nvSpPr>
          <p:cNvPr id="42" name="Text 40"/>
          <p:cNvSpPr/>
          <p:nvPr/>
        </p:nvSpPr>
        <p:spPr>
          <a:xfrm>
            <a:off x="8068024" y="1499255"/>
            <a:ext cx="150673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· Our strengths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8068024" y="1639016"/>
            <a:ext cx="141742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　独自価値｜資産の強み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8068024" y="1824009"/>
            <a:ext cx="3620625" cy="11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Tier-1 assets</a:t>
            </a:r>
            <a:endParaRPr lang="en-US" sz="4400" dirty="0"/>
          </a:p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at the source.</a:t>
            </a:r>
            <a:endParaRPr lang="en-US" sz="4400" dirty="0"/>
          </a:p>
        </p:txBody>
      </p:sp>
      <p:sp>
        <p:nvSpPr>
          <p:cNvPr id="45" name="Text 43"/>
          <p:cNvSpPr/>
          <p:nvPr/>
        </p:nvSpPr>
        <p:spPr>
          <a:xfrm>
            <a:off x="8068024" y="3244680"/>
            <a:ext cx="3726101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バリューチェーンの起点で、一級資産を保有する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068024" y="3547993"/>
            <a:ext cx="3544848" cy="68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資源事業は規模の経済が働くビジネスです。大規模な鉱山ほどコスト競争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力が高い。私たちは規模で世界上位に入る優良鉱山に早くから参画し、い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までは資金があっても手に入らない資産のポートフォリオを築いてきまし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た。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11473111" y="3573404"/>
            <a:ext cx="3502920" cy="51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その中核が、原料炭と銅です。原料炭は寡占度の高い市場で圧倒的なプレ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ゼンスを、銅は寡占化が進まない市場で、協業可能なパートナーとして世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界最大級のポジションを持ちます。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12778567" y="4764581"/>
            <a:ext cx="1630122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80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Metallurgical Coal</a:t>
            </a:r>
            <a:pPr algn="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r" indent="0" marL="0">
              <a:lnSpc>
                <a:spcPts val="2000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BMA · Australia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112857" y="4764581"/>
            <a:ext cx="1297753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0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Copper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000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Copper World · USA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381030" y="7011875"/>
            <a:ext cx="1196644" cy="50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0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Copper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000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Chile · Peru</a:t>
            </a:r>
            <a:endParaRPr lang="en-US" sz="8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Escondida・Quellaveco ほか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68024" y="7894712"/>
            <a:ext cx="806405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 / 5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8068024" y="8329877"/>
            <a:ext cx="84724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TOP-15 MINES</a:t>
            </a:r>
            <a:endParaRPr lang="en-US" sz="580" dirty="0"/>
          </a:p>
        </p:txBody>
      </p:sp>
      <p:sp>
        <p:nvSpPr>
          <p:cNvPr id="53" name="Text 51"/>
          <p:cNvSpPr/>
          <p:nvPr/>
        </p:nvSpPr>
        <p:spPr>
          <a:xfrm>
            <a:off x="8068024" y="8463794"/>
            <a:ext cx="1633834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銅の主要5鉱山すべてが規模で世界Top15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10304201" y="7894712"/>
            <a:ext cx="1118247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~50%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10304201" y="8329877"/>
            <a:ext cx="139209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PREMIUM COKING COAL</a:t>
            </a:r>
            <a:endParaRPr lang="en-US" sz="580" dirty="0"/>
          </a:p>
        </p:txBody>
      </p:sp>
      <p:sp>
        <p:nvSpPr>
          <p:cNvPr id="56" name="Text 54"/>
          <p:cNvSpPr/>
          <p:nvPr/>
        </p:nvSpPr>
        <p:spPr>
          <a:xfrm>
            <a:off x="10304201" y="8463794"/>
            <a:ext cx="1787135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一級強粘炭の世界供給に占めるBMAのシェア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12540377" y="7894712"/>
            <a:ext cx="1149912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No.20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12540377" y="8329877"/>
            <a:ext cx="125167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EQUITY PRODUCTION</a:t>
            </a:r>
            <a:endParaRPr lang="en-US" sz="580" dirty="0"/>
          </a:p>
        </p:txBody>
      </p:sp>
      <p:sp>
        <p:nvSpPr>
          <p:cNvPr id="59" name="Text 57"/>
          <p:cNvSpPr/>
          <p:nvPr/>
        </p:nvSpPr>
        <p:spPr>
          <a:xfrm>
            <a:off x="12540377" y="8463794"/>
            <a:ext cx="1530542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銅の持分生産量で世界20位・日本最大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8068024" y="8868474"/>
            <a:ext cx="188933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OUR JOURNEY｜FORESIGHT</a:t>
            </a:r>
            <a:endParaRPr lang="en-US" sz="660" dirty="0"/>
          </a:p>
        </p:txBody>
      </p:sp>
      <p:sp>
        <p:nvSpPr>
          <p:cNvPr id="61" name="Text 59"/>
          <p:cNvSpPr/>
          <p:nvPr/>
        </p:nvSpPr>
        <p:spPr>
          <a:xfrm>
            <a:off x="9973856" y="8868474"/>
            <a:ext cx="262395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先見性——時代を先読みし、事業モデルを変え続けてきた</a:t>
            </a:r>
            <a:endParaRPr lang="en-US" sz="660" dirty="0"/>
          </a:p>
        </p:txBody>
      </p:sp>
      <p:sp>
        <p:nvSpPr>
          <p:cNvPr id="62" name="Text 60"/>
          <p:cNvSpPr/>
          <p:nvPr/>
        </p:nvSpPr>
        <p:spPr>
          <a:xfrm>
            <a:off x="508222" y="9501528"/>
            <a:ext cx="909479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1980s–90s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364457" y="9524207"/>
            <a:ext cx="1146636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トレーディングで参入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508222" y="9728576"/>
            <a:ext cx="2987551" cy="24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日本が世界最大の消費国だった時代。資源を日本へ運ぶ役割から始まり、少</a:t>
            </a:r>
            <a:endParaRPr lang="en-US" sz="620" dirty="0"/>
          </a:p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数株主として出資。</a:t>
            </a:r>
            <a:endParaRPr lang="en-US" sz="620" dirty="0"/>
          </a:p>
        </p:txBody>
      </p:sp>
      <p:sp>
        <p:nvSpPr>
          <p:cNvPr id="65" name="Text 63"/>
          <p:cNvSpPr/>
          <p:nvPr/>
        </p:nvSpPr>
        <p:spPr>
          <a:xfrm>
            <a:off x="3379676" y="9501528"/>
            <a:ext cx="522297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1990s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3900604" y="9524207"/>
            <a:ext cx="712940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投資モデルへ</a:t>
            </a:r>
            <a:endParaRPr lang="en-US" sz="760" dirty="0"/>
          </a:p>
        </p:txBody>
      </p:sp>
      <p:sp>
        <p:nvSpPr>
          <p:cNvPr id="67" name="Text 65"/>
          <p:cNvSpPr/>
          <p:nvPr/>
        </p:nvSpPr>
        <p:spPr>
          <a:xfrm>
            <a:off x="3379676" y="9728576"/>
            <a:ext cx="2996286" cy="24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口銭モデルから投資モデルへ。JV運営の知見を蓄積し、事業経営へと舵を切</a:t>
            </a:r>
            <a:endParaRPr lang="en-US" sz="620" dirty="0"/>
          </a:p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る。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6251130" y="9501528"/>
            <a:ext cx="566191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2000s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772058" y="9524207"/>
            <a:ext cx="1034391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BHPと50:50のBMA</a:t>
            </a:r>
            <a:endParaRPr lang="en-US" sz="760" dirty="0"/>
          </a:p>
        </p:txBody>
      </p:sp>
      <p:sp>
        <p:nvSpPr>
          <p:cNvPr id="70" name="Text 68"/>
          <p:cNvSpPr/>
          <p:nvPr/>
        </p:nvSpPr>
        <p:spPr>
          <a:xfrm>
            <a:off x="6251130" y="9728576"/>
            <a:ext cx="2930336" cy="12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2001年にBMAを組成。中国の成長を捉え、一級原料炭資産の経営に参画。</a:t>
            </a:r>
            <a:endParaRPr lang="en-US" sz="620" dirty="0"/>
          </a:p>
        </p:txBody>
      </p:sp>
      <p:sp>
        <p:nvSpPr>
          <p:cNvPr id="71" name="Text 69"/>
          <p:cNvSpPr/>
          <p:nvPr/>
        </p:nvSpPr>
        <p:spPr>
          <a:xfrm>
            <a:off x="9122585" y="9501528"/>
            <a:ext cx="52164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2010s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643512" y="9524207"/>
            <a:ext cx="823220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銅の権益を拡大</a:t>
            </a:r>
            <a:endParaRPr lang="en-US" sz="760" dirty="0"/>
          </a:p>
        </p:txBody>
      </p:sp>
      <p:sp>
        <p:nvSpPr>
          <p:cNvPr id="73" name="Text 71"/>
          <p:cNvSpPr/>
          <p:nvPr/>
        </p:nvSpPr>
        <p:spPr>
          <a:xfrm>
            <a:off x="9122585" y="9728576"/>
            <a:ext cx="2931865" cy="24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「原料炭だけでよいのか」という問いから銅へ。Anglo Americanと組み大</a:t>
            </a:r>
            <a:endParaRPr lang="en-US" sz="620" dirty="0"/>
          </a:p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型化。</a:t>
            </a:r>
            <a:endParaRPr lang="en-US" sz="620" dirty="0"/>
          </a:p>
        </p:txBody>
      </p:sp>
      <p:sp>
        <p:nvSpPr>
          <p:cNvPr id="74" name="Text 72"/>
          <p:cNvSpPr/>
          <p:nvPr/>
        </p:nvSpPr>
        <p:spPr>
          <a:xfrm>
            <a:off x="11994039" y="9501528"/>
            <a:ext cx="55789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2020s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2514966" y="9524207"/>
            <a:ext cx="1263468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グローバルトレーダーへ</a:t>
            </a:r>
            <a:endParaRPr lang="en-US" sz="760" dirty="0"/>
          </a:p>
        </p:txBody>
      </p:sp>
      <p:sp>
        <p:nvSpPr>
          <p:cNvPr id="76" name="Text 74"/>
          <p:cNvSpPr/>
          <p:nvPr/>
        </p:nvSpPr>
        <p:spPr>
          <a:xfrm>
            <a:off x="11994039" y="9728576"/>
            <a:ext cx="2274551" cy="12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各地のマーケティングをRtMとしてシンガポールに集約。</a:t>
            </a:r>
            <a:endParaRPr lang="en-US" sz="620" dirty="0"/>
          </a:p>
        </p:txBody>
      </p:sp>
      <p:sp>
        <p:nvSpPr>
          <p:cNvPr id="77" name="Text 75"/>
          <p:cNvSpPr/>
          <p:nvPr/>
        </p:nvSpPr>
        <p:spPr>
          <a:xfrm>
            <a:off x="508222" y="10316906"/>
            <a:ext cx="20477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14458915" y="10316906"/>
            <a:ext cx="20041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876683" y="10328977"/>
            <a:ext cx="6164713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台割メモ｜動画02 Who we are。大きな章番号と2段組の本文、ミッションを引用として大きく。組織は箱を使わず色の罫で投資（ブロンズ）／トレーディング（ネイビー）を区別。</a:t>
            </a:r>
            <a:endParaRPr lang="en-US" sz="540" dirty="0"/>
          </a:p>
        </p:txBody>
      </p:sp>
      <p:sp>
        <p:nvSpPr>
          <p:cNvPr id="80" name="Text 78"/>
          <p:cNvSpPr/>
          <p:nvPr/>
        </p:nvSpPr>
        <p:spPr>
          <a:xfrm>
            <a:off x="8169668" y="10328977"/>
            <a:ext cx="6133267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台割メモ｜動画03 Our Strengths。カラーのヘアライン世界地図（表紙案①のモチーフ）から一級資産の位置が立ち上がる。最下段の「歩み」はヘアラインの帯で見開きをつなぐ。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508222"/>
            <a:ext cx="190636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 · Metallurgical coal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8068024" y="508222"/>
            <a:ext cx="91188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 · Copper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508222" y="3167494"/>
            <a:ext cx="2612380" cy="86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40"/>
              </a:lnSpc>
              <a:buNone/>
            </a:pPr>
            <a:r>
              <a:rPr lang="en-US" sz="7200" spc="-216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~50%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049332" y="3373641"/>
            <a:ext cx="1480752" cy="35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一級強粘炭の世界供給に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占めるBMAのシェア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68024" y="3167494"/>
            <a:ext cx="1793904" cy="86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40"/>
              </a:lnSpc>
              <a:buNone/>
            </a:pPr>
            <a:r>
              <a:rPr lang="en-US" sz="7200" spc="-216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No.1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202556" y="3373641"/>
            <a:ext cx="1996776" cy="35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自社操業を伴わない参画者として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世界最大の銅生産者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8222" y="4798886"/>
            <a:ext cx="3262051" cy="77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World-class</a:t>
            </a:r>
            <a:endParaRPr lang="en-US" sz="3000" dirty="0"/>
          </a:p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metallurgical coal.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8222" y="5785790"/>
            <a:ext cx="4442158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原料炭事業｜鉄の主原料“産業のコメ”を、世界最高品位で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8222" y="6114514"/>
            <a:ext cx="3544848" cy="857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BHPと50:50の合弁であるBMA（BHP Mitsubishi Alliance）を通じ、豪州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クイーンズランド州ボーエン・ベースンで世界最高品位の原料炭事業に参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画しています。炭鉱に加えて港湾と鉄道までを保有し、山から港まで全体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最適で運営。保有鉱山を高品位のものに集約し、高品位原料の供給を通じ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て鉄鋼業の脱炭素にも貢献しています。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4243654" y="6114546"/>
            <a:ext cx="184250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3176" y="6130301"/>
            <a:ext cx="1627065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世界最高品位の原料炭を保有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4243654" y="6571946"/>
            <a:ext cx="212203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3176" y="6587700"/>
            <a:ext cx="1999179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原料炭は鉄の主原料＝“産業のコメ”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4243654" y="7029345"/>
            <a:ext cx="216352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3176" y="7045100"/>
            <a:ext cx="1748264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鉄は今後も底堅く必要とされる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4243654" y="7486745"/>
            <a:ext cx="218317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3176" y="7502500"/>
            <a:ext cx="1259755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ゆえに、社会に不可欠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8222" y="8131552"/>
            <a:ext cx="85270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OWNERSHIP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508222" y="8427591"/>
            <a:ext cx="514873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78777" y="8436485"/>
            <a:ext cx="26810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MDP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>
            <a:off x="1778777" y="8843063"/>
            <a:ext cx="24648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BHP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2795221" y="8606739"/>
            <a:ext cx="517711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BMA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23022" y="8356186"/>
            <a:ext cx="245833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100%</a:t>
            </a:r>
            <a:endParaRPr lang="en-US" sz="540" dirty="0"/>
          </a:p>
        </p:txBody>
      </p:sp>
      <p:sp>
        <p:nvSpPr>
          <p:cNvPr id="25" name="Text 23"/>
          <p:cNvSpPr/>
          <p:nvPr/>
        </p:nvSpPr>
        <p:spPr>
          <a:xfrm>
            <a:off x="2261588" y="8356186"/>
            <a:ext cx="203904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</a:t>
            </a:r>
            <a:endParaRPr lang="en-US" sz="540" dirty="0"/>
          </a:p>
        </p:txBody>
      </p:sp>
      <p:sp>
        <p:nvSpPr>
          <p:cNvPr id="26" name="Text 24"/>
          <p:cNvSpPr/>
          <p:nvPr/>
        </p:nvSpPr>
        <p:spPr>
          <a:xfrm>
            <a:off x="2261588" y="8966052"/>
            <a:ext cx="203904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3684609" y="8182374"/>
            <a:ext cx="30981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Since</a:t>
            </a:r>
            <a:endParaRPr lang="en-US" sz="640" dirty="0"/>
          </a:p>
        </p:txBody>
      </p:sp>
      <p:sp>
        <p:nvSpPr>
          <p:cNvPr id="28" name="Text 26"/>
          <p:cNvSpPr/>
          <p:nvPr/>
        </p:nvSpPr>
        <p:spPr>
          <a:xfrm>
            <a:off x="4383415" y="8164269"/>
            <a:ext cx="1742586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1968年 MDP設立／2001年 BMA組成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84609" y="8372957"/>
            <a:ext cx="45263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Location</a:t>
            </a:r>
            <a:endParaRPr lang="en-US" sz="640" dirty="0"/>
          </a:p>
        </p:txBody>
      </p:sp>
      <p:sp>
        <p:nvSpPr>
          <p:cNvPr id="30" name="Text 28"/>
          <p:cNvSpPr/>
          <p:nvPr/>
        </p:nvSpPr>
        <p:spPr>
          <a:xfrm>
            <a:off x="4383415" y="8354852"/>
            <a:ext cx="1839327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豪州クイーンズランド州 Bowen Basin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84609" y="8563540"/>
            <a:ext cx="36550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Assets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4383415" y="8545435"/>
            <a:ext cx="1916414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炭鉱5（露天掘4・坑内掘1）・港湾・鉄道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84609" y="8754124"/>
            <a:ext cx="45154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Mine life</a:t>
            </a:r>
            <a:endParaRPr lang="en-US" sz="640" dirty="0"/>
          </a:p>
        </p:txBody>
      </p:sp>
      <p:sp>
        <p:nvSpPr>
          <p:cNvPr id="34" name="Text 32"/>
          <p:cNvSpPr/>
          <p:nvPr/>
        </p:nvSpPr>
        <p:spPr>
          <a:xfrm>
            <a:off x="4383415" y="8736018"/>
            <a:ext cx="476875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60年以上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84609" y="8944707"/>
            <a:ext cx="497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Seaborne</a:t>
            </a:r>
            <a:endParaRPr lang="en-US" sz="640" dirty="0"/>
          </a:p>
        </p:txBody>
      </p:sp>
      <p:sp>
        <p:nvSpPr>
          <p:cNvPr id="36" name="Text 34"/>
          <p:cNvSpPr/>
          <p:nvPr/>
        </p:nvSpPr>
        <p:spPr>
          <a:xfrm>
            <a:off x="4383415" y="8926601"/>
            <a:ext cx="1721403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原料炭の海上輸出市場シェア 約20%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068024" y="4798886"/>
            <a:ext cx="5779060" cy="77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world's largest</a:t>
            </a:r>
            <a:endParaRPr lang="en-US" sz="3000" dirty="0"/>
          </a:p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non-operating copper producer.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068024" y="5785790"/>
            <a:ext cx="4909702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銅事業｜自社操業を伴わずに、世界最大級の銅ポジションを築く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068024" y="6114514"/>
            <a:ext cx="3544848" cy="857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銅は原料炭に比べてプレイヤーが多く、寡占化が進んでいない市場です。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私たちは規模で世界上位15に入る優良鉱山に複数参画し、日本最大・世界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第20位の持分生産量を有します。特定の1社に偏らず主要メジャーのほぼ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すべてと協業し、販売を通じた幅広い関係から、新しい案件で“声がかか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る存在”であり続けています。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11523933" y="6098664"/>
            <a:ext cx="99595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EARLY MOVER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12438733" y="6098664"/>
            <a:ext cx="95577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主要鉱山への参画年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1764346" y="6321265"/>
            <a:ext cx="22901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1990</a:t>
            </a:r>
            <a:endParaRPr lang="en-US" sz="560" dirty="0"/>
          </a:p>
        </p:txBody>
      </p:sp>
      <p:sp>
        <p:nvSpPr>
          <p:cNvPr id="43" name="Text 41"/>
          <p:cNvSpPr/>
          <p:nvPr/>
        </p:nvSpPr>
        <p:spPr>
          <a:xfrm>
            <a:off x="12499481" y="6321265"/>
            <a:ext cx="24648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</a:t>
            </a:r>
            <a:endParaRPr lang="en-US" sz="560" dirty="0"/>
          </a:p>
        </p:txBody>
      </p:sp>
      <p:sp>
        <p:nvSpPr>
          <p:cNvPr id="44" name="Text 42"/>
          <p:cNvSpPr/>
          <p:nvPr/>
        </p:nvSpPr>
        <p:spPr>
          <a:xfrm>
            <a:off x="13234617" y="6321265"/>
            <a:ext cx="22901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2010</a:t>
            </a:r>
            <a:endParaRPr lang="en-US" sz="560" dirty="0"/>
          </a:p>
        </p:txBody>
      </p:sp>
      <p:sp>
        <p:nvSpPr>
          <p:cNvPr id="45" name="Text 43"/>
          <p:cNvSpPr/>
          <p:nvPr/>
        </p:nvSpPr>
        <p:spPr>
          <a:xfrm>
            <a:off x="13969752" y="6321265"/>
            <a:ext cx="244959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</a:t>
            </a:r>
            <a:endParaRPr lang="en-US" sz="560" dirty="0"/>
          </a:p>
        </p:txBody>
      </p:sp>
      <p:sp>
        <p:nvSpPr>
          <p:cNvPr id="46" name="Text 44"/>
          <p:cNvSpPr/>
          <p:nvPr/>
        </p:nvSpPr>
        <p:spPr>
          <a:xfrm>
            <a:off x="11820529" y="6657708"/>
            <a:ext cx="109138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Escondida</a:t>
            </a:r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20" spc="3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Chile・1988</a:t>
            </a:r>
            <a:endParaRPr lang="en-US" sz="640" dirty="0"/>
          </a:p>
        </p:txBody>
      </p:sp>
      <p:sp>
        <p:nvSpPr>
          <p:cNvPr id="47" name="Text 45"/>
          <p:cNvSpPr/>
          <p:nvPr/>
        </p:nvSpPr>
        <p:spPr>
          <a:xfrm>
            <a:off x="12482210" y="6822880"/>
            <a:ext cx="129032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Los Pelambres</a:t>
            </a:r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20" spc="3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Chile・1997</a:t>
            </a:r>
            <a:endParaRPr lang="en-US" sz="640" dirty="0"/>
          </a:p>
        </p:txBody>
      </p:sp>
      <p:sp>
        <p:nvSpPr>
          <p:cNvPr id="48" name="Text 46"/>
          <p:cNvSpPr/>
          <p:nvPr/>
        </p:nvSpPr>
        <p:spPr>
          <a:xfrm>
            <a:off x="12629316" y="6988052"/>
            <a:ext cx="102783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Antamina</a:t>
            </a:r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20" spc="3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Peru・1999</a:t>
            </a:r>
            <a:endParaRPr lang="en-US" sz="640" dirty="0"/>
          </a:p>
        </p:txBody>
      </p:sp>
      <p:sp>
        <p:nvSpPr>
          <p:cNvPr id="49" name="Text 47"/>
          <p:cNvSpPr/>
          <p:nvPr/>
        </p:nvSpPr>
        <p:spPr>
          <a:xfrm>
            <a:off x="13511359" y="7153224"/>
            <a:ext cx="154189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Anglo American Sur</a:t>
            </a:r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20" spc="3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Chile・2011</a:t>
            </a:r>
            <a:endParaRPr lang="en-US" sz="640" dirty="0"/>
          </a:p>
        </p:txBody>
      </p:sp>
      <p:sp>
        <p:nvSpPr>
          <p:cNvPr id="50" name="Text 48"/>
          <p:cNvSpPr/>
          <p:nvPr/>
        </p:nvSpPr>
        <p:spPr>
          <a:xfrm>
            <a:off x="13511359" y="7318397"/>
            <a:ext cx="1106673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Quellaveco</a:t>
            </a:r>
            <a:pPr algn="l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20" spc="3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Peru・2011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12812375" y="7483569"/>
            <a:ext cx="142856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Marimaca</a:t>
            </a:r>
            <a:pPr algn="r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r" indent="0" marL="0">
              <a:lnSpc>
                <a:spcPts val="900"/>
              </a:lnSpc>
              <a:buNone/>
            </a:pPr>
            <a:r>
              <a:rPr lang="en-US" sz="620" spc="3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Chile・開発中・2023</a:t>
            </a:r>
            <a:endParaRPr lang="en-US" sz="640" dirty="0"/>
          </a:p>
        </p:txBody>
      </p:sp>
      <p:sp>
        <p:nvSpPr>
          <p:cNvPr id="52" name="Text 50"/>
          <p:cNvSpPr/>
          <p:nvPr/>
        </p:nvSpPr>
        <p:spPr>
          <a:xfrm>
            <a:off x="12819066" y="7648741"/>
            <a:ext cx="156897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Copper World</a:t>
            </a:r>
            <a:pPr algn="r" indent="0" marL="0">
              <a:lnSpc>
                <a:spcPts val="9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r" indent="0" marL="0">
              <a:lnSpc>
                <a:spcPts val="900"/>
              </a:lnSpc>
              <a:buNone/>
            </a:pPr>
            <a:r>
              <a:rPr lang="en-US" sz="620" spc="3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USA・開発中・2025</a:t>
            </a:r>
            <a:endParaRPr lang="en-US" sz="640" dirty="0"/>
          </a:p>
        </p:txBody>
      </p:sp>
      <p:sp>
        <p:nvSpPr>
          <p:cNvPr id="53" name="Text 51"/>
          <p:cNvSpPr/>
          <p:nvPr/>
        </p:nvSpPr>
        <p:spPr>
          <a:xfrm>
            <a:off x="8068024" y="8055318"/>
            <a:ext cx="190702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COPPER PRODUCTION 2025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9973856" y="8055318"/>
            <a:ext cx="128596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会社別 世界銅生産量（kt）</a:t>
            </a:r>
            <a:endParaRPr lang="en-US" sz="660" dirty="0"/>
          </a:p>
        </p:txBody>
      </p:sp>
      <p:sp>
        <p:nvSpPr>
          <p:cNvPr id="55" name="Text 53"/>
          <p:cNvSpPr/>
          <p:nvPr/>
        </p:nvSpPr>
        <p:spPr>
          <a:xfrm>
            <a:off x="8796211" y="8239549"/>
            <a:ext cx="33907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#1 BHP</a:t>
            </a:r>
            <a:endParaRPr lang="en-US" sz="560" dirty="0"/>
          </a:p>
        </p:txBody>
      </p:sp>
      <p:sp>
        <p:nvSpPr>
          <p:cNvPr id="56" name="Text 54"/>
          <p:cNvSpPr/>
          <p:nvPr/>
        </p:nvSpPr>
        <p:spPr>
          <a:xfrm>
            <a:off x="12464144" y="8239549"/>
            <a:ext cx="25041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1,501</a:t>
            </a:r>
            <a:endParaRPr lang="en-US" sz="540" dirty="0"/>
          </a:p>
        </p:txBody>
      </p:sp>
      <p:sp>
        <p:nvSpPr>
          <p:cNvPr id="57" name="Text 55"/>
          <p:cNvSpPr/>
          <p:nvPr/>
        </p:nvSpPr>
        <p:spPr>
          <a:xfrm>
            <a:off x="8612556" y="8361443"/>
            <a:ext cx="522734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#2 Codelco</a:t>
            </a:r>
            <a:endParaRPr lang="en-US" sz="560" dirty="0"/>
          </a:p>
        </p:txBody>
      </p:sp>
      <p:sp>
        <p:nvSpPr>
          <p:cNvPr id="58" name="Text 56"/>
          <p:cNvSpPr/>
          <p:nvPr/>
        </p:nvSpPr>
        <p:spPr>
          <a:xfrm>
            <a:off x="12318030" y="8361443"/>
            <a:ext cx="26919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1,432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8600109" y="8483337"/>
            <a:ext cx="53518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#3 Freeport</a:t>
            </a:r>
            <a:endParaRPr lang="en-US" sz="560" dirty="0"/>
          </a:p>
        </p:txBody>
      </p:sp>
      <p:sp>
        <p:nvSpPr>
          <p:cNvPr id="60" name="Text 58"/>
          <p:cNvSpPr/>
          <p:nvPr/>
        </p:nvSpPr>
        <p:spPr>
          <a:xfrm>
            <a:off x="11613269" y="8483337"/>
            <a:ext cx="26745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1,099</a:t>
            </a:r>
            <a:endParaRPr lang="en-US" sz="540" dirty="0"/>
          </a:p>
        </p:txBody>
      </p:sp>
      <p:sp>
        <p:nvSpPr>
          <p:cNvPr id="61" name="Text 59"/>
          <p:cNvSpPr/>
          <p:nvPr/>
        </p:nvSpPr>
        <p:spPr>
          <a:xfrm>
            <a:off x="8245902" y="8605429"/>
            <a:ext cx="88938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#4 Southern Copper</a:t>
            </a:r>
            <a:endParaRPr lang="en-US" sz="560" dirty="0"/>
          </a:p>
        </p:txBody>
      </p:sp>
      <p:sp>
        <p:nvSpPr>
          <p:cNvPr id="62" name="Text 60"/>
          <p:cNvSpPr/>
          <p:nvPr/>
        </p:nvSpPr>
        <p:spPr>
          <a:xfrm>
            <a:off x="11293844" y="8605429"/>
            <a:ext cx="207835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948</a:t>
            </a:r>
            <a:endParaRPr lang="en-US" sz="540" dirty="0"/>
          </a:p>
        </p:txBody>
      </p:sp>
      <p:sp>
        <p:nvSpPr>
          <p:cNvPr id="63" name="Text 61"/>
          <p:cNvSpPr/>
          <p:nvPr/>
        </p:nvSpPr>
        <p:spPr>
          <a:xfrm>
            <a:off x="8473232" y="8727323"/>
            <a:ext cx="66205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#5 Zijin Mining</a:t>
            </a:r>
            <a:endParaRPr lang="en-US" sz="560" dirty="0"/>
          </a:p>
        </p:txBody>
      </p:sp>
      <p:sp>
        <p:nvSpPr>
          <p:cNvPr id="64" name="Text 62"/>
          <p:cNvSpPr/>
          <p:nvPr/>
        </p:nvSpPr>
        <p:spPr>
          <a:xfrm>
            <a:off x="11086386" y="8727323"/>
            <a:ext cx="204996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850</a:t>
            </a:r>
            <a:endParaRPr lang="en-US" sz="540" dirty="0"/>
          </a:p>
        </p:txBody>
      </p:sp>
      <p:sp>
        <p:nvSpPr>
          <p:cNvPr id="65" name="Text 63"/>
          <p:cNvSpPr/>
          <p:nvPr/>
        </p:nvSpPr>
        <p:spPr>
          <a:xfrm>
            <a:off x="8580018" y="8849415"/>
            <a:ext cx="55527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#6 Glencore</a:t>
            </a:r>
            <a:endParaRPr lang="en-US" sz="560" dirty="0"/>
          </a:p>
        </p:txBody>
      </p:sp>
      <p:sp>
        <p:nvSpPr>
          <p:cNvPr id="66" name="Text 64"/>
          <p:cNvSpPr/>
          <p:nvPr/>
        </p:nvSpPr>
        <p:spPr>
          <a:xfrm>
            <a:off x="11005984" y="8849415"/>
            <a:ext cx="18861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812</a:t>
            </a:r>
            <a:endParaRPr lang="en-US" sz="540" dirty="0"/>
          </a:p>
        </p:txBody>
      </p:sp>
      <p:sp>
        <p:nvSpPr>
          <p:cNvPr id="67" name="Text 65"/>
          <p:cNvSpPr/>
          <p:nvPr/>
        </p:nvSpPr>
        <p:spPr>
          <a:xfrm>
            <a:off x="8589408" y="8971309"/>
            <a:ext cx="54588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#7 Rio Tinto</a:t>
            </a:r>
            <a:endParaRPr lang="en-US" sz="560" dirty="0"/>
          </a:p>
        </p:txBody>
      </p:sp>
      <p:sp>
        <p:nvSpPr>
          <p:cNvPr id="68" name="Text 66"/>
          <p:cNvSpPr/>
          <p:nvPr/>
        </p:nvSpPr>
        <p:spPr>
          <a:xfrm>
            <a:off x="10853716" y="8971309"/>
            <a:ext cx="20019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740</a:t>
            </a:r>
            <a:endParaRPr lang="en-US" sz="540" dirty="0"/>
          </a:p>
        </p:txBody>
      </p:sp>
      <p:sp>
        <p:nvSpPr>
          <p:cNvPr id="69" name="Text 67"/>
          <p:cNvSpPr/>
          <p:nvPr/>
        </p:nvSpPr>
        <p:spPr>
          <a:xfrm>
            <a:off x="8489828" y="9093203"/>
            <a:ext cx="64546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#8 China Moly</a:t>
            </a:r>
            <a:endParaRPr lang="en-US" sz="560" dirty="0"/>
          </a:p>
        </p:txBody>
      </p:sp>
      <p:sp>
        <p:nvSpPr>
          <p:cNvPr id="70" name="Text 68"/>
          <p:cNvSpPr/>
          <p:nvPr/>
        </p:nvSpPr>
        <p:spPr>
          <a:xfrm>
            <a:off x="10468579" y="9093203"/>
            <a:ext cx="201720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558</a:t>
            </a:r>
            <a:endParaRPr lang="en-US" sz="540" dirty="0"/>
          </a:p>
        </p:txBody>
      </p:sp>
      <p:sp>
        <p:nvSpPr>
          <p:cNvPr id="71" name="Text 69"/>
          <p:cNvSpPr/>
          <p:nvPr/>
        </p:nvSpPr>
        <p:spPr>
          <a:xfrm>
            <a:off x="8695976" y="9215295"/>
            <a:ext cx="439314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#9 KGHM</a:t>
            </a:r>
            <a:endParaRPr lang="en-US" sz="560" dirty="0"/>
          </a:p>
        </p:txBody>
      </p:sp>
      <p:sp>
        <p:nvSpPr>
          <p:cNvPr id="72" name="Text 70"/>
          <p:cNvSpPr/>
          <p:nvPr/>
        </p:nvSpPr>
        <p:spPr>
          <a:xfrm>
            <a:off x="10426095" y="9215295"/>
            <a:ext cx="203686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538</a:t>
            </a:r>
            <a:endParaRPr lang="en-US" sz="540" dirty="0"/>
          </a:p>
        </p:txBody>
      </p:sp>
      <p:sp>
        <p:nvSpPr>
          <p:cNvPr id="73" name="Text 71"/>
          <p:cNvSpPr/>
          <p:nvPr/>
        </p:nvSpPr>
        <p:spPr>
          <a:xfrm>
            <a:off x="8257912" y="9337189"/>
            <a:ext cx="87737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#10 Anglo American</a:t>
            </a:r>
            <a:endParaRPr lang="en-US" sz="560" dirty="0"/>
          </a:p>
        </p:txBody>
      </p:sp>
      <p:sp>
        <p:nvSpPr>
          <p:cNvPr id="74" name="Text 72"/>
          <p:cNvSpPr/>
          <p:nvPr/>
        </p:nvSpPr>
        <p:spPr>
          <a:xfrm>
            <a:off x="10337354" y="9337189"/>
            <a:ext cx="207835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496</a:t>
            </a:r>
            <a:endParaRPr lang="en-US" sz="540" dirty="0"/>
          </a:p>
        </p:txBody>
      </p:sp>
      <p:sp>
        <p:nvSpPr>
          <p:cNvPr id="75" name="Text 73"/>
          <p:cNvSpPr/>
          <p:nvPr/>
        </p:nvSpPr>
        <p:spPr>
          <a:xfrm>
            <a:off x="8208996" y="9510104"/>
            <a:ext cx="926294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#20 Mitsubishi Corp.</a:t>
            </a:r>
            <a:endParaRPr lang="en-US" sz="560" dirty="0"/>
          </a:p>
        </p:txBody>
      </p:sp>
      <p:sp>
        <p:nvSpPr>
          <p:cNvPr id="76" name="Text 74"/>
          <p:cNvSpPr/>
          <p:nvPr/>
        </p:nvSpPr>
        <p:spPr>
          <a:xfrm>
            <a:off x="9977628" y="9510104"/>
            <a:ext cx="20455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3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326</a:t>
            </a:r>
            <a:endParaRPr lang="en-US" sz="540" dirty="0"/>
          </a:p>
        </p:txBody>
      </p:sp>
      <p:sp>
        <p:nvSpPr>
          <p:cNvPr id="77" name="Text 75"/>
          <p:cNvSpPr/>
          <p:nvPr/>
        </p:nvSpPr>
        <p:spPr>
          <a:xfrm>
            <a:off x="12794488" y="8811807"/>
            <a:ext cx="2039797" cy="37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上位には協業が難しい国有・政府系も含まれる。協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業可能で、オペレーターシップを求めないパートナ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ーとしては最大規模。</a:t>
            </a:r>
            <a:endParaRPr lang="en-US" sz="620" dirty="0"/>
          </a:p>
        </p:txBody>
      </p:sp>
      <p:sp>
        <p:nvSpPr>
          <p:cNvPr id="78" name="Text 76"/>
          <p:cNvSpPr/>
          <p:nvPr/>
        </p:nvSpPr>
        <p:spPr>
          <a:xfrm>
            <a:off x="508222" y="9732451"/>
            <a:ext cx="24924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MARKET STRUCTURE｜上位5社のシェア</a:t>
            </a:r>
            <a:endParaRPr lang="en-US" sz="660" dirty="0"/>
          </a:p>
        </p:txBody>
      </p:sp>
      <p:sp>
        <p:nvSpPr>
          <p:cNvPr id="79" name="Text 77"/>
          <p:cNvSpPr/>
          <p:nvPr/>
        </p:nvSpPr>
        <p:spPr>
          <a:xfrm>
            <a:off x="508222" y="9935740"/>
            <a:ext cx="95228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Metallurgical coal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047842" y="9882694"/>
            <a:ext cx="406339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80%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778777" y="10069656"/>
            <a:ext cx="108854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寡占度が高く、供給は漸減</a:t>
            </a:r>
            <a:endParaRPr lang="en-US" sz="620" dirty="0"/>
          </a:p>
        </p:txBody>
      </p:sp>
      <p:sp>
        <p:nvSpPr>
          <p:cNvPr id="82" name="Text 80"/>
          <p:cNvSpPr/>
          <p:nvPr/>
        </p:nvSpPr>
        <p:spPr>
          <a:xfrm>
            <a:off x="8068024" y="9935740"/>
            <a:ext cx="42315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Copper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3607644" y="9882694"/>
            <a:ext cx="39520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25%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9338579" y="10069656"/>
            <a:ext cx="116912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寡占化が進まず、再編の機運</a:t>
            </a:r>
            <a:endParaRPr lang="en-US" sz="620" dirty="0"/>
          </a:p>
        </p:txBody>
      </p:sp>
      <p:sp>
        <p:nvSpPr>
          <p:cNvPr id="85" name="Text 83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14458915" y="10316906"/>
            <a:ext cx="1960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876683" y="10328977"/>
            <a:ext cx="5463942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台割メモ｜動画04 Coking Coal。【強調】写真の下端にヘアラインの縁取り。品位→鉄→需要→社会の4段ロジックは縦のライン、出資構成は罫線のみで簡潔に。</a:t>
            </a:r>
            <a:endParaRPr lang="en-US" sz="540" dirty="0"/>
          </a:p>
        </p:txBody>
      </p:sp>
      <p:sp>
        <p:nvSpPr>
          <p:cNvPr id="88" name="Text 86"/>
          <p:cNvSpPr/>
          <p:nvPr/>
        </p:nvSpPr>
        <p:spPr>
          <a:xfrm>
            <a:off x="8169668" y="10328977"/>
            <a:ext cx="5556752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台割メモ｜動画05 Copper。【強調】参画年はヘアラインのライザーで「先行して確保」を表現。ランキングは当社のみ色。最下段の市場構造バーで原料炭と比較。</a:t>
            </a:r>
            <a:endParaRPr lang="en-US" sz="5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400" y="374814"/>
            <a:ext cx="1857670" cy="121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12000" spc="-600" kern="0" dirty="0">
                <a:solidFill>
                  <a:srgbClr val="ECEDEE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8222" y="1499255"/>
            <a:ext cx="224965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 · Footprint &amp; technology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508222" y="1639016"/>
            <a:ext cx="202079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　独自価値｜事業・プロジェクト一覧</a:t>
            </a:r>
            <a:endParaRPr lang="en-US" sz="660" dirty="0"/>
          </a:p>
        </p:txBody>
      </p:sp>
      <p:sp>
        <p:nvSpPr>
          <p:cNvPr id="5" name="Text 3"/>
          <p:cNvSpPr/>
          <p:nvPr/>
        </p:nvSpPr>
        <p:spPr>
          <a:xfrm>
            <a:off x="508222" y="1818926"/>
            <a:ext cx="4435825" cy="881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spc="-8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Resources become</a:t>
            </a:r>
            <a:endParaRPr lang="en-US" sz="3400" dirty="0"/>
          </a:p>
          <a:p>
            <a:pPr algn="l" indent="0" marL="0">
              <a:lnSpc>
                <a:spcPts val="3468"/>
              </a:lnSpc>
              <a:buNone/>
            </a:pPr>
            <a:r>
              <a:rPr lang="en-US" sz="3400" spc="-8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value when delivered.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8222" y="2939747"/>
            <a:ext cx="4906427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鉄鉱石から電池資源・肥料・アルミまで、世界に広がる事業領域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8222" y="3268471"/>
            <a:ext cx="7248516" cy="34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資源は、ただ存在するだけでは社会の価値になりません。良質な資源を安定的に確保し、高品質な金属へと精錬し、必要とする産業へ届けてはじめて価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値になります。原料炭と銅に加え、鉄鉱石、電池資源、アルミ、肥料へと事業領域を広げ、世界各地にトレーディング拠点と人材を配しています。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622572" y="6464060"/>
            <a:ext cx="48320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事業・資産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1639016" y="6464060"/>
            <a:ext cx="100207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開発・探鉱プロジェクト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3163682" y="6464060"/>
            <a:ext cx="237980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トレーディング拠点・金属資源の駐在（名称は記載しない）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508222" y="6812954"/>
            <a:ext cx="44018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Iron Ore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508222" y="6934610"/>
            <a:ext cx="356986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鉄鉱石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8222" y="7079008"/>
            <a:ext cx="1087238" cy="10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IOC（カナダ）・CMP（チリ）</a:t>
            </a:r>
            <a:endParaRPr lang="en-US" sz="560" dirty="0"/>
          </a:p>
        </p:txBody>
      </p:sp>
      <p:sp>
        <p:nvSpPr>
          <p:cNvPr id="14" name="Text 12"/>
          <p:cNvSpPr/>
          <p:nvPr/>
        </p:nvSpPr>
        <p:spPr>
          <a:xfrm>
            <a:off x="2159943" y="6812954"/>
            <a:ext cx="63694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Coking Coal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2159943" y="6934610"/>
            <a:ext cx="356986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59943" y="7079008"/>
            <a:ext cx="526010" cy="10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BMA（豪州）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3811665" y="6812954"/>
            <a:ext cx="40612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Copper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3811665" y="6934610"/>
            <a:ext cx="153022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11665" y="7079008"/>
            <a:ext cx="1428342" cy="20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Escondida・Los Pelambres・AA Sur・</a:t>
            </a:r>
            <a:endParaRPr lang="en-US" sz="560" dirty="0"/>
          </a:p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Antamina・Quellaveco ほか</a:t>
            </a:r>
            <a:endParaRPr lang="en-US" sz="560" dirty="0"/>
          </a:p>
        </p:txBody>
      </p:sp>
      <p:sp>
        <p:nvSpPr>
          <p:cNvPr id="20" name="Text 18"/>
          <p:cNvSpPr/>
          <p:nvPr/>
        </p:nvSpPr>
        <p:spPr>
          <a:xfrm>
            <a:off x="5463386" y="6812954"/>
            <a:ext cx="35283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Nickel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5463386" y="6934610"/>
            <a:ext cx="458968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ニッケル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63386" y="7079008"/>
            <a:ext cx="1532944" cy="10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Turnagain（カナダ）・Kalgoorlie（豪州）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508222" y="7397409"/>
            <a:ext cx="40917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Lithium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508222" y="7519065"/>
            <a:ext cx="458968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リチウム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8222" y="7663463"/>
            <a:ext cx="884366" cy="10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PAK Lithium（カナダ）</a:t>
            </a:r>
            <a:endParaRPr lang="en-US" sz="560" dirty="0"/>
          </a:p>
        </p:txBody>
      </p:sp>
      <p:sp>
        <p:nvSpPr>
          <p:cNvPr id="26" name="Text 24"/>
          <p:cNvSpPr/>
          <p:nvPr/>
        </p:nvSpPr>
        <p:spPr>
          <a:xfrm>
            <a:off x="2159943" y="7397409"/>
            <a:ext cx="101386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Bauxite · Aluminium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159943" y="7519065"/>
            <a:ext cx="1376368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ボーキサイト・低炭素アルミ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159943" y="7663463"/>
            <a:ext cx="1257135" cy="10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Aurukun（豪州）・Arctial（北欧）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3811665" y="7397409"/>
            <a:ext cx="48320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Fertilizer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811665" y="7519065"/>
            <a:ext cx="458968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肥料資源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11665" y="7663463"/>
            <a:ext cx="782821" cy="10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Woodsmith（英国）</a:t>
            </a:r>
            <a:endParaRPr lang="en-US" sz="560" dirty="0"/>
          </a:p>
        </p:txBody>
      </p:sp>
      <p:sp>
        <p:nvSpPr>
          <p:cNvPr id="32" name="Text 30"/>
          <p:cNvSpPr/>
          <p:nvPr/>
        </p:nvSpPr>
        <p:spPr>
          <a:xfrm>
            <a:off x="5463386" y="7397409"/>
            <a:ext cx="42009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Trading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5463386" y="7519065"/>
            <a:ext cx="758362" cy="13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63386" y="7663463"/>
            <a:ext cx="1727955" cy="20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 International・Japan・Bharat・Europe・</a:t>
            </a:r>
            <a:endParaRPr lang="en-US" sz="560" dirty="0"/>
          </a:p>
          <a:p>
            <a:pPr algn="l" indent="0" marL="0">
              <a:lnSpc>
                <a:spcPts val="812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Americas</a:t>
            </a:r>
            <a:endParaRPr lang="en-US" sz="560" dirty="0"/>
          </a:p>
        </p:txBody>
      </p:sp>
      <p:sp>
        <p:nvSpPr>
          <p:cNvPr id="35" name="Text 33"/>
          <p:cNvSpPr/>
          <p:nvPr/>
        </p:nvSpPr>
        <p:spPr>
          <a:xfrm>
            <a:off x="508222" y="8121626"/>
            <a:ext cx="13123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NEW TECHNOLOGY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1778777" y="8121626"/>
            <a:ext cx="382131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加工技術・回収・リサイクル——業界のボトルネックに挑む技術へ投資する（CVC）</a:t>
            </a:r>
            <a:endParaRPr lang="en-US" sz="660" dirty="0"/>
          </a:p>
        </p:txBody>
      </p:sp>
      <p:sp>
        <p:nvSpPr>
          <p:cNvPr id="37" name="Text 35"/>
          <p:cNvSpPr/>
          <p:nvPr/>
        </p:nvSpPr>
        <p:spPr>
          <a:xfrm>
            <a:off x="508222" y="8324914"/>
            <a:ext cx="2809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Mine</a:t>
            </a:r>
            <a:endParaRPr lang="en-US" sz="640" dirty="0"/>
          </a:p>
        </p:txBody>
      </p:sp>
      <p:sp>
        <p:nvSpPr>
          <p:cNvPr id="38" name="Text 36"/>
          <p:cNvSpPr/>
          <p:nvPr/>
        </p:nvSpPr>
        <p:spPr>
          <a:xfrm>
            <a:off x="508222" y="8441805"/>
            <a:ext cx="401317" cy="96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0"/>
              </a:lnSpc>
              <a:buNone/>
            </a:pPr>
            <a:r>
              <a:rPr lang="en-US" sz="800" spc="-2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~1%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8222" y="8725647"/>
            <a:ext cx="223776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採掘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1855010" y="8324914"/>
            <a:ext cx="63235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Concentrate</a:t>
            </a:r>
            <a:endParaRPr lang="en-US" sz="640" dirty="0"/>
          </a:p>
        </p:txBody>
      </p:sp>
      <p:sp>
        <p:nvSpPr>
          <p:cNvPr id="41" name="Text 39"/>
          <p:cNvSpPr/>
          <p:nvPr/>
        </p:nvSpPr>
        <p:spPr>
          <a:xfrm>
            <a:off x="1855010" y="8441805"/>
            <a:ext cx="608119" cy="96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0"/>
              </a:lnSpc>
              <a:buNone/>
            </a:pPr>
            <a:r>
              <a:rPr lang="en-US" sz="800" spc="-2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20–30%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855010" y="8725647"/>
            <a:ext cx="48320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選鉱・浸出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3201798" y="8324914"/>
            <a:ext cx="44673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Cathode</a:t>
            </a:r>
            <a:endParaRPr lang="en-US" sz="640" dirty="0"/>
          </a:p>
        </p:txBody>
      </p:sp>
      <p:sp>
        <p:nvSpPr>
          <p:cNvPr id="44" name="Text 42"/>
          <p:cNvSpPr/>
          <p:nvPr/>
        </p:nvSpPr>
        <p:spPr>
          <a:xfrm>
            <a:off x="3201798" y="8441805"/>
            <a:ext cx="576892" cy="96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0"/>
              </a:lnSpc>
              <a:buNone/>
            </a:pPr>
            <a:r>
              <a:rPr lang="en-US" sz="800" spc="-2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99.99%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1798" y="8725647"/>
            <a:ext cx="48320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製錬・精製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4548587" y="8324914"/>
            <a:ext cx="42380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End use</a:t>
            </a:r>
            <a:endParaRPr lang="en-US" sz="640" dirty="0"/>
          </a:p>
        </p:txBody>
      </p:sp>
      <p:sp>
        <p:nvSpPr>
          <p:cNvPr id="47" name="Text 45"/>
          <p:cNvSpPr/>
          <p:nvPr/>
        </p:nvSpPr>
        <p:spPr>
          <a:xfrm>
            <a:off x="4548587" y="8441805"/>
            <a:ext cx="820600" cy="96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0"/>
              </a:lnSpc>
              <a:buNone/>
            </a:pPr>
            <a:r>
              <a:rPr lang="en-US" sz="800" spc="-2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電化・インフラ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48587" y="8725647"/>
            <a:ext cx="39673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最終製品</a:t>
            </a:r>
            <a:endParaRPr lang="en-US" sz="620" dirty="0"/>
          </a:p>
        </p:txBody>
      </p:sp>
      <p:sp>
        <p:nvSpPr>
          <p:cNvPr id="49" name="Text 47"/>
          <p:cNvSpPr/>
          <p:nvPr/>
        </p:nvSpPr>
        <p:spPr>
          <a:xfrm>
            <a:off x="5895375" y="8324914"/>
            <a:ext cx="41966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Recycle</a:t>
            </a:r>
            <a:endParaRPr lang="en-US" sz="640" dirty="0"/>
          </a:p>
        </p:txBody>
      </p:sp>
      <p:sp>
        <p:nvSpPr>
          <p:cNvPr id="50" name="Text 48"/>
          <p:cNvSpPr/>
          <p:nvPr/>
        </p:nvSpPr>
        <p:spPr>
          <a:xfrm>
            <a:off x="5895375" y="8441805"/>
            <a:ext cx="598511" cy="96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0"/>
              </a:lnSpc>
              <a:buNone/>
            </a:pPr>
            <a:r>
              <a:rPr lang="en-US" sz="800" spc="-2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再び供給へ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95375" y="8725647"/>
            <a:ext cx="223776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回収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508222" y="9087247"/>
            <a:ext cx="586063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STARTUP</a:t>
            </a:r>
            <a:endParaRPr lang="en-US" sz="540" dirty="0"/>
          </a:p>
        </p:txBody>
      </p:sp>
      <p:sp>
        <p:nvSpPr>
          <p:cNvPr id="53" name="Text 51"/>
          <p:cNvSpPr/>
          <p:nvPr/>
        </p:nvSpPr>
        <p:spPr>
          <a:xfrm>
            <a:off x="508222" y="9227008"/>
            <a:ext cx="43472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CiDRA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508222" y="9373630"/>
            <a:ext cx="1693888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浮遊選鉱の高度化で回収率・処理能力を向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endParaRPr lang="en-US" sz="620" dirty="0"/>
          </a:p>
        </p:txBody>
      </p:sp>
      <p:sp>
        <p:nvSpPr>
          <p:cNvPr id="55" name="Text 53"/>
          <p:cNvSpPr/>
          <p:nvPr/>
        </p:nvSpPr>
        <p:spPr>
          <a:xfrm>
            <a:off x="2159943" y="9087247"/>
            <a:ext cx="586063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STARTUP</a:t>
            </a:r>
            <a:endParaRPr lang="en-US" sz="540" dirty="0"/>
          </a:p>
        </p:txBody>
      </p:sp>
      <p:sp>
        <p:nvSpPr>
          <p:cNvPr id="56" name="Text 54"/>
          <p:cNvSpPr/>
          <p:nvPr/>
        </p:nvSpPr>
        <p:spPr>
          <a:xfrm>
            <a:off x="2159943" y="9227008"/>
            <a:ext cx="321391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Jetti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2159943" y="9373630"/>
            <a:ext cx="1434457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新しい触媒で硫化鉱からリーチング</a:t>
            </a:r>
            <a:endParaRPr lang="en-US" sz="620" dirty="0"/>
          </a:p>
        </p:txBody>
      </p:sp>
      <p:sp>
        <p:nvSpPr>
          <p:cNvPr id="58" name="Text 56"/>
          <p:cNvSpPr/>
          <p:nvPr/>
        </p:nvSpPr>
        <p:spPr>
          <a:xfrm>
            <a:off x="3811665" y="9087247"/>
            <a:ext cx="66970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100%子会社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3811665" y="9227008"/>
            <a:ext cx="91122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Triland Metals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3811665" y="9373630"/>
            <a:ext cx="134666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LME・CMEのブローカー・ヘッジ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5463386" y="9087247"/>
            <a:ext cx="72342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RECYCLING</a:t>
            </a:r>
            <a:endParaRPr lang="en-US" sz="540" dirty="0"/>
          </a:p>
        </p:txBody>
      </p:sp>
      <p:sp>
        <p:nvSpPr>
          <p:cNvPr id="62" name="Text 60"/>
          <p:cNvSpPr/>
          <p:nvPr/>
        </p:nvSpPr>
        <p:spPr>
          <a:xfrm>
            <a:off x="5463386" y="9227008"/>
            <a:ext cx="63738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DESCycle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5463386" y="9373630"/>
            <a:ext cx="1520934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電子スクラップから銅・貴金属を回収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8068024" y="1499255"/>
            <a:ext cx="178211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 · Partner of choice</a:t>
            </a:r>
            <a:endParaRPr lang="en-US" sz="660" dirty="0"/>
          </a:p>
        </p:txBody>
      </p:sp>
      <p:sp>
        <p:nvSpPr>
          <p:cNvPr id="65" name="Text 63"/>
          <p:cNvSpPr/>
          <p:nvPr/>
        </p:nvSpPr>
        <p:spPr>
          <a:xfrm>
            <a:off x="8068024" y="1639016"/>
            <a:ext cx="121629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第3章　選ばれ続ける理由</a:t>
            </a:r>
            <a:endParaRPr lang="en-US" sz="660" dirty="0"/>
          </a:p>
        </p:txBody>
      </p:sp>
      <p:sp>
        <p:nvSpPr>
          <p:cNvPr id="66" name="Text 64"/>
          <p:cNvSpPr/>
          <p:nvPr/>
        </p:nvSpPr>
        <p:spPr>
          <a:xfrm>
            <a:off x="8068024" y="1824009"/>
            <a:ext cx="2609541" cy="11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Partner</a:t>
            </a:r>
            <a:endParaRPr lang="en-US" sz="4400" dirty="0"/>
          </a:p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of choice.</a:t>
            </a:r>
            <a:endParaRPr lang="en-US" sz="4400" dirty="0"/>
          </a:p>
        </p:txBody>
      </p:sp>
      <p:sp>
        <p:nvSpPr>
          <p:cNvPr id="67" name="Text 65"/>
          <p:cNvSpPr/>
          <p:nvPr/>
        </p:nvSpPr>
        <p:spPr>
          <a:xfrm>
            <a:off x="8068024" y="3244680"/>
            <a:ext cx="2394003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資源業界に不可欠な存在として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068024" y="3547993"/>
            <a:ext cx="3405087" cy="857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資源業界では、良い案件があっても単独では規模が大きすぎることが少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なくありません。そのとき「三菱に声をかけよう」と思われる存在であ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ること。業界最大手とJVを組み、単なる共同出資者に留まらず、人材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派遣・ガバナンス参画・総合力で事業価値の最大化に貢献してきまし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た。</a:t>
            </a:r>
            <a:endParaRPr lang="en-US" sz="730" dirty="0"/>
          </a:p>
        </p:txBody>
      </p:sp>
      <p:sp>
        <p:nvSpPr>
          <p:cNvPr id="69" name="Text 67"/>
          <p:cNvSpPr/>
          <p:nvPr/>
        </p:nvSpPr>
        <p:spPr>
          <a:xfrm>
            <a:off x="11371467" y="3854546"/>
            <a:ext cx="3440028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BHP　　Rio Tinto　　Anglo American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1371467" y="4110499"/>
            <a:ext cx="3442866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JOINT VENTURES WITH INDUSTRY LEADERS｜業界最大手とのJV実績（他社ロゴは使用しない）</a:t>
            </a:r>
            <a:endParaRPr lang="en-US" sz="560" dirty="0"/>
          </a:p>
        </p:txBody>
      </p:sp>
      <p:sp>
        <p:nvSpPr>
          <p:cNvPr id="71" name="Text 69"/>
          <p:cNvSpPr/>
          <p:nvPr/>
        </p:nvSpPr>
        <p:spPr>
          <a:xfrm>
            <a:off x="8068024" y="4873214"/>
            <a:ext cx="344539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8068024" y="5209275"/>
            <a:ext cx="1124143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2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CULTURAL AFFINITY</a:t>
            </a:r>
            <a:endParaRPr lang="en-US" sz="560" dirty="0"/>
          </a:p>
        </p:txBody>
      </p:sp>
      <p:sp>
        <p:nvSpPr>
          <p:cNvPr id="73" name="Text 71"/>
          <p:cNvSpPr/>
          <p:nvPr/>
        </p:nvSpPr>
        <p:spPr>
          <a:xfrm>
            <a:off x="8068024" y="5331376"/>
            <a:ext cx="1699347" cy="29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資源メジャーとの企業文化的親和</a:t>
            </a:r>
            <a:endParaRPr lang="en-US" sz="760" dirty="0"/>
          </a:p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性</a:t>
            </a:r>
            <a:endParaRPr lang="en-US" sz="760" dirty="0"/>
          </a:p>
        </p:txBody>
      </p:sp>
      <p:sp>
        <p:nvSpPr>
          <p:cNvPr id="74" name="Text 72"/>
          <p:cNvSpPr/>
          <p:nvPr/>
        </p:nvSpPr>
        <p:spPr>
          <a:xfrm>
            <a:off x="9719745" y="4873214"/>
            <a:ext cx="405903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9719745" y="5209275"/>
            <a:ext cx="96298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2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JV MANAGEMENT</a:t>
            </a:r>
            <a:endParaRPr lang="en-US" sz="560" dirty="0"/>
          </a:p>
        </p:txBody>
      </p:sp>
      <p:sp>
        <p:nvSpPr>
          <p:cNvPr id="76" name="Text 74"/>
          <p:cNvSpPr/>
          <p:nvPr/>
        </p:nvSpPr>
        <p:spPr>
          <a:xfrm>
            <a:off x="9719745" y="5331376"/>
            <a:ext cx="1725116" cy="29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資源投資経験に裏打ちされたJV経</a:t>
            </a:r>
            <a:endParaRPr lang="en-US" sz="760" dirty="0"/>
          </a:p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営力</a:t>
            </a:r>
            <a:endParaRPr lang="en-US" sz="760" dirty="0"/>
          </a:p>
        </p:txBody>
      </p:sp>
      <p:sp>
        <p:nvSpPr>
          <p:cNvPr id="77" name="Text 75"/>
          <p:cNvSpPr/>
          <p:nvPr/>
        </p:nvSpPr>
        <p:spPr>
          <a:xfrm>
            <a:off x="11371467" y="4873214"/>
            <a:ext cx="415074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11371467" y="5209275"/>
            <a:ext cx="121629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2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FINANCIAL STRENGTH</a:t>
            </a:r>
            <a:endParaRPr lang="en-US" sz="560" dirty="0"/>
          </a:p>
        </p:txBody>
      </p:sp>
      <p:sp>
        <p:nvSpPr>
          <p:cNvPr id="79" name="Text 77"/>
          <p:cNvSpPr/>
          <p:nvPr/>
        </p:nvSpPr>
        <p:spPr>
          <a:xfrm>
            <a:off x="11371467" y="5331376"/>
            <a:ext cx="1705680" cy="29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事業ポートフォリオを活かした健</a:t>
            </a:r>
            <a:endParaRPr lang="en-US" sz="760" dirty="0"/>
          </a:p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全な財務基盤</a:t>
            </a:r>
            <a:endParaRPr lang="en-US" sz="760" dirty="0"/>
          </a:p>
        </p:txBody>
      </p:sp>
      <p:sp>
        <p:nvSpPr>
          <p:cNvPr id="80" name="Text 78"/>
          <p:cNvSpPr/>
          <p:nvPr/>
        </p:nvSpPr>
        <p:spPr>
          <a:xfrm>
            <a:off x="13023188" y="4873214"/>
            <a:ext cx="419442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81" name="Text 79"/>
          <p:cNvSpPr/>
          <p:nvPr/>
        </p:nvSpPr>
        <p:spPr>
          <a:xfrm>
            <a:off x="13023188" y="5209275"/>
            <a:ext cx="793740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2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DEEP INSIGHT</a:t>
            </a:r>
            <a:endParaRPr lang="en-US" sz="560" dirty="0"/>
          </a:p>
        </p:txBody>
      </p:sp>
      <p:sp>
        <p:nvSpPr>
          <p:cNvPr id="82" name="Text 80"/>
          <p:cNvSpPr/>
          <p:nvPr/>
        </p:nvSpPr>
        <p:spPr>
          <a:xfrm>
            <a:off x="13023188" y="5331376"/>
            <a:ext cx="1700439" cy="29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マクロ環境とバリューチェーンへ</a:t>
            </a:r>
            <a:endParaRPr lang="en-US" sz="760" dirty="0"/>
          </a:p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の深い知見</a:t>
            </a:r>
            <a:endParaRPr lang="en-US" sz="760" dirty="0"/>
          </a:p>
        </p:txBody>
      </p:sp>
      <p:sp>
        <p:nvSpPr>
          <p:cNvPr id="83" name="Text 81"/>
          <p:cNvSpPr/>
          <p:nvPr/>
        </p:nvSpPr>
        <p:spPr>
          <a:xfrm>
            <a:off x="8068024" y="5895375"/>
            <a:ext cx="182316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WHY PARTNERS VALUE US</a:t>
            </a:r>
            <a:endParaRPr lang="en-US" sz="660" dirty="0"/>
          </a:p>
        </p:txBody>
      </p:sp>
      <p:sp>
        <p:nvSpPr>
          <p:cNvPr id="84" name="Text 82"/>
          <p:cNvSpPr/>
          <p:nvPr/>
        </p:nvSpPr>
        <p:spPr>
          <a:xfrm>
            <a:off x="9846801" y="5895375"/>
            <a:ext cx="135802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パートナーに評価される理由</a:t>
            </a:r>
            <a:endParaRPr lang="en-US" sz="660" dirty="0"/>
          </a:p>
        </p:txBody>
      </p:sp>
      <p:sp>
        <p:nvSpPr>
          <p:cNvPr id="85" name="Text 83"/>
          <p:cNvSpPr/>
          <p:nvPr/>
        </p:nvSpPr>
        <p:spPr>
          <a:xfrm>
            <a:off x="8068024" y="6191859"/>
            <a:ext cx="921053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中長期的な視座</a:t>
            </a:r>
            <a:endParaRPr lang="en-US" sz="860" dirty="0"/>
          </a:p>
        </p:txBody>
      </p:sp>
      <p:sp>
        <p:nvSpPr>
          <p:cNvPr id="86" name="Text 84"/>
          <p:cNvSpPr/>
          <p:nvPr/>
        </p:nvSpPr>
        <p:spPr>
          <a:xfrm>
            <a:off x="8068024" y="6397752"/>
            <a:ext cx="2208602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資源事業は長期にわたる。短期的リターンを求める投資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家とは一線を画す。</a:t>
            </a:r>
            <a:endParaRPr lang="en-US" sz="620" dirty="0"/>
          </a:p>
        </p:txBody>
      </p:sp>
      <p:sp>
        <p:nvSpPr>
          <p:cNvPr id="87" name="Text 85"/>
          <p:cNvSpPr/>
          <p:nvPr/>
        </p:nvSpPr>
        <p:spPr>
          <a:xfrm>
            <a:off x="10291495" y="6191859"/>
            <a:ext cx="116956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リスクシェアリング</a:t>
            </a:r>
            <a:endParaRPr lang="en-US" sz="860" dirty="0"/>
          </a:p>
        </p:txBody>
      </p:sp>
      <p:sp>
        <p:nvSpPr>
          <p:cNvPr id="88" name="Text 86"/>
          <p:cNvSpPr/>
          <p:nvPr/>
        </p:nvSpPr>
        <p:spPr>
          <a:xfrm>
            <a:off x="10291495" y="6397752"/>
            <a:ext cx="2212751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リスクの高い案件ほど資金面の分担を担保。財務貢献に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留まらない。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12514966" y="6191859"/>
            <a:ext cx="423809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総合力</a:t>
            </a:r>
            <a:endParaRPr lang="en-US" sz="860" dirty="0"/>
          </a:p>
        </p:txBody>
      </p:sp>
      <p:sp>
        <p:nvSpPr>
          <p:cNvPr id="90" name="Text 88"/>
          <p:cNvSpPr/>
          <p:nvPr/>
        </p:nvSpPr>
        <p:spPr>
          <a:xfrm>
            <a:off x="12514966" y="6397752"/>
            <a:ext cx="2208602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幅広い産業接点を通じ、多様なバリューチェーンに知見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を提供する。</a:t>
            </a:r>
            <a:endParaRPr lang="en-US" sz="620" dirty="0"/>
          </a:p>
        </p:txBody>
      </p:sp>
      <p:sp>
        <p:nvSpPr>
          <p:cNvPr id="91" name="Text 89"/>
          <p:cNvSpPr/>
          <p:nvPr/>
        </p:nvSpPr>
        <p:spPr>
          <a:xfrm>
            <a:off x="8068024" y="6937230"/>
            <a:ext cx="194480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TRADING NETWORK</a:t>
            </a:r>
            <a:endParaRPr lang="en-US" sz="660" dirty="0"/>
          </a:p>
        </p:txBody>
      </p:sp>
      <p:sp>
        <p:nvSpPr>
          <p:cNvPr id="92" name="Text 90"/>
          <p:cNvSpPr/>
          <p:nvPr/>
        </p:nvSpPr>
        <p:spPr>
          <a:xfrm>
            <a:off x="9973856" y="6937230"/>
            <a:ext cx="284145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RtM＝Resource to Market｜シンガポールに集約した10拠点</a:t>
            </a:r>
            <a:endParaRPr lang="en-US" sz="660" dirty="0"/>
          </a:p>
        </p:txBody>
      </p:sp>
      <p:sp>
        <p:nvSpPr>
          <p:cNvPr id="93" name="Text 91"/>
          <p:cNvSpPr/>
          <p:nvPr/>
        </p:nvSpPr>
        <p:spPr>
          <a:xfrm>
            <a:off x="12540377" y="7198329"/>
            <a:ext cx="333402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15</a:t>
            </a:r>
            <a:endParaRPr lang="en-US" sz="2200" dirty="0"/>
          </a:p>
        </p:txBody>
      </p:sp>
      <p:sp>
        <p:nvSpPr>
          <p:cNvPr id="94" name="Text 92"/>
          <p:cNvSpPr/>
          <p:nvPr/>
        </p:nvSpPr>
        <p:spPr>
          <a:xfrm>
            <a:off x="13683877" y="7292985"/>
            <a:ext cx="656162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INDUSTRIES</a:t>
            </a:r>
            <a:endParaRPr lang="en-US" sz="560" dirty="0"/>
          </a:p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業界</a:t>
            </a:r>
            <a:endParaRPr lang="en-US" sz="560" dirty="0"/>
          </a:p>
        </p:txBody>
      </p:sp>
      <p:sp>
        <p:nvSpPr>
          <p:cNvPr id="95" name="Text 93"/>
          <p:cNvSpPr/>
          <p:nvPr/>
        </p:nvSpPr>
        <p:spPr>
          <a:xfrm>
            <a:off x="12540377" y="7681140"/>
            <a:ext cx="408960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50</a:t>
            </a:r>
            <a:endParaRPr lang="en-US" sz="2200" dirty="0"/>
          </a:p>
        </p:txBody>
      </p:sp>
      <p:sp>
        <p:nvSpPr>
          <p:cNvPr id="96" name="Text 94"/>
          <p:cNvSpPr/>
          <p:nvPr/>
        </p:nvSpPr>
        <p:spPr>
          <a:xfrm>
            <a:off x="13683877" y="7775796"/>
            <a:ext cx="631704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COUNTRIES</a:t>
            </a:r>
            <a:endParaRPr lang="en-US" sz="560" dirty="0"/>
          </a:p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カ国</a:t>
            </a:r>
            <a:endParaRPr lang="en-US" sz="560" dirty="0"/>
          </a:p>
        </p:txBody>
      </p:sp>
      <p:sp>
        <p:nvSpPr>
          <p:cNvPr id="97" name="Text 95"/>
          <p:cNvSpPr/>
          <p:nvPr/>
        </p:nvSpPr>
        <p:spPr>
          <a:xfrm>
            <a:off x="12540377" y="8163951"/>
            <a:ext cx="972808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~1,000</a:t>
            </a:r>
            <a:endParaRPr lang="en-US" sz="2200" dirty="0"/>
          </a:p>
        </p:txBody>
      </p:sp>
      <p:sp>
        <p:nvSpPr>
          <p:cNvPr id="98" name="Text 96"/>
          <p:cNvSpPr/>
          <p:nvPr/>
        </p:nvSpPr>
        <p:spPr>
          <a:xfrm>
            <a:off x="13683877" y="8258607"/>
            <a:ext cx="67013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</a:t>
            </a:r>
            <a:endParaRPr lang="en-US" sz="560" dirty="0"/>
          </a:p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社の販売先</a:t>
            </a:r>
            <a:endParaRPr lang="en-US" sz="560" dirty="0"/>
          </a:p>
        </p:txBody>
      </p:sp>
      <p:sp>
        <p:nvSpPr>
          <p:cNvPr id="99" name="Text 97"/>
          <p:cNvSpPr/>
          <p:nvPr/>
        </p:nvSpPr>
        <p:spPr>
          <a:xfrm>
            <a:off x="8068024" y="8743912"/>
            <a:ext cx="335638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Singapore・Japan・India・China・USA・UK・UAE・Indonesia・Thailand・Chile</a:t>
            </a:r>
            <a:endParaRPr lang="en-US" sz="620" dirty="0"/>
          </a:p>
        </p:txBody>
      </p:sp>
      <p:sp>
        <p:nvSpPr>
          <p:cNvPr id="100" name="Text 98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14458915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876683" y="10328977"/>
            <a:ext cx="6416719" cy="20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台割メモ｜動画06 From Resources to Value。ヘアラインの世界地図に事業（金）・開発（白抜き）・拠点と駐在（紺）を重ね、商品別の案件一覧と新技術（CVC）を続ける。開いたまま使え</a:t>
            </a:r>
            <a:endParaRPr lang="en-US" sz="540" dirty="0"/>
          </a:p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る“フットプリント”ページ。</a:t>
            </a:r>
            <a:endParaRPr lang="en-US" sz="540" dirty="0"/>
          </a:p>
        </p:txBody>
      </p:sp>
      <p:sp>
        <p:nvSpPr>
          <p:cNvPr id="103" name="Text 101"/>
          <p:cNvSpPr/>
          <p:nvPr/>
        </p:nvSpPr>
        <p:spPr>
          <a:xfrm>
            <a:off x="8169668" y="10328977"/>
            <a:ext cx="5900040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台割メモ｜動画07 Global Partnerships。円形でない写真の裁ち落としとJV実績、4つの強み、評価される理由。下段はヘアライン地図で販売網（シンガポール発の金の線）。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508222"/>
            <a:ext cx="219528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06 · Integrated value chain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508222" y="647983"/>
            <a:ext cx="281394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　独自価値｜バリューチェーン全体像とトレーディング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508222" y="883798"/>
            <a:ext cx="6147461" cy="11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From mine to market —</a:t>
            </a:r>
            <a:endParaRPr lang="en-US" sz="4400" dirty="0"/>
          </a:p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one integrated chain.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8222" y="2279058"/>
            <a:ext cx="9254087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投資と販売の両輪で、川上から川下までをつなぐ。採掘・製造・販売をつなぐトレーディング力こそが、総合商社の強み。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973856" y="930650"/>
            <a:ext cx="5152100" cy="51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資源を保有するだけでは、社会に届けることはできません。私たちは川上の鉱山から、製鉄・製錬、そして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最終製品の需要家までのバリューチェーン全体に関わり、その間をトレーディングでつないでいます。だか</a:t>
            </a:r>
            <a:endParaRPr lang="en-US" sz="730" dirty="0"/>
          </a:p>
          <a:p>
            <a:pPr algn="l" indent="0" marL="0">
              <a:lnSpc>
                <a:spcPts val="1351"/>
              </a:lnSpc>
              <a:buNone/>
            </a:pPr>
            <a:r>
              <a:rPr lang="en-US" sz="73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らこそ、需給や役割の間にある課題を見極め、資源の価値を最も生かすかたちへと導くことができます。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508222" y="2973099"/>
            <a:ext cx="77867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UPSTREAM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508222" y="3124930"/>
            <a:ext cx="1431181" cy="17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川上｜資源開発・保有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3379676" y="2973099"/>
            <a:ext cx="65594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1F3A5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TRADING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3379676" y="3124930"/>
            <a:ext cx="2251185" cy="17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中間流通｜トレーディング（RtM）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124075" y="2973099"/>
            <a:ext cx="85510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MIDSTREAM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6124075" y="3124930"/>
            <a:ext cx="1155153" cy="17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川中｜製鉄・製錬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8995529" y="2973099"/>
            <a:ext cx="65594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1F3A5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TRADING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8995529" y="3124930"/>
            <a:ext cx="2251185" cy="17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中間流通｜トレーディング（RtM）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11739928" y="2973099"/>
            <a:ext cx="100447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DOWNSTREAM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11739928" y="3124930"/>
            <a:ext cx="1569195" cy="17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川下｜最終製品・需要家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08222" y="3481321"/>
            <a:ext cx="82169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3D424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STEEL｜鉄鋼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508222" y="3653163"/>
            <a:ext cx="960798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原料炭・鉄鉱石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8222" y="3843937"/>
            <a:ext cx="1432273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BMA・IOC ほか当社資産／鉱山会社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3379676" y="3653163"/>
            <a:ext cx="960798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原料炭・鉄鉱石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79676" y="3843937"/>
            <a:ext cx="468140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RtMが供給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6124075" y="3653163"/>
            <a:ext cx="570777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製鉄会社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4075" y="3843937"/>
            <a:ext cx="48320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鋼材を製造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8995529" y="3653163"/>
            <a:ext cx="310909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鋼材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95529" y="3843937"/>
            <a:ext cx="151591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鋼材販売はメタルワン（別グループ）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11739928" y="3653163"/>
            <a:ext cx="1220666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建材・自動車用鋼板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39928" y="3843937"/>
            <a:ext cx="907950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インフラ・モビリティ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08222" y="4269065"/>
            <a:ext cx="137964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3D424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NON-FERROUS｜非鉄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508222" y="4440907"/>
            <a:ext cx="1350818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銅鉱石・ボーキサイト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8222" y="4631681"/>
            <a:ext cx="1196644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Escondida・Quellaveco ほか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3379676" y="4440907"/>
            <a:ext cx="1350818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銅精鉱・ボーキサイト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79676" y="4631681"/>
            <a:ext cx="468140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RtMが供給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124075" y="4440907"/>
            <a:ext cx="570777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製錬会社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4075" y="4631681"/>
            <a:ext cx="828243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銅地金・アルミ地金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8995529" y="4440907"/>
            <a:ext cx="1219574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銅地金・アルミ地金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95529" y="4631681"/>
            <a:ext cx="859471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RtM・Triland Metals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11739928" y="4440907"/>
            <a:ext cx="1124362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電線・再エネ・EV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739928" y="4631681"/>
            <a:ext cx="969314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配線・モーター・AI/DC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635277" y="5234686"/>
            <a:ext cx="4848557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00" spc="16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INVESTMENT</a:t>
            </a:r>
            <a:pPr algn="l" indent="0" marL="0">
              <a:lnSpc>
                <a:spcPts val="1200"/>
              </a:lnSpc>
              <a:buNone/>
            </a:pPr>
            <a:r>
              <a:rPr lang="en-US" sz="160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資源投資（鉱山・製鉄／製錬）｜鉄鋼原料本部・クリティカルミネラル本部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35277" y="5526914"/>
            <a:ext cx="522241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00" spc="16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TRADING · RtM</a:t>
            </a:r>
            <a:pPr algn="l" indent="0" marL="0">
              <a:lnSpc>
                <a:spcPts val="1200"/>
              </a:lnSpc>
              <a:buNone/>
            </a:pPr>
            <a:r>
              <a:rPr lang="en-US" sz="160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トレーディング｜金属資源トレーディング本部 — 15業界 × 50カ国 × 約1,000社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8222" y="6022431"/>
            <a:ext cx="157116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RtM BUSINESS MODEL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2032888" y="6022431"/>
            <a:ext cx="235971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一つの商品の中で、投資から販売までを一気通貫に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508222" y="6314658"/>
            <a:ext cx="143576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1F3A5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MC ASSETS + THIRD PARTY</a:t>
            </a:r>
            <a:endParaRPr lang="en-US" sz="560" dirty="0"/>
          </a:p>
        </p:txBody>
      </p:sp>
      <p:sp>
        <p:nvSpPr>
          <p:cNvPr id="44" name="Text 42"/>
          <p:cNvSpPr/>
          <p:nvPr/>
        </p:nvSpPr>
        <p:spPr>
          <a:xfrm>
            <a:off x="508222" y="6434344"/>
            <a:ext cx="1672705" cy="283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MC保有資産と第三者取引の両方を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扱う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159943" y="6314658"/>
            <a:ext cx="84920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1F3A5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STABLE SUPPLY</a:t>
            </a:r>
            <a:endParaRPr lang="en-US" sz="560" dirty="0"/>
          </a:p>
        </p:txBody>
      </p:sp>
      <p:sp>
        <p:nvSpPr>
          <p:cNvPr id="46" name="Text 44"/>
          <p:cNvSpPr/>
          <p:nvPr/>
        </p:nvSpPr>
        <p:spPr>
          <a:xfrm>
            <a:off x="2159943" y="6434344"/>
            <a:ext cx="1199047" cy="14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資源確保による安定供給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08222" y="6873702"/>
            <a:ext cx="1224160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1F3A5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INTELLIGENCE</a:t>
            </a:r>
            <a:endParaRPr lang="en-US" sz="560" dirty="0"/>
          </a:p>
        </p:txBody>
      </p:sp>
      <p:sp>
        <p:nvSpPr>
          <p:cNvPr id="48" name="Text 46"/>
          <p:cNvSpPr/>
          <p:nvPr/>
        </p:nvSpPr>
        <p:spPr>
          <a:xfrm>
            <a:off x="508222" y="6993389"/>
            <a:ext cx="1620732" cy="283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市場・業界動向の発信と知見共有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で、事業機会を発掘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159943" y="6873702"/>
            <a:ext cx="108396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00" kern="0" dirty="0">
                <a:solidFill>
                  <a:srgbClr val="1F3A5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VALUE</a:t>
            </a:r>
            <a:endParaRPr lang="en-US" sz="560" dirty="0"/>
          </a:p>
        </p:txBody>
      </p:sp>
      <p:sp>
        <p:nvSpPr>
          <p:cNvPr id="50" name="Text 48"/>
          <p:cNvSpPr/>
          <p:nvPr/>
        </p:nvSpPr>
        <p:spPr>
          <a:xfrm>
            <a:off x="2159943" y="6993389"/>
            <a:ext cx="1718346" cy="283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トレーディング機能の強化で付加価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値を生み続ける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3938720" y="6247446"/>
            <a:ext cx="3474968" cy="95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出資案件から得られる持分見合いのオフテイクをRtMが引き受け、ヘッジ・在</a:t>
            </a:r>
            <a:endParaRPr lang="en-US" sz="680" dirty="0"/>
          </a:p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庫・物流などの機能を付加して欧州・シンガポール・米州の顧客に届けます。</a:t>
            </a:r>
            <a:endParaRPr lang="en-US" sz="680" dirty="0"/>
          </a:p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顧客と接するRtMが得た市場の“生きた情報”は、資源投資の判断へ還元されま</a:t>
            </a:r>
            <a:endParaRPr lang="en-US" sz="680" dirty="0"/>
          </a:p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す。肥料資源では本格投資に先立ちトレーディングデスクを設け、市場を理解</a:t>
            </a:r>
            <a:endParaRPr lang="en-US" sz="680" dirty="0"/>
          </a:p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してから投資へ——この好循環こそ、投資と販売を併せ持つ私たちのアイデン</a:t>
            </a:r>
            <a:endParaRPr lang="en-US" sz="680" dirty="0"/>
          </a:p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ティティです。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508222" y="7470863"/>
            <a:ext cx="117218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RtM FUNCTIONS</a:t>
            </a:r>
            <a:endParaRPr lang="en-US" sz="660" dirty="0"/>
          </a:p>
        </p:txBody>
      </p:sp>
      <p:sp>
        <p:nvSpPr>
          <p:cNvPr id="53" name="Text 51"/>
          <p:cNvSpPr/>
          <p:nvPr/>
        </p:nvSpPr>
        <p:spPr>
          <a:xfrm>
            <a:off x="1651721" y="7470863"/>
            <a:ext cx="141567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お客様に提供できる5つの機能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508222" y="7697022"/>
            <a:ext cx="211111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62333" y="7699563"/>
            <a:ext cx="117982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Marketing &amp; Procurement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62333" y="7820774"/>
            <a:ext cx="48320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販売・調達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1829599" y="7697022"/>
            <a:ext cx="244522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083710" y="7699563"/>
            <a:ext cx="45416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Logistics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2083710" y="7820774"/>
            <a:ext cx="223776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物流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3150976" y="7697022"/>
            <a:ext cx="249545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405087" y="7699563"/>
            <a:ext cx="48517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Financing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3405087" y="7820774"/>
            <a:ext cx="566409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ファイナンス</a:t>
            </a:r>
            <a:endParaRPr lang="en-US" sz="620" dirty="0"/>
          </a:p>
        </p:txBody>
      </p:sp>
      <p:sp>
        <p:nvSpPr>
          <p:cNvPr id="63" name="Text 61"/>
          <p:cNvSpPr/>
          <p:nvPr/>
        </p:nvSpPr>
        <p:spPr>
          <a:xfrm>
            <a:off x="4472353" y="7697022"/>
            <a:ext cx="251947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726464" y="7699563"/>
            <a:ext cx="83828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Risk Management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4726464" y="7820774"/>
            <a:ext cx="48320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リスク管理</a:t>
            </a:r>
            <a:endParaRPr lang="en-US" sz="620" dirty="0"/>
          </a:p>
        </p:txBody>
      </p:sp>
      <p:sp>
        <p:nvSpPr>
          <p:cNvPr id="66" name="Text 64"/>
          <p:cNvSpPr/>
          <p:nvPr/>
        </p:nvSpPr>
        <p:spPr>
          <a:xfrm>
            <a:off x="5793731" y="7697022"/>
            <a:ext cx="246269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05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047842" y="7699563"/>
            <a:ext cx="84811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Carbon Reduction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6047842" y="7820774"/>
            <a:ext cx="310254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脱炭素</a:t>
            </a:r>
            <a:endParaRPr lang="en-US" sz="620" dirty="0"/>
          </a:p>
        </p:txBody>
      </p:sp>
      <p:sp>
        <p:nvSpPr>
          <p:cNvPr id="69" name="Text 67"/>
          <p:cNvSpPr/>
          <p:nvPr/>
        </p:nvSpPr>
        <p:spPr>
          <a:xfrm>
            <a:off x="8703301" y="6124075"/>
            <a:ext cx="131129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Our commitment</a:t>
            </a:r>
            <a:endParaRPr lang="en-US" sz="660" dirty="0"/>
          </a:p>
        </p:txBody>
      </p:sp>
      <p:sp>
        <p:nvSpPr>
          <p:cNvPr id="70" name="Text 68"/>
          <p:cNvSpPr/>
          <p:nvPr/>
        </p:nvSpPr>
        <p:spPr>
          <a:xfrm>
            <a:off x="8703301" y="6317707"/>
            <a:ext cx="4299776" cy="673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600" spc="-65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Supporting society</a:t>
            </a:r>
            <a:endParaRPr lang="en-US" sz="2600" dirty="0"/>
          </a:p>
          <a:p>
            <a:pPr algn="l" indent="0" marL="0">
              <a:lnSpc>
                <a:spcPts val="2652"/>
              </a:lnSpc>
              <a:buNone/>
            </a:pPr>
            <a:r>
              <a:rPr lang="en-US" sz="2600" spc="-65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with the resources it needs.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8703301" y="7134484"/>
            <a:ext cx="4206530" cy="35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で、より良い社会の実現に寄与する。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703301" y="7596585"/>
            <a:ext cx="3265326" cy="46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660" spc="20" kern="0" dirty="0">
                <a:solidFill>
                  <a:srgbClr val="C9CE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需要の拡大、供給制約、地政学リスク——変化する外部環境に、①安定的な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spc="20" kern="0" dirty="0">
                <a:solidFill>
                  <a:srgbClr val="C9CE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資源確保による安定供給と、②バリューチェーン全体の効率化による効率的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spc="20" kern="0" dirty="0">
                <a:solidFill>
                  <a:srgbClr val="C9CE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な供給の両面で応えていきます。共に、持続可能で豊かな未来を。</a:t>
            </a:r>
            <a:endParaRPr lang="en-US" sz="660" dirty="0"/>
          </a:p>
        </p:txBody>
      </p:sp>
      <p:sp>
        <p:nvSpPr>
          <p:cNvPr id="73" name="Text 71"/>
          <p:cNvSpPr/>
          <p:nvPr/>
        </p:nvSpPr>
        <p:spPr>
          <a:xfrm>
            <a:off x="8703301" y="8588952"/>
            <a:ext cx="238177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Mitsubishi Corporation　Mineral Resources Group</a:t>
            </a:r>
            <a:endParaRPr lang="en-US" sz="640" dirty="0"/>
          </a:p>
        </p:txBody>
      </p:sp>
      <p:sp>
        <p:nvSpPr>
          <p:cNvPr id="74" name="Text 72"/>
          <p:cNvSpPr/>
          <p:nvPr/>
        </p:nvSpPr>
        <p:spPr>
          <a:xfrm>
            <a:off x="8703301" y="8722868"/>
            <a:ext cx="3440028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9AA1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2-3-1 Marunouchi, Chiyoda-ku, Tokyo 100-8086, Japan｜www.mitsubishicorp.com</a:t>
            </a:r>
            <a:endParaRPr lang="en-US" sz="620" dirty="0"/>
          </a:p>
        </p:txBody>
      </p:sp>
      <p:sp>
        <p:nvSpPr>
          <p:cNvPr id="75" name="Text 73"/>
          <p:cNvSpPr/>
          <p:nvPr/>
        </p:nvSpPr>
        <p:spPr>
          <a:xfrm>
            <a:off x="508222" y="10316906"/>
            <a:ext cx="18468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14458915" y="10316906"/>
            <a:ext cx="1652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876683" y="10328977"/>
            <a:ext cx="6530712" cy="20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台割メモ｜動画08 Integrated Value Chain。【強調】見開き全幅で、鉄鋼・非鉄×川上→川下。投資（ブロンズ）とトレーディング（ネイビー）の色を全ページで統一。下段にRtMのビジネスモ</a:t>
            </a:r>
            <a:endParaRPr lang="en-US" sz="540" dirty="0"/>
          </a:p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デル・好循環・5つの機能。</a:t>
            </a:r>
            <a:endParaRPr lang="en-US" sz="540" dirty="0"/>
          </a:p>
        </p:txBody>
      </p:sp>
      <p:sp>
        <p:nvSpPr>
          <p:cNvPr id="78" name="Text 76"/>
          <p:cNvSpPr/>
          <p:nvPr/>
        </p:nvSpPr>
        <p:spPr>
          <a:xfrm>
            <a:off x="8169668" y="10328977"/>
            <a:ext cx="5006443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4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台割メモ｜動画09 Closing。濃色パネルに約束（ミッション）と外部環境への答え、ヘアラインの地図を薄く重ねて冊子を閉じる。連絡先を含む。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2026-10-07T09:04:50Z</dcterms:created>
  <dcterms:modified xsi:type="dcterms:W3CDTF">2026-10-07T09:04:50Z</dcterms:modified>
</cp:coreProperties>
</file>