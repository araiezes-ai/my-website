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都市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7055" y="2960393"/>
            <a:ext cx="12160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鉄・銅・アルミ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70709" y="1156205"/>
            <a:ext cx="8795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モビリティ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70709" y="1346788"/>
            <a:ext cx="13846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鉄・銅・リチウム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0762" y="2273063"/>
            <a:ext cx="174193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鉄道の写真（ストック）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0709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鉄道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0709" y="2960393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055" y="4675642"/>
            <a:ext cx="15244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再生可能エネルギー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055" y="4866225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8882" y="4675642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送電網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8882" y="4866225"/>
            <a:ext cx="8863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銅・アルミ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7631" y="3921012"/>
            <a:ext cx="1588194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スマートフォン・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データセンターの写真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709" y="4675642"/>
            <a:ext cx="7138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デバイス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709" y="4866225"/>
            <a:ext cx="18939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銅・リチウム・ニッケル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680" y="2947688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金属素材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37680" y="3138271"/>
            <a:ext cx="25571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暮らしを形づくる鉄・銅・アルミ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981333" y="3125565"/>
            <a:ext cx="8614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37680" y="4853520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海上輸送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828" y="4853520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1266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コアメッセージ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5781025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私たちの存在意義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8222" y="5912527"/>
            <a:ext cx="5219797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17337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529"/>
            <a:ext cx="4243872" cy="197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資源は、そこに「ある」だけでは、まだ価値ではありま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せん。誰かが見出し、育て、必要とする場所へ届けて、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はじめて力になる。私たちは、世界有数の資産に関わ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り、投資とトレーディングの両輪で川上から川下までを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つなぎます。フェアな立場だからこそ、埋められる隙間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がある。多様なパートナーと使い手の間に立ち、その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時々の最適解を導く。世界に眠る価値を、社会の力へ。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9192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目次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8024" y="5781025"/>
            <a:ext cx="70486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6193955"/>
            <a:ext cx="55854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244778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520488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三菱商事とは／金属資源グループとは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9393" y="6276541"/>
            <a:ext cx="4476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8024" y="7108755"/>
            <a:ext cx="663369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159577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435288"/>
            <a:ext cx="481667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投資とトレーディングの両輪／原料炭・銅・トレーディング・新技術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179393" y="7191341"/>
            <a:ext cx="4504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8023555"/>
            <a:ext cx="653323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8074377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350087"/>
            <a:ext cx="12455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Partner of Choice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9393" y="8106141"/>
            <a:ext cx="40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8938354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989176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264887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社会課題への取り組み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9393" y="9020940"/>
            <a:ext cx="3674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847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823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87203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我々は何者か｜三菱商事とは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119014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三綱領を精神の根幹に、「総合力」で価値を生む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8222" y="3041709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三菱商事は三綱領を企業理念とし、事業を通じて経済価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値・社会価値・環境価値の同時実現を目指しています。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幅広い産業と地域にまたがる事業と人のつながり＝「総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合力」が、三菱商事の強みです。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931" y="3097295"/>
            <a:ext cx="2397716" cy="81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7つの営業グループのうち、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長年三菱商事を支えてきた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中核グループの一つ。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746" y="8739433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3715" y="897067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7054" y="9056079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7023" y="92873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5120" y="8169271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5089" y="8400512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5120" y="6746845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5089" y="697808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7054" y="5860038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37023" y="6091279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83746" y="6176684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3715" y="6407925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852" y="7188165"/>
            <a:ext cx="917559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</a:t>
            </a:r>
            <a:endParaRPr lang="en-US" sz="15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グループ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1214" y="7775796"/>
            <a:ext cx="10848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F3DCC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中核グループ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8620" y="7968921"/>
            <a:ext cx="11702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DC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 ほか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786" y="7038874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30326" y="7331102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総合力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0326" y="7597919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8A9097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三綱領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8779" y="7788820"/>
            <a:ext cx="665771" cy="60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所期奉公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処事光明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立業貿易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222" y="10052631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※グループ名称は確認後に記載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35647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我々は何者か｜金属資源グループとは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68024" y="1946490"/>
            <a:ext cx="5412624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642754"/>
            <a:ext cx="349593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三綱領を体現する中核グループとして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8024" y="2965475"/>
            <a:ext cx="72485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社会に不可欠な金属資源を世界から確保し、安定的に届けてきました。三綱領を事業で体現す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る中核グループとして、市況の波を越え、長年にわたり会社の屋台骨を支えています。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2135" y="3976837"/>
            <a:ext cx="31995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GROUP MISSION　グループミッション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2135" y="4219513"/>
            <a:ext cx="665475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社会が必要とする良質な金属資源を、持続可能な形で安定供給することで、よ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り良い社会の実現に寄与する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8024" y="5183864"/>
            <a:ext cx="146939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これまでの変遷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67279" y="5211816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先見性をもって先手を打ってきた歩み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6530652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事業の重心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8024" y="6773328"/>
            <a:ext cx="1323958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資源投資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トレーディング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0730" y="8027684"/>
            <a:ext cx="119205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1980〜90年代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0730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日本の産業に、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80730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参入し、少数出資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から事業に関わる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89401" y="8027684"/>
            <a:ext cx="80072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1990年代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89401" y="8586410"/>
            <a:ext cx="924547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仲介から、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担い手へ。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89401" y="9068586"/>
            <a:ext cx="1302775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投資モデルへ転換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し、JV運営の知見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を蓄える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073" y="8027684"/>
            <a:ext cx="83828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073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一級資産に、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早くから。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98073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BHPと原料炭の合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弁を組成し、事業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経営に参画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06744" y="8027684"/>
            <a:ext cx="7983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2010年代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06744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次の柱を、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先回りして。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006744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銅へ領域を広げ、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販売機能をRtMに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集約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315416" y="8027684"/>
            <a:ext cx="100447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315416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投資と販売を、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一つの力に。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315416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両輪を一体で動か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す、グローバルな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事業者へ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68024" y="1003738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06590" y="9999268"/>
            <a:ext cx="5724029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　銅</a:t>
            </a:r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　鉄鉱石　ニッケル　リチウム　アルミ　肥料資源　二次資源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8404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237849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spc="12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068024" y="294769"/>
            <a:ext cx="236059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1F2D4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spc="12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VALUE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CFD3D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|　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96868" y="222665"/>
            <a:ext cx="2454712" cy="4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95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95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802991"/>
            <a:ext cx="66577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独自価値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1041855"/>
            <a:ext cx="6579847" cy="77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200" spc="-30" kern="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What Makes Us Different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8222" y="1778777"/>
            <a:ext cx="6654532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投資とトレーディングの両輪で、資源の流れ全体に関わる。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8222" y="2177731"/>
            <a:ext cx="6619591" cy="84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金属資源グループの強みは、資源に投資して育てる力と、市場へつなぎ届ける力、そし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て新技術で流れを進化させる力を、長い時間をかけて積み重ねてきたことにあります。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この三つが有機的に結びつき、資源の可能性を社会の力へと変えていきます。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89106" y="940211"/>
            <a:ext cx="2393348" cy="68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4F769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20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4F769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3777" y="4267159"/>
            <a:ext cx="1672050" cy="515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新技術で</a:t>
            </a:r>
            <a:endParaRPr lang="en-US" sz="1400" dirty="0"/>
          </a:p>
          <a:p>
            <a:pPr algn="ctr" indent="0" marL="0">
              <a:lnSpc>
                <a:spcPts val="2030"/>
              </a:lnSpc>
              <a:buNone/>
            </a:pPr>
            <a:r>
              <a:rPr lang="en-US" sz="14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流れを進化させる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83824" y="4828109"/>
            <a:ext cx="17517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5E8A7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NEW 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1362" y="5100961"/>
            <a:ext cx="2356879" cy="43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業界の課題を解く技術に投資し、</a:t>
            </a:r>
            <a:endParaRPr lang="en-US" sz="1100" dirty="0"/>
          </a:p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その知見を両輪へ還元する。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8222" y="3068390"/>
            <a:ext cx="207835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A8653D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40211" y="3123024"/>
            <a:ext cx="2357098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0211" y="3455909"/>
            <a:ext cx="70988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INVEST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0211" y="3735432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世界屈指の優良アセットへの参画と、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資源メジャーとの強固なパートナリング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により、安定供給の基盤をつくる。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0211" y="4792533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主なアセット・パートナー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0211" y="5048868"/>
            <a:ext cx="2971828" cy="733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・Escondida・Quellaveco ほか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・BMA・IOC ほか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・資源メジャーとの強固なパートナリング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79689" y="2356879"/>
            <a:ext cx="286451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4F769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311678" y="2411513"/>
            <a:ext cx="2357098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市場へつなぎ、届ける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1678" y="2744399"/>
            <a:ext cx="6520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TRADE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11678" y="3023921"/>
            <a:ext cx="256673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広範な産業接地面と先兵機能を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生かし、自社・第三者の資源を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問わず、最適な供給を実現する。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11678" y="4055611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主な取扱い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11678" y="4311946"/>
            <a:ext cx="2737728" cy="978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・原料炭・鉄鉱石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・銅精鉱・ボーキサイト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・鋼材・銅地金・アルミ地金</a:t>
            </a:r>
            <a:endParaRPr lang="en-US" sz="1100" dirty="0"/>
          </a:p>
          <a:p>
            <a:pPr algn="l" indent="0" marL="0">
              <a:lnSpc>
                <a:spcPts val="1925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・建材・自動車用鋼板・電線・EV ほか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1552" y="1619958"/>
            <a:ext cx="278807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563540" y="1674591"/>
            <a:ext cx="2126492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互いを強め合う循環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63540" y="2007477"/>
            <a:ext cx="63781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CYCLE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63540" y="2286999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市場の情報を投資判断に生かし、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投資で得た資源を市場へ。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11665" y="6575122"/>
            <a:ext cx="295622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243654" y="6629756"/>
            <a:ext cx="3279521" cy="28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長い時間をかけて、築いてきた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43654" y="6962641"/>
            <a:ext cx="16810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OUR FOUNDATION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43654" y="7242163"/>
            <a:ext cx="3237592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市況の浮き沈みに左右されず関わり続けた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積み重ねが、先を見据える力を生む。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879689" y="5609500"/>
            <a:ext cx="292128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A4472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2311678" y="5664134"/>
            <a:ext cx="2126492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その結果としての、</a:t>
            </a:r>
            <a:endParaRPr lang="en-US" sz="16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600" b="1" spc="5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いまの事業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311678" y="6276541"/>
            <a:ext cx="14137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OUR OUTCOME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11678" y="6556064"/>
            <a:ext cx="2734453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原料炭・銅・トレーディング、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そして新技術。いまの立ち位置は、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この強さの「結果」です。→ P.08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8222" y="8131552"/>
            <a:ext cx="228481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200" kern="0" dirty="0">
                <a:solidFill>
                  <a:srgbClr val="1F2D44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FROM MINE TO MARKET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4399" y="8117576"/>
            <a:ext cx="3069879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金属資源のバリューチェーンと事業領域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2677" y="8409803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川上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2677" y="8604198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資源開発・保有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13309" y="8409803"/>
            <a:ext cx="72189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中間流通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13309" y="8604198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調達・販売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33941" y="8409803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川中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33941" y="8604198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製鉄・製錬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554573" y="8409803"/>
            <a:ext cx="72189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中間流通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554573" y="8604198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調達・販売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375205" y="8409803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375205" y="8604198"/>
            <a:ext cx="128071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最終製品・需要家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9044" y="9569820"/>
            <a:ext cx="143445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鉱山（非鉄・鉄鋼）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9044" y="9780097"/>
            <a:ext cx="1588194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銅鉱石・ボーキサイト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原料炭・鉄鉱石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532143" y="9569820"/>
            <a:ext cx="17109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RtM（トレーディング）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532143" y="9780097"/>
            <a:ext cx="2049405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原料炭・鉄鉱石を製鉄会社へ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銅精鉱を製錬会社へ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52775" y="9569820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製鉄・製錬会社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52775" y="9780097"/>
            <a:ext cx="1280719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鋼材・銅地金・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アルミ地金を製造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173407" y="9569820"/>
            <a:ext cx="188103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メタルワン／RtM・Triland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73407" y="9780097"/>
            <a:ext cx="973245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鋼材・地金を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需要家へ販売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994039" y="9569820"/>
            <a:ext cx="51203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需要家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994039" y="9780097"/>
            <a:ext cx="1926022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建材・自動車用鋼板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電線・EV・データセンター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294769"/>
            <a:ext cx="252568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BUSINESS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Our Business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658232" y="200748"/>
            <a:ext cx="2393348" cy="391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MITSUBISHI CORPORATION</a:t>
            </a:r>
            <a:endParaRPr lang="en-US" sz="1100" dirty="0"/>
          </a:p>
          <a:p>
            <a:pPr algn="r" indent="0" marL="0">
              <a:lnSpc>
                <a:spcPts val="154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 RESOURCES GROUP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68024" y="294769"/>
            <a:ext cx="252568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spc="140" kern="0" dirty="0">
                <a:solidFill>
                  <a:srgbClr val="3D42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BUSINESS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｜　Our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155796" y="294769"/>
            <a:ext cx="245558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Old Mincho" pitchFamily="34" charset="0"/>
                <a:ea typeface="Zen Old Mincho" pitchFamily="34" charset="-122"/>
                <a:cs typeface="Zen Old Mincho" pitchFamily="34" charset="-120"/>
              </a:rPr>
              <a:t>Strength to Hold. Power to Connect.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787744"/>
            <a:ext cx="4745046" cy="58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200" dirty="0">
                <a:solidFill>
                  <a:srgbClr val="1F2D44"/>
                </a:solidFill>
                <a:latin typeface="Zen Old Mincho Medium" pitchFamily="34" charset="0"/>
                <a:ea typeface="Zen Old Mincho Medium" pitchFamily="34" charset="-122"/>
                <a:cs typeface="Zen Old Mincho Medium" pitchFamily="34" charset="-120"/>
              </a:rPr>
              <a:t>What the flow has built.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8222" y="1337894"/>
            <a:ext cx="7094997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両輪と新技術の循環が生んだ、いまの事業。原料炭、銅、トレーディング、新技術は、それぞ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れが三つの力の重なりから育ってきました。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60843" y="1982066"/>
            <a:ext cx="18395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1｜原料炭事業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60843" y="2210766"/>
            <a:ext cx="2637712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Metallurgical Coal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9339" y="2693577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60498" y="2693577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60843" y="3072837"/>
            <a:ext cx="1453019" cy="41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400" spc="-102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約50%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60843" y="3598212"/>
            <a:ext cx="328760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447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一級強粘結炭の世界供給に占めるBMAのシェア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0843" y="3909498"/>
            <a:ext cx="3603373" cy="82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BHPとの50:50の合弁BMAで、豪州で世界最高品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位の原料炭を生産。販売から出資、JV経営へと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関わりを深めてきました。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0843" y="5046644"/>
            <a:ext cx="375951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トレーディング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BMAの原料炭を、RtMが製鉄所へ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8222" y="6174897"/>
            <a:ext cx="15183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2｜銅事業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8222" y="6403597"/>
            <a:ext cx="1080031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Copper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6718" y="6886408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15620" y="6886408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8222" y="7265669"/>
            <a:ext cx="1309982" cy="410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400" spc="-102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Top 15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8222" y="7791043"/>
            <a:ext cx="312010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447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主要5鉱山すべてが鉱山別生産量で世界Top15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8102329"/>
            <a:ext cx="3573019" cy="82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1988年のエスコンディダから、一級資産に早く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から参画。日本最大の銅生産者として、世界の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大手と組んでいます。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222" y="9239476"/>
            <a:ext cx="332254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新技術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低品位鉱の銅回収に、新しい技術を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68024" y="2947688"/>
            <a:ext cx="257744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3｜トレーディング事業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68024" y="3176387"/>
            <a:ext cx="3733526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Resource to Market (RtM)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018656" y="3252621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387679" y="3252621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3649669"/>
            <a:ext cx="423591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576246" y="3861217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46801" y="3649669"/>
            <a:ext cx="51596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380434" y="3861217"/>
            <a:ext cx="386467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52633" y="3649669"/>
            <a:ext cx="138772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F2D44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約1,000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3023188" y="3861217"/>
            <a:ext cx="218754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63990" y="3728444"/>
            <a:ext cx="16459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244411" y="3728444"/>
            <a:ext cx="164596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×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09231" y="4427884"/>
            <a:ext cx="1895886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自社資産・第三者の資源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02920" y="4427884"/>
            <a:ext cx="351745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RtM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150045" y="4427884"/>
            <a:ext cx="889607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D44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世界の顧客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355023" y="4970411"/>
            <a:ext cx="204940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7EA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市場の声を、次の投資判断へ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5478633"/>
            <a:ext cx="378375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8714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→ 投資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　原料炭・銅など自社の資源を、世界の需要へ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68024" y="6174897"/>
            <a:ext cx="310307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40" kern="0" dirty="0">
                <a:solidFill>
                  <a:srgbClr val="7D838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NEW TECHNOLOGY｜新技術への投資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68024" y="6403597"/>
            <a:ext cx="3548779" cy="40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F2D44"/>
                </a:solidFill>
                <a:latin typeface="Zen Old Mincho SemiBold" pitchFamily="34" charset="0"/>
                <a:ea typeface="Zen Old Mincho SemiBold" pitchFamily="34" charset="-122"/>
                <a:cs typeface="Zen Old Mincho SemiBold" pitchFamily="34" charset="-120"/>
              </a:rPr>
              <a:t>Investing in What’s Next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1645232" y="6479830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447468" y="6479830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B8714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098628" y="6479830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4F7EA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68024" y="6882596"/>
            <a:ext cx="5250151" cy="27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業界のボトルネックを解く技術に出資し、現場と市場へつなぎます。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68024" y="7587754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68024" y="7794219"/>
            <a:ext cx="724951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CiDRA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068024" y="8146798"/>
            <a:ext cx="2049405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粗い粒子のまま銅を回収し、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回収率と処理量を高める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304201" y="7587754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浸出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304201" y="7794219"/>
            <a:ext cx="523389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Jetti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304201" y="8146798"/>
            <a:ext cx="1741931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触媒技術で、硫化鉱から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銅を回収する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540377" y="758775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4F8A71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リサイクル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540377" y="7794219"/>
            <a:ext cx="1079158" cy="21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800" spc="-54" kern="0" dirty="0">
                <a:solidFill>
                  <a:srgbClr val="1F2D44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DESCycle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540377" y="8146798"/>
            <a:ext cx="1895668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廃棄物から金属を回収し、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資源の循環を広げる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71313" y="8919296"/>
            <a:ext cx="107413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4F8A71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CASE｜Jetti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271313" y="9164513"/>
            <a:ext cx="6599282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Jettiに出資参画し、事業拡大を支援。同社技術で生まれる環境価値の高い銅地金を販売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し、低品位鉱に課題を持つ鉱山への導入も共同で検討しています。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33787"/>
            <a:ext cx="448496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6999"/>
            <a:ext cx="4652673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947688"/>
            <a:ext cx="136959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パートナーシップ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680" y="1804188"/>
            <a:ext cx="13586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社会を支える資源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3328854"/>
            <a:ext cx="4967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第3章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222" y="3519437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3781934"/>
            <a:ext cx="3845116" cy="44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Partner of choice.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8222" y="4503125"/>
            <a:ext cx="4013266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資源業界に不可欠な存在として、選ばれ続ける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222" y="4799799"/>
            <a:ext cx="355458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622" y="4811234"/>
            <a:ext cx="127198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Cultural affinity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22" y="5007217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資源メジャーとの文化的親和性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7076" y="4799799"/>
            <a:ext cx="418350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4476" y="4811234"/>
            <a:ext cx="12796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JV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4476" y="5007217"/>
            <a:ext cx="287355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資源投資に裏打ちされたJV経営力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222" y="5358843"/>
            <a:ext cx="412454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622" y="5370278"/>
            <a:ext cx="1449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Financial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622" y="5566262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健全な財務基盤とリスクシェア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076" y="5358843"/>
            <a:ext cx="425775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4476" y="5370278"/>
            <a:ext cx="102390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Deep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4476" y="5566262"/>
            <a:ext cx="283927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マクロとバリューチェーンの知見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22" y="6030967"/>
            <a:ext cx="9455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JVへの貢献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666" y="6030967"/>
            <a:ext cx="19629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経営から現場まで伴走する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689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現場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983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・長期目線での戦略策定と案件開発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・幅広い産業接点を生かした知見の提供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・人材派遣による操業支援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9543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6837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・中長期の事業計画・資本政策への参画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・販売戦略・人事計画への関与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・他JVのベストプラクティスの導入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926" y="7992029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「会社対会社」の関係へ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00862" y="7992029"/>
            <a:ext cx="98045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3327" y="7992029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強み・信頼の蓄積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1053" y="866355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次の協業へ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8996442"/>
            <a:ext cx="6088718" cy="28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新たな協業が生まれ、その積み重ねが、さらなる強み・知見・信頼につながる。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222" y="9664754"/>
            <a:ext cx="146415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主なJVパートナー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9593603"/>
            <a:ext cx="379860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BHP　　Rio Tinto　　Anglo American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8024" y="2185355"/>
            <a:ext cx="50133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第4章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2375938"/>
            <a:ext cx="116629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2639197"/>
            <a:ext cx="4093410" cy="72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Building the future</a:t>
            </a:r>
            <a:endParaRPr lang="en-US" sz="2800" dirty="0"/>
          </a:p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of resources, together.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068024" y="3644706"/>
            <a:ext cx="3069879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社会の「当たり前」を、支え続ける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68024" y="3978227"/>
            <a:ext cx="15890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外部環境と社会課題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72623" y="4762477"/>
            <a:ext cx="1166290" cy="44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</a:t>
            </a:r>
            <a:endParaRPr lang="en-US" sz="1300" dirty="0"/>
          </a:p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ミネラル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23034" y="427585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産業構造の転換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23034" y="4514401"/>
            <a:ext cx="341513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脱炭素化とAI・データセンターで電力需要が拡大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23034" y="4784076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供給制約の深刻化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23034" y="5022623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良質な資源の開発に、より時間とコストが必要に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23034" y="5292298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地政学リスクの常態化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23034" y="5530845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輸出規制など、資源の囲い込みが常態化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11898" y="5939289"/>
            <a:ext cx="525561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クリティカルミネラルの供給網確保が、これまで以上に重要に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68024" y="6468514"/>
            <a:ext cx="12553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当社の取り組み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13168" y="6468514"/>
            <a:ext cx="29187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資源の安定供給と効率化で社会を支える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17516" y="6752444"/>
            <a:ext cx="794395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07785" y="715461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・基幹事業で大規模資産を拡大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・成長領域へ早い段階から参画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88430" y="675244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57567" y="715461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・引き取りと外部調達で安定供給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・国際取引基盤で業界網を構築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25406" y="7189554"/>
            <a:ext cx="42839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連携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89584" y="7905512"/>
            <a:ext cx="590004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「金属＝経済活動を支える礎」。社会に必要な資源を支えることが、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私たちの責務です。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2135" y="9097173"/>
            <a:ext cx="453147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グループミッション｜共に、持続可能で豊かな未来を築く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2135" y="9374154"/>
            <a:ext cx="6446419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で、より良い社会の実現に寄与する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5915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2530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2026-10-15T13:16:06Z</dcterms:created>
  <dcterms:modified xsi:type="dcterms:W3CDTF">2026-10-15T13:16:06Z</dcterms:modified>
</cp:coreProperties>
</file>