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294769"/>
            <a:ext cx="237849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D3D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|　</a:t>
            </a:r>
            <a:pPr algn="l" indent="0" marL="0">
              <a:lnSpc>
                <a:spcPts val="1760"/>
              </a:lnSpc>
              <a:buNone/>
            </a:pPr>
            <a:r>
              <a:rPr lang="en-US" sz="1100" spc="12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VALUE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D3D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|　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68024" y="294769"/>
            <a:ext cx="236059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D3D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|　</a:t>
            </a:r>
            <a:pPr algn="l" indent="0" marL="0">
              <a:lnSpc>
                <a:spcPts val="1760"/>
              </a:lnSpc>
              <a:buNone/>
            </a:pPr>
            <a:r>
              <a:rPr lang="en-US" sz="1100" spc="12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VALUE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D3D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|　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96868" y="222665"/>
            <a:ext cx="2454712" cy="4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95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MITSUBISHI CORPORATION</a:t>
            </a:r>
            <a:endParaRPr lang="en-US" sz="1100" dirty="0"/>
          </a:p>
          <a:p>
            <a:pPr algn="r" indent="0" marL="0">
              <a:lnSpc>
                <a:spcPts val="1595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METAL RESOURCES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8222" y="802991"/>
            <a:ext cx="66577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独自価値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1041855"/>
            <a:ext cx="6579847" cy="77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200" spc="-30" kern="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What Makes Us Different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8222" y="1778777"/>
            <a:ext cx="6654532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投資とトレーディングの両輪で、資源の流れ全体に関わる。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8222" y="2177731"/>
            <a:ext cx="6619591" cy="84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金属資源グループの強みは、資源に投資して育てる力と、市場へつなぎ届ける力、そし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て新技術で流れを進化させる力を、長い時間をかけて積み重ねてきたことにあります。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この三つが有機的に結びつき、資源の可能性を社会の力へと変えていきます。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89106" y="940211"/>
            <a:ext cx="2393348" cy="68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4F769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Strength to Hold.</a:t>
            </a:r>
            <a:endParaRPr lang="en-US" sz="20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4F769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Power to Connect.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23777" y="4267159"/>
            <a:ext cx="1672050" cy="515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新技術で</a:t>
            </a:r>
            <a:endParaRPr lang="en-US" sz="1400" dirty="0"/>
          </a:p>
          <a:p>
            <a:pPr algn="ctr" indent="0" marL="0">
              <a:lnSpc>
                <a:spcPts val="2030"/>
              </a:lnSpc>
              <a:buNone/>
            </a:pPr>
            <a:r>
              <a:rPr lang="en-US" sz="14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流れを進化させる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83824" y="4828109"/>
            <a:ext cx="17517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5E8A7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NEW 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81362" y="5100961"/>
            <a:ext cx="2356879" cy="43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業界の課題を解く技術に投資し、</a:t>
            </a:r>
            <a:endParaRPr lang="en-US" sz="1100" dirty="0"/>
          </a:p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その知見を両輪へ還元する。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8222" y="3068390"/>
            <a:ext cx="207835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A8653D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40211" y="3123024"/>
            <a:ext cx="2357098" cy="28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資源に投資して育てる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0211" y="3455909"/>
            <a:ext cx="70988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INVEST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0211" y="3735432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世界屈指の優良アセットへの参画と、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資源メジャーとの強固なパートナリング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により、安定供給の基盤をつくる。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0211" y="4792533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主なアセット・パートナー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0211" y="5048868"/>
            <a:ext cx="2971828" cy="733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・Escondida・Quellaveco ほか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・BMA・IOC ほか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・資源メジャーとの強固なパートナリング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79689" y="2356879"/>
            <a:ext cx="286451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4F769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311678" y="2411513"/>
            <a:ext cx="2357098" cy="28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市場へつなぎ、届ける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1678" y="2744399"/>
            <a:ext cx="6520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TRADE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11678" y="3023921"/>
            <a:ext cx="256673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広範な産業接地面と先兵機能を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生かし、自社・第三者の資源を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問わず、最適な供給を実現する。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11678" y="4055611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主な取扱い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11678" y="4311946"/>
            <a:ext cx="2737728" cy="978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・原料炭・鉄鉱石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・銅精鉱・ボーキサイト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・鋼材・銅地金・アルミ地金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・建材・自動車用鋼板・電線・EV ほか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1552" y="1619958"/>
            <a:ext cx="278807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63540" y="1674591"/>
            <a:ext cx="2126492" cy="28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互いを強め合う循環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63540" y="2007477"/>
            <a:ext cx="63781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CYCLE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3540" y="2286999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市場の情報を投資判断に生かし、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投資で得た資源を市場へ。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11665" y="6575122"/>
            <a:ext cx="295622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243654" y="6629756"/>
            <a:ext cx="3279521" cy="28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長い時間をかけて、築いてきた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43654" y="6962641"/>
            <a:ext cx="168100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OUR FOUNDATION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43654" y="7242163"/>
            <a:ext cx="3237592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市況の浮き沈みに左右されず関わり続けた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積み重ねが、先を見据える力を生む。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879689" y="5609500"/>
            <a:ext cx="292128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A4472F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5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2311678" y="5664134"/>
            <a:ext cx="2126492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その結果としての、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いまの事業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311678" y="6276541"/>
            <a:ext cx="14137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OUR OUTCOME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11678" y="6556064"/>
            <a:ext cx="2734453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原料炭・銅・トレーディング、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そして新技術。いまの立ち位置は、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この強さの「結果」です。→ P.08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8222" y="8131552"/>
            <a:ext cx="228481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200" kern="0" dirty="0">
                <a:solidFill>
                  <a:srgbClr val="1F2D4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FROM MINE TO MARKET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4399" y="8117576"/>
            <a:ext cx="3069879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金属資源のバリューチェーンと事業領域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2677" y="8409803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川上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2677" y="8604198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資源開発・保有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13309" y="8409803"/>
            <a:ext cx="721894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中間流通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13309" y="8604198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調達・販売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33941" y="8409803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川中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33941" y="8604198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製鉄・製錬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554573" y="8409803"/>
            <a:ext cx="721894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中間流通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554573" y="8604198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調達・販売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375205" y="8409803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川下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375205" y="8604198"/>
            <a:ext cx="128071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最終製品・需要家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59044" y="9569820"/>
            <a:ext cx="143445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鉱山（非鉄・鉄鋼）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9044" y="9780097"/>
            <a:ext cx="1588194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銅鉱石・ボーキサイト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原料炭・鉄鉱石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32143" y="9569820"/>
            <a:ext cx="171092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RtM（トレーディング）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32143" y="9780097"/>
            <a:ext cx="2049405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原料炭・鉄鉱石を製鉄会社へ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銅精鉱を製錬会社へ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52775" y="9569820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製鉄・製錬会社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52775" y="9780097"/>
            <a:ext cx="1280719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鋼材・銅地金・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アルミ地金を製造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73407" y="9569820"/>
            <a:ext cx="188103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メタルワン／RtM・Triland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73407" y="9780097"/>
            <a:ext cx="973245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鋼材・地金を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需要家へ販売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994039" y="9569820"/>
            <a:ext cx="51203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需要家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994039" y="9780097"/>
            <a:ext cx="1926022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建材・自動車用鋼板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電線・EV・データセンター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8222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4458915" y="10316906"/>
            <a:ext cx="2746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2026-10-15T13:16:33Z</dcterms:created>
  <dcterms:modified xsi:type="dcterms:W3CDTF">2026-10-15T13:16:33Z</dcterms:modified>
</cp:coreProperties>
</file>